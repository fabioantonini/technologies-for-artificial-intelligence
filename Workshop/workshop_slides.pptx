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what the session is for: practice, and a quick, honest signal of what each of them can already do alone. Nothing is collected and nothing is marked.</a:t>
            </a:r>
          </a:p>
          <a:p>
            <a:pPr lvl="0" indent="0" marL="0">
              <a:buNone/>
            </a:pPr>
          </a:p>
          <a:p>
            <a:pPr lvl="0" indent="0" marL="0">
              <a:buNone/>
            </a:pPr>
            <a:r>
              <a:rPr/>
              <a:t>Insist on the questions. The code is short on purpose; the sentence under each step is the part that trains them for the exam, where they explain their own notebook.</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six steps are the workflow of lessons 1 to 5 in order, and every one of them has a mistake the course warned about: the wrong baseline, a split that is not stratified, imputing before splitting, the test set inside the cross-validation, choosing on the test set.</a:t>
            </a:r>
          </a:p>
          <a:p>
            <a:pPr lvl="0" indent="0" marL="0">
              <a:buNone/>
            </a:pPr>
          </a:p>
          <a:p>
            <a:pPr lvl="0" indent="0" marL="0">
              <a:buNone/>
            </a:pPr>
            <a:r>
              <a:rPr/>
              <a:t>The checks catch each of those. When someone gets a cross, point back to the lesson that covered it rather than giving the fix.</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Wait until every laptop has run the first cell before starting step 1. A container that does not start is the one problem that cannot be solved later in the session.</a:t>
            </a:r>
          </a:p>
          <a:p>
            <a:pPr lvl="0" indent="0" marL="0">
              <a:buNone/>
            </a:pPr>
          </a:p>
          <a:p>
            <a:pPr lvl="0" indent="0" marL="0">
              <a:buNone/>
            </a:pPr>
            <a:r>
              <a:rPr/>
              <a:t>Pairs are fine, but both people should type: the point is for each of them to see what they can do.</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Go through the six steps and ask for a show of hands at each, so that both you and they see where the room stands. The step with the fewest ticks is the one to discuss.</a:t>
            </a:r>
          </a:p>
          <a:p>
            <a:pPr lvl="0" indent="0" marL="0">
              <a:buNone/>
            </a:pPr>
          </a:p>
          <a:p>
            <a:pPr lvl="0" indent="0" marL="0">
              <a:buNone/>
            </a:pPr>
            <a:r>
              <a:rPr/>
              <a:t>Then the comparison of step 5: 0.858 against 0.762, with spreads of about 0.02. The gain is several times the spread, so it is real. Ask what they would have needed to see to call it noise.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rule is a logistic one, with the departure hour entering as (hour - 13) squared. The guide has the formula with its coefficients.</a:t>
            </a:r>
          </a:p>
          <a:p>
            <a:pPr lvl="0" indent="0" marL="0">
              <a:buNone/>
            </a:pPr>
          </a:p>
          <a:p>
            <a:pPr lvl="0" indent="0" marL="0">
              <a:buNone/>
            </a:pPr>
            <a:r>
              <a:rPr/>
              <a:t>Two points to make. The model with squared terms has exactly the shape of the rule, which is why it won; on real data nobody hands you the rule, and the cross-validation of step 5 is how you would have found out. And the errors that remain, about 13%, are not a failure: the rule gives a probability, so even a perfect model gets some parcels wrong.</a:t>
            </a:r>
          </a:p>
          <a:p>
            <a:pPr lvl="0" indent="0" marL="0">
              <a:buNone/>
            </a:pPr>
          </a:p>
          <a:p>
            <a:pPr lvl="0" indent="0" marL="0">
              <a:buNone/>
            </a:pPr>
            <a:r>
              <a:rPr/>
              <a:t>Close by saying that what they did today, from baseline to one look at the test set, is the shape of every exercise they will talk through at the exam.</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7" name="Logo 7" descr="univaq_logo.png"/>
          <p:cNvPicPr>
            <a:picLocks noChangeAspect="1"/>
          </p:cNvPicPr>
          <p:nvPr/>
        </p:nvPicPr>
        <p:blipFill>
          <a:blip r:embed="rId2"/>
          <a:stretch>
            <a:fillRect/>
          </a:stretch>
        </p:blipFill>
        <p:spPr>
          <a:xfrm>
            <a:off x="3383280" y="282892"/>
            <a:ext cx="2377440" cy="1037097"/>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Picture Placeholder 2"/>
          <p:cNvSpPr>
            <a:spLocks noGrp="1"/>
          </p:cNvSpPr>
          <p:nvPr>
            <p:ph type="pic" idx="1"/>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endParaRPr lang="en-US"/>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pic>
        <p:nvPicPr>
          <p:cNvPr descr="univaq_logo.png" id="7" name="Logo 7"/>
          <p:cNvPicPr>
            <a:picLocks noChangeAspect="1"/>
          </p:cNvPicPr>
          <p:nvPr/>
        </p:nvPicPr>
        <p:blipFill>
          <a:blip r:embed="rId13"/>
          <a:stretch>
            <a:fillRect/>
          </a:stretch>
        </p:blipFill>
        <p:spPr>
          <a:xfrm>
            <a:off x="7836408" y="4530478"/>
            <a:ext cx="1051560" cy="458716"/>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Workshop: Late Deliveries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Technologies for Artificial Intelligence</a:t>
            </a:r>
            <a:br/>
            <a:br/>
            <a:r>
              <a:rPr/>
              <a:t>Fabio Antonini, Università degli Studi dell’Aquila</a:t>
            </a:r>
          </a:p>
        </p:txBody>
      </p:sp>
      <p:sp>
        <p:nvSpPr>
          <p:cNvPr id="4" name="Date Placeholder 3"/>
          <p:cNvSpPr>
            <a:spLocks noGrp="1"/>
          </p:cNvSpPr>
          <p:nvPr>
            <p:ph idx="10" sz="half" type="dt"/>
          </p:nvPr>
        </p:nvSpPr>
        <p:spPr>
          <a:xfrm>
            <a:off x="457200" y="4767263"/>
            <a:ext cx="2133600" cy="273844"/>
          </a:xfrm>
        </p:spPr>
        <p:txBody>
          <a:bodyPr/>
          <a:lstStyle/>
          <a:p>
            <a:pPr lvl="0" indent="0" marL="0">
              <a:buNone/>
            </a:pPr>
            <a:r>
              <a:rPr/>
              <a:t>Two hours in class, after lesson 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Two hours, one dataset, six steps</a:t>
            </a:r>
          </a:p>
        </p:txBody>
      </p:sp>
      <p:sp>
        <p:nvSpPr>
          <p:cNvPr id="3" name="Content Placeholder 2"/>
          <p:cNvSpPr>
            <a:spLocks noGrp="1"/>
          </p:cNvSpPr>
          <p:nvPr>
            <p:ph idx="1"/>
          </p:nvPr>
        </p:nvSpPr>
        <p:spPr>
          <a:xfrm>
            <a:off x="457200" y="1200151"/>
            <a:ext cx="8229600" cy="3394472"/>
          </a:xfrm>
        </p:spPr>
        <p:txBody>
          <a:bodyPr/>
          <a:lstStyle/>
          <a:p>
            <a:pPr lvl="0"/>
            <a:r>
              <a:rPr/>
              <a:t>1,200 parcels from a courier company: which ones arrive late?</a:t>
            </a:r>
          </a:p>
          <a:p>
            <a:pPr lvl="0"/>
            <a:r>
              <a:rPr/>
              <a:t>You take them through the whole workflow of lessons 1 to 5</a:t>
            </a:r>
          </a:p>
          <a:p>
            <a:pPr lvl="0"/>
            <a:r>
              <a:rPr/>
              <a:t>Each step: fill the blanks </a:t>
            </a:r>
            <a:r>
              <a:rPr>
                <a:latin typeface="Courier"/>
              </a:rPr>
              <a:t>___</a:t>
            </a:r>
            <a:r>
              <a:rPr/>
              <a:t>, run the cell, run the check</a:t>
            </a:r>
          </a:p>
          <a:p>
            <a:pPr lvl="0"/>
            <a:r>
              <a:rPr/>
              <a:t>The check prints ✓, or ✗ with a hint</a:t>
            </a:r>
          </a:p>
          <a:p>
            <a:pPr lvl="0"/>
            <a:r>
              <a:rPr/>
              <a:t>Each step ends with one question, answered in a sentence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six steps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Step</a:t>
                      </a:r>
                    </a:p>
                  </a:txBody>
                  <a:tcPr/>
                </a:tc>
                <a:tc>
                  <a:txBody>
                    <a:bodyPr/>
                    <a:lstStyle/>
                    <a:p>
                      <a:pPr lvl="0" indent="0" marL="0">
                        <a:buNone/>
                      </a:pPr>
                      <a:r>
                        <a:rPr/>
                        <a:t>What you do</a:t>
                      </a:r>
                    </a:p>
                  </a:txBody>
                  <a:tcPr/>
                </a:tc>
              </a:tr>
              <a:tr h="0">
                <a:tc>
                  <a:txBody>
                    <a:bodyPr/>
                    <a:lstStyle/>
                    <a:p>
                      <a:pPr lvl="0" indent="0" marL="0">
                        <a:buNone/>
                      </a:pPr>
                      <a:r>
                        <a:rPr/>
                        <a:t>1</a:t>
                      </a:r>
                    </a:p>
                  </a:txBody>
                </a:tc>
                <a:tc>
                  <a:txBody>
                    <a:bodyPr/>
                    <a:lstStyle/>
                    <a:p>
                      <a:pPr lvl="0" indent="0" marL="0">
                        <a:buNone/>
                      </a:pPr>
                      <a:r>
                        <a:rPr/>
                        <a:t>look at the data, and compute the baseline</a:t>
                      </a:r>
                    </a:p>
                  </a:txBody>
                </a:tc>
              </a:tr>
              <a:tr h="0">
                <a:tc>
                  <a:txBody>
                    <a:bodyPr/>
                    <a:lstStyle/>
                    <a:p>
                      <a:pPr lvl="0" indent="0" marL="0">
                        <a:buNone/>
                      </a:pPr>
                      <a:r>
                        <a:rPr/>
                        <a:t>2</a:t>
                      </a:r>
                    </a:p>
                  </a:txBody>
                </a:tc>
                <a:tc>
                  <a:txBody>
                    <a:bodyPr/>
                    <a:lstStyle/>
                    <a:p>
                      <a:pPr lvl="0" indent="0" marL="0">
                        <a:buNone/>
                      </a:pPr>
                      <a:r>
                        <a:rPr/>
                        <a:t>split, keeping the share of late parcels equal</a:t>
                      </a:r>
                    </a:p>
                  </a:txBody>
                </a:tc>
              </a:tr>
              <a:tr h="0">
                <a:tc>
                  <a:txBody>
                    <a:bodyPr/>
                    <a:lstStyle/>
                    <a:p>
                      <a:pPr lvl="0" indent="0" marL="0">
                        <a:buNone/>
                      </a:pPr>
                      <a:r>
                        <a:rPr/>
                        <a:t>3</a:t>
                      </a:r>
                    </a:p>
                  </a:txBody>
                </a:tc>
                <a:tc>
                  <a:txBody>
                    <a:bodyPr/>
                    <a:lstStyle/>
                    <a:p>
                      <a:pPr lvl="0" indent="0" marL="0">
                        <a:buNone/>
                      </a:pPr>
                      <a:r>
                        <a:rPr/>
                        <a:t>one pipeline: fill the gaps, scale, logistic regression</a:t>
                      </a:r>
                    </a:p>
                  </a:txBody>
                </a:tc>
              </a:tr>
              <a:tr h="0">
                <a:tc>
                  <a:txBody>
                    <a:bodyPr/>
                    <a:lstStyle/>
                    <a:p>
                      <a:pPr lvl="0" indent="0" marL="0">
                        <a:buNone/>
                      </a:pPr>
                      <a:r>
                        <a:rPr/>
                        <a:t>4</a:t>
                      </a:r>
                    </a:p>
                  </a:txBody>
                </a:tc>
                <a:tc>
                  <a:txBody>
                    <a:bodyPr/>
                    <a:lstStyle/>
                    <a:p>
                      <a:pPr lvl="0" indent="0" marL="0">
                        <a:buNone/>
                      </a:pPr>
                      <a:r>
                        <a:rPr/>
                        <a:t>cross-validation, on the training set only</a:t>
                      </a:r>
                    </a:p>
                  </a:txBody>
                </a:tc>
              </a:tr>
              <a:tr h="0">
                <a:tc>
                  <a:txBody>
                    <a:bodyPr/>
                    <a:lstStyle/>
                    <a:p>
                      <a:pPr lvl="0" indent="0" marL="0">
                        <a:buNone/>
                      </a:pPr>
                      <a:r>
                        <a:rPr/>
                        <a:t>5</a:t>
                      </a:r>
                    </a:p>
                  </a:txBody>
                </a:tc>
                <a:tc>
                  <a:txBody>
                    <a:bodyPr/>
                    <a:lstStyle/>
                    <a:p>
                      <a:pPr lvl="0" indent="0" marL="0">
                        <a:buNone/>
                      </a:pPr>
                      <a:r>
                        <a:rPr/>
                        <a:t>could a curve do better? Same folds</a:t>
                      </a:r>
                    </a:p>
                  </a:txBody>
                </a:tc>
              </a:tr>
              <a:tr h="0">
                <a:tc>
                  <a:txBody>
                    <a:bodyPr/>
                    <a:lstStyle/>
                    <a:p>
                      <a:pPr lvl="0" indent="0" marL="0">
                        <a:buNone/>
                      </a:pPr>
                      <a:r>
                        <a:rPr/>
                        <a:t>6</a:t>
                      </a:r>
                    </a:p>
                  </a:txBody>
                </a:tc>
                <a:tc>
                  <a:txBody>
                    <a:bodyPr/>
                    <a:lstStyle/>
                    <a:p>
                      <a:pPr lvl="0" indent="0" marL="0">
                        <a:buNone/>
                      </a:pPr>
                      <a:r>
                        <a:rPr/>
                        <a:t>test the winner, once</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Before you start</a:t>
            </a:r>
          </a:p>
        </p:txBody>
      </p:sp>
      <p:sp>
        <p:nvSpPr>
          <p:cNvPr id="3" name="Content Placeholder 2"/>
          <p:cNvSpPr>
            <a:spLocks noGrp="1"/>
          </p:cNvSpPr>
          <p:nvPr>
            <p:ph idx="1"/>
          </p:nvPr>
        </p:nvSpPr>
        <p:spPr>
          <a:xfrm>
            <a:off x="457200" y="1200151"/>
            <a:ext cx="8229600" cy="3394472"/>
          </a:xfrm>
        </p:spPr>
        <p:txBody>
          <a:bodyPr/>
          <a:lstStyle/>
          <a:p>
            <a:pPr lvl="0"/>
            <a:r>
              <a:rPr/>
              <a:t>Start the course container and open </a:t>
            </a:r>
            <a:r>
              <a:rPr>
                <a:latin typeface="Courier"/>
              </a:rPr>
              <a:t>Workshop/workshop.ipynb</a:t>
            </a:r>
          </a:p>
          <a:p>
            <a:pPr lvl="0"/>
            <a:r>
              <a:rPr/>
              <a:t>Run the first cell: it loads the data</a:t>
            </a:r>
          </a:p>
          <a:p>
            <a:pPr lvl="0"/>
            <a:r>
              <a:rPr>
                <a:latin typeface="Courier"/>
              </a:rPr>
              <a:t>NameError: name '___' is not defined</a:t>
            </a:r>
            <a:r>
              <a:rPr/>
              <a:t> means a blank is still empty</a:t>
            </a:r>
          </a:p>
          <a:p>
            <a:pPr lvl="0"/>
            <a:r>
              <a:rPr/>
              <a:t>Do </a:t>
            </a:r>
            <a:r>
              <a:rPr b="1"/>
              <a:t>not</a:t>
            </a:r>
            <a:r>
              <a:rPr/>
              <a:t> open </a:t>
            </a:r>
            <a:r>
              <a:rPr>
                <a:latin typeface="Courier"/>
              </a:rPr>
              <a:t>delivery_data.py</a:t>
            </a:r>
            <a:r>
              <a:rPr/>
              <a:t>: it holds the answer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did it go?</a:t>
            </a:r>
          </a:p>
        </p:txBody>
      </p:sp>
      <p:sp>
        <p:nvSpPr>
          <p:cNvPr id="3" name="Content Placeholder 2"/>
          <p:cNvSpPr>
            <a:spLocks noGrp="1"/>
          </p:cNvSpPr>
          <p:nvPr>
            <p:ph idx="1"/>
          </p:nvPr>
        </p:nvSpPr>
        <p:spPr>
          <a:xfrm>
            <a:off x="457200" y="1200151"/>
            <a:ext cx="8229600" cy="3394472"/>
          </a:xfrm>
        </p:spPr>
        <p:txBody>
          <a:bodyPr/>
          <a:lstStyle/>
          <a:p>
            <a:pPr lvl="0"/>
            <a:r>
              <a:rPr/>
              <a:t>Hands up for each step that printed ✓</a:t>
            </a:r>
          </a:p>
          <a:p>
            <a:pPr lvl="0"/>
            <a:r>
              <a:rPr/>
              <a:t>Where the crosses were, and which lesson that step came from</a:t>
            </a:r>
          </a:p>
          <a:p>
            <a:pPr lvl="0"/>
            <a:r>
              <a:rPr/>
              <a:t>The ± of step 4 and step 5: is the difference real?</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rule, revealed</a:t>
            </a:r>
          </a:p>
        </p:txBody>
      </p:sp>
      <p:sp>
        <p:nvSpPr>
          <p:cNvPr id="3" name="Content Placeholder 2"/>
          <p:cNvSpPr>
            <a:spLocks noGrp="1"/>
          </p:cNvSpPr>
          <p:nvPr>
            <p:ph idx="1"/>
          </p:nvPr>
        </p:nvSpPr>
        <p:spPr>
          <a:xfrm>
            <a:off x="457200" y="1200151"/>
            <a:ext cx="8229600" cy="3394472"/>
          </a:xfrm>
        </p:spPr>
        <p:txBody>
          <a:bodyPr/>
          <a:lstStyle/>
          <a:p>
            <a:pPr lvl="0"/>
            <a:r>
              <a:rPr/>
              <a:t>Longer routes, fuller vans and rain make a parcel </a:t>
            </a:r>
            <a:r>
              <a:rPr b="1"/>
              <a:t>later</a:t>
            </a:r>
          </a:p>
          <a:p>
            <a:pPr lvl="0"/>
            <a:r>
              <a:rPr/>
              <a:t>Driver experience makes it </a:t>
            </a:r>
            <a:r>
              <a:rPr b="1"/>
              <a:t>earlier</a:t>
            </a:r>
          </a:p>
          <a:p>
            <a:pPr lvl="0"/>
            <a:r>
              <a:rPr/>
              <a:t>Departure time works through rush hour: the further from 13:00, the later</a:t>
            </a:r>
          </a:p>
          <a:p>
            <a:pPr lvl="0"/>
            <a:r>
              <a:rPr/>
              <a:t>The age of the van has </a:t>
            </a:r>
            <a:r>
              <a:rPr b="1"/>
              <a:t>no effect at all</a:t>
            </a:r>
          </a:p>
        </p:txBody>
      </p:sp>
    </p:spTree>
  </p:cSld>
</p:sld>
</file>

<file path=ppt/theme/theme1.xml><?xml version="1.0" encoding="utf-8"?>
<a:theme xmlns:a="http://schemas.openxmlformats.org/drawingml/2006/main" name="Office Theme">
  <a:themeElements>
    <a:clrScheme name="Office">
      <a:dk1>
        <a:sysClr val="windowText" lastClr="1A1A1A"/>
      </a:dk1>
      <a:lt1>
        <a:sysClr val="window" lastClr="FFFFFF"/>
      </a:lt1>
      <a:dk2>
        <a:srgbClr val="1F497D"/>
      </a:dk2>
      <a:lt2>
        <a:srgbClr val="EEECE1"/>
      </a:lt2>
      <a:accent1>
        <a:srgbClr val="1F4E79"/>
      </a:accent1>
      <a:accent2>
        <a:srgbClr val="2E7D8A"/>
      </a:accent2>
      <a:accent3>
        <a:srgbClr val="F0BE50"/>
      </a:accent3>
      <a:accent4>
        <a:srgbClr val="4A5568"/>
      </a:accent4>
      <a:accent5>
        <a:srgbClr val="9C4221"/>
      </a:accent5>
      <a:accent6>
        <a:srgbClr val="1A1A1A"/>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1A1A1A"/>
      </a:dk1>
      <a:lt1>
        <a:sysClr val="window" lastClr="FFFFFF"/>
      </a:lt1>
      <a:dk2>
        <a:srgbClr val="44546A"/>
      </a:dk2>
      <a:lt2>
        <a:srgbClr val="E7E6E6"/>
      </a:lt2>
      <a:accent1>
        <a:srgbClr val="1F4E79"/>
      </a:accent1>
      <a:accent2>
        <a:srgbClr val="2E7D8A"/>
      </a:accent2>
      <a:accent3>
        <a:srgbClr val="F0BE50"/>
      </a:accent3>
      <a:accent4>
        <a:srgbClr val="4A5568"/>
      </a:accent4>
      <a:accent5>
        <a:srgbClr val="9C4221"/>
      </a:accent5>
      <a:accent6>
        <a:srgbClr val="1A1A1A"/>
      </a:accent6>
      <a:hlink>
        <a:srgbClr val="0563C1"/>
      </a:hlink>
      <a:folHlink>
        <a:srgbClr val="954F72"/>
      </a:folHlink>
    </a:clrScheme>
    <a:fontScheme name="Office">
      <a:majorFont>
        <a:latin typeface="Segoe UI Semibol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Late Deliveries</dc:title>
  <dc:creator>Fabio Antonini, Università degli Studi dell’Aquila</dc:creator>
  <cp:keywords/>
  <dcterms:created xsi:type="dcterms:W3CDTF">1980-01-01T00:00:00Z</dcterms:created>
  <dcterms:modified xsi:type="dcterms:W3CDTF">1980-01-01T00:00:00Z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Two hours in class, after lesson 5</vt:lpwstr>
  </property>
  <property fmtid="{D5CDD505-2E9C-101B-9397-08002B2CF9AE}" pid="3" name="subtitle">
    <vt:lpwstr>Technologies for Artificial Intelligence</vt:lpwstr>
  </property>
</Properties>
</file>