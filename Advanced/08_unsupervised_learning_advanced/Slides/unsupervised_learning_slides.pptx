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6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the whole lesson before the first slide of content. Every method met so far in this course - regression, logistic regression, trees, ensembles - learned from pairs: an input and a target. Today removes the target entirely. The task changes from “predict the label” to “describe the structure”: which points look alike, which few numbers summarise the many, which points do not belong.</a:t>
            </a:r>
          </a:p>
          <a:p>
            <a:pPr lvl="0" indent="0" marL="0">
              <a:buNone/>
            </a:pPr>
          </a:p>
          <a:p>
            <a:pPr lvl="0" indent="0" marL="0">
              <a:buNone/>
            </a:pPr>
            <a:r>
              <a:rPr/>
              <a:t>Say the running example once, up front: a fictional retailer, Aurora, and three of its actual questions, one per notebook - segmenting customers, telling bots from humans, and catching disguised fraud. None of the three has a y supplied by anyone.</a:t>
            </a:r>
          </a:p>
          <a:p>
            <a:pPr lvl="0" indent="0" marL="0">
              <a:buNone/>
            </a:pPr>
          </a:p>
          <a:p>
            <a:pPr lvl="0" indent="0" marL="0">
              <a:buNone/>
            </a:pPr>
            <a:r>
              <a:rPr/>
              <a:t>Handout section 1.</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Nothing to collect and nothing to hand back - discuss it. Ask what the importance ranking was taken to mean, and listen for the gap: reading it as settled fact rather than as something section 7 of that lesson showed could be dominated by noise columns.</a:t>
            </a:r>
          </a:p>
          <a:p>
            <a:pPr lvl="0" indent="0" marL="0">
              <a:buNone/>
            </a:pPr>
          </a:p>
          <a:p>
            <a:pPr lvl="0" indent="0" marL="0">
              <a:buNone/>
            </a:pPr>
            <a:r>
              <a:rPr/>
              <a:t>Link forward: today has no labels at all, so there is no accuracy score to fall back on even provisionally. The obligation to check a result does not go away just because there is no y to check it against - it changes shape, and section 4 of today’s handout is entirely about that change.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Make the shift concrete rather than abstract. Ask the room: if you were handed 2,000 customers’ spending records with no group name attached to any of them, what would “a good answer” even mean, before any algorithm runs? There is no accuracy to check against - only whether the grouping looks and behaves like something real.</a:t>
            </a:r>
          </a:p>
          <a:p>
            <a:pPr lvl="0" indent="0" marL="0">
              <a:buNone/>
            </a:pPr>
          </a:p>
          <a:p>
            <a:pPr lvl="0" indent="0" marL="0">
              <a:buNone/>
            </a:pPr>
            <a:r>
              <a:rPr/>
              <a:t>That is the conceptual pivot for the whole three hours: every diagnostic today either measures internal consistency (does this clustering agree with itself) or borrows an outside signal when one happens to exist (section 4). Neither is the clean “score against the test set” this course has used since lesson 1.</a:t>
            </a:r>
          </a:p>
          <a:p>
            <a:pPr lvl="0" indent="0" marL="0">
              <a:buNone/>
            </a:pPr>
          </a:p>
          <a:p>
            <a:pPr lvl="0" indent="0" marL="0">
              <a:buNone/>
            </a:pPr>
            <a:r>
              <a:rPr/>
              <a:t>Handout section 1.</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the three problems as three genuinely different shapes of “no labels” - not three demonstrations of the same idea. Segmenting customers is close to what students probably picture when they hear “clustering.” Bots-versus-humans is deliberately built to break that picture: same mean, different spread. The fraud problem breaks it again: individually unremarkable values, anomalous only in combination.</a:t>
            </a:r>
          </a:p>
          <a:p>
            <a:pPr lvl="0" indent="0" marL="0">
              <a:buNone/>
            </a:pPr>
          </a:p>
          <a:p>
            <a:pPr lvl="0" indent="0" marL="0">
              <a:buNone/>
            </a:pPr>
            <a:r>
              <a:rPr/>
              <a:t>Say explicitly that one notebook is not “the more advanced version” of another - each is chosen because a different method is the right tool for it, and section 8 of the handout is the summary table of when to reach for which.</a:t>
            </a:r>
          </a:p>
          <a:p>
            <a:pPr lvl="0" indent="0" marL="0">
              <a:buNone/>
            </a:pPr>
          </a:p>
          <a:p>
            <a:pPr lvl="0" indent="0" marL="0">
              <a:buNone/>
            </a:pPr>
            <a:r>
              <a:rPr/>
              <a:t>Handout section 1.1.</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methodological point, not a throwaway remark - flag it so it does not get lost under the numbers that follow. Every “matches the truth” claim this lesson makes (ARI scores, the scree plot recovering exactly 3 latent factors) is only checkable because the data was built for teaching. On a real, unlabelled dataset, none of those checks are available in the same form, which is precisely why section 4 exists: what is left to check when there genuinely is no answer key.</a:t>
            </a:r>
          </a:p>
          <a:p>
            <a:pPr lvl="0" indent="0" marL="0">
              <a:buNone/>
            </a:pPr>
          </a:p>
          <a:p>
            <a:pPr lvl="0" indent="0" marL="0">
              <a:buNone/>
            </a:pPr>
            <a:r>
              <a:rPr/>
              <a:t>Handout section 1.1.</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the picture sit for a moment before saying anything. Four clouds are visible to the eye before any algorithm runs - ask the room to count them before you say the number.</a:t>
            </a:r>
          </a:p>
          <a:p>
            <a:pPr lvl="0" indent="0" marL="0">
              <a:buNone/>
            </a:pPr>
          </a:p>
          <a:p>
            <a:pPr lvl="0" indent="0" marL="0">
              <a:buNone/>
            </a:pPr>
            <a:r>
              <a:rPr/>
              <a:t>That is not an accident of this dataset: it is exactly the structure k-means is built to exploit, and it is why this figure opens the section rather than any equation. The “try this” in the handout asks students to predict, from the four segment means alone, where each cloud should sit - worth mentioning as a pre-read they can still do retroactively.</a:t>
            </a:r>
          </a:p>
          <a:p>
            <a:pPr lvl="0" indent="0" marL="0">
              <a:buNone/>
            </a:pPr>
          </a:p>
          <a:p>
            <a:pPr lvl="0" indent="0" marL="0">
              <a:buNone/>
            </a:pPr>
            <a:r>
              <a:rPr/>
              <a:t>Handout section 2.</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Give the intuition with no symbols first, exactly as the handout does: picture each cluster as having one representative point, and ask what “good” means for such a picture. Then say that k-means turns “close” into a squared distance and adds it up.</a:t>
            </a:r>
          </a:p>
          <a:p>
            <a:pPr lvl="0" indent="0" marL="0">
              <a:buNone/>
            </a:pPr>
          </a:p>
          <a:p>
            <a:pPr lvl="0" indent="0" marL="0">
              <a:buNone/>
            </a:pPr>
            <a:r>
              <a:rPr/>
              <a:t>Flag the two-kinds-of-variable structure before the objective appears - it is the reason the algorithm on the next few slides is two alternating, each individually easy, steps rather than one hard search.</a:t>
            </a:r>
          </a:p>
          <a:p>
            <a:pPr lvl="0" indent="0" marL="0">
              <a:buNone/>
            </a:pPr>
          </a:p>
          <a:p>
            <a:pPr lvl="0" indent="0" marL="0">
              <a:buNone/>
            </a:pPr>
            <a:r>
              <a:rPr/>
              <a:t>Handout section 2.1.</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the two unknowns up before showing the formula on the next slide: k-means is searching over the cluster centres </a:t>
            </a:r>
            <a:r>
              <a:rPr i="1"/>
              <a:t>and</a:t>
            </a:r>
            <a:r>
              <a:rPr/>
              <a:t> the assignment of every point at once, and rᵢⱼ is just bookkeeping for which point goes where - 1 if point i is in cluster j, 0 otherwise, exactly one 1 per row.</a:t>
            </a:r>
          </a:p>
          <a:p>
            <a:pPr lvl="0" indent="0" marL="0">
              <a:buNone/>
            </a:pPr>
          </a:p>
          <a:p>
            <a:pPr lvl="0" indent="0" marL="0">
              <a:buNone/>
            </a:pPr>
            <a:r>
              <a:rPr/>
              <a:t>Handout section 2.1.</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sum out loud in words: for every point, add the squared distance to the centre of the cluster it belongs to; add that up over all points.</a:t>
            </a:r>
          </a:p>
          <a:p>
            <a:pPr lvl="0" indent="0" marL="0">
              <a:buNone/>
            </a:pPr>
          </a:p>
          <a:p>
            <a:pPr lvl="0" indent="0" marL="0">
              <a:buNone/>
            </a:pPr>
            <a:r>
              <a:rPr/>
              <a:t>This cannot be minimised in one shot: choosing the best assignment needs the centres, and choosing the best centres needs the assignment. Do not derive the two closed-form minimisations here - state that they exist and move to what they say on the next slide. The full derivation, including the gradient that gives the mean as the exact minimiser, is handout section 2.1, for after the lecture.</a:t>
            </a:r>
          </a:p>
          <a:p>
            <a:pPr lvl="0" indent="0" marL="0">
              <a:buNone/>
            </a:pPr>
          </a:p>
          <a:p>
            <a:pPr lvl="0" indent="0" marL="0">
              <a:buNone/>
            </a:pPr>
            <a:r>
              <a:rPr/>
              <a:t>Handout section 2.1.</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Both steps are genuinely exact, not heuristic approximations - worth stressing, since students have just spent two lessons on gradient descent, where every step is approximate. Here, each half of the alternation solves its half of the problem exactly: nearest-centre assignment is provably optimal given fixed centres, and the mean is provably optimal given a fixed assignment.</a:t>
            </a:r>
          </a:p>
          <a:p>
            <a:pPr lvl="0" indent="0" marL="0">
              <a:buNone/>
            </a:pPr>
          </a:p>
          <a:p>
            <a:pPr lvl="0" indent="0" marL="0">
              <a:buNone/>
            </a:pPr>
            <a:r>
              <a:rPr/>
              <a:t>Ask the room: if each step is exactly optimal, what could possibly go wrong? The answer is the next slide.</a:t>
            </a:r>
          </a:p>
          <a:p>
            <a:pPr lvl="0" indent="0" marL="0">
              <a:buNone/>
            </a:pPr>
          </a:p>
          <a:p>
            <a:pPr lvl="0" indent="0" marL="0">
              <a:buNone/>
            </a:pPr>
            <a:r>
              <a:rPr/>
              <a:t>Handout section 2.1.</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argument for why Lloyd’s algorithm terminates at all, and it is worth giving in full even though it is not a derivation of a formula - it is three short facts (non-increasing, bounded below, finitely many partitions) chained together, and it is the kind of argument students will meet again.</a:t>
            </a:r>
          </a:p>
          <a:p>
            <a:pPr lvl="0" indent="0" marL="0">
              <a:buNone/>
            </a:pPr>
          </a:p>
          <a:p>
            <a:pPr lvl="0" indent="0" marL="0">
              <a:buNone/>
            </a:pPr>
            <a:r>
              <a:rPr/>
              <a:t>The sting is in the last bullet. Converged does not mean correct - it means stuck, possibly at a bad local minimum. That is exactly what the next few slides measure.</a:t>
            </a:r>
          </a:p>
          <a:p>
            <a:pPr lvl="0" indent="0" marL="0">
              <a:buNone/>
            </a:pPr>
          </a:p>
          <a:p>
            <a:pPr lvl="0" indent="0" marL="0">
              <a:buNone/>
            </a:pPr>
            <a:r>
              <a:rPr/>
              <a:t>Handout section 2.1.</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Six standardised customers, two deliberately bad initial centres - the first two points in the dataset. Walk the WCSS column: 15.965, 7.281, 5.491, 4.674 - falling at every single step, exactly as the previous slide argued it must.</a:t>
            </a:r>
          </a:p>
          <a:p>
            <a:pPr lvl="0" indent="0" marL="0">
              <a:buNone/>
            </a:pPr>
          </a:p>
          <a:p>
            <a:pPr lvl="0" indent="0" marL="0">
              <a:buNone/>
            </a:pPr>
            <a:r>
              <a:rPr/>
              <a:t>By iteration 2 the assignment repeats and both steps leave J unchanged: converged. In this particular six-point case it happens to be the global optimum - say clearly that this is a property of this small example, not a guarantee, since section 2.2 is about exactly the case where it is not.</a:t>
            </a:r>
          </a:p>
          <a:p>
            <a:pPr lvl="0" indent="0" marL="0">
              <a:buNone/>
            </a:pPr>
          </a:p>
          <a:p>
            <a:pPr lvl="0" indent="0" marL="0">
              <a:buNone/>
            </a:pPr>
            <a:r>
              <a:rPr>
                <a:latin typeface="Courier"/>
              </a:rPr>
              <a:t>Docs/worked_examples.py</a:t>
            </a:r>
            <a:r>
              <a:rPr/>
              <a:t> reproduces this table directly from </a:t>
            </a:r>
            <a:r>
              <a:rPr>
                <a:latin typeface="Courier"/>
              </a:rPr>
              <a:t>retail_data.py</a:t>
            </a:r>
            <a:r>
              <a:rPr/>
              <a:t>. Handout section 2.1.</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Land the number, then the framing. Nothing about the update rule changed between the best run and the worst - only where the search started. That is the entire content of “local, not global minimum” made concrete.</a:t>
            </a:r>
          </a:p>
          <a:p>
            <a:pPr lvl="0" indent="0" marL="0">
              <a:buNone/>
            </a:pPr>
          </a:p>
          <a:p>
            <a:pPr lvl="0" indent="0" marL="0">
              <a:buNone/>
            </a:pPr>
            <a:r>
              <a:rPr/>
              <a:t>Ask the room: if you ran this once, on real data, with no truth to check against, how would you know which kind of run you got? You would not - the WCSS value alone does not distinguish a global optimum from a mediocre local one, because you have no reference point.</a:t>
            </a:r>
          </a:p>
          <a:p>
            <a:pPr lvl="0" indent="0" marL="0">
              <a:buNone/>
            </a:pPr>
          </a:p>
          <a:p>
            <a:pPr lvl="0" indent="0" marL="0">
              <a:buNone/>
            </a:pPr>
            <a:r>
              <a:rPr/>
              <a:t>Handout section 2.2.</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Define d before reading the formula, since it is no longer beside it: d(x_i) is the distance from x_i to the NEAREST centre already chosen, not to all of them. The two formulas side by side came out at 25pt, which needs the front row.</a:t>
            </a:r>
          </a:p>
          <a:p>
            <a:pPr lvl="0" indent="0" marL="0">
              <a:buNone/>
            </a:pPr>
          </a:p>
          <a:p>
            <a:pPr lvl="0" indent="0" marL="0">
              <a:buNone/>
            </a:pPr>
            <a:r>
              <a:rPr/>
              <a:t>Say the rule in words first: the first centre is a uniformly random point; every centre after that is picked with probability proportional to its squared distance from the nearest centre already chosen. A point already close to an existing centre is unlikely to be picked again; a point far from everything picked so far - plausibly the seed of an as-yet-unrepresented cluster - is favoured.</a:t>
            </a:r>
          </a:p>
          <a:p>
            <a:pPr lvl="0" indent="0" marL="0">
              <a:buNone/>
            </a:pPr>
          </a:p>
          <a:p>
            <a:pPr lvl="0" indent="0" marL="0">
              <a:buNone/>
            </a:pPr>
            <a:r>
              <a:rPr/>
              <a:t>This is initialisation only - Lloyd’s algorithm afterward is completely unchanged. It addresses exactly the risk on the previous slide, by making a bad draw of starting centres much less likely.</a:t>
            </a:r>
          </a:p>
          <a:p>
            <a:pPr lvl="0" indent="0" marL="0">
              <a:buNone/>
            </a:pPr>
          </a:p>
          <a:p>
            <a:pPr lvl="0" indent="0" marL="0">
              <a:buNone/>
            </a:pPr>
            <a:r>
              <a:rPr/>
              <a:t>Handout section 2.2.</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range change against the previous slide’s 374.1–1,390.4: the worst case is about 300 units less bad. Be honest about what it did not do - k-means++ also reached the optimum in 29 of 30 runs, exactly as the naive starts did. On this data it made the bad case less bad, not rarer, which is why the library default is k-means++ AND ten restarts, keeping the best.</a:t>
            </a:r>
          </a:p>
          <a:p>
            <a:pPr lvl="0" indent="0" marL="0">
              <a:buNone/>
            </a:pPr>
          </a:p>
          <a:p>
            <a:pPr lvl="0" indent="0" marL="0">
              <a:buNone/>
            </a:pPr>
            <a:r>
              <a:rPr/>
              <a:t>The 10⁻⁴ agreement is worth naming explicitly as a genuine check, not an assumption - the from-scratch and scikit-learn implementations are searching for the same optimum from starts drawn the same way, and the notebook confirms it rather than takes it on faith.</a:t>
            </a:r>
          </a:p>
          <a:p>
            <a:pPr lvl="0" indent="0" marL="0">
              <a:buNone/>
            </a:pPr>
          </a:p>
          <a:p>
            <a:pPr lvl="0" indent="0" marL="0">
              <a:buNone/>
            </a:pPr>
            <a:r>
              <a:rPr/>
              <a:t>Handout section 2.2.</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 one of the 60 runs from the last two slides, as a dot: naive starts on top, k-means++ below, the dashed line at the best partition found, 374.1.</a:t>
            </a:r>
          </a:p>
          <a:p>
            <a:pPr lvl="0" indent="0" marL="0">
              <a:buNone/>
            </a:pPr>
          </a:p>
          <a:p>
            <a:pPr lvl="0" indent="0" marL="0">
              <a:buNone/>
            </a:pPr>
            <a:r>
              <a:rPr/>
              <a:t>Let them see the pile-up first: 29 of each on the line. Then the two stragglers - 1,390.4 for the naive start, 1,088.3 for k-means++. That is the whole story of initialisation on this data: rare, and not rare enough to ignore, because a single run gives no sign of whether it was the straggler. Restarting and keeping the best is what makes it harmless. Handout section 2.2.</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Make the trap explicit: a student who does not think about this will be tempted to pick the k with the lowest WCSS, and the lowest WCSS is always the largest k tried, which is a useless answer.</a:t>
            </a:r>
          </a:p>
          <a:p>
            <a:pPr lvl="0" indent="0" marL="0">
              <a:buNone/>
            </a:pPr>
          </a:p>
          <a:p>
            <a:pPr lvl="0" indent="0" marL="0">
              <a:buNone/>
            </a:pPr>
            <a:r>
              <a:rPr/>
              <a:t>The elbow logic is a shape argument, not a threshold - ask the room how they would describe “where the curve stops falling steeply” precisely enough to automate it. The honest answer is that it is somewhat subjective, which motivates a second, more quantitative diagnostic on the next slide.</a:t>
            </a:r>
          </a:p>
          <a:p>
            <a:pPr lvl="0" indent="0" marL="0">
              <a:buNone/>
            </a:pPr>
          </a:p>
          <a:p>
            <a:pPr lvl="0" indent="0" marL="0">
              <a:buNone/>
            </a:pPr>
            <a:r>
              <a:rPr/>
              <a:t>Handout section 2.3.</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up the two ingredients before showing the formula on the next slide: aᵢ measures how well a point fits its own cluster, bᵢ measures the best alternative it could have had instead.</a:t>
            </a:r>
          </a:p>
          <a:p>
            <a:pPr lvl="0" indent="0" marL="0">
              <a:buNone/>
            </a:pPr>
          </a:p>
          <a:p>
            <a:pPr lvl="0" indent="0" marL="0">
              <a:buNone/>
            </a:pPr>
            <a:r>
              <a:rPr/>
              <a:t>Handout section 2.3.</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the three regimes: sᵢ → 1 when a point sits deep inside its own cluster and far from every other; sᵢ ≈ 0 on a boundary between two clusters; sᵢ &lt; 0 when a point is, on average, closer to a different cluster than its own - an assignment the silhouette treats as actively wrong.</a:t>
            </a:r>
          </a:p>
          <a:p>
            <a:pPr lvl="0" indent="0" marL="0">
              <a:buNone/>
            </a:pPr>
          </a:p>
          <a:p>
            <a:pPr lvl="0" indent="0" marL="0">
              <a:buNone/>
            </a:pPr>
            <a:r>
              <a:rPr/>
              <a:t>Averaged over all points, this gives one number per k that is a genuine quantity to search over, not only a shape to eyeball - a sharper diagnostic than the elbow, and one that measures something related but not identical: whether every point sits closer to its own group than to any rival.</a:t>
            </a:r>
          </a:p>
          <a:p>
            <a:pPr lvl="0" indent="0" marL="0">
              <a:buNone/>
            </a:pPr>
          </a:p>
          <a:p>
            <a:pPr lvl="0" indent="0" marL="0">
              <a:buNone/>
            </a:pPr>
            <a:r>
              <a:rPr/>
              <a:t>Handout section 2.3.</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WCSS falls sharply through k=4 and flattens after; silhouette peaks at k=4 and then declines. Point out that the two curves are answering different questions - WCSS asks only “does adding a cluster help,” which is agnostic to what a cluster means; silhouette asks whether every point is closer to its own group than to any rival, a stronger, more geometric condition.</a:t>
            </a:r>
          </a:p>
          <a:p>
            <a:pPr lvl="0" indent="0" marL="0">
              <a:buNone/>
            </a:pPr>
          </a:p>
          <a:p>
            <a:pPr lvl="0" indent="0" marL="0">
              <a:buNone/>
            </a:pPr>
            <a:r>
              <a:rPr/>
              <a:t>Say plainly that the two diagnostics agreeing here is a property of this dataset’s four well-separated, comparably sized blobs - not a guarantee. Section 4 of the handout returns to a dataset where a diagnostic can be confidently wrong.</a:t>
            </a:r>
          </a:p>
          <a:p>
            <a:pPr lvl="0" indent="0" marL="0">
              <a:buNone/>
            </a:pPr>
          </a:p>
          <a:p>
            <a:pPr lvl="0" indent="0" marL="0">
              <a:buNone/>
            </a:pPr>
            <a:r>
              <a:rPr/>
              <a:t>Handout section 2.3.</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State both numbers before the punchline. The agreement is genuinely nice for teaching, but resist letting the class walk away thinking the two diagnostics always agree - that is exactly the kind of overclaim the handout’s “predictable mistake” boxes exist to head off, and this lesson’s own section 4 will show a case where a diagnostic looks fine and is not.</a:t>
            </a:r>
          </a:p>
          <a:p>
            <a:pPr lvl="0" indent="0" marL="0">
              <a:buNone/>
            </a:pPr>
          </a:p>
          <a:p>
            <a:pPr lvl="0" indent="0" marL="0">
              <a:buNone/>
            </a:pPr>
            <a:r>
              <a:rPr/>
              <a:t>Handout section 2.3.</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the true segments, generated by </a:t>
            </a:r>
            <a:r>
              <a:rPr>
                <a:latin typeface="Courier"/>
              </a:rPr>
              <a:t>retail_data.py</a:t>
            </a:r>
            <a:r>
              <a:rPr/>
              <a:t>, never shown to k-means. Right: k-means’ own k=4 clustering, fitted centres marked. Visually near-identical - say the number on the next slide rather than here, since this slide is the figure alone.</a:t>
            </a:r>
          </a:p>
          <a:p>
            <a:pPr lvl="0" indent="0" marL="0">
              <a:buNone/>
            </a:pPr>
          </a:p>
          <a:p>
            <a:pPr lvl="0" indent="0" marL="0">
              <a:buNone/>
            </a:pPr>
            <a:r>
              <a:rPr/>
              <a:t>Repeat the asymmetry from earlier: this comparison exists only because the data is synthetic. Aurora’s own analysts would have the right panel and nothing else.</a:t>
            </a:r>
          </a:p>
          <a:p>
            <a:pPr lvl="0" indent="0" marL="0">
              <a:buNone/>
            </a:pPr>
          </a:p>
          <a:p>
            <a:pPr lvl="0" indent="0" marL="0">
              <a:buNone/>
            </a:pPr>
            <a:r>
              <a:rPr/>
              <a:t>Handout section 2.3.</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Give the definition before the number, since ARI will recur for the rest of the lesson as the standard way to score a clustering against a truth. 0.985 is about as good as this metric gets - worth contrasting later against the bot/human numbers in section 3, which come out negative.</a:t>
            </a:r>
          </a:p>
          <a:p>
            <a:pPr lvl="0" indent="0" marL="0">
              <a:buNone/>
            </a:pPr>
          </a:p>
          <a:p>
            <a:pPr lvl="0" indent="0" marL="0">
              <a:buNone/>
            </a:pPr>
            <a:r>
              <a:rPr/>
              <a:t>Bridge forward explicitly: everything scored today with ARI is only checkable because this lesson knows the answer. Section 4 is about what happens when it does not.</a:t>
            </a:r>
          </a:p>
          <a:p>
            <a:pPr lvl="0" indent="0" marL="0">
              <a:buNone/>
            </a:pPr>
          </a:p>
          <a:p>
            <a:pPr lvl="0" indent="0" marL="0">
              <a:buNone/>
            </a:pPr>
            <a:r>
              <a:rPr/>
              <a:t>Handout section 2.3.</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Run Notebooks/01_kmeans_from_scratch.ipynb. Twenty minutes.</a:t>
            </a:r>
          </a:p>
          <a:p>
            <a:pPr lvl="0" indent="0" marL="0">
              <a:buNone/>
            </a:pPr>
          </a:p>
          <a:p>
            <a:pPr lvl="0" indent="0" marL="0">
              <a:buNone/>
            </a:pPr>
            <a:r>
              <a:rPr/>
              <a:t>Have them watch the from-scratch assign/update loop converge on the six-point worked example before scikit-learn’s version ever runs - the agreement is checked, not assumed.</a:t>
            </a:r>
          </a:p>
          <a:p>
            <a:pPr lvl="0" indent="0" marL="0">
              <a:buNone/>
            </a:pPr>
          </a:p>
          <a:p>
            <a:pPr lvl="0" indent="0" marL="0">
              <a:buNone/>
            </a:pPr>
            <a:r>
              <a:rPr/>
              <a:t>The cell worth protecting if time is short is the 30-seed initialisation sweep: printing the 374.1-versus-1,390.4 gap themselves lands harder than reading it off a slide.</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this up as a deliberate provocation, not a natural dataset. Section 2 just showed k-means recovering four clusters almost perfectly - this section is built specifically to break the assumption that made that possible.</a:t>
            </a:r>
          </a:p>
          <a:p>
            <a:pPr lvl="0" indent="0" marL="0">
              <a:buNone/>
            </a:pPr>
          </a:p>
          <a:p>
            <a:pPr lvl="0" indent="0" marL="0">
              <a:buNone/>
            </a:pPr>
            <a:r>
              <a:rPr/>
              <a:t>Ask the room to predict, before the figure: if the two groups share a mean, what happens when k-means tries to place two centres? The honest answer, which the next slide shows, is that there is no separating line for it to find at all.</a:t>
            </a:r>
          </a:p>
          <a:p>
            <a:pPr lvl="0" indent="0" marL="0">
              <a:buNone/>
            </a:pPr>
          </a:p>
          <a:p>
            <a:pPr lvl="0" indent="0" marL="0">
              <a:buNone/>
            </a:pPr>
            <a:r>
              <a:rPr/>
              <a:t>Handout section 3.1.</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dense smudge sitting inside a much larger, looser cloud, both centred in roughly the same place. Let the room look for a gap a linear or round boundary could exploit - there isn’t one, and that is the point.</a:t>
            </a:r>
          </a:p>
          <a:p>
            <a:pPr lvl="0" indent="0" marL="0">
              <a:buNone/>
            </a:pPr>
          </a:p>
          <a:p>
            <a:pPr lvl="0" indent="0" marL="0">
              <a:buNone/>
            </a:pPr>
            <a:r>
              <a:rPr/>
              <a:t>Contrast directly with the four visible clouds from section 2’s opening figure: same task (cluster with no labels), a completely different picture, and it should not be obvious yet which algorithm handles it.</a:t>
            </a:r>
          </a:p>
          <a:p>
            <a:pPr lvl="0" indent="0" marL="0">
              <a:buNone/>
            </a:pPr>
          </a:p>
          <a:p>
            <a:pPr lvl="0" indent="0" marL="0">
              <a:buNone/>
            </a:pPr>
            <a:r>
              <a:rPr/>
              <a:t>Handout section 3.1.</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Stress “no starting point fixes it” - this is not the local-minimum problem from section 2.2, which k-means++ addresses. This is a mismatch between what k-means optimises (compactness) and what the data actually looks like (a core and a surrounding ring, same centre). Better initialisation cannot fix an objective that is the wrong shape for the data.</a:t>
            </a:r>
          </a:p>
          <a:p>
            <a:pPr lvl="0" indent="0" marL="0">
              <a:buNone/>
            </a:pPr>
          </a:p>
          <a:p>
            <a:pPr lvl="0" indent="0" marL="0">
              <a:buNone/>
            </a:pPr>
            <a:r>
              <a:rPr/>
              <a:t>Ask the room: what would a “cluster” need to mean for this shape to be findable at all? The answer - density, not compactness - is where the next two sections go.</a:t>
            </a:r>
          </a:p>
          <a:p>
            <a:pPr lvl="0" indent="0" marL="0">
              <a:buNone/>
            </a:pPr>
          </a:p>
          <a:p>
            <a:pPr lvl="0" indent="0" marL="0">
              <a:buNone/>
            </a:pPr>
            <a:r>
              <a:rPr/>
              <a:t>Handout section 3.1.</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Introduce the dendrogram as an object before any linkage rule - the tree itself is the useful idea, and any linkage rule can build one. Say explicitly that choosing k after the fact, by cutting the tree at a height, is a genuinely different workflow from k-means, where k has to be fixed before the algorithm starts.</a:t>
            </a:r>
          </a:p>
          <a:p>
            <a:pPr lvl="0" indent="0" marL="0">
              <a:buNone/>
            </a:pPr>
          </a:p>
          <a:p>
            <a:pPr lvl="0" indent="0" marL="0">
              <a:buNone/>
            </a:pPr>
            <a:r>
              <a:rPr/>
              <a:t>The linkage criterion is where the real content is, and it is the next slide.</a:t>
            </a:r>
          </a:p>
          <a:p>
            <a:pPr lvl="0" indent="0" marL="0">
              <a:buNone/>
            </a:pPr>
          </a:p>
          <a:p>
            <a:pPr lvl="0" indent="0" marL="0">
              <a:buNone/>
            </a:pPr>
            <a:r>
              <a:rPr/>
              <a:t>Handout section 3.2.</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 rules, four different biases - worth naming what each one is built to find, since the next slide is going to show all four failing on this particular dataset for two different reasons.</a:t>
            </a:r>
          </a:p>
          <a:p>
            <a:pPr lvl="0" indent="0" marL="0">
              <a:buNone/>
            </a:pPr>
          </a:p>
          <a:p>
            <a:pPr lvl="0" indent="0" marL="0">
              <a:buNone/>
            </a:pPr>
            <a:r>
              <a:rPr/>
              <a:t>Ward is worth pausing on: it is not a fourth, unrelated idea, it is k-means’ own objective expressed as a merge rule, so predict out loud that it should fail on this data for the same reason k-means just did.</a:t>
            </a:r>
          </a:p>
          <a:p>
            <a:pPr lvl="0" indent="0" marL="0">
              <a:buNone/>
            </a:pPr>
          </a:p>
          <a:p>
            <a:pPr lvl="0" indent="0" marL="0">
              <a:buNone/>
            </a:pPr>
            <a:r>
              <a:rPr/>
              <a:t>Handout section 3.2.</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Ward joins compact, comparably sized groups at every level - look how balanced the branches are. That is its variance objective at work, the same one k-means has, and it is exactly why Ward cannot follow a dense core inside a diffuse ring: it keeps making round pieces.</a:t>
            </a:r>
          </a:p>
          <a:p>
            <a:pPr lvl="0" indent="0" marL="0">
              <a:buNone/>
            </a:pPr>
          </a:p>
          <a:p>
            <a:pPr lvl="0" indent="0" marL="0">
              <a:buNone/>
            </a:pPr>
            <a:r>
              <a:rPr/>
              <a:t>Show how to read it: draw a horizontal line across the tree, and the number of branches it crosses is k. Then contrast with what the next slide shows for single and average linkage on all 1,500 sessions - chaining, one cluster of 1,499 and one of 1 - which this balanced Ward tree does not do.</a:t>
            </a:r>
          </a:p>
          <a:p>
            <a:pPr lvl="0" indent="0" marL="0">
              <a:buNone/>
            </a:pPr>
          </a:p>
          <a:p>
            <a:pPr lvl="0" indent="0" marL="0">
              <a:buNone/>
            </a:pPr>
            <a:r>
              <a:rPr/>
              <a:t>Handout section 3.2.</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two failure modes separately, they are not the same failure. Ward and complete fail for the same reason k-means did - both still search for compact, comparably sized pieces, which this shape does not have. Single and average instead produce one cluster of 1,499 points and a cluster of size 1 - not a discovery, but chaining: the algorithm absorbed almost the entire dataset along its densest path before running out of points to merge.</a:t>
            </a:r>
          </a:p>
          <a:p>
            <a:pPr lvl="0" indent="0" marL="0">
              <a:buNone/>
            </a:pPr>
          </a:p>
          <a:p>
            <a:pPr lvl="0" indent="0" marL="0">
              <a:buNone/>
            </a:pPr>
            <a:r>
              <a:rPr/>
              <a:t>Land the summary line: </a:t>
            </a:r>
            <a:r>
              <a:rPr b="1"/>
              <a:t>all four linkage rules score at or below zero ARI</a:t>
            </a:r>
            <a:r>
              <a:rPr/>
              <a:t>. Hierarchical clustering, by itself, is not a fix for the shape problem - it needs a rule that looks for density rather than compactness or chained proximity.</a:t>
            </a:r>
          </a:p>
          <a:p>
            <a:pPr lvl="0" indent="0" marL="0">
              <a:buNone/>
            </a:pPr>
          </a:p>
          <a:p>
            <a:pPr lvl="0" indent="0" marL="0">
              <a:buNone/>
            </a:pPr>
            <a:r>
              <a:rPr/>
              <a:t>Handout section 3.2.</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Twelve minutes. What comes back after the break is the method that actually solves the bot/human problem - worth saying, so the room returns with the open question fresh: what would a cluster need to mean for that ring-around-a-core shape to be findable?</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the name in full once, then use the acronym. Walk the three point types slowly - core, border, noise - since the next slide’s definition of a cluster depends on all three.</a:t>
            </a:r>
          </a:p>
          <a:p>
            <a:pPr lvl="0" indent="0" marL="0">
              <a:buNone/>
            </a:pPr>
          </a:p>
          <a:p>
            <a:pPr lvl="0" indent="0" marL="0">
              <a:buNone/>
            </a:pPr>
            <a:r>
              <a:rPr/>
              <a:t>Nothing here mentions a centre or a mean - flag that explicitly as the structural difference from everything in sections 2 and 3.2.</a:t>
            </a:r>
          </a:p>
          <a:p>
            <a:pPr lvl="0" indent="0" marL="0">
              <a:buNone/>
            </a:pPr>
          </a:p>
          <a:p>
            <a:pPr lvl="0" indent="0" marL="0">
              <a:buNone/>
            </a:pPr>
            <a:r>
              <a:rPr/>
              <a:t>Handout section 3.3.</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slide that answers the question left open before the break: a cluster defined by density, rather than compactness, can be a ring around a core, because nothing in the definition forces round or convex shapes.</a:t>
            </a:r>
          </a:p>
          <a:p>
            <a:pPr lvl="0" indent="0" marL="0">
              <a:buNone/>
            </a:pPr>
          </a:p>
          <a:p>
            <a:pPr lvl="0" indent="0" marL="0">
              <a:buNone/>
            </a:pPr>
            <a:r>
              <a:rPr/>
              <a:t>The “noise is first-class” point matters on its own - every method in sections 2 and 3.2 must assign every point to exactly one cluster. DBSCAN does not, and section 3.3’s numbers later show exactly what that buys.</a:t>
            </a:r>
          </a:p>
          <a:p>
            <a:pPr lvl="0" indent="0" marL="0">
              <a:buNone/>
            </a:pPr>
          </a:p>
          <a:p>
            <a:pPr lvl="0" indent="0" marL="0">
              <a:buNone/>
            </a:pPr>
            <a:r>
              <a:rPr/>
              <a:t>Handout section 3.3.</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failure directions, both bad, and </a:t>
            </a:r>
            <a:r>
              <a:rPr>
                <a:latin typeface="Courier"/>
              </a:rPr>
              <a:t>eps</a:t>
            </a:r>
            <a:r>
              <a:rPr/>
              <a:t> sits between them - motivate the k-distance plot as a principled way to find that middle point rather than guessing.</a:t>
            </a:r>
          </a:p>
          <a:p>
            <a:pPr lvl="0" indent="0" marL="0">
              <a:buNone/>
            </a:pPr>
          </a:p>
          <a:p>
            <a:pPr lvl="0" indent="0" marL="0">
              <a:buNone/>
            </a:pPr>
            <a:r>
              <a:rPr/>
              <a:t>Ask the room what shape they expect the sorted-distance curve to have before showing it. The intuition: flat while you are still inside dense regions, then a sharp climb once points start being genuinely far from their neighbours.</a:t>
            </a:r>
          </a:p>
          <a:p>
            <a:pPr lvl="0" indent="0" marL="0">
              <a:buNone/>
            </a:pPr>
          </a:p>
          <a:p>
            <a:pPr lvl="0" indent="0" marL="0">
              <a:buNone/>
            </a:pPr>
            <a:r>
              <a:rPr/>
              <a:t>Handout section 3.3.</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10th-nearest-neighbour distance, sorted, for all 1,500 sessions. The curve stays low and flat through most of the range and bends sharply upward near the end.</a:t>
            </a:r>
          </a:p>
          <a:p>
            <a:pPr lvl="0" indent="0" marL="0">
              <a:buNone/>
            </a:pPr>
          </a:p>
          <a:p>
            <a:pPr lvl="0" indent="0" marL="0">
              <a:buNone/>
            </a:pPr>
            <a:r>
              <a:rPr>
                <a:latin typeface="Courier"/>
              </a:rPr>
              <a:t>eps = 0.30</a:t>
            </a:r>
            <a:r>
              <a:rPr/>
              <a:t> sits where the climb begins, a little above the knee this week’s curve gives, 0.258 - point at exactly where on the curve that is, because section 3.4 comes back to that gap. This is the value used on the next slide’s results.</a:t>
            </a:r>
          </a:p>
          <a:p>
            <a:pPr lvl="0" indent="0" marL="0">
              <a:buNone/>
            </a:pPr>
          </a:p>
          <a:p>
            <a:pPr lvl="0" indent="0" marL="0">
              <a:buNone/>
            </a:pPr>
            <a:r>
              <a:rPr/>
              <a:t>Handout section 3.3.</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0.941 against k-means’ -0.046 and Ward’s -0.062 on the identical dataset - same data, a method built for the actual shape.</a:t>
            </a:r>
          </a:p>
          <a:p>
            <a:pPr lvl="0" indent="0" marL="0">
              <a:buNone/>
            </a:pPr>
          </a:p>
          <a:p>
            <a:pPr lvl="0" indent="0" marL="0">
              <a:buNone/>
            </a:pPr>
            <a:r>
              <a:rPr/>
              <a:t>Worth reading the noise points individually rather than as a rounding error: checking their true label shows all 13 are genuine human sessions, not misplaced bots - sessions whose one week of browsing happened, by chance, to look almost as mechanically regular as a script’s. DBSCAN’s answer for them - not confidently either group - is more honest than a forced binary label, and it is an answer no method in section 2 or 3.2 can even give.</a:t>
            </a:r>
          </a:p>
          <a:p>
            <a:pPr lvl="0" indent="0" marL="0">
              <a:buNone/>
            </a:pPr>
          </a:p>
          <a:p>
            <a:pPr lvl="0" indent="0" marL="0">
              <a:buNone/>
            </a:pPr>
            <a:r>
              <a:rPr/>
              <a:t>Handout section 3.3.</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True group, k-means, and DBSCAN on the same axes. DBSCAN’s cluster boundary follows the actual density gap; k-means’ straight cut does not exist in this data at all - point directly at the contrast rather than describing it.</a:t>
            </a:r>
          </a:p>
          <a:p>
            <a:pPr lvl="0" indent="0" marL="0">
              <a:buNone/>
            </a:pPr>
          </a:p>
          <a:p>
            <a:pPr lvl="0" indent="0" marL="0">
              <a:buNone/>
            </a:pPr>
            <a:r>
              <a:rPr/>
              <a:t>This is the single figure to leave up longest in this segment - it makes the whole section’s argument visible in one look.</a:t>
            </a:r>
          </a:p>
          <a:p>
            <a:pPr lvl="0" indent="0" marL="0">
              <a:buNone/>
            </a:pPr>
          </a:p>
          <a:p>
            <a:pPr lvl="0" indent="0" marL="0">
              <a:buNone/>
            </a:pPr>
            <a:r>
              <a:rPr/>
              <a:t>Handout section 3.3.</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Seven weeks regenerated from the same generator - same site, same bot fraction, same shapes, different individual sessions. Read the two ARI columns against each other before saying anything.</a:t>
            </a:r>
          </a:p>
          <a:p>
            <a:pPr lvl="0" indent="0" marL="0">
              <a:buNone/>
            </a:pPr>
          </a:p>
          <a:p>
            <a:pPr lvl="0" indent="0" marL="0">
              <a:buNone/>
            </a:pPr>
            <a:r>
              <a:rPr b="1"/>
              <a:t>The constant does not transfer.</a:t>
            </a:r>
            <a:r>
              <a:rPr/>
              <a:t> On two of the seven, DBSCAN returns a single cluster and an ARI of zero. Not a worse answer - no answer at all. The reason is in the knee column: 0.30 is larger than any of these weeks’ own curves suggest, and on those two draws it is large enough to bridge the density gap and swallow the ring into the core.</a:t>
            </a:r>
          </a:p>
          <a:p>
            <a:pPr lvl="0" indent="0" marL="0">
              <a:buNone/>
            </a:pPr>
          </a:p>
          <a:p>
            <a:pPr lvl="0" indent="0" marL="0">
              <a:buNone/>
            </a:pPr>
            <a:r>
              <a:rPr b="1"/>
              <a:t>The recipe does transfer.</a:t>
            </a:r>
            <a:r>
              <a:rPr/>
              <a:t> Re-read </a:t>
            </a:r>
            <a:r>
              <a:rPr>
                <a:latin typeface="Courier"/>
              </a:rPr>
              <a:t>eps</a:t>
            </a:r>
            <a:r>
              <a:rPr/>
              <a:t> off each week’s own k-distance curve and the split comes back every time, at 0.79 to 0.89.</a:t>
            </a:r>
          </a:p>
          <a:p>
            <a:pPr lvl="0" indent="0" marL="0">
              <a:buNone/>
            </a:pPr>
          </a:p>
          <a:p>
            <a:pPr lvl="0" indent="0" marL="0">
              <a:buNone/>
            </a:pPr>
            <a:r>
              <a:rPr/>
              <a:t>Now the row to sit on, and it is the first one. On the week we studied, the hand-picked 0.30 </a:t>
            </a:r>
            <a:r>
              <a:rPr i="1"/>
              <a:t>beats</a:t>
            </a:r>
            <a:r>
              <a:rPr/>
              <a:t> the recipe - 0.941 against 0.890. Say the consequence out loud: the tuned constant is better where it works and absent where it does not.</a:t>
            </a:r>
          </a:p>
          <a:p>
            <a:pPr lvl="0" indent="0" marL="0">
              <a:buNone/>
            </a:pPr>
          </a:p>
          <a:p>
            <a:pPr lvl="0" indent="0" marL="0">
              <a:buNone/>
            </a:pPr>
            <a:r>
              <a:rPr/>
              <a:t>That is not a fact about DBSCAN. It is what fitting a constant to one sample buys and costs, and lesson 5 said the same thing about trusting a single train/test split. Ask the room which of the two they would ship to Aurora’s security team, and why.</a:t>
            </a:r>
          </a:p>
          <a:p>
            <a:pPr lvl="0" indent="0" marL="0">
              <a:buNone/>
            </a:pPr>
          </a:p>
          <a:p>
            <a:pPr lvl="0" indent="0" marL="0">
              <a:buNone/>
            </a:pPr>
            <a:r>
              <a:rPr/>
              <a:t>Handout section 3.4.</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table is worth reading as a decision the data makes, not the analyst. The predictable mistake, from the handout: having watched k-means recover the customer segments almost perfectly in section 2, the reasonable conclusion is that clustering as a category works well. The instinct is not wrong about k-means specifically - it is wrong about clustering being one method with one assumption.</a:t>
            </a:r>
          </a:p>
          <a:p>
            <a:pPr lvl="0" indent="0" marL="0">
              <a:buNone/>
            </a:pPr>
          </a:p>
          <a:p>
            <a:pPr lvl="0" indent="0" marL="0">
              <a:buNone/>
            </a:pPr>
            <a:r>
              <a:rPr/>
              <a:t>k-means and Ward both optimise “compact and round”; DBSCAN optimises “densely connected” - a nested structure like today’s bot core is exactly where the two notions give opposite answers, and which definition is right is a property of the data, not the algorithm.</a:t>
            </a:r>
          </a:p>
          <a:p>
            <a:pPr lvl="0" indent="0" marL="0">
              <a:buNone/>
            </a:pPr>
          </a:p>
          <a:p>
            <a:pPr lvl="0" indent="0" marL="0">
              <a:buNone/>
            </a:pPr>
            <a:r>
              <a:rPr/>
              <a:t>Handout section 3.5.</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Run Notebooks/02_hierarchical_and_dbscan.ipynb. Twenty minutes.</a:t>
            </a:r>
          </a:p>
          <a:p>
            <a:pPr lvl="0" indent="0" marL="0">
              <a:buNone/>
            </a:pPr>
          </a:p>
          <a:p>
            <a:pPr lvl="0" indent="0" marL="0">
              <a:buNone/>
            </a:pPr>
            <a:r>
              <a:rPr/>
              <a:t>Protect the </a:t>
            </a:r>
            <a:r>
              <a:rPr>
                <a:latin typeface="Courier"/>
              </a:rPr>
              <a:t>eps</a:t>
            </a:r>
            <a:r>
              <a:rPr/>
              <a:t> sweep if time is short - watching ARI rise and then fall again as </a:t>
            </a:r>
            <a:r>
              <a:rPr>
                <a:latin typeface="Courier"/>
              </a:rPr>
              <a:t>eps</a:t>
            </a:r>
            <a:r>
              <a:rPr/>
              <a:t> moves past the bend makes the “too small fractures, too large merges” argument concrete rather than asserted.</a:t>
            </a:r>
          </a:p>
          <a:p>
            <a:pPr lvl="0" indent="0" marL="0">
              <a:buNone/>
            </a:pPr>
          </a:p>
          <a:p>
            <a:pPr lvl="0" indent="0" marL="0">
              <a:buNone/>
            </a:pPr>
            <a:r>
              <a:rPr/>
              <a:t>Have them check the 13 noise points’ true labels themselves rather than reading the number off a slide.</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Return explicitly to the asymmetry flagged in section 1: everything scored with ARI today is checkable only because the truth is published. This section is about what is left when it is not.</a:t>
            </a:r>
          </a:p>
          <a:p>
            <a:pPr lvl="0" indent="0" marL="0">
              <a:buNone/>
            </a:pPr>
          </a:p>
          <a:p>
            <a:pPr lvl="0" indent="0" marL="0">
              <a:buNone/>
            </a:pPr>
            <a:r>
              <a:rPr/>
              <a:t>Set up the two-way split before naming either family - internal (only the clustering and the data) versus external (an outside answer key) - the next two slides take one each.</a:t>
            </a:r>
          </a:p>
          <a:p>
            <a:pPr lvl="0" indent="0" marL="0">
              <a:buNone/>
            </a:pPr>
          </a:p>
          <a:p>
            <a:pPr lvl="0" indent="0" marL="0">
              <a:buNone/>
            </a:pPr>
            <a:r>
              <a:rPr/>
              <a:t>Handout section 4.</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Silhouette already appeared in section 2.3 as a way to choose k - here it is being recast as one member of a broader category, “internal metrics,” which is the useful generalisation.</a:t>
            </a:r>
          </a:p>
          <a:p>
            <a:pPr lvl="0" indent="0" marL="0">
              <a:buNone/>
            </a:pPr>
          </a:p>
          <a:p>
            <a:pPr lvl="0" indent="0" marL="0">
              <a:buNone/>
            </a:pPr>
            <a:r>
              <a:rPr/>
              <a:t>The WCSS caveat is worth spelling out: it cannot be used to compare k-means against DBSCAN, because DBSCAN does not even define centres the way WCSS needs. That limitation is part of why a family of alternatives exists at all.</a:t>
            </a:r>
          </a:p>
          <a:p>
            <a:pPr lvl="0" indent="0" marL="0">
              <a:buNone/>
            </a:pPr>
          </a:p>
          <a:p>
            <a:pPr lvl="0" indent="0" marL="0">
              <a:buNone/>
            </a:pPr>
            <a:r>
              <a:rPr/>
              <a:t>Handout section 4.</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examples of a real-world external signal matter more than the definition here - a downstream outcome (blocked and never returned) is the kind of proxy label that is available far more often than a clean, hand-verified truth, and it is worth spending a moment on that it counts even when partial or noisy.</a:t>
            </a:r>
          </a:p>
          <a:p>
            <a:pPr lvl="0" indent="0" marL="0">
              <a:buNone/>
            </a:pPr>
          </a:p>
          <a:p>
            <a:pPr lvl="0" indent="0" marL="0">
              <a:buNone/>
            </a:pPr>
            <a:r>
              <a:rPr/>
              <a:t>Set up the punchline explicitly: internal metrics can be confidently wrong, because they have no way to know the clustering’s underlying assumption is the wrong one for this data - only whether it is self-consistent. That is the next slide.</a:t>
            </a:r>
          </a:p>
          <a:p>
            <a:pPr lvl="0" indent="0" marL="0">
              <a:buNone/>
            </a:pPr>
          </a:p>
          <a:p>
            <a:pPr lvl="0" indent="0" marL="0">
              <a:buNone/>
            </a:pPr>
            <a:r>
              <a:rPr/>
              <a:t>Handout section 4.</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handout’s named predictable mistake, and it deserves to be said slowly. Ask the room directly: if you only had the silhouette score and not the ARI, would you have any hint that k-means’ clustering on the session data is worthless? The honest answer is no - the internal metric alone gives no warning. Worse, it points the wrong way: k-means’ useless split scores 0.401, DBSCAN’s correct one -0.106, because two compact halves are rounder than a core inside a ring.</a:t>
            </a:r>
          </a:p>
          <a:p>
            <a:pPr lvl="0" indent="0" marL="0">
              <a:buNone/>
            </a:pPr>
          </a:p>
          <a:p>
            <a:pPr lvl="0" indent="0" marL="0">
              <a:buNone/>
            </a:pPr>
            <a:r>
              <a:rPr/>
              <a:t>That is the whole reason external validation matters whenever any signal for it exists, even a rough one, and it is why this section sits between the clustering methods and PCA rather than being a footnote to section 2.</a:t>
            </a:r>
          </a:p>
          <a:p>
            <a:pPr lvl="0" indent="0" marL="0">
              <a:buNone/>
            </a:pPr>
          </a:p>
          <a:p>
            <a:pPr lvl="0" indent="0" marL="0">
              <a:buNone/>
            </a:pPr>
            <a:r>
              <a:rPr/>
              <a:t>Handout section 4.</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Aurora’s account table has 8 columns. The block of warm cells among spend-related columns, and the separate block among engagement-related columns, is the correlation structure PCA is about to compress - point at both blocks directly.</a:t>
            </a:r>
          </a:p>
          <a:p>
            <a:pPr lvl="0" indent="0" marL="0">
              <a:buNone/>
            </a:pPr>
          </a:p>
          <a:p>
            <a:pPr lvl="0" indent="0" marL="0">
              <a:buNone/>
            </a:pPr>
            <a:r>
              <a:rPr/>
              <a:t>Say plainly what this figure is doing here: it is the motivation for everything that follows, not a result. Spend, basket value and mobile session count all move together because they partly reflect the same underlying tendency to spend - PCA is about to find that underlying tendency directly.</a:t>
            </a:r>
          </a:p>
          <a:p>
            <a:pPr lvl="0" indent="0" marL="0">
              <a:buNone/>
            </a:pPr>
          </a:p>
          <a:p>
            <a:pPr lvl="0" indent="0" marL="0">
              <a:buNone/>
            </a:pPr>
            <a:r>
              <a:rPr/>
              <a:t>Handout section 5.1.</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Give the intuition before any algebra, exactly as the handout does: PCA is looking for the direction that best tells points apart, not a mysterious transform. “Safe to discard” is the key phrase - it is what makes dimensionality reduction a defensible operation rather than just throwing information away.</a:t>
            </a:r>
          </a:p>
          <a:p>
            <a:pPr lvl="0" indent="0" marL="0">
              <a:buNone/>
            </a:pPr>
          </a:p>
          <a:p>
            <a:pPr lvl="0" indent="0" marL="0">
              <a:buNone/>
            </a:pPr>
            <a:r>
              <a:rPr/>
              <a:t>The next few slides give the two derivations the handout works through in full - state results here, point to the handout for the steps.</a:t>
            </a:r>
          </a:p>
          <a:p>
            <a:pPr lvl="0" indent="0" marL="0">
              <a:buNone/>
            </a:pPr>
          </a:p>
          <a:p>
            <a:pPr lvl="0" indent="0" marL="0">
              <a:buNone/>
            </a:pPr>
            <a:r>
              <a:rPr/>
              <a:t>Handout section 5.1.</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“Maximise variance” is meaningless until direction is separated from length - that is what the unit-length constraint buys. The handout works the constrained optimisation through a Lagrange multiplier in full - worth saying that word exists, not deriving it here.</a:t>
            </a:r>
          </a:p>
          <a:p>
            <a:pPr lvl="0" indent="0" marL="0">
              <a:buNone/>
            </a:pPr>
          </a:p>
          <a:p>
            <a:pPr lvl="0" indent="0" marL="0">
              <a:buNone/>
            </a:pPr>
            <a:r>
              <a:rPr/>
              <a:t>Handout section 5.2.</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Σ is the sample covariance matrix - for standardised columns, its diagonal is 1 and its off-diagonal entries are correlations, the same numbers the previous figure showed as colours.</a:t>
            </a:r>
          </a:p>
          <a:p>
            <a:pPr lvl="0" indent="0" marL="0">
              <a:buNone/>
            </a:pPr>
          </a:p>
          <a:p>
            <a:pPr lvl="0" indent="0" marL="0">
              <a:buNone/>
            </a:pPr>
            <a:r>
              <a:rPr/>
              <a:t>Handout section 5.2.</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State the result, not the Lagrangian steps that get there - those are handout section 5.2, in full. Say what this equation means in words: directions that solve the constrained maximisation are exactly the eigenvectors of the covariance matrix, with λ the corresponding eigenvalue.</a:t>
            </a:r>
          </a:p>
          <a:p>
            <a:pPr lvl="0" indent="0" marL="0">
              <a:buNone/>
            </a:pPr>
          </a:p>
          <a:p>
            <a:pPr lvl="0" indent="0" marL="0">
              <a:buNone/>
            </a:pPr>
            <a:r>
              <a:rPr/>
              <a:t>Substituting back gives vᵀΣv = λ - the variance a direction captures </a:t>
            </a:r>
            <a:r>
              <a:rPr b="1"/>
              <a:t>is</a:t>
            </a:r>
            <a:r>
              <a:rPr/>
              <a:t> its eigenvalue. That single fact is the bridge from “an eigenvector” to “a principal component,” and it is the fact worth the class actually remembering.</a:t>
            </a:r>
          </a:p>
          <a:p>
            <a:pPr lvl="0" indent="0" marL="0">
              <a:buNone/>
            </a:pPr>
          </a:p>
          <a:p>
            <a:pPr lvl="0" indent="0" marL="0">
              <a:buNone/>
            </a:pPr>
            <a:r>
              <a:rPr/>
              <a:t>Handout section 5.2.</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turns the previous slide’s single equation into the actual recipe: sort eigenvalues, keep eigenvectors in that order, and that ordered list </a:t>
            </a:r>
            <a:r>
              <a:rPr i="1"/>
              <a:t>is</a:t>
            </a:r>
            <a:r>
              <a:rPr/>
              <a:t> PCA. Worth saying explicitly that this is the entire algorithm once the eigendecomposition is in hand - everything before this was justifying why eigenvectors are the right thing to compute at all.</a:t>
            </a:r>
          </a:p>
          <a:p>
            <a:pPr lvl="0" indent="0" marL="0">
              <a:buNone/>
            </a:pPr>
          </a:p>
          <a:p>
            <a:pPr lvl="0" indent="0" marL="0">
              <a:buNone/>
            </a:pPr>
            <a:r>
              <a:rPr/>
              <a:t>The automatic-orthogonality point is worth a beat: it is not a separate constraint PCA has to enforce, it falls out of Σ being symmetric.</a:t>
            </a:r>
          </a:p>
          <a:p>
            <a:pPr lvl="0" indent="0" marL="0">
              <a:buNone/>
            </a:pPr>
          </a:p>
          <a:p>
            <a:pPr lvl="0" indent="0" marL="0">
              <a:buNone/>
            </a:pPr>
            <a:r>
              <a:rPr/>
              <a:t>Handout section 5.2.</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standardised features from section 2 - spend and visit frequency. For this symmetric 2×2 form, the eigenvalues are exactly 1+r and 1-r for correlation r, checkable directly from Σv = λv with no numerical solver - with r = 0.171: 1.171 and 0.829. </a:t>
            </a:r>
            <a:r>
              <a:rPr>
                <a:latin typeface="Courier"/>
              </a:rPr>
              <a:t>numpy.linalg.eigh</a:t>
            </a:r>
            <a:r>
              <a:rPr/>
              <a:t> gives 1.171 and 0.830; the last digit moves because np.cov divides by m - 1, so the diagonal is 1.0005 rather than 1.</a:t>
            </a:r>
          </a:p>
          <a:p>
            <a:pPr lvl="0" indent="0" marL="0">
              <a:buNone/>
            </a:pPr>
          </a:p>
          <a:p>
            <a:pPr lvl="0" indent="0" marL="0">
              <a:buNone/>
            </a:pPr>
            <a:r>
              <a:rPr/>
              <a:t>The direction (1,1)/√2 is the “spend and visit often together” diagonal, not either axis alone - say why that makes sense: customers who spend more also tend to visit more, so the greatest joint variation runs along the diagonal between the two original features.</a:t>
            </a:r>
          </a:p>
          <a:p>
            <a:pPr lvl="0" indent="0" marL="0">
              <a:buNone/>
            </a:pPr>
          </a:p>
          <a:p>
            <a:pPr lvl="0" indent="0" marL="0">
              <a:buNone/>
            </a:pPr>
            <a:r>
              <a:rPr/>
              <a:t>Handout section 5.2.</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the two components on spend and visits, each arrow two standard deviations long. PC1 runs along the diagonal with variance 1.171, PC2 across it with 0.830 - the previous slide’s numbers, as directions.</a:t>
            </a:r>
          </a:p>
          <a:p>
            <a:pPr lvl="0" indent="0" marL="0">
              <a:buNone/>
            </a:pPr>
          </a:p>
          <a:p>
            <a:pPr lvl="0" indent="0" marL="0">
              <a:buNone/>
            </a:pPr>
            <a:r>
              <a:rPr/>
              <a:t>Right: previewing the anomaly section. The customer furthest off the diagonal, customer 13, and its reconstruction from PC1 alone - the closest point on the line. The residual meets the line at a right angle; that is what makes the reconstruction the closest point, and its squared length, 6.37, is the reconstruction error. In section 6 the same measurement, in eight dimensions with three components kept, catches 37 of 40 disguised accounts. Handout sections 5.2 and 6.1.</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Callback to lesson 3 deliberately - condition number squaring is the same argument that motivated preferring gradient-based or QR-based solvers over the raw normal equation there, and it is worth naming that connection out loud so the pattern generalises for students.</a:t>
            </a:r>
          </a:p>
          <a:p>
            <a:pPr lvl="0" indent="0" marL="0">
              <a:buNone/>
            </a:pPr>
          </a:p>
          <a:p>
            <a:pPr lvl="0" indent="0" marL="0">
              <a:buNone/>
            </a:pPr>
            <a:r>
              <a:rPr/>
              <a:t>The equation is on the next slide.</a:t>
            </a:r>
          </a:p>
          <a:p>
            <a:pPr lvl="0" indent="0" marL="0">
              <a:buNone/>
            </a:pPr>
          </a:p>
          <a:p>
            <a:pPr lvl="0" indent="0" marL="0">
              <a:buNone/>
            </a:pPr>
            <a:r>
              <a:rPr/>
              <a:t>Handout section 5.3.</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what the equation means: U and V orthogonal, S diagonal with non-negative singular values s₁ ≥ s₂ ≥ …; the columns of V are exactly the eigenvectors of XᵀX, and λᵢ = sᵢ²/(m-1) recovers the eigenvalues without ever forming Σ.</a:t>
            </a:r>
          </a:p>
          <a:p>
            <a:pPr lvl="0" indent="0" marL="0">
              <a:buNone/>
            </a:pPr>
          </a:p>
          <a:p>
            <a:pPr lvl="0" indent="0" marL="0">
              <a:buNone/>
            </a:pPr>
            <a:r>
              <a:rPr/>
              <a:t>Handout section 5.3.</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genuine cross-check, in the same spirit as the k-means++ notebook agreeing with scikit-learn to 10⁻⁴ earlier - three independent computational routes to the same mathematical object, converging to sixteen significant figures.</a:t>
            </a:r>
          </a:p>
          <a:p>
            <a:pPr lvl="0" indent="0" marL="0">
              <a:buNone/>
            </a:pPr>
          </a:p>
          <a:p>
            <a:pPr lvl="0" indent="0" marL="0">
              <a:buNone/>
            </a:pPr>
            <a:r>
              <a:rPr/>
              <a:t>Worth a sentence on why this matters pedagogically: it is one thing to prove eigendecomposition and SVD give the same eigenvalues on paper, and another to watch three separate library calls confirm it to floating-point precision on real data.</a:t>
            </a:r>
          </a:p>
          <a:p>
            <a:pPr lvl="0" indent="0" marL="0">
              <a:buNone/>
            </a:pPr>
          </a:p>
          <a:p>
            <a:pPr lvl="0" indent="0" marL="0">
              <a:buNone/>
            </a:pPr>
            <a:r>
              <a:rPr/>
              <a:t>Handout section 5.3.</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Per-component and cumulative explained variance for the 8 account features. The first 3 components explain 93.5% of total variance; the 4th adds only 2.4% more - point at exactly where the sharp elbow sits.</a:t>
            </a:r>
          </a:p>
          <a:p>
            <a:pPr lvl="0" indent="0" marL="0">
              <a:buNone/>
            </a:pPr>
          </a:p>
          <a:p>
            <a:pPr lvl="0" indent="0" marL="0">
              <a:buNone/>
            </a:pPr>
            <a:r>
              <a:rPr/>
              <a:t>Ask the room to predict the number before you say it - most will read the bend correctly from the shape alone, which is the whole point of a scree plot as a diagnostic.</a:t>
            </a:r>
          </a:p>
          <a:p>
            <a:pPr lvl="0" indent="0" marL="0">
              <a:buNone/>
            </a:pPr>
          </a:p>
          <a:p>
            <a:pPr lvl="0" indent="0" marL="0">
              <a:buNone/>
            </a:pPr>
            <a:r>
              <a:rPr/>
              <a:t>Handout section 5.4.</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3 is not an arbitrary read of the elbow - it is the exact number of latent factors (</a:t>
            </a:r>
            <a:r>
              <a:rPr>
                <a:latin typeface="Courier"/>
              </a:rPr>
              <a:t>retail_data.py</a:t>
            </a:r>
            <a:r>
              <a:rPr/>
              <a:t>’s spending propensity, engagement, price sensitivity) that generated all 8 observed columns. The scree plot recovered, from the data alone, a number this lesson deliberately withheld from every method until now.</a:t>
            </a:r>
          </a:p>
          <a:p>
            <a:pPr lvl="0" indent="0" marL="0">
              <a:buNone/>
            </a:pPr>
          </a:p>
          <a:p>
            <a:pPr lvl="0" indent="0" marL="0">
              <a:buNone/>
            </a:pPr>
            <a:r>
              <a:rPr/>
              <a:t>Say clearly that this clean an elbow will not appear on every dataset students meet later - it exists here because the generator built 8 columns as noisy linear combinations of exactly 3 signals. The next slide is what to do when it is not this clean.</a:t>
            </a:r>
          </a:p>
          <a:p>
            <a:pPr lvl="0" indent="0" marL="0">
              <a:buNone/>
            </a:pPr>
          </a:p>
          <a:p>
            <a:pPr lvl="0" indent="0" marL="0">
              <a:buNone/>
            </a:pPr>
            <a:r>
              <a:rPr/>
              <a:t>Handout section 5.4.</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the PCA segment by generalising beyond this lesson’s convenient dataset - students will not always get a number this clean, and this slide is explicitly about what changes when they don’t.</a:t>
            </a:r>
          </a:p>
          <a:p>
            <a:pPr lvl="0" indent="0" marL="0">
              <a:buNone/>
            </a:pPr>
          </a:p>
          <a:p>
            <a:pPr lvl="0" indent="0" marL="0">
              <a:buNone/>
            </a:pPr>
            <a:r>
              <a:rPr/>
              <a:t>Frame the cross-validation option as a callback to lesson 5: choosing the number of components is a model-selection decision like any other, and the same honest-validation discipline that lesson used for hyperparameters applies here too.</a:t>
            </a:r>
          </a:p>
          <a:p>
            <a:pPr lvl="0" indent="0" marL="0">
              <a:buNone/>
            </a:pPr>
          </a:p>
          <a:p>
            <a:pPr lvl="0" indent="0" marL="0">
              <a:buNone/>
            </a:pPr>
            <a:r>
              <a:rPr/>
              <a:t>Handout section 5.4.</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Run Notebooks/03_pca_and_anomaly_detection.ipynb. Twenty minutes.</a:t>
            </a:r>
          </a:p>
          <a:p>
            <a:pPr lvl="0" indent="0" marL="0">
              <a:buNone/>
            </a:pPr>
          </a:p>
          <a:p>
            <a:pPr lvl="0" indent="0" marL="0">
              <a:buNone/>
            </a:pPr>
            <a:r>
              <a:rPr/>
              <a:t>This is the lesson’s headline number and it is delivered live in the notebook rather than pre-built on a slide - reconstructing accounts from the top 3 components and watching genuine accounts snap back almost exactly, while planted anomalies do not, is more convincing run than described.</a:t>
            </a:r>
          </a:p>
          <a:p>
            <a:pPr lvl="0" indent="0" marL="0">
              <a:buNone/>
            </a:pPr>
          </a:p>
          <a:p>
            <a:pPr lvl="0" indent="0" marL="0">
              <a:buNone/>
            </a:pPr>
            <a:r>
              <a:rPr/>
              <a:t>Protect the reconstruction-error histogram and the 2-D scatter comparison if time is short: the point that anomalies sit </a:t>
            </a:r>
            <a:r>
              <a:rPr b="1"/>
              <a:t>closer</a:t>
            </a:r>
            <a:r>
              <a:rPr/>
              <a:t> to the centre than genuine accounts, on average, in both the PCA and t-SNE projections, is the section’s real content, and it needs to be seen, not just quoted.</a:t>
            </a:r>
          </a:p>
          <a:p>
            <a:pPr lvl="0" indent="0" marL="0">
              <a:buNone/>
            </a:pPr>
          </a:p>
          <a:p>
            <a:pPr lvl="0" indent="0" marL="0">
              <a:buNone/>
            </a:pPr>
            <a:r>
              <a:rPr/>
              <a:t>Handout sections 6.1, 6.2.</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Position t-SNE precisely: a visualisation tool, not a measurement tool, and the two limitations on this slide are the reason. Two clusters drawn far apart in a t-SNE plot are not necessarily more different than two drawn close together - resist any temptation to read distance off the picture the way a PCA plot’s axes can be read.</a:t>
            </a:r>
          </a:p>
          <a:p>
            <a:pPr lvl="0" indent="0" marL="0">
              <a:buNone/>
            </a:pPr>
          </a:p>
          <a:p>
            <a:pPr lvl="0" indent="0" marL="0">
              <a:buNone/>
            </a:pPr>
            <a:r>
              <a:rPr/>
              <a:t>Tie back directly to notebook 03: t-SNE inherited the exact same blind spot PCA’s 2-D projection had for the fraud anomalies - good for looking, not a substitute for reconstruction error. The full KL-divergence derivation is deliberately out of scope; point to the further reading.</a:t>
            </a:r>
          </a:p>
          <a:p>
            <a:pPr lvl="0" indent="0" marL="0">
              <a:buNone/>
            </a:pPr>
          </a:p>
          <a:p>
            <a:pPr lvl="0" indent="0" marL="0">
              <a:buNone/>
            </a:pPr>
            <a:r>
              <a:rPr/>
              <a:t>Handout section 7.</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number to carry out of the room: 37 of 40, using nothing but the relationship between eight individually ordinary-looking columns, on a detection problem neither of the standard 2-D visualisation tools could solve.</a:t>
            </a:r>
          </a:p>
          <a:p>
            <a:pPr lvl="0" indent="0" marL="0">
              <a:buNone/>
            </a:pPr>
          </a:p>
          <a:p>
            <a:pPr lvl="0" indent="0" marL="0">
              <a:buNone/>
            </a:pPr>
            <a:r>
              <a:rPr/>
              <a:t>Ask them to write it down - the fourth lesson this course has produced one of these carry-home numbers: 77% accuracy on coin-flip labels, 94 of 128 imputed rows that borrowed from the test set, a coefficient of 365 where an unpenalised fit wanted billions, and now this.</a:t>
            </a:r>
          </a:p>
          <a:p>
            <a:pPr lvl="0" indent="0" marL="0">
              <a:buNone/>
            </a:pPr>
          </a:p>
          <a:p>
            <a:pPr lvl="0" indent="0" marL="0">
              <a:buNone/>
            </a:pPr>
            <a:r>
              <a:rPr/>
              <a:t>If one habit should survive from today: before trusting an unlabelled result, ask what the metric or the picture in front of you is actually capable of seeing - a silhouette score cannot see a wrong shape assumption, and a 2-D scatter cannot see what the discarded dimensions would have shown.</a:t>
            </a:r>
          </a:p>
          <a:p>
            <a:pPr lvl="0" indent="0" marL="0">
              <a:buNone/>
            </a:pPr>
          </a:p>
          <a:p>
            <a:pPr lvl="0" indent="0" marL="0">
              <a:buNone/>
            </a:pPr>
            <a:r>
              <a:rPr/>
              <a:t>Handout summary and notation table.</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it explicitly and say out loud when it comes back: the first ten minutes of lesson 9, Friday 27 November.</a:t>
            </a:r>
          </a:p>
          <a:p>
            <a:pPr lvl="0" indent="0" marL="0">
              <a:buNone/>
            </a:pPr>
          </a:p>
          <a:p>
            <a:pPr lvl="0" indent="0" marL="0">
              <a:buNone/>
            </a:pPr>
            <a:r>
              <a:rPr/>
              <a:t>Remind them of the standing rule from lesson 5, still in force with no labels at all: every reported number needs a check against what the method could and could not see - an ARI needs a ground truth to be meaningful, a silhouette score needs to be read as roundness rather than correctness, and a reconstruction-error threshold needs its false-positive rate reported alongside its catch rate, not instead of it.</a:t>
            </a:r>
          </a:p>
          <a:p>
            <a:pPr lvl="0" indent="0" marL="0">
              <a:buNone/>
            </a:pPr>
          </a:p>
          <a:p>
            <a:pPr lvl="0" indent="0" marL="0">
              <a:buNone/>
            </a:pPr>
            <a:r>
              <a:rPr/>
              <a:t>Next lesson moves to a different question this course has not yet asked. Close the loop on today: four lessons in a row have each produced one number worth remembering - encourage them to notice that pattern themselves before it is pointed out again.</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7" name="Logo 7" descr="univaq_logo.png"/>
          <p:cNvPicPr>
            <a:picLocks noChangeAspect="1"/>
          </p:cNvPicPr>
          <p:nvPr/>
        </p:nvPicPr>
        <p:blipFill>
          <a:blip r:embed="rId2"/>
          <a:stretch>
            <a:fillRect/>
          </a:stretch>
        </p:blipFill>
        <p:spPr>
          <a:xfrm>
            <a:off x="3383280" y="282892"/>
            <a:ext cx="2377440" cy="1037097"/>
          </a:xfrm>
          <a:prstGeom prst="rect">
            <a:avLst/>
          </a:prstGeom>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Picture Placeholder 2"/>
          <p:cNvSpPr>
            <a:spLocks noGrp="1"/>
          </p:cNvSpPr>
          <p:nvPr>
            <p:ph type="pic" idx="1"/>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endParaRPr lang="en-US"/>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pic>
        <p:nvPicPr>
          <p:cNvPr descr="univaq_logo.png" id="7" name="Logo 7"/>
          <p:cNvPicPr>
            <a:picLocks noChangeAspect="1"/>
          </p:cNvPicPr>
          <p:nvPr/>
        </p:nvPicPr>
        <p:blipFill>
          <a:blip r:embed="rId13"/>
          <a:stretch>
            <a:fillRect/>
          </a:stretch>
        </p:blipFill>
        <p:spPr>
          <a:xfrm>
            <a:off x="7836408" y="4530478"/>
            <a:ext cx="1051560" cy="458716"/>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1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Lesson 8: Unsupervised Learning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Technologies for Artificial Intelligence</a:t>
            </a:r>
            <a:br/>
            <a:br/>
            <a:r>
              <a:rPr/>
              <a:t>Fabio Antonini, Università degli Studi dell’Aquila</a:t>
            </a:r>
          </a:p>
        </p:txBody>
      </p:sp>
      <p:sp>
        <p:nvSpPr>
          <p:cNvPr id="4" name="Date Placeholder 3"/>
          <p:cNvSpPr>
            <a:spLocks noGrp="1"/>
          </p:cNvSpPr>
          <p:nvPr>
            <p:ph idx="10" sz="half" type="dt"/>
          </p:nvPr>
        </p:nvSpPr>
        <p:spPr>
          <a:xfrm>
            <a:off x="457200" y="4767263"/>
            <a:ext cx="2133600" cy="273844"/>
          </a:xfrm>
        </p:spPr>
        <p:txBody>
          <a:bodyPr/>
          <a:lstStyle/>
          <a:p>
            <a:pPr lvl="0" indent="0" marL="0">
              <a:buNone/>
            </a:pPr>
            <a:r>
              <a:rPr/>
              <a:t>20 November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Agenda</a:t>
            </a:r>
          </a:p>
        </p:txBody>
      </p:sp>
      <p:sp>
        <p:nvSpPr>
          <p:cNvPr id="3" name="Content Placeholder 2"/>
          <p:cNvSpPr>
            <a:spLocks noGrp="1"/>
          </p:cNvSpPr>
          <p:nvPr>
            <p:ph idx="1"/>
          </p:nvPr>
        </p:nvSpPr>
        <p:spPr>
          <a:xfrm>
            <a:off x="457200" y="1200151"/>
            <a:ext cx="8229600" cy="3394472"/>
          </a:xfrm>
        </p:spPr>
        <p:txBody>
          <a:bodyPr/>
          <a:lstStyle/>
          <a:p>
            <a:pPr lvl="0"/>
            <a:r>
              <a:rPr/>
              <a:t>A fourth question this course asks of data: no target at all</a:t>
            </a:r>
          </a:p>
          <a:p>
            <a:pPr lvl="0"/>
            <a:r>
              <a:rPr/>
              <a:t>k-means: the objective, Lloyd’s algorithm, choosing k</a:t>
            </a:r>
          </a:p>
          <a:p>
            <a:pPr lvl="0"/>
            <a:r>
              <a:rPr/>
              <a:t>Hierarchical clustering and DBSCAN: shape versus density</a:t>
            </a:r>
          </a:p>
          <a:p>
            <a:pPr lvl="0"/>
            <a:r>
              <a:rPr/>
              <a:t>Validating a clustering with no labels</a:t>
            </a:r>
          </a:p>
          <a:p>
            <a:pPr lvl="0"/>
            <a:r>
              <a:rPr/>
              <a:t>Principal component analysis (PCA) and t-SNE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Exercise 7, before we start</a:t>
            </a:r>
          </a:p>
        </p:txBody>
      </p:sp>
      <p:sp>
        <p:nvSpPr>
          <p:cNvPr id="3" name="Content Placeholder 2"/>
          <p:cNvSpPr>
            <a:spLocks noGrp="1"/>
          </p:cNvSpPr>
          <p:nvPr>
            <p:ph idx="1"/>
          </p:nvPr>
        </p:nvSpPr>
        <p:spPr>
          <a:xfrm>
            <a:off x="457200" y="1200151"/>
            <a:ext cx="8229600" cy="3394472"/>
          </a:xfrm>
        </p:spPr>
        <p:txBody>
          <a:bodyPr/>
          <a:lstStyle/>
          <a:p>
            <a:pPr lvl="0"/>
            <a:r>
              <a:rPr/>
              <a:t>What counts is the </a:t>
            </a:r>
            <a:r>
              <a:rPr b="1"/>
              <a:t>defence of the chosen family</a:t>
            </a:r>
            <a:r>
              <a:rPr/>
              <a:t>, not the winning score</a:t>
            </a:r>
          </a:p>
          <a:p>
            <a:pPr lvl="0"/>
            <a:r>
              <a:rPr/>
              <a:t>The gap to watch for: a feature-importance ranking quoted without checking how many candidate columns competed for attention at each split</a:t>
            </a:r>
          </a:p>
          <a:p>
            <a:pPr lvl="0"/>
            <a:r>
              <a:rPr/>
              <a:t>Today’s methods come with a version of the same obligation: a clustering or a projection is a claim, and it needs its own check</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 y at all</a:t>
            </a:r>
          </a:p>
        </p:txBody>
      </p:sp>
      <p:sp>
        <p:nvSpPr>
          <p:cNvPr id="3" name="Content Placeholder 2"/>
          <p:cNvSpPr>
            <a:spLocks noGrp="1"/>
          </p:cNvSpPr>
          <p:nvPr>
            <p:ph idx="1"/>
          </p:nvPr>
        </p:nvSpPr>
        <p:spPr>
          <a:xfrm>
            <a:off x="457200" y="1200151"/>
            <a:ext cx="8229600" cy="3394472"/>
          </a:xfrm>
        </p:spPr>
        <p:txBody>
          <a:bodyPr/>
          <a:lstStyle/>
          <a:p>
            <a:pPr lvl="0"/>
            <a:r>
              <a:rPr/>
              <a:t>Every method so far learned from pairs: input x, target y</a:t>
            </a:r>
          </a:p>
          <a:p>
            <a:pPr lvl="0"/>
            <a:r>
              <a:rPr b="1"/>
              <a:t>Unsupervised learning</a:t>
            </a:r>
            <a:r>
              <a:rPr/>
              <a:t> removes y: measurements, no answer key</a:t>
            </a:r>
          </a:p>
          <a:p>
            <a:pPr lvl="0"/>
            <a:r>
              <a:rPr/>
              <a:t>The question: not “predict the label” but “describe the structure”</a:t>
            </a:r>
          </a:p>
          <a:p>
            <a:pPr lvl="0"/>
            <a:r>
              <a:rPr/>
              <a:t>Most organisational data was never labelled: expensive, slow, often not well-defined</a:t>
            </a:r>
          </a:p>
          <a:p>
            <a:pPr lvl="0"/>
            <a:r>
              <a:rPr/>
              <a:t>Often the </a:t>
            </a:r>
            <a:r>
              <a:rPr i="1"/>
              <a:t>first</a:t>
            </a:r>
            <a:r>
              <a:rPr/>
              <a:t> pass on a dataset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Aurora: three problems, no answer key</a:t>
            </a:r>
          </a:p>
        </p:txBody>
      </p:sp>
      <p:sp>
        <p:nvSpPr>
          <p:cNvPr id="3" name="Content Placeholder 2"/>
          <p:cNvSpPr>
            <a:spLocks noGrp="1"/>
          </p:cNvSpPr>
          <p:nvPr>
            <p:ph idx="1"/>
          </p:nvPr>
        </p:nvSpPr>
        <p:spPr>
          <a:xfrm>
            <a:off x="457200" y="1200151"/>
            <a:ext cx="8229600" cy="3394472"/>
          </a:xfrm>
        </p:spPr>
        <p:txBody>
          <a:bodyPr/>
          <a:lstStyle/>
          <a:p>
            <a:pPr lvl="0"/>
            <a:r>
              <a:rPr b="1"/>
              <a:t>Segment 2,000 customers</a:t>
            </a:r>
            <a:r>
              <a:rPr/>
              <a:t>, from spend and visits (</a:t>
            </a:r>
            <a:r>
              <a:rPr b="1"/>
              <a:t>k-means</a:t>
            </a:r>
            <a:r>
              <a:rPr/>
              <a:t>, nb. 01)</a:t>
            </a:r>
          </a:p>
          <a:p>
            <a:pPr lvl="0"/>
            <a:r>
              <a:rPr b="1"/>
              <a:t>Tell bots from humans</a:t>
            </a:r>
            <a:r>
              <a:rPr/>
              <a:t> in 1,500 sessions, same </a:t>
            </a:r>
            <a:r>
              <a:rPr i="1"/>
              <a:t>average</a:t>
            </a:r>
            <a:r>
              <a:rPr/>
              <a:t> behaviour (</a:t>
            </a:r>
            <a:r>
              <a:rPr b="1"/>
              <a:t>hierarchical clustering, DBSCAN</a:t>
            </a:r>
            <a:r>
              <a:rPr/>
              <a:t>, nb. 02)</a:t>
            </a:r>
          </a:p>
          <a:p>
            <a:pPr lvl="0"/>
            <a:r>
              <a:rPr b="1"/>
              <a:t>Catch disguised fraud</a:t>
            </a:r>
            <a:r>
              <a:rPr/>
              <a:t> in an 8-column table, ordinary on every column (</a:t>
            </a:r>
            <a:r>
              <a:rPr b="1"/>
              <a:t>PCA</a:t>
            </a:r>
            <a:r>
              <a:rPr/>
              <a:t>, nb. 03)</a:t>
            </a:r>
          </a:p>
          <a:p>
            <a:pPr lvl="0"/>
            <a:r>
              <a:rPr/>
              <a:t>Every dataset is synthetic: its truth is normally hidden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ground truth Aurora will never have</a:t>
            </a:r>
          </a:p>
        </p:txBody>
      </p:sp>
      <p:sp>
        <p:nvSpPr>
          <p:cNvPr id="3" name="Content Placeholder 2"/>
          <p:cNvSpPr>
            <a:spLocks noGrp="1"/>
          </p:cNvSpPr>
          <p:nvPr>
            <p:ph idx="1"/>
          </p:nvPr>
        </p:nvSpPr>
        <p:spPr>
          <a:xfrm>
            <a:off x="457200" y="1200151"/>
            <a:ext cx="8229600" cy="3394472"/>
          </a:xfrm>
        </p:spPr>
        <p:txBody>
          <a:bodyPr/>
          <a:lstStyle/>
          <a:p>
            <a:pPr lvl="0"/>
            <a:r>
              <a:rPr>
                <a:latin typeface="Courier"/>
              </a:rPr>
              <a:t>Notebooks/retail_data.py</a:t>
            </a:r>
            <a:r>
              <a:rPr/>
              <a:t> publishes the </a:t>
            </a:r>
            <a:r>
              <a:rPr b="1"/>
              <a:t>true</a:t>
            </a:r>
            <a:r>
              <a:rPr/>
              <a:t> structure as </a:t>
            </a:r>
            <a:r>
              <a:rPr>
                <a:latin typeface="Courier"/>
              </a:rPr>
              <a:t>TRUE_*</a:t>
            </a:r>
            <a:r>
              <a:rPr/>
              <a:t> constants</a:t>
            </a:r>
          </a:p>
          <a:p>
            <a:pPr lvl="0"/>
            <a:r>
              <a:rPr/>
              <a:t>This lesson can check every method against a real answer: Aurora’s own analysts never could</a:t>
            </a:r>
          </a:p>
          <a:p>
            <a:pPr lvl="0"/>
            <a:r>
              <a:rPr/>
              <a:t>Hold onto that asymmetry: it makes today teachable, and it is exactly what is missing the first time this runs on real data</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2,000 customers, no labels</a:t>
            </a:r>
          </a:p>
        </p:txBody>
      </p:sp>
      <p:pic>
        <p:nvPicPr>
          <p:cNvPr descr="customers_unlabelled.png" id="0" name="Picture 1"/>
          <p:cNvPicPr>
            <a:picLocks noGrp="1" noChangeAspect="1"/>
          </p:cNvPicPr>
          <p:nvPr/>
        </p:nvPicPr>
        <p:blipFill>
          <a:blip r:embed="rId3"/>
          <a:stretch>
            <a:fillRect/>
          </a:stretch>
        </p:blipFill>
        <p:spPr bwMode="auto">
          <a:xfrm>
            <a:off x="2457729" y="1166099"/>
            <a:ext cx="4228542" cy="3360181"/>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Turning “alike” into a number</a:t>
            </a:r>
          </a:p>
        </p:txBody>
      </p:sp>
      <p:sp>
        <p:nvSpPr>
          <p:cNvPr id="3" name="Content Placeholder 2"/>
          <p:cNvSpPr>
            <a:spLocks noGrp="1"/>
          </p:cNvSpPr>
          <p:nvPr>
            <p:ph idx="1"/>
          </p:nvPr>
        </p:nvSpPr>
        <p:spPr>
          <a:xfrm>
            <a:off x="457200" y="1200151"/>
            <a:ext cx="8229600" cy="3394472"/>
          </a:xfrm>
        </p:spPr>
        <p:txBody>
          <a:bodyPr/>
          <a:lstStyle/>
          <a:p>
            <a:pPr lvl="0"/>
            <a:r>
              <a:rPr/>
              <a:t>A good grouping puts every point close to one representative “typical customer,” and far from every other group’s</a:t>
            </a:r>
          </a:p>
          <a:p>
            <a:pPr lvl="0"/>
            <a:r>
              <a:rPr b="1"/>
              <a:t>k-means</a:t>
            </a:r>
            <a:r>
              <a:rPr/>
              <a:t> turns “close” into a number and minimises the total</a:t>
            </a:r>
          </a:p>
          <a:p>
            <a:pPr lvl="0"/>
            <a:r>
              <a:rPr/>
              <a:t>Two things are searched for jointly: every point’s </a:t>
            </a:r>
            <a:r>
              <a:rPr b="1"/>
              <a:t>assignment</a:t>
            </a:r>
            <a:r>
              <a:rPr/>
              <a:t>, and the k cluster </a:t>
            </a:r>
            <a:r>
              <a:rPr b="1"/>
              <a:t>centres</a:t>
            </a:r>
          </a:p>
          <a:p>
            <a:pPr lvl="0"/>
            <a:r>
              <a:rPr/>
              <a:t>Both at once is hard; the trick is minimising each separately, holding the other fixed</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objective: within-cluster sum of squares</a:t>
            </a:r>
          </a:p>
        </p:txBody>
      </p:sp>
      <p:sp>
        <p:nvSpPr>
          <p:cNvPr id="3" name="Content Placeholder 2"/>
          <p:cNvSpPr>
            <a:spLocks noGrp="1"/>
          </p:cNvSpPr>
          <p:nvPr>
            <p:ph idx="1"/>
          </p:nvPr>
        </p:nvSpPr>
        <p:spPr>
          <a:xfrm>
            <a:off x="457200" y="1200151"/>
            <a:ext cx="8229600" cy="3394472"/>
          </a:xfrm>
        </p:spPr>
        <p:txBody>
          <a:bodyPr/>
          <a:lstStyle/>
          <a:p>
            <a:pPr lvl="0"/>
            <a:r>
              <a:rPr/>
              <a:t>Minimise, jointly, over the cluster centres μⱼ </a:t>
            </a:r>
            <a:r>
              <a:rPr b="1"/>
              <a:t>and</a:t>
            </a:r>
            <a:r>
              <a:rPr/>
              <a:t> every assignment rᵢⱼ</a:t>
            </a:r>
          </a:p>
          <a:p>
            <a:pPr lvl="0"/>
            <a:r>
              <a:rPr/>
              <a:t>rᵢⱼ = 1 if point i is assigned to cluster j, else 0: exactly one 1 per row</a:t>
            </a:r>
          </a:p>
          <a:p>
            <a:pPr lvl="0"/>
            <a:r>
              <a:rPr/>
              <a:t>This quantity has a name: </a:t>
            </a:r>
            <a:r>
              <a:rPr b="1"/>
              <a:t>within-cluster sum of squares (WCSS)</a:t>
            </a:r>
            <a:r>
              <a:rPr/>
              <a:t>, or </a:t>
            </a:r>
            <a:r>
              <a:rPr i="1"/>
              <a:t>inertia</a:t>
            </a:r>
            <a:r>
              <a:rPr/>
              <a:t> in scikit-learn</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Minimise J</a:t>
            </a:r>
          </a:p>
        </p:txBody>
      </p:sp>
      <p:pic>
        <p:nvPicPr>
          <p:cNvPr descr="eq_9039889c92.png" id="0" name="Picture 1"/>
          <p:cNvPicPr>
            <a:picLocks noGrp="1" noChangeAspect="1"/>
          </p:cNvPicPr>
          <p:nvPr/>
        </p:nvPicPr>
        <p:blipFill>
          <a:blip r:embed="rId3"/>
          <a:stretch>
            <a:fillRect/>
          </a:stretch>
        </p:blipFill>
        <p:spPr bwMode="auto">
          <a:xfrm>
            <a:off x="805668" y="1759300"/>
            <a:ext cx="7532663" cy="2173778"/>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Lloyd’s algorithm: assign, then update, repeat</a:t>
            </a:r>
          </a:p>
        </p:txBody>
      </p:sp>
      <p:sp>
        <p:nvSpPr>
          <p:cNvPr id="3" name="Content Placeholder 2"/>
          <p:cNvSpPr>
            <a:spLocks noGrp="1"/>
          </p:cNvSpPr>
          <p:nvPr>
            <p:ph idx="1"/>
          </p:nvPr>
        </p:nvSpPr>
        <p:spPr>
          <a:xfrm>
            <a:off x="457200" y="1200151"/>
            <a:ext cx="8229600" cy="3394472"/>
          </a:xfrm>
        </p:spPr>
        <p:txBody>
          <a:bodyPr/>
          <a:lstStyle/>
          <a:p>
            <a:pPr lvl="0"/>
            <a:r>
              <a:rPr b="1"/>
              <a:t>Assign step</a:t>
            </a:r>
            <a:r>
              <a:rPr/>
              <a:t>: centres fixed, send every point to its </a:t>
            </a:r>
            <a:r>
              <a:rPr b="1"/>
              <a:t>nearest</a:t>
            </a:r>
            <a:r>
              <a:rPr/>
              <a:t> centre: exact minimiser over assignments</a:t>
            </a:r>
          </a:p>
          <a:p>
            <a:pPr lvl="0"/>
            <a:r>
              <a:rPr b="1"/>
              <a:t>Update step</a:t>
            </a:r>
            <a:r>
              <a:rPr/>
              <a:t>: assignment fixed, move every centre to the </a:t>
            </a:r>
            <a:r>
              <a:rPr b="1"/>
              <a:t>mean</a:t>
            </a:r>
            <a:r>
              <a:rPr/>
              <a:t> of its points, where the algorithm’s name comes from</a:t>
            </a:r>
          </a:p>
          <a:p>
            <a:pPr lvl="0"/>
            <a:r>
              <a:rPr/>
              <a:t>Alternate the two until nothing changes</a:t>
            </a:r>
          </a:p>
          <a:p>
            <a:pPr lvl="0"/>
            <a:r>
              <a:rPr/>
              <a:t>Each step is an exact minimisation, no approximation, no step size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Every step can only lower J</a:t>
            </a:r>
          </a:p>
        </p:txBody>
      </p:sp>
      <p:sp>
        <p:nvSpPr>
          <p:cNvPr id="3" name="Content Placeholder 2"/>
          <p:cNvSpPr>
            <a:spLocks noGrp="1"/>
          </p:cNvSpPr>
          <p:nvPr>
            <p:ph idx="1"/>
          </p:nvPr>
        </p:nvSpPr>
        <p:spPr>
          <a:xfrm>
            <a:off x="457200" y="1200151"/>
            <a:ext cx="8229600" cy="3394472"/>
          </a:xfrm>
        </p:spPr>
        <p:txBody>
          <a:bodyPr/>
          <a:lstStyle/>
          <a:p>
            <a:pPr lvl="0"/>
            <a:r>
              <a:rPr/>
              <a:t>Assign and update each solve an exact minimisation, so neither step can ever </a:t>
            </a:r>
            <a:r>
              <a:rPr b="1"/>
              <a:t>increase</a:t>
            </a:r>
            <a:r>
              <a:rPr/>
              <a:t> J</a:t>
            </a:r>
          </a:p>
          <a:p>
            <a:pPr lvl="0"/>
            <a:r>
              <a:rPr/>
              <a:t>J is bounded below by 0, with only finitely many ways to partition m points into k groups</a:t>
            </a:r>
          </a:p>
          <a:p>
            <a:pPr lvl="0"/>
            <a:r>
              <a:rPr/>
              <a:t>Never increasing, cannot fall forever: the sequence must repeat, and that is convergence</a:t>
            </a:r>
          </a:p>
          <a:p>
            <a:pPr lvl="0"/>
            <a:r>
              <a:rPr/>
              <a:t>It converges to a </a:t>
            </a:r>
            <a:r>
              <a:rPr b="1"/>
              <a:t>local</a:t>
            </a:r>
            <a:r>
              <a:rPr/>
              <a:t> minimum, not necessarily the </a:t>
            </a:r>
            <a:r>
              <a:rPr b="1"/>
              <a:t>global</a:t>
            </a:r>
            <a:r>
              <a:rPr/>
              <a:t> one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Worked example: six customers, badly-chosen starts</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Iteration</a:t>
                      </a:r>
                    </a:p>
                  </a:txBody>
                  <a:tcPr/>
                </a:tc>
                <a:tc>
                  <a:txBody>
                    <a:bodyPr/>
                    <a:lstStyle/>
                    <a:p>
                      <a:pPr lvl="0" indent="0" marL="0">
                        <a:buNone/>
                      </a:pPr>
                      <a:r>
                        <a:rPr/>
                        <a:t>Assignment</a:t>
                      </a:r>
                    </a:p>
                  </a:txBody>
                  <a:tcPr/>
                </a:tc>
                <a:tc>
                  <a:txBody>
                    <a:bodyPr/>
                    <a:lstStyle/>
                    <a:p>
                      <a:pPr lvl="0" indent="0" marL="0">
                        <a:buNone/>
                      </a:pPr>
                      <a:r>
                        <a:rPr/>
                        <a:t>WCSS after assign</a:t>
                      </a:r>
                    </a:p>
                  </a:txBody>
                  <a:tcPr/>
                </a:tc>
                <a:tc>
                  <a:txBody>
                    <a:bodyPr/>
                    <a:lstStyle/>
                    <a:p>
                      <a:pPr lvl="0" indent="0" marL="0">
                        <a:buNone/>
                      </a:pPr>
                      <a:r>
                        <a:rPr/>
                        <a:t>WCSS after update</a:t>
                      </a:r>
                    </a:p>
                  </a:txBody>
                  <a:tcPr/>
                </a:tc>
              </a:tr>
              <a:tr h="0">
                <a:tc>
                  <a:txBody>
                    <a:bodyPr/>
                    <a:lstStyle/>
                    <a:p>
                      <a:pPr lvl="0" indent="0" marL="0">
                        <a:buNone/>
                      </a:pPr>
                      <a:r>
                        <a:rPr/>
                        <a:t>0</a:t>
                      </a:r>
                    </a:p>
                  </a:txBody>
                </a:tc>
                <a:tc>
                  <a:txBody>
                    <a:bodyPr/>
                    <a:lstStyle/>
                    <a:p>
                      <a:pPr lvl="0" indent="0" marL="0">
                        <a:buNone/>
                      </a:pPr>
                      <a:r>
                        <a:rPr>
                          <a:latin typeface="Courier"/>
                        </a:rPr>
                        <a:t>[0 1 1 1 0 1]</a:t>
                      </a:r>
                    </a:p>
                  </a:txBody>
                </a:tc>
                <a:tc>
                  <a:txBody>
                    <a:bodyPr/>
                    <a:lstStyle/>
                    <a:p>
                      <a:pPr lvl="0" indent="0" marL="0">
                        <a:buNone/>
                      </a:pPr>
                      <a:r>
                        <a:rPr/>
                        <a:t>15.965</a:t>
                      </a:r>
                    </a:p>
                  </a:txBody>
                </a:tc>
                <a:tc>
                  <a:txBody>
                    <a:bodyPr/>
                    <a:lstStyle/>
                    <a:p>
                      <a:pPr lvl="0" indent="0" marL="0">
                        <a:buNone/>
                      </a:pPr>
                      <a:r>
                        <a:rPr/>
                        <a:t>7.281</a:t>
                      </a:r>
                    </a:p>
                  </a:txBody>
                </a:tc>
              </a:tr>
              <a:tr h="0">
                <a:tc>
                  <a:txBody>
                    <a:bodyPr/>
                    <a:lstStyle/>
                    <a:p>
                      <a:pPr lvl="0" indent="0" marL="0">
                        <a:buNone/>
                      </a:pPr>
                      <a:r>
                        <a:rPr/>
                        <a:t>1</a:t>
                      </a:r>
                    </a:p>
                  </a:txBody>
                </a:tc>
                <a:tc>
                  <a:txBody>
                    <a:bodyPr/>
                    <a:lstStyle/>
                    <a:p>
                      <a:pPr lvl="0" indent="0" marL="0">
                        <a:buNone/>
                      </a:pPr>
                      <a:r>
                        <a:rPr>
                          <a:latin typeface="Courier"/>
                        </a:rPr>
                        <a:t>[0 0 1 1 0 1]</a:t>
                      </a:r>
                    </a:p>
                  </a:txBody>
                </a:tc>
                <a:tc>
                  <a:txBody>
                    <a:bodyPr/>
                    <a:lstStyle/>
                    <a:p>
                      <a:pPr lvl="0" indent="0" marL="0">
                        <a:buNone/>
                      </a:pPr>
                      <a:r>
                        <a:rPr/>
                        <a:t>5.491</a:t>
                      </a:r>
                    </a:p>
                  </a:txBody>
                </a:tc>
                <a:tc>
                  <a:txBody>
                    <a:bodyPr/>
                    <a:lstStyle/>
                    <a:p>
                      <a:pPr lvl="0" indent="0" marL="0">
                        <a:buNone/>
                      </a:pPr>
                      <a:r>
                        <a:rPr/>
                        <a:t>4.674</a:t>
                      </a:r>
                    </a:p>
                  </a:txBody>
                </a:tc>
              </a:tr>
              <a:tr h="0">
                <a:tc>
                  <a:txBody>
                    <a:bodyPr/>
                    <a:lstStyle/>
                    <a:p>
                      <a:pPr lvl="0" indent="0" marL="0">
                        <a:buNone/>
                      </a:pPr>
                      <a:r>
                        <a:rPr/>
                        <a:t>2</a:t>
                      </a:r>
                    </a:p>
                  </a:txBody>
                </a:tc>
                <a:tc>
                  <a:txBody>
                    <a:bodyPr/>
                    <a:lstStyle/>
                    <a:p>
                      <a:pPr lvl="0" indent="0" marL="0">
                        <a:buNone/>
                      </a:pPr>
                      <a:r>
                        <a:rPr>
                          <a:latin typeface="Courier"/>
                        </a:rPr>
                        <a:t>[0 0 1 1 0 1]</a:t>
                      </a:r>
                    </a:p>
                  </a:txBody>
                </a:tc>
                <a:tc>
                  <a:txBody>
                    <a:bodyPr/>
                    <a:lstStyle/>
                    <a:p>
                      <a:pPr lvl="0" indent="0" marL="0">
                        <a:buNone/>
                      </a:pPr>
                      <a:r>
                        <a:rPr/>
                        <a:t>4.674</a:t>
                      </a:r>
                    </a:p>
                  </a:txBody>
                </a:tc>
                <a:tc>
                  <a:txBody>
                    <a:bodyPr/>
                    <a:lstStyle/>
                    <a:p>
                      <a:pPr lvl="0" indent="0" marL="0">
                        <a:buNone/>
                      </a:pPr>
                      <a:r>
                        <a:rPr/>
                        <a:t>4.674</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bad start is a real risk</a:t>
            </a:r>
          </a:p>
        </p:txBody>
      </p:sp>
      <p:sp>
        <p:nvSpPr>
          <p:cNvPr id="3" name="Content Placeholder 2"/>
          <p:cNvSpPr>
            <a:spLocks noGrp="1"/>
          </p:cNvSpPr>
          <p:nvPr>
            <p:ph idx="1"/>
          </p:nvPr>
        </p:nvSpPr>
        <p:spPr>
          <a:xfrm>
            <a:off x="457200" y="1200151"/>
            <a:ext cx="8229600" cy="3394472"/>
          </a:xfrm>
        </p:spPr>
        <p:txBody>
          <a:bodyPr/>
          <a:lstStyle/>
          <a:p>
            <a:pPr lvl="0"/>
            <a:r>
              <a:rPr/>
              <a:t>30 independent naive random starts of Lloyd’s algorithm on the 2,000-customer data</a:t>
            </a:r>
          </a:p>
          <a:p>
            <a:pPr lvl="0"/>
            <a:r>
              <a:rPr/>
              <a:t>Best final WCSS: </a:t>
            </a:r>
            <a:r>
              <a:rPr b="1"/>
              <a:t>374.1</a:t>
            </a:r>
            <a:r>
              <a:rPr/>
              <a:t>. Worst: </a:t>
            </a:r>
            <a:r>
              <a:rPr b="1"/>
              <a:t>1,390.4</a:t>
            </a:r>
            <a:r>
              <a:rPr/>
              <a:t>, </a:t>
            </a:r>
            <a:r>
              <a:rPr b="1"/>
              <a:t>3.7 times worse</a:t>
            </a:r>
            <a:r>
              <a:rPr/>
              <a:t>, same data, same update rule</a:t>
            </a:r>
          </a:p>
          <a:p>
            <a:pPr lvl="0"/>
            <a:r>
              <a:rPr/>
              <a:t>One start in 30 ended there; the other 29 all found </a:t>
            </a:r>
            <a:r>
              <a:rPr b="1"/>
              <a:t>374.1</a:t>
            </a:r>
          </a:p>
          <a:p>
            <a:pPr lvl="0"/>
            <a:r>
              <a:rPr/>
              <a:t>The naive fix (k points picked uniformly at random) gives no way to tell in advance which kind of run you got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k-means++: favour centres far from what’s chosen</a:t>
            </a:r>
          </a:p>
        </p:txBody>
      </p:sp>
      <p:pic>
        <p:nvPicPr>
          <p:cNvPr descr="eq_4681416550.png" id="0" name="Picture 1"/>
          <p:cNvPicPr>
            <a:picLocks noGrp="1" noChangeAspect="1"/>
          </p:cNvPicPr>
          <p:nvPr/>
        </p:nvPicPr>
        <p:blipFill>
          <a:blip r:embed="rId3"/>
          <a:stretch>
            <a:fillRect/>
          </a:stretch>
        </p:blipFill>
        <p:spPr bwMode="auto">
          <a:xfrm>
            <a:off x="457200" y="1988939"/>
            <a:ext cx="8229600" cy="17145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k-means++, measured</a:t>
            </a:r>
          </a:p>
        </p:txBody>
      </p:sp>
      <p:sp>
        <p:nvSpPr>
          <p:cNvPr id="3" name="Content Placeholder 2"/>
          <p:cNvSpPr>
            <a:spLocks noGrp="1"/>
          </p:cNvSpPr>
          <p:nvPr>
            <p:ph idx="1"/>
          </p:nvPr>
        </p:nvSpPr>
        <p:spPr>
          <a:xfrm>
            <a:off x="457200" y="1200151"/>
            <a:ext cx="8229600" cy="3394472"/>
          </a:xfrm>
        </p:spPr>
        <p:txBody>
          <a:bodyPr/>
          <a:lstStyle/>
          <a:p>
            <a:pPr lvl="0"/>
            <a:r>
              <a:rPr/>
              <a:t>Same 30 seeds, k-means++ instead of naive random</a:t>
            </a:r>
          </a:p>
          <a:p>
            <a:pPr lvl="0"/>
            <a:r>
              <a:rPr/>
              <a:t>Range narrows to </a:t>
            </a:r>
            <a:r>
              <a:rPr b="1"/>
              <a:t>374.1–1,088.3</a:t>
            </a:r>
            <a:r>
              <a:rPr/>
              <a:t>: the worst case gains ~300 units</a:t>
            </a:r>
          </a:p>
          <a:p>
            <a:pPr lvl="0"/>
            <a:r>
              <a:rPr/>
              <a:t>Also </a:t>
            </a:r>
            <a:r>
              <a:rPr b="1"/>
              <a:t>29 of 30</a:t>
            </a:r>
            <a:r>
              <a:rPr/>
              <a:t> at the optimum: the bad case is less bad, not rarer</a:t>
            </a:r>
          </a:p>
          <a:p>
            <a:pPr lvl="0"/>
            <a:r>
              <a:rPr>
                <a:latin typeface="Courier"/>
              </a:rPr>
              <a:t>sklearn.cluster.KMeans</a:t>
            </a:r>
            <a:r>
              <a:rPr/>
              <a:t> uses k-means++ plus 10 restarts by default</a:t>
            </a:r>
          </a:p>
          <a:p>
            <a:pPr lvl="0"/>
            <a:r>
              <a:rPr/>
              <a:t>Notebook 01 matches its WCSS to 10⁻⁴</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Sixty starts: where each one ended</a:t>
            </a:r>
          </a:p>
        </p:txBody>
      </p:sp>
      <p:pic>
        <p:nvPicPr>
          <p:cNvPr descr="kmeans_init_spread.png" id="0" name="Picture 1"/>
          <p:cNvPicPr>
            <a:picLocks noGrp="1" noChangeAspect="1"/>
          </p:cNvPicPr>
          <p:nvPr/>
        </p:nvPicPr>
        <p:blipFill>
          <a:blip r:embed="rId3"/>
          <a:stretch>
            <a:fillRect/>
          </a:stretch>
        </p:blipFill>
        <p:spPr bwMode="auto">
          <a:xfrm>
            <a:off x="1243281" y="1166099"/>
            <a:ext cx="6657437" cy="3360181"/>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Choosing k</a:t>
            </a:r>
          </a:p>
        </p:txBody>
      </p:sp>
      <p:sp>
        <p:nvSpPr>
          <p:cNvPr id="3" name="Content Placeholder 2"/>
          <p:cNvSpPr>
            <a:spLocks noGrp="1"/>
          </p:cNvSpPr>
          <p:nvPr>
            <p:ph idx="1"/>
          </p:nvPr>
        </p:nvSpPr>
        <p:spPr>
          <a:xfrm>
            <a:off x="457200" y="1200151"/>
            <a:ext cx="8229600" cy="3394472"/>
          </a:xfrm>
        </p:spPr>
        <p:txBody>
          <a:bodyPr/>
          <a:lstStyle/>
          <a:p>
            <a:pPr lvl="0"/>
            <a:r>
              <a:rPr/>
              <a:t>k is an </a:t>
            </a:r>
            <a:r>
              <a:rPr b="1"/>
              <a:t>input</a:t>
            </a:r>
            <a:r>
              <a:rPr/>
              <a:t> to k-means, not something the algorithm discovers</a:t>
            </a:r>
          </a:p>
          <a:p>
            <a:pPr lvl="0"/>
            <a:r>
              <a:rPr/>
              <a:t>WCSS is monotonically non-increasing in k: at k=m, J=0 exactly</a:t>
            </a:r>
          </a:p>
          <a:p>
            <a:pPr lvl="0"/>
            <a:r>
              <a:rPr/>
              <a:t>So the raw value of J at the “best” k is not the signal</a:t>
            </a:r>
          </a:p>
          <a:p>
            <a:pPr lvl="0"/>
            <a:r>
              <a:rPr b="1"/>
              <a:t>The elbow</a:t>
            </a:r>
            <a:r>
              <a:rPr/>
              <a:t>: where the WCSS curve stops falling steeply, past the true count, an extra centre only subdivides an already-coherent group</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silhouette score</a:t>
            </a:r>
          </a:p>
        </p:txBody>
      </p:sp>
      <p:sp>
        <p:nvSpPr>
          <p:cNvPr id="3" name="Content Placeholder 2"/>
          <p:cNvSpPr>
            <a:spLocks noGrp="1"/>
          </p:cNvSpPr>
          <p:nvPr>
            <p:ph idx="1"/>
          </p:nvPr>
        </p:nvSpPr>
        <p:spPr>
          <a:xfrm>
            <a:off x="457200" y="1200151"/>
            <a:ext cx="8229600" cy="3394472"/>
          </a:xfrm>
        </p:spPr>
        <p:txBody>
          <a:bodyPr/>
          <a:lstStyle/>
          <a:p>
            <a:pPr lvl="0"/>
            <a:r>
              <a:rPr/>
              <a:t>For point i: aᵢ is its mean distance to every other point in its </a:t>
            </a:r>
            <a:r>
              <a:rPr b="1"/>
              <a:t>own</a:t>
            </a:r>
            <a:r>
              <a:rPr/>
              <a:t> cluster</a:t>
            </a:r>
          </a:p>
          <a:p>
            <a:pPr lvl="0"/>
            <a:r>
              <a:rPr/>
              <a:t>bᵢ is its mean distance to the points of the </a:t>
            </a:r>
            <a:r>
              <a:rPr b="1"/>
              <a:t>nearest other</a:t>
            </a:r>
            <a:r>
              <a:rPr/>
              <a:t> cluster</a:t>
            </a:r>
          </a:p>
          <a:p>
            <a:pPr lvl="0"/>
            <a:r>
              <a:rPr/>
              <a:t>Combine the two into a single number per point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Between -1 and 1</a:t>
            </a:r>
          </a:p>
        </p:txBody>
      </p:sp>
      <p:pic>
        <p:nvPicPr>
          <p:cNvPr descr="eq_8f0755b813.png" id="0" name="Picture 1"/>
          <p:cNvPicPr>
            <a:picLocks noGrp="1" noChangeAspect="1"/>
          </p:cNvPicPr>
          <p:nvPr/>
        </p:nvPicPr>
        <p:blipFill>
          <a:blip r:embed="rId3"/>
          <a:stretch>
            <a:fillRect/>
          </a:stretch>
        </p:blipFill>
        <p:spPr bwMode="auto">
          <a:xfrm>
            <a:off x="871716" y="2212344"/>
            <a:ext cx="7400568" cy="126769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Elbow and silhouette, on the same data</a:t>
            </a:r>
          </a:p>
        </p:txBody>
      </p:sp>
      <p:pic>
        <p:nvPicPr>
          <p:cNvPr descr="elbow_silhouette.png" id="0" name="Picture 1"/>
          <p:cNvPicPr>
            <a:picLocks noGrp="1" noChangeAspect="1"/>
          </p:cNvPicPr>
          <p:nvPr/>
        </p:nvPicPr>
        <p:blipFill>
          <a:blip r:embed="rId3"/>
          <a:stretch>
            <a:fillRect/>
          </a:stretch>
        </p:blipFill>
        <p:spPr bwMode="auto">
          <a:xfrm>
            <a:off x="457200" y="1201539"/>
            <a:ext cx="8229600" cy="32893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Both point to k=4</a:t>
            </a:r>
          </a:p>
        </p:txBody>
      </p:sp>
      <p:sp>
        <p:nvSpPr>
          <p:cNvPr id="3" name="Content Placeholder 2"/>
          <p:cNvSpPr>
            <a:spLocks noGrp="1"/>
          </p:cNvSpPr>
          <p:nvPr>
            <p:ph idx="1"/>
          </p:nvPr>
        </p:nvSpPr>
        <p:spPr>
          <a:xfrm>
            <a:off x="457200" y="1200151"/>
            <a:ext cx="8229600" cy="3394472"/>
          </a:xfrm>
        </p:spPr>
        <p:txBody>
          <a:bodyPr/>
          <a:lstStyle/>
          <a:p>
            <a:pPr lvl="0"/>
            <a:r>
              <a:rPr/>
              <a:t>WCSS at k=4: </a:t>
            </a:r>
            <a:r>
              <a:rPr b="1"/>
              <a:t>374.1</a:t>
            </a:r>
            <a:r>
              <a:rPr/>
              <a:t>, the sharpest bend in the elbow curve</a:t>
            </a:r>
          </a:p>
          <a:p>
            <a:pPr lvl="0"/>
            <a:r>
              <a:rPr/>
              <a:t>Silhouette at k=4: </a:t>
            </a:r>
            <a:r>
              <a:rPr b="1"/>
              <a:t>0.690</a:t>
            </a:r>
            <a:r>
              <a:rPr/>
              <a:t>, the peak across k=1 to 8</a:t>
            </a:r>
          </a:p>
          <a:p>
            <a:pPr lvl="0"/>
            <a:r>
              <a:rPr/>
              <a:t>Both match the number of segments the data was actually built with</a:t>
            </a:r>
          </a:p>
          <a:p>
            <a:pPr lvl="0"/>
            <a:r>
              <a:rPr/>
              <a:t>Agreement here is worth noting precisely </a:t>
            </a:r>
            <a:r>
              <a:rPr b="1"/>
              <a:t>because</a:t>
            </a:r>
            <a:r>
              <a:rPr/>
              <a:t> it does not always happen, and is not required to</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k-means against a ground truth Aurora doesn’t have</a:t>
            </a:r>
          </a:p>
        </p:txBody>
      </p:sp>
      <p:pic>
        <p:nvPicPr>
          <p:cNvPr descr="kmeans_vs_truth.png" id="0" name="Picture 1"/>
          <p:cNvPicPr>
            <a:picLocks noGrp="1" noChangeAspect="1"/>
          </p:cNvPicPr>
          <p:nvPr/>
        </p:nvPicPr>
        <p:blipFill>
          <a:blip r:embed="rId3"/>
          <a:stretch>
            <a:fillRect/>
          </a:stretch>
        </p:blipFill>
        <p:spPr bwMode="auto">
          <a:xfrm>
            <a:off x="532232" y="1166099"/>
            <a:ext cx="8079536" cy="3360181"/>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adjusted Rand index</a:t>
            </a:r>
          </a:p>
        </p:txBody>
      </p:sp>
      <p:sp>
        <p:nvSpPr>
          <p:cNvPr id="3" name="Content Placeholder 2"/>
          <p:cNvSpPr>
            <a:spLocks noGrp="1"/>
          </p:cNvSpPr>
          <p:nvPr>
            <p:ph idx="1"/>
          </p:nvPr>
        </p:nvSpPr>
        <p:spPr>
          <a:xfrm>
            <a:off x="457200" y="1200151"/>
            <a:ext cx="8229600" cy="3394472"/>
          </a:xfrm>
        </p:spPr>
        <p:txBody>
          <a:bodyPr/>
          <a:lstStyle/>
          <a:p>
            <a:pPr lvl="0"/>
            <a:r>
              <a:rPr/>
              <a:t>Compares two labellings: a </a:t>
            </a:r>
            <a:r>
              <a:rPr b="1"/>
              <a:t>random</a:t>
            </a:r>
            <a:r>
              <a:rPr/>
              <a:t> assignment scores 0, </a:t>
            </a:r>
            <a:r>
              <a:rPr b="1"/>
              <a:t>identical</a:t>
            </a:r>
            <a:r>
              <a:rPr/>
              <a:t> labellings score 1</a:t>
            </a:r>
          </a:p>
          <a:p>
            <a:pPr lvl="0"/>
            <a:r>
              <a:rPr/>
              <a:t>Cluster “0” need not mean the same thing on both sides: relabelling is handled</a:t>
            </a:r>
          </a:p>
          <a:p>
            <a:pPr lvl="0"/>
            <a:r>
              <a:rPr/>
              <a:t>k-means vs. the true segments: </a:t>
            </a:r>
            <a:r>
              <a:rPr b="1"/>
              <a:t>0.985</a:t>
            </a:r>
            <a:r>
              <a:rPr/>
              <a:t>, near-perfect</a:t>
            </a:r>
          </a:p>
          <a:p>
            <a:pPr lvl="0"/>
            <a:r>
              <a:rPr/>
              <a:t>An </a:t>
            </a:r>
            <a:r>
              <a:rPr b="1"/>
              <a:t>external</a:t>
            </a:r>
            <a:r>
              <a:rPr/>
              <a:t> metric: needs a ground truth, which section 4 asks about when there isn’t one</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1, live</a:t>
            </a:r>
          </a:p>
        </p:txBody>
      </p:sp>
      <p:sp>
        <p:nvSpPr>
          <p:cNvPr id="3" name="Content Placeholder 2"/>
          <p:cNvSpPr>
            <a:spLocks noGrp="1"/>
          </p:cNvSpPr>
          <p:nvPr>
            <p:ph idx="1"/>
          </p:nvPr>
        </p:nvSpPr>
        <p:spPr>
          <a:xfrm>
            <a:off x="457200" y="1200151"/>
            <a:ext cx="8229600" cy="3394472"/>
          </a:xfrm>
        </p:spPr>
        <p:txBody>
          <a:bodyPr/>
          <a:lstStyle/>
          <a:p>
            <a:pPr lvl="0"/>
            <a:r>
              <a:rPr/>
              <a:t>k-means from scratch, checked against scikit-learn’s k-means++ and 10-restart defaults</a:t>
            </a:r>
          </a:p>
          <a:p>
            <a:pPr lvl="0"/>
            <a:r>
              <a:rPr/>
              <a:t>The 30-seed initialisation comparison, reproduced live</a:t>
            </a:r>
          </a:p>
          <a:p>
            <a:pPr lvl="0"/>
            <a:r>
              <a:rPr/>
              <a:t>The elbow and silhouette curves, computed directly from the data</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dataset built to defeat k-means</a:t>
            </a:r>
          </a:p>
        </p:txBody>
      </p:sp>
      <p:sp>
        <p:nvSpPr>
          <p:cNvPr id="3" name="Content Placeholder 2"/>
          <p:cNvSpPr>
            <a:spLocks noGrp="1"/>
          </p:cNvSpPr>
          <p:nvPr>
            <p:ph idx="1"/>
          </p:nvPr>
        </p:nvSpPr>
        <p:spPr>
          <a:xfrm>
            <a:off x="457200" y="1200151"/>
            <a:ext cx="8229600" cy="3394472"/>
          </a:xfrm>
        </p:spPr>
        <p:txBody>
          <a:bodyPr/>
          <a:lstStyle/>
          <a:p>
            <a:pPr lvl="0"/>
            <a:r>
              <a:rPr/>
              <a:t>Security suspects some of 1,500 sessions were automated</a:t>
            </a:r>
          </a:p>
          <a:p>
            <a:pPr lvl="0"/>
            <a:r>
              <a:rPr/>
              <a:t>Two features: duration in minutes, pages viewed</a:t>
            </a:r>
          </a:p>
          <a:p>
            <a:pPr lvl="0"/>
            <a:r>
              <a:rPr b="1"/>
              <a:t>12%</a:t>
            </a:r>
            <a:r>
              <a:rPr/>
              <a:t> are, by construction, </a:t>
            </a:r>
            <a:r>
              <a:rPr b="1"/>
              <a:t>bots</a:t>
            </a:r>
            <a:r>
              <a:rPr/>
              <a:t>: scripted and consistent</a:t>
            </a:r>
          </a:p>
          <a:p>
            <a:pPr lvl="0"/>
            <a:r>
              <a:rPr/>
              <a:t>Bots and humans share the </a:t>
            </a:r>
            <a:r>
              <a:rPr b="1"/>
              <a:t>same mean</a:t>
            </a:r>
            <a:r>
              <a:rPr/>
              <a:t>: a tight cloud inside a diffuse ring</a:t>
            </a:r>
          </a:p>
          <a:p>
            <a:pPr lvl="0"/>
            <a:r>
              <a:rPr/>
              <a:t>No straight cut separates them: there are no two offset clouds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1,500 sessions, unlabelled</a:t>
            </a:r>
          </a:p>
        </p:txBody>
      </p:sp>
      <p:pic>
        <p:nvPicPr>
          <p:cNvPr descr="sessions_unlabelled.png" id="0" name="Picture 1"/>
          <p:cNvPicPr>
            <a:picLocks noGrp="1" noChangeAspect="1"/>
          </p:cNvPicPr>
          <p:nvPr/>
        </p:nvPicPr>
        <p:blipFill>
          <a:blip r:embed="rId3"/>
          <a:stretch>
            <a:fillRect/>
          </a:stretch>
        </p:blipFill>
        <p:spPr bwMode="auto">
          <a:xfrm>
            <a:off x="2583578" y="1166099"/>
            <a:ext cx="3976843" cy="3360181"/>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k-means on this shape</a:t>
            </a:r>
          </a:p>
        </p:txBody>
      </p:sp>
      <p:sp>
        <p:nvSpPr>
          <p:cNvPr id="3" name="Content Placeholder 2"/>
          <p:cNvSpPr>
            <a:spLocks noGrp="1"/>
          </p:cNvSpPr>
          <p:nvPr>
            <p:ph idx="1"/>
          </p:nvPr>
        </p:nvSpPr>
        <p:spPr>
          <a:xfrm>
            <a:off x="457200" y="1200151"/>
            <a:ext cx="8229600" cy="3394472"/>
          </a:xfrm>
        </p:spPr>
        <p:txBody>
          <a:bodyPr/>
          <a:lstStyle/>
          <a:p>
            <a:pPr lvl="0"/>
            <a:r>
              <a:rPr/>
              <a:t>Run k-means with k=2 on the session data</a:t>
            </a:r>
          </a:p>
          <a:p>
            <a:pPr lvl="0"/>
            <a:r>
              <a:rPr/>
              <a:t>ARI: </a:t>
            </a:r>
            <a:r>
              <a:rPr b="1"/>
              <a:t>-0.046</a:t>
            </a:r>
            <a:r>
              <a:rPr/>
              <a:t>, indistinguishable from a random split</a:t>
            </a:r>
          </a:p>
          <a:p>
            <a:pPr lvl="0"/>
            <a:r>
              <a:rPr/>
              <a:t>Not a tuning or initialisation failure, no starting point fixes it</a:t>
            </a:r>
          </a:p>
          <a:p>
            <a:pPr lvl="0"/>
            <a:r>
              <a:rPr/>
              <a:t>WCSS wants round, compact clusters; the only cut through this cloud slices </a:t>
            </a:r>
            <a:r>
              <a:rPr b="1"/>
              <a:t>both</a:t>
            </a:r>
            <a:r>
              <a:rPr/>
              <a:t> the bot core and the human ring in half</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Merge the two closest</a:t>
            </a:r>
          </a:p>
        </p:txBody>
      </p:sp>
      <p:sp>
        <p:nvSpPr>
          <p:cNvPr id="3" name="Content Placeholder 2"/>
          <p:cNvSpPr>
            <a:spLocks noGrp="1"/>
          </p:cNvSpPr>
          <p:nvPr>
            <p:ph idx="1"/>
          </p:nvPr>
        </p:nvSpPr>
        <p:spPr>
          <a:xfrm>
            <a:off x="457200" y="1200151"/>
            <a:ext cx="8229600" cy="3394472"/>
          </a:xfrm>
        </p:spPr>
        <p:txBody>
          <a:bodyPr/>
          <a:lstStyle/>
          <a:p>
            <a:pPr lvl="0"/>
            <a:r>
              <a:rPr/>
              <a:t>Start with every point as its </a:t>
            </a:r>
            <a:r>
              <a:rPr b="1"/>
              <a:t>own</a:t>
            </a:r>
            <a:r>
              <a:rPr/>
              <a:t> cluster</a:t>
            </a:r>
          </a:p>
          <a:p>
            <a:pPr lvl="0"/>
            <a:r>
              <a:rPr/>
              <a:t>Repeatedly merge the two </a:t>
            </a:r>
            <a:r>
              <a:rPr b="1"/>
              <a:t>closest</a:t>
            </a:r>
            <a:r>
              <a:rPr/>
              <a:t> clusters, recording every merge as a branch in a tree: a </a:t>
            </a:r>
            <a:r>
              <a:rPr b="1"/>
              <a:t>dendrogram</a:t>
            </a:r>
          </a:p>
          <a:p>
            <a:pPr lvl="0"/>
            <a:r>
              <a:rPr/>
              <a:t>Cutting the tree at a height is equivalent to choosing k: branches crossed = cluster count</a:t>
            </a:r>
          </a:p>
          <a:p>
            <a:pPr lvl="0"/>
            <a:r>
              <a:rPr/>
              <a:t>“Closest” needs a rule for distance </a:t>
            </a:r>
            <a:r>
              <a:rPr b="1"/>
              <a:t>between clusters</a:t>
            </a:r>
            <a:r>
              <a:rPr/>
              <a:t>: the </a:t>
            </a:r>
            <a:r>
              <a:rPr b="1"/>
              <a:t>linkage criterion</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Four notions of “closest”</a:t>
            </a:r>
          </a:p>
        </p:txBody>
      </p:sp>
      <p:sp>
        <p:nvSpPr>
          <p:cNvPr id="3" name="Content Placeholder 2"/>
          <p:cNvSpPr>
            <a:spLocks noGrp="1"/>
          </p:cNvSpPr>
          <p:nvPr>
            <p:ph idx="1"/>
          </p:nvPr>
        </p:nvSpPr>
        <p:spPr>
          <a:xfrm>
            <a:off x="457200" y="1200151"/>
            <a:ext cx="8229600" cy="3394472"/>
          </a:xfrm>
        </p:spPr>
        <p:txBody>
          <a:bodyPr/>
          <a:lstStyle/>
          <a:p>
            <a:pPr lvl="0"/>
            <a:r>
              <a:rPr b="1"/>
              <a:t>Single</a:t>
            </a:r>
            <a:r>
              <a:rPr/>
              <a:t>: closest pair, which can chain a winding path, or bridge two groups at one touching point</a:t>
            </a:r>
          </a:p>
          <a:p>
            <a:pPr lvl="0"/>
            <a:r>
              <a:rPr b="1"/>
              <a:t>Complete</a:t>
            </a:r>
            <a:r>
              <a:rPr/>
              <a:t>: farthest pair, which favours compact groups</a:t>
            </a:r>
          </a:p>
          <a:p>
            <a:pPr lvl="0"/>
            <a:r>
              <a:rPr b="1"/>
              <a:t>Average</a:t>
            </a:r>
            <a:r>
              <a:rPr/>
              <a:t>: mean distance over every cross-pair, a compromise</a:t>
            </a:r>
          </a:p>
          <a:p>
            <a:pPr lvl="0"/>
            <a:r>
              <a:rPr b="1"/>
              <a:t>Ward</a:t>
            </a:r>
            <a:r>
              <a:rPr/>
              <a:t>: least added variance, the </a:t>
            </a:r>
            <a:r>
              <a:rPr i="1"/>
              <a:t>same</a:t>
            </a:r>
            <a:r>
              <a:rPr/>
              <a:t> objective k-means minimises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Ward-linkage merges on 60 sessions</a:t>
            </a:r>
          </a:p>
        </p:txBody>
      </p:sp>
      <p:pic>
        <p:nvPicPr>
          <p:cNvPr descr="dendrogram.png" id="0" name="Picture 1"/>
          <p:cNvPicPr>
            <a:picLocks noGrp="1" noChangeAspect="1"/>
          </p:cNvPicPr>
          <p:nvPr/>
        </p:nvPicPr>
        <p:blipFill>
          <a:blip r:embed="rId3"/>
          <a:stretch>
            <a:fillRect/>
          </a:stretch>
        </p:blipFill>
        <p:spPr bwMode="auto">
          <a:xfrm>
            <a:off x="557402" y="1166099"/>
            <a:ext cx="8029196" cy="3360181"/>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All four linkage rules, scored</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Linkage</a:t>
                      </a:r>
                    </a:p>
                  </a:txBody>
                  <a:tcPr/>
                </a:tc>
                <a:tc>
                  <a:txBody>
                    <a:bodyPr/>
                    <a:lstStyle/>
                    <a:p>
                      <a:pPr lvl="0" indent="0" marL="0">
                        <a:buNone/>
                      </a:pPr>
                      <a:r>
                        <a:rPr/>
                        <a:t>ARI</a:t>
                      </a:r>
                    </a:p>
                  </a:txBody>
                  <a:tcPr/>
                </a:tc>
                <a:tc>
                  <a:txBody>
                    <a:bodyPr/>
                    <a:lstStyle/>
                    <a:p>
                      <a:pPr lvl="0" indent="0" marL="0">
                        <a:buNone/>
                      </a:pPr>
                      <a:r>
                        <a:rPr/>
                        <a:t>Cluster sizes</a:t>
                      </a:r>
                    </a:p>
                  </a:txBody>
                  <a:tcPr/>
                </a:tc>
              </a:tr>
              <a:tr h="0">
                <a:tc>
                  <a:txBody>
                    <a:bodyPr/>
                    <a:lstStyle/>
                    <a:p>
                      <a:pPr lvl="0" indent="0" marL="0">
                        <a:buNone/>
                      </a:pPr>
                      <a:r>
                        <a:rPr/>
                        <a:t>Ward</a:t>
                      </a:r>
                    </a:p>
                  </a:txBody>
                </a:tc>
                <a:tc>
                  <a:txBody>
                    <a:bodyPr/>
                    <a:lstStyle/>
                    <a:p>
                      <a:pPr lvl="0" indent="0" marL="0">
                        <a:buNone/>
                      </a:pPr>
                      <a:r>
                        <a:rPr/>
                        <a:t>-0.062</a:t>
                      </a:r>
                    </a:p>
                  </a:txBody>
                </a:tc>
                <a:tc>
                  <a:txBody>
                    <a:bodyPr/>
                    <a:lstStyle/>
                    <a:p>
                      <a:pPr lvl="0" indent="0" marL="0">
                        <a:buNone/>
                      </a:pPr>
                      <a:r>
                        <a:rPr/>
                        <a:t>1,007 / 493</a:t>
                      </a:r>
                    </a:p>
                  </a:txBody>
                </a:tc>
              </a:tr>
              <a:tr h="0">
                <a:tc>
                  <a:txBody>
                    <a:bodyPr/>
                    <a:lstStyle/>
                    <a:p>
                      <a:pPr lvl="0" indent="0" marL="0">
                        <a:buNone/>
                      </a:pPr>
                      <a:r>
                        <a:rPr/>
                        <a:t>Complete</a:t>
                      </a:r>
                    </a:p>
                  </a:txBody>
                </a:tc>
                <a:tc>
                  <a:txBody>
                    <a:bodyPr/>
                    <a:lstStyle/>
                    <a:p>
                      <a:pPr lvl="0" indent="0" marL="0">
                        <a:buNone/>
                      </a:pPr>
                      <a:r>
                        <a:rPr/>
                        <a:t>-0.101</a:t>
                      </a:r>
                    </a:p>
                  </a:txBody>
                </a:tc>
                <a:tc>
                  <a:txBody>
                    <a:bodyPr/>
                    <a:lstStyle/>
                    <a:p>
                      <a:pPr lvl="0" indent="0" marL="0">
                        <a:buNone/>
                      </a:pPr>
                      <a:r>
                        <a:rPr/>
                        <a:t>1,253 / 247</a:t>
                      </a:r>
                    </a:p>
                  </a:txBody>
                </a:tc>
              </a:tr>
              <a:tr h="0">
                <a:tc>
                  <a:txBody>
                    <a:bodyPr/>
                    <a:lstStyle/>
                    <a:p>
                      <a:pPr lvl="0" indent="0" marL="0">
                        <a:buNone/>
                      </a:pPr>
                      <a:r>
                        <a:rPr/>
                        <a:t>Average</a:t>
                      </a:r>
                    </a:p>
                  </a:txBody>
                </a:tc>
                <a:tc>
                  <a:txBody>
                    <a:bodyPr/>
                    <a:lstStyle/>
                    <a:p>
                      <a:pPr lvl="0" indent="0" marL="0">
                        <a:buNone/>
                      </a:pPr>
                      <a:r>
                        <a:rPr/>
                        <a:t>-0.001</a:t>
                      </a:r>
                    </a:p>
                  </a:txBody>
                </a:tc>
                <a:tc>
                  <a:txBody>
                    <a:bodyPr/>
                    <a:lstStyle/>
                    <a:p>
                      <a:pPr lvl="0" indent="0" marL="0">
                        <a:buNone/>
                      </a:pPr>
                      <a:r>
                        <a:rPr/>
                        <a:t>1,499 / 1</a:t>
                      </a:r>
                    </a:p>
                  </a:txBody>
                </a:tc>
              </a:tr>
              <a:tr h="0">
                <a:tc>
                  <a:txBody>
                    <a:bodyPr/>
                    <a:lstStyle/>
                    <a:p>
                      <a:pPr lvl="0" indent="0" marL="0">
                        <a:buNone/>
                      </a:pPr>
                      <a:r>
                        <a:rPr/>
                        <a:t>Single</a:t>
                      </a:r>
                    </a:p>
                  </a:txBody>
                </a:tc>
                <a:tc>
                  <a:txBody>
                    <a:bodyPr/>
                    <a:lstStyle/>
                    <a:p>
                      <a:pPr lvl="0" indent="0" marL="0">
                        <a:buNone/>
                      </a:pPr>
                      <a:r>
                        <a:rPr/>
                        <a:t>-0.001</a:t>
                      </a:r>
                    </a:p>
                  </a:txBody>
                </a:tc>
                <a:tc>
                  <a:txBody>
                    <a:bodyPr/>
                    <a:lstStyle/>
                    <a:p>
                      <a:pPr lvl="0" indent="0" marL="0">
                        <a:buNone/>
                      </a:pPr>
                      <a:r>
                        <a:rPr/>
                        <a:t>1,499 / 1</a:t>
                      </a:r>
                    </a:p>
                  </a:txBody>
                </a:tc>
              </a:tr>
            </a:tbl>
          </a:graphicData>
        </a:graphic>
      </p:graphicFrame>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Break</a:t>
            </a:r>
          </a:p>
        </p:txBody>
      </p:sp>
      <p:sp>
        <p:nvSpPr>
          <p:cNvPr id="3" name="Content Placeholder 2"/>
          <p:cNvSpPr>
            <a:spLocks noGrp="1"/>
          </p:cNvSpPr>
          <p:nvPr>
            <p:ph idx="1"/>
          </p:nvPr>
        </p:nvSpPr>
        <p:spPr>
          <a:xfrm>
            <a:off x="457200" y="1200151"/>
            <a:ext cx="8229600" cy="3394472"/>
          </a:xfrm>
        </p:spPr>
        <p:txBody>
          <a:bodyPr/>
          <a:lstStyle/>
          <a:p>
            <a:pPr lvl="0"/>
            <a:r>
              <a:rPr/>
              <a:t>Twelve minutes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DBSCAN: density instead of shape</a:t>
            </a:r>
          </a:p>
        </p:txBody>
      </p:sp>
      <p:sp>
        <p:nvSpPr>
          <p:cNvPr id="3" name="Content Placeholder 2"/>
          <p:cNvSpPr>
            <a:spLocks noGrp="1"/>
          </p:cNvSpPr>
          <p:nvPr>
            <p:ph idx="1"/>
          </p:nvPr>
        </p:nvSpPr>
        <p:spPr>
          <a:xfrm>
            <a:off x="457200" y="1200151"/>
            <a:ext cx="8229600" cy="3394472"/>
          </a:xfrm>
        </p:spPr>
        <p:txBody>
          <a:bodyPr/>
          <a:lstStyle/>
          <a:p>
            <a:pPr lvl="0"/>
            <a:r>
              <a:rPr b="1"/>
              <a:t>DBSCAN</a:t>
            </a:r>
            <a:r>
              <a:rPr/>
              <a:t>: density-based spatial clustering of applications with noise</a:t>
            </a:r>
          </a:p>
          <a:p>
            <a:pPr lvl="0"/>
            <a:r>
              <a:rPr/>
              <a:t>Classifies points by neighbourhood crowding: radius </a:t>
            </a:r>
            <a:r>
              <a:rPr>
                <a:latin typeface="Courier"/>
              </a:rPr>
              <a:t>eps</a:t>
            </a:r>
            <a:r>
              <a:rPr/>
              <a:t>, minimum count </a:t>
            </a:r>
            <a:r>
              <a:rPr>
                <a:latin typeface="Courier"/>
              </a:rPr>
              <a:t>min_samples</a:t>
            </a:r>
          </a:p>
          <a:p>
            <a:pPr lvl="0"/>
            <a:r>
              <a:rPr b="1"/>
              <a:t>Core point</a:t>
            </a:r>
            <a:r>
              <a:rPr/>
              <a:t>: at least </a:t>
            </a:r>
            <a:r>
              <a:rPr>
                <a:latin typeface="Courier"/>
              </a:rPr>
              <a:t>min_samples</a:t>
            </a:r>
            <a:r>
              <a:rPr/>
              <a:t> others within </a:t>
            </a:r>
            <a:r>
              <a:rPr>
                <a:latin typeface="Courier"/>
              </a:rPr>
              <a:t>eps</a:t>
            </a:r>
          </a:p>
          <a:p>
            <a:pPr lvl="0"/>
            <a:r>
              <a:rPr b="1"/>
              <a:t>Border point</a:t>
            </a:r>
            <a:r>
              <a:rPr/>
              <a:t>: within </a:t>
            </a:r>
            <a:r>
              <a:rPr>
                <a:latin typeface="Courier"/>
              </a:rPr>
              <a:t>eps</a:t>
            </a:r>
            <a:r>
              <a:rPr/>
              <a:t> of a core, but not core itself</a:t>
            </a:r>
          </a:p>
          <a:p>
            <a:pPr lvl="0"/>
            <a:r>
              <a:rPr/>
              <a:t>Everything else: </a:t>
            </a:r>
            <a:r>
              <a:rPr b="1"/>
              <a:t>noise</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counts as a cluster</a:t>
            </a:r>
          </a:p>
        </p:txBody>
      </p:sp>
      <p:sp>
        <p:nvSpPr>
          <p:cNvPr id="3" name="Content Placeholder 2"/>
          <p:cNvSpPr>
            <a:spLocks noGrp="1"/>
          </p:cNvSpPr>
          <p:nvPr>
            <p:ph idx="1"/>
          </p:nvPr>
        </p:nvSpPr>
        <p:spPr>
          <a:xfrm>
            <a:off x="457200" y="1200151"/>
            <a:ext cx="8229600" cy="3394472"/>
          </a:xfrm>
        </p:spPr>
        <p:txBody>
          <a:bodyPr/>
          <a:lstStyle/>
          <a:p>
            <a:pPr lvl="0"/>
            <a:r>
              <a:rPr/>
              <a:t>A </a:t>
            </a:r>
            <a:r>
              <a:rPr b="1"/>
              <a:t>maximal set of core points</a:t>
            </a:r>
            <a:r>
              <a:rPr/>
              <a:t>, chained by mutual </a:t>
            </a:r>
            <a:r>
              <a:rPr>
                <a:latin typeface="Courier"/>
              </a:rPr>
              <a:t>eps</a:t>
            </a:r>
            <a:r>
              <a:rPr/>
              <a:t>-closeness, plus every attached border point</a:t>
            </a:r>
          </a:p>
          <a:p>
            <a:pPr lvl="0"/>
            <a:r>
              <a:rPr/>
              <a:t>No centre, no mean, no shape assumption in the definition</a:t>
            </a:r>
          </a:p>
          <a:p>
            <a:pPr lvl="0"/>
            <a:r>
              <a:rPr/>
              <a:t>A compact core and a diffuse ring both count, if dense enough at the scale </a:t>
            </a:r>
            <a:r>
              <a:rPr>
                <a:latin typeface="Courier"/>
              </a:rPr>
              <a:t>eps</a:t>
            </a:r>
            <a:r>
              <a:rPr/>
              <a:t> measures</a:t>
            </a:r>
          </a:p>
          <a:p>
            <a:pPr lvl="0"/>
            <a:r>
              <a:rPr/>
              <a:t>Points can belong to </a:t>
            </a:r>
            <a:r>
              <a:rPr b="1"/>
              <a:t>nothing</a:t>
            </a:r>
            <a:r>
              <a:rPr/>
              <a:t>: noise is first-class, not an error</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Choosing eps: the parameter that matters most</a:t>
            </a:r>
          </a:p>
        </p:txBody>
      </p:sp>
      <p:sp>
        <p:nvSpPr>
          <p:cNvPr id="3" name="Content Placeholder 2"/>
          <p:cNvSpPr>
            <a:spLocks noGrp="1"/>
          </p:cNvSpPr>
          <p:nvPr>
            <p:ph idx="1"/>
          </p:nvPr>
        </p:nvSpPr>
        <p:spPr>
          <a:xfrm>
            <a:off x="457200" y="1200151"/>
            <a:ext cx="8229600" cy="3394472"/>
          </a:xfrm>
        </p:spPr>
        <p:txBody>
          <a:bodyPr/>
          <a:lstStyle/>
          <a:p>
            <a:pPr lvl="0"/>
            <a:r>
              <a:rPr/>
              <a:t>Too small: even the dense bot core fractures into isolated noise points</a:t>
            </a:r>
          </a:p>
          <a:p>
            <a:pPr lvl="0"/>
            <a:r>
              <a:rPr/>
              <a:t>Too large: the ring bridges back into the core, everything merges, as Ward linkage did</a:t>
            </a:r>
          </a:p>
          <a:p>
            <a:pPr lvl="0"/>
            <a:r>
              <a:rPr/>
              <a:t>A </a:t>
            </a:r>
            <a:r>
              <a:rPr b="1"/>
              <a:t>k-distance plot</a:t>
            </a:r>
            <a:r>
              <a:rPr/>
              <a:t>: distance from every point to its </a:t>
            </a:r>
            <a:r>
              <a:rPr>
                <a:latin typeface="Courier"/>
              </a:rPr>
              <a:t>min_samples</a:t>
            </a:r>
            <a:r>
              <a:rPr/>
              <a:t>-th nearest neighbour, sorted</a:t>
            </a:r>
          </a:p>
          <a:p>
            <a:pPr lvl="0"/>
            <a:r>
              <a:rPr/>
              <a:t>Dense regions give a small distance, sparse ones a large one: the plot typically bends sharply between the two</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bend in the curve</a:t>
            </a:r>
          </a:p>
        </p:txBody>
      </p:sp>
      <p:pic>
        <p:nvPicPr>
          <p:cNvPr descr="k_distance_plot.png" id="0" name="Picture 1"/>
          <p:cNvPicPr>
            <a:picLocks noGrp="1" noChangeAspect="1"/>
          </p:cNvPicPr>
          <p:nvPr/>
        </p:nvPicPr>
        <p:blipFill>
          <a:blip r:embed="rId3"/>
          <a:stretch>
            <a:fillRect/>
          </a:stretch>
        </p:blipFill>
        <p:spPr bwMode="auto">
          <a:xfrm>
            <a:off x="2017256" y="1166099"/>
            <a:ext cx="5109488" cy="3360181"/>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DBSCAN, measured</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endParaRPr/>
                    </a:p>
                  </a:txBody>
                  <a:tcPr/>
                </a:tc>
                <a:tc>
                  <a:txBody>
                    <a:bodyPr/>
                    <a:lstStyle/>
                    <a:p>
                      <a:pPr lvl="0" indent="0" marL="0">
                        <a:buNone/>
                      </a:pPr>
                      <a:r>
                        <a:rPr/>
                        <a:t>Result</a:t>
                      </a:r>
                    </a:p>
                  </a:txBody>
                  <a:tcPr/>
                </a:tc>
              </a:tr>
              <a:tr h="0">
                <a:tc>
                  <a:txBody>
                    <a:bodyPr/>
                    <a:lstStyle/>
                    <a:p>
                      <a:pPr lvl="0" indent="0" marL="0">
                        <a:buNone/>
                      </a:pPr>
                      <a:r>
                        <a:rPr/>
                        <a:t>ARI against true bot/human split</a:t>
                      </a:r>
                    </a:p>
                  </a:txBody>
                </a:tc>
                <a:tc>
                  <a:txBody>
                    <a:bodyPr/>
                    <a:lstStyle/>
                    <a:p>
                      <a:pPr lvl="0" indent="0" marL="0">
                        <a:buNone/>
                      </a:pPr>
                      <a:r>
                        <a:rPr b="1"/>
                        <a:t>0.941</a:t>
                      </a:r>
                    </a:p>
                  </a:txBody>
                </a:tc>
              </a:tr>
              <a:tr h="0">
                <a:tc>
                  <a:txBody>
                    <a:bodyPr/>
                    <a:lstStyle/>
                    <a:p>
                      <a:pPr lvl="0" indent="0" marL="0">
                        <a:buNone/>
                      </a:pPr>
                      <a:r>
                        <a:rPr/>
                        <a:t>Core points</a:t>
                      </a:r>
                    </a:p>
                  </a:txBody>
                </a:tc>
                <a:tc>
                  <a:txBody>
                    <a:bodyPr/>
                    <a:lstStyle/>
                    <a:p>
                      <a:pPr lvl="0" indent="0" marL="0">
                        <a:buNone/>
                      </a:pPr>
                      <a:r>
                        <a:rPr/>
                        <a:t>1,435 of 1,500</a:t>
                      </a:r>
                    </a:p>
                  </a:txBody>
                </a:tc>
              </a:tr>
              <a:tr h="0">
                <a:tc>
                  <a:txBody>
                    <a:bodyPr/>
                    <a:lstStyle/>
                    <a:p>
                      <a:pPr lvl="0" indent="0" marL="0">
                        <a:buNone/>
                      </a:pPr>
                      <a:r>
                        <a:rPr/>
                        <a:t>Noise points</a:t>
                      </a:r>
                    </a:p>
                  </a:txBody>
                </a:tc>
                <a:tc>
                  <a:txBody>
                    <a:bodyPr/>
                    <a:lstStyle/>
                    <a:p>
                      <a:pPr lvl="0" indent="0" marL="0">
                        <a:buNone/>
                      </a:pPr>
                      <a:r>
                        <a:rPr/>
                        <a:t>13</a:t>
                      </a:r>
                    </a:p>
                  </a:txBody>
                </a:tc>
              </a:tr>
            </a:tbl>
          </a:graphicData>
        </a:graphic>
      </p:graphicFrame>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Three views, side by side</a:t>
            </a:r>
          </a:p>
        </p:txBody>
      </p:sp>
      <p:pic>
        <p:nvPicPr>
          <p:cNvPr descr="clustering_comparison.png" id="0" name="Picture 1"/>
          <p:cNvPicPr>
            <a:picLocks noGrp="1" noChangeAspect="1"/>
          </p:cNvPicPr>
          <p:nvPr/>
        </p:nvPicPr>
        <p:blipFill>
          <a:blip r:embed="rId3"/>
          <a:stretch>
            <a:fillRect/>
          </a:stretch>
        </p:blipFill>
        <p:spPr bwMode="auto">
          <a:xfrm>
            <a:off x="457200" y="1519039"/>
            <a:ext cx="8229600" cy="2654300"/>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Does </a:t>
            </a:r>
            <a:r>
              <a:rPr>
                <a:latin typeface="Courier"/>
              </a:rPr>
              <a:t>eps</a:t>
            </a:r>
            <a:r>
              <a:rPr/>
              <a:t> transfer?</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Week</a:t>
                      </a:r>
                    </a:p>
                  </a:txBody>
                  <a:tcPr/>
                </a:tc>
                <a:tc>
                  <a:txBody>
                    <a:bodyPr/>
                    <a:lstStyle/>
                    <a:p>
                      <a:pPr lvl="0" indent="0" marL="0">
                        <a:buNone/>
                      </a:pPr>
                      <a:r>
                        <a:rPr/>
                        <a:t>ARI at </a:t>
                      </a:r>
                      <a:r>
                        <a:rPr>
                          <a:latin typeface="Courier"/>
                        </a:rPr>
                        <a:t>eps = 0.30</a:t>
                      </a:r>
                    </a:p>
                  </a:txBody>
                  <a:tcPr/>
                </a:tc>
                <a:tc>
                  <a:txBody>
                    <a:bodyPr/>
                    <a:lstStyle/>
                    <a:p>
                      <a:pPr lvl="0" indent="0" marL="0">
                        <a:buNone/>
                      </a:pPr>
                      <a:r>
                        <a:rPr/>
                        <a:t>Knee </a:t>
                      </a:r>
                      <a:r>
                        <a:rPr>
                          <a:latin typeface="Courier"/>
                        </a:rPr>
                        <a:t>eps</a:t>
                      </a:r>
                    </a:p>
                  </a:txBody>
                  <a:tcPr/>
                </a:tc>
                <a:tc>
                  <a:txBody>
                    <a:bodyPr/>
                    <a:lstStyle/>
                    <a:p>
                      <a:pPr lvl="0" indent="0" marL="0">
                        <a:buNone/>
                      </a:pPr>
                      <a:r>
                        <a:rPr/>
                        <a:t>ARI at knee</a:t>
                      </a:r>
                    </a:p>
                  </a:txBody>
                  <a:tcPr/>
                </a:tc>
              </a:tr>
              <a:tr h="0">
                <a:tc>
                  <a:txBody>
                    <a:bodyPr/>
                    <a:lstStyle/>
                    <a:p>
                      <a:pPr lvl="0" indent="0" marL="0">
                        <a:buNone/>
                      </a:pPr>
                      <a:r>
                        <a:rPr/>
                        <a:t>this one</a:t>
                      </a:r>
                    </a:p>
                  </a:txBody>
                </a:tc>
                <a:tc>
                  <a:txBody>
                    <a:bodyPr/>
                    <a:lstStyle/>
                    <a:p>
                      <a:pPr lvl="0" indent="0" marL="0">
                        <a:buNone/>
                      </a:pPr>
                      <a:r>
                        <a:rPr b="1"/>
                        <a:t>0.941</a:t>
                      </a:r>
                    </a:p>
                  </a:txBody>
                </a:tc>
                <a:tc>
                  <a:txBody>
                    <a:bodyPr/>
                    <a:lstStyle/>
                    <a:p>
                      <a:pPr lvl="0" indent="0" marL="0">
                        <a:buNone/>
                      </a:pPr>
                      <a:r>
                        <a:rPr/>
                        <a:t>0.258</a:t>
                      </a:r>
                    </a:p>
                  </a:txBody>
                </a:tc>
                <a:tc>
                  <a:txBody>
                    <a:bodyPr/>
                    <a:lstStyle/>
                    <a:p>
                      <a:pPr lvl="0" indent="0" marL="0">
                        <a:buNone/>
                      </a:pPr>
                      <a:r>
                        <a:rPr/>
                        <a:t>0.890</a:t>
                      </a:r>
                    </a:p>
                  </a:txBody>
                </a:tc>
              </a:tr>
              <a:tr h="0">
                <a:tc>
                  <a:txBody>
                    <a:bodyPr/>
                    <a:lstStyle/>
                    <a:p>
                      <a:pPr lvl="0" indent="0" marL="0">
                        <a:buNone/>
                      </a:pPr>
                      <a:r>
                        <a:rPr/>
                        <a:t>week 4</a:t>
                      </a:r>
                    </a:p>
                  </a:txBody>
                </a:tc>
                <a:tc>
                  <a:txBody>
                    <a:bodyPr/>
                    <a:lstStyle/>
                    <a:p>
                      <a:pPr lvl="0" indent="0" marL="0">
                        <a:buNone/>
                      </a:pPr>
                      <a:r>
                        <a:rPr b="1"/>
                        <a:t>−0.012</a:t>
                      </a:r>
                      <a:r>
                        <a:rPr/>
                        <a:t>, </a:t>
                      </a:r>
                      <a:r>
                        <a:rPr i="1"/>
                        <a:t>one cluster</a:t>
                      </a:r>
                    </a:p>
                  </a:txBody>
                </a:tc>
                <a:tc>
                  <a:txBody>
                    <a:bodyPr/>
                    <a:lstStyle/>
                    <a:p>
                      <a:pPr lvl="0" indent="0" marL="0">
                        <a:buNone/>
                      </a:pPr>
                      <a:r>
                        <a:rPr/>
                        <a:t>0.226</a:t>
                      </a:r>
                    </a:p>
                  </a:txBody>
                </a:tc>
                <a:tc>
                  <a:txBody>
                    <a:bodyPr/>
                    <a:lstStyle/>
                    <a:p>
                      <a:pPr lvl="0" indent="0" marL="0">
                        <a:buNone/>
                      </a:pPr>
                      <a:r>
                        <a:rPr/>
                        <a:t>0.858</a:t>
                      </a:r>
                    </a:p>
                  </a:txBody>
                </a:tc>
              </a:tr>
              <a:tr h="0">
                <a:tc>
                  <a:txBody>
                    <a:bodyPr/>
                    <a:lstStyle/>
                    <a:p>
                      <a:pPr lvl="0" indent="0" marL="0">
                        <a:buNone/>
                      </a:pPr>
                      <a:r>
                        <a:rPr/>
                        <a:t>week 5</a:t>
                      </a:r>
                    </a:p>
                  </a:txBody>
                </a:tc>
                <a:tc>
                  <a:txBody>
                    <a:bodyPr/>
                    <a:lstStyle/>
                    <a:p>
                      <a:pPr lvl="0" indent="0" marL="0">
                        <a:buNone/>
                      </a:pPr>
                      <a:r>
                        <a:rPr b="1"/>
                        <a:t>−0.009</a:t>
                      </a:r>
                      <a:r>
                        <a:rPr/>
                        <a:t>, </a:t>
                      </a:r>
                      <a:r>
                        <a:rPr i="1"/>
                        <a:t>one cluster</a:t>
                      </a:r>
                    </a:p>
                  </a:txBody>
                </a:tc>
                <a:tc>
                  <a:txBody>
                    <a:bodyPr/>
                    <a:lstStyle/>
                    <a:p>
                      <a:pPr lvl="0" indent="0" marL="0">
                        <a:buNone/>
                      </a:pPr>
                      <a:r>
                        <a:rPr/>
                        <a:t>0.232</a:t>
                      </a:r>
                    </a:p>
                  </a:txBody>
                </a:tc>
                <a:tc>
                  <a:txBody>
                    <a:bodyPr/>
                    <a:lstStyle/>
                    <a:p>
                      <a:pPr lvl="0" indent="0" marL="0">
                        <a:buNone/>
                      </a:pPr>
                      <a:r>
                        <a:rPr/>
                        <a:t>0.887</a:t>
                      </a:r>
                    </a:p>
                  </a:txBody>
                </a:tc>
              </a:tr>
              <a:tr h="0">
                <a:tc>
                  <a:txBody>
                    <a:bodyPr/>
                    <a:lstStyle/>
                    <a:p>
                      <a:pPr lvl="0" indent="0" marL="0">
                        <a:buNone/>
                      </a:pPr>
                      <a:r>
                        <a:rPr/>
                        <a:t>the other four</a:t>
                      </a:r>
                    </a:p>
                  </a:txBody>
                </a:tc>
                <a:tc>
                  <a:txBody>
                    <a:bodyPr/>
                    <a:lstStyle/>
                    <a:p>
                      <a:pPr lvl="0" indent="0" marL="0">
                        <a:buNone/>
                      </a:pPr>
                      <a:r>
                        <a:rPr/>
                        <a:t>0.93 – 0.96</a:t>
                      </a:r>
                    </a:p>
                  </a:txBody>
                </a:tc>
                <a:tc>
                  <a:txBody>
                    <a:bodyPr/>
                    <a:lstStyle/>
                    <a:p>
                      <a:pPr lvl="0" indent="0" marL="0">
                        <a:buNone/>
                      </a:pPr>
                      <a:r>
                        <a:rPr/>
                        <a:t>0.21 – 0.23</a:t>
                      </a:r>
                    </a:p>
                  </a:txBody>
                </a:tc>
                <a:tc>
                  <a:txBody>
                    <a:bodyPr/>
                    <a:lstStyle/>
                    <a:p>
                      <a:pPr lvl="0" indent="0" marL="0">
                        <a:buNone/>
                      </a:pPr>
                      <a:r>
                        <a:rPr/>
                        <a:t>0.79 – 0.85</a:t>
                      </a:r>
                    </a:p>
                  </a:txBody>
                </a:tc>
              </a:tr>
            </a:tbl>
          </a:graphicData>
        </a:graphic>
      </p:graphicFrame>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Choosing among the three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Situation</a:t>
                      </a:r>
                    </a:p>
                  </a:txBody>
                  <a:tcPr/>
                </a:tc>
                <a:tc>
                  <a:txBody>
                    <a:bodyPr/>
                    <a:lstStyle/>
                    <a:p>
                      <a:pPr lvl="0" indent="0" marL="0">
                        <a:buNone/>
                      </a:pPr>
                      <a:r>
                        <a:rPr/>
                        <a:t>Reach for</a:t>
                      </a:r>
                    </a:p>
                  </a:txBody>
                  <a:tcPr/>
                </a:tc>
              </a:tr>
              <a:tr h="0">
                <a:tc>
                  <a:txBody>
                    <a:bodyPr/>
                    <a:lstStyle/>
                    <a:p>
                      <a:pPr lvl="0" indent="0" marL="0">
                        <a:buNone/>
                      </a:pPr>
                      <a:r>
                        <a:rPr/>
                        <a:t>Clusters plausibly round, similar size, k known or searchable</a:t>
                      </a:r>
                    </a:p>
                  </a:txBody>
                </a:tc>
                <a:tc>
                  <a:txBody>
                    <a:bodyPr/>
                    <a:lstStyle/>
                    <a:p>
                      <a:pPr lvl="0" indent="0" marL="0">
                        <a:buNone/>
                      </a:pPr>
                      <a:r>
                        <a:rPr/>
                        <a:t>k-means</a:t>
                      </a:r>
                    </a:p>
                  </a:txBody>
                </a:tc>
              </a:tr>
              <a:tr h="0">
                <a:tc>
                  <a:txBody>
                    <a:bodyPr/>
                    <a:lstStyle/>
                    <a:p>
                      <a:pPr lvl="0" indent="0" marL="0">
                        <a:buNone/>
                      </a:pPr>
                      <a:r>
                        <a:rPr/>
                        <a:t>Want the hierarchy itself: nested groupings at every scale</a:t>
                      </a:r>
                    </a:p>
                  </a:txBody>
                </a:tc>
                <a:tc>
                  <a:txBody>
                    <a:bodyPr/>
                    <a:lstStyle/>
                    <a:p>
                      <a:pPr lvl="0" indent="0" marL="0">
                        <a:buNone/>
                      </a:pPr>
                      <a:r>
                        <a:rPr/>
                        <a:t>Agglomerative clustering</a:t>
                      </a:r>
                    </a:p>
                  </a:txBody>
                </a:tc>
              </a:tr>
              <a:tr h="0">
                <a:tc>
                  <a:txBody>
                    <a:bodyPr/>
                    <a:lstStyle/>
                    <a:p>
                      <a:pPr lvl="0" indent="0" marL="0">
                        <a:buNone/>
                      </a:pPr>
                      <a:r>
                        <a:rPr/>
                        <a:t>Clusters irregular, nested, or of very different densities; outliers should be flagged</a:t>
                      </a:r>
                    </a:p>
                  </a:txBody>
                </a:tc>
                <a:tc>
                  <a:txBody>
                    <a:bodyPr/>
                    <a:lstStyle/>
                    <a:p>
                      <a:pPr lvl="0" indent="0" marL="0">
                        <a:buNone/>
                      </a:pPr>
                      <a:r>
                        <a:rPr/>
                        <a:t>DBSCAN</a:t>
                      </a:r>
                    </a:p>
                  </a:txBody>
                </a:tc>
              </a:tr>
              <a:tr h="0">
                <a:tc>
                  <a:txBody>
                    <a:bodyPr/>
                    <a:lstStyle/>
                    <a:p>
                      <a:pPr lvl="0" indent="0" marL="0">
                        <a:buNone/>
                      </a:pPr>
                      <a:r>
                        <a:rPr/>
                        <a:t>Dataset is very large, every point must be assigned to something</a:t>
                      </a:r>
                    </a:p>
                  </a:txBody>
                </a:tc>
                <a:tc>
                  <a:txBody>
                    <a:bodyPr/>
                    <a:lstStyle/>
                    <a:p>
                      <a:pPr lvl="0" indent="0" marL="0">
                        <a:buNone/>
                      </a:pPr>
                      <a:r>
                        <a:rPr/>
                        <a:t>k-means (DBSCAN’s noise needs a policy)</a:t>
                      </a:r>
                    </a:p>
                  </a:txBody>
                </a:tc>
              </a:tr>
            </a:tbl>
          </a:graphicData>
        </a:graphic>
      </p:graphicFrame>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2, live</a:t>
            </a:r>
          </a:p>
        </p:txBody>
      </p:sp>
      <p:sp>
        <p:nvSpPr>
          <p:cNvPr id="3" name="Content Placeholder 2"/>
          <p:cNvSpPr>
            <a:spLocks noGrp="1"/>
          </p:cNvSpPr>
          <p:nvPr>
            <p:ph idx="1"/>
          </p:nvPr>
        </p:nvSpPr>
        <p:spPr>
          <a:xfrm>
            <a:off x="457200" y="1200151"/>
            <a:ext cx="8229600" cy="3394472"/>
          </a:xfrm>
        </p:spPr>
        <p:txBody>
          <a:bodyPr/>
          <a:lstStyle/>
          <a:p>
            <a:pPr lvl="0"/>
            <a:r>
              <a:rPr/>
              <a:t>Agglomerative clustering, all four linkage rules, and the dendrogram</a:t>
            </a:r>
          </a:p>
          <a:p>
            <a:pPr lvl="0"/>
            <a:r>
              <a:rPr/>
              <a:t>DBSCAN, the k-distance plot, and the </a:t>
            </a:r>
            <a:r>
              <a:rPr>
                <a:latin typeface="Courier"/>
              </a:rPr>
              <a:t>eps</a:t>
            </a:r>
            <a:r>
              <a:rPr/>
              <a:t> sweep</a:t>
            </a:r>
          </a:p>
          <a:p>
            <a:pPr lvl="0"/>
            <a:r>
              <a:rPr/>
              <a:t>Every result checked against the true bot/human labels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 answer key this time</a:t>
            </a:r>
          </a:p>
        </p:txBody>
      </p:sp>
      <p:sp>
        <p:nvSpPr>
          <p:cNvPr id="3" name="Content Placeholder 2"/>
          <p:cNvSpPr>
            <a:spLocks noGrp="1"/>
          </p:cNvSpPr>
          <p:nvPr>
            <p:ph idx="1"/>
          </p:nvPr>
        </p:nvSpPr>
        <p:spPr>
          <a:xfrm>
            <a:off x="457200" y="1200151"/>
            <a:ext cx="8229600" cy="3394472"/>
          </a:xfrm>
        </p:spPr>
        <p:txBody>
          <a:bodyPr/>
          <a:lstStyle/>
          <a:p>
            <a:pPr lvl="0"/>
            <a:r>
              <a:rPr/>
              <a:t>Every check so far, ARI in sections 2 and 3, used a ground truth this lesson happens to have because the data is synthetic</a:t>
            </a:r>
          </a:p>
          <a:p>
            <a:pPr lvl="0"/>
            <a:r>
              <a:rPr/>
              <a:t>Aurora’s actual analysts, on real customer or session data, will never have that</a:t>
            </a:r>
          </a:p>
          <a:p>
            <a:pPr lvl="0"/>
            <a:r>
              <a:rPr/>
              <a:t>Two families of metric fill the gap, and it matters which one is available in a given situation</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Internal metrics: only the clustering and the data</a:t>
            </a:r>
          </a:p>
        </p:txBody>
      </p:sp>
      <p:sp>
        <p:nvSpPr>
          <p:cNvPr id="3" name="Content Placeholder 2"/>
          <p:cNvSpPr>
            <a:spLocks noGrp="1"/>
          </p:cNvSpPr>
          <p:nvPr>
            <p:ph idx="1"/>
          </p:nvPr>
        </p:nvSpPr>
        <p:spPr>
          <a:xfrm>
            <a:off x="457200" y="1200151"/>
            <a:ext cx="8229600" cy="3394472"/>
          </a:xfrm>
        </p:spPr>
        <p:txBody>
          <a:bodyPr/>
          <a:lstStyle/>
          <a:p>
            <a:pPr lvl="0"/>
            <a:r>
              <a:rPr/>
              <a:t>Use </a:t>
            </a:r>
            <a:r>
              <a:rPr b="1"/>
              <a:t>no</a:t>
            </a:r>
            <a:r>
              <a:rPr/>
              <a:t> outside answer key: computed from the clustering and the points alone</a:t>
            </a:r>
          </a:p>
          <a:p>
            <a:pPr lvl="0"/>
            <a:r>
              <a:rPr b="1"/>
              <a:t>Silhouette</a:t>
            </a:r>
            <a:r>
              <a:rPr/>
              <a:t>: are points closer to their own cluster than to any other? Answerable from the clustering alone</a:t>
            </a:r>
          </a:p>
          <a:p>
            <a:pPr lvl="0"/>
            <a:r>
              <a:rPr b="1"/>
              <a:t>WCSS</a:t>
            </a:r>
            <a:r>
              <a:rPr/>
              <a:t>: usable, but weaker, only comparable across different k on the </a:t>
            </a:r>
            <a:r>
              <a:rPr i="1"/>
              <a:t>same</a:t>
            </a:r>
            <a:r>
              <a:rPr/>
              <a:t> algorithm, not across different methods</a:t>
            </a:r>
          </a:p>
          <a:p>
            <a:pPr lvl="0"/>
            <a:r>
              <a:rPr/>
              <a:t>Always available, even when nothing else is</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External metrics: an outside answer key</a:t>
            </a:r>
          </a:p>
        </p:txBody>
      </p:sp>
      <p:sp>
        <p:nvSpPr>
          <p:cNvPr id="3" name="Content Placeholder 2"/>
          <p:cNvSpPr>
            <a:spLocks noGrp="1"/>
          </p:cNvSpPr>
          <p:nvPr>
            <p:ph idx="1"/>
          </p:nvPr>
        </p:nvSpPr>
        <p:spPr>
          <a:xfrm>
            <a:off x="457200" y="1200151"/>
            <a:ext cx="8229600" cy="3394472"/>
          </a:xfrm>
        </p:spPr>
        <p:txBody>
          <a:bodyPr/>
          <a:lstStyle/>
          <a:p>
            <a:pPr lvl="0"/>
            <a:r>
              <a:rPr/>
              <a:t>Compare a clustering against a </a:t>
            </a:r>
            <a:r>
              <a:rPr b="1"/>
              <a:t>separate</a:t>
            </a:r>
            <a:r>
              <a:rPr/>
              <a:t> labelling assumed correct, ARI and its relatives</a:t>
            </a:r>
          </a:p>
          <a:p>
            <a:pPr lvl="0"/>
            <a:r>
              <a:rPr/>
              <a:t>Here: the data generator’s </a:t>
            </a:r>
            <a:r>
              <a:rPr>
                <a:latin typeface="Courier"/>
              </a:rPr>
              <a:t>true_segment</a:t>
            </a:r>
            <a:r>
              <a:rPr/>
              <a:t> / </a:t>
            </a:r>
            <a:r>
              <a:rPr>
                <a:latin typeface="Courier"/>
              </a:rPr>
              <a:t>true_group</a:t>
            </a:r>
          </a:p>
          <a:p>
            <a:pPr lvl="0"/>
            <a:r>
              <a:rPr/>
              <a:t>In practice: a hand-labelled sample, a business rule, or a downstream outcome: did the “bot” cluster get blocked and never return?</a:t>
            </a:r>
          </a:p>
          <a:p>
            <a:pPr lvl="0"/>
            <a:r>
              <a:rPr/>
              <a:t>When such a signal exists, even partial or noisy, </a:t>
            </a:r>
            <a:r>
              <a:rPr b="1"/>
              <a:t>use it</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silhouette can’t see</a:t>
            </a:r>
          </a:p>
        </p:txBody>
      </p:sp>
      <p:sp>
        <p:nvSpPr>
          <p:cNvPr id="3" name="Content Placeholder 2"/>
          <p:cNvSpPr>
            <a:spLocks noGrp="1"/>
          </p:cNvSpPr>
          <p:nvPr>
            <p:ph idx="1"/>
          </p:nvPr>
        </p:nvSpPr>
        <p:spPr>
          <a:xfrm>
            <a:off x="457200" y="1200151"/>
            <a:ext cx="8229600" cy="3394472"/>
          </a:xfrm>
        </p:spPr>
        <p:txBody>
          <a:bodyPr/>
          <a:lstStyle/>
          <a:p>
            <a:pPr lvl="0"/>
            <a:r>
              <a:rPr/>
              <a:t>It endorses only </a:t>
            </a:r>
            <a:r>
              <a:rPr b="1"/>
              <a:t>what the metric can see</a:t>
            </a:r>
            <a:r>
              <a:rPr/>
              <a:t>: the shape</a:t>
            </a:r>
          </a:p>
          <a:p>
            <a:pPr lvl="0"/>
            <a:r>
              <a:rPr/>
              <a:t>k-means on the sessions: silhouette </a:t>
            </a:r>
            <a:r>
              <a:rPr b="1"/>
              <a:t>0.401</a:t>
            </a:r>
            <a:r>
              <a:rPr/>
              <a:t>, ARI −0.046</a:t>
            </a:r>
          </a:p>
          <a:p>
            <a:pPr lvl="0"/>
            <a:r>
              <a:rPr/>
              <a:t>DBSCAN, correct: silhouette </a:t>
            </a:r>
            <a:r>
              <a:rPr b="1"/>
              <a:t>−0.106</a:t>
            </a:r>
            <a:r>
              <a:rPr/>
              <a:t>, ARI 0.941</a:t>
            </a:r>
          </a:p>
          <a:p>
            <a:pPr lvl="0"/>
            <a:r>
              <a:rPr/>
              <a:t>Silhouette measures </a:t>
            </a:r>
            <a:r>
              <a:rPr b="1"/>
              <a:t>roundness</a:t>
            </a:r>
            <a:r>
              <a:rPr/>
              <a:t>, not correctness</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Eight columns, not eight independent numbers</a:t>
            </a:r>
          </a:p>
        </p:txBody>
      </p:sp>
      <p:pic>
        <p:nvPicPr>
          <p:cNvPr descr="feature_correlation.png" id="0" name="Picture 1"/>
          <p:cNvPicPr>
            <a:picLocks noGrp="1" noChangeAspect="1"/>
          </p:cNvPicPr>
          <p:nvPr/>
        </p:nvPicPr>
        <p:blipFill>
          <a:blip r:embed="rId3"/>
          <a:stretch>
            <a:fillRect/>
          </a:stretch>
        </p:blipFill>
        <p:spPr bwMode="auto">
          <a:xfrm>
            <a:off x="2621333" y="1166099"/>
            <a:ext cx="3901333" cy="3360181"/>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PCA: the direction that varies most</a:t>
            </a:r>
          </a:p>
        </p:txBody>
      </p:sp>
      <p:sp>
        <p:nvSpPr>
          <p:cNvPr id="3" name="Content Placeholder 2"/>
          <p:cNvSpPr>
            <a:spLocks noGrp="1"/>
          </p:cNvSpPr>
          <p:nvPr>
            <p:ph idx="1"/>
          </p:nvPr>
        </p:nvSpPr>
        <p:spPr>
          <a:xfrm>
            <a:off x="457200" y="1200151"/>
            <a:ext cx="8229600" cy="3394472"/>
          </a:xfrm>
        </p:spPr>
        <p:txBody>
          <a:bodyPr/>
          <a:lstStyle/>
          <a:p>
            <a:pPr lvl="0"/>
            <a:r>
              <a:rPr/>
              <a:t>Finds the direction in feature space along which the data varies </a:t>
            </a:r>
            <a:r>
              <a:rPr b="1"/>
              <a:t>most</a:t>
            </a:r>
            <a:r>
              <a:rPr/>
              <a:t>: the first principal component</a:t>
            </a:r>
          </a:p>
          <a:p>
            <a:pPr lvl="0"/>
            <a:r>
              <a:rPr/>
              <a:t>Then the next-most-varying direction, </a:t>
            </a:r>
            <a:r>
              <a:rPr b="1"/>
              <a:t>perpendicular</a:t>
            </a:r>
            <a:r>
              <a:rPr/>
              <a:t> to the first, and so on</a:t>
            </a:r>
          </a:p>
          <a:p>
            <a:pPr lvl="0"/>
            <a:r>
              <a:rPr/>
              <a:t>“Varies the most” stands in for “carries the most information”: a direction where every point looks nearly identical tells points apart hardly at all</a:t>
            </a:r>
          </a:p>
          <a:p>
            <a:pPr lvl="0"/>
            <a:r>
              <a:rPr/>
              <a:t>A direction like that is safe to discard</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Maximise variance, subject to unit length</a:t>
            </a:r>
          </a:p>
        </p:txBody>
      </p:sp>
      <p:sp>
        <p:nvSpPr>
          <p:cNvPr id="3" name="Content Placeholder 2"/>
          <p:cNvSpPr>
            <a:spLocks noGrp="1"/>
          </p:cNvSpPr>
          <p:nvPr>
            <p:ph idx="1"/>
          </p:nvPr>
        </p:nvSpPr>
        <p:spPr>
          <a:xfrm>
            <a:off x="457200" y="1200151"/>
            <a:ext cx="8229600" cy="3394472"/>
          </a:xfrm>
        </p:spPr>
        <p:txBody>
          <a:bodyPr/>
          <a:lstStyle/>
          <a:p>
            <a:pPr lvl="0"/>
            <a:r>
              <a:rPr/>
              <a:t>The variance of standardised data projected onto a direction v, with ‖v‖ = 1, is what PCA maximises</a:t>
            </a:r>
          </a:p>
          <a:p>
            <a:pPr lvl="0"/>
            <a:r>
              <a:rPr/>
              <a:t>Σ is the sample covariance matrix: diagonal 1, off-diagonal entries the correlations the previous figure showed as colours</a:t>
            </a:r>
          </a:p>
          <a:p>
            <a:pPr lvl="0"/>
            <a:r>
              <a:rPr/>
              <a:t>The unit-length constraint matters: without it, variance grows without bound simply by scaling v up</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Variance along a direction</a:t>
            </a:r>
          </a:p>
        </p:txBody>
      </p:sp>
      <p:pic>
        <p:nvPicPr>
          <p:cNvPr descr="eq_206045b693.png" id="0" name="Picture 1"/>
          <p:cNvPicPr>
            <a:picLocks noGrp="1" noChangeAspect="1"/>
          </p:cNvPicPr>
          <p:nvPr/>
        </p:nvPicPr>
        <p:blipFill>
          <a:blip r:embed="rId3"/>
          <a:stretch>
            <a:fillRect/>
          </a:stretch>
        </p:blipFill>
        <p:spPr bwMode="auto">
          <a:xfrm>
            <a:off x="457200" y="2477889"/>
            <a:ext cx="8229600" cy="736600"/>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stationary points are eigenvectors of Σ</a:t>
            </a:r>
          </a:p>
        </p:txBody>
      </p:sp>
      <p:pic>
        <p:nvPicPr>
          <p:cNvPr descr="eq_a9b2f69438.png" id="0" name="Picture 1"/>
          <p:cNvPicPr>
            <a:picLocks noGrp="1" noChangeAspect="1"/>
          </p:cNvPicPr>
          <p:nvPr/>
        </p:nvPicPr>
        <p:blipFill>
          <a:blip r:embed="rId3"/>
          <a:stretch>
            <a:fillRect/>
          </a:stretch>
        </p:blipFill>
        <p:spPr bwMode="auto">
          <a:xfrm>
            <a:off x="3218289" y="2447179"/>
            <a:ext cx="2707422" cy="798021"/>
          </a:xfrm>
          <a:prstGeom prst="rect">
            <a:avLst/>
          </a:prstGeom>
          <a:noFill/>
          <a:ln w="9525">
            <a:noFill/>
            <a:headEnd/>
            <a:tailEnd/>
          </a:ln>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eigenvalue is the variance that direction captures</a:t>
            </a:r>
          </a:p>
        </p:txBody>
      </p:sp>
      <p:sp>
        <p:nvSpPr>
          <p:cNvPr id="3" name="Content Placeholder 2"/>
          <p:cNvSpPr>
            <a:spLocks noGrp="1"/>
          </p:cNvSpPr>
          <p:nvPr>
            <p:ph idx="1"/>
          </p:nvPr>
        </p:nvSpPr>
        <p:spPr>
          <a:xfrm>
            <a:off x="457200" y="1200151"/>
            <a:ext cx="8229600" cy="3394472"/>
          </a:xfrm>
        </p:spPr>
        <p:txBody>
          <a:bodyPr/>
          <a:lstStyle/>
          <a:p>
            <a:pPr lvl="0"/>
            <a:r>
              <a:rPr/>
              <a:t>Substituting Σv = λv back: vᵀΣv = λ</a:t>
            </a:r>
          </a:p>
          <a:p>
            <a:pPr lvl="0"/>
            <a:r>
              <a:rPr/>
              <a:t>The direction of </a:t>
            </a:r>
            <a:r>
              <a:rPr b="1"/>
              <a:t>largest</a:t>
            </a:r>
            <a:r>
              <a:rPr/>
              <a:t> variance is the eigenvector with the </a:t>
            </a:r>
            <a:r>
              <a:rPr b="1"/>
              <a:t>largest</a:t>
            </a:r>
            <a:r>
              <a:rPr/>
              <a:t> eigenvalue; the second is next-largest, orthogonal to the first</a:t>
            </a:r>
          </a:p>
          <a:p>
            <a:pPr lvl="0"/>
            <a:r>
              <a:rPr/>
              <a:t>Orthogonality is automatic: Σ is symmetric, by the spectral theorem</a:t>
            </a:r>
          </a:p>
          <a:p>
            <a:pPr lvl="0"/>
            <a:r>
              <a:rPr/>
              <a:t>Order all n eigenvalues largest to smallest: every component, at once</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Worked example: spend and visits</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endParaRPr/>
                    </a:p>
                  </a:txBody>
                  <a:tcPr/>
                </a:tc>
                <a:tc>
                  <a:txBody>
                    <a:bodyPr/>
                    <a:lstStyle/>
                    <a:p>
                      <a:pPr lvl="0" indent="0" marL="0">
                        <a:buNone/>
                      </a:pPr>
                      <a:r>
                        <a:rPr/>
                        <a:t>Value</a:t>
                      </a:r>
                    </a:p>
                  </a:txBody>
                  <a:tcPr/>
                </a:tc>
              </a:tr>
              <a:tr h="0">
                <a:tc>
                  <a:txBody>
                    <a:bodyPr/>
                    <a:lstStyle/>
                    <a:p>
                      <a:pPr lvl="0" indent="0" marL="0">
                        <a:buNone/>
                      </a:pPr>
                      <a:r>
                        <a:rPr/>
                        <a:t>Correlation (off-diagonal of Σ)</a:t>
                      </a:r>
                    </a:p>
                  </a:txBody>
                </a:tc>
                <a:tc>
                  <a:txBody>
                    <a:bodyPr/>
                    <a:lstStyle/>
                    <a:p>
                      <a:pPr lvl="0" indent="0" marL="0">
                        <a:buNone/>
                      </a:pPr>
                      <a:r>
                        <a:rPr/>
                        <a:t>0.171</a:t>
                      </a:r>
                    </a:p>
                  </a:txBody>
                </a:tc>
              </a:tr>
              <a:tr h="0">
                <a:tc>
                  <a:txBody>
                    <a:bodyPr/>
                    <a:lstStyle/>
                    <a:p>
                      <a:pPr lvl="0" indent="0" marL="0">
                        <a:buNone/>
                      </a:pPr>
                      <a:r>
                        <a:rPr/>
                        <a:t>Eigenvalues, 1 ± r</a:t>
                      </a:r>
                    </a:p>
                  </a:txBody>
                </a:tc>
                <a:tc>
                  <a:txBody>
                    <a:bodyPr/>
                    <a:lstStyle/>
                    <a:p>
                      <a:pPr lvl="0" indent="0" marL="0">
                        <a:buNone/>
                      </a:pPr>
                      <a:r>
                        <a:rPr/>
                        <a:t>1.171 and 0.829</a:t>
                      </a:r>
                    </a:p>
                  </a:txBody>
                </a:tc>
              </a:tr>
              <a:tr h="0">
                <a:tc>
                  <a:txBody>
                    <a:bodyPr/>
                    <a:lstStyle/>
                    <a:p>
                      <a:pPr lvl="0" indent="0" marL="0">
                        <a:buNone/>
                      </a:pPr>
                      <a:r>
                        <a:rPr/>
                        <a:t>First component direction</a:t>
                      </a:r>
                    </a:p>
                  </a:txBody>
                </a:tc>
                <a:tc>
                  <a:txBody>
                    <a:bodyPr/>
                    <a:lstStyle/>
                    <a:p>
                      <a:pPr lvl="0" indent="0" marL="0">
                        <a:buNone/>
                      </a:pPr>
                      <a:r>
                        <a:rPr/>
                        <a:t>(1,1)/√2</a:t>
                      </a:r>
                    </a:p>
                  </a:txBody>
                </a:tc>
              </a:tr>
            </a:tbl>
          </a:graphicData>
        </a:graphic>
      </p:graphicFrame>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Two columns, drawn</a:t>
            </a:r>
          </a:p>
        </p:txBody>
      </p:sp>
      <p:pic>
        <p:nvPicPr>
          <p:cNvPr descr="pca_two_columns.png" id="0" name="Picture 1"/>
          <p:cNvPicPr>
            <a:picLocks noGrp="1" noChangeAspect="1"/>
          </p:cNvPicPr>
          <p:nvPr/>
        </p:nvPicPr>
        <p:blipFill>
          <a:blip r:embed="rId3"/>
          <a:stretch>
            <a:fillRect/>
          </a:stretch>
        </p:blipFill>
        <p:spPr bwMode="auto">
          <a:xfrm>
            <a:off x="934950" y="1166099"/>
            <a:ext cx="7274099" cy="3360181"/>
          </a:xfrm>
          <a:prstGeom prst="rect">
            <a:avLst/>
          </a:prstGeom>
          <a:noFill/>
          <a:ln w="9525">
            <a:noFill/>
            <a:headEnd/>
            <a:tailEnd/>
          </a:ln>
        </p:spPr>
      </p:pic>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same answer, more stably: the SVD</a:t>
            </a:r>
          </a:p>
        </p:txBody>
      </p:sp>
      <p:sp>
        <p:nvSpPr>
          <p:cNvPr id="3" name="Content Placeholder 2"/>
          <p:cNvSpPr>
            <a:spLocks noGrp="1"/>
          </p:cNvSpPr>
          <p:nvPr>
            <p:ph idx="1"/>
          </p:nvPr>
        </p:nvSpPr>
        <p:spPr>
          <a:xfrm>
            <a:off x="457200" y="1200151"/>
            <a:ext cx="8229600" cy="3394472"/>
          </a:xfrm>
        </p:spPr>
        <p:txBody>
          <a:bodyPr/>
          <a:lstStyle/>
          <a:p>
            <a:pPr lvl="0"/>
            <a:r>
              <a:rPr/>
              <a:t>The </a:t>
            </a:r>
            <a:r>
              <a:rPr b="1"/>
              <a:t>singular value decomposition (SVD)</a:t>
            </a:r>
            <a:r>
              <a:rPr/>
              <a:t> of the centred data is the numerically preferred route to the same components</a:t>
            </a:r>
          </a:p>
          <a:p>
            <a:pPr lvl="0"/>
            <a:r>
              <a:rPr/>
              <a:t>Squaring a matrix squares its condition number, never form XᵀX explicitly</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λᵢ from singular values</a:t>
            </a:r>
          </a:p>
        </p:txBody>
      </p:sp>
      <p:pic>
        <p:nvPicPr>
          <p:cNvPr descr="eq_8dcc74b847.png" id="0" name="Picture 1"/>
          <p:cNvPicPr>
            <a:picLocks noGrp="1" noChangeAspect="1"/>
          </p:cNvPicPr>
          <p:nvPr/>
        </p:nvPicPr>
        <p:blipFill>
          <a:blip r:embed="rId3"/>
          <a:stretch>
            <a:fillRect/>
          </a:stretch>
        </p:blipFill>
        <p:spPr bwMode="auto">
          <a:xfrm>
            <a:off x="457200" y="2198489"/>
            <a:ext cx="8229599" cy="1295400"/>
          </a:xfrm>
          <a:prstGeom prst="rect">
            <a:avLst/>
          </a:prstGeom>
          <a:noFill/>
          <a:ln w="9525">
            <a:noFill/>
            <a:headEnd/>
            <a:tailEnd/>
          </a:ln>
        </p:spPr>
      </p:pic>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Three routes, one answer</a:t>
            </a:r>
          </a:p>
        </p:txBody>
      </p:sp>
      <p:sp>
        <p:nvSpPr>
          <p:cNvPr id="3" name="Content Placeholder 2"/>
          <p:cNvSpPr>
            <a:spLocks noGrp="1"/>
          </p:cNvSpPr>
          <p:nvPr>
            <p:ph idx="1"/>
          </p:nvPr>
        </p:nvSpPr>
        <p:spPr>
          <a:xfrm>
            <a:off x="457200" y="1200151"/>
            <a:ext cx="8229600" cy="3394472"/>
          </a:xfrm>
        </p:spPr>
        <p:txBody>
          <a:bodyPr/>
          <a:lstStyle/>
          <a:p>
            <a:pPr lvl="0"/>
            <a:r>
              <a:rPr>
                <a:latin typeface="Courier"/>
              </a:rPr>
              <a:t>numpy.linalg.eigh</a:t>
            </a:r>
            <a:r>
              <a:rPr/>
              <a:t> on the covariance matrix</a:t>
            </a:r>
          </a:p>
          <a:p>
            <a:pPr lvl="0"/>
            <a:r>
              <a:rPr>
                <a:latin typeface="Courier"/>
              </a:rPr>
              <a:t>numpy.linalg.svd</a:t>
            </a:r>
            <a:r>
              <a:rPr/>
              <a:t> on the centred data, with λᵢ = sᵢ²/(m-1)</a:t>
            </a:r>
          </a:p>
          <a:p>
            <a:pPr lvl="0"/>
            <a:r>
              <a:rPr>
                <a:latin typeface="Courier"/>
              </a:rPr>
              <a:t>sklearn.decomposition.PCA</a:t>
            </a:r>
          </a:p>
          <a:p>
            <a:pPr lvl="0"/>
            <a:r>
              <a:rPr/>
              <a:t>On the 8-feature account table, all three agree to within 5 × 10⁻¹⁵: floating-point rounding, and nothing more</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How many components: the scree plot</a:t>
            </a:r>
          </a:p>
        </p:txBody>
      </p:sp>
      <p:pic>
        <p:nvPicPr>
          <p:cNvPr descr="pca_scree.png" id="0" name="Picture 1"/>
          <p:cNvPicPr>
            <a:picLocks noGrp="1" noChangeAspect="1"/>
          </p:cNvPicPr>
          <p:nvPr/>
        </p:nvPicPr>
        <p:blipFill>
          <a:blip r:embed="rId3"/>
          <a:stretch>
            <a:fillRect/>
          </a:stretch>
        </p:blipFill>
        <p:spPr bwMode="auto">
          <a:xfrm>
            <a:off x="2017256" y="1166099"/>
            <a:ext cx="5109488" cy="3360181"/>
          </a:xfrm>
          <a:prstGeom prst="rect">
            <a:avLst/>
          </a:prstGeom>
          <a:noFill/>
          <a:ln w="9525">
            <a:noFill/>
            <a:headEnd/>
            <a:tailEnd/>
          </a:ln>
        </p:spPr>
      </p:pic>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elbow lands on 3</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Component</a:t>
                      </a:r>
                    </a:p>
                  </a:txBody>
                  <a:tcPr/>
                </a:tc>
                <a:tc>
                  <a:txBody>
                    <a:bodyPr/>
                    <a:lstStyle/>
                    <a:p>
                      <a:pPr lvl="0" indent="0" marL="0">
                        <a:buNone/>
                      </a:pPr>
                      <a:r>
                        <a:rPr/>
                        <a:t>Eigenvalue</a:t>
                      </a:r>
                    </a:p>
                  </a:txBody>
                  <a:tcPr/>
                </a:tc>
                <a:tc>
                  <a:txBody>
                    <a:bodyPr/>
                    <a:lstStyle/>
                    <a:p>
                      <a:pPr lvl="0" indent="0" marL="0">
                        <a:buNone/>
                      </a:pPr>
                      <a:r>
                        <a:rPr/>
                        <a:t>Variance</a:t>
                      </a:r>
                    </a:p>
                  </a:txBody>
                  <a:tcPr/>
                </a:tc>
                <a:tc>
                  <a:txBody>
                    <a:bodyPr/>
                    <a:lstStyle/>
                    <a:p>
                      <a:pPr lvl="0" indent="0" marL="0">
                        <a:buNone/>
                      </a:pPr>
                      <a:r>
                        <a:rPr/>
                        <a:t>Cumulative</a:t>
                      </a:r>
                    </a:p>
                  </a:txBody>
                  <a:tcPr/>
                </a:tc>
              </a:tr>
              <a:tr h="0">
                <a:tc>
                  <a:txBody>
                    <a:bodyPr/>
                    <a:lstStyle/>
                    <a:p>
                      <a:pPr lvl="0" indent="0" marL="0">
                        <a:buNone/>
                      </a:pPr>
                      <a:r>
                        <a:rPr/>
                        <a:t>PC1</a:t>
                      </a:r>
                    </a:p>
                  </a:txBody>
                </a:tc>
                <a:tc>
                  <a:txBody>
                    <a:bodyPr/>
                    <a:lstStyle/>
                    <a:p>
                      <a:pPr lvl="0" indent="0" marL="0">
                        <a:buNone/>
                      </a:pPr>
                      <a:r>
                        <a:rPr/>
                        <a:t>3.539</a:t>
                      </a:r>
                    </a:p>
                  </a:txBody>
                </a:tc>
                <a:tc>
                  <a:txBody>
                    <a:bodyPr/>
                    <a:lstStyle/>
                    <a:p>
                      <a:pPr lvl="0" indent="0" marL="0">
                        <a:buNone/>
                      </a:pPr>
                      <a:r>
                        <a:rPr/>
                        <a:t>44.2%</a:t>
                      </a:r>
                    </a:p>
                  </a:txBody>
                </a:tc>
                <a:tc>
                  <a:txBody>
                    <a:bodyPr/>
                    <a:lstStyle/>
                    <a:p>
                      <a:pPr lvl="0" indent="0" marL="0">
                        <a:buNone/>
                      </a:pPr>
                      <a:r>
                        <a:rPr/>
                        <a:t>44.2%</a:t>
                      </a:r>
                    </a:p>
                  </a:txBody>
                </a:tc>
              </a:tr>
              <a:tr h="0">
                <a:tc>
                  <a:txBody>
                    <a:bodyPr/>
                    <a:lstStyle/>
                    <a:p>
                      <a:pPr lvl="0" indent="0" marL="0">
                        <a:buNone/>
                      </a:pPr>
                      <a:r>
                        <a:rPr/>
                        <a:t>PC2</a:t>
                      </a:r>
                    </a:p>
                  </a:txBody>
                </a:tc>
                <a:tc>
                  <a:txBody>
                    <a:bodyPr/>
                    <a:lstStyle/>
                    <a:p>
                      <a:pPr lvl="0" indent="0" marL="0">
                        <a:buNone/>
                      </a:pPr>
                      <a:r>
                        <a:rPr/>
                        <a:t>2.568</a:t>
                      </a:r>
                    </a:p>
                  </a:txBody>
                </a:tc>
                <a:tc>
                  <a:txBody>
                    <a:bodyPr/>
                    <a:lstStyle/>
                    <a:p>
                      <a:pPr lvl="0" indent="0" marL="0">
                        <a:buNone/>
                      </a:pPr>
                      <a:r>
                        <a:rPr/>
                        <a:t>32.1%</a:t>
                      </a:r>
                    </a:p>
                  </a:txBody>
                </a:tc>
                <a:tc>
                  <a:txBody>
                    <a:bodyPr/>
                    <a:lstStyle/>
                    <a:p>
                      <a:pPr lvl="0" indent="0" marL="0">
                        <a:buNone/>
                      </a:pPr>
                      <a:r>
                        <a:rPr/>
                        <a:t>76.3%</a:t>
                      </a:r>
                    </a:p>
                  </a:txBody>
                </a:tc>
              </a:tr>
              <a:tr h="0">
                <a:tc>
                  <a:txBody>
                    <a:bodyPr/>
                    <a:lstStyle/>
                    <a:p>
                      <a:pPr lvl="0" indent="0" marL="0">
                        <a:buNone/>
                      </a:pPr>
                      <a:r>
                        <a:rPr/>
                        <a:t>PC3</a:t>
                      </a:r>
                    </a:p>
                  </a:txBody>
                </a:tc>
                <a:tc>
                  <a:txBody>
                    <a:bodyPr/>
                    <a:lstStyle/>
                    <a:p>
                      <a:pPr lvl="0" indent="0" marL="0">
                        <a:buNone/>
                      </a:pPr>
                      <a:r>
                        <a:rPr/>
                        <a:t>1.380</a:t>
                      </a:r>
                    </a:p>
                  </a:txBody>
                </a:tc>
                <a:tc>
                  <a:txBody>
                    <a:bodyPr/>
                    <a:lstStyle/>
                    <a:p>
                      <a:pPr lvl="0" indent="0" marL="0">
                        <a:buNone/>
                      </a:pPr>
                      <a:r>
                        <a:rPr/>
                        <a:t>17.2%</a:t>
                      </a:r>
                    </a:p>
                  </a:txBody>
                </a:tc>
                <a:tc>
                  <a:txBody>
                    <a:bodyPr/>
                    <a:lstStyle/>
                    <a:p>
                      <a:pPr lvl="0" indent="0" marL="0">
                        <a:buNone/>
                      </a:pPr>
                      <a:r>
                        <a:rPr/>
                        <a:t>93.5%</a:t>
                      </a:r>
                    </a:p>
                  </a:txBody>
                </a:tc>
              </a:tr>
              <a:tr h="0">
                <a:tc>
                  <a:txBody>
                    <a:bodyPr/>
                    <a:lstStyle/>
                    <a:p>
                      <a:pPr lvl="0" indent="0" marL="0">
                        <a:buNone/>
                      </a:pPr>
                      <a:r>
                        <a:rPr/>
                        <a:t>PC4</a:t>
                      </a:r>
                    </a:p>
                  </a:txBody>
                </a:tc>
                <a:tc>
                  <a:txBody>
                    <a:bodyPr/>
                    <a:lstStyle/>
                    <a:p>
                      <a:pPr lvl="0" indent="0" marL="0">
                        <a:buNone/>
                      </a:pPr>
                      <a:r>
                        <a:rPr/>
                        <a:t>0.192</a:t>
                      </a:r>
                    </a:p>
                  </a:txBody>
                </a:tc>
                <a:tc>
                  <a:txBody>
                    <a:bodyPr/>
                    <a:lstStyle/>
                    <a:p>
                      <a:pPr lvl="0" indent="0" marL="0">
                        <a:buNone/>
                      </a:pPr>
                      <a:r>
                        <a:rPr/>
                        <a:t>2.4%</a:t>
                      </a:r>
                    </a:p>
                  </a:txBody>
                </a:tc>
                <a:tc>
                  <a:txBody>
                    <a:bodyPr/>
                    <a:lstStyle/>
                    <a:p>
                      <a:pPr lvl="0" indent="0" marL="0">
                        <a:buNone/>
                      </a:pPr>
                      <a:r>
                        <a:rPr/>
                        <a:t>96.0%</a:t>
                      </a:r>
                    </a:p>
                  </a:txBody>
                </a:tc>
              </a:tr>
              <a:tr h="0">
                <a:tc>
                  <a:txBody>
                    <a:bodyPr/>
                    <a:lstStyle/>
                    <a:p>
                      <a:pPr lvl="0" indent="0" marL="0">
                        <a:buNone/>
                      </a:pPr>
                      <a:r>
                        <a:rPr/>
                        <a:t>PC5–PC8</a:t>
                      </a:r>
                    </a:p>
                  </a:txBody>
                </a:tc>
                <a:tc>
                  <a:txBody>
                    <a:bodyPr/>
                    <a:lstStyle/>
                    <a:p>
                      <a:pPr lvl="0" indent="0" marL="0">
                        <a:buNone/>
                      </a:pPr>
                      <a:r>
                        <a:rPr/>
                        <a:t>0.043–0.104</a:t>
                      </a:r>
                    </a:p>
                  </a:txBody>
                </a:tc>
                <a:tc>
                  <a:txBody>
                    <a:bodyPr/>
                    <a:lstStyle/>
                    <a:p>
                      <a:pPr lvl="0" indent="0" marL="0">
                        <a:buNone/>
                      </a:pPr>
                      <a:r>
                        <a:rPr/>
                        <a:t>0.5–1.3% each</a:t>
                      </a:r>
                    </a:p>
                  </a:txBody>
                </a:tc>
                <a:tc>
                  <a:txBody>
                    <a:bodyPr/>
                    <a:lstStyle/>
                    <a:p>
                      <a:pPr lvl="0" indent="0" marL="0">
                        <a:buNone/>
                      </a:pPr>
                      <a:r>
                        <a:rPr/>
                        <a:t>100.0%</a:t>
                      </a:r>
                    </a:p>
                  </a:txBody>
                </a:tc>
              </a:tr>
            </a:tbl>
          </a:graphicData>
        </a:graphic>
      </p:graphicFrame>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to do when the elbow is softer</a:t>
            </a:r>
          </a:p>
        </p:txBody>
      </p:sp>
      <p:sp>
        <p:nvSpPr>
          <p:cNvPr id="3" name="Content Placeholder 2"/>
          <p:cNvSpPr>
            <a:spLocks noGrp="1"/>
          </p:cNvSpPr>
          <p:nvPr>
            <p:ph idx="1"/>
          </p:nvPr>
        </p:nvSpPr>
        <p:spPr>
          <a:xfrm>
            <a:off x="457200" y="1200151"/>
            <a:ext cx="8229600" cy="3394472"/>
          </a:xfrm>
        </p:spPr>
        <p:txBody>
          <a:bodyPr/>
          <a:lstStyle/>
          <a:p>
            <a:pPr lvl="0"/>
            <a:r>
              <a:rPr/>
              <a:t>This dataset’s elbow is unusually clean; most real data is not</a:t>
            </a:r>
          </a:p>
          <a:p>
            <a:pPr lvl="0"/>
            <a:r>
              <a:rPr/>
              <a:t>Common alternative: keep enough components for a chosen fraction of the variance, typically 90–95%</a:t>
            </a:r>
          </a:p>
          <a:p>
            <a:pPr lvl="0"/>
            <a:r>
              <a:rPr/>
              <a:t>Or treat the number of components as a hyperparameter, and let cross-validation decide</a:t>
            </a:r>
          </a:p>
          <a:p>
            <a:pPr lvl="0"/>
            <a:r>
              <a:rPr/>
              <a:t>The scree plot starts the judgement; it does not automate it</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3, live</a:t>
            </a:r>
          </a:p>
        </p:txBody>
      </p:sp>
      <p:sp>
        <p:nvSpPr>
          <p:cNvPr id="3" name="Content Placeholder 2"/>
          <p:cNvSpPr>
            <a:spLocks noGrp="1"/>
          </p:cNvSpPr>
          <p:nvPr>
            <p:ph idx="1"/>
          </p:nvPr>
        </p:nvSpPr>
        <p:spPr>
          <a:xfrm>
            <a:off x="457200" y="1200151"/>
            <a:ext cx="8229600" cy="3394472"/>
          </a:xfrm>
        </p:spPr>
        <p:txBody>
          <a:bodyPr/>
          <a:lstStyle/>
          <a:p>
            <a:pPr lvl="0"/>
            <a:r>
              <a:rPr/>
              <a:t>PCA on the 8-feature account table, checked three ways, to 5×10⁻¹⁵</a:t>
            </a:r>
          </a:p>
          <a:p>
            <a:pPr lvl="0"/>
            <a:r>
              <a:rPr/>
              <a:t>Reconstruction error flags disguised fraud: </a:t>
            </a:r>
            <a:r>
              <a:rPr b="1"/>
              <a:t>37 of 40</a:t>
            </a:r>
            <a:r>
              <a:rPr/>
              <a:t> planted anomalies caught at the 98th-percentile threshold</a:t>
            </a:r>
          </a:p>
          <a:p>
            <a:pPr lvl="0"/>
            <a:r>
              <a:rPr/>
              <a:t>A 2-D PCA and t-SNE scatter of the same accounts, and why neither shows the anomalies as outliers</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t-SNE: a tool built for looking, not for measuring</a:t>
            </a:r>
          </a:p>
        </p:txBody>
      </p:sp>
      <p:sp>
        <p:nvSpPr>
          <p:cNvPr id="3" name="Content Placeholder 2"/>
          <p:cNvSpPr>
            <a:spLocks noGrp="1"/>
          </p:cNvSpPr>
          <p:nvPr>
            <p:ph idx="1"/>
          </p:nvPr>
        </p:nvSpPr>
        <p:spPr>
          <a:xfrm>
            <a:off x="457200" y="1200151"/>
            <a:ext cx="8229600" cy="3394472"/>
          </a:xfrm>
        </p:spPr>
        <p:txBody>
          <a:bodyPr/>
          <a:lstStyle/>
          <a:p>
            <a:pPr lvl="0"/>
            <a:r>
              <a:rPr b="1"/>
              <a:t>t-SNE</a:t>
            </a:r>
            <a:r>
              <a:rPr/>
              <a:t> (t-distributed stochastic neighbour embedding) arranges points so those close together </a:t>
            </a:r>
            <a:r>
              <a:rPr b="1"/>
              <a:t>stay</a:t>
            </a:r>
            <a:r>
              <a:rPr/>
              <a:t> close</a:t>
            </a:r>
          </a:p>
          <a:p>
            <a:pPr lvl="0"/>
            <a:r>
              <a:rPr/>
              <a:t>Distances between points that started far apart are not preserved</a:t>
            </a:r>
          </a:p>
          <a:p>
            <a:pPr lvl="0"/>
            <a:r>
              <a:rPr/>
              <a:t>Excellent at making separate clusters visually obvious, more so than PCA’s first two components</a:t>
            </a:r>
          </a:p>
          <a:p>
            <a:pPr lvl="0"/>
            <a:r>
              <a:rPr b="1"/>
              <a:t>Distances between clusters mean nothing</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to take away</a:t>
            </a:r>
          </a:p>
        </p:txBody>
      </p:sp>
      <p:sp>
        <p:nvSpPr>
          <p:cNvPr id="3" name="Content Placeholder 2"/>
          <p:cNvSpPr>
            <a:spLocks noGrp="1"/>
          </p:cNvSpPr>
          <p:nvPr>
            <p:ph idx="1"/>
          </p:nvPr>
        </p:nvSpPr>
        <p:spPr>
          <a:xfrm>
            <a:off x="457200" y="1200151"/>
            <a:ext cx="8229600" cy="3394472"/>
          </a:xfrm>
        </p:spPr>
        <p:txBody>
          <a:bodyPr/>
          <a:lstStyle/>
          <a:p>
            <a:pPr lvl="0"/>
            <a:r>
              <a:rPr/>
              <a:t>k-means converges only to a </a:t>
            </a:r>
            <a:r>
              <a:rPr b="1"/>
              <a:t>local</a:t>
            </a:r>
            <a:r>
              <a:rPr/>
              <a:t> minimum: 30 starts ranged WCSS 374.1 to 1,390.4</a:t>
            </a:r>
          </a:p>
          <a:p>
            <a:pPr lvl="0"/>
            <a:r>
              <a:rPr/>
              <a:t>A core inside a ring defeats k-means </a:t>
            </a:r>
            <a:r>
              <a:rPr b="1"/>
              <a:t>and</a:t>
            </a:r>
            <a:r>
              <a:rPr/>
              <a:t> Ward; DBSCAN scored </a:t>
            </a:r>
            <a:r>
              <a:rPr b="1"/>
              <a:t>0.941</a:t>
            </a:r>
          </a:p>
          <a:p>
            <a:pPr lvl="0"/>
            <a:r>
              <a:rPr/>
              <a:t>Internal metrics measure self-consistency, external (ARI) a truth real problems rarely have</a:t>
            </a:r>
          </a:p>
          <a:p>
            <a:pPr lvl="0"/>
            <a:r>
              <a:rPr b="1"/>
              <a:t>37 of 40 disguised accounts</a:t>
            </a:r>
            <a:r>
              <a:rPr/>
              <a:t> caught by reconstruction error, invisible to a 2-D scatter</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Homework</a:t>
            </a:r>
          </a:p>
        </p:txBody>
      </p:sp>
      <p:sp>
        <p:nvSpPr>
          <p:cNvPr id="3" name="Content Placeholder 2"/>
          <p:cNvSpPr>
            <a:spLocks noGrp="1"/>
          </p:cNvSpPr>
          <p:nvPr>
            <p:ph idx="1"/>
          </p:nvPr>
        </p:nvSpPr>
        <p:spPr>
          <a:xfrm>
            <a:off x="457200" y="1200151"/>
            <a:ext cx="8229600" cy="3394472"/>
          </a:xfrm>
        </p:spPr>
        <p:txBody>
          <a:bodyPr/>
          <a:lstStyle/>
          <a:p>
            <a:pPr lvl="0"/>
            <a:r>
              <a:rPr b="1"/>
              <a:t>Exercise 8</a:t>
            </a:r>
            <a:r>
              <a:rPr/>
              <a:t>, discussed at the start of </a:t>
            </a:r>
            <a:r>
              <a:rPr b="1"/>
              <a:t>Friday 27 November</a:t>
            </a:r>
          </a:p>
          <a:p>
            <a:pPr lvl="0"/>
            <a:r>
              <a:rPr>
                <a:latin typeface="Courier"/>
              </a:rPr>
              <a:t>Exercises/08_unsupervised_learning.md</a:t>
            </a:r>
          </a:p>
        </p:txBody>
      </p:sp>
    </p:spTree>
  </p:cSld>
</p:sld>
</file>

<file path=ppt/theme/theme1.xml><?xml version="1.0" encoding="utf-8"?>
<a:theme xmlns:a="http://schemas.openxmlformats.org/drawingml/2006/main" name="Office Theme">
  <a:themeElements>
    <a:clrScheme name="Office">
      <a:dk1>
        <a:sysClr val="windowText" lastClr="1A1A1A"/>
      </a:dk1>
      <a:lt1>
        <a:sysClr val="window" lastClr="FFFFFF"/>
      </a:lt1>
      <a:dk2>
        <a:srgbClr val="1F497D"/>
      </a:dk2>
      <a:lt2>
        <a:srgbClr val="EEECE1"/>
      </a:lt2>
      <a:accent1>
        <a:srgbClr val="1F4E79"/>
      </a:accent1>
      <a:accent2>
        <a:srgbClr val="2E7D8A"/>
      </a:accent2>
      <a:accent3>
        <a:srgbClr val="F0BE50"/>
      </a:accent3>
      <a:accent4>
        <a:srgbClr val="4A5568"/>
      </a:accent4>
      <a:accent5>
        <a:srgbClr val="9C4221"/>
      </a:accent5>
      <a:accent6>
        <a:srgbClr val="1A1A1A"/>
      </a:accent6>
      <a:hlink>
        <a:srgbClr val="0000FF"/>
      </a:hlink>
      <a:folHlink>
        <a:srgbClr val="800080"/>
      </a:folHlink>
    </a:clrScheme>
    <a:fontScheme name="Office">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1A1A1A"/>
      </a:dk1>
      <a:lt1>
        <a:sysClr val="window" lastClr="FFFFFF"/>
      </a:lt1>
      <a:dk2>
        <a:srgbClr val="44546A"/>
      </a:dk2>
      <a:lt2>
        <a:srgbClr val="E7E6E6"/>
      </a:lt2>
      <a:accent1>
        <a:srgbClr val="1F4E79"/>
      </a:accent1>
      <a:accent2>
        <a:srgbClr val="2E7D8A"/>
      </a:accent2>
      <a:accent3>
        <a:srgbClr val="F0BE50"/>
      </a:accent3>
      <a:accent4>
        <a:srgbClr val="4A5568"/>
      </a:accent4>
      <a:accent5>
        <a:srgbClr val="9C4221"/>
      </a:accent5>
      <a:accent6>
        <a:srgbClr val="1A1A1A"/>
      </a:accent6>
      <a:hlink>
        <a:srgbClr val="0563C1"/>
      </a:hlink>
      <a:folHlink>
        <a:srgbClr val="954F72"/>
      </a:folHlink>
    </a:clrScheme>
    <a:fontScheme name="Office">
      <a:majorFont>
        <a:latin typeface="Segoe UI Semibold"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8: Unsupervised Learning</dc:title>
  <dc:creator>Fabio Antonini, Università degli Studi dell’Aquila</dc:creator>
  <cp:keywords/>
  <dcterms:created xsi:type="dcterms:W3CDTF">1980-01-01T00:00:00Z</dcterms:created>
  <dcterms:modified xsi:type="dcterms:W3CDTF">1980-01-01T00:00:00Z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 November 2026</vt:lpwstr>
  </property>
  <property fmtid="{D5CDD505-2E9C-101B-9397-08002B2CF9AE}" pid="3" name="subtitle">
    <vt:lpwstr>Technologies for Artificial Intelligence</vt:lpwstr>
  </property>
</Properties>
</file>