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" Type="http://schemas.openxmlformats.org/officeDocument/2006/relationships/slideMaster" Target="slideMasters/slideMaster1.xml" /><Relationship Id="rId11" Type="http://schemas.openxmlformats.org/officeDocument/2006/relationships/presProps" Target="presProps.xml" /><Relationship Id="rId12" Type="http://schemas.openxmlformats.org/officeDocument/2006/relationships/viewProps" Target="viewProps.xml" /><Relationship Id="rId13" Type="http://schemas.openxmlformats.org/officeDocument/2006/relationships/theme" Target="theme/theme1.xml" /><Relationship Id="rId14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Logo 7" descr="univaq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82892"/>
            <a:ext cx="2377440" cy="1037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Relationship Id="rId13" Target="../media/image1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pic>
        <p:nvPicPr>
          <p:cNvPr descr="univaq_logo.png" id="2147483660" name="Logo 214748366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6408" y="4530478"/>
            <a:ext cx="1051560" cy="458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Lesson 3 —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Technologies for Artificial Intelligence</a:t>
            </a:r>
            <a:br/>
            <a:br/>
            <a:r>
              <a:rPr/>
              <a:t>Fabio Antonini — Università degli Studi dell’Aquila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 October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regression problem</a:t>
            </a:r>
          </a:p>
          <a:p>
            <a:pPr lvl="0"/>
            <a:r>
              <a:rPr/>
              <a:t>Cost function</a:t>
            </a:r>
          </a:p>
          <a:p>
            <a:pPr lvl="0"/>
            <a:r>
              <a:rPr/>
              <a:t>Gradient descent</a:t>
            </a:r>
          </a:p>
          <a:p>
            <a:pPr lvl="0"/>
            <a:r>
              <a:rPr/>
              <a:t>Regularisation</a:t>
            </a:r>
          </a:p>
          <a:p>
            <a:pPr lvl="0"/>
            <a:r>
              <a:rPr/>
              <a:t>Hands-on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regression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want a function that maps features to a continuous target.</a:t>
                </a:r>
              </a:p>
              <a:p>
                <a:pPr lvl="0"/>
                <a:r>
                  <a:rPr/>
                  <a:t>Input: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n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Output: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double-struck"/>
                      </m:rPr>
                      <m:t>R</m:t>
                    </m:r>
                  </m:oMath>
                </a14:m>
              </a:p>
              <a:p>
                <a:pPr lvl="0"/>
                <a:r>
                  <a:rPr/>
                  <a:t>Model: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w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parameters </a:t>
                </a:r>
                <a14:m>
                  <m:oMath xmlns:m="http://schemas.openxmlformats.org/officeDocument/2006/math">
                    <m:r>
                      <m:t>w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learned from data.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Least squares in one picture</a:t>
            </a:r>
          </a:p>
        </p:txBody>
      </p:sp>
      <p:pic>
        <p:nvPicPr>
          <p:cNvPr descr="univaq_log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Least-squares fit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mean squared error over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examples: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J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  <m:r>
                            <m:t>m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m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p>
                                    <m:e>
                                      <m:acc>
                                        <m:accPr>
                                          <m:chr m:val="̂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sSup>
                                    <m:e>
                                      <m:r>
                                        <m:t>y</m:t>
                                      </m:r>
                                    </m:e>
                                    <m:sup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 </a:t>
                </a:r>
                <a14:m>
                  <m:oMath xmlns:m="http://schemas.openxmlformats.org/officeDocument/2006/math">
                    <m:f>
                      <m:fPr>
                        <m:type m:val="lin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2</m:t>
                        </m:r>
                      </m:den>
                    </m:f>
                  </m:oMath>
                </a14:m>
                <a:r>
                  <a:rPr/>
                  <a:t> simplifies the derivative.</a:t>
                </a:r>
              </a:p>
            </p:txBody>
          </p:sp>
        </mc:Choice>
      </mc:AlternateContent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Comparing the estimators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057400" /><a:gridCol w="2057400" /><a:gridCol w="2057400" /><a:gridCol w="20574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Closed form</a:t></a:r></a:p></a:txBody><a:tcPr /></a:tc><a:tc><a:txBody><a:bodyPr /><a:lstStyle /><a:p><a:pPr lvl="0" indent="0" marL="0"><a:buNone /></a:pPr><a:r><a:rPr /><a:t>Scales to large </a:t></a:r><a14:m><m:oMath xmlns:m="http://schemas.openxmlformats.org/officeDocument/2006/math"><m:r><m:t>n</m:t></m:r></m:oMath></a14:m></a:p></a:txBody><a:tcPr /></a:tc><a:tc><a:txBody><a:bodyPr /><a:lstStyle /><a:p><a:pPr lvl="0" indent="0" marL="0"><a:buNone /></a:pPr><a:r><a:rPr /><a:t>Handles collinearity</a:t></a:r></a:p></a:txBody><a:tcPr /></a:tc></a:tr><a:tr h="0"><a:tc><a:txBody><a:bodyPr /><a:lstStyle /><a:p><a:pPr lvl="0" indent="0" marL="0"><a:buNone /></a:pPr><a:r><a:rPr /><a:t>Normal equation</a:t></a:r></a:p></a:txBody></a:tc><a:tc><a:txBody><a:bodyPr /><a:lstStyle /><a:p><a:pPr lvl="0" indent="0" marL="0"><a:buNone /></a:pPr><a:r><a:rPr /><a:t>Yes</a:t></a:r></a:p></a:txBody></a:tc><a:tc><a:txBody><a:bodyPr /><a:lstStyle /><a:p><a:pPr lvl="0" indent="0" marL="0"><a:buNone /></a:pPr><a:r><a:rPr /><a:t>No</a:t></a:r></a:p></a:txBody></a:tc><a:tc><a:txBody><a:bodyPr /><a:lstStyle /><a:p><a:pPr lvl="0" indent="0" marL="0"><a:buNone /></a:pPr><a:r><a:rPr /><a:t>No</a:t></a:r></a:p></a:txBody></a:tc></a:tr><a:tr h="0"><a:tc><a:txBody><a:bodyPr /><a:lstStyle /><a:p><a:pPr lvl="0" indent="0" marL="0"><a:buNone /></a:pPr><a:r><a:rPr /><a:t>Gradient descent</a:t></a:r></a:p></a:txBody></a:tc><a:tc><a:txBody><a:bodyPr /><a:lstStyle /><a:p><a:pPr lvl="0" indent="0" marL="0"><a:buNone /></a:pPr><a:r><a:rPr /><a:t>No</a:t></a:r></a:p></a:txBody></a:tc><a:tc><a:txBody><a:bodyPr /><a:lstStyle /><a:p><a:pPr lvl="0" indent="0" marL="0"><a:buNone /></a:pPr><a:r><a:rPr /><a:t>Yes</a:t></a:r></a:p></a:txBody></a:tc><a:tc><a:txBody><a:bodyPr /><a:lstStyle /><a:p><a:pPr lvl="0" indent="0" marL="0"><a:buNone /></a:pPr><a:r><a:rPr /><a:t>Partly</a:t></a:r></a:p></a:txBody></a:tc></a:tr><a:tr h="0"><a:tc><a:txBody><a:bodyPr /><a:lstStyle /><a:p><a:pPr lvl="0" indent="0" marL="0"><a:buNone /></a:pPr><a:r><a:rPr /><a:t>Ridge</a:t></a:r></a:p></a:txBody></a:tc><a:tc><a:txBody><a:bodyPr /><a:lstStyle /><a:p><a:pPr lvl="0" indent="0" marL="0"><a:buNone /></a:pPr><a:r><a:rPr /><a:t>Yes</a:t></a:r></a:p></a:txBody></a:tc><a:tc><a:txBody><a:bodyPr /><a:lstStyle /><a:p><a:pPr lvl="0" indent="0" marL="0"><a:buNone /></a:pPr><a:r><a:rPr /><a:t>Yes</a:t></a:r></a:p></a:txBody></a:tc><a:tc><a:txBody><a:bodyPr /><a:lstStyle /><a:p><a:pPr lvl="0" indent="0" marL="0"><a:buNone /></a:pPr><a:r><a:rPr /><a:t>Yes</a:t></a:r></a:p></a:txBody></a:tc></a:tr></a:tbl></a:graphicData></a:graphic></p:graphicFrame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sklearn.linear_model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LinearRegression</a:t>
            </a:r>
            <a:br/>
            <a:br/>
            <a:r>
              <a:rPr>
                <a:latin typeface="Courier"/>
              </a:rPr>
              <a:t>model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LinearRegression()</a:t>
            </a:r>
            <a:br/>
            <a:r>
              <a:rPr>
                <a:latin typeface="Courier"/>
              </a:rPr>
              <a:t>model.fit(X_train, y_train)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(model.coef_, model.intercept_)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Two-column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Underfitting</a:t>
            </a:r>
          </a:p>
          <a:p>
            <a:pPr lvl="0"/>
            <a:r>
              <a:rPr/>
              <a:t>High bias</a:t>
            </a:r>
          </a:p>
          <a:p>
            <a:pPr lvl="0"/>
            <a:r>
              <a:rPr/>
              <a:t>Poor on train and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Overfitting</a:t>
            </a:r>
          </a:p>
          <a:p>
            <a:pPr lvl="0"/>
            <a:r>
              <a:rPr/>
              <a:t>High variance</a:t>
            </a:r>
          </a:p>
          <a:p>
            <a:pPr lvl="0"/>
            <a:r>
              <a:rPr/>
              <a:t>Great on train, poor on test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Regression predicts a continuous target</a:t>
            </a:r>
          </a:p>
          <a:p>
            <a:pPr lvl="0"/>
            <a:r>
              <a:rPr/>
              <a:t>MSE is the standard cost function</a:t>
            </a:r>
          </a:p>
          <a:p>
            <a:pPr lvl="0"/>
            <a:r>
              <a:rPr/>
              <a:t>Gradient descent scales where the normal equation does not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1F497D"/>
      </a:dk2>
      <a:lt2>
        <a:srgbClr val="EEECE1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000FF"/>
      </a:hlink>
      <a:folHlink>
        <a:srgbClr val="800080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1A1A1A"/>
      </a:dk1>
      <a:lt1>
        <a:sysClr val="window" lastClr="FFFFFF"/>
      </a:lt1>
      <a:dk2>
        <a:srgbClr val="44546A"/>
      </a:dk2>
      <a:lt2>
        <a:srgbClr val="E7E6E6"/>
      </a:lt2>
      <a:accent1>
        <a:srgbClr val="1F4E79"/>
      </a:accent1>
      <a:accent2>
        <a:srgbClr val="2E7D8A"/>
      </a:accent2>
      <a:accent3>
        <a:srgbClr val="F0BE50"/>
      </a:accent3>
      <a:accent4>
        <a:srgbClr val="4A5568"/>
      </a:accent4>
      <a:accent5>
        <a:srgbClr val="9C4221"/>
      </a:accent5>
      <a:accent6>
        <a:srgbClr val="1A1A1A"/>
      </a:accent6>
      <a:hlink>
        <a:srgbClr val="0563C1"/>
      </a:hlink>
      <a:folHlink>
        <a:srgbClr val="954F72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 — Regression</dc:title>
  <dc:creator>Fabio Antonini — Università degli Studi dell’Aquila</dc:creator>
  <cp:keywords/>
  <dcterms:created xsi:type="dcterms:W3CDTF">2026-08-16T11:59:20Z</dcterms:created>
  <dcterms:modified xsi:type="dcterms:W3CDTF">2026-08-16T11:59:20Z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9 October 2026</vt:lpwstr>
  </property>
  <property fmtid="{D5CDD505-2E9C-101B-9397-08002B2CF9AE}" pid="3" name="subtitle">
    <vt:lpwstr>Technologies for Artificial Intelligence</vt:lpwstr>
  </property>
</Properties>
</file>