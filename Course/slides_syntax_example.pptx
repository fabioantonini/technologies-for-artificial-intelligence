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 go in a </a:t>
            </a:r>
            <a:r>
              <a:rPr>
                <a:latin typeface="Courier"/>
              </a:rPr>
              <a:t>notes</a:t>
            </a:r>
            <a:r>
              <a:rPr/>
              <a:t> div. They never appear on the slide: they show in PowerPoint’s presenter view, in the notes pane, and on printed notes pages.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Use them for what you plan to say, the question to put to the room, and a pointer back to the handout section carrying the derivation - the slide itself should stay uncluttered.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Logo 7" descr="univa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82892"/>
            <a:ext cx="2377440" cy="103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74395"/>
          </a:xfrm>
        </p:spPr>
        <p:txBody>
          <a:bodyPr anchor="b"/>
          <a:lstStyle>
            <a:lvl1pPr algn="l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34440"/>
            <a:ext cx="8229600" cy="822960"/>
          </a:xfrm>
        </p:spPr>
        <p:txBody>
          <a:bodyPr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  <a:lvl6pPr marL="1714500" indent="0">
              <a:buNone/>
              <a:defRPr/>
            </a:lvl6pPr>
            <a:lvl7pPr marL="2057400" indent="0">
              <a:buNone/>
              <a:defRPr/>
            </a:lvl7pPr>
            <a:lvl8pPr marL="2400300" indent="0">
              <a:buNone/>
              <a:defRPr/>
            </a:lvl8pPr>
            <a:lvl9pPr marL="2743200" indent="0"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74395"/>
          </a:xfrm>
        </p:spPr>
        <p:txBody>
          <a:bodyPr anchor="b"/>
          <a:lstStyle>
            <a:lvl1pPr algn="l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234440"/>
            <a:ext cx="8229600" cy="822960"/>
          </a:xfrm>
        </p:spPr>
        <p:txBody>
          <a:bodyPr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  <a:lvl6pPr marL="1714500" indent="0">
              <a:buNone/>
              <a:defRPr/>
            </a:lvl6pPr>
            <a:lvl7pPr marL="2057400" indent="0">
              <a:buNone/>
              <a:defRPr/>
            </a:lvl7pPr>
            <a:lvl8pPr marL="2400300" indent="0">
              <a:buNone/>
              <a:defRPr/>
            </a:lvl8pPr>
            <a:lvl9pPr marL="2743200" indent="0">
              <a:buNone/>
              <a:defRPr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34440"/>
            <a:ext cx="8229600" cy="822960"/>
          </a:xfrm>
        </p:spPr>
        <p:txBody>
          <a:bodyPr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  <a:lvl6pPr marL="1714500" indent="0">
              <a:buNone/>
              <a:defRPr/>
            </a:lvl6pPr>
            <a:lvl7pPr marL="2057400" indent="0">
              <a:buNone/>
              <a:defRPr/>
            </a:lvl7pPr>
            <a:lvl8pPr marL="2400300" indent="0">
              <a:buNone/>
              <a:defRPr/>
            </a:lvl8pPr>
            <a:lvl9pPr marL="2743200" indent="0"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descr="univaq_logo.png" id="2147483660" name="Logo 214748366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36408" y="4530478"/>
            <a:ext cx="1051560" cy="45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Lesson 3 —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Technologies for Artificial Intelligence</a:t>
            </a:r>
            <a:br/>
            <a:br/>
            <a:r>
              <a:rPr/>
              <a:t>Fabio Antonini — Università degli Studi dell’Aquila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pPr lvl="0" indent="0" marL="0">
              <a:buNone/>
            </a:pPr>
            <a:r>
              <a:rPr/>
              <a:t>9 October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/>
              <a:t>The regression problem</a:t>
            </a:r>
          </a:p>
          <a:p>
            <a:pPr lvl="0"/>
            <a:r>
              <a:rPr/>
              <a:t>Cost function</a:t>
            </a:r>
          </a:p>
          <a:p>
            <a:pPr lvl="0"/>
            <a:r>
              <a:rPr/>
              <a:t>Gradient descent</a:t>
            </a:r>
          </a:p>
          <a:p>
            <a:pPr lvl="0"/>
            <a:r>
              <a:rPr/>
              <a:t>Regularisation</a:t>
            </a:r>
          </a:p>
          <a:p>
            <a:pPr lvl="0"/>
            <a:r>
              <a:rPr/>
              <a:t>Hands-on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regression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 want a function that maps features to a continuous target.</a:t>
            </a:r>
          </a:p>
          <a:p>
            <a:pPr lvl="0"/>
            <a:r>
              <a:rPr/>
              <a:t>Input: x ∈ ℝⁿ</a:t>
            </a:r>
          </a:p>
          <a:p>
            <a:pPr lvl="0"/>
            <a:r>
              <a:rPr/>
              <a:t>Output: y ∈ ℝ</a:t>
            </a:r>
          </a:p>
          <a:p>
            <a:pPr lvl="0"/>
            <a:r>
              <a:rPr/>
              <a:t>Model: y = wᵀ x + b</a:t>
            </a:r>
          </a:p>
          <a:p>
            <a:pPr lvl="0" indent="0" marL="0">
              <a:buNone/>
            </a:pPr>
            <a:r>
              <a:rPr/>
              <a:t>The parameters w and b are learned from data.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Least squares in one picture</a:t>
            </a:r>
          </a:p>
        </p:txBody>
      </p:sp>
      <p:pic>
        <p:nvPicPr>
          <p:cNvPr descr="univaq_log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83757" y="2091929"/>
            <a:ext cx="5576486" cy="243435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1166099"/>
            <a:ext cx="8229600" cy="82296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Least-squares fit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74395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Cost function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457200" y="1183005"/>
            <a:ext cx="8229600" cy="82296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mean squared error over m examples:</a:t>
            </a:r>
          </a:p>
        </p:txBody>
      </p:sp>
      <p:pic>
        <p:nvPicPr>
          <p:cNvPr descr="eq_51ec59965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375862"/>
            <a:ext cx="8229599" cy="188339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factor  simplifies the derivative.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the estimators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Closed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Scales to large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Handles collinearity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Normal equation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Gradient descent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Ridge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sklearn.linear_model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LinearRegression</a:t>
            </a:r>
            <a:br/>
            <a:br/>
            <a:r>
              <a:rPr>
                <a:latin typeface="Courier"/>
              </a:rPr>
              <a:t>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LinearRegression()</a:t>
            </a:r>
            <a:br/>
            <a:r>
              <a:rPr>
                <a:latin typeface="Courier"/>
              </a:rPr>
              <a:t>model.fit(X_train, y_train)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(model.coef_, model.intercept_)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Two-column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Underfitting</a:t>
            </a:r>
          </a:p>
          <a:p>
            <a:pPr lvl="0"/>
            <a:r>
              <a:rPr/>
              <a:t>High bias</a:t>
            </a:r>
          </a:p>
          <a:p>
            <a:pPr lvl="0"/>
            <a:r>
              <a:rPr/>
              <a:t>Poor on train and test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Overfitting</a:t>
            </a:r>
          </a:p>
          <a:p>
            <a:pPr lvl="0"/>
            <a:r>
              <a:rPr/>
              <a:t>High variance</a:t>
            </a:r>
          </a:p>
          <a:p>
            <a:pPr lvl="0"/>
            <a:r>
              <a:rPr/>
              <a:t>Great on train, poor on test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/>
              <a:t>Regression predicts a continuous target</a:t>
            </a:r>
          </a:p>
          <a:p>
            <a:pPr lvl="0"/>
            <a:r>
              <a:rPr/>
              <a:t>MSE is the standard cost function</a:t>
            </a:r>
          </a:p>
          <a:p>
            <a:pPr lvl="0"/>
            <a:r>
              <a:rPr/>
              <a:t>Gradient descent scales where the normal equation does not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1A1A1A"/>
      </a:dk1>
      <a:lt1>
        <a:sysClr val="window" lastClr="FFFFFF"/>
      </a:lt1>
      <a:dk2>
        <a:srgbClr val="1F497D"/>
      </a:dk2>
      <a:lt2>
        <a:srgbClr val="EEECE1"/>
      </a:lt2>
      <a:accent1>
        <a:srgbClr val="1F4E79"/>
      </a:accent1>
      <a:accent2>
        <a:srgbClr val="2E7D8A"/>
      </a:accent2>
      <a:accent3>
        <a:srgbClr val="F0BE50"/>
      </a:accent3>
      <a:accent4>
        <a:srgbClr val="4A5568"/>
      </a:accent4>
      <a:accent5>
        <a:srgbClr val="9C4221"/>
      </a:accent5>
      <a:accent6>
        <a:srgbClr val="1A1A1A"/>
      </a:accent6>
      <a:hlink>
        <a:srgbClr val="0000FF"/>
      </a:hlink>
      <a:folHlink>
        <a:srgbClr val="800080"/>
      </a:folHlink>
    </a:clrScheme>
    <a:fontScheme name="Office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1A1A1A"/>
      </a:dk1>
      <a:lt1>
        <a:sysClr val="window" lastClr="FFFFFF"/>
      </a:lt1>
      <a:dk2>
        <a:srgbClr val="44546A"/>
      </a:dk2>
      <a:lt2>
        <a:srgbClr val="E7E6E6"/>
      </a:lt2>
      <a:accent1>
        <a:srgbClr val="1F4E79"/>
      </a:accent1>
      <a:accent2>
        <a:srgbClr val="2E7D8A"/>
      </a:accent2>
      <a:accent3>
        <a:srgbClr val="F0BE50"/>
      </a:accent3>
      <a:accent4>
        <a:srgbClr val="4A5568"/>
      </a:accent4>
      <a:accent5>
        <a:srgbClr val="9C4221"/>
      </a:accent5>
      <a:accent6>
        <a:srgbClr val="1A1A1A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 — Regression</dc:title>
  <dc:creator>Fabio Antonini — Università degli Studi dell’Aquila</dc:creator>
  <cp:keywords/>
  <dcterms:created xsi:type="dcterms:W3CDTF">2026-08-16T12:47:16Z</dcterms:created>
  <dcterms:modified xsi:type="dcterms:W3CDTF">2026-08-16T12:47:16Z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9 October 2026</vt:lpwstr>
  </property>
  <property fmtid="{D5CDD505-2E9C-101B-9397-08002B2CF9AE}" pid="3" name="subtitle">
    <vt:lpwstr>Technologies for Artificial Intelligence</vt:lpwstr>
  </property>
</Properties>
</file>