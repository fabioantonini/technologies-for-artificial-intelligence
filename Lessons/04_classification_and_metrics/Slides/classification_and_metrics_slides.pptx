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is a fault of the model, not a fact about the drives. A drive with a few sectors is not safe; the model cannot see it, because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 The bullet says “each feature will add” because there is no model yet: the coefficients, the weights w, arrive on slide 12, and slide 14 reads them;</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First the word the figure’s legend uses. A reading is what one counter shows on one drive: a particular value, or range of values, of one feature - say “a high count of reallocated sectors”. For counting it is a yes-or-no fact: the drive shows it or it does not.</a:t>
            </a:r>
          </a:p>
          <a:p>
            <a:pPr lvl="0" indent="0" marL="0">
              <a:buNone/>
            </a:pPr>
          </a:p>
          <a:p>
            <a:pPr lvl="0" indent="0" marL="0">
              <a:buNone/>
            </a:pPr>
            <a:r>
              <a:rPr/>
              <a:t>Why evidence multiplies, by counting, before pointing at the figure. Take 1,000 drives at 50% risk: 500 will fail, 500 will not. They are imagined, all like the drive in question, only so that percentages become counts. Suppose a reading shows up on 60% of the failing drives and on 10% of the healthy ones - the two shares are an illustration, not measured on the fleet, and only their ratio, 6, matters. Among the drives that show it, 300 will fail and 50 will not; our drive shows it, so it is one of the 350. The odds, failing divided by healthy, go from 500 / 500 = 1 to 300 / 50 = 6. The reading is a sieve that keeps a share of each group, 0.6 of the failing drives and 0.1 of the healthy ones, so their ratio is multiplied by 0.6 / 0.1 = 6 whatever it was before - start from 950 and 50 and you get 570 and 5, odds 19 to 114. That ratio, P(reading | fail) divided by P(reading | healthy), is called the likelihood ratio, and it belongs to the reading, not to the drive: that is Bayes’ rule written with odds. The probability cannot be multiplied the same way: it is failing divided by failing plus healthy, both groups sit in its denominator, shrunk by different shares, so its change depends on where it started. The figure takes the multiplication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base rate: the fleet’s log-odds before any reading, log(306 / 7,694) = -3.22. Centre the features and the constant parts of those steps fold, with the base rate, into one number: the intercept b = -6.20, the log-odds of the average drive, not of a drive drawn at random.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a:p>
            <a:pPr lvl="0" indent="0" marL="0">
              <a:buNone/>
            </a:pPr>
          </a:p>
          <a:p>
            <a:pPr lvl="0" indent="0" marL="0">
              <a:buNone/>
            </a:pPr>
            <a:r>
              <a:rPr/>
              <a:t>Two predictable slips. “The intercept is the risk before looking at the counters”: that is the base rate, 3.8%; the intercept is the average drive’s log-odds, 0.2% (slide 16). The difference comes from the tail: the failures are the drives with bad telemetry, not the average one. And “logistic regression assumes the counters are independent”: independence given the class only motivates why evidence adds on the log-odds scale. Fitting the model does not need it; correlated counters share the weight through their coefficients.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The second line carries the three properties we will use, each needed later; name them without deriving them here - the handout section 2.2 does that. Sigma of 0 is a half: that is why a probability of 0.5 is z = 0, the decision boundary of slide 28. Sigma of minus z is 1 minus sigma of z: the probability of staying healthy is the same curve read from the other side, which gives the y = 0 term of the log loss (slide 24).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The vocabulary first, then two bullets, each in two halves.</a:t>
            </a:r>
          </a:p>
          <a:p>
            <a:pPr lvl="0" indent="0" marL="0">
              <a:buNone/>
            </a:pPr>
          </a:p>
          <a:p>
            <a:pPr lvl="0" indent="0" marL="0">
              <a:buNone/>
            </a:pPr>
            <a:r>
              <a:rPr/>
              <a:t>First bullet: the vocabulary. The coefficients are the numbers w1 to w6 of slide 12’s equation, one per feature; machine learning calls them weights, and scikit-learn stores them in coef_. The constant b is the intercept, in intercept_; neural networks call it the bias (lesson 9). Warn now about one collision: the “class weights” of slides 55 to 57 are something else - how much each training example counts in the cost - and not these w.</a:t>
            </a:r>
          </a:p>
          <a:p>
            <a:pPr lvl="0" indent="0" marL="0">
              <a:buNone/>
            </a:pPr>
          </a:p>
          <a:p>
            <a:pPr lvl="0" indent="0" marL="0">
              <a:buNone/>
            </a:pPr>
            <a:r>
              <a:rPr/>
              <a:t>Second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Go in four steps; handout section 2.4 has them with tables. One: the model does not see the count x but log(1 + x), standardised, so reallocated sectors contribute 1.80 times (log(1 + x) minus 0.96) divided by 0.62 to z, where 0.96 and 0.62 are the mean and the standard deviation of log(1 + x) over the fleet. Two: one standard deviation more is therefore 0.62 more on log(1 + x), not one sector more. Three: adding 0.62 to a logarithm multiplies what is inside it by e to the 0.62 = 1.86, so 1 + x goes from 2 to 3.7 (1 sector to 2.7), from 5 to 9.3 (4 to 8.3), from 11 to 20.5 (10 to 19.5): roughly, the count doubles, and each such step multiplies the odds by the same 6.05. Four, the consequence: one extra sector is worth a lot at the start and little later. From 0 to 1 sector the odds are multiplied by 7.5, from 1 to 2 by 3.2, from 4 to 5 by 1.7, from 10 to 11 by 1.3. Temperature and hours are standardised on their own values, so for them one standard deviation is an ordinary additive step.</a:t>
            </a:r>
          </a:p>
          <a:p>
            <a:pPr lvl="0" indent="0" marL="0">
              <a:buNone/>
            </a:pPr>
          </a:p>
          <a:p>
            <a:pPr lvl="0" indent="0" marL="0">
              <a:buNone/>
            </a:pPr>
            <a:r>
              <a:rPr/>
              <a:t>Second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Third bullet, its first half: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its second half: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 It is two moves, and each has its own reason - the line above the table says both.</a:t>
            </a:r>
          </a:p>
          <a:p>
            <a:pPr lvl="0" indent="0" marL="0">
              <a:buNone/>
            </a:pPr>
          </a:p>
          <a:p>
            <a:pPr lvl="0" indent="0" marL="0">
              <a:buNone/>
            </a:pPr>
            <a:r>
              <a:rPr/>
              <a:t>Why the logarithm. Three reasons, in this order. First, it does not change the winner: the log is increasing, so the setting with the larger likelihood also has the larger log-likelihood - 0.576 beats 0.060, and log 0.576 = -0.55 beats log 0.060 = -2.81. Any increasing function would keep the winner; the log is chosen because, second, it turns the product into a sum: log of a times b times c is log a plus log b plus log c, so each drive contributes its own term, and a sum differentiates one term at a time - that is where slide 25’s gradient comes from. Third, it makes the computation possible at all.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The point to stress: the logarithm is a convenience, not a new assumption. The best setting is the same with it or without it.</a:t>
            </a:r>
          </a:p>
          <a:p>
            <a:pPr lvl="0" indent="0" marL="0">
              <a:buNone/>
            </a:pPr>
          </a:p>
          <a:p>
            <a:pPr lvl="0" indent="0" marL="0">
              <a:buNone/>
            </a:pPr>
            <a:r>
              <a:rPr/>
              <a:t>Why the minus. A probability is at most 1, so its logarithm is at most 0. The minus makes every term 0 or more and reverses the order, so the better setting now has the SMALLER number - 0.55 against 2.81 - and we minimise, as gradient descent does. Read the sum: because the log of a product is the sum of the logs, 0.55 is minus the log of 0.576, and 2.81 is minus the log of 0.060.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with J, its average over the drives, under it.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lines, and the difference between them matters. The top line is the loss on ONE example, L; p is the predicted probability, the same number the next slide writes as y-hat. The bottom line is the cost J: the average of L over the m training examples, each with its own p, the model’s probability for drive i. J is what fitting minimises, and it is the J whose gradient slide 25 takes. Written in terms of L it fits; the handout, section 3, writes it out in full.</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formulas say,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The second line is the intercept’s, and it is the same formula with x_j = 1: slide 13 drew b as the weight on a constant input of 1. So the gradient with respect to b is simply the average error. If the model over-predicts failure on average, b goes down. Notebook 1’s code has one line for each: w moves by the learning rate times X-transpose times the errors over m, b by the learning rate times the mean error.</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panel draws the SIZE of each gradient - the bars around “gradient” on its vertical axis. A third predictable slip follows from that: “the figure says 1 - p and the notebook p - 1, so one of them has the sign wrong”. Both are right: the gradient is p - 1, negative for a failed drive, which makes gradient descent raise z; its size is 1 - p. The full derivation, both labels and both costs, is in handout section 3.4.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a:p>
            <a:pPr lvl="0" indent="0" marL="0">
              <a:buNone/>
            </a:pPr>
          </a:p>
          <a:p>
            <a:pPr lvl="0" indent="0" marL="0">
              <a:buNone/>
            </a:pPr>
            <a:r>
              <a:rPr/>
              <a:t>Someone will ask which algorithm scikit-learn uses. Not our gradient descent: the default is solver=“lbfgs”, limited-memory BFGS, a quasi-Newton method. It estimates the curvature of the cost from the last few gradients and uses it to choose both the direction and the length of each step, so there is no learning rate to set; on notebook 1’s data it stops after 15 iterations. And it does not minimise the log loss alone: the default adds an L2 penalty, as in lesson 3’s ridge, with C = 1 (C is the inverse of the penalty strength: the smaller C, the stronger the penalty). That penalty is why notebook 1’s from-scratch coefficients and scikit-learn’s differ in the second decimal; notebook 1 refits with penalty=None and the two agree. The default is wanted, not a bug: with classes a line separates perfectly, the unpenalised weights grow without limit (handout section 4.3), and lesson 5 chooses C by cross-validation.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this plot cannot tell. It says nothing about whether the probabilities are calibrated; what it shows is that moving the threshold trades misses for false alarms without refitting anything.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suits this problem, where a miss costs about nineteen times a false alarm (2,600 divided by 140 = 18.6), and F2 is a common choice. A predictable slip: “a miss costs 19 times more, so pick a beta to match”. Beta is a preference, not the costs: nothing turns 18.6 into a beta. To act on the costs, derive the threshold from them, slide 53.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minority class directly, and the macro average when the classes should count equally.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 First say which two numbers the slide compares, and why: the two curves of slide 48 share one axis, recall, and differ in one axis each - the false positive rate on the ROC, precision on the precision-recall curve. Recall does not move, so the disagreement must come from FPR against precision. The three bullets go in that order.</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Two predictable slips. First, “recall falls too, only more slowly”: it does not fall at all; TP and FN are both failures, thinned in the same proportion, and 0.50, 0.45, 0.46 is noise on few remaining failures. A related wording slip is calling FN “the false ones”: they are failures the model called healthy.</a:t>
            </a:r>
          </a:p>
          <a:p>
            <a:pPr lvl="0" indent="0" marL="0">
              <a:buNone/>
            </a:pPr>
          </a:p>
          <a:p>
            <a:pPr lvl="0" indent="0" marL="0">
              <a:buNone/>
            </a:pPr>
            <a:r>
              <a:rPr/>
              <a:t>Second,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unmoved by the class balance.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the idea first, as the bullet now says: every time the ranking reaches a failing drive, ask how clean the alarm queue is at that moment - the precision there - and average those precisions over the failures. That is where the name comes from. The formula says the same thing as an area: walk down the thresholds from the top; recall goes up only at a failing drive, by 1 ÷ 76 each time; take the precision at that point; add the precisions, each weighted by its recall step. The steps are all 1 ÷ 76, so the weighted sum is the plain average. Handout section 7.1 draws it for seven drives as three rectangles.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A predictable slip: “on imbalanced data the threshold belongs below 0.5”. Every threshold in this lesson moves down, so the pattern is easy to generalise. But the class balance is not in the formula: with calibrated probabilities and equal costs, t-star is 0.5 however rare the failures. It falls here because a miss costs 18.6 false alarms.</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a:p>
            <a:pPr lvl="0" indent="0" marL="0">
              <a:buNone/>
            </a:pPr>
          </a:p>
          <a:p>
            <a:pPr lvl="0" indent="0" marL="0">
              <a:buNone/>
            </a:pPr>
            <a:r>
              <a:rPr/>
              <a:t>The last bullet answers the question the room will ask: which one do we use? 0.051. A predictable slip: “0.078 costs less, so it is the better threshold”. It costs less on the 2,000 drives it was chosen on. Expected over new drives, the 45 drives between the two thresholds should hold about 2.76 failures - their probabilities add up to that - and leaving them would cost about 2.76 × 2,600 = 7,176 euros against (45 − 2.76) × 140 = 5,914 for flagging them: the rule of t* is right, and this test set simply held one failure among them where almost three were expected.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optional: skip it if time is short, because slide 56 carries the message on its own. If you do show it, three steps, in order.</a:t>
            </a:r>
          </a:p>
          <a:p>
            <a:pPr lvl="0" indent="0" marL="0">
              <a:buNone/>
            </a:pPr>
          </a:p>
          <a:p>
            <a:pPr lvl="0" indent="0" marL="0">
              <a:buNone/>
            </a:pPr>
            <a:r>
              <a:rPr/>
              <a:t>What the weights are - and first, what they are not: these class weights are not the weights w of slide 12, the coefficients. A class weight says how much each training example counts in the cost; w is what the fitting chooses.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 Why the name “balanced”: weight times class size is the same for both classes, 0.52 × 5,770 and 13.0 × 230, both about 3,000, which is m ÷ 2. After weighting, each class carries half of the total weight, however many examples it has. The 2 in the formula is the number of classes; with three classes each would carry a third.</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 that is the last bullet. The steps, if someone asks: the weights multiply every drive’s odds by about 25; the weighted model flags at p = 0.5, odds of 1; that is plain odds of 1 ÷ 25, and back to a probability, (1 ÷ 25) ÷ (1 + 1 ÷ 25) = 1 ÷ 26 = 0.038. Not a coincidence: 1 ÷ (1 + 5,770 ÷ 230) = 230 ÷ 6,000, the failure rate of the training set, so balanced weights always act like thresholding the plain model at the rare class’s training frequency. Notebook 3 checks it: the plain model at 0.038 raises 208 false alarms and misses 8; the weighted model at 0.5 raises 205 and misses 8; the two agree on 1,987 of the 2,000 test drives. The general rule, approximately: weights with ratio k behave like a threshold of 1 ÷ (1 + k). It is close here because the labels came from a logistic model in these very features; with a misspecified model, few data or a strong penalty, weights also change the slopes and the ranking.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slide 55 was skipped, one sentence is enough to start: class weights make each failure count more in training, and in effect they only lower the threshold. The figure shows how much that is worth.</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Compare the weighted model with the right bar. The 0.078 was found by looking at the test set (slide 54), so the fair comparison is the bar at t* = 0.051, fixed from the costs: 10 missed and 165 false alarms, 49,100. Balanced weights, 49,500, and the threshold from the costs, 49,100, cost practically the same.</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here it is almost exactly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Slides 58 to 60 are optional: exercise 4 is a two-class problem and needs none of them, and lesson 9 introduces the softmax again for the handwritten digits. Show them if there is time after notebook 3.</a:t>
            </a:r>
          </a:p>
          <a:p>
            <a:pPr lvl="0" indent="0" marL="0">
              <a:buNone/>
            </a:pPr>
          </a:p>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any minimum gradient descent finds is the global one.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start of Friday 13 November, together with exercise 5. (Lesson 4 ran over two Fridays: this slide is reached on 6 November, after which lesson 5 begins the same day.)</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experimental methodology, straight after this slide. Cross-validation, bias-variance, and the honest way to make every choice we made by hand in this lesson.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on this scale each feature will add a fixed amount, so it will multiply the odds by a fixed factor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reading, three different jumps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and three properties of the sigmoid</a:t>
            </a:r>
          </a:p>
        </p:txBody>
      </p:sp>
      <p:pic>
        <p:nvPicPr>
          <p:cNvPr descr="eq_6df234eb57.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Coefficients = weights w (</a:t>
            </a:r>
            <a:r>
              <a:rPr>
                <a:latin typeface="Courier"/>
              </a:rPr>
              <a:t>coef_</a:t>
            </a:r>
            <a:r>
              <a:rPr/>
              <a:t>); intercept b (</a:t>
            </a:r>
            <a:r>
              <a:rPr>
                <a:latin typeface="Courier"/>
              </a:rPr>
              <a:t>intercept_</a:t>
            </a:r>
            <a:r>
              <a:rPr/>
              <a:t>)</a:t>
            </a:r>
          </a:p>
          <a:p>
            <a:pPr lvl="0"/>
            <a:r>
              <a:rPr/>
              <a:t>Standardised (mean 0, SD 1): one SD more of reallocated sectors adds its true coefficient, 1.80, to the log-odds</a:t>
            </a:r>
          </a:p>
          <a:p>
            <a:pPr lvl="0"/>
            <a:r>
              <a:rPr/>
              <a:t>log(odds) + 1.80 = log(odds × 6.05): </a:t>
            </a:r>
            <a:r>
              <a:rPr b="1"/>
              <a:t>six times the odds</a:t>
            </a:r>
            <a:r>
              <a:rPr/>
              <a:t>,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 </a:t>
                      </a:r>
                      <a:r>
                        <a:rPr>
                          <a:latin typeface="Courier"/>
                        </a:rPr>
                        <a:t>disk_data.py</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4: minus the log, a cost</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The log turns the product into a sum, one term per drive, and keeps the winner; the minus turns largest into smallest: a cost to minimise, as in lesson 3.</a:t>
            </a:r>
          </a:p>
        </p:txBody>
      </p:sp>
      <p:graphicFrame>
        <p:nvGraphicFramePr>
          <p:cNvPr id="6" name="Content Placeholder 5"/>
          <p:cNvGraphicFramePr>
            <a:graphicFrameLocks noGrp="1"/>
          </p:cNvGraphicFramePr>
          <p:nvPr>
            <p:ph idx="1"/>
          </p:nvPr>
        </p:nvGraphicFramePr>
        <p:xfrm>
          <a:off x="457200" y="2597467"/>
          <a:ext cx="8229600" cy="43815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c25cdd8644.png" id="0" name="Picture 1"/>
          <p:cNvPicPr>
            <a:picLocks noGrp="1" noChangeAspect="1"/>
          </p:cNvPicPr>
          <p:nvPr/>
        </p:nvPicPr>
        <p:blipFill>
          <a:blip r:embed="rId3"/>
          <a:stretch>
            <a:fillRect/>
          </a:stretch>
        </p:blipFill>
        <p:spPr bwMode="auto">
          <a:xfrm>
            <a:off x="457200" y="1798439"/>
            <a:ext cx="8229600" cy="2095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170140be31.png" id="0" name="Picture 1"/>
          <p:cNvPicPr>
            <a:picLocks noGrp="1" noChangeAspect="1"/>
          </p:cNvPicPr>
          <p:nvPr/>
        </p:nvPicPr>
        <p:blipFill>
          <a:blip r:embed="rId3"/>
          <a:stretch>
            <a:fillRect/>
          </a:stretch>
        </p:blipFill>
        <p:spPr bwMode="auto">
          <a:xfrm>
            <a:off x="1784434" y="1166099"/>
            <a:ext cx="5575131"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 (FP)</a:t>
            </a:r>
            <a:r>
              <a:rPr/>
              <a:t>: we replace a healthy drive. A technician’s hour, €140</a:t>
            </a:r>
          </a:p>
          <a:p>
            <a:pPr lvl="0"/>
            <a:r>
              <a:rPr b="1"/>
              <a:t>False negative (FN)</a:t>
            </a:r>
            <a:r>
              <a:rPr/>
              <a:t>: a drive dies in service. Callout, rebuild, risk, €2,600</a:t>
            </a:r>
          </a:p>
          <a:p>
            <a:pPr lvl="0"/>
            <a:r>
              <a:rPr/>
              <a:t>Both costs are assumptions supplied from outside the data, not measured</a:t>
            </a:r>
          </a:p>
          <a:p>
            <a:pPr lvl="0"/>
            <a:r>
              <a:rPr b="1"/>
              <a:t>True positive (TP)</a:t>
            </a:r>
            <a:r>
              <a:rPr/>
              <a:t> and </a:t>
            </a:r>
            <a:r>
              <a:rPr b="1"/>
              <a:t>true negative (TN)</a:t>
            </a:r>
            <a:r>
              <a:rPr/>
              <a:t>, the right calls, count as €0: each cost is what the error adds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 2PR ÷ (P + R):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551109" y="1166099"/>
            <a:ext cx="8041781"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curves disagree</a:t>
            </a:r>
          </a:p>
        </p:txBody>
      </p:sp>
      <p:sp>
        <p:nvSpPr>
          <p:cNvPr id="3" name="Content Placeholder 2"/>
          <p:cNvSpPr>
            <a:spLocks noGrp="1"/>
          </p:cNvSpPr>
          <p:nvPr>
            <p:ph idx="1"/>
          </p:nvPr>
        </p:nvSpPr>
        <p:spPr>
          <a:xfrm>
            <a:off x="457200" y="1200151"/>
            <a:ext cx="8229600" cy="3394472"/>
          </a:xfrm>
        </p:spPr>
        <p:txBody>
          <a:bodyPr/>
          <a:lstStyle/>
          <a:p>
            <a:pPr lvl="0"/>
            <a:r>
              <a:rPr/>
              <a:t>Recall, shared by both curves: TP ÷ (TP + FN), all failures, thinned together: </a:t>
            </a:r>
            <a:r>
              <a:rPr b="1"/>
              <a:t>stays put</a:t>
            </a:r>
          </a:p>
          <a:p>
            <a:pPr lvl="0"/>
            <a:r>
              <a:rPr/>
              <a:t>False positive rate (FPR), the ROC’s: FP ÷ (FP + TN), over </a:t>
            </a:r>
            <a:r>
              <a:rPr b="1"/>
              <a:t>all 57,575 healthy drives</a:t>
            </a:r>
            <a:r>
              <a:rPr/>
              <a:t>, untouched: 0.0053</a:t>
            </a:r>
          </a:p>
          <a:p>
            <a:pPr lvl="0"/>
            <a:r>
              <a:rPr/>
              <a:t>Precision, the other curve’s: TP ÷ (TP + FP); FP </a:t>
            </a:r>
            <a:r>
              <a:rPr b="1"/>
              <a:t>stays 304</a:t>
            </a:r>
            <a:r>
              <a:rPr/>
              <a:t>, TP falls from 1,127 to 106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first? Precision-recall: how many alarms are real?</a:t>
            </a:r>
          </a:p>
          <a:p>
            <a:pPr lvl="0"/>
            <a:r>
              <a:rPr/>
              <a:t>On imbalanced data report the </a:t>
            </a:r>
            <a:r>
              <a:rPr b="1"/>
              <a:t>precision-recall curve beside the AUC</a:t>
            </a:r>
          </a:p>
          <a:p>
            <a:pPr lvl="0"/>
            <a:r>
              <a:rPr b="1"/>
              <a:t>Average precision (AP)</a:t>
            </a:r>
            <a:r>
              <a:rPr/>
              <a:t>: the precision at each failure’s place in the ranking, averaged; Σₖ (Rₖ − Rₖ₋₁) × Pₖ</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r>
              <a:rPr/>
              <a:t>: what lesson 1 forbade</a:t>
            </a:r>
          </a:p>
          <a:p>
            <a:pPr lvl="0"/>
            <a:r>
              <a:rPr/>
              <a:t>Properly: choose it on a </a:t>
            </a:r>
            <a:r>
              <a:rPr b="1"/>
              <a:t>validation set</a:t>
            </a:r>
            <a:r>
              <a:rPr/>
              <a:t>, measure once on the test set (lesson 5)</a:t>
            </a:r>
          </a:p>
          <a:p>
            <a:pPr lvl="0"/>
            <a:r>
              <a:rPr/>
              <a:t>t* = 0.051, fixed before looking: €49,100 on the test set; 0.078, picked by looking: €45,540</a:t>
            </a:r>
          </a:p>
          <a:p>
            <a:pPr lvl="0"/>
            <a:r>
              <a:rPr b="1"/>
              <a:t>Deploy 0.051</a:t>
            </a:r>
            <a:r>
              <a:rPr/>
              <a:t>: 0.078’s €3,560 was found on the very drives it is measured 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b="1"/>
              <a:t>In effect it only lowers the threshold</a:t>
            </a:r>
            <a:r>
              <a:rPr/>
              <a:t>: at 0.5 the weighted model decides like the plain one at 0.038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853148" y="1166099"/>
            <a:ext cx="743770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 (optional)</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P(class k) = exp(zₖ) ÷ Σⱼ exp(zⱼ):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 (optional)</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 (optional)</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13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