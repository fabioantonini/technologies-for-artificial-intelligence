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and it is exactly the sin lesson 1 named. Today’s lesson ends up in the same place from a different direction, when we choose a decision threshold.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the proportion out loud,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reallocated sectors, spin retries, read error rate, temperature, hours in service.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in section 5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Steep in the middle, flat at both ends. Make the case that the flatness is the right behaviour, not a compromise - and be precise about what is diminishing. It is the total evidence z, not any one counter. Two units of log-odds from z = 0 take the probability from 0.50 to 0.88; the same two from z = 6 take it from 0.9975 to 0.9997, 178 times less.</a:t>
            </a:r>
          </a:p>
          <a:p>
            <a:pPr lvl="0" indent="0" marL="0">
              <a:buNone/>
            </a:pPr>
          </a:p>
          <a:p>
            <a:pPr lvl="0" indent="0" marL="0">
              <a:buNone/>
            </a:pPr>
            <a:r>
              <a:rPr/>
              <a:t>Expect someone to object that the previous figure says otherwise. That curve is drawn against raw reallocated sectors, not against z, so it is steepest at 13.2 and the first four sectors move it by only 0.03. Both pictures are right: the counters act on a log scale, and on that scale four sectors are worth +4.7 in log-odds, taking a drive from a 0.01% chance of failing to 1.3%. Handout section 1.1.</a:t>
            </a:r>
          </a:p>
          <a:p>
            <a:pPr lvl="0" indent="0" marL="0">
              <a:buNone/>
            </a:pPr>
          </a:p>
          <a:p>
            <a:pPr lvl="0" indent="0" marL="0">
              <a:buNone/>
            </a:pPr>
            <a:r>
              <a:rPr/>
              <a:t>Right: the same relationship inverted. This is the slide that explains WHY this particular curve and not some other S-shape.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In fifteen minutes that fact will be simultaneously the reason the sigmoid works and the reason squared error does not.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A coefficient of 1.80 means: a drive one standard deviation worse on that counter has exp(1.80), about six times, the odds of failing.</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are not admiring the estimates, we are marking them.</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An average drive has a 0.2% chance of failing in thirty days. For the model to reach an even bet - probability one half, log-odds zero - the evidence has to move the log-odds by more than six. Only badly degraded drives manage that.</a:t>
            </a:r>
          </a:p>
          <a:p>
            <a:pPr lvl="0" indent="0" marL="0">
              <a:buNone/>
            </a:pPr>
          </a:p>
          <a:p>
            <a:pPr lvl="0" indent="0" marL="0">
              <a:buNone/>
            </a:pPr>
            <a:r>
              <a:rPr/>
              <a:t>So the model will assign small probabilities to almost everything, and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and more interesting, which is what makes it worth ten minutes.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before any algebra. It is the whole idea, and once they have it the derivation is bookkeeping.</a:t>
            </a:r>
          </a:p>
          <a:p>
            <a:pPr lvl="0" indent="0" marL="0">
              <a:buNone/>
            </a:pPr>
          </a:p>
          <a:p>
            <a:pPr lvl="0" indent="0" marL="0">
              <a:buNone/>
            </a:pPr>
            <a:r>
              <a:rPr/>
              <a:t>Each drive contributes one factor: the probability the model gave to what actually occurred. Multiply across the fleet and you have the probability of the whole dataset under that setting of the parameters. Choose the setting that makes it largest.</a:t>
            </a:r>
          </a:p>
          <a:p>
            <a:pPr lvl="0" indent="0" marL="0">
              <a:buNone/>
            </a:pPr>
          </a:p>
          <a:p>
            <a:pPr lvl="0" indent="0" marL="0">
              <a:buNone/>
            </a:pPr>
            <a:r>
              <a:rPr/>
              <a:t>Two practical notes worth saying aloud. We take the logarithm because it turns the product into a sum, which differentiates one term at a time - and because with 8,000 factors below 1 the product is about 10 to the minus 1000, which a 64-bit float stores as exactly zero. Every real implementation works in log space, and not for elegance.</a:t>
            </a:r>
          </a:p>
          <a:p>
            <a:pPr lvl="0" indent="0" marL="0">
              <a:buNone/>
            </a:pPr>
          </a:p>
          <a:p>
            <a:pPr lvl="0" indent="0" marL="0">
              <a:buNone/>
            </a:pPr>
            <a:r>
              <a:rPr/>
              <a:t>Then negate, so we minimise as in lesson 3.</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Say the missing half rather than showing it: the cost J is the average of this over the m examples, one over m times the sum. Written out in full the formula reached the slide edge and came out at 26pt, smaller than the bullets on the slide before it.</a:t>
            </a:r>
          </a:p>
          <a:p>
            <a:pPr lvl="0" indent="0" marL="0">
              <a:buNone/>
            </a:pPr>
          </a:p>
          <a:p>
            <a:pPr lvl="0" indent="0" marL="0">
              <a:buNone/>
            </a:pPr>
            <a:r>
              <a:rPr/>
              <a:t>Do not derive it here - the handout, section 3, does it in full. Show it and read it.</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Prediction error times feature, averaged. Character for character the gradient of lesson 3, with a different model and a different cost function.</a:t>
            </a:r>
          </a:p>
          <a:p>
            <a:pPr lvl="0" indent="0" marL="0">
              <a:buNone/>
            </a:pPr>
          </a:p>
          <a:p>
            <a:pPr lvl="0" indent="0" marL="0">
              <a:buNone/>
            </a:pPr>
            <a:r>
              <a:rPr/>
              <a:t>The cancellation is worth showing on the board if there is appetite: the sigma times one-minus-sigma from the chain rule cancels against the one-over-sigma from the logarithm. Handout section 3.4 has it.</a:t>
            </a:r>
          </a:p>
          <a:p>
            <a:pPr lvl="0" indent="0" marL="0">
              <a:buNone/>
            </a:pPr>
          </a:p>
          <a:p>
            <a:pPr lvl="0" indent="0" marL="0">
              <a:buNone/>
            </a:pPr>
            <a:r>
              <a:rPr/>
              <a:t>If someone asks whether that is a coincidence: no. Both are generalised linear models fitted by maximum likelihood - Gaussian noise for regression, Bernoulli outcomes for classification - and the whole exponential family gives this form. They do not need that theory to use either method, but it is why the same gradient descent code, unchanged, trains both.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The gradient is what the optimiser actually uses. Squared error’s gradient through the sigmoid carries a factor p times one-minus-p - which is exactly the sigmoid derivative from ten minutes ago - and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hit it in the notebook. Convex does NOT mean there is a closed-form solution. Setting the gradient to zero gives X-transpose times sigma of Xw minus y equals zero, which is not linear in w - the sigmoid is in the way.</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 minutes.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almost every gold point - every drive that actually failed - is on the blue side of the line. At a threshold of 0.5 this model calls nearly the whole fleet healthy, including most of the drives that failed.</a:t>
            </a:r>
          </a:p>
          <a:p>
            <a:pPr lvl="0" indent="0" marL="0">
              <a:buNone/>
            </a:pPr>
          </a:p>
          <a:p>
            <a:pPr lvl="0" indent="0" marL="0">
              <a:buNone/>
            </a:pPr>
            <a:r>
              <a:rPr/>
              <a:t>Ask: is that a bad model? Take answers. Then say: the probabilities are fine. The threshold is a habit. Telling those two apart is the next two hours.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from the first ten minutes, coming back as an accuracy score.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with a positive rate pi,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is the antidote to the most reliable confusion in the lesson. Both metrics divide the true positives.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and one minus it is the false positive rate, which comes back in the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beta above 1 weights recall more, which is what you want here where misses cost nineteen times more.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we spent twenty minutes on.</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The cell to linger on is the threshold sweep table. Do not explain it first - let them read the columns and say what they see. Somebody will notice that accuracy barely moves. That is the moment to make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when the two errors cost the same AND the classes are balanced. Neither is true here, and neither is true in most real problems.</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because every alarm it drops was a possible false positive.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red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the same three thresholds from the last two slides, so they can see the correspondence.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true positive rate, which is recall under another name - the failures we catch. False positive rate - the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invariant under any monotone transformation of the scores.</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we will in ten minutes - AUC is not the check you want.</a:t>
            </a:r>
          </a:p>
          <a:p>
            <a:pPr lvl="0" indent="0" marL="0">
              <a:buNone/>
            </a:pPr>
          </a:p>
          <a:p>
            <a:pPr lvl="0" indent="0" marL="0">
              <a:buNone/>
            </a:pPr>
            <a:r>
              <a:rPr/>
              <a:t>Good place to mention calibration exists as a topic,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We keep every healthy drive in a fleet of 60,000 and thin the FAILURES until they are 0.4% instead of 3.8% - the direction reality moves in fraud, disease, hardware failure.</a:t>
            </a:r>
          </a:p>
          <a:p>
            <a:pPr lvl="0" indent="0" marL="0">
              <a:buNone/>
            </a:pPr>
          </a:p>
          <a:p>
            <a:pPr lvl="0" indent="0" marL="0">
              <a:buNone/>
            </a:pPr>
            <a:r>
              <a:rPr/>
              <a:t>Left: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the precision-recall curves are in three different worlds. Average precision falls from 0.706 to 0.361, and precision at the same threshold falls from 0.79 to 0.26 - two alarms in three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second predictable mistake of the lesson,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an hour ago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just named to them, this morning, on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rare example count as many, here about 25.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 reparameterisation of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Same caution for resampling and SMOTE - and it must happen inside the cross-validation fold, for the reasons lesson 2 gave about imputation.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Twenty minutes if the clock allows, otherwise show the pairs experiment and the imbalance comparison and leave the rest for them.</a:t>
            </a:r>
          </a:p>
          <a:p>
            <a:pPr lvl="0" indent="0" marL="0">
              <a:buNone/>
            </a:pPr>
          </a:p>
          <a:p>
            <a:pPr lvl="0" indent="0" marL="0">
              <a:buNone/>
            </a:pPr>
            <a:r>
              <a:rPr/>
              <a:t>The pairs experiment is the cell worth protecting if time is short: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normalises them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every metric on the slide depended on a threshold, and the threshold has an answer - C-FP over C-FP plus C-FN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30 October.</a:t>
            </a:r>
          </a:p>
          <a:p>
            <a:pPr lvl="0" indent="0" marL="0">
              <a:buNone/>
            </a:pPr>
          </a:p>
          <a:p>
            <a:pPr lvl="0" indent="0" marL="0">
              <a:buNone/>
            </a:pPr>
            <a:r>
              <a:rPr/>
              <a:t>Emphasise which part carries the marks. The classifier is a few lines and everyone will get it. The paragraph defending the threshold choice is where the learning is, and it is where the marks are.</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23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Label: did it fail within thirty days?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so </a:t>
            </a:r>
            <a:r>
              <a:rPr>
                <a:latin typeface="Courier"/>
              </a:rPr>
              <a:t>exp(coefficient)</a:t>
            </a:r>
            <a:r>
              <a:rPr/>
              <a:t> multiplies the </a:t>
            </a:r>
            <a:r>
              <a:rPr b="1"/>
              <a:t>odds</a:t>
            </a:r>
          </a:p>
          <a:p>
            <a:pPr lvl="0"/>
            <a:r>
              <a:rPr/>
              <a:t>Features standardised, so one unit = one standard deviation</a:t>
            </a:r>
          </a:p>
          <a:p>
            <a:pPr lvl="0"/>
            <a:r>
              <a:rPr/>
              <a:t>A coefficient of 1.80 means </a:t>
            </a:r>
            <a:r>
              <a:rPr b="1"/>
              <a:t>six times the odds</a:t>
            </a:r>
            <a:r>
              <a:rPr/>
              <a:t> of failing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base rate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an average drive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Maximum likelihood, in one sentence</a:t>
            </a:r>
          </a:p>
        </p:txBody>
      </p:sp>
      <p:sp>
        <p:nvSpPr>
          <p:cNvPr id="3" name="Content Placeholder 2"/>
          <p:cNvSpPr>
            <a:spLocks noGrp="1"/>
          </p:cNvSpPr>
          <p:nvPr>
            <p:ph idx="1"/>
          </p:nvPr>
        </p:nvSpPr>
        <p:spPr>
          <a:xfrm>
            <a:off x="457200" y="1200151"/>
            <a:ext cx="8229600" cy="3394472"/>
          </a:xfrm>
        </p:spPr>
        <p:txBody>
          <a:bodyPr/>
          <a:lstStyle/>
          <a:p>
            <a:pPr lvl="0"/>
            <a:r>
              <a:rPr/>
              <a:t>The model has a knob; each setting assigns a probability to what happened</a:t>
            </a:r>
          </a:p>
          <a:p>
            <a:pPr lvl="0"/>
            <a:r>
              <a:rPr b="1"/>
              <a:t>Turn the knob so that what actually happened is least surprising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gradient is the one you already know</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Fifteen lines of NumPy, then one line of scikit-learn</a:t>
            </a:r>
          </a:p>
          <a:p>
            <a:pPr lvl="0"/>
            <a:r>
              <a:rPr/>
              <a:t>Same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Precision </a:t>
            </a:r>
            <a:r>
              <a:rPr b="1"/>
              <a:t>0.768</a:t>
            </a:r>
            <a:r>
              <a:rPr/>
              <a:t>: of 56 drives flagged, 43 really failed</a:t>
            </a:r>
          </a:p>
          <a:p>
            <a:pPr lvl="0"/>
            <a:r>
              <a:rPr/>
              <a:t>Recall </a:t>
            </a:r>
            <a:r>
              <a:rPr b="1"/>
              <a:t>0.566</a:t>
            </a:r>
            <a:r>
              <a:rPr/>
              <a:t>: of 76 drives that failed, we found 43</a:t>
            </a:r>
          </a:p>
          <a:p>
            <a:pPr lvl="0"/>
            <a:r>
              <a:rPr/>
              <a:t>Specificity 0.993: of 1,924 healthy drives, we left 1,911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a:t>
                      </a:r>
                    </a:p>
                  </a:txBody>
                  <a:tcPr/>
                </a:tc>
                <a:tc>
                  <a:txBody>
                    <a:bodyPr/>
                    <a:lstStyle/>
                    <a:p>
                      <a:pPr lvl="0" indent="0" marL="0">
                        <a:buNone/>
                      </a:pPr>
                      <a:r>
                        <a:rPr/>
                        <a:t>Harmonic</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confusion matrix by hand, then from scikit-learn</a:t>
            </a:r>
          </a:p>
          <a:p>
            <a:pPr lvl="0"/>
            <a:r>
              <a:rPr/>
              <a:t>Then the threshold sweep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ROC by hand, the 200,000-pair experiment, the cost curve</a:t>
            </a:r>
          </a:p>
          <a:p>
            <a:pPr lvl="0"/>
            <a:r>
              <a:rPr/>
              <a:t>Then the multiclass matrix</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30 October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23 October 2026</vt:lpwstr>
  </property>
  <property fmtid="{D5CDD505-2E9C-101B-9397-08002B2CF9AE}" pid="3" name="subtitle">
    <vt:lpwstr>Technologies for Artificial Intelligence</vt:lpwstr>
  </property>
</Properties>
</file>