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54,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31,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- 3,606 divided by 8,000 is 45% of the fleet. Not a small negative number. A negative probability. And extend it slightly past the data, to 32 reallocated sectors, and it predicts more than 1 (notebook 1 prints the line; the worst drive has 28).</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sigma(0) = 0.50 to sigma(2) = 1 over (1 + e to the minus 2) = 0.88, a rise of 0.38; the same two units starting from z = 6 take it from sigma(6) = 0.9975 to sigma(8) = 0.9997, a rise of 0.0021 - 0.38 divided by 0.0021 is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(four sectors or fewer),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where 0.336 times the count equals 4.43: at 4.43 divided by 0.336 = 13.2 sectors. The flat start of slide 7 is the flat left end of slide 8, with sectors on the axis instead of z.</a:t>
            </a:r>
          </a:p>
          <a:p>
            <a:pPr lvl="0" indent="0" marL="0">
              <a:buNone/>
            </a:pPr>
          </a:p>
          <a:p>
            <a:pPr lvl="0" indent="0" marL="0">
              <a:buNone/>
            </a:pPr>
            <a:r>
              <a:rPr/>
              <a:t>Second, the flat start is a fault of the model, not a fact about the drives. A drive with a few sectors is not safe; the model cannot see it, because a straight line in the count gives every sector the same weight: the first adds as much to z as the twentieth. But the labels were generated from log(1 + count), which gives the first sectors the most weight (handout section 1.1). The handout’s figure in section 2.2 draws what the sectors add to z under each of the two. That is why the six-counter model of slide 12 onwards takes log(1 + count) as its input.</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 divided by 0.8 =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14. The bullet says “each feature will add” because there is no model yet: the coefficients, the weights w, arrive on slide 12, and slide 14 reads them;</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24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interpretation,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slide gives the reason, in two steps: first why evidence multiplies the odds, then what that looks like.</a:t>
            </a:r>
          </a:p>
          <a:p>
            <a:pPr lvl="0" indent="0" marL="0">
              <a:buNone/>
            </a:pPr>
          </a:p>
          <a:p>
            <a:pPr lvl="0" indent="0" marL="0">
              <a:buNone/>
            </a:pPr>
            <a:r>
              <a:rPr/>
              <a:t>First the word the figure’s legend uses. A reading is what one counter shows on one drive: a particular value, or range of values, of one feature - say “a high count of reallocated sectors”. For counting it is a yes-or-no fact: the drive shows it or it does not.</a:t>
            </a:r>
          </a:p>
          <a:p>
            <a:pPr lvl="0" indent="0" marL="0">
              <a:buNone/>
            </a:pPr>
          </a:p>
          <a:p>
            <a:pPr lvl="0" indent="0" marL="0">
              <a:buNone/>
            </a:pPr>
            <a:r>
              <a:rPr/>
              <a:t>Why evidence multiplies, by counting, before pointing at the figure. Take 1,000 drives at 50% risk: 500 will fail, 500 will not. They are imagined, all like the drive in question, only so that percentages become counts. Suppose a reading shows up on 60% of the failing drives and on 10% of the healthy ones - the two shares are an illustration, not measured on the fleet, and only their ratio, 6, matters. Among the drives that show it, 300 will fail and 50 will not; our drive shows it, so it is one of the 350. The odds, failing divided by healthy, go from 500 / 500 = 1 to 300 / 50 = 6. The reading is a sieve that keeps a share of each group, 0.6 of the failing drives and 0.1 of the healthy ones, so their ratio is multiplied by 0.6 / 0.1 = 6 whatever it was before - start from 950 and 50 and you get 570 and 5, odds 19 to 114. That ratio, P(reading | fail) divided by P(reading | healthy), is called the likelihood ratio, and it belongs to the reading, not to the drive: that is Bayes’ rule written with odds. The probability cannot be multiplied the same way: it is failing divided by failing plus healthy, both groups sit in its denominator, shrunk by different shares, so its change depends on where it started. The figure takes the multiplication as given and shows the consequence.</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one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base rate: the fleet’s log-odds before any reading, log(306 / 7,694) = -3.22. Centre the features and the constant parts of those steps fold, with the base rate, into one number: the intercept b = -6.20, the log-odds of the average drive, not of a drive drawn at random. A starting value plus one step per feature is exactly w-transpose-x plus b, which is why slide 11 puts the line on the log-odds. Six is a realistic factor: the coefficient of reallocated sectors used to generate the labels is 1.80 per standard deviation, and e to the 1.80 is 6.05 (slide 14 reads coefficients this way; slide 15 shows the true ones).</a:t>
            </a:r>
          </a:p>
          <a:p>
            <a:pPr lvl="0" indent="0" marL="0">
              <a:buNone/>
            </a:pPr>
          </a:p>
          <a:p>
            <a:pPr lvl="0" indent="0" marL="0">
              <a:buNone/>
            </a:pPr>
            <a:r>
              <a:rPr/>
              <a:t>Two predictable slips. “The intercept is the risk before looking at the counters”: that is the base rate, 3.8%; the intercept is the average drive’s log-odds, 0.2% (slide 16). The difference comes from the tail: the failures are the drives with bad telemetry, not the average one. And “logistic regression assumes the counters are independent”: independence given the class only motivates why evidence adds on the log-odds scale. Fitting the model does not need it; correlated counters share the weight through their coefficients.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a log-odds of +2.20 gives back 1 over (1 plus e to the minus 2.2) = 1 over (1 + 0.111) = 0.90. Going the other way, a probability of 0.90 is odds of 0.9 divided by 0.1 = 9, and log 9 = 2.20. A log-odds of 0 gives back exactly a half.</a:t>
            </a:r>
          </a:p>
          <a:p>
            <a:pPr lvl="0" indent="0" marL="0">
              <a:buNone/>
            </a:pPr>
          </a:p>
          <a:p>
            <a:pPr lvl="0" indent="0" marL="0">
              <a:buNone/>
            </a:pPr>
            <a:r>
              <a:rPr/>
              <a:t>The handout runs the same algebra in the other direction, from the sigmoid to the log-odds, in section 2.3.</a:t>
            </a:r>
          </a:p>
          <a:p>
            <a:pPr lvl="0" indent="0" marL="0">
              <a:buNone/>
            </a:pPr>
          </a:p>
          <a:p>
            <a:pPr lvl="0" indent="0" marL="0">
              <a:buNone/>
            </a:pPr>
            <a:r>
              <a:rPr/>
              <a:t>Two predictable slips, worth correcting as soon as you hear them. First, p is not a vague “probability that the drive has problems”: it is P(y = 1 | x), the probability that this drive fails within thirty days, given its six counters. Second, the line has the same form as lesson 3’s, but it is not fitted by least squares: w and b are chosen by maximum likelihood, which slides 17 to 22 build.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The second line carries the three properties we will use, each needed later; name them without deriving them here - the handout section 2.2 does that. Sigma of 0 is a half: that is why a probability of 0.5 is z = 0, the decision boundary of slide 28. Sigma of minus z is 1 minus sigma of z: the probability of staying healthy is the same curve read from the other side, which gives the y = 0 term of the log loss (slide 24). And the derivative is sigma times one minus sigma.</a:t>
            </a:r>
          </a:p>
          <a:p>
            <a:pPr lvl="0" indent="0" marL="0">
              <a:buNone/>
            </a:pPr>
          </a:p>
          <a:p>
            <a:pPr lvl="0" indent="0" marL="0">
              <a:buNone/>
            </a:pPr>
            <a:r>
              <a:rPr/>
              <a:t>That last one is the one to flag. It is largest in the middle, at sigma = 0.5, where it is 0.5 times 0.5 = one quarter, and it decays to zero at both ends. That one fact does two jobs later. It is why the sigmoid behaves well: flat ends mean that once the model is sure, extra evidence changes little (slide 8). And it is why squared error fails with it: slide 26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model as the previous slide, drawn instead of written. Each counter x is multiplied by its weight w, the products are added together with b - drawn as the weight on a constant input of 1 - and the sum z goes through the sigmoid. Out comes p, the probability that the drive fails.</a:t>
            </a:r>
          </a:p>
          <a:p>
            <a:pPr lvl="0" indent="0" marL="0">
              <a:buNone/>
            </a:pPr>
          </a:p>
          <a:p>
            <a:pPr lvl="0" indent="0" marL="0">
              <a:buNone/>
            </a:pPr>
            <a:r>
              <a:rPr/>
              <a:t>This diagram has a history. In 1958 Frank Rosenblatt published the perceptron: the same weigh-and-add, followed by a hard step instead of the sigmoid, so its output was a label, 0 or 1, and never a probability. It also learned by its own rule, adjusting the weights only after a mistake, where logistic regression minimises log loss. Lesson 1 told that story; lesson 9 picks it up again.</a:t>
            </a:r>
          </a:p>
          <a:p>
            <a:pPr lvl="0" indent="0" marL="0">
              <a:buNone/>
            </a:pPr>
          </a:p>
          <a:p>
            <a:pPr lvl="0" indent="0" marL="0">
              <a:buNone/>
            </a:pPr>
            <a:r>
              <a:rPr/>
              <a:t>Say the point plainly: logistic regression is one neuron. A neural network, lesson 9, is many of these units side by side and one after another. Nothing on this slide is new mathematics; what is new is the picture, and it is the building block of everything in the last two lessons.</a:t>
            </a:r>
          </a:p>
          <a:p>
            <a:pPr lvl="0" indent="0" marL="0">
              <a:buNone/>
            </a:pPr>
          </a:p>
          <a:p>
            <a:pPr lvl="0" indent="0" marL="0">
              <a:buNone/>
            </a:pPr>
            <a:r>
              <a:rPr/>
              <a:t>A predictable slip: “the perceptron is logistic regression”. Same diagram, different squash and different training. The step’s slope is 0 everywhere except at z = 0, where it has none, so it gives gradient descent nothing to follow; the smooth sigmoid does.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The vocabulary first, then two bullets, each in two halves.</a:t>
            </a:r>
          </a:p>
          <a:p>
            <a:pPr lvl="0" indent="0" marL="0">
              <a:buNone/>
            </a:pPr>
          </a:p>
          <a:p>
            <a:pPr lvl="0" indent="0" marL="0">
              <a:buNone/>
            </a:pPr>
            <a:r>
              <a:rPr/>
              <a:t>First bullet: the vocabulary. The coefficients are the numbers w1 to w6 of slide 12’s equation, one per feature; machine learning calls them weights, and scikit-learn stores them in coef_. The constant b is the intercept, in intercept_; neural networks call it the bias (lesson 9). Warn now about one collision: the “class weights” of slides 55 to 57 are something else - how much each training example counts in the cost - and not these w.</a:t>
            </a:r>
          </a:p>
          <a:p>
            <a:pPr lvl="0" indent="0" marL="0">
              <a:buNone/>
            </a:pPr>
          </a:p>
          <a:p>
            <a:pPr lvl="0" indent="0" marL="0">
              <a:buNone/>
            </a:pPr>
            <a:r>
              <a:rPr/>
              <a:t>Second bullet, its first half: why “standardised” comes first. A coefficient says how much z grows when its feature rises by one unit, and the raw units differ - a sector, a degree, an hour in service - so raw coefficients cannot be compared. StandardScaler (lesson 3) rescales every feature to mean 0 and standard deviation 1: from then on, one unit means one standard deviation for every feature, and the coefficients can be compared with each other.</a:t>
            </a:r>
          </a:p>
          <a:p>
            <a:pPr lvl="0" indent="0" marL="0">
              <a:buNone/>
            </a:pPr>
          </a:p>
          <a:p>
            <a:pPr lvl="0" indent="0" marL="0">
              <a:buNone/>
            </a:pPr>
            <a:r>
              <a:rPr/>
              <a:t>Say what one standard deviation means for this counter, because it is not “one sector more”. Go in four steps; handout section 2.4 has them with tables. One: the model does not see the count x but log(1 + x), standardised, so reallocated sectors contribute 1.80 times (log(1 + x) minus 0.96) divided by 0.62 to z, where 0.96 and 0.62 are the mean and the standard deviation of log(1 + x) over the fleet. Two: one standard deviation more is therefore 0.62 more on log(1 + x), not one sector more. Three: adding 0.62 to a logarithm multiplies what is inside it by e to the 0.62 = 1.86, so 1 + x goes from 2 to 3.7 (1 sector to 2.7), from 5 to 9.3 (4 to 8.3), from 11 to 20.5 (10 to 19.5): roughly, the count doubles, and each such step multiplies the odds by the same 6.05. Four, the consequence: one extra sector is worth a lot at the start and little later. From 0 to 1 sector the odds are multiplied by 7.5, from 1 to 2 by 3.2, from 4 to 5 by 1.7, from 10 to 11 by 1.3. Temperature and hours are standardised on their own values, so for them one standard deviation is an ordinary additive step.</a:t>
            </a:r>
          </a:p>
          <a:p>
            <a:pPr lvl="0" indent="0" marL="0">
              <a:buNone/>
            </a:pPr>
          </a:p>
          <a:p>
            <a:pPr lvl="0" indent="0" marL="0">
              <a:buNone/>
            </a:pPr>
            <a:r>
              <a:rPr/>
              <a:t>Second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Third bullet, its first half: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its second half: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a probability of 0.90 is odds of 0.9 divided by 0.1 = 9; multiplied by 5 that gives odds of 45, which is a probability of 45 divided by 46 =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14.</a:t>
            </a:r>
          </a:p>
          <a:p>
            <a:pPr lvl="0" indent="0" marL="0">
              <a:buNone/>
            </a:pPr>
          </a:p>
          <a:p>
            <a:pPr lvl="0" indent="0" marL="0">
              <a:buNone/>
            </a:pPr>
            <a:r>
              <a:rPr/>
              <a:t>Go down the column. Everything is close. Nothing is exact, and say why - 6,000 training drives carrying 230 failures (306 in the fleet minus the 76 kept for the test set)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exp(0.02) = 1.02.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Start with what x = 0 means. The intercept is the value of the log-odds when every x is 0 - but the x are standardised (slide 14), so x = 0 is not a drive with no sectors and no errors: it is a drive sitting exactly at the fleet average on every counter.</a:t>
            </a:r>
          </a:p>
          <a:p>
            <a:pPr lvl="0" indent="0" marL="0">
              <a:buNone/>
            </a:pPr>
          </a:p>
          <a:p>
            <a:pPr lvl="0" indent="0" marL="0">
              <a:buNone/>
            </a:pPr>
            <a:r>
              <a:rPr/>
              <a:t>Then say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18 to 22 first build, on three drives, the cost that logistic regression does minimise; slide 26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17 -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12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a:p>
            <a:pPr lvl="0" indent="0" marL="0">
              <a:buNone/>
            </a:pPr>
          </a:p>
          <a:p>
            <a:pPr lvl="0" indent="0" marL="0">
              <a:buNone/>
            </a:pPr>
            <a:r>
              <a:rPr/>
              <a:t>A predictable slip: reading B’s 0.1 as “the probability of what happened to B”. It is not. p is the probability of FAILING for every drive, including the two that stayed healthy; the probability of what happened to B is 1 - 0.1 = 0.9, and that conversion is exactly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a:p>
            <a:pPr lvl="0" indent="0" marL="0">
              <a:buNone/>
            </a:pPr>
          </a:p>
          <a:p>
            <a:pPr lvl="0" indent="0" marL="0">
              <a:buNone/>
            </a:pPr>
            <a:r>
              <a:rPr/>
              <a:t>A predictable slip: describing this slide as “the probability of failing for the three drives”. The last column is the probability of WHAT HAPPENED - of failing for A, of staying healthy for B and C. And the multiplication needs its condition said aloud: the drives must be independent, as two coin tosses are, for the probability of all three outcomes to be the product.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a:p>
            <a:pPr lvl="0" indent="0" marL="0">
              <a:buNone/>
            </a:pPr>
          </a:p>
          <a:p>
            <a:pPr lvl="0" indent="0" marL="0">
              <a:buNone/>
            </a:pPr>
            <a:r>
              <a:rPr/>
              <a:t>A predictable slip of language: calling the top line “the likelihood of one example”. It is one drive’s factor, the probability of what happened to that drive. The likelihood is the product on the bottom line, read as a function of w and b with the data held fixed - which is why it is written L(w, b).</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a second setting at all: 0.576 on its own means nothing - there is no scale on which it is “high” or “low”. A likelihood is only useful as a comparison between settings, so we need a second one to compare against.</a:t>
            </a:r>
          </a:p>
          <a:p>
            <a:pPr lvl="0" indent="0" marL="0">
              <a:buNone/>
            </a:pPr>
          </a:p>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0.576 divided by 0.060 =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 It is two moves, and each has its own reason - the line above the table says both.</a:t>
            </a:r>
          </a:p>
          <a:p>
            <a:pPr lvl="0" indent="0" marL="0">
              <a:buNone/>
            </a:pPr>
          </a:p>
          <a:p>
            <a:pPr lvl="0" indent="0" marL="0">
              <a:buNone/>
            </a:pPr>
            <a:r>
              <a:rPr/>
              <a:t>Why the logarithm. Three reasons, in this order. First, it does not change the winner: the log is increasing, so the setting with the larger likelihood also has the larger log-likelihood - 0.576 beats 0.060, and log 0.576 = -0.55 beats log 0.060 = -2.81. Any increasing function would keep the winner; the log is chosen because, second, it turns the product into a sum: log of a times b times c is log a plus log b plus log c, so each drive contributes its own term, and a sum differentiates one term at a time - that is where slide 25’s gradient comes from. Third, it makes the computation possible at all. Notebook 1’s gradient descent starts with every coefficient and the intercept at zero, so z is 0 for every drive and every p is 0.5. 0.5 multiplied by itself 6,000 times, once per training drive, is 10 to the power 6,000 times log10 of 0.5 = 6,000 times minus 0.301 = minus 1806, while the smallest positive number a 64-bit float can hold is about 5 times 10 to the minus 324. The computer would store exactly zero.</a:t>
            </a:r>
          </a:p>
          <a:p>
            <a:pPr lvl="0" indent="0" marL="0">
              <a:buNone/>
            </a:pPr>
          </a:p>
          <a:p>
            <a:pPr lvl="0" indent="0" marL="0">
              <a:buNone/>
            </a:pPr>
            <a:r>
              <a:rPr/>
              <a:t>The point to stress: the logarithm is a convenience, not a new assumption. The best setting is the same with it or without it.</a:t>
            </a:r>
          </a:p>
          <a:p>
            <a:pPr lvl="0" indent="0" marL="0">
              <a:buNone/>
            </a:pPr>
          </a:p>
          <a:p>
            <a:pPr lvl="0" indent="0" marL="0">
              <a:buNone/>
            </a:pPr>
            <a:r>
              <a:rPr/>
              <a:t>Why the minus. A probability is at most 1, so its logarithm is at most 0. The minus makes every term 0 or more and reverses the order, so the better setting now has the SMALLER number - 0.55 against 2.81 - and we minimise, as gradient descent does. Read the sum: because the log of a product is the sum of the logs, 0.55 is minus the log of 0.576, and 2.81 is minus the log of 0.060.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A predictable slip: calling setting 1 “the maximum” and 0.55 “the minimum cost”. Setting 1 only beats setting 2; other choices of w and b would surely make these three outcomes more probable still. The maximum likelihood over every possible (w, b) - the same point as the minimum cost - is what fitting finds.</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draws the surprise of one drive, and slide 24 writes it as a formula, the loss L, with J, its average over the drives, under it.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22’s numbers, drawn. The horizontal axis is the probability the model gave to what actually happened - the factors of slides 19 and 21. The vertical axis is minus the log of it: the surprise.</a:t>
            </a:r>
          </a:p>
          <a:p>
            <a:pPr lvl="0" indent="0" marL="0">
              <a:buNone/>
            </a:pPr>
          </a:p>
          <a:p>
            <a:pPr lvl="0" indent="0" marL="0">
              <a:buNone/>
            </a:pPr>
            <a:r>
              <a:rPr/>
              <a:t>Read the curve from right to left. Something the model was sure of, p = 1, costs nothing: minus log 1 is 0. As p falls the surprise grows, slowly at first and then without limit: something the model called impossible costs infinity.</a:t>
            </a:r>
          </a:p>
          <a:p>
            <a:pPr lvl="0" indent="0" marL="0">
              <a:buNone/>
            </a:pPr>
          </a:p>
          <a:p>
            <a:pPr lvl="0" indent="0" marL="0">
              <a:buNone/>
            </a:pPr>
            <a:r>
              <a:rPr/>
              <a:t>Now the six dots. Setting 1’s factors, 0.8, 0.9 and 0.8, sit on the flat right-hand part: small surprises, 0.22 + 0.11 + 0.22 = 0.55 in all. Setting 2’s, 0.3, 0.4 and 0.5, sit higher up: 1.20 + 0.92 + 0.69 = 2.81. The highest dot is drive A under setting 2: it failed, and setting 2 had given its failure only 0.3, so minus log 0.3 = 1.20.</a:t>
            </a:r>
          </a:p>
          <a:p>
            <a:pPr lvl="0" indent="0" marL="0">
              <a:buNone/>
            </a:pPr>
          </a:p>
          <a:p>
            <a:pPr lvl="0" indent="0" marL="0">
              <a:buNone/>
            </a:pPr>
            <a:r>
              <a:rPr/>
              <a:t>Why it is called surprise: minus log p behaves the way surprise does. Zero when the model was certain and was right (minus log 1 = 0); large when it had called the outcome unlikely (minus log 0.001 = 6.9); infinite when it had called it impossible. And for independent outcomes the surprises add up, because the log of a product is the sum of the logs - which is why three drives cost the sum of their three surprises. The name comes from information theory, Shannon’s work, and is not examinable. The useful reading: the cost is the model’s average surprise at what really happened, and fitting makes the data as unsurprising as possible - the same thing as making it as likely as possible.</a:t>
            </a:r>
          </a:p>
          <a:p>
            <a:pPr lvl="0" indent="0" marL="0">
              <a:buNone/>
            </a:pPr>
          </a:p>
          <a:p>
            <a:pPr lvl="0" indent="0" marL="0">
              <a:buNone/>
            </a:pPr>
            <a:r>
              <a:rPr/>
              <a:t>The curve is the cost of one drive, which the next slide writes as a formula: the loss L.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lines, and the difference between them matters. The top line is the loss on ONE example, L; p is the predicted probability, the same number the next slide writes as y-hat. The bottom line is the cost J: the average of L over the m training examples, each with its own p, the model’s probability for drive i. J is what fitting minimises, and it is the J whose gradient slide 25 takes. Written in terms of L it fits; the handout, section 3, writes it out in full.</a:t>
            </a:r>
          </a:p>
          <a:p>
            <a:pPr lvl="0" indent="0" marL="0">
              <a:buNone/>
            </a:pPr>
          </a:p>
          <a:p>
            <a:pPr lvl="0" indent="0" marL="0">
              <a:buNone/>
            </a:pPr>
            <a:r>
              <a:rPr/>
              <a:t>Nothing new to derive: this is slides 18 to 22 written for one drive in symbols. Check it on drive B of slide 18: y = 0 and p = 0.1, so the first term vanishes and L = -log(1 - 0.1) = -log 0.9 = 0.11, the number slide 22 gave B under setting 1. The handout, section 3, does it for m drives in full.</a:t>
            </a:r>
          </a:p>
          <a:p>
            <a:pPr lvl="0" indent="0" marL="0">
              <a:buNone/>
            </a:pPr>
          </a:p>
          <a:p>
            <a:pPr lvl="0" indent="0" marL="0">
              <a:buNone/>
            </a:pPr>
            <a:r>
              <a:rPr/>
              <a:t>The interpretation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 predictable slip: “with y = 1 the second term is 0 times log 0, which is 0 times minus infinity”. The coefficient is 1 - y, but the logarithm’s argument is 1 - p, the model’s probability - and p = sigma(z) lies strictly between 0 and 1, so log(1 - p) is finite and 0 times it is 0. Only p exactly 1 would give log 0, and the sigmoid never reaches it. In a computer p can round to 1.0 when z is large, which is why code clips p into [epsilon, 1 - epsilon]: notebook 1 adds 1e-12 inside the log, and scikit-learn’s log_loss clips too.</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formulas say,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The second line is the intercept’s, and it is the same formula with x_j = 1: slide 13 drew b as the weight on a constant input of 1. So the gradient with respect to b is simply the average error. If the model over-predicts failure on average, b goes down. Notebook 1’s code has one line for each: w moves by the learning rate times X-transpose times the errors over m, b by the learning rate times the mean error.</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12 - which is why the title says so. The cost is different too: squared error there, log loss (slide 24)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12;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26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(0.0001 - 1) squared = 0.9998. An honest “don’t know” - 0.5 - costs (0.5 - 1) squared = 0.25. So the worst possible answer is four times worse than a shrug. Log loss charges minus log 0.0001 = 9.2 against minus log 0.5 =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25). Squared error’s is 2(p - 1) times p times (1 - p): the chain rule through the sigmoid brings in its derivative, p times one-minus-p, from slide 12, and nothing cancels it. That factor goes to zero as p goes to zero.</a:t>
            </a:r>
          </a:p>
          <a:p>
            <a:pPr lvl="0" indent="0" marL="0">
              <a:buNone/>
            </a:pPr>
          </a:p>
          <a:p>
            <a:pPr lvl="0" indent="0" marL="0">
              <a:buNone/>
            </a:pPr>
            <a:r>
              <a:rPr/>
              <a:t>Say it as a sentence: the wronger the model gets, the less squared error asks it to change. Divide one gradient by the other: squared error’s is log loss’s times 2p(1 - p). At p = 0.001 that factor is 2 times 0.001 times 0.999 = 0.002, a five-hundredth.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a:p>
            <a:pPr lvl="0" indent="0" marL="0">
              <a:buNone/>
            </a:pPr>
          </a:p>
          <a:p>
            <a:pPr lvl="0" indent="0" marL="0">
              <a:buNone/>
            </a:pPr>
            <a:r>
              <a:rPr/>
              <a:t>A predictable slip, from the left panel alone: “log loss charges more, so gradient descent works better with it”. The size of a cost does not matter to gradient descent - multiply a cost by 100 and its minimum is in the same place. What matters is the gradient, the right panel: the push squared error gives dies away exactly when the model is confidently wrong, and log loss’s does not.</a:t>
            </a:r>
          </a:p>
          <a:p>
            <a:pPr lvl="0" indent="0" marL="0">
              <a:buNone/>
            </a:pPr>
          </a:p>
          <a:p>
            <a:pPr lvl="0" indent="0" marL="0">
              <a:buNone/>
            </a:pPr>
            <a:r>
              <a:rPr/>
              <a:t>A second predictable slip, from reading the two panels together: “log loss’s slope is minus 1 over p”. That is the slope of the LEFT blue curve, the derivative of minus log p with respect to p. The right panel differentiates with respect to z, the log-odds, and there log loss’s gradient is p - 1: size 1 - p, the straight line from 1 down to 0, as its legend says. The panel draws the SIZE of each gradient - the bars around “gradient” on its vertical axis. A third predictable slip follows from that: “the figure says 1 - p and the notebook p - 1, so one of them has the sign wrong”. Both are right: the gradient is p - 1, negative for a failed drive, which makes gradient descent raise z; its size is 1 - p. The full derivation, both labels and both costs, is in handout section 3.4. The chain rule joins the two panels: minus 1 over p, times the sigmoid’s derivative p(1 - p), gives minus (1 - p). The 1 over p cancels the sigmoid’s p, which is why log loss’s push does not die; squared error has no 1 over p to cancel it.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 Slide 26’s right panel already shows why, for one failed drive taken as a function of z. Far to the left squared error’s slope is 0 (the push that died), in the middle it is negative, far to the right it is 0 again. A convex function’s slope can only grow as z grows; this one falls and then rises, so the curve is not convex. The vanishing push and the lost convexity are the same fact.</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a:p>
            <a:pPr lvl="0" indent="0" marL="0">
              <a:buNone/>
            </a:pPr>
          </a:p>
          <a:p>
            <a:pPr lvl="0" indent="0" marL="0">
              <a:buNone/>
            </a:pPr>
            <a:r>
              <a:rPr/>
              <a:t>Someone will ask which algorithm scikit-learn uses. Not our gradient descent: the default is solver=“lbfgs”, limited-memory BFGS, a quasi-Newton method. It estimates the curvature of the cost from the last few gradients and uses it to choose both the direction and the length of each step, so there is no learning rate to set; on notebook 1’s data it stops after 15 iterations. And it does not minimise the log loss alone: the default adds an L2 penalty, as in lesson 3’s ridge, with C = 1 (C is the inverse of the penalty strength: the smaller C, the stronger the penalty). That penalty is why notebook 1’s from-scratch coefficients and scikit-learn’s differ in the second decimal; notebook 1 refits with penalty=None and the two agree. The default is wanted, not a bug: with classes a line separates perfectly, the unpenalised weights grow without limit (handout section 4.3), and lesson 5 chooses C by cross-validation.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separate model, fitted on two counters only - reallocated sectors and temperature - so that it can be drawn. It is not a slice of the six-counter model, which would need the other four counters fixed at some value. The white points are a random sample of 900 healthy training drives; every training failure is shown, so gold looks far more common than it is.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31 does better at the same 0.5, and still misses 33 of the 76 test failures.</a:t>
            </a:r>
          </a:p>
          <a:p>
            <a:pPr lvl="0" indent="0" marL="0">
              <a:buNone/>
            </a:pPr>
          </a:p>
          <a:p>
            <a:pPr lvl="0" indent="0" marL="0">
              <a:buNone/>
            </a:pPr>
            <a:r>
              <a:rPr/>
              <a:t>Ask: is that a bad model? Take answers. Then say: this plot cannot tell. It says nothing about whether the probabilities are calibrated; what it shows is that moving the threshold trades misses for false alarms without refitting anything. The threshold of 0.5 is a habit. Telling those two apart is the rest of the lesson.</a:t>
            </a:r>
          </a:p>
          <a:p>
            <a:pPr lvl="0" indent="0" marL="0">
              <a:buNone/>
            </a:pPr>
          </a:p>
          <a:p>
            <a:pPr lvl="0" indent="0" marL="0">
              <a:buNone/>
            </a:pPr>
            <a:r>
              <a:rPr/>
              <a:t>A predictable slip: “the drives above the line are flagged”. A line has two sides, not an above and a below: the model flags the side where w-transpose x plus b is positive, here the red side, to the right. The line is almost vertical because sectors weigh far more than temperature, which only tilts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after three on the decision boundary of the previous slide, which section 5 of the notebook draws live.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97.70 minus 96.20: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the 76 failures, 76 divided by 2,000 = 3.8% of the test set, are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1 - 0.038 = 96.2%. In some fraud problems, where the rate is one in a thousand, 1 - 0.001 = 99.9%.</a:t>
            </a:r>
          </a:p>
          <a:p>
            <a:pPr lvl="0" indent="0" marL="0">
              <a:buNone/>
            </a:pPr>
          </a:p>
          <a:p>
            <a:pPr lvl="0" indent="0" marL="0">
              <a:buNone/>
            </a:pPr>
            <a:r>
              <a:rPr/>
              <a:t>Accuracy is not wrong. It is answering a question nobody asked.</a:t>
            </a:r>
          </a:p>
          <a:p>
            <a:pPr lvl="0" indent="0" marL="0">
              <a:buNone/>
            </a:pPr>
          </a:p>
          <a:p>
            <a:pPr lvl="0" indent="0" marL="0">
              <a:buNone/>
            </a:pPr>
            <a:r>
              <a:rPr/>
              <a:t>The condition on the second bullet matters: accuracy counts every error the same, so even on a balanced fleet it is the wrong summary when a miss costs more than a false alarm - as here, slide 34.</a:t>
            </a:r>
          </a:p>
          <a:p>
            <a:pPr lvl="0" indent="0" marL="0">
              <a:buNone/>
            </a:pPr>
          </a:p>
          <a:p>
            <a:pPr lvl="0" indent="0" marL="0">
              <a:buNone/>
            </a:pPr>
            <a:r>
              <a:rPr/>
              <a:t>A predictable slip, the over-correction: “so accuracy is useless”. It is a number with a baseline. Read it against 1 minus pi, here 96.20%, and remember that alone it never says which errors were made.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a:p>
            <a:pPr lvl="0" indent="0" marL="0">
              <a:buNone/>
            </a:pPr>
          </a:p>
          <a:p>
            <a:pPr lvl="0" indent="0" marL="0">
              <a:buNone/>
            </a:pPr>
            <a:r>
              <a:rPr/>
              <a:t>The top-right cell is the price of the 43: 13 healthy drives flagged, false alarms.</a:t>
            </a:r>
          </a:p>
          <a:p>
            <a:pPr lvl="0" indent="0" marL="0">
              <a:buNone/>
            </a:pPr>
          </a:p>
          <a:p>
            <a:pPr lvl="0" indent="0" marL="0">
              <a:buNone/>
            </a:pPr>
            <a:r>
              <a:rPr/>
              <a:t>A predictable slip: “33 misses, so the model needs improving”. Perhaps, but that is not the first lever. The probabilities stay the same and 0.5 is a habit: a lower threshold catches more failures with the same model, at the price of more false alarms (slides 40 to 42, and the threshold derived from the costs, slide 53). The threshold trades one error for the other; only a better model reduces both.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37, treats them as identical. Only a cost, supplied from outside the data, distinguishes them.</a:t>
            </a:r>
          </a:p>
          <a:p>
            <a:pPr lvl="0" indent="0" marL="0">
              <a:buNone/>
            </a:pPr>
          </a:p>
          <a:p>
            <a:pPr lvl="0" indent="0" marL="0">
              <a:buNone/>
            </a:pPr>
            <a:r>
              <a:rPr/>
              <a:t>The fourth bullet answers the question someone will ask: does replacing a drive that really was failing cost nothing? It costs a technician’s hour, but a failing drive has to be replaced anyway, so the model did not cause that cost. Each figure is what the error adds over the right decision; correct decisions add nothing.</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FP divided by (TN + FP), which comes back as the horizontal axis of the receiver operating characteristic (ROC) curve, slide 44.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76 out of 76 = 1. Precision is 76 out of 2,000 = 0.038, because all 2,000 drives are flagged and 76 of them fail.</a:t>
            </a:r>
          </a:p>
          <a:p>
            <a:pPr lvl="0" indent="0" marL="0">
              <a:buNone/>
            </a:pPr>
          </a:p>
          <a:p>
            <a:pPr lvl="0" indent="0" marL="0">
              <a:buNone/>
            </a:pPr>
            <a:r>
              <a:rPr/>
              <a:t>The figure holds recall at 1 and lets precision run along the horizontal axis. The dashed rust line is the ordinary average, (P + 1) divided by 2: at the left edge, where our model sits, it gives (0.038 + 1) divided by 2 = 0.519, and it can never drop below one half however useless the model. Anyone scanning a results table would not blink at 0.519.</a:t>
            </a:r>
          </a:p>
          <a:p>
            <a:pPr lvl="0" indent="0" marL="0">
              <a:buNone/>
            </a:pPr>
          </a:p>
          <a:p>
            <a:pPr lvl="0" indent="0" marL="0">
              <a:buNone/>
            </a:pPr>
            <a:r>
              <a:rPr/>
              <a:t>The blue line is the harmonic mean, F1 = 2PR divided by (P + R), here 2P divided by (P + 1): 2 times 0.038 divided by 1.038 =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 The two lines meet only at the right edge, where both precision and recall are 1.</a:t>
            </a:r>
          </a:p>
          <a:p>
            <a:pPr lvl="0" indent="0" marL="0">
              <a:buNone/>
            </a:pPr>
          </a:p>
          <a:p>
            <a:pPr lvl="0" indent="0" marL="0">
              <a:buNone/>
            </a:pPr>
            <a:r>
              <a:rPr/>
              <a:t>A second reason, in counts: F1 = 2TP divided by (2TP + FP + FN), which is TP divided by TP plus the average of FP and FN. Precision and recall share the numerator TP and differ in the denominator, and for two such ratios the harmonic mean is the one that is still a ratio of drives: TP over the average denominator. Ours: 2 times 43 = 86, divided by 86 + 13 + 33 = 132, gives 0.652.</a:t>
            </a:r>
          </a:p>
          <a:p>
            <a:pPr lvl="0" indent="0" marL="0">
              <a:buNone/>
            </a:pPr>
          </a:p>
          <a:p>
            <a:pPr lvl="0" indent="0" marL="0">
              <a:buNone/>
            </a:pPr>
            <a:r>
              <a:rPr/>
              <a:t>A predictable slip: “at P = 0 the arithmetic mean is 0.5 and F1 is 0.073”. The 0.073 belongs to the flag-everything model, P = 0.038; at P = 0 exactly, F1 is 0.</a:t>
            </a:r>
          </a:p>
          <a:p>
            <a:pPr lvl="0" indent="0" marL="0">
              <a:buNone/>
            </a:pPr>
          </a:p>
          <a:p>
            <a:pPr lvl="0" indent="0" marL="0">
              <a:buNone/>
            </a:pPr>
            <a:r>
              <a:rPr/>
              <a:t>Mention F-beta in one sentence: a version of F1 with a weight beta, where beta above 1 counts recall more than precision. That suits this problem, where a miss costs about nineteen times a false alarm (2,600 divided by 140 = 18.6), and F2 is a common choice. A predictable slip: “a miss costs 19 times more, so pick a beta to match”. Beta is a preference, not the costs: nothing turns 18.6 into a beta. To act on the costs, derive the threshold from them, slide 53. Handout section 6.3.</a:t>
            </a:r>
          </a:p>
          <a:p>
            <a:pPr lvl="0" indent="0" marL="0">
              <a:buNone/>
            </a:pPr>
          </a:p>
          <a:p>
            <a:pPr lvl="0" indent="0" marL="0">
              <a:buNone/>
            </a:pPr>
            <a:r>
              <a:rPr/>
              <a:t>A predictable slip: “F2 multiplies recall by 2”. In the weighted harmonic mean it is recall’s reciprocal that gets the weight beta squared = 4, against 1 for precision’s: F2 = 5PR divided by (4P + R). Ours: 5 times 0.768 times 0.566 divided by (4 times 0.768 + 0.566) = 0.597, below F1 because recall is our weak side.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31 to 34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minority class directly, and the macro average when the classes should count equally. Reporting the weighted average is not incorrect - it is the number that makes a mediocre model look finished, and choosing it without saying so is how a result gets oversold.</a:t>
            </a:r>
          </a:p>
          <a:p>
            <a:pPr lvl="0" indent="0" marL="0">
              <a:buNone/>
            </a:pPr>
          </a:p>
          <a:p>
            <a:pPr lvl="0" indent="0" marL="0">
              <a:buNone/>
            </a:pPr>
            <a:r>
              <a:rPr/>
              <a:t>A predictable slip: “macro average is a new metric”. Macro and weighted are two ways of averaging over classes, and classification_report applies both to every column - precision, recall and F1. The weights of the weighted average are the support, the number of true drives in each class.</a:t>
            </a:r>
          </a:p>
          <a:p>
            <a:pPr lvl="0" indent="0" marL="0">
              <a:buNone/>
            </a:pPr>
          </a:p>
          <a:p>
            <a:pPr lvl="0" indent="0" marL="0">
              <a:buNone/>
            </a:pPr>
            <a:r>
              <a:rPr/>
              <a:t>Someone will ask why an arithmetic mean is fine here, one slide after F1 rejected it. Slide 37 combined two different quantities of one class; here it is the same metric on two classes, and the point is to give the rare class an equal voice.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47 names the property). Slide 53 derives the threshold from the costs, and it is 0.5 exactly when they are equal. Here a miss costs about nineteen times a false alarm (2,600 divided by 140 = 18.6),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2, the threshold sweep, five of its rows drawn as bars. Each pair of bars is one threshold: teal is the failures caught, out of the 76 in the test set; gold is the healthy drives flagged by mistake. On the right, the accuracy each threshold scores: right answers divided by 2,000.</a:t>
            </a:r>
          </a:p>
          <a:p>
            <a:pPr lvl="0" indent="0" marL="0">
              <a:buNone/>
            </a:pPr>
          </a:p>
          <a:p>
            <a:pPr lvl="0" indent="0" marL="0">
              <a:buNone/>
            </a:pPr>
            <a:r>
              <a:rPr/>
              <a:t>Lower the threshold - go up the figure: both bars grow. At 0.02 we catch 69 of 76 failures and replace 284 healthy drives to do it. At 0.90 there are no false alarms at all, and we catch 14 of 76, fewer than a quarter.</a:t>
            </a:r>
          </a:p>
          <a:p>
            <a:pPr lvl="0" indent="0" marL="0">
              <a:buNone/>
            </a:pPr>
          </a:p>
          <a:p>
            <a:pPr lvl="0" indent="0" marL="0">
              <a:buNone/>
            </a:pPr>
            <a:r>
              <a:rPr/>
              <a:t>Now the right-hand column, which is the slide’s real argument. For every threshold from 0.10 up to 0.90 it stays between 0.942 and 0.977, a range of 0.977 - 0.942 = 0.035, three and a half percentage points, while the teal bar shrinks from 61 to 14. And its maximum, in bold, is at 0.5 - the threshold that misses 76 - 43 = 33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gold bar loses 25 - 13 = 12 false alarms and the teal bar loses 53 - 43 = 10 caught failures. Accuracy gains 12 right answers and loses 10, two more in all, 0.976 to 0.977.</a:t>
            </a:r>
          </a:p>
          <a:p>
            <a:pPr lvl="0" indent="0" marL="0">
              <a:buNone/>
            </a:pPr>
          </a:p>
          <a:p>
            <a:pPr lvl="0" indent="0" marL="0">
              <a:buNone/>
            </a:pPr>
            <a:r>
              <a:rPr/>
              <a:t>Precision and recall at each threshold are in the handout’s table in section 7.1, computed with the formulas of slide 36.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- 76 failures divided by 2,000 drives = 0.038 here - at every recall. Count it: flag 500 drives at random and on average 500 times 0.038 = 19 of them fail, so precision is 19 divided by 500 = 0.038 and recall 19 divided by 76 = 0.25. Flag 1,000: 38 fail, precision 0.038 again, recall 0.50. Flagging more moves recall, never precision.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(AP),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a:p>
            <a:pPr lvl="0" indent="0" marL="0">
              <a:buNone/>
            </a:pPr>
          </a:p>
          <a:p>
            <a:pPr lvl="0" indent="0" marL="0">
              <a:buNone/>
            </a:pPr>
            <a:r>
              <a:rPr/>
              <a:t>Say what the ranking is before using the word: sort the 2,000 test drives by the probability the model gave them, highest first. Then a threshold is nothing but a place to cut that list - everything above the cut is flagged - and lowering the threshold moves the cut down. So a threshold-free evaluation does not throw the threshold away: it looks at every cut of the same list at once. The precision-recall curve of slide 42 was already a first step, every threshold on one curve.</a:t>
            </a:r>
          </a:p>
          <a:p>
            <a:pPr lvl="0" indent="0" marL="0">
              <a:buNone/>
            </a:pPr>
          </a:p>
          <a:p>
            <a:pPr lvl="0" indent="0" marL="0">
              <a:buNone/>
            </a:pPr>
            <a:r>
              <a:rPr/>
              <a:t>Two conditions to keep in mind, both coming back later: only the order counts, not the values of p, so a ranking measure cannot see calibration (slide 47); and the day the model is used, one cut still has to be chosen (slides 51-53).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a:p>
            <a:pPr lvl="0" indent="0" marL="0">
              <a:buNone/>
            </a:pPr>
          </a:p>
          <a:p>
            <a:pPr lvl="0" indent="0" marL="0">
              <a:buNone/>
            </a:pPr>
            <a:r>
              <a:rPr/>
              <a:t>Make the steps concrete. Walk down the ranking one drive at a time: a failing drive moves the curve up by 1/76, a healthy one moves it right by 1/1,924. A steep start means the top of the ranking is failures. The ideal curve goes straight up to (0, 1), then across. Every curve ends at (1, 1), so a curve that is steep at the start is flat at the end - and the area under it, next slide, measures exactly that. Check one point: threshold 0.5 gives TPR = 43 ÷ 76 = 0.57 and FPR = 13 ÷ 1,924 = 0.007.</a:t>
            </a:r>
          </a:p>
          <a:p>
            <a:pPr lvl="0" indent="0" marL="0">
              <a:buNone/>
            </a:pPr>
          </a:p>
          <a:p>
            <a:pPr lvl="0" indent="0" marL="0">
              <a:buNone/>
            </a:pPr>
            <a:r>
              <a:rPr/>
              <a:t>The sweep is the same as the precision-recall curve’s; the reading is not. The precision-recall curve’s ideal is the top-right corner, and precision divides by the alarms raised. The ROC’s ideal is the top-left corner, and FPR divides by the 1,924 healthy drives, so its random baseline is the diagonal whatever the class balance, against 0.038 for precision-recall. That denominator is why ROC can hide imbalance (slides 48-49).</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a:p>
            <a:pPr lvl="0" indent="0" marL="0">
              <a:buNone/>
            </a:pPr>
          </a:p>
          <a:p>
            <a:pPr lvl="0" indent="0" marL="0">
              <a:buNone/>
            </a:pPr>
            <a:r>
              <a:rPr/>
              <a:t>Which pairs, and why the two differ. The test set has 76 × 1,924 = 146,224 (failing, healthy) pairs. The exact AUC is the share of them in which the failing drive scores higher, a tie counting half: notebook 3 counts 7,409 pairs in the wrong order, and 1 − 7,409 ÷ 146,224 = 0.9493. So “probability” and “share of pairs” are the same number. The 200,000 random pairs are an estimate of that share, which is why they give 0.9488: sampling noise.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the scores the model gives the test drives, drawn as two histograms: teal for the 1,924 healthy drives, rust for the 76 that failed. Each group is scaled to add up to 1, so the two shapes can be compared although one group is 25 times the size of the other. The horizontal axis is logarithmic, because most healthy drives get scores of a thousandth or less.</a:t>
            </a:r>
          </a:p>
          <a:p>
            <a:pPr lvl="0" indent="0" marL="0">
              <a:buNone/>
            </a:pPr>
          </a:p>
          <a:p>
            <a:pPr lvl="0" indent="0" marL="0">
              <a:buNone/>
            </a:pPr>
            <a:r>
              <a:rPr/>
              <a:t>The rust sits far to the right of the teal: most failing drives get high scores, most healthy ones tiny scores. That separation is what the AUC measures. Pick one rust drive and one teal drive at random: the AUC, 0.949, is the chance that the rust one lies further right. Notebook 3 checks it by drawing 200,000 such pairs: 0.9488.</a:t>
            </a:r>
          </a:p>
          <a:p>
            <a:pPr lvl="0" indent="0" marL="0">
              <a:buNone/>
            </a:pPr>
          </a:p>
          <a:p>
            <a:pPr lvl="0" indent="0" marL="0">
              <a:buNone/>
            </a:pPr>
            <a:r>
              <a:rPr/>
              <a:t>The pairs the model gets wrong come from where the two colours overlap - a few failing drives with scores as low as many healthy ones. No threshold separates those, and the AUC counts them as the 5% it misses.</a:t>
            </a:r>
          </a:p>
          <a:p>
            <a:pPr lvl="0" indent="0" marL="0">
              <a:buNone/>
            </a:pPr>
          </a:p>
          <a:p>
            <a:pPr lvl="0" indent="0" marL="0">
              <a:buNone/>
            </a:pPr>
            <a:r>
              <a:rPr/>
              <a:t>Note what the figure does not show: where to put the threshold. Any vertical line splits it, and the AUC is the same whichever you pick - the next slide.</a:t>
            </a:r>
          </a:p>
          <a:p>
            <a:pPr lvl="0" indent="0" marL="0">
              <a:buNone/>
            </a:pPr>
          </a:p>
          <a:p>
            <a:pPr lvl="0" indent="0" marL="0">
              <a:buNone/>
            </a:pPr>
            <a:r>
              <a:rPr/>
              <a:t>A predictable slip: reading the heights as numbers of drives. They are shares of each group, each colour adding up to 1; as counts the 76 rust drives would be invisible next to the 1,924 teal ones. The reading is reasonable because a histogram usually counts. Notebook 3 converts back: the tallest rust bar, 0.342, is 26 drives; the tallest teal bar, 0.056, is 108. The low bar holds four times as many drives.</a:t>
            </a:r>
          </a:p>
          <a:p>
            <a:pPr lvl="0" indent="0" marL="0">
              <a:buNone/>
            </a:pPr>
          </a:p>
          <a:p>
            <a:pPr lvl="0" indent="0" marL="0">
              <a:buNone/>
            </a:pPr>
            <a:r>
              <a:rPr/>
              <a:t>Where the 5% comes from, counted in notebook 3: 7,409 of the 146,224 pairs are in the wrong order. A failing drive costs one wrong pair for every healthy drive scored above it, so a failure far to the left costs a lot: the lowest-scoring one (p = 0.0004) is outscored by 1,408 healthy drives, a fifth of all the wrong pairs by itself. The 5 worst failures make 61% of them; 19 failures score above every healthy drive and cost nothing.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slides 52-53 do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a:p>
            <a:pPr lvl="0" indent="0" marL="0">
              <a:buNone/>
            </a:pPr>
          </a:p>
          <a:p>
            <a:pPr lvl="0" indent="0" marL="0">
              <a:buNone/>
            </a:pPr>
            <a:r>
              <a:rPr/>
              <a:t>The 56: at threshold 0.5 the fitted model flags 43 + 13 = 56 drives. Divided by 10, the largest score is 0.100, so nothing reaches 0.5: recall 0, AUC still 0.949. The condition: this holds for any change that keeps the order, that is any strictly increasing one; a change that reverses the order turns the AUC into 1 − AUC. “Multiply by 10” would keep the AUC too, but the scores would stop being probabilities.</a:t>
            </a:r>
          </a:p>
          <a:p>
            <a:pPr lvl="0" indent="0" marL="0">
              <a:buNone/>
            </a:pPr>
          </a:p>
          <a:p>
            <a:pPr lvl="0" indent="0" marL="0">
              <a:buNone/>
            </a:pPr>
            <a:r>
              <a:rPr/>
              <a:t>The converse is worth one sentence, because it shows the two properties are independent: give every drive 0.038, the fleet’s failure rate. On average that is right - calibrated - and it ranks nothing: AUC 0.5 (notebook 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45. Different drives: 0.949 rests on the 76 failures of our 2,000-drive test set, 0.968 on a fleet thirty times larger. Both are estimates of the same ranking ability. The same goes for average precision: 0.706 on the large fleet, against slide 42’s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0.26 - 1 - 0.26 = 0.74, three alarms in four now false.</a:t>
            </a:r>
          </a:p>
          <a:p>
            <a:pPr lvl="0" indent="0" marL="0">
              <a:buNone/>
            </a:pPr>
          </a:p>
          <a:p>
            <a:pPr lvl="0" indent="0" marL="0">
              <a:buNone/>
            </a:pPr>
            <a:r>
              <a:rPr/>
              <a:t>Three curves on the left, one model, no problem. Three curves on the right, same model, a disaster. Let that sit for a second before explaining.</a:t>
            </a:r>
          </a:p>
          <a:p>
            <a:pPr lvl="0" indent="0" marL="0">
              <a:buNone/>
            </a:pPr>
          </a:p>
          <a:p>
            <a:pPr lvl="0" indent="0" marL="0">
              <a:buNone/>
            </a:pPr>
            <a:r>
              <a:rPr/>
              <a:t>The fleets, precisely: 60,000 drives are generated, all 57,575 healthy ones are kept, and only failures are discarded, so the three fleets hold 59,849, 58,157 and 57,806 drives. The counts behind the right panel, at threshold 0.5: the false alarms are 304 in all three fleets, the true alarms 1,127, 261 and 106. The next slide reads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 First say which two numbers the slide compares, and why: the two curves of slide 48 share one axis, recall, and differ in one axis each - the false positive rate on the ROC, precision on the precision-recall curve. Recall does not move, so the disagreement must come from FPR against precision. The three bullets go in that order.</a:t>
            </a:r>
          </a:p>
          <a:p>
            <a:pPr lvl="0" indent="0" marL="0">
              <a:buNone/>
            </a:pPr>
          </a:p>
          <a:p>
            <a:pPr lvl="0" indent="0" marL="0">
              <a:buNone/>
            </a:pPr>
            <a:r>
              <a:rPr/>
              <a:t>Both ROC axes are shares inside one class. Recall is a share of the failures, and thinning the failures at random leaves it where it was: 0.50, 0.45, 0.46 at threshold 0.5, noise around one value. FPR is a share of the healthy drives, which are not touched: 304 ÷ 57,575 = 0.0053 every time. So the ROC curve cannot move. Precision is the one number that mixes the classes: TP over TP + 304, with TP falling 1,127 → 261 → 106, so precision falls 0.788 → 0.462 → 0.259. In one formula, with π the positive rate: precision = R·π ÷ (R·π + FPR · (1 − π)). R and FPR are the ROC’s axes and stay put; only π moves. Check the rarest fleet: 0.459 × 0.004 ÷ (0.459 × 0.004 + 0.0053 × 0.996) = 0.26.</a:t>
            </a:r>
          </a:p>
          <a:p>
            <a:pPr lvl="0" indent="0" marL="0">
              <a:buNone/>
            </a:pPr>
          </a:p>
          <a:p>
            <a:pPr lvl="0" indent="0" marL="0">
              <a:buNone/>
            </a:pPr>
            <a:r>
              <a:rPr/>
              <a:t>Two predictable slips. First, “recall falls too, only more slowly”: it does not fall at all; TP and FN are both failures, thinned in the same proportion, and 0.50, 0.45, 0.46 is noise on few remaining failures. A related wording slip is calling FN “the false ones”: they are failures the model called healthy.</a:t>
            </a:r>
          </a:p>
          <a:p>
            <a:pPr lvl="0" indent="0" marL="0">
              <a:buNone/>
            </a:pPr>
          </a:p>
          <a:p>
            <a:pPr lvl="0" indent="0" marL="0">
              <a:buNone/>
            </a:pPr>
            <a:r>
              <a:rPr/>
              <a:t>Second, “precision falls because the false positives grow”. They do not - 304 in every fleet. What grows is their share of the alarms, 304 ÷ (1,127 + 304) = 0.21 at 3.8% and 304 ÷ (106 + 304) = 0.74 at 0.4%, which is 1 − precision. The slip is natural: “the false alarms take over” sounds like “there are more of them”.</a:t>
            </a:r>
          </a:p>
          <a:p>
            <a:pPr lvl="0" indent="0" marL="0">
              <a:buNone/>
            </a:pPr>
          </a:p>
          <a:p>
            <a:pPr lvl="0" indent="0" marL="0">
              <a:buNone/>
            </a:pPr>
            <a:r>
              <a:rPr/>
              <a:t>So ROC measures the false alarms against a population nobody experiences. The technician does not see the 57,000 drives left alone; they see the alarm queue.</a:t>
            </a:r>
          </a:p>
          <a:p>
            <a:pPr lvl="0" indent="0" marL="0">
              <a:buNone/>
            </a:pPr>
          </a:p>
          <a:p>
            <a:pPr lvl="0" indent="0" marL="0">
              <a:buNone/>
            </a:pPr>
            <a:r>
              <a:rPr/>
              <a:t>This is the lesson’s second big predictable mistake, after trusting accuracy on slide 31, and again defend the instinct: AUC is threshold-free, comparable across models, unmoved by the class balance.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The two measures answer two different questions, which is why neither replaces the other. AUC: does the model put the failures above the healthy drives? The precision-recall curve: of the alarms it raises, how many are real? On a balanced problem the answers travel together; on an imbalanced one the second can collapse while the first stands still, as slide 48 showed.</a:t>
            </a:r>
          </a:p>
          <a:p>
            <a:pPr lvl="0" indent="0" marL="0">
              <a:buNone/>
            </a:pPr>
          </a:p>
          <a:p>
            <a:pPr lvl="0" indent="0" marL="0">
              <a:buNone/>
            </a:pPr>
            <a:r>
              <a:rPr/>
              <a:t>Average precision, the idea first, as the bullet now says: every time the ranking reaches a failing drive, ask how clean the alarm queue is at that moment - the precision there - and average those precisions over the failures. That is where the name comes from. The formula says the same thing as an area: walk down the thresholds from the top; recall goes up only at a failing drive, by 1 ÷ 76 each time; take the precision at that point; add the precisions, each weighted by its recall step. The steps are all 1 ÷ 76, so the weighted sum is the plain average. Handout section 7.1 draws it for seven drives as three rectangles. Why a random ranking scores 0.038: its precision is the positive rate π at every recall (slide 42 counted it), so the weighted average of a constant is that constant, π = 76 ÷ 2,000. So AP is read against π, not against 0.5 - which is also why it travels across problems with different class balance badly, and must always be quoted with the positive rate beside it.</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34 - €140 for a needless replacement, €2,600 for a drive that dies in service.</a:t>
            </a:r>
          </a:p>
          <a:p>
            <a:pPr lvl="0" indent="0" marL="0">
              <a:buNone/>
            </a:pPr>
          </a:p>
          <a:p>
            <a:pPr lvl="0" indent="0" marL="0">
              <a:buNone/>
            </a:pPr>
            <a:r>
              <a:rPr/>
              <a:t>The curve is the total cost on the test set as the threshold moves: FP × 140 + FN × 2,600, the formula on the vertical axis. The default 0.5 costs 13 × 140 + 33 × 2,600 = 1,820 + 85,800 = €87,620. The cheapest, at 0.078, costs 121 × 140 + 11 × 2,600 = 16,940 + 28,600 = €45,540. Read the shape: going down from 0.5, each miss at €2,600 becomes a false alarm at €140, a good trade until false alarms pile up near 0; to the right the cost climbs towards doing nothing, 76 × 2,600 = €197,600. Each little step is one drive crossing the threshold.</a:t>
            </a:r>
          </a:p>
          <a:p>
            <a:pPr lvl="0" indent="0" marL="0">
              <a:buNone/>
            </a:pPr>
          </a:p>
          <a:p>
            <a:pPr lvl="0" indent="0" marL="0">
              <a:buNone/>
            </a:pPr>
            <a:r>
              <a:rPr/>
              <a:t>One condition to say now, because slide 54 comes back to it: 0.078 was found by looking at the test set. Properly it is chosen on a validation set (lesson 5).</a:t>
            </a:r>
          </a:p>
          <a:p>
            <a:pPr lvl="0" indent="0" marL="0">
              <a:buNone/>
            </a:pPr>
          </a:p>
          <a:p>
            <a:pPr lvl="0" indent="0" marL="0">
              <a:buNone/>
            </a:pPr>
            <a:r>
              <a:rPr/>
              <a:t>Choosing the threshold on purpose HALVED the cost of the same model: 45,540 divided by 87,620 is 0.52.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formula, the picture. The horizontal axis is one drive’s probability of failing, p; the vertical axis is the expected cost of each decision for that drive.</a:t>
            </a:r>
          </a:p>
          <a:p>
            <a:pPr lvl="0" indent="0" marL="0">
              <a:buNone/>
            </a:pPr>
          </a:p>
          <a:p>
            <a:pPr lvl="0" indent="0" marL="0">
              <a:buNone/>
            </a:pPr>
            <a:r>
              <a:rPr/>
              <a:t>Teal: flag it. We pay 140 euros for the replacement only if the drive was healthy, which happens with probability 1 minus p, so the expected cost is (1 - p) times 140 - nearly flat, because 140 is small. Rust: leave it. We pay 2,600 euros only if it fails, probability p, so the expected cost is p times 2,600 - steep.</a:t>
            </a:r>
          </a:p>
          <a:p>
            <a:pPr lvl="0" indent="0" marL="0">
              <a:buNone/>
            </a:pPr>
          </a:p>
          <a:p>
            <a:pPr lvl="0" indent="0" marL="0">
              <a:buNone/>
            </a:pPr>
            <a:r>
              <a:rPr/>
              <a:t>Left of the crossing, leaving the drive is cheaper; right of it, flagging is. So the rule is: flag every drive whose probability is beyond the crossing. The next slide finds where the crossing is.</a:t>
            </a:r>
          </a:p>
          <a:p>
            <a:pPr lvl="0" indent="0" marL="0">
              <a:buNone/>
            </a:pPr>
          </a:p>
          <a:p>
            <a:pPr lvl="0" indent="0" marL="0">
              <a:buNone/>
            </a:pPr>
            <a:r>
              <a:rPr/>
              <a:t>Then ask the room what happens to the crossing if a failure cost 140 euros as well: both lines would have the same slope in opposite directions, and they would cross at 0.5 - the default threshold, right only when the costs are equal. 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on the board, because it is two steps and it lands. Flag the drive when leaving it costs more in expectation than flagging it: p times 2,600 &gt; (1 - p) times 140. Multiply out: 140 &lt; p × (2,600 + 140) = p × 2,740, so p &gt; 140 ÷ 2,740 = 0.051. The probability does not simplify away: it is the unknown we solve for, and t* is a value of p - the one at which the two expected costs are equal, the crossing of the previous slide. The rule reads “flag every drive with p above t*“.</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47). Divide every probability by ten, as slide 47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A predictable slip: “on imbalanced data the threshold belongs below 0.5”. Every threshold in this lesson moves down, so the pattern is easy to generalise. But the class balance is not in the formula: with calibrated probabilities and equal costs, t-star is 0.5 however rare the failures. It falls here because a miss costs 18.6 false alarms.</a:t>
            </a:r>
          </a:p>
          <a:p>
            <a:pPr lvl="0" indent="0" marL="0">
              <a:buNone/>
            </a:pPr>
          </a:p>
          <a:p>
            <a:pPr lvl="0" indent="0" marL="0">
              <a:buNone/>
            </a:pPr>
            <a:r>
              <a:rPr/>
              <a:t>Empirically we found 0.078 against a theoretical 0.051, and notebook 3 counts what separates them: 45 test drives are scored between the two, and 1 of them failed. Flagging them would cost 44 × 140 = €6,160, leaving them cost that one failure, €2,600 - so on this test set leaving them was cheaper. But their probabilities add up to 2.76 expected failures: for a calibrated model, leaving them costs about 2.76 × 2,600 = €7,176 against (45 − 2.76) × 140 = €5,914 for flagging, and the rule is right. The gap is 45 drives with one failure where the model expected almost three: sampling noise on 76 failures, plus calibration that is good but not perfect. At t* itself the cost is €49,100, 8% above the minimum - the flat bottom of slide 51.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The two prices on the slide show what is at stake. t* was fixed by the costs before anyone looked at the test set; 0.078 is the best of 300 thresholds tried on it. The €3,560 between them (8%) is in part luck the test set handed us - the 45 drives with one failure where almost three were expected - and the minimum of many tries on the same data is biased downwards. The test score is an unbiased estimate only if the test set played no part in any choice and is used once, at the end.</a:t>
            </a:r>
          </a:p>
          <a:p>
            <a:pPr lvl="0" indent="0" marL="0">
              <a:buNone/>
            </a:pPr>
          </a:p>
          <a:p>
            <a:pPr lvl="0" indent="0" marL="0">
              <a:buNone/>
            </a:pPr>
            <a:r>
              <a:rPr/>
              <a:t>Until then, treat the 0.078 as a demonstration of a method, not a result anyone could publish.</a:t>
            </a:r>
          </a:p>
          <a:p>
            <a:pPr lvl="0" indent="0" marL="0">
              <a:buNone/>
            </a:pPr>
          </a:p>
          <a:p>
            <a:pPr lvl="0" indent="0" marL="0">
              <a:buNone/>
            </a:pPr>
            <a:r>
              <a:rPr/>
              <a:t>The last bullet answers the question the room will ask: which one do we use? 0.051. A predictable slip: “0.078 costs less, so it is the better threshold”. It costs less on the 2,000 drives it was chosen on. Expected over new drives, the 45 drives between the two thresholds should hold about 2.76 failures - their probabilities add up to that - and leaving them would cost about 2.76 × 2,600 = 7,176 euros against (45 − 2.76) × 140 = 5,914 for flagging them: the rule of t* is right, and this test set simply held one failure among them where almost three were expected.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optional: skip it if time is short, because slide 56 carries the message on its own. If you do show it, three steps, in order.</a:t>
            </a:r>
          </a:p>
          <a:p>
            <a:pPr lvl="0" indent="0" marL="0">
              <a:buNone/>
            </a:pPr>
          </a:p>
          <a:p>
            <a:pPr lvl="0" indent="0" marL="0">
              <a:buNone/>
            </a:pPr>
            <a:r>
              <a:rPr/>
              <a:t>What the weights are - and first, what they are not: these class weights are not the weights w of slide 12, the coefficients. A class weight says how much each training example counts in the cost; w is what the fitting chooses. The two numbers on the slide: 6,000 ÷ (2 × 5,770) = 0.52 and 6,000 ÷ (2 × 230) = 13.0. The log loss adds one term per training drive. A class weight multiplies the term of every drive in that class. “balanced” sets the weight to m divided by (2 times the number of drives in the class): 0.52 for a healthy drive, 13.0 for a failed one. Each failure therefore counts as 25 healthy drives - as if the training set held 25 copies of every failure. Why the name “balanced”: weight times class size is the same for both classes, 0.52 × 5,770 and 13.0 × 230, both about 3,000, which is m ÷ 2. After weighting, each class carries half of the total weight, however many examples it has. The 2 in the formula is the number of classes; with three classes each would carry a third.</a:t>
            </a:r>
          </a:p>
          <a:p>
            <a:pPr lvl="0" indent="0" marL="0">
              <a:buNone/>
            </a:pPr>
          </a:p>
          <a:p>
            <a:pPr lvl="0" indent="0" marL="0">
              <a:buNone/>
            </a:pPr>
            <a:r>
              <a:rPr/>
              <a:t>Where the 25 comes from: the class frequencies, 5,770 healthy against 230 failed in training. Not the costs. A predictable slip: reading “balanced” as “weighted by what the errors cost”. Both are weights and both push towards the failures, so the reading is natural - but balanced would give 25 whatever a miss cost. Weights from the costs exist too, and they are a separate choice: class_weight={0: 140, 1: 2600}, ratio 18.6. Notebook 3 fits that model as well: at 0.5 it raises 164 false alarms and misses 9, close to the plain model at t* (165 and 10).</a:t>
            </a:r>
          </a:p>
          <a:p>
            <a:pPr lvl="0" indent="0" marL="0">
              <a:buNone/>
            </a:pPr>
          </a:p>
          <a:p>
            <a:pPr lvl="0" indent="0" marL="0">
              <a:buNone/>
            </a:pPr>
            <a:r>
              <a:rPr/>
              <a:t>What the weights do. For logistic regression the main effect is on the intercept: it rises from −6.09 to −2.95, by 3.14, close to log 25 = 3.22. Every probability goes up, and the weighted model’s 0.5 lands where the plain model’s 1 ÷ (1 + 25) = 0.038 was - that is the last bullet. The steps, if someone asks: the weights multiply every drive’s odds by about 25; the weighted model flags at p = 0.5, odds of 1; that is plain odds of 1 ÷ 25, and back to a probability, (1 ÷ 25) ÷ (1 + 1 ÷ 25) = 1 ÷ 26 = 0.038. Not a coincidence: 1 ÷ (1 + 5,770 ÷ 230) = 230 ÷ 6,000, the failure rate of the training set, so balanced weights always act like thresholding the plain model at the rare class’s training frequency. Notebook 3 checks it: the plain model at 0.038 raises 208 false alarms and misses 8; the weighted model at 0.5 raises 205 and misses 8; the two agree on 1,987 of the 2,000 test drives. The general rule, approximately: weights with ratio k behave like a threshold of 1 ÷ (1 + k). It is close here because the labels came from a logistic model in these very features; with a misspecified model, few data or a strong penalty, weights also change the slopes and the ranking. Balanced weights land near the cost optimum here only because 25 happens to be close to 18.6.</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slide 55 was skipped, one sentence is enough to start: class weights make each failure count more in training, and in effect they only lower the threshold. The figure shows how much that is worth.</a:t>
            </a:r>
          </a:p>
          <a:p>
            <a:pPr lvl="0" indent="0" marL="0">
              <a:buNone/>
            </a:pPr>
          </a:p>
          <a:p>
            <a:pPr lvl="0" indent="0" marL="0">
              <a:buNone/>
            </a:pPr>
            <a:r>
              <a:rPr/>
              <a:t>The figure is notebook 3’s comparison drawn as bills, one bar per model. Rust is the cost of the missed failures, FN times 2,600 euros; gold is the cost of the false alarms, FP times 140 euros. The default model misses 33 failures: 33 times 2,600 plus 13 times 140 is 87,620. The threshold at 0.078 misses 11 and raises 121 false alarms: 45,540. Balanced weights miss 8 and raise 205: 8 times 2,600 plus 205 times 140 is 49,500.</a:t>
            </a:r>
          </a:p>
          <a:p>
            <a:pPr lvl="0" indent="0" marL="0">
              <a:buNone/>
            </a:pPr>
          </a:p>
          <a:p>
            <a:pPr lvl="0" indent="0" marL="0">
              <a:buNone/>
            </a:pPr>
            <a:r>
              <a:rPr/>
              <a:t>Compare the weighted model with the right bar. The 0.078 was found by looking at the test set (slide 54), so the fair comparison is the bar at t* = 0.051, fixed from the costs: 10 missed and 165 false alarms, 49,100. Balanced weights, 49,500, and the threshold from the costs, 49,100, cost practically the same.</a:t>
            </a:r>
          </a:p>
          <a:p>
            <a:pPr lvl="0" indent="0" marL="0">
              <a:buNone/>
            </a:pPr>
          </a:p>
          <a:p>
            <a:pPr lvl="0" indent="0" marL="0">
              <a:buNone/>
            </a:pPr>
            <a:r>
              <a:rPr/>
              <a:t>Point at the AUC under each name: 0.949 against 0.950. Reweighting taught the model essentially nothing new about disk failure. What it did was move where the model puts its 0.5 line - the same lever as the threshold, pulled at training time instead of after it, as the previous slide showed.</a:t>
            </a:r>
          </a:p>
          <a:p>
            <a:pPr lvl="0" indent="0" marL="0">
              <a:buNone/>
            </a:pPr>
          </a:p>
          <a:p>
            <a:pPr lvl="0" indent="0" marL="0">
              <a:buNone/>
            </a:pPr>
            <a:r>
              <a:rPr/>
              <a:t>That matters because class weighting is usually presented as a REMEDY for imbalance. It is not a remedy; here it is almost exactly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argument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three multiclass slides that follow (58 to 60)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Slides 58 to 60 are optional: exercise 4 is a two-class problem and needs none of them, and lesson 9 introduces the softmax again for the handwritten digits. Show them if there is time after notebook 3.</a:t>
            </a:r>
          </a:p>
          <a:p>
            <a:pPr lvl="0" indent="0" marL="0">
              <a:buNone/>
            </a:pPr>
          </a:p>
          <a:p>
            <a:pPr lvl="0" indent="0" marL="0">
              <a:buNone/>
            </a:pPr>
            <a:r>
              <a:rPr/>
              <a:t>Real fleets are not healthy-or-dead. A drive can be degraded: readable, but reporting errors, and worth replacing at the next maintenance window rather than at three in the morning. So three classes.</a:t>
            </a:r>
          </a:p>
          <a:p>
            <a:pPr lvl="0" indent="0" marL="0">
              <a:buNone/>
            </a:pPr>
          </a:p>
          <a:p>
            <a:pPr lvl="0" indent="0" marL="0">
              <a:buNone/>
            </a:pPr>
            <a:r>
              <a:rPr/>
              <a:t>The model keeps the idea of lesson 4’s first half and triplicates it: one linear score per class, each with its own coefficients. The softmax turns three scores into three probabilities in two moves - exponentiate, so all three are positive; divide by their sum, so they add up to 1. The largest score keeps the largest share. With two classes, subtract z₀ from both scores and the softmax becomes the sigmoid of z₁ − z₀: nothing new, the same model seen from further away.</a:t>
            </a:r>
          </a:p>
          <a:p>
            <a:pPr lvl="0" indent="0" marL="0">
              <a:buNone/>
            </a:pPr>
          </a:p>
          <a:p>
            <a:pPr lvl="0" indent="0" marL="0">
              <a:buNone/>
            </a:pPr>
            <a:r>
              <a:rPr/>
              <a:t>Work the drive on the slide if there is time: e to the 0.615 is 1.85, e to the 0.603 is 1.83, e to the −1.218 is 0.30; the sum is 3.97; dividing gives 0.466, 0.460, 0.074. Healthy wins by 0.006 - and the drive was degraded. That is what “degraded is the hard class” looks like from the inside.</a:t>
            </a:r>
          </a:p>
          <a:p>
            <a:pPr lvl="0" indent="0" marL="0">
              <a:buNone/>
            </a:pPr>
          </a:p>
          <a:p>
            <a:pPr lvl="0" indent="0" marL="0">
              <a:buNone/>
            </a:pPr>
            <a:r>
              <a:rPr/>
              <a:t>The decision is the largest probability, so there is no 0.5 threshold here: notebook 3 counts 33 test drives assigned a class whose probability is below 0.5. The cost generalises to categorical cross-entropy, the same idea as the log loss: the negative log of the probability assigned to what actually happened. Handout section 10.1. Lesson 9 uses the same softmax for ten digits.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 gave the probabilities; this is where the decisions land.</a:t>
            </a:r>
          </a:p>
          <a:p>
            <a:pPr lvl="0" indent="0" marL="0">
              <a:buNone/>
            </a:pPr>
          </a:p>
          <a:p>
            <a:pPr lvl="0" indent="0" marL="0">
              <a:buNone/>
            </a:pPr>
            <a:r>
              <a:rPr/>
              <a:t>Read the off-diagonal cells rather than the accuracy. Degraded is the hard class, and understandably - it sits between two neighbours that both look like it from a distance: 121 degraded drives were called healthy, 31 failed drives were called degraded.</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 Notebook 3, the three-class model: one bar per class, its F1 from classification_report, and the two averages as lines.</a:t>
            </a:r>
          </a:p>
          <a:p>
            <a:pPr lvl="0" indent="0" marL="0">
              <a:buNone/>
            </a:pPr>
          </a:p>
          <a:p>
            <a:pPr lvl="0" indent="0" marL="0">
              <a:buNone/>
            </a:pPr>
            <a:r>
              <a:rPr/>
              <a:t>Macro treats the three conditions as equally important: (0.947 + 0.545 + 0.629) divided by 3 = 0.707, the dotted line. Weighted multiplies each class by its number of test drives: (1,665 times 0.947 + 259 times 0.545 + 76 times 0.629) divided by 2,000 = 0.883, the dashed line. The healthy class - 1,665 of 2,000, five drives in six - does most of the talking, so the dashed line sits close to the healthy bar.</a:t>
            </a:r>
          </a:p>
          <a:p>
            <a:pPr lvl="0" indent="0" marL="0">
              <a:buNone/>
            </a:pPr>
          </a:p>
          <a:p>
            <a:pPr lvl="0" indent="0" marL="0">
              <a:buNone/>
            </a:pPr>
            <a:r>
              <a:rPr/>
              <a:t>The weights are the support: the number of test drives whose TRUE class is that one, not the number predicted. The gap between the two averages, 0.883 − 0.707 = 0.18, is itself the finding: the small classes are handled much worse than the big one. A question that may come: the weighted average of recall is always the accuracy, 0.889 here, because support times recall is the number of drives of that class classified correctly.</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On the test set, 1,924 of the 2,000 drives are healthy: 1,924 ÷ 2,000 = 96.20% accuracy for a model that does nothing and catches none of the 76 failures.</a:t>
            </a:r>
          </a:p>
          <a:p>
            <a:pPr lvl="0" indent="0" marL="0">
              <a:buNone/>
            </a:pPr>
          </a:p>
          <a:p>
            <a:pPr lvl="0" indent="0" marL="0">
              <a:buNone/>
            </a:pPr>
            <a:r>
              <a:rPr/>
              <a:t>If they remember one thing from today, it should be the reflex to ask “what’s the base rate?” before believing any accuracy figure. Not “accuracy is useless”: against its baseline, the model’s 97.70% does say something.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 Class weights move the same line at training time.</a:t>
            </a:r>
          </a:p>
          <a:p>
            <a:pPr lvl="0" indent="0" marL="0">
              <a:buNone/>
            </a:pPr>
          </a:p>
          <a:p>
            <a:pPr lvl="0" indent="0" marL="0">
              <a:buNone/>
            </a:pPr>
            <a:r>
              <a:rPr/>
              <a:t>The first bullet is the first half of the lesson in one line: log loss is what maximum likelihood gives, and unlike squared error through the sigmoid it is convex, so any minimum gradient descent finds is the global one.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306 ÷ 8,000 = 3.8% of the fleet</a:t>
            </a:r>
          </a:p>
          <a:p>
            <a:pPr lvl="0"/>
            <a:r>
              <a:rPr/>
              <a:t>Which means 100% − 3.8% =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0.99: log(0.99 ÷ 0.01) = log 99 = +4.60; p = 0.5: log(0.5 ÷ 0.5) = log 1 = 0</a:t>
            </a:r>
          </a:p>
          <a:p>
            <a:pPr lvl="0"/>
            <a:r>
              <a:rPr/>
              <a:t>Bonus: on this scale each feature will add a fixed amount, so it will multiply the odds by a fixed factor (slide 14)</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reading, three different jumps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and three properties of the sigmoid</a:t>
            </a:r>
          </a:p>
        </p:txBody>
      </p:sp>
      <p:pic>
        <p:nvPicPr>
          <p:cNvPr descr="eq_6df234eb57.png" id="0" name="Picture 1"/>
          <p:cNvPicPr>
            <a:picLocks noGrp="1" noChangeAspect="1"/>
          </p:cNvPicPr>
          <p:nvPr/>
        </p:nvPicPr>
        <p:blipFill>
          <a:blip r:embed="rId3"/>
          <a:stretch>
            <a:fillRect/>
          </a:stretch>
        </p:blipFill>
        <p:spPr bwMode="auto">
          <a:xfrm>
            <a:off x="457200" y="1677789"/>
            <a:ext cx="8229600" cy="2336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drawn: one neuron</a:t>
            </a:r>
          </a:p>
        </p:txBody>
      </p:sp>
      <p:pic>
        <p:nvPicPr>
          <p:cNvPr descr="logistic_neuron.png" id="0" name="Picture 1"/>
          <p:cNvPicPr>
            <a:picLocks noGrp="1" noChangeAspect="1"/>
          </p:cNvPicPr>
          <p:nvPr/>
        </p:nvPicPr>
        <p:blipFill>
          <a:blip r:embed="rId3"/>
          <a:stretch>
            <a:fillRect/>
          </a:stretch>
        </p:blipFill>
        <p:spPr bwMode="auto">
          <a:xfrm>
            <a:off x="457200" y="1169789"/>
            <a:ext cx="8229600" cy="3352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Coefficients = weights w (</a:t>
            </a:r>
            <a:r>
              <a:rPr>
                <a:latin typeface="Courier"/>
              </a:rPr>
              <a:t>coef_</a:t>
            </a:r>
            <a:r>
              <a:rPr/>
              <a:t>); intercept b (</a:t>
            </a:r>
            <a:r>
              <a:rPr>
                <a:latin typeface="Courier"/>
              </a:rPr>
              <a:t>intercept_</a:t>
            </a:r>
            <a:r>
              <a:rPr/>
              <a:t>)</a:t>
            </a:r>
          </a:p>
          <a:p>
            <a:pPr lvl="0"/>
            <a:r>
              <a:rPr/>
              <a:t>Standardised (mean 0, SD 1): one SD more of reallocated sectors adds its true coefficient, 1.80, to the log-odds</a:t>
            </a:r>
          </a:p>
          <a:p>
            <a:pPr lvl="0"/>
            <a:r>
              <a:rPr/>
              <a:t>log(odds) + 1.80 = log(odds × 6.05): </a:t>
            </a:r>
            <a:r>
              <a:rPr b="1"/>
              <a:t>six times the odds</a:t>
            </a:r>
            <a:r>
              <a:rPr/>
              <a:t>, slide 10’s teal step</a:t>
            </a:r>
          </a:p>
          <a:p>
            <a:pPr lvl="0"/>
            <a:r>
              <a:rPr/>
              <a:t>In code: </a:t>
            </a:r>
            <a:r>
              <a:rPr>
                <a:latin typeface="Courier"/>
              </a:rPr>
              <a:t>make_pipeline(StandardScaler(), LogisticRegression())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 </a:t>
                      </a:r>
                      <a:r>
                        <a:rPr>
                          <a:latin typeface="Courier"/>
                        </a:rPr>
                        <a:t>disk_data.py</a:t>
                      </a:r>
                    </a:p>
                  </a:txBody>
                  <a:tcPr/>
                </a:tc>
                <a:tc>
                  <a:txBody>
                    <a:bodyPr/>
                    <a:lstStyle/>
                    <a:p>
                      <a:pPr lvl="0" indent="0" marL="0">
                        <a:buNone/>
                      </a:pPr>
                      <a:r>
                        <a:rPr/>
                        <a:t>Fitted, notebook 1</a:t>
                      </a:r>
                    </a:p>
                  </a:txBody>
                  <a:tcPr/>
                </a:tc>
                <a:tc>
                  <a:txBody>
                    <a:bodyPr/>
                    <a:lstStyle/>
                    <a:p>
                      <a:pPr lvl="0" indent="0" marL="0">
                        <a:buNone/>
                      </a:pPr>
                      <a:r>
                        <a:rPr/>
                        <a:t>Odds ×, exp(Fitted)</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0.46</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1.02</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r>
              <a:rPr/>
              <a:t>, the log-odds of a drive average on every counter (all standardised x = 0)</a:t>
            </a:r>
          </a:p>
          <a:p>
            <a:pPr lvl="0"/>
            <a:r>
              <a:rPr/>
              <a:t>σ(−6.09) = 1 ÷ (1 + exp(6.09)) = 1 ÷ 442 = 0.0023: a 0.2% chance</a:t>
            </a:r>
          </a:p>
          <a:p>
            <a:pPr lvl="0"/>
            <a:r>
              <a:rPr/>
              <a:t>The fleet fails at 3.8% (slide 6): the failures come from the few drives far above average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together, if the drives are independent: multiply, as for two coins (½ × ½ = ¼)</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one drive, then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c>
                  <a:txBody>
                    <a:bodyPr/>
                    <a:lstStyle/>
                    <a:p>
                      <a:pPr lvl="0" indent="0" marL="0">
                        <a:buNone/>
                      </a:pPr>
                      <a:r>
                        <a:rPr/>
                        <a:t>0.6</a:t>
                      </a:r>
                    </a:p>
                  </a:txBody>
                </a:tc>
                <a:tc>
                  <a:txBody>
                    <a:bodyPr/>
                    <a:lstStyle/>
                    <a:p>
                      <a:pPr lvl="0" indent="0" marL="0">
                        <a:buNone/>
                      </a:pPr>
                      <a:r>
                        <a:rPr/>
                        <a:t>1 − 0.6 = 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c>
                  <a:txBody>
                    <a:bodyPr/>
                    <a:lstStyle/>
                    <a:p>
                      <a:pPr lvl="0" indent="0" marL="0">
                        <a:buNone/>
                      </a:pPr>
                      <a:r>
                        <a:rPr/>
                        <a:t>0.5</a:t>
                      </a:r>
                    </a:p>
                  </a:txBody>
                </a:tc>
                <a:tc>
                  <a:txBody>
                    <a:bodyPr/>
                    <a:lstStyle/>
                    <a:p>
                      <a:pPr lvl="0" indent="0" marL="0">
                        <a:buNone/>
                      </a:pPr>
                      <a:r>
                        <a:rPr/>
                        <a:t>1 − 0.5 = 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a:t>0.8 × 0.9 × 0.8 = </a:t>
                      </a:r>
                      <a:r>
                        <a:rPr b="1"/>
                        <a:t>0.576</a:t>
                      </a:r>
                    </a:p>
                  </a:txBody>
                </a:tc>
                <a:tc>
                  <a:txBody>
                    <a:bodyPr/>
                    <a:lstStyle/>
                    <a:p>
                      <a:endParaRPr/>
                    </a:p>
                  </a:txBody>
                </a:tc>
                <a:tc>
                  <a:txBody>
                    <a:bodyPr/>
                    <a:lstStyle/>
                    <a:p>
                      <a:pPr lvl="0" indent="0" marL="0">
                        <a:buNone/>
                      </a:pPr>
                      <a:r>
                        <a:rPr/>
                        <a:t>0.3 × 0.4 × 0.5 = </a:t>
                      </a:r>
                      <a:r>
                        <a:rPr b="1"/>
                        <a:t>0.060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4: minus the log, a cost</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The log turns the product into a sum, one term per drive, and keeps the winner; the minus turns largest into smallest: a cost to minimise, as in lesson 3.</a:t>
            </a:r>
          </a:p>
        </p:txBody>
      </p:sp>
      <p:graphicFrame>
        <p:nvGraphicFramePr>
          <p:cNvPr id="6" name="Content Placeholder 5"/>
          <p:cNvGraphicFramePr>
            <a:graphicFrameLocks noGrp="1"/>
          </p:cNvGraphicFramePr>
          <p:nvPr>
            <p:ph idx="1"/>
          </p:nvPr>
        </p:nvGraphicFramePr>
        <p:xfrm>
          <a:off x="457200" y="2597467"/>
          <a:ext cx="8229600" cy="43815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a:t>0.22 + 0.11 + 0.22 = </a:t>
                      </a:r>
                      <a:r>
                        <a:rPr b="1"/>
                        <a:t>0.55</a:t>
                      </a:r>
                    </a:p>
                  </a:txBody>
                </a:tc>
                <a:tc>
                  <a:txBody>
                    <a:bodyPr/>
                    <a:lstStyle/>
                    <a:p>
                      <a:pPr lvl="0" indent="0" marL="0">
                        <a:buNone/>
                      </a:pPr>
                      <a:r>
                        <a:rPr/>
                        <a:t>1.20 + 0.92 + 0.69 = </a:t>
                      </a:r>
                      <a:r>
                        <a:rPr b="1"/>
                        <a:t>2.81</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Surprise: minus the log of a probability</a:t>
            </a:r>
          </a:p>
        </p:txBody>
      </p:sp>
      <p:pic>
        <p:nvPicPr>
          <p:cNvPr descr="surprise_curve.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c25cdd8644.png" id="0" name="Picture 1"/>
          <p:cNvPicPr>
            <a:picLocks noGrp="1" noChangeAspect="1"/>
          </p:cNvPicPr>
          <p:nvPr/>
        </p:nvPicPr>
        <p:blipFill>
          <a:blip r:embed="rId3"/>
          <a:stretch>
            <a:fillRect/>
          </a:stretch>
        </p:blipFill>
        <p:spPr bwMode="auto">
          <a:xfrm>
            <a:off x="457200" y="1798439"/>
            <a:ext cx="8229600" cy="2095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170140be31.png" id="0" name="Picture 1"/>
          <p:cNvPicPr>
            <a:picLocks noGrp="1" noChangeAspect="1"/>
          </p:cNvPicPr>
          <p:nvPr/>
        </p:nvPicPr>
        <p:blipFill>
          <a:blip r:embed="rId3"/>
          <a:stretch>
            <a:fillRect/>
          </a:stretch>
        </p:blipFill>
        <p:spPr bwMode="auto">
          <a:xfrm>
            <a:off x="1784434" y="1166099"/>
            <a:ext cx="5575131"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a:p>
            <a:pPr lvl="0"/>
            <a:r>
              <a:rPr/>
              <a:t>Why not, from slide 26: its slope falls from 0, then climbs back to 0; a convex curve’s slope only grows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 of a two-counter model</a:t>
            </a:r>
          </a:p>
        </p:txBody>
      </p:sp>
      <p:pic>
        <p:nvPicPr>
          <p:cNvPr descr="decision_boundary.png" id="0" name="Picture 1"/>
          <p:cNvPicPr>
            <a:picLocks noGrp="1" noChangeAspect="1"/>
          </p:cNvPicPr>
          <p:nvPr/>
        </p:nvPicPr>
        <p:blipFill>
          <a:blip r:embed="rId3"/>
          <a:stretch>
            <a:fillRect/>
          </a:stretch>
        </p:blipFill>
        <p:spPr bwMode="auto">
          <a:xfrm>
            <a:off x="1841066" y="1166099"/>
            <a:ext cx="5461867"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8-27</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25</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28</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15-16</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 on the 2,000 test drives (76 fail)</a:t>
                      </a:r>
                    </a:p>
                  </a:txBody>
                  <a:tcPr/>
                </a:tc>
                <a:tc>
                  <a:txBody>
                    <a:bodyPr/>
                    <a:lstStyle/>
                    <a:p>
                      <a:pPr lvl="0" indent="0" marL="0">
                        <a:buNone/>
                      </a:pPr>
                      <a:r>
                        <a:rPr/>
                        <a:t>Accuracy = right ÷ 2,000</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a:t>every healthy drive: 1,924 ÷ 2,000 = </a:t>
                      </a: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43 failures + 1,911 healthy: 1,954 ÷ 2,000 = 97.70%</a:t>
                      </a:r>
                    </a:p>
                  </a:txBody>
                </a:tc>
                <a:tc>
                  <a:txBody>
                    <a:bodyPr/>
                    <a:lstStyle/>
                    <a:p>
                      <a:pPr lvl="0" indent="0" marL="0">
                        <a:buNone/>
                      </a:pPr>
                      <a:r>
                        <a:rPr/>
                        <a:t>43 of 76</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whose two errors cost the same, that is exactly what you want</a:t>
            </a:r>
          </a:p>
          <a:p>
            <a:pPr lvl="0"/>
            <a:r>
              <a:rPr/>
              <a:t>The interesting class is almost always the </a:t>
            </a:r>
            <a:r>
              <a:rPr b="1"/>
              <a:t>rare</a:t>
            </a:r>
            <a:r>
              <a:rPr/>
              <a:t> one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 (FP)</a:t>
            </a:r>
            <a:r>
              <a:rPr/>
              <a:t>: we replace a healthy drive. A technician’s hour, €140</a:t>
            </a:r>
          </a:p>
          <a:p>
            <a:pPr lvl="0"/>
            <a:r>
              <a:rPr b="1"/>
              <a:t>False negative (FN)</a:t>
            </a:r>
            <a:r>
              <a:rPr/>
              <a:t>: a drive dies in service. Callout, rebuild, risk, €2,600</a:t>
            </a:r>
          </a:p>
          <a:p>
            <a:pPr lvl="0"/>
            <a:r>
              <a:rPr/>
              <a:t>Both costs are assumptions supplied from outside the data, not measured</a:t>
            </a:r>
          </a:p>
          <a:p>
            <a:pPr lvl="0"/>
            <a:r>
              <a:rPr b="1"/>
              <a:t>True positive (TP)</a:t>
            </a:r>
            <a:r>
              <a:rPr/>
              <a:t> and </a:t>
            </a:r>
            <a:r>
              <a:rPr b="1"/>
              <a:t>true negative (TN)</a:t>
            </a:r>
            <a:r>
              <a:rPr/>
              <a:t>, the right calls, count as €0: each cost is what the error adds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(43 + 13) = </a:t>
            </a:r>
            <a:r>
              <a:rPr b="1"/>
              <a:t>0.768</a:t>
            </a:r>
            <a:r>
              <a:rPr/>
              <a:t>: of the drives flagged</a:t>
            </a:r>
          </a:p>
          <a:p>
            <a:pPr lvl="0"/>
            <a:r>
              <a:rPr/>
              <a:t>Recall = TP ÷ (TP + FN) = 43 ÷ (43 + 33) = </a:t>
            </a:r>
            <a:r>
              <a:rPr b="1"/>
              <a:t>0.566</a:t>
            </a:r>
            <a:r>
              <a:rPr/>
              <a:t>: of the drives that failed</a:t>
            </a:r>
          </a:p>
          <a:p>
            <a:pPr lvl="0"/>
            <a:r>
              <a:rPr/>
              <a:t>Specificity = TN ÷ (TN + FP) = 1,911 ÷ 1,924 = 0.993; 1 − 0.993 is the false positive rate (FPR)</a:t>
            </a:r>
          </a:p>
          <a:p>
            <a:pPr lvl="0"/>
            <a:r>
              <a:rPr/>
              <a:t>In code: </a:t>
            </a:r>
            <a:r>
              <a:rPr>
                <a:latin typeface="Courier"/>
              </a:rPr>
              <a:t>precision_score</a:t>
            </a:r>
            <a:r>
              <a:rPr/>
              <a:t>, </a:t>
            </a:r>
            <a:r>
              <a:rPr>
                <a:latin typeface="Courier"/>
              </a:rPr>
              <a:t>recall_score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 2PR ÷ (P + R): why the harmonic mean</a:t>
            </a:r>
          </a:p>
        </p:txBody>
      </p:sp>
      <p:pic>
        <p:nvPicPr>
          <p:cNvPr descr="harmonic_vs_arithmetic.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t>F1 per class: healthy 0.988 (1,924 drives), failed 0.652 (76 drives)</a:t>
            </a:r>
          </a:p>
          <a:p>
            <a:pPr lvl="0"/>
            <a:r>
              <a:rPr>
                <a:latin typeface="Courier"/>
              </a:rPr>
              <a:t>macro avg</a:t>
            </a:r>
            <a:r>
              <a:rPr/>
              <a:t> F1 = (0.988 + 0.652) ÷ 2 = </a:t>
            </a:r>
            <a:r>
              <a:rPr b="1"/>
              <a:t>0.820</a:t>
            </a:r>
            <a:r>
              <a:rPr/>
              <a:t>: both classes count the same</a:t>
            </a:r>
          </a:p>
          <a:p>
            <a:pPr lvl="0"/>
            <a:r>
              <a:rPr>
                <a:latin typeface="Courier"/>
              </a:rPr>
              <a:t>weighted avg</a:t>
            </a:r>
            <a:r>
              <a:rPr/>
              <a:t> F1 = (1,924 × 0.988 + 76 × 0.652) ÷ 2,000 = </a:t>
            </a:r>
            <a:r>
              <a:rPr b="1"/>
              <a:t>0.975</a:t>
            </a:r>
            <a:r>
              <a:rPr/>
              <a:t>: the healthy class dominates</a:t>
            </a:r>
          </a:p>
          <a:p>
            <a:pPr lvl="0"/>
            <a:r>
              <a:rPr/>
              <a:t>In code: </a:t>
            </a:r>
            <a:r>
              <a:rPr>
                <a:latin typeface="Courier"/>
              </a:rPr>
              <a:t>classification_report(y_test, y_pred)</a:t>
            </a:r>
            <a:r>
              <a:rPr/>
              <a:t> prints both rows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31</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33</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35-38</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40-41</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42</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pic>
        <p:nvPicPr>
          <p:cNvPr descr="sweep_outcomes.png" id="0" name="Picture 1"/>
          <p:cNvPicPr>
            <a:picLocks noGrp="1" noChangeAspect="1"/>
          </p:cNvPicPr>
          <p:nvPr/>
        </p:nvPicPr>
        <p:blipFill>
          <a:blip r:embed="rId3"/>
          <a:stretch>
            <a:fillRect/>
          </a:stretch>
        </p:blipFill>
        <p:spPr bwMode="auto">
          <a:xfrm>
            <a:off x="1023045" y="1166099"/>
            <a:ext cx="7097910"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The </a:t>
            </a:r>
            <a:r>
              <a:rPr b="1"/>
              <a:t>ranking</a:t>
            </a:r>
            <a:r>
              <a:rPr/>
              <a:t>: the 2,000 test drives sorted by predicted probability, riskiest first</a:t>
            </a:r>
          </a:p>
          <a:p>
            <a:pPr lvl="0"/>
            <a:r>
              <a:rPr/>
              <a:t>A threshold is a cut in this list: every drive above the cut is flagged</a:t>
            </a:r>
          </a:p>
          <a:p>
            <a:pPr lvl="0"/>
            <a:r>
              <a:rPr/>
              <a:t>What if we score the whole ranking, every cut at once?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 (</a:t>
            </a:r>
            <a:r>
              <a:rPr>
                <a:latin typeface="Courier"/>
              </a:rPr>
              <a:t>roc_auc_score</a:t>
            </a:r>
            <a:r>
              <a:rPr/>
              <a:t>, notebook 3)</a:t>
            </a:r>
          </a:p>
          <a:p>
            <a:pPr lvl="0"/>
            <a:r>
              <a:rPr/>
              <a:t>Check: in 200,000 random pairs, the failing drive scores higher 94.9% of the time</a:t>
            </a:r>
          </a:p>
          <a:p>
            <a:pPr lvl="0"/>
            <a:r>
              <a:rPr/>
              <a:t>In code: </a:t>
            </a:r>
            <a:r>
              <a:rPr>
                <a:latin typeface="Courier"/>
              </a:rPr>
              <a:t>roc_auc_score(y_test, scores)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scores behind the AUC</a:t>
            </a:r>
          </a:p>
        </p:txBody>
      </p:sp>
      <p:pic>
        <p:nvPicPr>
          <p:cNvPr descr="score_distributions.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0.949: the order of the drives is the same</a:t>
            </a:r>
          </a:p>
          <a:p>
            <a:pPr lvl="0"/>
            <a:r>
              <a:rPr/>
              <a:t>Every decision changes: at threshold 0.5, 56 drives flagged before, none after (notebook 3)</a:t>
            </a:r>
          </a:p>
          <a:p>
            <a:pPr lvl="0"/>
            <a:r>
              <a:rPr/>
              <a:t>The model is now badly </a:t>
            </a:r>
            <a:r>
              <a:rPr b="1"/>
              <a:t>calibrated</a:t>
            </a:r>
            <a:r>
              <a:rPr/>
              <a:t>: calibrated means a predicted 0.7 comes true about 70% of the time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551109" y="1166099"/>
            <a:ext cx="8041781"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curves disagree</a:t>
            </a:r>
          </a:p>
        </p:txBody>
      </p:sp>
      <p:sp>
        <p:nvSpPr>
          <p:cNvPr id="3" name="Content Placeholder 2"/>
          <p:cNvSpPr>
            <a:spLocks noGrp="1"/>
          </p:cNvSpPr>
          <p:nvPr>
            <p:ph idx="1"/>
          </p:nvPr>
        </p:nvSpPr>
        <p:spPr>
          <a:xfrm>
            <a:off x="457200" y="1200151"/>
            <a:ext cx="8229600" cy="3394472"/>
          </a:xfrm>
        </p:spPr>
        <p:txBody>
          <a:bodyPr/>
          <a:lstStyle/>
          <a:p>
            <a:pPr lvl="0"/>
            <a:r>
              <a:rPr/>
              <a:t>Recall, shared by both curves: TP ÷ (TP + FN), all failures, thinned together: </a:t>
            </a:r>
            <a:r>
              <a:rPr b="1"/>
              <a:t>stays put</a:t>
            </a:r>
          </a:p>
          <a:p>
            <a:pPr lvl="0"/>
            <a:r>
              <a:rPr/>
              <a:t>False positive rate (FPR), the ROC’s: FP ÷ (FP + TN), over </a:t>
            </a:r>
            <a:r>
              <a:rPr b="1"/>
              <a:t>all 57,575 healthy drives</a:t>
            </a:r>
            <a:r>
              <a:rPr/>
              <a:t>, untouched: 0.0053</a:t>
            </a:r>
          </a:p>
          <a:p>
            <a:pPr lvl="0"/>
            <a:r>
              <a:rPr/>
              <a:t>Precision, the other curve’s: TP ÷ (TP + FP); FP </a:t>
            </a:r>
            <a:r>
              <a:rPr b="1"/>
              <a:t>stays 304</a:t>
            </a:r>
            <a:r>
              <a:rPr/>
              <a:t>, TP falls from 1,127 to 106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report both</a:t>
            </a:r>
          </a:p>
        </p:txBody>
      </p:sp>
      <p:sp>
        <p:nvSpPr>
          <p:cNvPr id="3" name="Content Placeholder 2"/>
          <p:cNvSpPr>
            <a:spLocks noGrp="1"/>
          </p:cNvSpPr>
          <p:nvPr>
            <p:ph idx="1"/>
          </p:nvPr>
        </p:nvSpPr>
        <p:spPr>
          <a:xfrm>
            <a:off x="457200" y="1200151"/>
            <a:ext cx="8229600" cy="3394472"/>
          </a:xfrm>
        </p:spPr>
        <p:txBody>
          <a:bodyPr/>
          <a:lstStyle/>
          <a:p>
            <a:pPr lvl="0"/>
            <a:r>
              <a:rPr/>
              <a:t>AUC: are failures ranked first? Precision-recall: how many alarms are real?</a:t>
            </a:r>
          </a:p>
          <a:p>
            <a:pPr lvl="0"/>
            <a:r>
              <a:rPr/>
              <a:t>On imbalanced data report the </a:t>
            </a:r>
            <a:r>
              <a:rPr b="1"/>
              <a:t>precision-recall curve beside the AUC</a:t>
            </a:r>
          </a:p>
          <a:p>
            <a:pPr lvl="0"/>
            <a:r>
              <a:rPr b="1"/>
              <a:t>Average precision (AP)</a:t>
            </a:r>
            <a:r>
              <a:rPr/>
              <a:t>: the precision at each failure’s place in the ranking, averaged; Σₖ (Rₖ − Rₖ₋₁) × Pₖ</a:t>
            </a:r>
          </a:p>
          <a:p>
            <a:pPr lvl="0"/>
            <a:r>
              <a:rPr/>
              <a:t>Ours: 0.717 (notebook 2); a random ranking: 76 ÷ 2,000 = 0.038</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two costs cross</a:t>
            </a:r>
          </a:p>
        </p:txBody>
      </p:sp>
      <p:pic>
        <p:nvPicPr>
          <p:cNvPr descr="expected_cost_lines.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they cross, in one line</a:t>
            </a:r>
          </a:p>
        </p:txBody>
      </p:sp>
      <p:pic>
        <p:nvPicPr>
          <p:cNvPr descr="eq_fa0fcf9718.png" id="0" name="Picture 1"/>
          <p:cNvPicPr>
            <a:picLocks noGrp="1" noChangeAspect="1"/>
          </p:cNvPicPr>
          <p:nvPr/>
        </p:nvPicPr>
        <p:blipFill>
          <a:blip r:embed="rId3"/>
          <a:stretch>
            <a:fillRect/>
          </a:stretch>
        </p:blipFill>
        <p:spPr bwMode="auto">
          <a:xfrm>
            <a:off x="457200" y="1925439"/>
            <a:ext cx="8229600" cy="184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r>
              <a:rPr/>
              <a:t>: what lesson 1 forbade</a:t>
            </a:r>
          </a:p>
          <a:p>
            <a:pPr lvl="0"/>
            <a:r>
              <a:rPr/>
              <a:t>Properly: choose it on a </a:t>
            </a:r>
            <a:r>
              <a:rPr b="1"/>
              <a:t>validation set</a:t>
            </a:r>
            <a:r>
              <a:rPr/>
              <a:t>, measure once on the test set (lesson 5)</a:t>
            </a:r>
          </a:p>
          <a:p>
            <a:pPr lvl="0"/>
            <a:r>
              <a:rPr/>
              <a:t>t* = 0.051, fixed before looking: €49,100 on the test set; 0.078, picked by looking: €45,540</a:t>
            </a:r>
          </a:p>
          <a:p>
            <a:pPr lvl="0"/>
            <a:r>
              <a:rPr b="1"/>
              <a:t>Deploy 0.051</a:t>
            </a:r>
            <a:r>
              <a:rPr/>
              <a:t>: 0.078’s €3,560 was found on the very drives it is measured 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class weights do</a:t>
            </a:r>
          </a:p>
        </p:txBody>
      </p:sp>
      <p:sp>
        <p:nvSpPr>
          <p:cNvPr id="3" name="Content Placeholder 2"/>
          <p:cNvSpPr>
            <a:spLocks noGrp="1"/>
          </p:cNvSpPr>
          <p:nvPr>
            <p:ph idx="1"/>
          </p:nvPr>
        </p:nvSpPr>
        <p:spPr>
          <a:xfrm>
            <a:off x="457200" y="1200151"/>
            <a:ext cx="8229600" cy="3394472"/>
          </a:xfrm>
        </p:spPr>
        <p:txBody>
          <a:bodyPr/>
          <a:lstStyle/>
          <a:p>
            <a:pPr lvl="0"/>
            <a:r>
              <a:rPr/>
              <a:t>Training multiplies each drive’s log-loss term by its </a:t>
            </a:r>
            <a:r>
              <a:rPr b="1"/>
              <a:t>class weight</a:t>
            </a:r>
          </a:p>
          <a:p>
            <a:pPr lvl="0"/>
            <a:r>
              <a:rPr>
                <a:latin typeface="Courier"/>
              </a:rPr>
              <a:t>class_weight="balanced"</a:t>
            </a:r>
            <a:r>
              <a:rPr/>
              <a:t>: m ÷ (2 × class size), 0.52 healthy, 13.0 failed</a:t>
            </a:r>
          </a:p>
          <a:p>
            <a:pPr lvl="0"/>
            <a:r>
              <a:rPr/>
              <a:t>A failure counts as 25 healthy drives: </a:t>
            </a:r>
            <a:r>
              <a:rPr b="1"/>
              <a:t>class frequencies</a:t>
            </a:r>
            <a:r>
              <a:rPr/>
              <a:t>, not costs</a:t>
            </a:r>
          </a:p>
          <a:p>
            <a:pPr lvl="0"/>
            <a:r>
              <a:rPr b="1"/>
              <a:t>In effect it only lowers the threshold</a:t>
            </a:r>
            <a:r>
              <a:rPr/>
              <a:t>: at 0.5 the weighted model decides like the plain one at 0.038</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pic>
        <p:nvPicPr>
          <p:cNvPr descr="class_weight_costs.png" id="0" name="Picture 1"/>
          <p:cNvPicPr>
            <a:picLocks noGrp="1" noChangeAspect="1"/>
          </p:cNvPicPr>
          <p:nvPr/>
        </p:nvPicPr>
        <p:blipFill>
          <a:blip r:embed="rId3"/>
          <a:stretch>
            <a:fillRect/>
          </a:stretch>
        </p:blipFill>
        <p:spPr bwMode="auto">
          <a:xfrm>
            <a:off x="853148" y="1166099"/>
            <a:ext cx="7437704"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44</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45-46</a:t>
                      </a:r>
                    </a:p>
                  </a:txBody>
                </a:tc>
                <a:tc>
                  <a:txBody>
                    <a:bodyPr/>
                    <a:lstStyle/>
                    <a:p>
                      <a:pPr lvl="0" indent="0" marL="0">
                        <a:buNone/>
                      </a:pPr>
                      <a:r>
                        <a:rPr/>
                        <a:t>200,000 random (failing, healthy) pairs → 0.9488</a:t>
                      </a:r>
                    </a:p>
                  </a:txBody>
                </a:tc>
              </a:tr>
              <a:tr h="0">
                <a:tc>
                  <a:txBody>
                    <a:bodyPr/>
                    <a:lstStyle/>
                    <a:p>
                      <a:pPr lvl="0" indent="0" marL="0">
                        <a:buNone/>
                      </a:pPr>
                      <a:r>
                        <a:rPr/>
                        <a:t>the rare-positive trap, 48-49</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51-54</a:t>
                      </a:r>
                    </a:p>
                  </a:txBody>
                </a:tc>
                <a:tc>
                  <a:txBody>
                    <a:bodyPr/>
                    <a:lstStyle/>
                    <a:p>
                      <a:pPr lvl="0" indent="0" marL="0">
                        <a:buNone/>
                      </a:pPr>
                      <a:r>
                        <a:rPr>
                          <a:latin typeface="Courier"/>
                        </a:rPr>
                        <a:t>confusion_matrix</a:t>
                      </a:r>
                      <a:r>
                        <a:rPr/>
                        <a:t> at each threshold → 45,540 EUR at 0.078, against 87,620 at 0.50</a:t>
                      </a:r>
                    </a:p>
                  </a:txBody>
                </a:tc>
              </a:tr>
              <a:tr h="0">
                <a:tc>
                  <a:txBody>
                    <a:bodyPr/>
                    <a:lstStyle/>
                    <a:p>
                      <a:pPr lvl="0" indent="0" marL="0">
                        <a:buNone/>
                      </a:pPr>
                      <a:r>
                        <a:rPr/>
                        <a:t>class weights, 55-56</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58-60</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classes: softmax (optional)</a:t>
            </a:r>
          </a:p>
        </p:txBody>
      </p:sp>
      <p:sp>
        <p:nvSpPr>
          <p:cNvPr id="3" name="Content Placeholder 2"/>
          <p:cNvSpPr>
            <a:spLocks noGrp="1"/>
          </p:cNvSpPr>
          <p:nvPr>
            <p:ph idx="1"/>
          </p:nvPr>
        </p:nvSpPr>
        <p:spPr>
          <a:xfrm>
            <a:off x="457200" y="1200151"/>
            <a:ext cx="8229600" cy="3394472"/>
          </a:xfrm>
        </p:spPr>
        <p:txBody>
          <a:bodyPr/>
          <a:lstStyle/>
          <a:p>
            <a:pPr lvl="0"/>
            <a:r>
              <a:rPr/>
              <a:t>One score per class, zₖ = wₖᵀx + bₖ; </a:t>
            </a:r>
            <a:r>
              <a:rPr b="1"/>
              <a:t>softmax</a:t>
            </a:r>
            <a:r>
              <a:rPr/>
              <a:t>: P(class k) = exp(zₖ) ÷ Σⱼ exp(zⱼ): exponentiate, divide by the sum</a:t>
            </a:r>
          </a:p>
          <a:p>
            <a:pPr lvl="0"/>
            <a:r>
              <a:rPr/>
              <a:t>A degraded drive: scores 0.615, 0.603, −1.218 → 0.466, 0.460, 0.074, called healthy</a:t>
            </a:r>
          </a:p>
          <a:p>
            <a:pPr lvl="0"/>
            <a:r>
              <a:rPr/>
              <a:t>Predicted class = the largest probability, no 0.5 threshold; two classes: the sigmoid of z₁ − z₀</a:t>
            </a:r>
          </a:p>
          <a:p>
            <a:pPr lvl="0"/>
            <a:r>
              <a:rPr/>
              <a:t>In code: </a:t>
            </a:r>
            <a:r>
              <a:rPr>
                <a:latin typeface="Courier"/>
              </a:rPr>
              <a:t>decision_function</a:t>
            </a:r>
            <a:r>
              <a:rPr/>
              <a:t> (scores), </a:t>
            </a:r>
            <a:r>
              <a:rPr>
                <a:latin typeface="Courier"/>
              </a:rPr>
              <a:t>predict_proba</a:t>
            </a:r>
            <a:r>
              <a:rPr/>
              <a:t> (softmax)</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 (optional)</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 (optional)</a:t>
            </a:r>
          </a:p>
        </p:txBody>
      </p:sp>
      <p:pic>
        <p:nvPicPr>
          <p:cNvPr descr="macro_vs_weighted.png" id="0" name="Picture 1"/>
          <p:cNvPicPr>
            <a:picLocks noGrp="1" noChangeAspect="1"/>
          </p:cNvPicPr>
          <p:nvPr/>
        </p:nvPicPr>
        <p:blipFill>
          <a:blip r:embed="rId3"/>
          <a:stretch>
            <a:fillRect/>
          </a:stretch>
        </p:blipFill>
        <p:spPr bwMode="auto">
          <a:xfrm>
            <a:off x="1306206" y="1166099"/>
            <a:ext cx="6531587"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Logistic regression: sigmoid of a linear score, fitted by log loss</a:t>
            </a:r>
          </a:p>
          <a:p>
            <a:pPr lvl="0"/>
            <a:r>
              <a:rPr b="1"/>
              <a:t>96.20% accuracy, nothing caught</a:t>
            </a:r>
            <a:r>
              <a:rPr/>
              <a:t>: check the baseline, 1,924 ÷ 2,000</a:t>
            </a:r>
          </a:p>
          <a:p>
            <a:pPr lvl="0"/>
            <a:r>
              <a:rPr/>
              <a:t>Precision: the </a:t>
            </a:r>
            <a:r>
              <a:rPr b="1"/>
              <a:t>alarms</a:t>
            </a:r>
            <a:r>
              <a:rPr/>
              <a:t>; recall: the </a:t>
            </a:r>
            <a:r>
              <a:rPr b="1"/>
              <a:t>failures</a:t>
            </a:r>
          </a:p>
          <a:p>
            <a:pPr lvl="0"/>
            <a:r>
              <a:rPr b="1"/>
              <a:t>Threshold</a:t>
            </a:r>
            <a:r>
              <a:rPr/>
              <a:t> from costs: 140 ÷ 2,740 = 0.051, if calibrated</a:t>
            </a:r>
          </a:p>
          <a:p>
            <a:pPr lvl="0"/>
            <a:r>
              <a:rPr b="1"/>
              <a:t>AUC = ranking</a:t>
            </a:r>
            <a:r>
              <a:rPr/>
              <a:t>: blind to calibration, hides imbalance</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