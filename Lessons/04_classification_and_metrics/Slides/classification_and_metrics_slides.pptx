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It is exactly the mistake lesson 1 named: once the test set has helped choose anything, its score is no longer an honest estimate of how the model does on new data, because the choice was fitted to it. Today’s lesson ends up in the same place from a different direction, on slide 53, when we choose a decision threshold by looking at the test set.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Point out the proportion,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third bullet aloud: “the probability that y equals 1, given x”. The vertical bar is read “given”: everything to its right is what we know about the drive, everything to its left is what we want to know. The two inequalities are the point of writing it this way - whatever the model outputs has to stay between 0 and 1, and slide 7 shows a straight line failing exactly that.</a:t>
            </a:r>
          </a:p>
          <a:p>
            <a:pPr lvl="0" indent="0" marL="0">
              <a:buNone/>
            </a:pPr>
          </a:p>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The third bullet names the six: reallocated sectors (bad patches of the disk the drive has retired and replaced with spare ones), spin retries (times the motor needed a second attempt to bring the platters up to speed), the share of reads and of head movements that hit an error, temperature, and hours in service. Handout section 1.1 has them in a table, with a typical drive’s values.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on slide 30, after the break,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- 3,606 divided by 8,000 is 45% of the fleet. Not a small negative number. A negative probability. And extend it slightly past the data, to 32 reallocated sectors, and it predicts more than 1 (notebook 1 prints the line; the worst drive has 28).</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Its horizontal axis is z, the number the linear model w-transpose-x plus b produces for a drive - think of it as the total evidence that the drive will fail, all six counters added together with their weights. Its vertical axis is the probability. Slide 11 shows that z is exactly the log-odds; for now, z is “evidence”.</a:t>
            </a:r>
          </a:p>
          <a:p>
            <a:pPr lvl="0" indent="0" marL="0">
              <a:buNone/>
            </a:pPr>
          </a:p>
          <a:p>
            <a:pPr lvl="0" indent="0" marL="0">
              <a:buNone/>
            </a:pPr>
            <a:r>
              <a:rPr/>
              <a:t>Steep in the middle, flat at both ends. Make the case that the flatness is the right behaviour, not a compromise - and be precise about what is diminishing. It is the total evidence z, not any one counter. Two more units of z starting from z = 0 take the probability from sigma(0) = 0.50 to sigma(2) = 1 over (1 + e to the minus 2) = 0.88, a rise of 0.38; the same two units starting from z = 6 take it from sigma(6) = 0.9975 to sigma(8) = 0.9997, a rise of 0.0021 - 0.38 divided by 0.0021 is 178 times less. Once the model is nearly sure, more evidence barely changes its answer.</a:t>
            </a:r>
          </a:p>
          <a:p>
            <a:pPr lvl="0" indent="0" marL="0">
              <a:buNone/>
            </a:pPr>
          </a:p>
          <a:p>
            <a:pPr lvl="0" indent="0" marL="0">
              <a:buNone/>
            </a:pPr>
            <a:r>
              <a:rPr/>
              <a:t>Expect someone to object with slide 7’s right panel. That curve barely moves over the first few reallocated sectors, where 90% of the drives sit (four sectors or fewer), and it is steepest at 13.2 sectors. So do the first sectors say little? Two separate answers, in this order.</a:t>
            </a:r>
          </a:p>
          <a:p>
            <a:pPr lvl="0" indent="0" marL="0">
              <a:buNone/>
            </a:pPr>
          </a:p>
          <a:p>
            <a:pPr lvl="0" indent="0" marL="0">
              <a:buNone/>
            </a:pPr>
            <a:r>
              <a:rPr/>
              <a:t>First, it is the same sigmoid, drawn against a different axis. Slide 7’s model has one input, the raw count of reallocated sectors, so its z is a straight line in the count: z = 0.336 times the count, minus 4.43. With no sectors z is already -4.43, deep in the flat left end of this slide’s curve; z reaches 0, the steep middle, where 0.336 times the count equals 4.43: at 4.43 divided by 0.336 = 13.2 sectors. The flat start of slide 7 is the flat left end of slide 8, with sectors on the axis instead of z.</a:t>
            </a:r>
          </a:p>
          <a:p>
            <a:pPr lvl="0" indent="0" marL="0">
              <a:buNone/>
            </a:pPr>
          </a:p>
          <a:p>
            <a:pPr lvl="0" indent="0" marL="0">
              <a:buNone/>
            </a:pPr>
            <a:r>
              <a:rPr/>
              <a:t>Second, the flat start comes from using the raw count, not from the drives. A straight line in the count gives every sector the same weight: the first adds as much to z as the twentieth. But the labels were generated from log(1 + count), which gives the first sectors the most weight (handout section 1.1). The handout’s figure in section 2.2 draws what the sectors add to z under each of the two. That is why the six-counter model of slide 12 onwards takes log(1 + count) as its input.</a:t>
            </a:r>
          </a:p>
          <a:p>
            <a:pPr lvl="0" indent="0" marL="0">
              <a:buNone/>
            </a:pPr>
          </a:p>
          <a:p>
            <a:pPr lvl="0" indent="0" marL="0">
              <a:buNone/>
            </a:pPr>
            <a:r>
              <a:rPr/>
              <a:t>Right panel: the same relationship inverted - probability on the horizontal axis, log-odds on the vertical one. This is the panel that explains WHY this particular curve and not some other S-shape; slide 9 says it in words.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puts in words what the right panel of slide 8 shows. Go through the two steps slowly; each removes one limit. Odds: a probability of 0.2 is odds of 0.2 divided by 0.8 = 0.25, and as the probability approaches 1 the odds run off to infinity - no ceiling. But odds are never negative, so there is still a floor at 0. The logarithm sends 0 to minus infinity, and the floor is gone too.</a:t>
            </a:r>
          </a:p>
          <a:p>
            <a:pPr lvl="0" indent="0" marL="0">
              <a:buNone/>
            </a:pPr>
          </a:p>
          <a:p>
            <a:pPr lvl="0" indent="0" marL="0">
              <a:buNone/>
            </a:pPr>
            <a:r>
              <a:rPr/>
              <a:t>Nothing is lost on the way: each probability has exactly one log-odds and back. The fourth bullet makes the stretch concrete - the scale is symmetric around a half, and the extremes are pushed outwards.</a:t>
            </a:r>
          </a:p>
          <a:p>
            <a:pPr lvl="0" indent="0" marL="0">
              <a:buNone/>
            </a:pPr>
          </a:p>
          <a:p>
            <a:pPr lvl="0" indent="0" marL="0">
              <a:buNone/>
            </a:pPr>
            <a:r>
              <a:rPr/>
              <a:t>The question a sharp student asks: why this function and not some other one that also maps (0, 1) onto the whole line? There are others; the probit, built on the inverse of the normal distribution, is the common one, and it gives almost the same S-shape. The log-odds wins on three counts, and the shape is not one of them:</a:t>
            </a:r>
          </a:p>
          <a:p>
            <a:pPr lvl="0" indent="0" marL="0">
              <a:buNone/>
            </a:pPr>
          </a:p>
          <a:p>
            <a:pPr lvl="0"/>
            <a:r>
              <a:rPr/>
              <a:t>the coefficients read as odds multipliers, which is slide 13;</a:t>
            </a:r>
          </a:p>
          <a:p>
            <a:pPr lvl="0" indent="0" marL="0">
              <a:buNone/>
            </a:pPr>
          </a:p>
          <a:p>
            <a:pPr lvl="0"/>
            <a:r>
              <a:rPr/>
              <a:t>it is the scale on which Bayes’ rule adds evidence: the log-odds after seeing a drive’s counters equals the log-odds before seeing them (from the base rate alone) plus one term per counter, if the counters are independent given the class - and a sum of one term per feature is exactly what a linear model is;</a:t>
            </a:r>
          </a:p>
          <a:p>
            <a:pPr lvl="0" indent="0" marL="0">
              <a:buNone/>
            </a:pPr>
          </a:p>
          <a:p>
            <a:pPr lvl="0"/>
            <a:r>
              <a:rPr/>
              <a:t>with the cross-entropy cost of slide 23 the gradient comes out as (prediction minus label) times x, and the cost is convex - handout sections 3.4 and 4.3.</a:t>
            </a:r>
          </a:p>
          <a:p>
            <a:pPr lvl="0" indent="0" marL="0">
              <a:buNone/>
            </a:pPr>
          </a:p>
          <a:p>
            <a:pPr lvl="0" indent="0" marL="0">
              <a:buNone/>
            </a:pPr>
            <a:r>
              <a:rPr/>
              <a:t>The predictable mistake: students think the sigmoid was picked because it looks like the right S-shape. A reasonable interpretation, because the shape is what slide 8 shows first. But many curves have that shape; what singles this one out is the log-odds behind it. 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9 said the log-odds has the range a line needs. That is true, but it is not a reason: plenty of other functions also stretch (0, 1) onto the whole line. This slide gives the reason, in two steps: first why evidence multiplies the odds, then what that looks like.</a:t>
            </a:r>
          </a:p>
          <a:p>
            <a:pPr lvl="0" indent="0" marL="0">
              <a:buNone/>
            </a:pPr>
          </a:p>
          <a:p>
            <a:pPr lvl="0" indent="0" marL="0">
              <a:buNone/>
            </a:pPr>
            <a:r>
              <a:rPr/>
              <a:t>Why it multiplies, by counting, before pointing at the figure. Take 1,000 drives at 50% risk: 500 will fail, 500 will not. A reading shows up on 60% of the failing drives and on 10% of the healthy ones. Among the drives that show it, 300 will fail and 50 will not: the odds, failing divided by healthy, go from 500 / 500 = 1 to 300 / 50 = 6. The reading scales the failing drives by 0.6 and the healthy ones by 0.1, so their ratio is multiplied by 0.6 / 0.1 = 6 whatever it was before - start from 950 and 50 and you get 570 and 5, odds 19 to 114. That is Bayes’ rule written with odds. The figure takes it as given and shows the consequence.</a:t>
            </a:r>
          </a:p>
          <a:p>
            <a:pPr lvl="0" indent="0" marL="0">
              <a:buNone/>
            </a:pPr>
          </a:p>
          <a:p>
            <a:pPr lvl="0" indent="0" marL="0">
              <a:buNone/>
            </a:pPr>
            <a:r>
              <a:rPr/>
              <a:t>Start from what a linear model does. It adds one contribution per feature, and each contribution is the same whatever the other features say. So we want the same evidence to act on every drive in the same way, whatever its risk.</a:t>
            </a:r>
          </a:p>
          <a:p>
            <a:pPr lvl="0" indent="0" marL="0">
              <a:buNone/>
            </a:pPr>
          </a:p>
          <a:p>
            <a:pPr lvl="0" indent="0" marL="0">
              <a:buNone/>
            </a:pPr>
            <a:r>
              <a:rPr/>
              <a:t>The picture shows three drives, marked by the yellow dots: an average drive at 0.2%, one at 50% and one at 95%. Each receives the same reading - a value one of its counters reports, say a high count of reallocated sectors - and it is a reading six times more common among drives that fail than among healthy ones. Bayes’ rule says such a reading multiplies the odds - the probability of failing divided by the probability of not failing - by 6, whatever they were before (handout section 2.3 shows it by counting 1,000 drives). On the horizontal axis, the log-odds, multiplying by 6 is always the same step: the three teal arrows have the same length.</a:t>
            </a:r>
          </a:p>
          <a:p>
            <a:pPr lvl="0" indent="0" marL="0">
              <a:buNone/>
            </a:pPr>
          </a:p>
          <a:p>
            <a:pPr lvl="0" indent="0" marL="0">
              <a:buNone/>
            </a:pPr>
            <a:r>
              <a:rPr/>
              <a:t>Now the rust arrows: what that same step does to the probability. 36 points for the drive at 50%, 4 points for the drive at 95%, 1 point for the average drive. And it never passes 100%, because the curve cannot. A fixed step in probability would: plus 0.10 takes the drive at 95% to 105%.</a:t>
            </a:r>
          </a:p>
          <a:p>
            <a:pPr lvl="0" indent="0" marL="0">
              <a:buNone/>
            </a:pPr>
          </a:p>
          <a:p>
            <a:pPr lvl="0" indent="0" marL="0">
              <a:buNone/>
            </a:pPr>
            <a:r>
              <a:rPr/>
              <a:t>So nobody chose the S-shape of slide 8. It is what “evidence multiplies the odds” looks like when it is drawn as a probability: steep in the middle, flat at both ends.</a:t>
            </a:r>
          </a:p>
          <a:p>
            <a:pPr lvl="0" indent="0" marL="0">
              <a:buNone/>
            </a:pPr>
          </a:p>
          <a:p>
            <a:pPr lvl="0" indent="0" marL="0">
              <a:buNone/>
            </a:pPr>
            <a:r>
              <a:rPr/>
              <a:t>The step to the next slide: on the log-odds axis, evidence simply adds. Several readings, if independent given the class, are one fixed step each, starting from the average drive at minus 6.20. A starting value plus one step per feature is exactly w-transpose-x plus b, which is why slide 11 puts the line on the log-odds. Six is a realistic factor: the coefficient of reallocated sectors used to generate the labels is 1.80 per standard deviation, and e to the 1.80 is 6.05 (slide 13 reads coefficients this way; slide 14 shows the true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from the log-odds of slide 9 to the sigmoid of the next slide, done on the board. p is shorthand for P(y = 1 | x), the probability from slide 4.</a:t>
            </a:r>
          </a:p>
          <a:p>
            <a:pPr lvl="0" indent="0" marL="0">
              <a:buNone/>
            </a:pPr>
          </a:p>
          <a:p>
            <a:pPr lvl="0" indent="0" marL="0">
              <a:buNone/>
            </a:pPr>
            <a:r>
              <a:rPr/>
              <a:t>The left-hand equation is the modelling decision. The log-odds runs over the whole real line - the right panel of slide 8 - so it is the one version of the probability a line can predict without ever leaving the range. So put the linear model of lesson 3 there, unchanged.</a:t>
            </a:r>
          </a:p>
          <a:p>
            <a:pPr lvl="0" indent="0" marL="0">
              <a:buNone/>
            </a:pPr>
          </a:p>
          <a:p>
            <a:pPr lvl="0" indent="0" marL="0">
              <a:buNone/>
            </a:pPr>
            <a:r>
              <a:rPr/>
              <a:t>The right-hand side is algebra, three lines. Write z for w-transpose-x plus b. Exponentiate both sides: p over 1 minus p equals e to the z. Multiply out and collect p: p times (1 plus e to the z) equals e to the z, so p is e to the z over 1 plus e to the z. Divide top and bottom by e to the z: p is 1 over 1 plus e to the minus z. That function has a name, and the next slide gives it.</a:t>
            </a:r>
          </a:p>
          <a:p>
            <a:pPr lvl="0" indent="0" marL="0">
              <a:buNone/>
            </a:pPr>
          </a:p>
          <a:p>
            <a:pPr lvl="0" indent="0" marL="0">
              <a:buNone/>
            </a:pPr>
            <a:r>
              <a:rPr/>
              <a:t>Check it with a number: a log-odds of +2.20 gives back 1 over (1 plus e to the minus 2.2) = 1 over (1 + 0.111) = 0.90. Going the other way, a probability of 0.90 is odds of 0.9 divided by 0.1 = 9, and log 9 = 2.20. A log-odds of 0 gives back exactly a half.</a:t>
            </a:r>
          </a:p>
          <a:p>
            <a:pPr lvl="0" indent="0" marL="0">
              <a:buNone/>
            </a:pPr>
          </a:p>
          <a:p>
            <a:pPr lvl="0" indent="0" marL="0">
              <a:buNone/>
            </a:pPr>
            <a:r>
              <a:rPr/>
              <a:t>The handout runs the same algebra in the other direction, from the sigmoid to the log-odds, in section 2.3.</a:t>
            </a:r>
          </a:p>
          <a:p>
            <a:pPr lvl="0" indent="0" marL="0">
              <a:buNone/>
            </a:pPr>
          </a:p>
          <a:p>
            <a:pPr lvl="0" indent="0" marL="0">
              <a:buNone/>
            </a:pPr>
            <a:r>
              <a:rPr/>
              <a:t>Two predictable slips, worth correcting as soon as you hear them. First, p is not a vague “probability that the drive has problems”: it is P(y = 1 | x), the probability that this drive fails within thirty days, given its six counters. Second, the line has the same form as lesson 3’s, but it is not fitted by least squares: w and b are chosen by maximum likelihood, which slides 16 to 21 build.</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at sigma = 0.5, where it is 0.5 times 0.5 = one quarter, and it decays to zero at both ends. That one fact does two jobs later. It is why the sigmoid behaves well: flat ends mean that once the model is sure, extra evidence changes little (slide 8). And it is why squared error fails with it: slide 25 shows that the same factor ends up inside squared error’s gradient and switches learning off exactly when the model is confidently wrong.</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Three steps, one per bullet.</a:t>
            </a:r>
          </a:p>
          <a:p>
            <a:pPr lvl="0" indent="0" marL="0">
              <a:buNone/>
            </a:pPr>
          </a:p>
          <a:p>
            <a:pPr lvl="0" indent="0" marL="0">
              <a:buNone/>
            </a:pPr>
            <a:r>
              <a:rPr/>
              <a:t>First bullet, its first half: why “standardised” comes first. A coefficient says how much z grows when its feature rises by one unit, and the raw units differ - a sector, a degree, an hour in service - so raw coefficients cannot be compared. StandardScaler (lesson 3) rescales every feature to mean 0 and standard deviation 1: from then on, one unit means one standard deviation for every feature, and the coefficients can be compared with each other.</a:t>
            </a:r>
          </a:p>
          <a:p>
            <a:pPr lvl="0" indent="0" marL="0">
              <a:buNone/>
            </a:pPr>
          </a:p>
          <a:p>
            <a:pPr lvl="0" indent="0" marL="0">
              <a:buNone/>
            </a:pPr>
            <a:r>
              <a:rPr/>
              <a:t>Say what one standard deviation means for this counter, because it is not “one sector more”. The four counters on a logarithmic scale are standardised after log(1 + x), so reallocated sectors contribute 1.80 times (log(1 + x) minus 0.96) divided by 0.62 to z, where 0.96 and 0.62 are the mean and the standard deviation of log(1 + x) over the fleet. One standard deviation more adds 0.62 to log(1 + x), which multiplies 1 + x by e to the 0.62 = 1.86: from 1 sector to 2.7, from 4 to 8.3, from 10 to 19.5. Roughly, the count doubles - and each such step multiplies the odds by the same 6.05. That is why the first sectors weigh so much: 1 to 2.7 sectors counts as much as 10 to 19.5. Temperature and hours are standardised on their own values, so for them one standard deviation is an ordinary additive step.</a:t>
            </a:r>
          </a:p>
          <a:p>
            <a:pPr lvl="0" indent="0" marL="0">
              <a:buNone/>
            </a:pPr>
          </a:p>
          <a:p>
            <a:pPr lvl="0" indent="0" marL="0">
              <a:buNone/>
            </a:pPr>
            <a:r>
              <a:rPr/>
              <a:t>First bullet, its second half: this is slide 11’s line, log-odds = b + w1 x1 + … + w6 x6. Each feature contributes its coefficient times its value, so raising reallocated sectors by one standard deviation adds exactly its coefficient to the log-odds - 1.80 is the true coefficient, the one the data was generated with (next slide) - and it adds 1.80 whatever the other five counters say. That is what “linear” buys.</a:t>
            </a:r>
          </a:p>
          <a:p>
            <a:pPr lvl="0" indent="0" marL="0">
              <a:buNone/>
            </a:pPr>
          </a:p>
          <a:p>
            <a:pPr lvl="0" indent="0" marL="0">
              <a:buNone/>
            </a:pPr>
            <a:r>
              <a:rPr/>
              <a:t>Second bullet: why a sum on the log-odds becomes a product on the odds. The logarithm turns products into sums, log of a times b is log a plus log b. Read it backwards: adding 1.80 to the logarithm of the odds is the same as multiplying the odds by exp(1.80), which is 6.05. Check it on an average drive: its log-odds are the intercept, minus 6.20, so its odds are exp(-6.20) = 0.0020. One standard deviation more of reallocated sectors: log-odds minus 4.40, odds exp(-4.40) = 0.0123. Divide: 6.05.</a:t>
            </a:r>
          </a:p>
          <a:p>
            <a:pPr lvl="0" indent="0" marL="0">
              <a:buNone/>
            </a:pPr>
          </a:p>
          <a:p>
            <a:pPr lvl="0" indent="0" marL="0">
              <a:buNone/>
            </a:pPr>
            <a:r>
              <a:rPr/>
              <a:t>Third bullet: that is the arrow of slide 10’s figure. Every teal arrow was a multiplication of the odds by 6, and on the log-odds axis it had the same length - 1.79, almost exactly this coefficient. The fitted coefficient on the next slide is 1.66, a multiplier of 5.28.</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a probability of 0.90 is odds of 0.9 divided by 0.1 = 9; multiplied by 5 that gives odds of 45, which is a probability of 45 divided by 46 =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do not just look at the estimates, we check them against the truth.</a:t>
            </a:r>
          </a:p>
          <a:p>
            <a:pPr lvl="0" indent="0" marL="0">
              <a:buNone/>
            </a:pPr>
          </a:p>
          <a:p>
            <a:pPr lvl="0" indent="0" marL="0">
              <a:buNone/>
            </a:pPr>
            <a:r>
              <a:rPr/>
              <a:t>The columns: True is the coefficient disk_data.py generated the labels with, Fitted is what LogisticRegression estimated from 6,000 training drives, and “Odds ×” is exp(Fitted), the multiplier of slide 13.</a:t>
            </a:r>
          </a:p>
          <a:p>
            <a:pPr lvl="0" indent="0" marL="0">
              <a:buNone/>
            </a:pPr>
          </a:p>
          <a:p>
            <a:pPr lvl="0" indent="0" marL="0">
              <a:buNone/>
            </a:pPr>
            <a:r>
              <a:rPr/>
              <a:t>Go down the column. Everything is close. Nothing is exact, and say why - 6,000 training drives carrying 230 failures (306 in the fleet minus the 76 kept for the test set)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exp(0.02) = 1.02.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Start with what x = 0 means. The intercept is the value of the log-odds when every x is 0 - but the x are standardised (slide 13), so x = 0 is not a drive with no sectors and no errors: it is a drive sitting exactly at the fleet average on every counter.</a:t>
            </a:r>
          </a:p>
          <a:p>
            <a:pPr lvl="0" indent="0" marL="0">
              <a:buNone/>
            </a:pPr>
          </a:p>
          <a:p>
            <a:pPr lvl="0" indent="0" marL="0">
              <a:buNone/>
            </a:pPr>
            <a:r>
              <a:rPr/>
              <a:t>Then say what the intercept is NOT: it is not the base rate. The fleet fails at 3.8%; the intercept describes a drive whose every counter sits at the average, and such a drive almost never fails. The failures come from the small group of drives far above average on one or more counters. Handout section 2.4.</a:t>
            </a:r>
          </a:p>
          <a:p>
            <a:pPr lvl="0" indent="0" marL="0">
              <a:buNone/>
            </a:pPr>
          </a:p>
          <a:p>
            <a:pPr lvl="0" indent="0" marL="0">
              <a:buNone/>
            </a:pPr>
            <a:r>
              <a:rPr/>
              <a:t>An average drive has a 0.2% chance of failing in thirty days. For the model to reach an even bet - probability one half, log-odds zero - the counters have to add more than 6.09 to the intercept’s -6.09. Only badly degraded drives manage that.</a:t>
            </a:r>
          </a:p>
          <a:p>
            <a:pPr lvl="0" indent="0" marL="0">
              <a:buNone/>
            </a:pPr>
          </a:p>
          <a:p>
            <a:pPr lvl="0" indent="0" marL="0">
              <a:buNone/>
            </a:pPr>
            <a:r>
              <a:rPr/>
              <a:t>So the model will assign small probabilities to almost everything. Introduce the word now: a model that outputs a probability still has to decide “fail” or “healthy”, and it does so with a threshold - flag the drive if its probability is at least the threshold. scikit-learn’s predict() uses 0.5. With these probabilities,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so do not give it yet. Slides 17 to 21 first build, on three drives, the cost that logistic regression does minimise; slide 25 then comes back to squared error and shows what goes wrong with it, on a drive the model is confidently wrong about.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next five slides answer the question of slide 16 - what should fitting minimise? - one step at a time, on three drives. The numbers are made up for the example; drives A, B and C are not from the dataset.</a:t>
            </a:r>
          </a:p>
          <a:p>
            <a:pPr lvl="0" indent="0" marL="0">
              <a:buNone/>
            </a:pPr>
          </a:p>
          <a:p>
            <a:pPr lvl="0" indent="0" marL="0">
              <a:buNone/>
            </a:pPr>
            <a:r>
              <a:rPr/>
              <a:t>Start from what the model does. Fitting means choosing the coefficients w and the intercept b. Call one particular choice of w and b a “setting”. Given a setting, the model of slide 12 turns each drive’s counters x into a probability of failing: p = sigma(w-transpose-x + b). This slide shows the p that one setting, setting 1, gives to each of the three drives.</a:t>
            </a:r>
          </a:p>
          <a:p>
            <a:pPr lvl="0" indent="0" marL="0">
              <a:buNone/>
            </a:pPr>
          </a:p>
          <a:p>
            <a:pPr lvl="0" indent="0" marL="0">
              <a:buNone/>
            </a:pPr>
            <a:r>
              <a:rPr/>
              <a:t>Next to it, what actually happened, and its label y: 1 for a drive that failed, 0 for one that stayed healthy - the convention of slide 4.</a:t>
            </a:r>
          </a:p>
          <a:p>
            <a:pPr lvl="0" indent="0" marL="0">
              <a:buNone/>
            </a:pPr>
          </a:p>
          <a:p>
            <a:pPr lvl="0" indent="0" marL="0">
              <a:buNone/>
            </a:pPr>
            <a:r>
              <a:rPr/>
              <a:t>Ask the room: is setting 1 a good setting? Let them argue it from the table. It gave the drive that failed a high p, and the two that survived a low one, so it looks good. The next slide turns that impression into a number.</a:t>
            </a:r>
          </a:p>
          <a:p>
            <a:pPr lvl="0" indent="0" marL="0">
              <a:buNone/>
            </a:pPr>
          </a:p>
          <a:p>
            <a:pPr lvl="0" indent="0" marL="0">
              <a:buNone/>
            </a:pPr>
            <a:r>
              <a:rPr/>
              <a:t>A predictable slip: reading B’s 0.1 as “the probability of what happened to B”. It is not. p is the probability of FAILING for every drive, including the two that stayed healthy; the probability of what happened to B is 1 - 0.1 = 0.9, and that conversion is exactly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judge a setting by how probable it made what really happened.</a:t>
            </a:r>
          </a:p>
          <a:p>
            <a:pPr lvl="0" indent="0" marL="0">
              <a:buNone/>
            </a:pPr>
          </a:p>
          <a:p>
            <a:pPr lvl="0" indent="0" marL="0">
              <a:buNone/>
            </a:pPr>
            <a:r>
              <a:rPr/>
              <a:t>p is the probability of failing. For drive A, which did fail, that is exactly the probability of what happened: 0.8. For drives B and C, which stayed healthy, the probability of what happened is the probability of staying healthy, which is 1 minus p: 1 - 0.1 = 0.9 and 1 - 0.2 = 0.8. That is the rule in the last column header: p if y = 1, 1 - p if y = 0.</a:t>
            </a:r>
          </a:p>
          <a:p>
            <a:pPr lvl="0" indent="0" marL="0">
              <a:buNone/>
            </a:pPr>
          </a:p>
          <a:p>
            <a:pPr lvl="0" indent="0" marL="0">
              <a:buNone/>
            </a:pPr>
            <a:r>
              <a:rPr/>
              <a:t>Then the three drives together. If the drives fail or survive independently of each other, the probability that all three outcomes happen is the product of the three: 0.8 times 0.9 times 0.8, which is 0.576. Under setting 1, what we observed had a 57.6% chance of happening.</a:t>
            </a:r>
          </a:p>
          <a:p>
            <a:pPr lvl="0" indent="0" marL="0">
              <a:buNone/>
            </a:pPr>
          </a:p>
          <a:p>
            <a:pPr lvl="0" indent="0" marL="0">
              <a:buNone/>
            </a:pPr>
            <a:r>
              <a:rPr/>
              <a:t>That product has a name: the likelihood of the setting. The next slide writes the same two rules as formulas.</a:t>
            </a:r>
          </a:p>
          <a:p>
            <a:pPr lvl="0" indent="0" marL="0">
              <a:buNone/>
            </a:pPr>
          </a:p>
          <a:p>
            <a:pPr lvl="0" indent="0" marL="0">
              <a:buNone/>
            </a:pPr>
            <a:r>
              <a:rPr/>
              <a:t>A predictable slip: describing this slide as “the probability of failing for the three drives”. The last column is the probability of WHAT HAPPENED - of failing for A, of staying healthy for B and C. And the multiplication needs its condition said aloud: the drives must be independent, as two coin tosses are, for the probability of all three outcomes to be the product.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formulas, and both are the previous slide written in symbols.</a:t>
            </a:r>
          </a:p>
          <a:p>
            <a:pPr lvl="0" indent="0" marL="0">
              <a:buNone/>
            </a:pPr>
          </a:p>
          <a:p>
            <a:pPr lvl="0" indent="0" marL="0">
              <a:buNone/>
            </a:pPr>
            <a:r>
              <a:rPr/>
              <a:t>Top line: the probability of what happened to one drive. It is the rule “p if y = 1, 1 - p if y = 0” in a single expression. Check it with y = 1: p to the power 1 is p, and (1 - p) to the power 0 is 1, so it gives p. With y = 0 it gives 1 times (1 - p). Do drive B on the board: 0.1 to the power 0 times 0.9 to the power 1 is 0.9, the number in the table. The exponents are just a way of writing an if-statement.</a:t>
            </a:r>
          </a:p>
          <a:p>
            <a:pPr lvl="0" indent="0" marL="0">
              <a:buNone/>
            </a:pPr>
          </a:p>
          <a:p>
            <a:pPr lvl="0" indent="0" marL="0">
              <a:buNone/>
            </a:pPr>
            <a:r>
              <a:rPr/>
              <a:t>Bottom line: the likelihood, script L, of a setting (w, b). The capital pi means “multiply over all the drives”, i from 1 to m, the way a capital sigma means “add”. Each drive contributes its factor from the top line; the superscript (i) says which drive. For our three drives, m = 3 and the product is 0.8 times 0.9 times 0.8 = 0.576.</a:t>
            </a:r>
          </a:p>
          <a:p>
            <a:pPr lvl="0" indent="0" marL="0">
              <a:buNone/>
            </a:pPr>
          </a:p>
          <a:p>
            <a:pPr lvl="0" indent="0" marL="0">
              <a:buNone/>
            </a:pPr>
            <a:r>
              <a:rPr/>
              <a:t>The p inside depends on w and b, through p = sigma(w-transpose-x + b). That is why L is written as a function of w and b: change the setting, every p changes, and the likelihood changes with them. Handout section 3.2.</a:t>
            </a:r>
          </a:p>
          <a:p>
            <a:pPr lvl="0" indent="0" marL="0">
              <a:buNone/>
            </a:pPr>
          </a:p>
          <a:p>
            <a:pPr lvl="0" indent="0" marL="0">
              <a:buNone/>
            </a:pPr>
            <a:r>
              <a:rPr/>
              <a:t>A predictable slip of language: calling the top line “the likelihood of one example”. It is one drive’s factor, the probability of what happened to that drive. The likelihood is the product on the bottom line, read as a function of w and b with the data held fixed - which is why it is written L(w, b).</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Why a second setting at all: 0.576 on its own means nothing - there is no scale on which it is “high” or “low”. A likelihood is only useful as a comparison between settings, so we need a second one to compare against.</a:t>
            </a:r>
          </a:p>
          <a:p>
            <a:pPr lvl="0" indent="0" marL="0">
              <a:buNone/>
            </a:pPr>
          </a:p>
          <a:p>
            <a:pPr lvl="0" indent="0" marL="0">
              <a:buNone/>
            </a:pPr>
            <a:r>
              <a:rPr/>
              <a:t>Now a second setting, a different choice of w and b. It gives the three drives p = 0.3, 0.6 and 0.5: a low p to the drive that failed, a high p to one that survived. It looks worse, and the likelihood says how much worse.</a:t>
            </a:r>
          </a:p>
          <a:p>
            <a:pPr lvl="0" indent="0" marL="0">
              <a:buNone/>
            </a:pPr>
          </a:p>
          <a:p>
            <a:pPr lvl="0" indent="0" marL="0">
              <a:buNone/>
            </a:pPr>
            <a:r>
              <a:rPr/>
              <a:t>Apply the same rule, column by column. A failed, so its factor is p = 0.3. B and C survived, so their factors are 1 - 0.6 = 0.4 and 1 - 0.5 = 0.5. Multiply: 0.3 times 0.4 times 0.5 = 0.060.</a:t>
            </a:r>
          </a:p>
          <a:p>
            <a:pPr lvl="0" indent="0" marL="0">
              <a:buNone/>
            </a:pPr>
          </a:p>
          <a:p>
            <a:pPr lvl="0" indent="0" marL="0">
              <a:buNone/>
            </a:pPr>
            <a:r>
              <a:rPr/>
              <a:t>Compare: 0.576 against 0.060. What actually happened is 0.576 divided by 0.060 = 9.6 times more probable under setting 1, so setting 1 explains the data better. Keep it.</a:t>
            </a:r>
          </a:p>
          <a:p>
            <a:pPr lvl="0" indent="0" marL="0">
              <a:buNone/>
            </a:pPr>
          </a:p>
          <a:p>
            <a:pPr lvl="0" indent="0" marL="0">
              <a:buNone/>
            </a:pPr>
            <a:r>
              <a:rPr/>
              <a:t>That comparison is maximum likelihood. Fitting a logistic regression is the same comparison made over every possible setting rather than two: choose the w and b with the largest likelihood. Nobody tries them one by one - gradient descent does the searching, as in lesson 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step turns “largest likelihood” into “smallest cost”, so it can be minimised as in lesson 3. Natural logarithms throughout.</a:t>
            </a:r>
          </a:p>
          <a:p>
            <a:pPr lvl="0" indent="0" marL="0">
              <a:buNone/>
            </a:pPr>
          </a:p>
          <a:p>
            <a:pPr lvl="0" indent="0" marL="0">
              <a:buNone/>
            </a:pPr>
            <a:r>
              <a:rPr/>
              <a:t>Take minus the logarithm of each drive’s factor and add them up. Because the log of a product is the sum of the logs, the sum is minus the log of the likelihood: 0.55 is minus the log of 0.576, and 2.81 is minus the log of 0.060. The logarithm keeps the order and the minus sign reverses it, so the better setting now has the SMALLER number - 0.55 against 2.81. Setting 1 still wins.</a:t>
            </a:r>
          </a:p>
          <a:p>
            <a:pPr lvl="0" indent="0" marL="0">
              <a:buNone/>
            </a:pPr>
          </a:p>
          <a:p>
            <a:pPr lvl="0" indent="0" marL="0">
              <a:buNone/>
            </a:pPr>
            <a:r>
              <a:rPr/>
              <a:t>A predictable slip: calling setting 1 “the maximum” and 0.55 “the minimum cost”. Setting 1 only beats setting 2; other choices of w and b would surely make these three outcomes more probable still. The maximum likelihood over every possible (w, b) - the same point as the minimum cost - is what fitting finds.</a:t>
            </a:r>
          </a:p>
          <a:p>
            <a:pPr lvl="0" indent="0" marL="0">
              <a:buNone/>
            </a:pPr>
          </a:p>
          <a:p>
            <a:pPr lvl="0" indent="0" marL="0">
              <a:buNone/>
            </a:pPr>
            <a:r>
              <a:rPr/>
              <a:t>Read the per-drive numbers too. Minus the log of a probability is called the surprise of an outcome: 0 for something you were certain of, large for something you said was unlikely. Setting 2 is most surprised by drive A, 1.20, because it gave A’s failure only 0.3. Maximum likelihood and least total surprise are the same choice.</a:t>
            </a:r>
          </a:p>
          <a:p>
            <a:pPr lvl="0" indent="0" marL="0">
              <a:buNone/>
            </a:pPr>
          </a:p>
          <a:p>
            <a:pPr lvl="0" indent="0" marL="0">
              <a:buNone/>
            </a:pPr>
            <a:r>
              <a:rPr/>
              <a:t>Two reasons we always work with the logarithm, worth saying aloud. A sum differentiates one term at a time. And the product itself is too small to store. Notebook 1’s gradient descent starts with every coefficient and the intercept at zero, so z is 0 for every drive and every p is 0.5. 0.5 multiplied by itself 6,000 times, once per training drive, is 10 to the power 6,000 times log10 of 0.5 = 6,000 times minus 0.301 = minus 1806, while the smallest positive number a 64-bit float can hold is about 5 times 10 to the minus 324. The computer would store exactly zero.</a:t>
            </a:r>
          </a:p>
          <a:p>
            <a:pPr lvl="0" indent="0" marL="0">
              <a:buNone/>
            </a:pPr>
          </a:p>
          <a:p>
            <a:pPr lvl="0" indent="0" marL="0">
              <a:buNone/>
            </a:pPr>
            <a:r>
              <a:rPr/>
              <a:t>Divide the sum by the number of drives and you have the average surprise: that is the cost J that fitting minimises, and scikit-learn’s log_loss computes exactly this average. The next slide draws the surprise of one drive, and slide 23 writes it as a formula, the loss L; J is its average over the drives. Handout sections 3.1 to 3.3.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21’s numbers, drawn. The horizontal axis is the probability the model gave to what actually happened - the factors of slides 18 and 20. The vertical axis is minus the log of it: the surprise.</a:t>
            </a:r>
          </a:p>
          <a:p>
            <a:pPr lvl="0" indent="0" marL="0">
              <a:buNone/>
            </a:pPr>
          </a:p>
          <a:p>
            <a:pPr lvl="0" indent="0" marL="0">
              <a:buNone/>
            </a:pPr>
            <a:r>
              <a:rPr/>
              <a:t>Read the curve from right to left. Something the model was sure of, p = 1, costs nothing: minus log 1 is 0. As p falls the surprise grows, slowly at first and then without limit: something the model called impossible costs infinity.</a:t>
            </a:r>
          </a:p>
          <a:p>
            <a:pPr lvl="0" indent="0" marL="0">
              <a:buNone/>
            </a:pPr>
          </a:p>
          <a:p>
            <a:pPr lvl="0" indent="0" marL="0">
              <a:buNone/>
            </a:pPr>
            <a:r>
              <a:rPr/>
              <a:t>Now the six dots. Setting 1’s factors, 0.8, 0.9 and 0.8, sit on the flat right-hand part: small surprises, 0.22 + 0.11 + 0.22 = 0.55 in all. Setting 2’s, 0.3, 0.4 and 0.5, sit higher up: 1.20 + 0.92 + 0.69 = 2.81. The highest dot is drive A under setting 2: it failed, and setting 2 had given its failure only 0.3, so minus log 0.3 = 1.20.</a:t>
            </a:r>
          </a:p>
          <a:p>
            <a:pPr lvl="0" indent="0" marL="0">
              <a:buNone/>
            </a:pPr>
          </a:p>
          <a:p>
            <a:pPr lvl="0" indent="0" marL="0">
              <a:buNone/>
            </a:pPr>
            <a:r>
              <a:rPr/>
              <a:t>The curve is the cost of one drive, which the next slide writes as a formula: the loss L.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p is the predicted probability, the same number the next slide writes as y-hat. Say the other half aloud rather than showing it: the cost J is the average of this over the m examples, one over m times the sum. It is left off the slide because, written out in full, the formula does not fit at a readable size.</a:t>
            </a:r>
          </a:p>
          <a:p>
            <a:pPr lvl="0" indent="0" marL="0">
              <a:buNone/>
            </a:pPr>
          </a:p>
          <a:p>
            <a:pPr lvl="0" indent="0" marL="0">
              <a:buNone/>
            </a:pPr>
            <a:r>
              <a:rPr/>
              <a:t>Nothing new to derive: this is slides 17 to 21 written for one drive in symbols. Check it on drive B of slide 17: y = 0 and p = 0.1, so the first term vanishes and L = -log(1 - 0.1) = -log 0.9 = 0.11, the number slide 21 gave B under setting 1. The handout, section 3, does it for m drives in full.</a:t>
            </a:r>
          </a:p>
          <a:p>
            <a:pPr lvl="0" indent="0" marL="0">
              <a:buNone/>
            </a:pPr>
          </a:p>
          <a:p>
            <a:pPr lvl="0" indent="0" marL="0">
              <a:buNone/>
            </a:pPr>
            <a:r>
              <a:rPr/>
              <a:t>The interpretation that makes it stick: the cost of an outcome is the SURPRISE of seeing it. Something you called certain costs nothing. Something you gave a probability of one in a thousand costs log 1000, about 6.9 (natural logarithm, as everywhere in this lesson).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formula says, in words. To find how the cost J changes when the coefficient w_j is nudged up: take each training drive, compute its error - the predicted probability y-hat minus the true label y, which is 0 or 1 - multiply that error by the drive’s value of feature j, and average over the m drives. Gradient descent then steps w_j in the opposite direction.</a:t>
            </a:r>
          </a:p>
          <a:p>
            <a:pPr lvl="0" indent="0" marL="0">
              <a:buNone/>
            </a:pPr>
          </a:p>
          <a:p>
            <a:pPr lvl="0" indent="0" marL="0">
              <a:buNone/>
            </a:pPr>
            <a:r>
              <a:rPr/>
              <a:t>What is new, and what is not. The formula is written with exactly the symbols of lesson 3’s slide 23. The difference is hidden in y-hat: in lesson 3 it was the straight line w-transpose-x plus b, and here it is the sigmoid of that line, the probability of slide 12 - which is why the title says so. The cost is different too: squared error there, log loss (slide 23) here. Different model, different cost, and yet the same gradient.</a:t>
            </a:r>
          </a:p>
          <a:p>
            <a:pPr lvl="0" indent="0" marL="0">
              <a:buNone/>
            </a:pPr>
          </a:p>
          <a:p>
            <a:pPr lvl="0" indent="0" marL="0">
              <a:buNone/>
            </a:pPr>
            <a:r>
              <a:rPr/>
              <a:t>A concrete drive. A drive that failed, y = 1, to which the model gives y-hat = 0.2: its error is 0.2 minus 1, which is minus 0.8. A negative term means the cost falls if w_j rises, so this drive pulls w_j up, and pulls harder the larger its value of feature j. A healthy drive, y = 0, given the same 0.2 has error plus 0.2 and pulls the other way, four times more gently. This is lesson 3’s weighted vote: each drive pulls in proportion to how wrong it was and how large the feature was for it.</a:t>
            </a:r>
          </a:p>
          <a:p>
            <a:pPr lvl="0" indent="0" marL="0">
              <a:buNone/>
            </a:pPr>
          </a:p>
          <a:p>
            <a:pPr lvl="0" indent="0" marL="0">
              <a:buNone/>
            </a:pPr>
            <a:r>
              <a:rPr/>
              <a:t>Why it comes out the same - worth the board if there is appetite, handout section 3.4 has it in full. Follow one drive through the chain rule, in three links, with p for y-hat and z for w-transpose-x plus b: - how the loss changes with p: (p - y) divided by p times (1 - p) - the denominator comes from the logarithms in the log loss; - how p changes with z: p times (1 - p), the sigmoid’s derivative from slide 12; - how z changes with w_j: x_j. Multiply the three: the p times (1 - p) cancels, and what is left is (p - y) times x_j.</a:t>
            </a:r>
          </a:p>
          <a:p>
            <a:pPr lvl="0" indent="0" marL="0">
              <a:buNone/>
            </a:pPr>
          </a:p>
          <a:p>
            <a:pPr lvl="0" indent="0" marL="0">
              <a:buNone/>
            </a:pPr>
            <a:r>
              <a:rPr/>
              <a:t>Why that cancellation matters, and it is the bridge to the next slide: with squared error in place of log loss, nothing cancels the factor p times (1 - p), and slide 25 shows what it does to a drive the model is confidently wrong about.</a:t>
            </a:r>
          </a:p>
          <a:p>
            <a:pPr lvl="0" indent="0" marL="0">
              <a:buNone/>
            </a:pPr>
          </a:p>
          <a:p>
            <a:pPr lvl="0" indent="0" marL="0">
              <a:buNone/>
            </a:pPr>
            <a:r>
              <a:rPr/>
              <a:t>If someone asks whether the match is a coincidence: no, and one sentence is enough. Both costs come from maximum likelihood - squared error when the noise on y is Gaussian (lesson 3, handout section 2.2), log loss when y is a 0/1 outcome - and each paired with its own model gives this same form. Statisticians call the family “generalised linear models”; the name is not examinable. The practical consequence is: the same gradient descent code trains both models, and only the line that computes y-hat changes.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take a drive that failed, y = 1, and move the model’s probability p for it along the horizontal axis. Squared error here is (p - 1) squared, the handout’s convention in section 4.</a:t>
            </a:r>
          </a:p>
          <a:p>
            <a:pPr lvl="0" indent="0" marL="0">
              <a:buNone/>
            </a:pPr>
          </a:p>
          <a:p>
            <a:pPr lvl="0" indent="0" marL="0">
              <a:buNone/>
            </a:pPr>
            <a:r>
              <a:rPr/>
              <a:t>Left panel, the costs. A drive failed and the model said 0.0001. Squared error charges (0.0001 - 1) squared = 0.9998. An honest “don’t know” - 0.5 - costs (0.5 - 1) squared = 0.25. So the worst possible answer is four times worse than a shrug. Log loss charges minus log 0.0001 = 9.2 against minus log 0.5 = 0.69, and the ratio grows without bound.</a:t>
            </a:r>
          </a:p>
          <a:p>
            <a:pPr lvl="0" indent="0" marL="0">
              <a:buNone/>
            </a:pPr>
          </a:p>
          <a:p>
            <a:pPr lvl="0" indent="0" marL="0">
              <a:buNone/>
            </a:pPr>
            <a:r>
              <a:rPr/>
              <a:t>Right panel is the real argument, so spend the time here. It shows the size of the gradient with respect to z, the push gradient descent gives the model. Log loss’s gradient is p - 1 (slide 24). Squared error’s is 2(p - 1) times p times (1 - p): the chain rule through the sigmoid brings in its derivative, p times one-minus-p, from slide 12, and nothing cancels it. That factor goes to zero as p goes to zero.</a:t>
            </a:r>
          </a:p>
          <a:p>
            <a:pPr lvl="0" indent="0" marL="0">
              <a:buNone/>
            </a:pPr>
          </a:p>
          <a:p>
            <a:pPr lvl="0" indent="0" marL="0">
              <a:buNone/>
            </a:pPr>
            <a:r>
              <a:rPr/>
              <a:t>Say it as a sentence: the wronger the model gets, the less squared error asks it to change. Divide one gradient by the other: squared error’s is log loss’s times 2p(1 - p). At p = 0.001 that factor is 2 times 0.001 times 0.999 = 0.002, a five-hundredth.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see max_iter set in notebook 1 and wonder why. Convex does NOT mean there is a closed-form solution. Setting the gradient to zero gives X-transpose times the vector of errors, sigma(Xw + b) minus y, equal to zero. That equation is not linear in w - the sigmoid is in the way - so it cannot be solved in one step as lesson 3’s normal equation was.</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Fifteen lines of NumPy, then one line of scikit-learn, and the same answer. Run notebook 01. Seventeen minutes, leaving three for the decision boundary on the next slide.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most of the gold points - the drives that actually failed - are on the blue side of the line. At a threshold of 0.5 this two-feature model calls nearly the whole fleet healthy, including most of the drives that failed. It uses two counters only, so that it can be drawn; the six-counter model of slide 30 does better at the same 0.5, and still misses 33 of the 76 test failures.</a:t>
            </a:r>
          </a:p>
          <a:p>
            <a:pPr lvl="0" indent="0" marL="0">
              <a:buNone/>
            </a:pPr>
          </a:p>
          <a:p>
            <a:pPr lvl="0" indent="0" marL="0">
              <a:buNone/>
            </a:pPr>
            <a:r>
              <a:rPr/>
              <a:t>Ask: is that a bad model? Take answers. Then say: the probabilities are fine. The threshold of 0.5 is a habit. Telling those two apart is the rest of the lesson.</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97.70 minus 96.20: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the 76 failures, 76 divided by 2,000 = 3.8% of the test set, are left to compete over.</a:t>
            </a:r>
          </a:p>
          <a:p>
            <a:pPr lvl="0" indent="0" marL="0">
              <a:buNone/>
            </a:pPr>
          </a:p>
          <a:p>
            <a:pPr lvl="0" indent="0" marL="0">
              <a:buNone/>
            </a:pPr>
            <a:r>
              <a:rPr/>
              <a:t>This is the 306 of slide 6 coming back as an accuracy score: 96.20% is simply the share of test drives that are healthy.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if a share pi of the cases are positive (the positive rate), the trivial always-negative classifier scores 1 minus pi. Here 1 - 0.038 = 96.2%. In some fraud problems, where the rate is one in a thousand, 1 - 0.001 =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the metric of slide 36,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prevents the most common confusion of the lesson. Both metrics put the true positives - failed drives we flagged - on top of the fraction.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of the healthy drives, how many did we leave alone. One minus it is the false positive rate, which comes back in the receiver operating characteristic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76 out of 76 = 1. Precision is 76 out of 2,000 = 0.038, because all 2,000 drives are flagged and 76 of them fail.</a:t>
            </a:r>
          </a:p>
          <a:p>
            <a:pPr lvl="0" indent="0" marL="0">
              <a:buNone/>
            </a:pPr>
          </a:p>
          <a:p>
            <a:pPr lvl="0" indent="0" marL="0">
              <a:buNone/>
            </a:pPr>
            <a:r>
              <a:rPr/>
              <a:t>The figure holds recall at 1 and lets precision run along the horizontal axis. The grey line is the ordinary average, (P + 1) divided by 2: at the left edge, where our model sits, it gives (0.038 + 1) divided by 2 = 0.519, and it can never drop below one half however useless the model. Anyone scanning a results table would not blink at 0.519.</a:t>
            </a:r>
          </a:p>
          <a:p>
            <a:pPr lvl="0" indent="0" marL="0">
              <a:buNone/>
            </a:pPr>
          </a:p>
          <a:p>
            <a:pPr lvl="0" indent="0" marL="0">
              <a:buNone/>
            </a:pPr>
            <a:r>
              <a:rPr/>
              <a:t>The blue line is the harmonic mean, F1 = 2PR divided by (P + R), here 2P divided by (P + 1): 2 times 0.038 divided by 1.038 =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 The two lines meet only at the right edge, where both precision and recall are 1.</a:t>
            </a:r>
          </a:p>
          <a:p>
            <a:pPr lvl="0" indent="0" marL="0">
              <a:buNone/>
            </a:pPr>
          </a:p>
          <a:p>
            <a:pPr lvl="0" indent="0" marL="0">
              <a:buNone/>
            </a:pPr>
            <a:r>
              <a:rPr/>
              <a:t>Mention F-beta in one sentence: a version of F1 with a weight beta, where beta above 1 counts recall more than precision. That is what you want here, where a miss costs about nineteen times a false alarm (2,600 divided by 140 = 18.6). F2 is the usual choice. 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slides 30 to 33 were about.</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by hand, then from scikit-learn, then the threshold sweep. Run notebook 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Spend time on the threshold sweep table. Do not explain it first - let them read the columns and say what they see. Somebody will notice that accuracy barely moves. That is the moment to show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only when the two errors cost the same and the probabilities are calibrated: among drives given 0.3, about 30% really fail (slide 46 names the property). Slide 51 derives the threshold from the costs, and it is 0.5 exactly when they are equal. Here a miss costs about nineteen times a false alarm (2,600 divided by 140 = 18.6), and in most real problems the costs differ too.</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2, the threshold sweep, five of its rows drawn as bars. Each pair of bars is one threshold: teal is the failures caught, out of the 76 in the test set; gold is the healthy drives flagged by mistake. On the right, the accuracy each threshold scores: right answers divided by 2,000.</a:t>
            </a:r>
          </a:p>
          <a:p>
            <a:pPr lvl="0" indent="0" marL="0">
              <a:buNone/>
            </a:pPr>
          </a:p>
          <a:p>
            <a:pPr lvl="0" indent="0" marL="0">
              <a:buNone/>
            </a:pPr>
            <a:r>
              <a:rPr/>
              <a:t>Lower the threshold - go up the figure: both bars grow. At 0.02 we catch 69 of 76 failures and replace 284 healthy drives to do it. At 0.90 there are no false alarms at all, and we catch 14 of 76, fewer than a quarter.</a:t>
            </a:r>
          </a:p>
          <a:p>
            <a:pPr lvl="0" indent="0" marL="0">
              <a:buNone/>
            </a:pPr>
          </a:p>
          <a:p>
            <a:pPr lvl="0" indent="0" marL="0">
              <a:buNone/>
            </a:pPr>
            <a:r>
              <a:rPr/>
              <a:t>Now the right-hand column, which is the slide’s real argument. For every threshold from 0.10 up to 0.90 it stays between 0.942 and 0.977, a range of 0.977 - 0.942 = 0.035, three and a half percentage points, while the teal bar shrinks from 61 to 14. And its maximum, in bold, is at 0.5 - the threshold that misses 76 - 43 = 33 failures.</a:t>
            </a:r>
          </a:p>
          <a:p>
            <a:pPr lvl="0" indent="0" marL="0">
              <a:buNone/>
            </a:pPr>
          </a:p>
          <a:p>
            <a:pPr lvl="0" indent="0" marL="0">
              <a:buNone/>
            </a:pPr>
            <a:r>
              <a:rPr/>
              <a:t>Say the consequence plainly: tune on accuracy and it will quietly recommend catching fewer failures. Most of the alarms a higher threshold drops are false ones, so accuracy rises with each drop, even though some of the dropped alarms were failures being caught. From 0.30 to 0.50 the gold bar loses 25 - 13 = 12 false alarms and the teal bar loses 53 - 43 = 10 caught failures. Accuracy gains 12 right answers and loses 10, two more in all, 0.976 to 0.977.</a:t>
            </a:r>
          </a:p>
          <a:p>
            <a:pPr lvl="0" indent="0" marL="0">
              <a:buNone/>
            </a:pPr>
          </a:p>
          <a:p>
            <a:pPr lvl="0" indent="0" marL="0">
              <a:buNone/>
            </a:pPr>
            <a:r>
              <a:rPr/>
              <a:t>Precision and recall at each threshold are in the handout’s table in section 7.1, computed with the formulas of slide 35.</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- 76 failures divided by 2,000 drives = 0.038 here - at every recall. That flat dashed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thresholds 0.5, 0.3 and 0.05. The first two are rows of the table on the previous slide, so they can check the correspondence: at 0.5, recall 0.566 and precision 0.768.</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the true positive rate (TPR), which is recall under another name - the share of failures we catch. The false positive rate (FPR) - the share of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 a classical test that compares two groups by counting, over every pair, which member ranks higher -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the scores the model gives the test drives, drawn as two histograms: teal for the 1,924 healthy drives, rust for the 76 that failed. Each group is scaled to add up to 1, so the two shapes can be compared although one group is 25 times the size of the other. The horizontal axis is logarithmic, because most healthy drives get scores of a thousandth or less.</a:t>
            </a:r>
          </a:p>
          <a:p>
            <a:pPr lvl="0" indent="0" marL="0">
              <a:buNone/>
            </a:pPr>
          </a:p>
          <a:p>
            <a:pPr lvl="0" indent="0" marL="0">
              <a:buNone/>
            </a:pPr>
            <a:r>
              <a:rPr/>
              <a:t>The rust sits far to the right of the teal: most failing drives get high scores, most healthy ones tiny scores. That separation is what the AUC measures. Pick one rust drive and one teal drive at random: the AUC, 0.949, is the chance that the rust one lies further right. Notebook 3 checks it by drawing 200,000 such pairs: 0.9488.</a:t>
            </a:r>
          </a:p>
          <a:p>
            <a:pPr lvl="0" indent="0" marL="0">
              <a:buNone/>
            </a:pPr>
          </a:p>
          <a:p>
            <a:pPr lvl="0" indent="0" marL="0">
              <a:buNone/>
            </a:pPr>
            <a:r>
              <a:rPr/>
              <a:t>The pairs the model gets wrong come from where the two colours overlap - a few failing drives with scores as low as many healthy ones. No threshold separates those, and the AUC counts them as the 5% it misses.</a:t>
            </a:r>
          </a:p>
          <a:p>
            <a:pPr lvl="0" indent="0" marL="0">
              <a:buNone/>
            </a:pPr>
          </a:p>
          <a:p>
            <a:pPr lvl="0" indent="0" marL="0">
              <a:buNone/>
            </a:pPr>
            <a:r>
              <a:rPr/>
              <a:t>Note what the figure does not show: where to put the threshold. Any vertical line splits it, and the AUC is the same whichever you pick -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unchanged by anything done to the scores that keeps their order.</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slide 51 does - AUC is not the check you want.</a:t>
            </a:r>
          </a:p>
          <a:p>
            <a:pPr lvl="0" indent="0" marL="0">
              <a:buNone/>
            </a:pPr>
          </a:p>
          <a:p>
            <a:pPr lvl="0" indent="0" marL="0">
              <a:buNone/>
            </a:pPr>
            <a:r>
              <a:rPr/>
              <a:t>Good place to mention that calibration - whether a predicted 0.7 really comes true 70% of the time - is a topic of its own,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Notebook 3 generates a new, larger fleet of 60,000 drives from the same simulator, keeps every healthy drive, and throws away failures at random until they are 0.4% instead of 3.8% - the direction reality moves in fraud, disease, hardware failure.</a:t>
            </a:r>
          </a:p>
          <a:p>
            <a:pPr lvl="0" indent="0" marL="0">
              <a:buNone/>
            </a:pPr>
          </a:p>
          <a:p>
            <a:pPr lvl="0" indent="0" marL="0">
              <a:buNone/>
            </a:pPr>
            <a:r>
              <a:rPr/>
              <a:t>Someone will notice that at 3.8% the AUC reads 0.968, not the 0.949 of slide 44. Different drives: 0.949 rests on the 76 failures of our 2,000-drive test set, 0.968 on a fleet thirty times larger. Both are estimates of the same ranking ability. The same goes for average precision: 0.706 on the large fleet, against slide 41’s 0.717 on the test set.</a:t>
            </a:r>
          </a:p>
          <a:p>
            <a:pPr lvl="0" indent="0" marL="0">
              <a:buNone/>
            </a:pPr>
          </a:p>
          <a:p>
            <a:pPr lvl="0" indent="0" marL="0">
              <a:buNone/>
            </a:pPr>
            <a:r>
              <a:rPr/>
              <a:t>Left panel: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panel: the precision-recall curves are in three different worlds. Average precision falls from 0.706 to 0.361, and precision at the threshold of 0.5 falls from 0.79 to 0.26 - 1 - 0.26 = 0.74, three alarms in four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lesson’s second big predictable mistake, after trusting accuracy on slide 30,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on slide 33 -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45,540 divided by 87,620 is 0.52.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State the condition, because the derivation used it: p must be an honest probability - among drives given 0.05, about 5% really fail. That property is called calibration (slide 46). Divide every probability by ten, as slide 46 did, and the formula would still say 0.051 while flagging far too few drives.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 Two likely reasons for the gap: the test set holds only 76 failures, and the probabilities are good but not perfectly calibrated.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closed form of the previous slide, drawn. The horizontal axis is one drive’s probability of failing, p; the vertical axis is the expected cost of each decision for that drive.</a:t>
            </a:r>
          </a:p>
          <a:p>
            <a:pPr lvl="0" indent="0" marL="0">
              <a:buNone/>
            </a:pPr>
          </a:p>
          <a:p>
            <a:pPr lvl="0" indent="0" marL="0">
              <a:buNone/>
            </a:pPr>
            <a:r>
              <a:rPr/>
              <a:t>Teal: flag it. We pay 140 euros for the replacement only if the drive was healthy, which happens with probability 1 minus p, so the expected cost is (1 - p) times 140 - nearly flat, because 140 is small. Rust: leave it. We pay 2,600 euros only if it fails, probability p, so the expected cost is p times 2,600 - steep.</a:t>
            </a:r>
          </a:p>
          <a:p>
            <a:pPr lvl="0" indent="0" marL="0">
              <a:buNone/>
            </a:pPr>
          </a:p>
          <a:p>
            <a:pPr lvl="0" indent="0" marL="0">
              <a:buNone/>
            </a:pPr>
            <a:r>
              <a:rPr/>
              <a:t>Where the lines cross the two decisions cost the same: (1 - p) times 140 = p times 2,600, which gives p = 140 divided by (140 + 2,600) = 0.051, the t-star of slide 51. Left of the crossing, leaving the drive is cheaper; right of it, flagging is. So the rule is: flag every drive whose probability is above 0.051.</a:t>
            </a:r>
          </a:p>
          <a:p>
            <a:pPr lvl="0" indent="0" marL="0">
              <a:buNone/>
            </a:pPr>
          </a:p>
          <a:p>
            <a:pPr lvl="0" indent="0" marL="0">
              <a:buNone/>
            </a:pPr>
            <a:r>
              <a:rPr/>
              <a:t>Then ask the room what happens to the crossing if a failure cost 140 euros as well: both lines would have the same slope in opposite directions, and they would cross at 0.5 - the default threshold, right only when the costs are equal. 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named at the start of today’s lesson, in the discussion of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failed drive count, in the cost, as much as about 25 healthy ones - the ratio of healthy to failed drives in the training set, (6,000 - 230) divided by 230 = 25. It changes the training rather than the decision.</a:t>
            </a:r>
          </a:p>
          <a:p>
            <a:pPr lvl="0" indent="0" marL="0">
              <a:buNone/>
            </a:pPr>
          </a:p>
          <a:p>
            <a:pPr lvl="0" indent="0" marL="0">
              <a:buNone/>
            </a:pPr>
            <a:r>
              <a:rPr/>
              <a:t>The figure is notebook 3’s comparison drawn as bills, one bar per model. Rust is the cost of the missed failures, FN times 2,600 euros; gold is the cost of the false alarms, FP times 140 euros. The default model misses 33 failures: 33 times 2,600 plus 13 times 140 is 87,620. The threshold at 0.08 misses 11 and raises 121 false alarms: 45,540. Balanced weights miss 8 and raise 205: 8 times 2,600 plus 205 times 140 is 49,500.</a:t>
            </a:r>
          </a:p>
          <a:p>
            <a:pPr lvl="0" indent="0" marL="0">
              <a:buNone/>
            </a:pPr>
          </a:p>
          <a:p>
            <a:pPr lvl="0" indent="0" marL="0">
              <a:buNone/>
            </a:pPr>
            <a:r>
              <a:rPr/>
              <a:t>Point at the AUC under each name: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another way of setting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The same argument holds for resampling and for SMOTE (synthetic minority oversampling technique, which builds artificial minority examples): they move the operating point too. And both must be applied to the training rows only - inside each cross-validation fold, once lesson 5 introduces folds. Duplicated or synthetic failures in the test set would be scored as if they were real drives, and the test score would stop describing the real fleet; lesson 2 made the same argument for fitting the imputer on the training rows only.</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ROC curve by hand, the 200,000-pair experiment, the cost curve, then the multiclass matrix. Run notebook 03. Fifteen minutes, and the two multiclass slides that follow (56 and 57) are shown when the notebook reaches its last section, so they run alongside it rather than after it.</a:t>
            </a:r>
          </a:p>
          <a:p>
            <a:pPr lvl="0" indent="0" marL="0">
              <a:buNone/>
            </a:pPr>
          </a:p>
          <a:p>
            <a:pPr lvl="0" indent="0" marL="0">
              <a:buNone/>
            </a:pPr>
            <a:r>
              <a:rPr/>
              <a:t>If time is short, keep the pairs experiment: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turns them into K probabilities that add up to 1 -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 Notebook 3, the three-class model: one bar per class, its F1 from classification_report, and the two averages as lines.</a:t>
            </a:r>
          </a:p>
          <a:p>
            <a:pPr lvl="0" indent="0" marL="0">
              <a:buNone/>
            </a:pPr>
          </a:p>
          <a:p>
            <a:pPr lvl="0" indent="0" marL="0">
              <a:buNone/>
            </a:pPr>
            <a:r>
              <a:rPr/>
              <a:t>Macro treats the three conditions as equally important: (0.947 + 0.545 + 0.629) divided by 3 = 0.707, the dotted line. Weighted multiplies each class by its number of test drives: (1,665 times 0.947 + 259 times 0.545 + 76 times 0.629) divided by 2,000 = 0.883, the dashed line. The healthy class - 1,665 of 2,000, five drives in six - does most of the talking, so the dashed line sits close to the healthy bar.</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accuracy, precision, recall and F1 all depended on a threshold, and the threshold has an answer - C-FP over C-FP plus C-FN, for honest probabilities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6 November.</a:t>
            </a:r>
          </a:p>
          <a:p>
            <a:pPr lvl="0" indent="0" marL="0">
              <a:buNone/>
            </a:pPr>
          </a:p>
          <a:p>
            <a:pPr lvl="0" indent="0" marL="0">
              <a:buNone/>
            </a:pPr>
            <a:r>
              <a:rPr/>
              <a:t>Emphasise which part matters at the exam, where one of the ten exercises is drawn and they talk through their own notebook. The classifier is a few lines and everyone will get it. The paragraph defending the threshold choice is where the learning is, and it is what they will be asked to defend.</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a:p>
            <a:pPr lvl="0"/>
            <a:r>
              <a:rPr/>
              <a:t>Answer with a probability: 0 ≤ P(y = 1 | x) ≤ 1</a:t>
            </a:r>
          </a:p>
          <a:p>
            <a:pPr lvl="0"/>
            <a:r>
              <a:rPr/>
              <a:t>y = 1 if the drive failed, y = 0 if not; x holds its six counters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Reallocated sectors, spin retries, read and seek error rates, temperature, hours in service</a:t>
            </a:r>
          </a:p>
          <a:p>
            <a:pPr lvl="0"/>
            <a:r>
              <a:rPr/>
              <a:t>Label: did it fail within thirty days?</a:t>
            </a:r>
          </a:p>
          <a:p>
            <a:pPr lvl="0"/>
            <a:r>
              <a:rPr>
                <a:latin typeface="Courier"/>
              </a:rPr>
              <a:t>train_test_split(..., stratify=y)</a:t>
            </a:r>
            <a:r>
              <a:rPr/>
              <a:t>: 6,000 to train, 2,000 to test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306 ÷ 8,000 = 3.8% of the fleet</a:t>
            </a:r>
          </a:p>
          <a:p>
            <a:pPr lvl="0"/>
            <a:r>
              <a:rPr/>
              <a:t>Which means 100% − 3.8% =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log-odds</a:t>
            </a:r>
          </a:p>
        </p:txBody>
      </p:sp>
      <p:sp>
        <p:nvSpPr>
          <p:cNvPr id="3" name="Content Placeholder 2"/>
          <p:cNvSpPr>
            <a:spLocks noGrp="1"/>
          </p:cNvSpPr>
          <p:nvPr>
            <p:ph idx="1"/>
          </p:nvPr>
        </p:nvSpPr>
        <p:spPr>
          <a:xfrm>
            <a:off x="457200" y="1200151"/>
            <a:ext cx="8229600" cy="3394472"/>
          </a:xfrm>
        </p:spPr>
        <p:txBody>
          <a:bodyPr/>
          <a:lstStyle/>
          <a:p>
            <a:pPr lvl="0"/>
            <a:r>
              <a:rPr/>
              <a:t>A line gives any number; a probability, only [0, 1]</a:t>
            </a:r>
          </a:p>
          <a:p>
            <a:pPr lvl="0"/>
            <a:r>
              <a:rPr/>
              <a:t>Odds, p ÷ (1 − p): no ceiling, from 0 to ∞</a:t>
            </a:r>
          </a:p>
          <a:p>
            <a:pPr lvl="0"/>
            <a:r>
              <a:rPr/>
              <a:t>Log of the odds: no floor either, −∞ to +∞</a:t>
            </a:r>
          </a:p>
          <a:p>
            <a:pPr lvl="0"/>
            <a:r>
              <a:rPr/>
              <a:t>p = 0.99: log(0.99 ÷ 0.01) = log 99 = +4.60; p = 0.5: log(0.5 ÷ 0.5) = log 1 = 0</a:t>
            </a:r>
          </a:p>
          <a:p>
            <a:pPr lvl="0"/>
            <a:r>
              <a:rPr/>
              <a:t>Bonus: coefficients multiply the odds (slide 13)</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evidence on three drives</a:t>
            </a:r>
          </a:p>
        </p:txBody>
      </p:sp>
      <p:pic>
        <p:nvPicPr>
          <p:cNvPr descr="evidence_on_the_sigmoid.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Log-odds of p = P(y = 1 | x): a line</a:t>
            </a:r>
          </a:p>
        </p:txBody>
      </p:sp>
      <p:pic>
        <p:nvPicPr>
          <p:cNvPr descr="eq_2e0b8814eb.png" id="0" name="Picture 1"/>
          <p:cNvPicPr>
            <a:picLocks noGrp="1" noChangeAspect="1"/>
          </p:cNvPicPr>
          <p:nvPr/>
        </p:nvPicPr>
        <p:blipFill>
          <a:blip r:embed="rId3"/>
          <a:stretch>
            <a:fillRect/>
          </a:stretch>
        </p:blipFill>
        <p:spPr bwMode="auto">
          <a:xfrm>
            <a:off x="457200" y="2477889"/>
            <a:ext cx="8229600" cy="73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Standardised (mean 0, SD 1): one SD more of reallocated sectors adds its true coefficient, 1.80 (slide 14), to the log-odds</a:t>
            </a:r>
          </a:p>
          <a:p>
            <a:pPr lvl="0"/>
            <a:r>
              <a:rPr/>
              <a:t>Adding to a log multiplies the </a:t>
            </a:r>
            <a:r>
              <a:rPr b="1"/>
              <a:t>odds</a:t>
            </a:r>
            <a:r>
              <a:rPr/>
              <a:t>: log(odds) + 1.80 = log(odds × 6.05), since exp(1.80) = 6.05</a:t>
            </a:r>
          </a:p>
          <a:p>
            <a:pPr lvl="0"/>
            <a:r>
              <a:rPr/>
              <a:t>So: </a:t>
            </a:r>
            <a:r>
              <a:rPr b="1"/>
              <a:t>six times the odds</a:t>
            </a:r>
            <a:r>
              <a:rPr/>
              <a:t> of failing, slide 10’s teal step</a:t>
            </a:r>
          </a:p>
          <a:p>
            <a:pPr lvl="0"/>
            <a:r>
              <a:rPr/>
              <a:t>In code: </a:t>
            </a:r>
            <a:r>
              <a:rPr>
                <a:latin typeface="Courier"/>
              </a:rPr>
              <a:t>make_pipeline(StandardScaler(), LogisticRegression())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 notebook 1</a:t>
                      </a:r>
                    </a:p>
                  </a:txBody>
                  <a:tcPr/>
                </a:tc>
                <a:tc>
                  <a:txBody>
                    <a:bodyPr/>
                    <a:lstStyle/>
                    <a:p>
                      <a:pPr lvl="0" indent="0" marL="0">
                        <a:buNone/>
                      </a:pPr>
                      <a:r>
                        <a:rPr/>
                        <a:t>Odds ×, exp(Fitted)</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0.46</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1.02</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average drive’s chance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r>
              <a:rPr/>
              <a:t>, the log-odds of a drive average on every counter (all standardised x = 0)</a:t>
            </a:r>
          </a:p>
          <a:p>
            <a:pPr lvl="0"/>
            <a:r>
              <a:rPr/>
              <a:t>σ(−6.09) = 1 ÷ (1 + exp(6.09)) = 1 ÷ 442 = 0.0023: a 0.2% chance</a:t>
            </a:r>
          </a:p>
          <a:p>
            <a:pPr lvl="0"/>
            <a:r>
              <a:rPr/>
              <a:t>The fleet fails at 3.8% (slide 6): the failures come from the few drives far above average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each drive gets a 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What happened</a:t>
                      </a:r>
                    </a:p>
                  </a:txBody>
                  <a:tcPr/>
                </a:tc>
                <a:tc>
                  <a:txBody>
                    <a:bodyPr/>
                    <a:lstStyle/>
                    <a:p>
                      <a:pPr lvl="0" indent="0" marL="0">
                        <a:buNone/>
                      </a:pPr>
                      <a:r>
                        <a:rPr/>
                        <a:t>y</a:t>
                      </a:r>
                    </a:p>
                  </a:txBody>
                  <a:tcPr/>
                </a:tc>
                <a:tc>
                  <a:txBody>
                    <a:bodyPr/>
                    <a:lstStyle/>
                    <a:p>
                      <a:pPr lvl="0" indent="0" marL="0">
                        <a:buNone/>
                      </a:pPr>
                      <a:r>
                        <a:rPr/>
                        <a:t>Setting 1: p = σ(wᵀx + b), the P(fail)</a:t>
                      </a:r>
                    </a:p>
                  </a:txBody>
                  <a:tcPr/>
                </a:tc>
              </a:tr>
              <a:tr h="0">
                <a:tc>
                  <a:txBody>
                    <a:bodyPr/>
                    <a:lstStyle/>
                    <a:p>
                      <a:pPr lvl="0" indent="0" marL="0">
                        <a:buNone/>
                      </a:pPr>
                      <a:r>
                        <a:rPr/>
                        <a:t>A</a:t>
                      </a:r>
                    </a:p>
                  </a:txBody>
                </a:tc>
                <a:tc>
                  <a:txBody>
                    <a:bodyPr/>
                    <a:lstStyle/>
                    <a:p>
                      <a:pPr lvl="0" indent="0" marL="0">
                        <a:buNone/>
                      </a:pPr>
                      <a:r>
                        <a:rPr/>
                        <a:t>failed</a:t>
                      </a:r>
                    </a:p>
                  </a:txBody>
                </a:tc>
                <a:tc>
                  <a:txBody>
                    <a:bodyPr/>
                    <a:lstStyle/>
                    <a:p>
                      <a:pPr lvl="0" indent="0" marL="0">
                        <a:buNone/>
                      </a:pPr>
                      <a:r>
                        <a:rPr/>
                        <a:t>1</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0.1</a:t>
                      </a:r>
                    </a:p>
                  </a:txBody>
                </a:tc>
              </a:tr>
              <a:tr h="0">
                <a:tc>
                  <a:txBody>
                    <a:bodyPr/>
                    <a:lstStyle/>
                    <a:p>
                      <a:pPr lvl="0" indent="0" marL="0">
                        <a:buNone/>
                      </a:pPr>
                      <a:r>
                        <a:rPr/>
                        <a:t>C</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0.2</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how likely was the outcome?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p</a:t>
                      </a:r>
                    </a:p>
                  </a:txBody>
                  <a:tcPr/>
                </a:tc>
                <a:tc>
                  <a:txBody>
                    <a:bodyPr/>
                    <a:lstStyle/>
                    <a:p>
                      <a:pPr lvl="0" indent="0" marL="0">
                        <a:buNone/>
                      </a:pPr>
                      <a:r>
                        <a:rPr/>
                        <a:t>Probability of what happened: p if y = 1, 1 - p if y = 0</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r>
              <a:tr h="0">
                <a:tc>
                  <a:txBody>
                    <a:bodyPr/>
                    <a:lstStyle/>
                    <a:p>
                      <a:pPr lvl="0" indent="0" marL="0">
                        <a:buNone/>
                      </a:pPr>
                      <a:r>
                        <a:rPr/>
                        <a:t>All three together, if the drives are independent: multiply, as for two coins (½ × ½ = ¼)</a:t>
                      </a:r>
                    </a:p>
                  </a:txBody>
                </a:tc>
                <a:tc>
                  <a:txBody>
                    <a:bodyPr/>
                    <a:lstStyle/>
                    <a:p>
                      <a:endParaRPr/>
                    </a:p>
                  </a:txBody>
                </a:tc>
                <a:tc>
                  <a:txBody>
                    <a:bodyPr/>
                    <a:lstStyle/>
                    <a:p>
                      <a:endParaRPr/>
                    </a:p>
                  </a:txBody>
                </a:tc>
                <a:tc>
                  <a:txBody>
                    <a:bodyPr/>
                    <a:lstStyle/>
                    <a:p>
                      <a:pPr lvl="0" indent="0" marL="0">
                        <a:buNone/>
                      </a:pPr>
                      <a:r>
                        <a:rPr/>
                        <a:t>0.8 × 0.9 × 0.8 = </a:t>
                      </a:r>
                      <a:r>
                        <a:rPr b="1"/>
                        <a:t>0.576</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as formulas: one drive, then the likelihood</a:t>
            </a:r>
          </a:p>
        </p:txBody>
      </p:sp>
      <p:pic>
        <p:nvPicPr>
          <p:cNvPr descr="eq_4374b8da02.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3: two settings, the likelier wins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p</a:t>
                      </a:r>
                    </a:p>
                  </a:txBody>
                  <a:tcPr/>
                </a:tc>
                <a:tc>
                  <a:txBody>
                    <a:bodyPr/>
                    <a:lstStyle/>
                    <a:p>
                      <a:pPr lvl="0" indent="0" marL="0">
                        <a:buNone/>
                      </a:pPr>
                      <a:r>
                        <a:rPr/>
                        <a:t>Setting 1: probability of what happened</a:t>
                      </a:r>
                    </a:p>
                  </a:txBody>
                  <a:tcPr/>
                </a:tc>
                <a:tc>
                  <a:txBody>
                    <a:bodyPr/>
                    <a:lstStyle/>
                    <a:p>
                      <a:pPr lvl="0" indent="0" marL="0">
                        <a:buNone/>
                      </a:pPr>
                      <a:r>
                        <a:rPr/>
                        <a:t>Setting 2: p</a:t>
                      </a:r>
                    </a:p>
                  </a:txBody>
                  <a:tcPr/>
                </a:tc>
                <a:tc>
                  <a:txBody>
                    <a:bodyPr/>
                    <a:lstStyle/>
                    <a:p>
                      <a:pPr lvl="0" indent="0" marL="0">
                        <a:buNone/>
                      </a:pPr>
                      <a:r>
                        <a:rPr/>
                        <a:t>Setting 2: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c>
                  <a:txBody>
                    <a:bodyPr/>
                    <a:lstStyle/>
                    <a:p>
                      <a:pPr lvl="0" indent="0" marL="0">
                        <a:buNone/>
                      </a:pPr>
                      <a:r>
                        <a:rPr/>
                        <a:t>0.3</a:t>
                      </a:r>
                    </a:p>
                  </a:txBody>
                </a:tc>
                <a:tc>
                  <a:txBody>
                    <a:bodyPr/>
                    <a:lstStyle/>
                    <a:p>
                      <a:pPr lvl="0" indent="0" marL="0">
                        <a:buNone/>
                      </a:pPr>
                      <a:r>
                        <a:rPr/>
                        <a:t>0.3</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c>
                  <a:txBody>
                    <a:bodyPr/>
                    <a:lstStyle/>
                    <a:p>
                      <a:pPr lvl="0" indent="0" marL="0">
                        <a:buNone/>
                      </a:pPr>
                      <a:r>
                        <a:rPr/>
                        <a:t>0.6</a:t>
                      </a:r>
                    </a:p>
                  </a:txBody>
                </a:tc>
                <a:tc>
                  <a:txBody>
                    <a:bodyPr/>
                    <a:lstStyle/>
                    <a:p>
                      <a:pPr lvl="0" indent="0" marL="0">
                        <a:buNone/>
                      </a:pPr>
                      <a:r>
                        <a:rPr/>
                        <a:t>1 − 0.6 = 0.4</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c>
                  <a:txBody>
                    <a:bodyPr/>
                    <a:lstStyle/>
                    <a:p>
                      <a:pPr lvl="0" indent="0" marL="0">
                        <a:buNone/>
                      </a:pPr>
                      <a:r>
                        <a:rPr/>
                        <a:t>0.5</a:t>
                      </a:r>
                    </a:p>
                  </a:txBody>
                </a:tc>
                <a:tc>
                  <a:txBody>
                    <a:bodyPr/>
                    <a:lstStyle/>
                    <a:p>
                      <a:pPr lvl="0" indent="0" marL="0">
                        <a:buNone/>
                      </a:pPr>
                      <a:r>
                        <a:rPr/>
                        <a:t>1 − 0.5 = 0.5</a:t>
                      </a:r>
                    </a:p>
                  </a:txBody>
                </a:tc>
              </a:tr>
              <a:tr h="0">
                <a:tc>
                  <a:txBody>
                    <a:bodyPr/>
                    <a:lstStyle/>
                    <a:p>
                      <a:pPr lvl="0" indent="0" marL="0">
                        <a:buNone/>
                      </a:pPr>
                      <a:r>
                        <a:rPr/>
                        <a:t>Likelihood: the product</a:t>
                      </a:r>
                    </a:p>
                  </a:txBody>
                </a:tc>
                <a:tc>
                  <a:txBody>
                    <a:bodyPr/>
                    <a:lstStyle/>
                    <a:p>
                      <a:endParaRPr/>
                    </a:p>
                  </a:txBody>
                </a:tc>
                <a:tc>
                  <a:txBody>
                    <a:bodyPr/>
                    <a:lstStyle/>
                    <a:p>
                      <a:endParaRPr/>
                    </a:p>
                  </a:txBody>
                </a:tc>
                <a:tc>
                  <a:txBody>
                    <a:bodyPr/>
                    <a:lstStyle/>
                    <a:p>
                      <a:pPr lvl="0" indent="0" marL="0">
                        <a:buNone/>
                      </a:pPr>
                      <a:r>
                        <a:rPr/>
                        <a:t>0.8 × 0.9 × 0.8 = </a:t>
                      </a:r>
                      <a:r>
                        <a:rPr b="1"/>
                        <a:t>0.576</a:t>
                      </a:r>
                    </a:p>
                  </a:txBody>
                </a:tc>
                <a:tc>
                  <a:txBody>
                    <a:bodyPr/>
                    <a:lstStyle/>
                    <a:p>
                      <a:endParaRPr/>
                    </a:p>
                  </a:txBody>
                </a:tc>
                <a:tc>
                  <a:txBody>
                    <a:bodyPr/>
                    <a:lstStyle/>
                    <a:p>
                      <a:pPr lvl="0" indent="0" marL="0">
                        <a:buNone/>
                      </a:pPr>
                      <a:r>
                        <a:rPr/>
                        <a:t>0.3 × 0.4 × 0.5 = </a:t>
                      </a:r>
                      <a:r>
                        <a:rPr b="1"/>
                        <a:t>0.060</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minus the log, a cost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−log of probability of what happened</a:t>
                      </a:r>
                    </a:p>
                  </a:txBody>
                  <a:tcPr/>
                </a:tc>
                <a:tc>
                  <a:txBody>
                    <a:bodyPr/>
                    <a:lstStyle/>
                    <a:p>
                      <a:pPr lvl="0" indent="0" marL="0">
                        <a:buNone/>
                      </a:pPr>
                      <a:r>
                        <a:rPr/>
                        <a:t>Setting 2: −log of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−log 0.8 = 0.22</a:t>
                      </a:r>
                    </a:p>
                  </a:txBody>
                </a:tc>
                <a:tc>
                  <a:txBody>
                    <a:bodyPr/>
                    <a:lstStyle/>
                    <a:p>
                      <a:pPr lvl="0" indent="0" marL="0">
                        <a:buNone/>
                      </a:pPr>
                      <a:r>
                        <a:rPr/>
                        <a:t>−log 0.3 = 1.20</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−log 0.9 = 0.11</a:t>
                      </a:r>
                    </a:p>
                  </a:txBody>
                </a:tc>
                <a:tc>
                  <a:txBody>
                    <a:bodyPr/>
                    <a:lstStyle/>
                    <a:p>
                      <a:pPr lvl="0" indent="0" marL="0">
                        <a:buNone/>
                      </a:pPr>
                      <a:r>
                        <a:rPr/>
                        <a:t>−log 0.4 = 0.92</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−log 0.8 = 0.22</a:t>
                      </a:r>
                    </a:p>
                  </a:txBody>
                </a:tc>
                <a:tc>
                  <a:txBody>
                    <a:bodyPr/>
                    <a:lstStyle/>
                    <a:p>
                      <a:pPr lvl="0" indent="0" marL="0">
                        <a:buNone/>
                      </a:pPr>
                      <a:r>
                        <a:rPr/>
                        <a:t>−log 0.5 = 0.69</a:t>
                      </a:r>
                    </a:p>
                  </a:txBody>
                </a:tc>
              </a:tr>
              <a:tr h="0">
                <a:tc>
                  <a:txBody>
                    <a:bodyPr/>
                    <a:lstStyle/>
                    <a:p>
                      <a:pPr lvl="0" indent="0" marL="0">
                        <a:buNone/>
                      </a:pPr>
                      <a:r>
                        <a:rPr/>
                        <a:t>Sum = −log of the likelihood</a:t>
                      </a:r>
                    </a:p>
                  </a:txBody>
                </a:tc>
                <a:tc>
                  <a:txBody>
                    <a:bodyPr/>
                    <a:lstStyle/>
                    <a:p>
                      <a:endParaRPr/>
                    </a:p>
                  </a:txBody>
                </a:tc>
                <a:tc>
                  <a:txBody>
                    <a:bodyPr/>
                    <a:lstStyle/>
                    <a:p>
                      <a:pPr lvl="0" indent="0" marL="0">
                        <a:buNone/>
                      </a:pPr>
                      <a:r>
                        <a:rPr/>
                        <a:t>0.22 + 0.11 + 0.22 = </a:t>
                      </a:r>
                      <a:r>
                        <a:rPr b="1"/>
                        <a:t>0.55</a:t>
                      </a:r>
                    </a:p>
                  </a:txBody>
                </a:tc>
                <a:tc>
                  <a:txBody>
                    <a:bodyPr/>
                    <a:lstStyle/>
                    <a:p>
                      <a:pPr lvl="0" indent="0" marL="0">
                        <a:buNone/>
                      </a:pPr>
                      <a:r>
                        <a:rPr/>
                        <a:t>1.20 + 0.92 + 0.69 = </a:t>
                      </a:r>
                      <a:r>
                        <a:rPr b="1"/>
                        <a:t>2.81</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Surprise: minus the log of a probability</a:t>
            </a:r>
          </a:p>
        </p:txBody>
      </p:sp>
      <p:pic>
        <p:nvPicPr>
          <p:cNvPr descr="surprise_curve.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Lesson 3’s gradient, ŷ = σ(wᵀx + b)</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line on a 0/1 label, 7</a:t>
                      </a:r>
                    </a:p>
                  </a:txBody>
                </a:tc>
                <a:tc>
                  <a:txBody>
                    <a:bodyPr/>
                    <a:lstStyle/>
                    <a:p>
                      <a:pPr lvl="0" indent="0" marL="0">
                        <a:buNone/>
                      </a:pPr>
                      <a:r>
                        <a:rPr>
                          <a:latin typeface="Courier"/>
                        </a:rPr>
                        <a:t>LinearRegression</a:t>
                      </a:r>
                      <a:r>
                        <a:rPr/>
                        <a:t> → 3,606 negative probabilities</a:t>
                      </a:r>
                    </a:p>
                  </a:txBody>
                </a:tc>
              </a:tr>
              <a:tr h="0">
                <a:tc>
                  <a:txBody>
                    <a:bodyPr/>
                    <a:lstStyle/>
                    <a:p>
                      <a:pPr lvl="0" indent="0" marL="0">
                        <a:buNone/>
                      </a:pPr>
                      <a:r>
                        <a:rPr/>
                        <a:t>odds, and why not squared error, 8-26</a:t>
                      </a:r>
                    </a:p>
                  </a:txBody>
                </a:tc>
                <a:tc>
                  <a:txBody>
                    <a:bodyPr/>
                    <a:lstStyle/>
                    <a:p>
                      <a:pPr lvl="0" indent="0" marL="0">
                        <a:buNone/>
                      </a:pPr>
                      <a:r>
                        <a:rPr/>
                        <a:t>NumPy only: the sigmoid, the two losses, their gradients</a:t>
                      </a:r>
                    </a:p>
                  </a:txBody>
                </a:tc>
              </a:tr>
              <a:tr h="0">
                <a:tc>
                  <a:txBody>
                    <a:bodyPr/>
                    <a:lstStyle/>
                    <a:p>
                      <a:pPr lvl="0" indent="0" marL="0">
                        <a:buNone/>
                      </a:pPr>
                      <a:r>
                        <a:rPr/>
                        <a:t>gradient descent, 24</a:t>
                      </a:r>
                    </a:p>
                  </a:txBody>
                </a:tc>
                <a:tc>
                  <a:txBody>
                    <a:bodyPr/>
                    <a:lstStyle/>
                    <a:p>
                      <a:pPr lvl="0" indent="0" marL="0">
                        <a:buNone/>
                      </a:pPr>
                      <a:r>
                        <a:rPr>
                          <a:latin typeface="Courier"/>
                        </a:rPr>
                        <a:t>train_test_split</a:t>
                      </a:r>
                      <a:r>
                        <a:rPr/>
                        <a:t>, </a:t>
                      </a:r>
                      <a:r>
                        <a:rPr>
                          <a:latin typeface="Courier"/>
                        </a:rPr>
                        <a:t>StandardScaler</a:t>
                      </a:r>
                      <a:r>
                        <a:rPr/>
                        <a:t>, fifteen lines of NumPy → log loss 0.6931 to 0.0692</a:t>
                      </a:r>
                    </a:p>
                  </a:txBody>
                </a:tc>
              </a:tr>
              <a:tr h="0">
                <a:tc>
                  <a:txBody>
                    <a:bodyPr/>
                    <a:lstStyle/>
                    <a:p>
                      <a:pPr lvl="0" indent="0" marL="0">
                        <a:buNone/>
                      </a:pPr>
                      <a:r>
                        <a:rPr/>
                        <a:t>the decision boundary, 28</a:t>
                      </a:r>
                    </a:p>
                  </a:txBody>
                </a:tc>
                <a:tc>
                  <a:txBody>
                    <a:bodyPr/>
                    <a:lstStyle/>
                    <a:p>
                      <a:pPr lvl="0" indent="0" marL="0">
                        <a:buNone/>
                      </a:pPr>
                      <a:r>
                        <a:rPr>
                          <a:latin typeface="Courier"/>
                        </a:rPr>
                        <a:t>make_pipeline(StandardScaler(), LogisticRegression())</a:t>
                      </a:r>
                      <a:r>
                        <a:rPr/>
                        <a:t> on two features</a:t>
                      </a:r>
                    </a:p>
                  </a:txBody>
                </a:tc>
              </a:tr>
              <a:tr h="0">
                <a:tc>
                  <a:txBody>
                    <a:bodyPr/>
                    <a:lstStyle/>
                    <a:p>
                      <a:pPr lvl="0" indent="0" marL="0">
                        <a:buNone/>
                      </a:pPr>
                      <a:r>
                        <a:rPr/>
                        <a:t>the truth, recovered, 14-15</a:t>
                      </a:r>
                    </a:p>
                  </a:txBody>
                </a:tc>
                <a:tc>
                  <a:txBody>
                    <a:bodyPr/>
                    <a:lstStyle/>
                    <a:p>
                      <a:pPr lvl="0" indent="0" marL="0">
                        <a:buNone/>
                      </a:pPr>
                      <a:r>
                        <a:rPr>
                          <a:latin typeface="Courier"/>
                        </a:rPr>
                        <a:t>LogisticRegression</a:t>
                      </a:r>
                      <a:r>
                        <a:rPr/>
                        <a:t>, </a:t>
                      </a:r>
                      <a:r>
                        <a:rPr>
                          <a:latin typeface="Courier"/>
                        </a:rPr>
                        <a:t>.coef_</a:t>
                      </a:r>
                      <a:r>
                        <a:rPr/>
                        <a:t>, </a:t>
                      </a:r>
                      <a:r>
                        <a:rPr>
                          <a:latin typeface="Courier"/>
                        </a:rPr>
                        <a:t>.intercept_</a:t>
                      </a:r>
                      <a:r>
                        <a:rPr/>
                        <a:t> → seek_error_rate 0.02, intercept −6.09</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 on the 2,000 test drives (76 fail)</a:t>
                      </a:r>
                    </a:p>
                  </a:txBody>
                  <a:tcPr/>
                </a:tc>
                <a:tc>
                  <a:txBody>
                    <a:bodyPr/>
                    <a:lstStyle/>
                    <a:p>
                      <a:pPr lvl="0" indent="0" marL="0">
                        <a:buNone/>
                      </a:pPr>
                      <a:r>
                        <a:rPr/>
                        <a:t>Accuracy = right ÷ 2,000</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a:t>every healthy drive: 1,924 ÷ 2,000 = </a:t>
                      </a: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43 failures + 1,911 healthy: 1,954 ÷ 2,000 = 97.70%</a:t>
                      </a:r>
                    </a:p>
                  </a:txBody>
                </a:tc>
                <a:tc>
                  <a:txBody>
                    <a:bodyPr/>
                    <a:lstStyle/>
                    <a:p>
                      <a:pPr lvl="0" indent="0" marL="0">
                        <a:buNone/>
                      </a:pPr>
                      <a:r>
                        <a:rPr/>
                        <a:t>43 of 76</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a:p>
            <a:pPr lvl="0"/>
            <a:r>
              <a:rPr/>
              <a:t>Both costs are assumptions supplied from outside the data, not measured</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True and false positives and negatives: TP, FP, FN, TN</a:t>
            </a:r>
          </a:p>
          <a:p>
            <a:pPr lvl="0"/>
            <a:r>
              <a:rPr/>
              <a:t>Precision = TP ÷ (TP + FP) = 43 ÷ (43 + 13) = </a:t>
            </a:r>
            <a:r>
              <a:rPr b="1"/>
              <a:t>0.768</a:t>
            </a:r>
            <a:r>
              <a:rPr/>
              <a:t>: of the drives flagged</a:t>
            </a:r>
          </a:p>
          <a:p>
            <a:pPr lvl="0"/>
            <a:r>
              <a:rPr/>
              <a:t>Recall = TP ÷ (TP + FN) = 43 ÷ (43 + 33) = </a:t>
            </a:r>
            <a:r>
              <a:rPr b="1"/>
              <a:t>0.566</a:t>
            </a:r>
            <a:r>
              <a:rPr/>
              <a:t>: of the drives that failed</a:t>
            </a:r>
          </a:p>
          <a:p>
            <a:pPr lvl="0"/>
            <a:r>
              <a:rPr/>
              <a:t>Specificity = TN ÷ (TN + FP) = 1,911 ÷ (1,911 + 13) = 0.993</a:t>
            </a:r>
          </a:p>
          <a:p>
            <a:pPr lvl="0"/>
            <a:r>
              <a:rPr/>
              <a:t>In code: </a:t>
            </a:r>
            <a:r>
              <a:rPr>
                <a:latin typeface="Courier"/>
              </a:rPr>
              <a:t>precision_score</a:t>
            </a:r>
            <a:r>
              <a:rPr/>
              <a:t>, </a:t>
            </a:r>
            <a:r>
              <a:rPr>
                <a:latin typeface="Courier"/>
              </a:rPr>
              <a:t>recall_score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pic>
        <p:nvPicPr>
          <p:cNvPr descr="harmonic_vs_arithmetic.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t>F1 per class: healthy 0.988 (1,924 drives), failed 0.652 (76 drives)</a:t>
            </a:r>
          </a:p>
          <a:p>
            <a:pPr lvl="0"/>
            <a:r>
              <a:rPr>
                <a:latin typeface="Courier"/>
              </a:rPr>
              <a:t>macro avg</a:t>
            </a:r>
            <a:r>
              <a:rPr/>
              <a:t> F1 = (0.988 + 0.652) ÷ 2 = </a:t>
            </a:r>
            <a:r>
              <a:rPr b="1"/>
              <a:t>0.820</a:t>
            </a:r>
            <a:r>
              <a:rPr/>
              <a:t>: both classes count the same</a:t>
            </a:r>
          </a:p>
          <a:p>
            <a:pPr lvl="0"/>
            <a:r>
              <a:rPr>
                <a:latin typeface="Courier"/>
              </a:rPr>
              <a:t>weighted avg</a:t>
            </a:r>
            <a:r>
              <a:rPr/>
              <a:t> F1 = (1,924 × 0.988 + 76 × 0.652) ÷ 2,000 = </a:t>
            </a:r>
            <a:r>
              <a:rPr b="1"/>
              <a:t>0.975</a:t>
            </a:r>
            <a:r>
              <a:rPr/>
              <a:t>: the healthy class dominates</a:t>
            </a:r>
          </a:p>
          <a:p>
            <a:pPr lvl="0"/>
            <a:r>
              <a:rPr/>
              <a:t>In code: </a:t>
            </a:r>
            <a:r>
              <a:rPr>
                <a:latin typeface="Courier"/>
              </a:rPr>
              <a:t>classification_report(y_test, y_pred)</a:t>
            </a:r>
            <a:r>
              <a:rPr/>
              <a:t> prints both rows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number that should worry you, 30</a:t>
                      </a:r>
                    </a:p>
                  </a:txBody>
                </a:tc>
                <a:tc>
                  <a:txBody>
                    <a:bodyPr/>
                    <a:lstStyle/>
                    <a:p>
                      <a:pPr lvl="0" indent="0" marL="0">
                        <a:buNone/>
                      </a:pPr>
                      <a:r>
                        <a:rPr>
                          <a:latin typeface="Courier"/>
                        </a:rPr>
                        <a:t>accuracy_score</a:t>
                      </a:r>
                      <a:r>
                        <a:rPr/>
                        <a:t> → 96.20% for “always healthy”</a:t>
                      </a:r>
                    </a:p>
                  </a:txBody>
                </a:tc>
              </a:tr>
              <a:tr h="0">
                <a:tc>
                  <a:txBody>
                    <a:bodyPr/>
                    <a:lstStyle/>
                    <a:p>
                      <a:pPr lvl="0" indent="0" marL="0">
                        <a:buNone/>
                      </a:pPr>
                      <a:r>
                        <a:rPr/>
                        <a:t>the confusion matrix, 32</a:t>
                      </a:r>
                    </a:p>
                  </a:txBody>
                </a:tc>
                <a:tc>
                  <a:txBody>
                    <a:bodyPr/>
                    <a:lstStyle/>
                    <a:p>
                      <a:pPr lvl="0" indent="0" marL="0">
                        <a:buNone/>
                      </a:pPr>
                      <a:r>
                        <a:rPr/>
                        <a:t>counts by hand, then </a:t>
                      </a:r>
                      <a:r>
                        <a:rPr>
                          <a:latin typeface="Courier"/>
                        </a:rPr>
                        <a:t>confusion_matrix</a:t>
                      </a:r>
                      <a:r>
                        <a:rPr/>
                        <a:t>, </a:t>
                      </a:r>
                      <a:r>
                        <a:rPr>
                          <a:latin typeface="Courier"/>
                        </a:rPr>
                        <a:t>ConfusionMatrixDisplay</a:t>
                      </a:r>
                      <a:r>
                        <a:rPr/>
                        <a:t> → TP 43</a:t>
                      </a:r>
                    </a:p>
                  </a:txBody>
                </a:tc>
              </a:tr>
              <a:tr h="0">
                <a:tc>
                  <a:txBody>
                    <a:bodyPr/>
                    <a:lstStyle/>
                    <a:p>
                      <a:pPr lvl="0" indent="0" marL="0">
                        <a:buNone/>
                      </a:pPr>
                      <a:r>
                        <a:rPr/>
                        <a:t>precision and recall, 34-37</a:t>
                      </a:r>
                    </a:p>
                  </a:txBody>
                </a:tc>
                <a:tc>
                  <a:txBody>
                    <a:bodyPr/>
                    <a:lstStyle/>
                    <a:p>
                      <a:pPr lvl="0" indent="0" marL="0">
                        <a:buNone/>
                      </a:pPr>
                      <a:r>
                        <a:rPr>
                          <a:latin typeface="Courier"/>
                        </a:rPr>
                        <a:t>precision_score</a:t>
                      </a:r>
                      <a:r>
                        <a:rPr/>
                        <a:t>, </a:t>
                      </a:r>
                      <a:r>
                        <a:rPr>
                          <a:latin typeface="Courier"/>
                        </a:rPr>
                        <a:t>recall_score</a:t>
                      </a:r>
                      <a:r>
                        <a:rPr/>
                        <a:t>, </a:t>
                      </a:r>
                      <a:r>
                        <a:rPr>
                          <a:latin typeface="Courier"/>
                        </a:rPr>
                        <a:t>f1_score</a:t>
                      </a:r>
                      <a:r>
                        <a:rPr/>
                        <a:t>, </a:t>
                      </a:r>
                      <a:r>
                        <a:rPr>
                          <a:latin typeface="Courier"/>
                        </a:rPr>
                        <a:t>classification_report</a:t>
                      </a:r>
                    </a:p>
                  </a:txBody>
                </a:tc>
              </a:tr>
              <a:tr h="0">
                <a:tc>
                  <a:txBody>
                    <a:bodyPr/>
                    <a:lstStyle/>
                    <a:p>
                      <a:pPr lvl="0" indent="0" marL="0">
                        <a:buNone/>
                      </a:pPr>
                      <a:r>
                        <a:rPr/>
                        <a:t>the threshold sweep, 39-40</a:t>
                      </a:r>
                    </a:p>
                  </a:txBody>
                </a:tc>
                <a:tc>
                  <a:txBody>
                    <a:bodyPr/>
                    <a:lstStyle/>
                    <a:p>
                      <a:pPr lvl="0" indent="0" marL="0">
                        <a:buNone/>
                      </a:pPr>
                      <a:r>
                        <a:rPr>
                          <a:latin typeface="Courier"/>
                        </a:rPr>
                        <a:t>predict_proba</a:t>
                      </a:r>
                      <a:r>
                        <a:rPr/>
                        <a:t>, then the metrics at each threshold</a:t>
                      </a:r>
                    </a:p>
                  </a:txBody>
                </a:tc>
              </a:tr>
              <a:tr h="0">
                <a:tc>
                  <a:txBody>
                    <a:bodyPr/>
                    <a:lstStyle/>
                    <a:p>
                      <a:pPr lvl="0" indent="0" marL="0">
                        <a:buNone/>
                      </a:pPr>
                      <a:r>
                        <a:rPr/>
                        <a:t>the precision-recall curve, 41</a:t>
                      </a:r>
                    </a:p>
                  </a:txBody>
                </a:tc>
                <a:tc>
                  <a:txBody>
                    <a:bodyPr/>
                    <a:lstStyle/>
                    <a:p>
                      <a:pPr lvl="0" indent="0" marL="0">
                        <a:buNone/>
                      </a:pPr>
                      <a:r>
                        <a:rPr>
                          <a:latin typeface="Courier"/>
                        </a:rPr>
                        <a:t>precision_recall_curve</a:t>
                      </a:r>
                      <a:r>
                        <a:rPr/>
                        <a:t>, </a:t>
                      </a:r>
                      <a:r>
                        <a:rPr>
                          <a:latin typeface="Courier"/>
                        </a:rPr>
                        <a:t>average_precision_score</a:t>
                      </a:r>
                      <a:r>
                        <a:rPr/>
                        <a:t> → 0.717 against 0.038</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pic>
        <p:nvPicPr>
          <p:cNvPr descr="sweep_outcomes.png" id="0" name="Picture 1"/>
          <p:cNvPicPr>
            <a:picLocks noGrp="1" noChangeAspect="1"/>
          </p:cNvPicPr>
          <p:nvPr/>
        </p:nvPicPr>
        <p:blipFill>
          <a:blip r:embed="rId3"/>
          <a:stretch>
            <a:fillRect/>
          </a:stretch>
        </p:blipFill>
        <p:spPr bwMode="auto">
          <a:xfrm>
            <a:off x="1023045" y="1166099"/>
            <a:ext cx="7097910"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Area under the curve (AUC) = the probability that a random failing drive scores above a random healthy one</a:t>
            </a:r>
          </a:p>
          <a:p>
            <a:pPr lvl="0"/>
            <a:r>
              <a:rPr/>
              <a:t>Ours: 0.949 (</a:t>
            </a:r>
            <a:r>
              <a:rPr>
                <a:latin typeface="Courier"/>
              </a:rPr>
              <a:t>roc_auc_score</a:t>
            </a:r>
            <a:r>
              <a:rPr/>
              <a:t>, notebook 3)</a:t>
            </a:r>
          </a:p>
          <a:p>
            <a:pPr lvl="0"/>
            <a:r>
              <a:rPr/>
              <a:t>Check: in 200,000 random pairs, the failing drive scores higher 94.9% of the time</a:t>
            </a:r>
          </a:p>
          <a:p>
            <a:pPr lvl="0"/>
            <a:r>
              <a:rPr/>
              <a:t>In code: </a:t>
            </a:r>
            <a:r>
              <a:rPr>
                <a:latin typeface="Courier"/>
              </a:rPr>
              <a:t>roc_auc_score(y_test, scores)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scores behind the AUC</a:t>
            </a:r>
          </a:p>
        </p:txBody>
      </p:sp>
      <p:pic>
        <p:nvPicPr>
          <p:cNvPr descr="score_distributions.png" id="0" name="Picture 1"/>
          <p:cNvPicPr>
            <a:picLocks noGrp="1" noChangeAspect="1"/>
          </p:cNvPicPr>
          <p:nvPr/>
        </p:nvPicPr>
        <p:blipFill>
          <a:blip r:embed="rId3"/>
          <a:stretch>
            <a:fillRect/>
          </a:stretch>
        </p:blipFill>
        <p:spPr bwMode="auto">
          <a:xfrm>
            <a:off x="1130017" y="1166099"/>
            <a:ext cx="6883966"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False positive rate (FPR)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a:p>
            <a:pPr lvl="0"/>
            <a:r>
              <a:rPr/>
              <a:t>Its area is the </a:t>
            </a:r>
            <a:r>
              <a:rPr b="1"/>
              <a:t>average precision</a:t>
            </a:r>
            <a:r>
              <a:rPr/>
              <a:t>, </a:t>
            </a:r>
            <a:r>
              <a:rPr>
                <a:latin typeface="Courier"/>
              </a:rPr>
              <a:t>average_precision_score</a:t>
            </a:r>
            <a:r>
              <a:rPr/>
              <a:t>: 0.717 here, against 0.038 = 76 ÷ 2,000 for a model that ranks at random</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two costs cross</a:t>
            </a:r>
          </a:p>
        </p:txBody>
      </p:sp>
      <p:pic>
        <p:nvPicPr>
          <p:cNvPr descr="expected_cost_lines.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pic>
        <p:nvPicPr>
          <p:cNvPr descr="class_weight_costs.png" id="0" name="Picture 1"/>
          <p:cNvPicPr>
            <a:picLocks noGrp="1" noChangeAspect="1"/>
          </p:cNvPicPr>
          <p:nvPr/>
        </p:nvPicPr>
        <p:blipFill>
          <a:blip r:embed="rId3"/>
          <a:stretch>
            <a:fillRect/>
          </a:stretch>
        </p:blipFill>
        <p:spPr bwMode="auto">
          <a:xfrm>
            <a:off x="457200" y="1284089"/>
            <a:ext cx="8229600" cy="31242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ROC curve by hand, 43</a:t>
                      </a:r>
                    </a:p>
                  </a:txBody>
                </a:tc>
                <a:tc>
                  <a:txBody>
                    <a:bodyPr/>
                    <a:lstStyle/>
                    <a:p>
                      <a:pPr lvl="0" indent="0" marL="0">
                        <a:buNone/>
                      </a:pPr>
                      <a:r>
                        <a:rPr>
                          <a:latin typeface="Courier"/>
                        </a:rPr>
                        <a:t>roc_curve</a:t>
                      </a:r>
                      <a:r>
                        <a:rPr/>
                        <a:t>, </a:t>
                      </a:r>
                      <a:r>
                        <a:rPr>
                          <a:latin typeface="Courier"/>
                        </a:rPr>
                        <a:t>roc_auc_score</a:t>
                      </a:r>
                      <a:r>
                        <a:rPr/>
                        <a:t> → 0.9493</a:t>
                      </a:r>
                    </a:p>
                  </a:txBody>
                </a:tc>
              </a:tr>
              <a:tr h="0">
                <a:tc>
                  <a:txBody>
                    <a:bodyPr/>
                    <a:lstStyle/>
                    <a:p>
                      <a:pPr lvl="0" indent="0" marL="0">
                        <a:buNone/>
                      </a:pPr>
                      <a:r>
                        <a:rPr/>
                        <a:t>what AUC means, 44-45</a:t>
                      </a:r>
                    </a:p>
                  </a:txBody>
                </a:tc>
                <a:tc>
                  <a:txBody>
                    <a:bodyPr/>
                    <a:lstStyle/>
                    <a:p>
                      <a:pPr lvl="0" indent="0" marL="0">
                        <a:buNone/>
                      </a:pPr>
                      <a:r>
                        <a:rPr/>
                        <a:t>200,000 random (failing, healthy) pairs → 0.9488</a:t>
                      </a:r>
                    </a:p>
                  </a:txBody>
                </a:tc>
              </a:tr>
              <a:tr h="0">
                <a:tc>
                  <a:txBody>
                    <a:bodyPr/>
                    <a:lstStyle/>
                    <a:p>
                      <a:pPr lvl="0" indent="0" marL="0">
                        <a:buNone/>
                      </a:pPr>
                      <a:r>
                        <a:rPr/>
                        <a:t>the rare-positive trap, 47-48</a:t>
                      </a:r>
                    </a:p>
                  </a:txBody>
                </a:tc>
                <a:tc>
                  <a:txBody>
                    <a:bodyPr/>
                    <a:lstStyle/>
                    <a:p>
                      <a:pPr lvl="0" indent="0" marL="0">
                        <a:buNone/>
                      </a:pPr>
                      <a:r>
                        <a:rPr>
                          <a:latin typeface="Courier"/>
                        </a:rPr>
                        <a:t>average_precision_score</a:t>
                      </a:r>
                      <a:r>
                        <a:rPr/>
                        <a:t> beside </a:t>
                      </a:r>
                      <a:r>
                        <a:rPr>
                          <a:latin typeface="Courier"/>
                        </a:rPr>
                        <a:t>roc_auc_score</a:t>
                      </a:r>
                      <a:r>
                        <a:rPr/>
                        <a:t> → AP 0.706 to 0.361, AUC unmoved</a:t>
                      </a:r>
                    </a:p>
                  </a:txBody>
                </a:tc>
              </a:tr>
              <a:tr h="0">
                <a:tc>
                  <a:txBody>
                    <a:bodyPr/>
                    <a:lstStyle/>
                    <a:p>
                      <a:pPr lvl="0" indent="0" marL="0">
                        <a:buNone/>
                      </a:pPr>
                      <a:r>
                        <a:rPr/>
                        <a:t>the threshold from costs, 50-53</a:t>
                      </a:r>
                    </a:p>
                  </a:txBody>
                </a:tc>
                <a:tc>
                  <a:txBody>
                    <a:bodyPr/>
                    <a:lstStyle/>
                    <a:p>
                      <a:pPr lvl="0" indent="0" marL="0">
                        <a:buNone/>
                      </a:pPr>
                      <a:r>
                        <a:rPr>
                          <a:latin typeface="Courier"/>
                        </a:rPr>
                        <a:t>confusion_matrix</a:t>
                      </a:r>
                      <a:r>
                        <a:rPr/>
                        <a:t> at each threshold → 45,540 EUR at 0.08, against 87,620 at 0.50</a:t>
                      </a:r>
                    </a:p>
                  </a:txBody>
                </a:tc>
              </a:tr>
              <a:tr h="0">
                <a:tc>
                  <a:txBody>
                    <a:bodyPr/>
                    <a:lstStyle/>
                    <a:p>
                      <a:pPr lvl="0" indent="0" marL="0">
                        <a:buNone/>
                      </a:pPr>
                      <a:r>
                        <a:rPr/>
                        <a:t>class weights, 54</a:t>
                      </a:r>
                    </a:p>
                  </a:txBody>
                </a:tc>
                <a:tc>
                  <a:txBody>
                    <a:bodyPr/>
                    <a:lstStyle/>
                    <a:p>
                      <a:pPr lvl="0" indent="0" marL="0">
                        <a:buNone/>
                      </a:pPr>
                      <a:r>
                        <a:rPr>
                          <a:latin typeface="Courier"/>
                        </a:rPr>
                        <a:t>LogisticRegression</a:t>
                      </a:r>
                      <a:r>
                        <a:rPr/>
                        <a:t> with balanced class weights → AUC 0.950</a:t>
                      </a:r>
                    </a:p>
                  </a:txBody>
                </a:tc>
              </a:tr>
              <a:tr h="0">
                <a:tc>
                  <a:txBody>
                    <a:bodyPr/>
                    <a:lstStyle/>
                    <a:p>
                      <a:pPr lvl="0" indent="0" marL="0">
                        <a:buNone/>
                      </a:pPr>
                      <a:r>
                        <a:rPr/>
                        <a:t>three classes, 56-57</a:t>
                      </a:r>
                    </a:p>
                  </a:txBody>
                </a:tc>
                <a:tc>
                  <a:txBody>
                    <a:bodyPr/>
                    <a:lstStyle/>
                    <a:p>
                      <a:pPr lvl="0" indent="0" marL="0">
                        <a:buNone/>
                      </a:pPr>
                      <a:r>
                        <a:rPr>
                          <a:latin typeface="Courier"/>
                        </a:rPr>
                        <a:t>classification_report</a:t>
                      </a:r>
                      <a:r>
                        <a:rPr/>
                        <a:t> → macro F1 0.707, weighted 0.883</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pic>
        <p:nvPicPr>
          <p:cNvPr descr="macro_vs_weighted.png" id="0" name="Picture 1"/>
          <p:cNvPicPr>
            <a:picLocks noGrp="1" noChangeAspect="1"/>
          </p:cNvPicPr>
          <p:nvPr/>
        </p:nvPicPr>
        <p:blipFill>
          <a:blip r:embed="rId3"/>
          <a:stretch>
            <a:fillRect/>
          </a:stretch>
        </p:blipFill>
        <p:spPr bwMode="auto">
          <a:xfrm>
            <a:off x="1306206" y="1166099"/>
            <a:ext cx="6531587" cy="3360181"/>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6 November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