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13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13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13 -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13;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13,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53).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53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(AP),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slides 52-53 do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a:p>
            <a:pPr lvl="0" indent="0" marL="0">
              <a:buNone/>
            </a:pPr>
          </a:p>
          <a:p>
            <a:pPr lvl="0" indent="0" marL="0">
              <a:buNone/>
            </a:pPr>
            <a:r>
              <a:rPr/>
              <a:t>The fleets, precisely: 60,000 drives are generated, all 57,575 healthy ones are kept, and only failures are discarded, so the three fleets hold 59,849, 58,157 and 57,806 drives. The counts behind the right panel, at threshold 0.5: the false alarms are 304 in all three fleets, the true alarms 1,127, 261 and 106. The next slide reads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Both ROC axes are shares inside one class. Recall is a share of the failures, and thinning the failures at random leaves it where it was: 0.50, 0.45, 0.46 at threshold 0.5, noise around one value. FPR is a share of the healthy drives, which are not touched: 304 ÷ 57,575 = 0.0053 every time. So the ROC curve cannot move. Precision is the one number that mixes the classes: TP over TP + 304, with TP falling 1,127 → 261 → 106, so precision falls 0.788 → 0.462 → 0.259. In one formula, with π the positive rate: precision = R·π ÷ (R·π + FPR · (1 − π)). R and FPR are the ROC’s axes and stay put; only π moves. Check the rarest fleet: 0.459 × 0.004 ÷ (0.459 × 0.004 + 0.0053 × 0.996) = 0.26.</a:t>
            </a:r>
          </a:p>
          <a:p>
            <a:pPr lvl="0" indent="0" marL="0">
              <a:buNone/>
            </a:pPr>
          </a:p>
          <a:p>
            <a:pPr lvl="0" indent="0" marL="0">
              <a:buNone/>
            </a:pPr>
            <a:r>
              <a:rPr/>
              <a:t>A predictable slip: “precision falls because the false positives grow”. They do not - 304 in every fleet. What grows is their share of the alarms, 304 ÷ (1,127 + 304) = 0.21 at 3.8% and 304 ÷ (106 + 304) = 0.74 at 0.4%, which is 1 − precision. The slip is natural: “the false alarms take over” sounds like “there are more of them”.</a:t>
            </a:r>
          </a:p>
          <a:p>
            <a:pPr lvl="0" indent="0" marL="0">
              <a:buNone/>
            </a:pPr>
          </a:p>
          <a:p>
            <a:pPr lvl="0" indent="0" marL="0">
              <a:buNone/>
            </a:pPr>
            <a:r>
              <a:rPr/>
              <a:t>So ROC measures the false alarms against a population nobody experiences. The technician does not see the 57,000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The two measures answer two different questions, which is why neither replaces the other. AUC: does the model put the failures above the healthy drives? The precision-recall curve: of the alarms it raises, how many are real? On a balanced problem the answers travel together; on an imbalanced one the second can collapse while the first stands still, as slide 48 showed.</a:t>
            </a:r>
          </a:p>
          <a:p>
            <a:pPr lvl="0" indent="0" marL="0">
              <a:buNone/>
            </a:pPr>
          </a:p>
          <a:p>
            <a:pPr lvl="0" indent="0" marL="0">
              <a:buNone/>
            </a:pPr>
            <a:r>
              <a:rPr/>
              <a:t>Average precision reads as it is computed: walk down the thresholds from the top; each time recall goes up by a step, take the precision at that point; add the precisions, each weighted by its recall step. Why a random ranking scores 0.038: its precision is the positive rate π at every recall (slide 42 counted it), so the weighted average of a constant is that constant, π = 76 ÷ 2,000. So AP is read against π, not against 0.5 - which is also why it travels across problems with different class balance badly, and must always be quoted with the positive rate beside it.</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FP × 140 + FN × 2,600, the formula on the vertical axis. The default 0.5 costs 13 × 140 + 33 × 2,600 = 1,820 + 85,800 = €87,620. The cheapest, at 0.078, costs 121 × 140 + 11 × 2,600 = 16,940 + 28,600 = €45,540. Read the shape: going down from 0.5, each miss at €2,600 becomes a false alarm at €140, a good trade until false alarms pile up near 0; to the right the cost climbs towards doing nothing, 76 × 2,600 = €197,600. Each little step is one drive crossing the threshold.</a:t>
            </a:r>
          </a:p>
          <a:p>
            <a:pPr lvl="0" indent="0" marL="0">
              <a:buNone/>
            </a:pPr>
          </a:p>
          <a:p>
            <a:pPr lvl="0" indent="0" marL="0">
              <a:buNone/>
            </a:pPr>
            <a:r>
              <a:rPr/>
              <a:t>One condition to say now, because slide 54 comes back to it: 0.078 was found by looking at the test set. Properly it is chosen on a validation set (lesson 5).</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formula, the picture.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Left of the crossing, leaving the drive is cheaper; right of it, flagging is. So the rule is: flag every drive whose probability is beyond the crossing. The next slide finds where the crossing is.</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on the board, because it is two steps and it lands. Flag the drive when leaving it costs more in expectation than flagging it: p times 2,600 &gt; (1 - p) times 140. Multiply out: 140 &lt; p × (2,600 + 140) = p × 2,740, so p &gt; 140 ÷ 2,740 = 0.051. The probability does not simplify away: it is the unknown we solve for, and t* is a value of p - the one at which the two expected costs are equal, the crossing of the previous slide. The rule reads “flag every drive with p above t*“.</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0.078 against a theoretical 0.051, and notebook 3 counts what separates them: 45 test drives are scored between the two, and 1 of them failed. Flagging them would cost 44 × 140 = €6,160, leaving them cost that one failure, €2,600 - so on this test set leaving them was cheaper. But their probabilities add up to 2.76 expected failures: for a calibrated model, leaving them costs about 2.76 × 2,600 = €7,176 against (45 − 2.76) × 140 = €5,914 for flagging, and the rule is right. The gap is 45 drives with one failure where the model expected almost three: sampling noise on 76 failures, plus calibration that is good but not perfect. At t* itself the cost is €49,100, 8% above the minimum - the flat bottom of slide 51.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The two prices on the slide show what is at stake. t* was fixed by the costs before anyone looked at the test set; 0.078 is the best of 300 thresholds tried on it. The €3,560 between them (8%) is in part luck the test set handed us - the 45 drives with one failure where almost three were expected - and the minimum of many tries on the same data is biased downwards. The test score is an unbiased estimate only if the test set played no part in any choice and is used once, at the end.</a:t>
            </a:r>
          </a:p>
          <a:p>
            <a:pPr lvl="0" indent="0" marL="0">
              <a:buNone/>
            </a:pPr>
          </a:p>
          <a:p>
            <a:pPr lvl="0" indent="0" marL="0">
              <a:buNone/>
            </a:pPr>
            <a:r>
              <a:rPr/>
              <a:t>Until then, treat the 0.078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in order.</a:t>
            </a:r>
          </a:p>
          <a:p>
            <a:pPr lvl="0" indent="0" marL="0">
              <a:buNone/>
            </a:pPr>
          </a:p>
          <a:p>
            <a:pPr lvl="0" indent="0" marL="0">
              <a:buNone/>
            </a:pPr>
            <a:r>
              <a:rPr/>
              <a:t>What the weights are. The two numbers on the slide: 6,000 ÷ (2 × 5,770) = 0.52 and 6,000 ÷ (2 × 230) = 13.0. The log loss adds one term per training drive. A class weight multiplies the term of every drive in that class. “balanced” sets the weight to m divided by (2 times the number of drives in the class): 0.52 for a healthy drive, 13.0 for a failed one. Each failure therefore counts as 25 healthy drives - as if the training set held 25 copies of every failure.</a:t>
            </a:r>
          </a:p>
          <a:p>
            <a:pPr lvl="0" indent="0" marL="0">
              <a:buNone/>
            </a:pPr>
          </a:p>
          <a:p>
            <a:pPr lvl="0" indent="0" marL="0">
              <a:buNone/>
            </a:pPr>
            <a:r>
              <a:rPr/>
              <a:t>Where the 25 comes from: the class frequencies, 5,770 healthy against 230 failed in training. Not the costs. A predictable slip: reading “balanced” as “weighted by what the errors cost”. Both are weights and both push towards the failures, so the reading is natural - but balanced would give 25 whatever a miss cost. Weights from the costs exist too, and they are a separate choice: class_weight={0: 140, 1: 2600}, ratio 18.6. Notebook 3 fits that model as well: at 0.5 it raises 164 false alarms and misses 9, close to the plain model at t* (165 and 10).</a:t>
            </a:r>
          </a:p>
          <a:p>
            <a:pPr lvl="0" indent="0" marL="0">
              <a:buNone/>
            </a:pPr>
          </a:p>
          <a:p>
            <a:pPr lvl="0" indent="0" marL="0">
              <a:buNone/>
            </a:pPr>
            <a:r>
              <a:rPr/>
              <a:t>What the weights do. For logistic regression the main effect is on the intercept: it rises from −6.09 to −2.95, by 3.14, close to log 25 = 3.22. Every probability goes up, and the weighted model’s 0.5 lands where the plain model’s 1 ÷ (1 + 25) = 0.038 was. Notebook 3 checks it: the plain model at 0.038 raises 208 false alarms and misses 8; the weighted model at 0.5 raises 205 and misses 8; the two agree on 1,987 of the 2,000 test drives. The general rule: weights with ratio k behave like a threshold of 1 ÷ (1 + k). Balanced weights land near the cost optimum here only because 25 happens to be close to 18.6.</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0.078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training time instead of after it, as the previous slide showed.</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three multiclass slides that follow (58 to 60)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 So three classes.</a:t>
            </a:r>
          </a:p>
          <a:p>
            <a:pPr lvl="0" indent="0" marL="0">
              <a:buNone/>
            </a:pPr>
          </a:p>
          <a:p>
            <a:pPr lvl="0" indent="0" marL="0">
              <a:buNone/>
            </a:pPr>
            <a:r>
              <a:rPr/>
              <a:t>The model keeps the idea of lesson 4’s first half and triplicates it: one linear score per class, each with its own coefficients. The softmax turns three scores into three probabilities in two moves - exponentiate, so all three are positive; divide by their sum, so they add up to 1. The largest score keeps the largest share. With two classes, subtract z₀ from both scores and the softmax becomes the sigmoid of z₁ − z₀: nothing new, the same model seen from further away.</a:t>
            </a:r>
          </a:p>
          <a:p>
            <a:pPr lvl="0" indent="0" marL="0">
              <a:buNone/>
            </a:pPr>
          </a:p>
          <a:p>
            <a:pPr lvl="0" indent="0" marL="0">
              <a:buNone/>
            </a:pPr>
            <a:r>
              <a:rPr/>
              <a:t>Work the drive on the slide if there is time: e to the 0.615 is 1.85, e to the 0.603 is 1.83, e to the −1.218 is 0.30; the sum is 3.97; dividing gives 0.466, 0.460, 0.074. Healthy wins by 0.006 - and the drive was degraded. That is what “degraded is the hard class” looks like from the inside.</a:t>
            </a:r>
          </a:p>
          <a:p>
            <a:pPr lvl="0" indent="0" marL="0">
              <a:buNone/>
            </a:pPr>
          </a:p>
          <a:p>
            <a:pPr lvl="0" indent="0" marL="0">
              <a:buNone/>
            </a:pPr>
            <a:r>
              <a:rPr/>
              <a:t>The decision is the largest probability, so there is no 0.5 threshold here: notebook 3 counts 33 test drives assigned a class whose probability is below 0.5. The cost generalises to categorical cross-entropy, the same idea as the log loss: the negative log of the probability assigned to what actually happened. Handout section 10.1. Lesson 9 uses the same softmax for ten digits.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gave the probabilities; this is where the decisions land.</a:t>
            </a:r>
          </a:p>
          <a:p>
            <a:pPr lvl="0" indent="0" marL="0">
              <a:buNone/>
            </a:pPr>
          </a:p>
          <a:p>
            <a:pPr lvl="0" indent="0" marL="0">
              <a:buNone/>
            </a:pPr>
            <a:r>
              <a:rPr/>
              <a:t>Read the off-diagonal cells rather than the accuracy. Degraded is the hard class, and understandably - it sits between two neighbours that both look like it from a distance: 121 degraded drives were called healthy, 31 failed drives were called degraded.</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The weights are the support: the number of test drives whose TRUE class is that one, not the number predicted. The gap between the two averages, 0.883 − 0.707 = 0.18, is itself the finding: the small classes are handled much worse than the big one. A question that may come: the weighted average of recall is always the accuracy, 0.889 here, because support times recall is the number of drives of that class classified correctly.</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On the test set, 1,924 of the 2,000 drives are healthy: 1,924 ÷ 2,000 = 96.20% accuracy for a model that does nothing and catches none of the 76 failures.</a:t>
            </a:r>
          </a:p>
          <a:p>
            <a:pPr lvl="0" indent="0" marL="0">
              <a:buNone/>
            </a:pPr>
          </a:p>
          <a:p>
            <a:pPr lvl="0" indent="0" marL="0">
              <a:buNone/>
            </a:pPr>
            <a:r>
              <a:rPr/>
              <a:t>If they remember one thing from today, it should be the reflex to ask “what’s the base rate?” before believing any accuracy figure. Not “accuracy is useless”: against its baseline, the model’s 97.70% does say something.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 Class weights move the same line at training time.</a:t>
            </a:r>
          </a:p>
          <a:p>
            <a:pPr lvl="0" indent="0" marL="0">
              <a:buNone/>
            </a:pPr>
          </a:p>
          <a:p>
            <a:pPr lvl="0" indent="0" marL="0">
              <a:buNone/>
            </a:pPr>
            <a:r>
              <a:rPr/>
              <a:t>The first bullet is the first half of the lesson in one line: log loss is what maximum likelihood gives, and unlike squared error through the sigmoid it is convex, so gradient descent finds the one minimum.</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15),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a:p>
            <a:pPr lvl="0"/>
            <a:r>
              <a:rPr/>
              <a:t>A correct decision counts as €0: each cost is what the error adds over the right call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 FP ÷ (FP + TN) divides by </a:t>
            </a:r>
            <a:r>
              <a:rPr b="1"/>
              <a:t>all 57,575 healthy drives</a:t>
            </a:r>
            <a:r>
              <a:rPr/>
              <a:t>, untouched by the thinning: 304 ÷ 57,575 = 0.0053 in all three fleets</a:t>
            </a:r>
          </a:p>
          <a:p>
            <a:pPr lvl="0"/>
            <a:r>
              <a:rPr/>
              <a:t>Precision = TP ÷ (TP + FP): FP </a:t>
            </a:r>
            <a:r>
              <a:rPr b="1"/>
              <a:t>stays 304</a:t>
            </a:r>
            <a:r>
              <a:rPr/>
              <a:t> while TP falls from 1,127 to 106, so the false alarms’ share of the alarms grows from 0.21 to 0.74</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report both</a:t>
            </a:r>
          </a:p>
        </p:txBody>
      </p:sp>
      <p:sp>
        <p:nvSpPr>
          <p:cNvPr id="3" name="Content Placeholder 2"/>
          <p:cNvSpPr>
            <a:spLocks noGrp="1"/>
          </p:cNvSpPr>
          <p:nvPr>
            <p:ph idx="1"/>
          </p:nvPr>
        </p:nvSpPr>
        <p:spPr>
          <a:xfrm>
            <a:off x="457200" y="1200151"/>
            <a:ext cx="8229600" cy="3394472"/>
          </a:xfrm>
        </p:spPr>
        <p:txBody>
          <a:bodyPr/>
          <a:lstStyle/>
          <a:p>
            <a:pPr lvl="0"/>
            <a:r>
              <a:rPr/>
              <a:t>AUC: are failures ranked above healthy drives? Precision-recall: how many alarms are real?</a:t>
            </a:r>
          </a:p>
          <a:p>
            <a:pPr lvl="0"/>
            <a:r>
              <a:rPr/>
              <a:t>On imbalanced data report the </a:t>
            </a:r>
            <a:r>
              <a:rPr b="1"/>
              <a:t>precision-recall curve beside the AUC</a:t>
            </a:r>
            <a:r>
              <a:rPr/>
              <a:t>, not instead</a:t>
            </a:r>
          </a:p>
          <a:p>
            <a:pPr lvl="0"/>
            <a:r>
              <a:rPr b="1"/>
              <a:t>Average precision (AP)</a:t>
            </a:r>
            <a:r>
              <a:rPr/>
              <a:t>: the area under that curve, Σₖ (Rₖ − Rₖ₋₁) × Pₖ, each threshold’s precision weighted by the recall it adds</a:t>
            </a:r>
          </a:p>
          <a:p>
            <a:pPr lvl="0"/>
            <a:r>
              <a:rPr/>
              <a:t>Ours: 0.717 (notebook 2); a random ranking: 76 ÷ 2,000 = 0.038</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they cross, in one line</a:t>
            </a:r>
          </a:p>
        </p:txBody>
      </p:sp>
      <p:pic>
        <p:nvPicPr>
          <p:cNvPr descr="eq_fa0fcf9718.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a:p>
            <a:pPr lvl="0"/>
            <a:r>
              <a:rPr/>
              <a:t>Done properly: choose it on a </a:t>
            </a:r>
            <a:r>
              <a:rPr b="1"/>
              <a:t>validation set</a:t>
            </a:r>
            <a:r>
              <a:rPr/>
              <a:t>, then measure once on the test set (lesson 5)</a:t>
            </a:r>
          </a:p>
          <a:p>
            <a:pPr lvl="0"/>
            <a:r>
              <a:rPr/>
              <a:t>The price of looking, here: t* = 0.051, fixed before looking, costs €49,100 on the test set; 0.078, picked by looking, €45,540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class weights do</a:t>
            </a:r>
          </a:p>
        </p:txBody>
      </p:sp>
      <p:sp>
        <p:nvSpPr>
          <p:cNvPr id="3" name="Content Placeholder 2"/>
          <p:cNvSpPr>
            <a:spLocks noGrp="1"/>
          </p:cNvSpPr>
          <p:nvPr>
            <p:ph idx="1"/>
          </p:nvPr>
        </p:nvSpPr>
        <p:spPr>
          <a:xfrm>
            <a:off x="457200" y="1200151"/>
            <a:ext cx="8229600" cy="3394472"/>
          </a:xfrm>
        </p:spPr>
        <p:txBody>
          <a:bodyPr/>
          <a:lstStyle/>
          <a:p>
            <a:pPr lvl="0"/>
            <a:r>
              <a:rPr/>
              <a:t>Training multiplies each drive’s log-loss term by its </a:t>
            </a:r>
            <a:r>
              <a:rPr b="1"/>
              <a:t>class weight</a:t>
            </a:r>
          </a:p>
          <a:p>
            <a:pPr lvl="0"/>
            <a:r>
              <a:rPr>
                <a:latin typeface="Courier"/>
              </a:rPr>
              <a:t>class_weight="balanced"</a:t>
            </a:r>
            <a:r>
              <a:rPr/>
              <a:t>: m ÷ (2 × class size), 0.52 healthy, 13.0 failed</a:t>
            </a:r>
          </a:p>
          <a:p>
            <a:pPr lvl="0"/>
            <a:r>
              <a:rPr/>
              <a:t>A failure counts as 25 healthy drives: </a:t>
            </a:r>
            <a:r>
              <a:rPr b="1"/>
              <a:t>class frequencies</a:t>
            </a:r>
            <a:r>
              <a:rPr/>
              <a:t>, not costs</a:t>
            </a:r>
          </a:p>
          <a:p>
            <a:pPr lvl="0"/>
            <a:r>
              <a:rPr/>
              <a:t>Same decisions as the plain model at 1 ÷ 26 = 0.038, on 1,987 of 2,000 drives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0.078, against 87,620 at 0.50</a:t>
                      </a:r>
                    </a:p>
                  </a:txBody>
                </a:tc>
              </a:tr>
              <a:tr h="0">
                <a:tc>
                  <a:txBody>
                    <a:bodyPr/>
                    <a:lstStyle/>
                    <a:p>
                      <a:pPr lvl="0" indent="0" marL="0">
                        <a:buNone/>
                      </a:pPr>
                      <a:r>
                        <a:rPr/>
                        <a:t>class weights, 55-56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58-60</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classes: softmax</a:t>
            </a:r>
          </a:p>
        </p:txBody>
      </p:sp>
      <p:sp>
        <p:nvSpPr>
          <p:cNvPr id="3" name="Content Placeholder 2"/>
          <p:cNvSpPr>
            <a:spLocks noGrp="1"/>
          </p:cNvSpPr>
          <p:nvPr>
            <p:ph idx="1"/>
          </p:nvPr>
        </p:nvSpPr>
        <p:spPr>
          <a:xfrm>
            <a:off x="457200" y="1200151"/>
            <a:ext cx="8229600" cy="3394472"/>
          </a:xfrm>
        </p:spPr>
        <p:txBody>
          <a:bodyPr/>
          <a:lstStyle/>
          <a:p>
            <a:pPr lvl="0"/>
            <a:r>
              <a:rPr/>
              <a:t>One score per class, zₖ = wₖᵀx + bₖ; </a:t>
            </a:r>
            <a:r>
              <a:rPr b="1"/>
              <a:t>softmax</a:t>
            </a:r>
            <a:r>
              <a:rPr/>
              <a:t>: exponentiate, divide by the sum</a:t>
            </a:r>
          </a:p>
          <a:p>
            <a:pPr lvl="0"/>
            <a:r>
              <a:rPr/>
              <a:t>A degraded drive: scores 0.615, 0.603, −1.218 → 0.466, 0.460, 0.074, called healthy</a:t>
            </a:r>
          </a:p>
          <a:p>
            <a:pPr lvl="0"/>
            <a:r>
              <a:rPr/>
              <a:t>Predicted class = the largest probability, no 0.5 threshold; two classes: the sigmoid of z₁ − z₀</a:t>
            </a:r>
          </a:p>
          <a:p>
            <a:pPr lvl="0"/>
            <a:r>
              <a:rPr/>
              <a:t>In code: </a:t>
            </a:r>
            <a:r>
              <a:rPr>
                <a:latin typeface="Courier"/>
              </a:rPr>
              <a:t>decision_function</a:t>
            </a:r>
            <a:r>
              <a:rPr/>
              <a:t> (scores), </a:t>
            </a:r>
            <a:r>
              <a:rPr>
                <a:latin typeface="Courier"/>
              </a:rPr>
              <a:t>predict_proba</a:t>
            </a:r>
            <a:r>
              <a:rPr/>
              <a:t> (softmax)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Logistic regression: sigmoid of a linear score, fitted by log loss</a:t>
            </a:r>
          </a:p>
          <a:p>
            <a:pPr lvl="0"/>
            <a:r>
              <a:rPr b="1"/>
              <a:t>96.20% accuracy, nothing caught</a:t>
            </a:r>
            <a:r>
              <a:rPr/>
              <a:t>: check the baseline, 1,924 ÷ 2,000</a:t>
            </a:r>
          </a:p>
          <a:p>
            <a:pPr lvl="0"/>
            <a:r>
              <a:rPr/>
              <a:t>Precision: the </a:t>
            </a:r>
            <a:r>
              <a:rPr b="1"/>
              <a:t>alarms</a:t>
            </a:r>
            <a:r>
              <a:rPr/>
              <a:t>; recall: the </a:t>
            </a:r>
            <a:r>
              <a:rPr b="1"/>
              <a:t>failures</a:t>
            </a:r>
          </a:p>
          <a:p>
            <a:pPr lvl="0"/>
            <a:r>
              <a:rPr b="1"/>
              <a:t>Threshold</a:t>
            </a:r>
            <a:r>
              <a:rPr/>
              <a:t> from costs: 140 ÷ 2,740 = 0.051, if calibrated</a:t>
            </a:r>
          </a:p>
          <a:p>
            <a:pPr lvl="0"/>
            <a:r>
              <a:rPr b="1"/>
              <a:t>AUC = ranking</a:t>
            </a:r>
            <a:r>
              <a:rPr/>
              <a:t>: blind to calibration, hides imbalance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