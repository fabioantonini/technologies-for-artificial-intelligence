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3. If you have looked at any of it,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and it is exactly the sin lesson 1 named. Today’s lesson ends up in the same place from a different direction, when we choose a decision threshold.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the proportion out loud,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spin retries, read error rate, temperature, hours in service.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in section 5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Steep in the middle, flat at both ends. Make the case that the flatness is the right behaviour, not a compromise - going from 0 to 4 reallocated sectors should change your mind a lot; going from 40 to 44 should barely register, because you had already concluded the drive was finished. Evidence has diminishing returns.</a:t>
            </a:r>
          </a:p>
          <a:p>
            <a:pPr lvl="0" indent="0" marL="0">
              <a:buNone/>
            </a:pPr>
          </a:p>
          <a:p>
            <a:pPr lvl="0" indent="0" marL="0">
              <a:buNone/>
            </a:pPr>
            <a:r>
              <a:rPr/>
              <a:t>Right: the same relationship inverted. This is the slide that explains WHY this particular curve and not some other S-shape.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In fifteen minutes that fact will be simultaneously the reason the sigmoid works and the reason squared error does not.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A coefficient of 1.80 means: a drive one standard deviation worse on that counter has exp(1.80), about six times, the odds of failing.</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are not admiring the estimates, we are marking them.</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An average drive has a 0.2% chance of failing in thirty days. For the model to reach an even bet - probability one half, log-odds zero - the evidence has to move the log-odds by more than six. Only badly degraded drives manage that.</a:t>
            </a:r>
          </a:p>
          <a:p>
            <a:pPr lvl="0" indent="0" marL="0">
              <a:buNone/>
            </a:pPr>
          </a:p>
          <a:p>
            <a:pPr lvl="0" indent="0" marL="0">
              <a:buNone/>
            </a:pPr>
            <a:r>
              <a:rPr/>
              <a:t>So the model will assign small probabilities to almost everything, and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before any algebra. It is the whole idea, and once they have it the derivation is bookkeeping.</a:t>
            </a:r>
          </a:p>
          <a:p>
            <a:pPr lvl="0" indent="0" marL="0">
              <a:buNone/>
            </a:pPr>
          </a:p>
          <a:p>
            <a:pPr lvl="0" indent="0" marL="0">
              <a:buNone/>
            </a:pPr>
            <a:r>
              <a:rPr/>
              <a:t>Each drive contributes one factor: the probability the model gave to what actually occurred. Multiply across the fleet and you have the probability of the whole dataset under that setting of the parameters. Choose the setting that makes it largest.</a:t>
            </a:r>
          </a:p>
          <a:p>
            <a:pPr lvl="0" indent="0" marL="0">
              <a:buNone/>
            </a:pPr>
          </a:p>
          <a:p>
            <a:pPr lvl="0" indent="0" marL="0">
              <a:buNone/>
            </a:pPr>
            <a:r>
              <a:rPr/>
              <a:t>Two practical notes worth saying aloud. We take the logarithm because it turns the product into a sum, which differentiates one term at a time - and because with 8,000 factors below 1 the product is about 10 to the minus 1000, which a 64-bit float stores as exactly zero. Every real implementation works in log space, and not for elegance.</a:t>
            </a:r>
          </a:p>
          <a:p>
            <a:pPr lvl="0" indent="0" marL="0">
              <a:buNone/>
            </a:pPr>
          </a:p>
          <a:p>
            <a:pPr lvl="0" indent="0" marL="0">
              <a:buNone/>
            </a:pPr>
            <a:r>
              <a:rPr/>
              <a:t>Then negate, so we minimise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Prediction error times feature, averaged. Character for character the gradient of lesson 3, with a different model and a different cost function.</a:t>
            </a:r>
          </a:p>
          <a:p>
            <a:pPr lvl="0" indent="0" marL="0">
              <a:buNone/>
            </a:pPr>
          </a:p>
          <a:p>
            <a:pPr lvl="0" indent="0" marL="0">
              <a:buNone/>
            </a:pPr>
            <a:r>
              <a:rPr/>
              <a:t>The cancellation is worth showing on the board if there is appetite: the sigma times one-minus-sigma from the chain rule cancels against the one-over-sigma from the logarithm. Handout section 3.4 has it.</a:t>
            </a:r>
          </a:p>
          <a:p>
            <a:pPr lvl="0" indent="0" marL="0">
              <a:buNone/>
            </a:pPr>
          </a:p>
          <a:p>
            <a:pPr lvl="0" indent="0" marL="0">
              <a:buNone/>
            </a:pPr>
            <a:r>
              <a:rPr/>
              <a:t>If someone asks whether that is a coincidence: no. Both are generalised linear models fitted by maximum likelihood - Gaussian noise for regression, Bernoulli outcomes for classification - and the whole exponential family gives this form. They do not need that theory to use either method, but it is why the same gradient descent code, unchanged, trains both.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The gradient is what the optimiser actually uses. Squared error’s gradient through the sigmoid carries a factor p times one-minus-p - which is exactly the sigmoid derivative from ten minutes ago - and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is a habit. Telling those two apart is the next two hours.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with a positive rate pi,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is the antidote to the most reliable confusion in the lesson. Both metrics divide the true positives.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and one minus it is the false positive rate, which comes back in the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0.52.</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beta above 1 weights recall more, which is what you want here where misses cost nineteen times more.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prints three summary rows and students quote whichever is biggest. Give them the rule.</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we spent twenty minutes on.</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The cell to linger on is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when the two errors cost the same AND the classes are balanced. Neither is true here, and neither is true in most real problems.</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percentage points while recall falls from 0.80 to 0.18.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red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the same three thresholds from the last two slides, so they can see the correspondence.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true positive rate, which is recall under another name - the failures we catch. False positive rate - the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we will in ten minutes - AUC is not the check you want.</a:t>
            </a:r>
          </a:p>
          <a:p>
            <a:pPr lvl="0" indent="0" marL="0">
              <a:buNone/>
            </a:pPr>
          </a:p>
          <a:p>
            <a:pPr lvl="0" indent="0" marL="0">
              <a:buNone/>
            </a:pPr>
            <a:r>
              <a:rPr/>
              <a:t>Good place to mention calibration exists as a topic,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We keep every healthy drive in a fleet of 60,000 and thin the FAILURES until they are 0.4% instead of 3.8% - the direction reality moves in fraud, disease, hardware failure.</a:t>
            </a:r>
          </a:p>
          <a:p>
            <a:pPr lvl="0" indent="0" marL="0">
              <a:buNone/>
            </a:pPr>
          </a:p>
          <a:p>
            <a:pPr lvl="0" indent="0" marL="0">
              <a:buNone/>
            </a:pPr>
            <a:r>
              <a:rPr/>
              <a:t>Left: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the precision-recall curves are in three different worlds. Average precision falls from 0.706 to 0.361, and precision at the same threshold falls from 0.79 to 0.26 - two alarms in three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an hour ago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just returned to them on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rare example count as many, here about 25.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 reparameterisation of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Same caution for resampling and SMOTE - and it must happen inside the cross-validation fold,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 otherwise show the pairs experiment and the imbalance comparison and leave the rest for them.</a:t>
            </a:r>
          </a:p>
          <a:p>
            <a:pPr lvl="0" indent="0" marL="0">
              <a:buNone/>
            </a:pPr>
          </a:p>
          <a:p>
            <a:pPr lvl="0" indent="0" marL="0">
              <a:buNone/>
            </a:pPr>
            <a:r>
              <a:rPr/>
              <a:t>The pairs experiment is the cell worth protecting if time is short: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normalises them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next Friday, 23 October.</a:t>
            </a:r>
          </a:p>
          <a:p>
            <a:pPr lvl="0" indent="0" marL="0">
              <a:buNone/>
            </a:pPr>
          </a:p>
          <a:p>
            <a:pPr lvl="0" indent="0" marL="0">
              <a:buNone/>
            </a:pPr>
            <a:r>
              <a:rPr/>
              <a:t>Emphasise which part carries the marks. The classifier is a few lines and everyone will get it. The paragraph defending the threshold choice is where the learning is, and it is where the marks are.</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was due today</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15989"/>
            <a:ext cx="8229600" cy="660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so </a:t>
            </a:r>
            <a:r>
              <a:rPr>
                <a:latin typeface="Courier"/>
              </a:rPr>
              <a:t>exp(coefficient)</a:t>
            </a:r>
            <a:r>
              <a:rPr/>
              <a:t> multiplies the </a:t>
            </a:r>
            <a:r>
              <a:rPr b="1"/>
              <a:t>odds</a:t>
            </a:r>
          </a:p>
          <a:p>
            <a:pPr lvl="0"/>
            <a:r>
              <a:rPr/>
              <a:t>Features standardised, so one unit = one standard deviation</a:t>
            </a:r>
          </a:p>
          <a:p>
            <a:pPr lvl="0"/>
            <a:r>
              <a:rPr/>
              <a:t>A coefficient of 1.80 means </a:t>
            </a:r>
            <a:r>
              <a:rPr b="1"/>
              <a:t>six times the odds</a:t>
            </a:r>
            <a:r>
              <a:rPr/>
              <a:t> of failing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base rate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an average drive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in one sentence</a:t>
            </a:r>
          </a:p>
        </p:txBody>
      </p:sp>
      <p:sp>
        <p:nvSpPr>
          <p:cNvPr id="3" name="Content Placeholder 2"/>
          <p:cNvSpPr>
            <a:spLocks noGrp="1"/>
          </p:cNvSpPr>
          <p:nvPr>
            <p:ph idx="1"/>
          </p:nvPr>
        </p:nvSpPr>
        <p:spPr>
          <a:xfrm>
            <a:off x="457200" y="1200151"/>
            <a:ext cx="8229600" cy="3394472"/>
          </a:xfrm>
        </p:spPr>
        <p:txBody>
          <a:bodyPr/>
          <a:lstStyle/>
          <a:p>
            <a:pPr lvl="0"/>
            <a:r>
              <a:rPr/>
              <a:t>The model has a knob; each setting assigns a probability to what happened</a:t>
            </a:r>
          </a:p>
          <a:p>
            <a:pPr lvl="0"/>
            <a:r>
              <a:rPr b="1"/>
              <a:t>Turn the knob so that what actually happened is least surprising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6491a8901.png" id="0" name="Picture 1"/>
          <p:cNvPicPr>
            <a:picLocks noGrp="1" noChangeAspect="1"/>
          </p:cNvPicPr>
          <p:nvPr/>
        </p:nvPicPr>
        <p:blipFill>
          <a:blip r:embed="rId3"/>
          <a:stretch>
            <a:fillRect/>
          </a:stretch>
        </p:blipFill>
        <p:spPr bwMode="auto">
          <a:xfrm>
            <a:off x="457200" y="2357239"/>
            <a:ext cx="8229600" cy="977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 is the one you already know</a:t>
            </a:r>
          </a:p>
        </p:txBody>
      </p:sp>
      <p:pic>
        <p:nvPicPr>
          <p:cNvPr descr="eq_65f9b62493.png" id="0" name="Picture 1"/>
          <p:cNvPicPr>
            <a:picLocks noGrp="1" noChangeAspect="1"/>
          </p:cNvPicPr>
          <p:nvPr/>
        </p:nvPicPr>
        <p:blipFill>
          <a:blip r:embed="rId3"/>
          <a:stretch>
            <a:fillRect/>
          </a:stretch>
        </p:blipFill>
        <p:spPr bwMode="auto">
          <a:xfrm>
            <a:off x="457200" y="1792089"/>
            <a:ext cx="8229600" cy="2108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Fifteen lines of NumPy, then one line of scikit-learn</a:t>
            </a:r>
          </a:p>
          <a:p>
            <a:pPr lvl="0"/>
            <a:r>
              <a:rPr/>
              <a:t>Same answer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Precision </a:t>
            </a:r>
            <a:r>
              <a:rPr b="1"/>
              <a:t>0.768</a:t>
            </a:r>
            <a:r>
              <a:rPr/>
              <a:t>: of 56 drives flagged, 43 really failed</a:t>
            </a:r>
          </a:p>
          <a:p>
            <a:pPr lvl="0"/>
            <a:r>
              <a:rPr/>
              <a:t>Recall </a:t>
            </a:r>
            <a:r>
              <a:rPr b="1"/>
              <a:t>0.566</a:t>
            </a:r>
            <a:r>
              <a:rPr/>
              <a:t>: of 76 drives that failed, we found 43</a:t>
            </a:r>
          </a:p>
          <a:p>
            <a:pPr lvl="0"/>
            <a:r>
              <a:rPr/>
              <a:t>Specificity 0.993: of 1,924 healthy drives, we left 1,911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a:t>
                      </a:r>
                    </a:p>
                  </a:txBody>
                  <a:tcPr/>
                </a:tc>
                <a:tc>
                  <a:txBody>
                    <a:bodyPr/>
                    <a:lstStyle/>
                    <a:p>
                      <a:pPr lvl="0" indent="0" marL="0">
                        <a:buNone/>
                      </a:pPr>
                      <a:r>
                        <a:rPr/>
                        <a:t>Harmonic</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confusion matrix by hand, then from scikit-learn</a:t>
            </a:r>
          </a:p>
          <a:p>
            <a:pPr lvl="0"/>
            <a:r>
              <a:rPr/>
              <a:t>Then the threshold sweep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168400"/>
                <a:gridCol w="1168400"/>
                <a:gridCol w="1168400"/>
                <a:gridCol w="1168400"/>
                <a:gridCol w="1168400"/>
                <a:gridCol w="1168400"/>
                <a:gridCol w="1168400"/>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AUC = the probability that a random failing drive scores above a random healthy one</a:t>
            </a:r>
          </a:p>
          <a:p>
            <a:pPr lvl="0"/>
            <a:r>
              <a:rPr/>
              <a:t>Ours: 0.949</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9940"/>
            <a:ext cx="8229591" cy="952499"/>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ROC by hand, the 200,000-pair experiment, the cost curve</a:t>
            </a:r>
          </a:p>
          <a:p>
            <a:pPr lvl="0"/>
            <a:r>
              <a:rPr/>
              <a:t>Then the multiclass matrix</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due Friday 23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