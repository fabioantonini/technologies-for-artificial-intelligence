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It is exactly the mistake lesson 1 named: once the test set has helped choose anything, its score is no longer an honest estimate of how the model does on new data, because the choice was fitted to it. Today’s lesson ends up in the same place from a different direction, on slide 54, when we choose a decision threshold by looking at the test set.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Point out the proportion,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third bullet aloud: “the probability that y equals 1, given x”. The vertical bar is read “given”: everything to its right is what we know about the drive, everything to its left is what we want to know. The two inequalities are the point of writing it this way - whatever the model outputs has to stay between 0 and 1, and slide 7 shows a straight line failing exactly that.</a:t>
            </a:r>
          </a:p>
          <a:p>
            <a:pPr lvl="0" indent="0" marL="0">
              <a:buNone/>
            </a:pPr>
          </a:p>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The third bullet names the six: reallocated sectors (bad patches of the disk the drive has retired and replaced with spare ones), spin retries (times the motor needed a second attempt to bring the platters up to speed), the share of reads and of head movements that hit an error, temperature, and hours in service. Handout section 1.1 has them in a table, with a typical drive’s values.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on slide 31, after the break,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- 3,606 divided by 8,000 is 45% of the fleet. Not a small negative number. A negative probability. And extend it slightly past the data, to 32 reallocated sectors, and it predicts more than 1 (notebook 1 prints the line; the worst drive has 28).</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Its horizontal axis is z, the number the linear model w-transpose-x plus b produces for a drive - think of it as the total evidence that the drive will fail, all six counters added together with their weights. Its vertical axis is the probability. Slide 11 shows that z is exactly the log-odds; for now, z is “evidence”.</a:t>
            </a:r>
          </a:p>
          <a:p>
            <a:pPr lvl="0" indent="0" marL="0">
              <a:buNone/>
            </a:pPr>
          </a:p>
          <a:p>
            <a:pPr lvl="0" indent="0" marL="0">
              <a:buNone/>
            </a:pPr>
            <a:r>
              <a:rPr/>
              <a:t>Steep in the middle, flat at both ends. Make the case that the flatness is the right behaviour, not a compromise - and be precise about what is diminishing. It is the total evidence z, not any one counter. Two more units of z starting from z = 0 take the probability from sigma(0) = 0.50 to sigma(2) = 1 over (1 + e to the minus 2) = 0.88, a rise of 0.38; the same two units starting from z = 6 take it from sigma(6) = 0.9975 to sigma(8) = 0.9997, a rise of 0.0021 - 0.38 divided by 0.0021 is 178 times less. Once the model is nearly sure, more evidence barely changes its answer.</a:t>
            </a:r>
          </a:p>
          <a:p>
            <a:pPr lvl="0" indent="0" marL="0">
              <a:buNone/>
            </a:pPr>
          </a:p>
          <a:p>
            <a:pPr lvl="0" indent="0" marL="0">
              <a:buNone/>
            </a:pPr>
            <a:r>
              <a:rPr/>
              <a:t>Expect someone to object with slide 7’s right panel. That curve barely moves over the first few reallocated sectors, where 90% of the drives sit (four sectors or fewer), and it is steepest at 13.2 sectors. So do the first sectors say little? Two separate answers, in this order.</a:t>
            </a:r>
          </a:p>
          <a:p>
            <a:pPr lvl="0" indent="0" marL="0">
              <a:buNone/>
            </a:pPr>
          </a:p>
          <a:p>
            <a:pPr lvl="0" indent="0" marL="0">
              <a:buNone/>
            </a:pPr>
            <a:r>
              <a:rPr/>
              <a:t>First, it is the same sigmoid, drawn against a different axis. Slide 7’s model has one input, the raw count of reallocated sectors, so its z is a straight line in the count: z = 0.336 times the count, minus 4.43. With no sectors z is already -4.43, deep in the flat left end of this slide’s curve; z reaches 0, the steep middle, where 0.336 times the count equals 4.43: at 4.43 divided by 0.336 = 13.2 sectors. The flat start of slide 7 is the flat left end of slide 8, with sectors on the axis instead of z.</a:t>
            </a:r>
          </a:p>
          <a:p>
            <a:pPr lvl="0" indent="0" marL="0">
              <a:buNone/>
            </a:pPr>
          </a:p>
          <a:p>
            <a:pPr lvl="0" indent="0" marL="0">
              <a:buNone/>
            </a:pPr>
            <a:r>
              <a:rPr/>
              <a:t>Second, the flat start is a fault of the model, not a fact about the drives. A drive with a few sectors is not safe; the model cannot see it, because a straight line in the count gives every sector the same weight: the first adds as much to z as the twentieth. But the labels were generated from log(1 + count), which gives the first sectors the most weight (handout section 1.1). The handout’s figure in section 2.2 draws what the sectors add to z under each of the two. That is why the six-counter model of slide 13 onwards takes log(1 + count) as its input.</a:t>
            </a:r>
          </a:p>
          <a:p>
            <a:pPr lvl="0" indent="0" marL="0">
              <a:buNone/>
            </a:pPr>
          </a:p>
          <a:p>
            <a:pPr lvl="0" indent="0" marL="0">
              <a:buNone/>
            </a:pPr>
            <a:r>
              <a:rPr/>
              <a:t>Right panel: the same relationship inverted - probability on the horizontal axis, log-odds on the vertical one. This is the panel that explains WHY this particular curve and not some other S-shape; slide 9 says it in words.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puts in words what the right panel of slide 8 shows. Go through the two steps slowly; each removes one limit. Odds: a probability of 0.2 is odds of 0.2 divided by 0.8 = 0.25, and as the probability approaches 1 the odds run off to infinity - no ceiling. But odds are never negative, so there is still a floor at 0. The logarithm sends 0 to minus infinity, and the floor is gone too.</a:t>
            </a:r>
          </a:p>
          <a:p>
            <a:pPr lvl="0" indent="0" marL="0">
              <a:buNone/>
            </a:pPr>
          </a:p>
          <a:p>
            <a:pPr lvl="0" indent="0" marL="0">
              <a:buNone/>
            </a:pPr>
            <a:r>
              <a:rPr/>
              <a:t>Nothing is lost on the way: each probability has exactly one log-odds and back. The fourth bullet makes the stretch concrete - the scale is symmetric around a half, and the extremes are pushed outwards.</a:t>
            </a:r>
          </a:p>
          <a:p>
            <a:pPr lvl="0" indent="0" marL="0">
              <a:buNone/>
            </a:pPr>
          </a:p>
          <a:p>
            <a:pPr lvl="0" indent="0" marL="0">
              <a:buNone/>
            </a:pPr>
            <a:r>
              <a:rPr/>
              <a:t>The question a sharp student asks: why this function and not some other one that also maps (0, 1) onto the whole line? There are others; the probit, built on the inverse of the normal distribution, is the common one, and it gives almost the same S-shape. The log-odds wins on three counts, and the shape is not one of them:</a:t>
            </a:r>
          </a:p>
          <a:p>
            <a:pPr lvl="0" indent="0" marL="0">
              <a:buNone/>
            </a:pPr>
          </a:p>
          <a:p>
            <a:pPr lvl="0"/>
            <a:r>
              <a:rPr/>
              <a:t>the coefficients read as odds multipliers, which is slide 14;</a:t>
            </a:r>
          </a:p>
          <a:p>
            <a:pPr lvl="0" indent="0" marL="0">
              <a:buNone/>
            </a:pPr>
          </a:p>
          <a:p>
            <a:pPr lvl="0"/>
            <a:r>
              <a:rPr/>
              <a:t>it is the scale on which Bayes’ rule adds evidence: the log-odds after seeing a drive’s counters equals the log-odds before seeing them (from the base rate alone) plus one term per counter, if the counters are independent given the class - and a sum of one term per feature is exactly what a linear model is;</a:t>
            </a:r>
          </a:p>
          <a:p>
            <a:pPr lvl="0" indent="0" marL="0">
              <a:buNone/>
            </a:pPr>
          </a:p>
          <a:p>
            <a:pPr lvl="0"/>
            <a:r>
              <a:rPr/>
              <a:t>with the cross-entropy cost of slide 24 the gradient comes out as (prediction minus label) times x, and the cost is convex - handout sections 3.4 and 4.3.</a:t>
            </a:r>
          </a:p>
          <a:p>
            <a:pPr lvl="0" indent="0" marL="0">
              <a:buNone/>
            </a:pPr>
          </a:p>
          <a:p>
            <a:pPr lvl="0" indent="0" marL="0">
              <a:buNone/>
            </a:pPr>
            <a:r>
              <a:rPr/>
              <a:t>The predictable mistake: students think the sigmoid was picked because it looks like the right S-shape. A reasonable interpretation, because the shape is what slide 8 shows first. But many curves have that shape; what singles this one out is the log-odds behind it. 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 9 said the log-odds has the range a line needs. That is true, but it is not a reason: plenty of other functions also stretch (0, 1) onto the whole line. This slide gives the reason, in two steps: first why evidence multiplies the odds, then what that looks like.</a:t>
            </a:r>
          </a:p>
          <a:p>
            <a:pPr lvl="0" indent="0" marL="0">
              <a:buNone/>
            </a:pPr>
          </a:p>
          <a:p>
            <a:pPr lvl="0" indent="0" marL="0">
              <a:buNone/>
            </a:pPr>
            <a:r>
              <a:rPr/>
              <a:t>Why it multiplies, by counting, before pointing at the figure. Take 1,000 drives at 50% risk: 500 will fail, 500 will not. A reading shows up on 60% of the failing drives and on 10% of the healthy ones. Among the drives that show it, 300 will fail and 50 will not: the odds, failing divided by healthy, go from 500 / 500 = 1 to 300 / 50 = 6. The reading scales the failing drives by 0.6 and the healthy ones by 0.1, so their ratio is multiplied by 0.6 / 0.1 = 6 whatever it was before - start from 950 and 50 and you get 570 and 5, odds 19 to 114. That is Bayes’ rule written with odds. The figure takes it as given and shows the consequence.</a:t>
            </a:r>
          </a:p>
          <a:p>
            <a:pPr lvl="0" indent="0" marL="0">
              <a:buNone/>
            </a:pPr>
          </a:p>
          <a:p>
            <a:pPr lvl="0" indent="0" marL="0">
              <a:buNone/>
            </a:pPr>
            <a:r>
              <a:rPr/>
              <a:t>Start from what a linear model does. It adds one contribution per feature, and each contribution is the same whatever the other features say. So we want the same evidence to act on every drive in the same way, whatever its risk.</a:t>
            </a:r>
          </a:p>
          <a:p>
            <a:pPr lvl="0" indent="0" marL="0">
              <a:buNone/>
            </a:pPr>
          </a:p>
          <a:p>
            <a:pPr lvl="0" indent="0" marL="0">
              <a:buNone/>
            </a:pPr>
            <a:r>
              <a:rPr/>
              <a:t>The picture shows three drives, marked by the yellow dots: an average drive at 0.2%, one at 50% and one at 95%. Each receives the same reading - a value one of its counters reports, say a high count of reallocated sectors - and it is a reading six times more common among drives that fail than among healthy ones. Bayes’ rule says such a reading multiplies the odds - the probability of failing divided by the probability of not failing - by 6, whatever they were before (handout section 2.3 shows it by counting 1,000 drives). On the horizontal axis, the log-odds, multiplying by 6 is always the same step: the three teal arrows have the same length.</a:t>
            </a:r>
          </a:p>
          <a:p>
            <a:pPr lvl="0" indent="0" marL="0">
              <a:buNone/>
            </a:pPr>
          </a:p>
          <a:p>
            <a:pPr lvl="0" indent="0" marL="0">
              <a:buNone/>
            </a:pPr>
            <a:r>
              <a:rPr/>
              <a:t>Now the rust arrows: what that same step does to the probability. 36 points for the drive at 50%, 4 points for the drive at 95%, 1 point for the average drive. And it never passes 100%, because the curve cannot. A fixed step in probability would: plus 0.10 takes the drive at 95% to 105%.</a:t>
            </a:r>
          </a:p>
          <a:p>
            <a:pPr lvl="0" indent="0" marL="0">
              <a:buNone/>
            </a:pPr>
          </a:p>
          <a:p>
            <a:pPr lvl="0" indent="0" marL="0">
              <a:buNone/>
            </a:pPr>
            <a:r>
              <a:rPr/>
              <a:t>So nobody chose the S-shape of slide 8. It is what “evidence multiplies the odds” looks like when it is drawn as a probability: steep in the middle, flat at both ends.</a:t>
            </a:r>
          </a:p>
          <a:p>
            <a:pPr lvl="0" indent="0" marL="0">
              <a:buNone/>
            </a:pPr>
          </a:p>
          <a:p>
            <a:pPr lvl="0" indent="0" marL="0">
              <a:buNone/>
            </a:pPr>
            <a:r>
              <a:rPr/>
              <a:t>The step to the next slide: on the log-odds axis, evidence simply adds. Several readings, if independent given the class, are one fixed step each, starting from the average drive at minus 6.20. A starting value plus one step per feature is exactly w-transpose-x plus b, which is why slide 11 puts the line on the log-odds. Six is a realistic factor: the coefficient of reallocated sectors used to generate the labels is 1.80 per standard deviation, and e to the 1.80 is 6.05 (slide 14 reads coefficients this way; slide 15 shows the true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from the log-odds of slide 9 to the sigmoid of the next slide, done on the board. p is shorthand for P(y = 1 | x), the probability from slide 4.</a:t>
            </a:r>
          </a:p>
          <a:p>
            <a:pPr lvl="0" indent="0" marL="0">
              <a:buNone/>
            </a:pPr>
          </a:p>
          <a:p>
            <a:pPr lvl="0" indent="0" marL="0">
              <a:buNone/>
            </a:pPr>
            <a:r>
              <a:rPr/>
              <a:t>The left-hand equation is the modelling decision. The log-odds runs over the whole real line - the right panel of slide 8 - so it is the one version of the probability a line can predict without ever leaving the range. So put the linear model of lesson 3 there, unchanged.</a:t>
            </a:r>
          </a:p>
          <a:p>
            <a:pPr lvl="0" indent="0" marL="0">
              <a:buNone/>
            </a:pPr>
          </a:p>
          <a:p>
            <a:pPr lvl="0" indent="0" marL="0">
              <a:buNone/>
            </a:pPr>
            <a:r>
              <a:rPr/>
              <a:t>The right-hand side is algebra, three lines. Write z for w-transpose-x plus b. Exponentiate both sides: p over 1 minus p equals e to the z. Multiply out and collect p: p times (1 plus e to the z) equals e to the z, so p is e to the z over 1 plus e to the z. Divide top and bottom by e to the z: p is 1 over 1 plus e to the minus z. That function has a name, and the next slide gives it.</a:t>
            </a:r>
          </a:p>
          <a:p>
            <a:pPr lvl="0" indent="0" marL="0">
              <a:buNone/>
            </a:pPr>
          </a:p>
          <a:p>
            <a:pPr lvl="0" indent="0" marL="0">
              <a:buNone/>
            </a:pPr>
            <a:r>
              <a:rPr/>
              <a:t>Check it with a number: a log-odds of +2.20 gives back 1 over (1 plus e to the minus 2.2) = 1 over (1 + 0.111) = 0.90. Going the other way, a probability of 0.90 is odds of 0.9 divided by 0.1 = 9, and log 9 = 2.20. A log-odds of 0 gives back exactly a half.</a:t>
            </a:r>
          </a:p>
          <a:p>
            <a:pPr lvl="0" indent="0" marL="0">
              <a:buNone/>
            </a:pPr>
          </a:p>
          <a:p>
            <a:pPr lvl="0" indent="0" marL="0">
              <a:buNone/>
            </a:pPr>
            <a:r>
              <a:rPr/>
              <a:t>The handout runs the same algebra in the other direction, from the sigmoid to the log-odds, in section 2.3.</a:t>
            </a:r>
          </a:p>
          <a:p>
            <a:pPr lvl="0" indent="0" marL="0">
              <a:buNone/>
            </a:pPr>
          </a:p>
          <a:p>
            <a:pPr lvl="0" indent="0" marL="0">
              <a:buNone/>
            </a:pPr>
            <a:r>
              <a:rPr/>
              <a:t>Two predictable slips, worth correcting as soon as you hear them. First, p is not a vague “probability that the drive has problems”: it is P(y = 1 | x), the probability that this drive fails within thirty days, given its six counters. Second, the line has the same form as lesson 3’s, but it is not fitted by least squares: w and b are chosen by maximum likelihood, which slides 17 to 22 build.</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at sigma = 0.5, where it is 0.5 times 0.5 = one quarter, and it decays to zero at both ends. That one fact does two jobs later. It is why the sigmoid behaves well: flat ends mean that once the model is sure, extra evidence changes little (slide 8). And it is why squared error fails with it: slide 26 shows that the same factor ends up inside squared error’s gradient and switches learning off exactly when the model is confidently wrong.</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model as the previous slide, drawn instead of written. Each counter x is multiplied by its weight w, the products are added together with b - drawn as the weight on a constant input of 1 - and the sum z goes through the sigmoid. Out comes p, the probability that the drive fails.</a:t>
            </a:r>
          </a:p>
          <a:p>
            <a:pPr lvl="0" indent="0" marL="0">
              <a:buNone/>
            </a:pPr>
          </a:p>
          <a:p>
            <a:pPr lvl="0" indent="0" marL="0">
              <a:buNone/>
            </a:pPr>
            <a:r>
              <a:rPr/>
              <a:t>This diagram has a history. In 1958 Frank Rosenblatt published the perceptron: the same weigh-and-add, followed by a hard step instead of the sigmoid, so its output was a label, 0 or 1, and never a probability. It also learned by its own rule, adjusting the weights only after a mistake, where logistic regression minimises log loss. Lesson 1 told that story; lesson 9 picks it up again.</a:t>
            </a:r>
          </a:p>
          <a:p>
            <a:pPr lvl="0" indent="0" marL="0">
              <a:buNone/>
            </a:pPr>
          </a:p>
          <a:p>
            <a:pPr lvl="0" indent="0" marL="0">
              <a:buNone/>
            </a:pPr>
            <a:r>
              <a:rPr/>
              <a:t>Say the point plainly: logistic regression is one neuron. A neural network, lesson 9, is many of these units side by side and one after another. Nothing on this slide is new mathematics; what is new is the picture, and it is the building block of everything in the last two lessons.</a:t>
            </a:r>
          </a:p>
          <a:p>
            <a:pPr lvl="0" indent="0" marL="0">
              <a:buNone/>
            </a:pPr>
          </a:p>
          <a:p>
            <a:pPr lvl="0" indent="0" marL="0">
              <a:buNone/>
            </a:pPr>
            <a:r>
              <a:rPr/>
              <a:t>A predictable slip: “the perceptron is logistic regression”. Same diagram, different squash and different training. The step’s slope is 0 everywhere except at z = 0, where it has none, so it gives gradient descent nothing to follow; the smooth sigmoid does.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Three steps, one per bullet.</a:t>
            </a:r>
          </a:p>
          <a:p>
            <a:pPr lvl="0" indent="0" marL="0">
              <a:buNone/>
            </a:pPr>
          </a:p>
          <a:p>
            <a:pPr lvl="0" indent="0" marL="0">
              <a:buNone/>
            </a:pPr>
            <a:r>
              <a:rPr/>
              <a:t>First bullet, its first half: why “standardised” comes first. A coefficient says how much z grows when its feature rises by one unit, and the raw units differ - a sector, a degree, an hour in service - so raw coefficients cannot be compared. StandardScaler (lesson 3) rescales every feature to mean 0 and standard deviation 1: from then on, one unit means one standard deviation for every feature, and the coefficients can be compared with each other.</a:t>
            </a:r>
          </a:p>
          <a:p>
            <a:pPr lvl="0" indent="0" marL="0">
              <a:buNone/>
            </a:pPr>
          </a:p>
          <a:p>
            <a:pPr lvl="0" indent="0" marL="0">
              <a:buNone/>
            </a:pPr>
            <a:r>
              <a:rPr/>
              <a:t>Say what one standard deviation means for this counter, because it is not “one sector more”. The four counters on a logarithmic scale are standardised after log(1 + x), so reallocated sectors contribute 1.80 times (log(1 + x) minus 0.96) divided by 0.62 to z, where 0.96 and 0.62 are the mean and the standard deviation of log(1 + x) over the fleet. One standard deviation more adds 0.62 to log(1 + x), which multiplies 1 + x by e to the 0.62 = 1.86: from 1 sector to 2.7, from 4 to 8.3, from 10 to 19.5. Roughly, the count doubles - and each such step multiplies the odds by the same 6.05. That is why the first sectors weigh so much: 1 to 2.7 sectors counts as much as 10 to 19.5. Temperature and hours are standardised on their own values, so for them one standard deviation is an ordinary additive step.</a:t>
            </a:r>
          </a:p>
          <a:p>
            <a:pPr lvl="0" indent="0" marL="0">
              <a:buNone/>
            </a:pPr>
          </a:p>
          <a:p>
            <a:pPr lvl="0" indent="0" marL="0">
              <a:buNone/>
            </a:pPr>
            <a:r>
              <a:rPr/>
              <a:t>First bullet, its second half: this is slide 11’s line, log-odds = b + w1 x1 + … + w6 x6. Each feature contributes its coefficient times its value, so raising reallocated sectors by one standard deviation adds exactly its coefficient to the log-odds - 1.80 is the true coefficient, the one the data was generated with (next slide) - and it adds 1.80 whatever the other five counters say. That is what “linear” buys.</a:t>
            </a:r>
          </a:p>
          <a:p>
            <a:pPr lvl="0" indent="0" marL="0">
              <a:buNone/>
            </a:pPr>
          </a:p>
          <a:p>
            <a:pPr lvl="0" indent="0" marL="0">
              <a:buNone/>
            </a:pPr>
            <a:r>
              <a:rPr/>
              <a:t>Second bullet: why a sum on the log-odds becomes a product on the odds. The logarithm turns products into sums, log of a times b is log a plus log b. Read it backwards: adding 1.80 to the logarithm of the odds is the same as multiplying the odds by exp(1.80), which is 6.05. Check it on an average drive: its log-odds are the intercept, minus 6.20, so its odds are exp(-6.20) = 0.0020. One standard deviation more of reallocated sectors: log-odds minus 4.40, odds exp(-4.40) = 0.0123. Divide: 6.05.</a:t>
            </a:r>
          </a:p>
          <a:p>
            <a:pPr lvl="0" indent="0" marL="0">
              <a:buNone/>
            </a:pPr>
          </a:p>
          <a:p>
            <a:pPr lvl="0" indent="0" marL="0">
              <a:buNone/>
            </a:pPr>
            <a:r>
              <a:rPr/>
              <a:t>Third bullet: that is the arrow of slide 10’s figure. Every teal arrow was a multiplication of the odds by 6, and on the log-odds axis it had the same length - 1.79, almost exactly this coefficient. The fitted coefficient on the next slide is 1.66, a multiplier of 5.28.</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a probability of 0.90 is odds of 0.9 divided by 0.1 = 9; multiplied by 5 that gives odds of 45, which is a probability of 45 divided by 46 =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do not just look at the estimates, we check them against the truth.</a:t>
            </a:r>
          </a:p>
          <a:p>
            <a:pPr lvl="0" indent="0" marL="0">
              <a:buNone/>
            </a:pPr>
          </a:p>
          <a:p>
            <a:pPr lvl="0" indent="0" marL="0">
              <a:buNone/>
            </a:pPr>
            <a:r>
              <a:rPr/>
              <a:t>The columns: True is the coefficient disk_data.py generated the labels with, Fitted is what LogisticRegression estimated from 6,000 training drives, and “Odds ×” is exp(Fitted), the multiplier of slide 14.</a:t>
            </a:r>
          </a:p>
          <a:p>
            <a:pPr lvl="0" indent="0" marL="0">
              <a:buNone/>
            </a:pPr>
          </a:p>
          <a:p>
            <a:pPr lvl="0" indent="0" marL="0">
              <a:buNone/>
            </a:pPr>
            <a:r>
              <a:rPr/>
              <a:t>Go down the column. Everything is close. Nothing is exact, and say why - 6,000 training drives carrying 230 failures (306 in the fleet minus the 76 kept for the test set)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exp(0.02) = 1.02.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Start with what x = 0 means. The intercept is the value of the log-odds when every x is 0 - but the x are standardised (slide 14), so x = 0 is not a drive with no sectors and no errors: it is a drive sitting exactly at the fleet average on every counter.</a:t>
            </a:r>
          </a:p>
          <a:p>
            <a:pPr lvl="0" indent="0" marL="0">
              <a:buNone/>
            </a:pPr>
          </a:p>
          <a:p>
            <a:pPr lvl="0" indent="0" marL="0">
              <a:buNone/>
            </a:pPr>
            <a:r>
              <a:rPr/>
              <a:t>Then say what the intercept is NOT: it is not the base rate. The fleet fails at 3.8%; the intercept describes a drive whose every counter sits at the average, and such a drive almost never fails. The failures come from the small group of drives far above average on one or more counters. Handout section 2.4.</a:t>
            </a:r>
          </a:p>
          <a:p>
            <a:pPr lvl="0" indent="0" marL="0">
              <a:buNone/>
            </a:pPr>
          </a:p>
          <a:p>
            <a:pPr lvl="0" indent="0" marL="0">
              <a:buNone/>
            </a:pPr>
            <a:r>
              <a:rPr/>
              <a:t>An average drive has a 0.2% chance of failing in thirty days. For the model to reach an even bet - probability one half, log-odds zero - the counters have to add more than 6.09 to the intercept’s -6.09. Only badly degraded drives manage that.</a:t>
            </a:r>
          </a:p>
          <a:p>
            <a:pPr lvl="0" indent="0" marL="0">
              <a:buNone/>
            </a:pPr>
          </a:p>
          <a:p>
            <a:pPr lvl="0" indent="0" marL="0">
              <a:buNone/>
            </a:pPr>
            <a:r>
              <a:rPr/>
              <a:t>So the model will assign small probabilities to almost everything. Introduce the word now: a model that outputs a probability still has to decide “fail” or “healthy”, and it does so with a threshold - flag the drive if its probability is at least the threshold. scikit-learn’s predict() uses 0.5. With these probabilities,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so do not give it yet. Slides 18 to 22 first build, on three drives, the cost that logistic regression does minimise; slide 26 then comes back to squared error and shows what goes wrong with it, on a drive the model is confidently wrong about.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next five slides answer the question of slide 17 - what should fitting minimise? - one step at a time, on three drives. The numbers are made up for the example; drives A, B and C are not from the dataset.</a:t>
            </a:r>
          </a:p>
          <a:p>
            <a:pPr lvl="0" indent="0" marL="0">
              <a:buNone/>
            </a:pPr>
          </a:p>
          <a:p>
            <a:pPr lvl="0" indent="0" marL="0">
              <a:buNone/>
            </a:pPr>
            <a:r>
              <a:rPr/>
              <a:t>Start from what the model does. Fitting means choosing the coefficients w and the intercept b. Call one particular choice of w and b a “setting”. Given a setting, the model of slide 13 turns each drive’s counters x into a probability of failing: p = sigma(w-transpose-x + b). This slide shows the p that one setting, setting 1, gives to each of the three drives.</a:t>
            </a:r>
          </a:p>
          <a:p>
            <a:pPr lvl="0" indent="0" marL="0">
              <a:buNone/>
            </a:pPr>
          </a:p>
          <a:p>
            <a:pPr lvl="0" indent="0" marL="0">
              <a:buNone/>
            </a:pPr>
            <a:r>
              <a:rPr/>
              <a:t>Next to it, what actually happened, and its label y: 1 for a drive that failed, 0 for one that stayed healthy - the convention of slide 4.</a:t>
            </a:r>
          </a:p>
          <a:p>
            <a:pPr lvl="0" indent="0" marL="0">
              <a:buNone/>
            </a:pPr>
          </a:p>
          <a:p>
            <a:pPr lvl="0" indent="0" marL="0">
              <a:buNone/>
            </a:pPr>
            <a:r>
              <a:rPr/>
              <a:t>Ask the room: is setting 1 a good setting? Let them argue it from the table. It gave the drive that failed a high p, and the two that survived a low one, so it looks good. The next slide turns that impression into a number.</a:t>
            </a:r>
          </a:p>
          <a:p>
            <a:pPr lvl="0" indent="0" marL="0">
              <a:buNone/>
            </a:pPr>
          </a:p>
          <a:p>
            <a:pPr lvl="0" indent="0" marL="0">
              <a:buNone/>
            </a:pPr>
            <a:r>
              <a:rPr/>
              <a:t>A predictable slip: reading B’s 0.1 as “the probability of what happened to B”. It is not. p is the probability of FAILING for every drive, including the two that stayed healthy; the probability of what happened to B is 1 - 0.1 = 0.9, and that conversion is exactly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judge a setting by how probable it made what really happened.</a:t>
            </a:r>
          </a:p>
          <a:p>
            <a:pPr lvl="0" indent="0" marL="0">
              <a:buNone/>
            </a:pPr>
          </a:p>
          <a:p>
            <a:pPr lvl="0" indent="0" marL="0">
              <a:buNone/>
            </a:pPr>
            <a:r>
              <a:rPr/>
              <a:t>p is the probability of failing. For drive A, which did fail, that is exactly the probability of what happened: 0.8. For drives B and C, which stayed healthy, the probability of what happened is the probability of staying healthy, which is 1 minus p: 1 - 0.1 = 0.9 and 1 - 0.2 = 0.8. That is the rule in the last column header: p if y = 1, 1 - p if y = 0.</a:t>
            </a:r>
          </a:p>
          <a:p>
            <a:pPr lvl="0" indent="0" marL="0">
              <a:buNone/>
            </a:pPr>
          </a:p>
          <a:p>
            <a:pPr lvl="0" indent="0" marL="0">
              <a:buNone/>
            </a:pPr>
            <a:r>
              <a:rPr/>
              <a:t>Then the three drives together. If the drives fail or survive independently of each other, the probability that all three outcomes happen is the product of the three: 0.8 times 0.9 times 0.8, which is 0.576. Under setting 1, what we observed had a 57.6% chance of happening.</a:t>
            </a:r>
          </a:p>
          <a:p>
            <a:pPr lvl="0" indent="0" marL="0">
              <a:buNone/>
            </a:pPr>
          </a:p>
          <a:p>
            <a:pPr lvl="0" indent="0" marL="0">
              <a:buNone/>
            </a:pPr>
            <a:r>
              <a:rPr/>
              <a:t>That product has a name: the likelihood of the setting. The next slide writes the same two rules as formulas.</a:t>
            </a:r>
          </a:p>
          <a:p>
            <a:pPr lvl="0" indent="0" marL="0">
              <a:buNone/>
            </a:pPr>
          </a:p>
          <a:p>
            <a:pPr lvl="0" indent="0" marL="0">
              <a:buNone/>
            </a:pPr>
            <a:r>
              <a:rPr/>
              <a:t>A predictable slip: describing this slide as “the probability of failing for the three drives”. The last column is the probability of WHAT HAPPENED - of failing for A, of staying healthy for B and C. And the multiplication needs its condition said aloud: the drives must be independent, as two coin tosses are, for the probability of all three outcomes to be the product.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formulas, and both are the previous slide written in symbols.</a:t>
            </a:r>
          </a:p>
          <a:p>
            <a:pPr lvl="0" indent="0" marL="0">
              <a:buNone/>
            </a:pPr>
          </a:p>
          <a:p>
            <a:pPr lvl="0" indent="0" marL="0">
              <a:buNone/>
            </a:pPr>
            <a:r>
              <a:rPr/>
              <a:t>Top line: the probability of what happened to one drive. It is the rule “p if y = 1, 1 - p if y = 0” in a single expression. Check it with y = 1: p to the power 1 is p, and (1 - p) to the power 0 is 1, so it gives p. With y = 0 it gives 1 times (1 - p). Do drive B on the board: 0.1 to the power 0 times 0.9 to the power 1 is 0.9, the number in the table. The exponents are just a way of writing an if-statement.</a:t>
            </a:r>
          </a:p>
          <a:p>
            <a:pPr lvl="0" indent="0" marL="0">
              <a:buNone/>
            </a:pPr>
          </a:p>
          <a:p>
            <a:pPr lvl="0" indent="0" marL="0">
              <a:buNone/>
            </a:pPr>
            <a:r>
              <a:rPr/>
              <a:t>Bottom line: the likelihood, script L, of a setting (w, b). The capital pi means “multiply over all the drives”, i from 1 to m, the way a capital sigma means “add”. Each drive contributes its factor from the top line; the superscript (i) says which drive. For our three drives, m = 3 and the product is 0.8 times 0.9 times 0.8 = 0.576.</a:t>
            </a:r>
          </a:p>
          <a:p>
            <a:pPr lvl="0" indent="0" marL="0">
              <a:buNone/>
            </a:pPr>
          </a:p>
          <a:p>
            <a:pPr lvl="0" indent="0" marL="0">
              <a:buNone/>
            </a:pPr>
            <a:r>
              <a:rPr/>
              <a:t>The p inside depends on w and b, through p = sigma(w-transpose-x + b). That is why L is written as a function of w and b: change the setting, every p changes, and the likelihood changes with them. Handout section 3.2.</a:t>
            </a:r>
          </a:p>
          <a:p>
            <a:pPr lvl="0" indent="0" marL="0">
              <a:buNone/>
            </a:pPr>
          </a:p>
          <a:p>
            <a:pPr lvl="0" indent="0" marL="0">
              <a:buNone/>
            </a:pPr>
            <a:r>
              <a:rPr/>
              <a:t>A predictable slip of language: calling the top line “the likelihood of one example”. It is one drive’s factor, the probability of what happened to that drive. The likelihood is the product on the bottom line, read as a function of w and b with the data held fixed - which is why it is written L(w, b).</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Why a second setting at all: 0.576 on its own means nothing - there is no scale on which it is “high” or “low”. A likelihood is only useful as a comparison between settings, so we need a second one to compare against.</a:t>
            </a:r>
          </a:p>
          <a:p>
            <a:pPr lvl="0" indent="0" marL="0">
              <a:buNone/>
            </a:pPr>
          </a:p>
          <a:p>
            <a:pPr lvl="0" indent="0" marL="0">
              <a:buNone/>
            </a:pPr>
            <a:r>
              <a:rPr/>
              <a:t>Now a second setting, a different choice of w and b. It gives the three drives p = 0.3, 0.6 and 0.5: a low p to the drive that failed, a high p to one that survived. It looks worse, and the likelihood says how much worse.</a:t>
            </a:r>
          </a:p>
          <a:p>
            <a:pPr lvl="0" indent="0" marL="0">
              <a:buNone/>
            </a:pPr>
          </a:p>
          <a:p>
            <a:pPr lvl="0" indent="0" marL="0">
              <a:buNone/>
            </a:pPr>
            <a:r>
              <a:rPr/>
              <a:t>Apply the same rule, column by column. A failed, so its factor is p = 0.3. B and C survived, so their factors are 1 - 0.6 = 0.4 and 1 - 0.5 = 0.5. Multiply: 0.3 times 0.4 times 0.5 = 0.060.</a:t>
            </a:r>
          </a:p>
          <a:p>
            <a:pPr lvl="0" indent="0" marL="0">
              <a:buNone/>
            </a:pPr>
          </a:p>
          <a:p>
            <a:pPr lvl="0" indent="0" marL="0">
              <a:buNone/>
            </a:pPr>
            <a:r>
              <a:rPr/>
              <a:t>Compare: 0.576 against 0.060. What actually happened is 0.576 divided by 0.060 = 9.6 times more probable under setting 1, so setting 1 explains the data better. Keep it.</a:t>
            </a:r>
          </a:p>
          <a:p>
            <a:pPr lvl="0" indent="0" marL="0">
              <a:buNone/>
            </a:pPr>
          </a:p>
          <a:p>
            <a:pPr lvl="0" indent="0" marL="0">
              <a:buNone/>
            </a:pPr>
            <a:r>
              <a:rPr/>
              <a:t>That comparison is maximum likelihood. Fitting a logistic regression is the same comparison made over every possible setting rather than two: choose the w and b with the largest likelihood. Nobody tries them one by one - gradient descent does the searching, as in lesson 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step turns “largest likelihood” into “smallest cost”, so it can be minimised as in lesson 3. Natural logarithms throughout.</a:t>
            </a:r>
          </a:p>
          <a:p>
            <a:pPr lvl="0" indent="0" marL="0">
              <a:buNone/>
            </a:pPr>
          </a:p>
          <a:p>
            <a:pPr lvl="0" indent="0" marL="0">
              <a:buNone/>
            </a:pPr>
            <a:r>
              <a:rPr/>
              <a:t>Take minus the logarithm of each drive’s factor and add them up. Because the log of a product is the sum of the logs, the sum is minus the log of the likelihood: 0.55 is minus the log of 0.576, and 2.81 is minus the log of 0.060. The logarithm keeps the order and the minus sign reverses it, so the better setting now has the SMALLER number - 0.55 against 2.81. Setting 1 still wins.</a:t>
            </a:r>
          </a:p>
          <a:p>
            <a:pPr lvl="0" indent="0" marL="0">
              <a:buNone/>
            </a:pPr>
          </a:p>
          <a:p>
            <a:pPr lvl="0" indent="0" marL="0">
              <a:buNone/>
            </a:pPr>
            <a:r>
              <a:rPr/>
              <a:t>A predictable slip: calling setting 1 “the maximum” and 0.55 “the minimum cost”. Setting 1 only beats setting 2; other choices of w and b would surely make these three outcomes more probable still. The maximum likelihood over every possible (w, b) - the same point as the minimum cost - is what fitting finds.</a:t>
            </a:r>
          </a:p>
          <a:p>
            <a:pPr lvl="0" indent="0" marL="0">
              <a:buNone/>
            </a:pPr>
          </a:p>
          <a:p>
            <a:pPr lvl="0" indent="0" marL="0">
              <a:buNone/>
            </a:pPr>
            <a:r>
              <a:rPr/>
              <a:t>Read the per-drive numbers too. Minus the log of a probability is called the surprise of an outcome: 0 for something you were certain of, large for something you said was unlikely. Setting 2 is most surprised by drive A, 1.20, because it gave A’s failure only 0.3. Maximum likelihood and least total surprise are the same choice.</a:t>
            </a:r>
          </a:p>
          <a:p>
            <a:pPr lvl="0" indent="0" marL="0">
              <a:buNone/>
            </a:pPr>
          </a:p>
          <a:p>
            <a:pPr lvl="0" indent="0" marL="0">
              <a:buNone/>
            </a:pPr>
            <a:r>
              <a:rPr/>
              <a:t>Two reasons we always work with the logarithm, worth saying aloud. A sum differentiates one term at a time. And the product itself is too small to store. Notebook 1’s gradient descent starts with every coefficient and the intercept at zero, so z is 0 for every drive and every p is 0.5. 0.5 multiplied by itself 6,000 times, once per training drive, is 10 to the power 6,000 times log10 of 0.5 = 6,000 times minus 0.301 = minus 1806, while the smallest positive number a 64-bit float can hold is about 5 times 10 to the minus 324. The computer would store exactly zero.</a:t>
            </a:r>
          </a:p>
          <a:p>
            <a:pPr lvl="0" indent="0" marL="0">
              <a:buNone/>
            </a:pPr>
          </a:p>
          <a:p>
            <a:pPr lvl="0" indent="0" marL="0">
              <a:buNone/>
            </a:pPr>
            <a:r>
              <a:rPr/>
              <a:t>Divide the sum by the number of drives and you have the average surprise: that is the cost J that fitting minimises, and scikit-learn’s log_loss computes exactly this average. The next slide draws the surprise of one drive, and slide 24 writes it as a formula, the loss L; J is its average over the drives. Handout sections 3.1 to 3.3.</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 22’s numbers, drawn. The horizontal axis is the probability the model gave to what actually happened - the factors of slides 19 and 21. The vertical axis is minus the log of it: the surprise.</a:t>
            </a:r>
          </a:p>
          <a:p>
            <a:pPr lvl="0" indent="0" marL="0">
              <a:buNone/>
            </a:pPr>
          </a:p>
          <a:p>
            <a:pPr lvl="0" indent="0" marL="0">
              <a:buNone/>
            </a:pPr>
            <a:r>
              <a:rPr/>
              <a:t>Read the curve from right to left. Something the model was sure of, p = 1, costs nothing: minus log 1 is 0. As p falls the surprise grows, slowly at first and then without limit: something the model called impossible costs infinity.</a:t>
            </a:r>
          </a:p>
          <a:p>
            <a:pPr lvl="0" indent="0" marL="0">
              <a:buNone/>
            </a:pPr>
          </a:p>
          <a:p>
            <a:pPr lvl="0" indent="0" marL="0">
              <a:buNone/>
            </a:pPr>
            <a:r>
              <a:rPr/>
              <a:t>Now the six dots. Setting 1’s factors, 0.8, 0.9 and 0.8, sit on the flat right-hand part: small surprises, 0.22 + 0.11 + 0.22 = 0.55 in all. Setting 2’s, 0.3, 0.4 and 0.5, sit higher up: 1.20 + 0.92 + 0.69 = 2.81. The highest dot is drive A under setting 2: it failed, and setting 2 had given its failure only 0.3, so minus log 0.3 = 1.20.</a:t>
            </a:r>
          </a:p>
          <a:p>
            <a:pPr lvl="0" indent="0" marL="0">
              <a:buNone/>
            </a:pPr>
          </a:p>
          <a:p>
            <a:pPr lvl="0" indent="0" marL="0">
              <a:buNone/>
            </a:pPr>
            <a:r>
              <a:rPr/>
              <a:t>Why it is called surprise: minus log p behaves the way surprise does. Zero when the model was certain and was right (minus log 1 = 0); large when it had called the outcome unlikely (minus log 0.001 = 6.9); infinite when it had called it impossible. And for independent outcomes the surprises add up, because the log of a product is the sum of the logs - which is why three drives cost the sum of their three surprises. The name comes from information theory, Shannon’s work, and is not examinable. The useful reading: the cost is the model’s average surprise at what really happened, and fitting makes the data as unsurprising as possible - the same thing as making it as likely as possible.</a:t>
            </a:r>
          </a:p>
          <a:p>
            <a:pPr lvl="0" indent="0" marL="0">
              <a:buNone/>
            </a:pPr>
          </a:p>
          <a:p>
            <a:pPr lvl="0" indent="0" marL="0">
              <a:buNone/>
            </a:pPr>
            <a:r>
              <a:rPr/>
              <a:t>The curve is the cost of one drive, which the next slide writes as a formula: the loss L.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loss on ONE example, L, not the cost over the training set; p is the predicted probability, the same number the next slide writes as y-hat. Say the other half aloud rather than showing it: the cost J is the average of this over the m examples, one over m times the sum. It is left off the slide because, written out in full, the formula does not fit at a readable size.</a:t>
            </a:r>
          </a:p>
          <a:p>
            <a:pPr lvl="0" indent="0" marL="0">
              <a:buNone/>
            </a:pPr>
          </a:p>
          <a:p>
            <a:pPr lvl="0" indent="0" marL="0">
              <a:buNone/>
            </a:pPr>
            <a:r>
              <a:rPr/>
              <a:t>Nothing new to derive: this is slides 18 to 22 written for one drive in symbols. Check it on drive B of slide 18: y = 0 and p = 0.1, so the first term vanishes and L = -log(1 - 0.1) = -log 0.9 = 0.11, the number slide 22 gave B under setting 1. The handout, section 3, does it for m drives in full.</a:t>
            </a:r>
          </a:p>
          <a:p>
            <a:pPr lvl="0" indent="0" marL="0">
              <a:buNone/>
            </a:pPr>
          </a:p>
          <a:p>
            <a:pPr lvl="0" indent="0" marL="0">
              <a:buNone/>
            </a:pPr>
            <a:r>
              <a:rPr/>
              <a:t>The interpretation that makes it stick: the cost of an outcome is the SURPRISE of seeing it. Something you called certain costs nothing. Something you gave a probability of one in a thousand costs log 1000, about 6.9 (natural logarithm, as everywhere in this lesson).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 predictable slip: “with y = 1 the second term is 0 times log 0, which is 0 times minus infinity”. The coefficient is 1 - y, but the logarithm’s argument is 1 - p, the model’s probability - and p = sigma(z) lies strictly between 0 and 1, so log(1 - p) is finite and 0 times it is 0. Only p exactly 1 would give log 0, and the sigmoid never reaches it. In a computer p can round to 1.0 when z is large, which is why code clips p into [epsilon, 1 - epsilon]: notebook 1 adds 1e-12 inside the log, and scikit-learn’s log_loss clips too.</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formula says, in words. To find how the cost J changes when the coefficient w_j is nudged up: take each training drive, compute its error - the predicted probability y-hat minus the true label y, which is 0 or 1 - multiply that error by the drive’s value of feature j, and average over the m drives. Gradient descent then steps w_j in the opposite direction.</a:t>
            </a:r>
          </a:p>
          <a:p>
            <a:pPr lvl="0" indent="0" marL="0">
              <a:buNone/>
            </a:pPr>
          </a:p>
          <a:p>
            <a:pPr lvl="0" indent="0" marL="0">
              <a:buNone/>
            </a:pPr>
            <a:r>
              <a:rPr/>
              <a:t>What is new, and what is not. The formula is written with exactly the symbols of lesson 3’s slide 23. The difference is hidden in y-hat: in lesson 3 it was the straight line w-transpose-x plus b, and here it is the sigmoid of that line, the probability of slide 13 - which is why the title says so. The cost is different too: squared error there, log loss (slide 24) here. Different model, different cost, and yet the same gradient.</a:t>
            </a:r>
          </a:p>
          <a:p>
            <a:pPr lvl="0" indent="0" marL="0">
              <a:buNone/>
            </a:pPr>
          </a:p>
          <a:p>
            <a:pPr lvl="0" indent="0" marL="0">
              <a:buNone/>
            </a:pPr>
            <a:r>
              <a:rPr/>
              <a:t>A concrete drive. A drive that failed, y = 1, to which the model gives y-hat = 0.2: its error is 0.2 minus 1, which is minus 0.8. A negative term means the cost falls if w_j rises, so this drive pulls w_j up, and pulls harder the larger its value of feature j. A healthy drive, y = 0, given the same 0.2 has error plus 0.2 and pulls the other way, four times more gently. This is lesson 3’s weighted vote: each drive pulls in proportion to how wrong it was and how large the feature was for it.</a:t>
            </a:r>
          </a:p>
          <a:p>
            <a:pPr lvl="0" indent="0" marL="0">
              <a:buNone/>
            </a:pPr>
          </a:p>
          <a:p>
            <a:pPr lvl="0" indent="0" marL="0">
              <a:buNone/>
            </a:pPr>
            <a:r>
              <a:rPr/>
              <a:t>Why it comes out the same - worth the board if there is appetite, handout section 3.4 has it in full. Follow one drive through the chain rule, in three links, with p for y-hat and z for w-transpose-x plus b: - how the loss changes with p: (p - y) divided by p times (1 - p) - the denominator comes from the logarithms in the log loss; - how p changes with z: p times (1 - p), the sigmoid’s derivative from slide 13; - how z changes with w_j: x_j. Multiply the three: the p times (1 - p) cancels, and what is left is (p - y) times x_j.</a:t>
            </a:r>
          </a:p>
          <a:p>
            <a:pPr lvl="0" indent="0" marL="0">
              <a:buNone/>
            </a:pPr>
          </a:p>
          <a:p>
            <a:pPr lvl="0" indent="0" marL="0">
              <a:buNone/>
            </a:pPr>
            <a:r>
              <a:rPr/>
              <a:t>Why that cancellation matters, and it is the bridge to the next slide: with squared error in place of log loss, nothing cancels the factor p times (1 - p), and slide 26 shows what it does to a drive the model is confidently wrong about.</a:t>
            </a:r>
          </a:p>
          <a:p>
            <a:pPr lvl="0" indent="0" marL="0">
              <a:buNone/>
            </a:pPr>
          </a:p>
          <a:p>
            <a:pPr lvl="0" indent="0" marL="0">
              <a:buNone/>
            </a:pPr>
            <a:r>
              <a:rPr/>
              <a:t>If someone asks whether the match is a coincidence: no, and one sentence is enough. Both costs come from maximum likelihood - squared error when the noise on y is Gaussian (lesson 3, handout section 2.2), log loss when y is a 0/1 outcome - and each paired with its own model gives this same form. Statisticians call the family “generalised linear models”; the name is not examinable. The practical consequence is: the same gradient descent code trains both models, and only the line that computes y-hat changes.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take a drive that failed, y = 1, and move the model’s probability p for it along the horizontal axis. Squared error here is (p - 1) squared, the handout’s convention in section 4.</a:t>
            </a:r>
          </a:p>
          <a:p>
            <a:pPr lvl="0" indent="0" marL="0">
              <a:buNone/>
            </a:pPr>
          </a:p>
          <a:p>
            <a:pPr lvl="0" indent="0" marL="0">
              <a:buNone/>
            </a:pPr>
            <a:r>
              <a:rPr/>
              <a:t>Left panel, the costs. A drive failed and the model said 0.0001. Squared error charges (0.0001 - 1) squared = 0.9998. An honest “don’t know” - 0.5 - costs (0.5 - 1) squared = 0.25. So the worst possible answer is four times worse than a shrug. Log loss charges minus log 0.0001 = 9.2 against minus log 0.5 = 0.69, and the ratio grows without bound.</a:t>
            </a:r>
          </a:p>
          <a:p>
            <a:pPr lvl="0" indent="0" marL="0">
              <a:buNone/>
            </a:pPr>
          </a:p>
          <a:p>
            <a:pPr lvl="0" indent="0" marL="0">
              <a:buNone/>
            </a:pPr>
            <a:r>
              <a:rPr/>
              <a:t>Right panel is the real argument, so spend the time here. It shows the size of the gradient with respect to z, the push gradient descent gives the model. Log loss’s gradient is p - 1 (slide 25). Squared error’s is 2(p - 1) times p times (1 - p): the chain rule through the sigmoid brings in its derivative, p times one-minus-p, from slide 13, and nothing cancels it. That factor goes to zero as p goes to zero.</a:t>
            </a:r>
          </a:p>
          <a:p>
            <a:pPr lvl="0" indent="0" marL="0">
              <a:buNone/>
            </a:pPr>
          </a:p>
          <a:p>
            <a:pPr lvl="0" indent="0" marL="0">
              <a:buNone/>
            </a:pPr>
            <a:r>
              <a:rPr/>
              <a:t>Say it as a sentence: the wronger the model gets, the less squared error asks it to change. Divide one gradient by the other: squared error’s is log loss’s times 2p(1 - p). At p = 0.001 that factor is 2 times 0.001 times 0.999 = 0.002, a five-hundredth.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a:p>
            <a:pPr lvl="0" indent="0" marL="0">
              <a:buNone/>
            </a:pPr>
          </a:p>
          <a:p>
            <a:pPr lvl="0" indent="0" marL="0">
              <a:buNone/>
            </a:pPr>
            <a:r>
              <a:rPr/>
              <a:t>A predictable slip, from the left panel alone: “log loss charges more, so gradient descent works better with it”. The size of a cost does not matter to gradient descent - multiply a cost by 100 and its minimum is in the same place. What matters is the gradient, the right panel: the push squared error gives dies away exactly when the model is confidently wrong, and log loss’s does not.</a:t>
            </a:r>
          </a:p>
          <a:p>
            <a:pPr lvl="0" indent="0" marL="0">
              <a:buNone/>
            </a:pPr>
          </a:p>
          <a:p>
            <a:pPr lvl="0" indent="0" marL="0">
              <a:buNone/>
            </a:pPr>
            <a:r>
              <a:rPr/>
              <a:t>A second predictable slip, from reading the two panels together: “log loss’s slope is minus 1 over p”. That is the slope of the LEFT blue curve, the derivative of minus log p with respect to p. The right panel differentiates with respect to z, the log-odds, and there log loss’s gradient is p - 1: size 1 - p, the straight line from 1 down to 0, as its legend says. The chain rule joins the two panels: minus 1 over p, times the sigmoid’s derivative p(1 - p), gives minus (1 - p). The 1 over p cancels the sigmoid’s p, which is why log loss’s push does not die; squared error has no 1 over p to cancel it.</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 Slide 26’s right panel already shows why, for one failed drive taken as a function of z. Far to the left squared error’s slope is 0 (the push that died), in the middle it is negative, far to the right it is 0 again. A convex function’s slope can only grow as z grows; this one falls and then rises, so the curve is not convex. The vanishing push and the lost convexity are the same fact.</a:t>
            </a:r>
          </a:p>
          <a:p>
            <a:pPr lvl="0" indent="0" marL="0">
              <a:buNone/>
            </a:pPr>
          </a:p>
          <a:p>
            <a:pPr lvl="0" indent="0" marL="0">
              <a:buNone/>
            </a:pPr>
            <a:r>
              <a:rPr/>
              <a:t>Now the caution that catches people, and it is worth ten seconds because they will see max_iter set in notebook 1 and wonder why. Convex does NOT mean there is a closed-form solution. Setting the gradient to zero gives X-transpose times the vector of errors, sigma(Xw + b) minus y, equal to zero. That equation is not linear in w - the sigmoid is in the way - so it cannot be solved in one step as lesson 3’s normal equation was.</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separate model, fitted on two counters only - reallocated sectors and temperature - so that it can be drawn. It is not a slice of the six-counter model, which would need the other four counters fixed at some value. The white points are a random sample of 900 healthy training drives; every training failure is shown, so gold looks far more common than it is.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most of the gold points - the drives that actually failed - are on the blue side of the line. At a threshold of 0.5 this two-feature model calls nearly the whole fleet healthy, including most of the drives that failed. It uses two counters only, so that it can be drawn; the six-counter model of slide 31 does better at the same 0.5, and still misses 33 of the 76 test failures.</a:t>
            </a:r>
          </a:p>
          <a:p>
            <a:pPr lvl="0" indent="0" marL="0">
              <a:buNone/>
            </a:pPr>
          </a:p>
          <a:p>
            <a:pPr lvl="0" indent="0" marL="0">
              <a:buNone/>
            </a:pPr>
            <a:r>
              <a:rPr/>
              <a:t>Ask: is that a bad model? Take answers. Then say: the probabilities are fine. The threshold of 0.5 is a habit. Telling those two apart is the rest of the lesson.</a:t>
            </a:r>
          </a:p>
          <a:p>
            <a:pPr lvl="0" indent="0" marL="0">
              <a:buNone/>
            </a:pPr>
          </a:p>
          <a:p>
            <a:pPr lvl="0" indent="0" marL="0">
              <a:buNone/>
            </a:pPr>
            <a:r>
              <a:rPr/>
              <a:t>A predictable slip: “the drives above the line are flagged”. A line has two sides, not an above and a below: the model flags the side where w-transpose x plus b is positive, here the red side, to the right. The line is almost vertical because sectors weigh far more than temperature, which only tilts it.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Fifteen lines of NumPy, then one line of scikit-learn, and the same answer. Run notebook 01: seventeen minutes, after three on the decision boundary of the previous slide, which section 5 of the notebook draws live.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97.70 minus 96.20: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the 76 failures, 76 divided by 2,000 = 3.8% of the test set, are left to compete over.</a:t>
            </a:r>
          </a:p>
          <a:p>
            <a:pPr lvl="0" indent="0" marL="0">
              <a:buNone/>
            </a:pPr>
          </a:p>
          <a:p>
            <a:pPr lvl="0" indent="0" marL="0">
              <a:buNone/>
            </a:pPr>
            <a:r>
              <a:rPr/>
              <a:t>This is the 306 of slide 6 coming back as an accuracy score: 96.20% is simply the share of test drives that are healthy.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if a share pi of the cases are positive (the positive rate), the trivial always-negative classifier scores 1 minus pi. Here 1 - 0.038 = 96.2%. In some fraud problems, where the rate is one in a thousand, 1 - 0.001 = 99.9%.</a:t>
            </a:r>
          </a:p>
          <a:p>
            <a:pPr lvl="0" indent="0" marL="0">
              <a:buNone/>
            </a:pPr>
          </a:p>
          <a:p>
            <a:pPr lvl="0" indent="0" marL="0">
              <a:buNone/>
            </a:pPr>
            <a:r>
              <a:rPr/>
              <a:t>Accuracy is not wrong. It is answering a question nobody asked.</a:t>
            </a:r>
          </a:p>
          <a:p>
            <a:pPr lvl="0" indent="0" marL="0">
              <a:buNone/>
            </a:pPr>
          </a:p>
          <a:p>
            <a:pPr lvl="0" indent="0" marL="0">
              <a:buNone/>
            </a:pPr>
            <a:r>
              <a:rPr/>
              <a:t>The condition on the second bullet matters: accuracy counts every error the same, so even on a balanced fleet it is the wrong summary when a miss costs more than a false alarm - as here, slide 34.</a:t>
            </a:r>
          </a:p>
          <a:p>
            <a:pPr lvl="0" indent="0" marL="0">
              <a:buNone/>
            </a:pPr>
          </a:p>
          <a:p>
            <a:pPr lvl="0" indent="0" marL="0">
              <a:buNone/>
            </a:pPr>
            <a:r>
              <a:rPr/>
              <a:t>A predictable slip, the over-correction: “so accuracy is useless”. It is a number with a baseline. Read it against 1 minus pi, here 96.20%, and remember that alone it never says which errors were made.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a:p>
            <a:pPr lvl="0" indent="0" marL="0">
              <a:buNone/>
            </a:pPr>
          </a:p>
          <a:p>
            <a:pPr lvl="0" indent="0" marL="0">
              <a:buNone/>
            </a:pPr>
            <a:r>
              <a:rPr/>
              <a:t>The top-right cell is the price of the 43: 13 healthy drives flagged, false alarms.</a:t>
            </a:r>
          </a:p>
          <a:p>
            <a:pPr lvl="0" indent="0" marL="0">
              <a:buNone/>
            </a:pPr>
          </a:p>
          <a:p>
            <a:pPr lvl="0" indent="0" marL="0">
              <a:buNone/>
            </a:pPr>
            <a:r>
              <a:rPr/>
              <a:t>A predictable slip: “33 misses, so the model needs improving”. Perhaps, but that is not the first lever. The probabilities stay the same and 0.5 is a habit: a lower threshold catches more failures with the same model, at the price of more false alarms (slides 40 to 42, and the threshold derived from the costs, slide 53). The threshold trades one error for the other; only a better model reduces both.</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the metric of slide 37, treats them as identical. Only a cost, supplied from outside the data, distinguishes them.</a:t>
            </a:r>
          </a:p>
          <a:p>
            <a:pPr lvl="0" indent="0" marL="0">
              <a:buNone/>
            </a:pPr>
          </a:p>
          <a:p>
            <a:pPr lvl="0" indent="0" marL="0">
              <a:buNone/>
            </a:pPr>
            <a:r>
              <a:rPr/>
              <a:t>The fourth bullet answers the question someone will ask: does replacing a drive that really was failing cost nothing? It costs a technician’s hour, but a failing drive has to be replaced anyway, so the model did not cause that cost. Each figure is what the error adds over the right decision; correct decisions add nothing.</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prevents the most common confusion of the lesson. Both metrics put the true positives - failed drives we flagged - on top of the fraction.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of the healthy drives, how many did we leave alone. One minus it is the false positive rate, FP divided by (TN + FP), which comes back as the horizontal axis of the receiver operating characteristic (ROC) curve, slide 44.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76 out of 76 = 1. Precision is 76 out of 2,000 = 0.038, because all 2,000 drives are flagged and 76 of them fail.</a:t>
            </a:r>
          </a:p>
          <a:p>
            <a:pPr lvl="0" indent="0" marL="0">
              <a:buNone/>
            </a:pPr>
          </a:p>
          <a:p>
            <a:pPr lvl="0" indent="0" marL="0">
              <a:buNone/>
            </a:pPr>
            <a:r>
              <a:rPr/>
              <a:t>The figure holds recall at 1 and lets precision run along the horizontal axis. The dashed rust line is the ordinary average, (P + 1) divided by 2: at the left edge, where our model sits, it gives (0.038 + 1) divided by 2 = 0.519, and it can never drop below one half however useless the model. Anyone scanning a results table would not blink at 0.519.</a:t>
            </a:r>
          </a:p>
          <a:p>
            <a:pPr lvl="0" indent="0" marL="0">
              <a:buNone/>
            </a:pPr>
          </a:p>
          <a:p>
            <a:pPr lvl="0" indent="0" marL="0">
              <a:buNone/>
            </a:pPr>
            <a:r>
              <a:rPr/>
              <a:t>The blue line is the harmonic mean, F1 = 2PR divided by (P + R), here 2P divided by (P + 1): 2 times 0.038 divided by 1.038 =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 The two lines meet only at the right edge, where both precision and recall are 1.</a:t>
            </a:r>
          </a:p>
          <a:p>
            <a:pPr lvl="0" indent="0" marL="0">
              <a:buNone/>
            </a:pPr>
          </a:p>
          <a:p>
            <a:pPr lvl="0" indent="0" marL="0">
              <a:buNone/>
            </a:pPr>
            <a:r>
              <a:rPr/>
              <a:t>A second reason, in counts: F1 = 2TP divided by (2TP + FP + FN), which is TP divided by TP plus the average of FP and FN. Precision and recall share the numerator TP and differ in the denominator, and for two such ratios the harmonic mean is the one that is still a ratio of drives: TP over the average denominator. Ours: 2 times 43 = 86, divided by 86 + 13 + 33 = 132, gives 0.652.</a:t>
            </a:r>
          </a:p>
          <a:p>
            <a:pPr lvl="0" indent="0" marL="0">
              <a:buNone/>
            </a:pPr>
          </a:p>
          <a:p>
            <a:pPr lvl="0" indent="0" marL="0">
              <a:buNone/>
            </a:pPr>
            <a:r>
              <a:rPr/>
              <a:t>A predictable slip: “at P = 0 the arithmetic mean is 0.5 and F1 is 0.073”. The 0.073 belongs to the flag-everything model, P = 0.038; at P = 0 exactly, F1 is 0.</a:t>
            </a:r>
          </a:p>
          <a:p>
            <a:pPr lvl="0" indent="0" marL="0">
              <a:buNone/>
            </a:pPr>
          </a:p>
          <a:p>
            <a:pPr lvl="0" indent="0" marL="0">
              <a:buNone/>
            </a:pPr>
            <a:r>
              <a:rPr/>
              <a:t>Mention F-beta in one sentence: a version of F1 with a weight beta, where beta above 1 counts recall more than precision. That is what you want here, where a miss costs about nineteen times a false alarm (2,600 divided by 140 = 18.6). F2 is the usual choice. Handout section 6.3.</a:t>
            </a:r>
          </a:p>
          <a:p>
            <a:pPr lvl="0" indent="0" marL="0">
              <a:buNone/>
            </a:pPr>
          </a:p>
          <a:p>
            <a:pPr lvl="0" indent="0" marL="0">
              <a:buNone/>
            </a:pPr>
            <a:r>
              <a:rPr/>
              <a:t>A predictable slip: “F2 multiplies recall by 2”. In the weighted harmonic mean it is recall’s reciprocal that gets the weight beta squared = 4, against 1 for precision’s: F2 = 5PR divided by (4P + R). Ours: 5 times 0.768 times 0.566 divided by (4 times 0.768 + 0.566) = 0.597, below F1 because recall is our weak side.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slides 31 to 34 were about.</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a:p>
            <a:pPr lvl="0" indent="0" marL="0">
              <a:buNone/>
            </a:pPr>
          </a:p>
          <a:p>
            <a:pPr lvl="0" indent="0" marL="0">
              <a:buNone/>
            </a:pPr>
            <a:r>
              <a:rPr/>
              <a:t>A predictable slip: “macro average is a new metric”. Macro and weighted are two ways of averaging over classes, and classification_report applies both to every column - precision, recall and F1. The weights of the weighted average are the support, the number of true drives in each class.</a:t>
            </a:r>
          </a:p>
          <a:p>
            <a:pPr lvl="0" indent="0" marL="0">
              <a:buNone/>
            </a:pPr>
          </a:p>
          <a:p>
            <a:pPr lvl="0" indent="0" marL="0">
              <a:buNone/>
            </a:pPr>
            <a:r>
              <a:rPr/>
              <a:t>Someone will ask why an arithmetic mean is fine here, one slide after F1 rejected it. Slide 37 combined two different quantities of one class; here it is the same metric on two classes, and the point is to give the rare class an equal voice.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confusion matrix by hand, then from scikit-learn, then the threshold sweep. Run notebook 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Spend time on the threshold sweep table. Do not explain it first - let them read the columns and say what they see. Somebody will notice that accuracy barely moves. That is the moment to show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only when the two errors cost the same and the probabilities are calibrated: among drives given 0.3, about 30% really fail (slide 47 names the property). Slide 53 derives the threshold from the costs, and it is 0.5 exactly when they are equal. Here a miss costs about nineteen times a false alarm (2,600 divided by 140 = 18.6), and in most real problems the costs differ too.</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2, the threshold sweep, five of its rows drawn as bars. Each pair of bars is one threshold: teal is the failures caught, out of the 76 in the test set; gold is the healthy drives flagged by mistake. On the right, the accuracy each threshold scores: right answers divided by 2,000.</a:t>
            </a:r>
          </a:p>
          <a:p>
            <a:pPr lvl="0" indent="0" marL="0">
              <a:buNone/>
            </a:pPr>
          </a:p>
          <a:p>
            <a:pPr lvl="0" indent="0" marL="0">
              <a:buNone/>
            </a:pPr>
            <a:r>
              <a:rPr/>
              <a:t>Lower the threshold - go up the figure: both bars grow. At 0.02 we catch 69 of 76 failures and replace 284 healthy drives to do it. At 0.90 there are no false alarms at all, and we catch 14 of 76, fewer than a quarter.</a:t>
            </a:r>
          </a:p>
          <a:p>
            <a:pPr lvl="0" indent="0" marL="0">
              <a:buNone/>
            </a:pPr>
          </a:p>
          <a:p>
            <a:pPr lvl="0" indent="0" marL="0">
              <a:buNone/>
            </a:pPr>
            <a:r>
              <a:rPr/>
              <a:t>Now the right-hand column, which is the slide’s real argument. For every threshold from 0.10 up to 0.90 it stays between 0.942 and 0.977, a range of 0.977 - 0.942 = 0.035, three and a half percentage points, while the teal bar shrinks from 61 to 14. And its maximum, in bold, is at 0.5 - the threshold that misses 76 - 43 = 33 failures.</a:t>
            </a:r>
          </a:p>
          <a:p>
            <a:pPr lvl="0" indent="0" marL="0">
              <a:buNone/>
            </a:pPr>
          </a:p>
          <a:p>
            <a:pPr lvl="0" indent="0" marL="0">
              <a:buNone/>
            </a:pPr>
            <a:r>
              <a:rPr/>
              <a:t>Say the consequence plainly: tune on accuracy and it will quietly recommend catching fewer failures. Most of the alarms a higher threshold drops are false ones, so accuracy rises with each drop, even though some of the dropped alarms were failures being caught. From 0.30 to 0.50 the gold bar loses 25 - 13 = 12 false alarms and the teal bar loses 53 - 43 = 10 caught failures. Accuracy gains 12 right answers and loses 10, two more in all, 0.976 to 0.977.</a:t>
            </a:r>
          </a:p>
          <a:p>
            <a:pPr lvl="0" indent="0" marL="0">
              <a:buNone/>
            </a:pPr>
          </a:p>
          <a:p>
            <a:pPr lvl="0" indent="0" marL="0">
              <a:buNone/>
            </a:pPr>
            <a:r>
              <a:rPr/>
              <a:t>Precision and recall at each threshold are in the handout’s table in section 7.1, computed with the formulas of slide 36.</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- 76 failures divided by 2,000 drives = 0.038 here - at every recall. Count it: flag 500 drives at random and on average 500 times 0.038 = 19 of them fail, so precision is 19 divided by 500 = 0.038 and recall 19 divided by 76 = 0.25. Flag 1,000: 38 fail, precision 0.038 again, recall 0.50. Flagging more moves recall, never precision. That flat dashed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(AP), is 0.717 against a floor of 0.038.</a:t>
            </a:r>
          </a:p>
          <a:p>
            <a:pPr lvl="0" indent="0" marL="0">
              <a:buNone/>
            </a:pPr>
          </a:p>
          <a:p>
            <a:pPr lvl="0" indent="0" marL="0">
              <a:buNone/>
            </a:pPr>
            <a:r>
              <a:rPr/>
              <a:t>The three marked dots are thresholds 0.5, 0.3 and 0.05. The first two are rows of the table on the previous slide, so they can check the correspondence: at 0.5, recall 0.566 and precision 0.768.</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a:p>
            <a:pPr lvl="0" indent="0" marL="0">
              <a:buNone/>
            </a:pPr>
          </a:p>
          <a:p>
            <a:pPr lvl="0" indent="0" marL="0">
              <a:buNone/>
            </a:pPr>
            <a:r>
              <a:rPr/>
              <a:t>Say what the ranking is before using the word: sort the 2,000 test drives by the probability the model gave them, highest first. Then a threshold is nothing but a place to cut that list - everything above the cut is flagged - and lowering the threshold moves the cut down. So a threshold-free evaluation does not throw the threshold away: it looks at every cut of the same list at once. The precision-recall curve of slide 42 was already a first step, every threshold on one curve.</a:t>
            </a:r>
          </a:p>
          <a:p>
            <a:pPr lvl="0" indent="0" marL="0">
              <a:buNone/>
            </a:pPr>
          </a:p>
          <a:p>
            <a:pPr lvl="0" indent="0" marL="0">
              <a:buNone/>
            </a:pPr>
            <a:r>
              <a:rPr/>
              <a:t>Two conditions to keep in mind, both coming back later: only the order counts, not the values of p, so a ranking measure cannot see calibration (slide 47); and the day the model is used, one cut still has to be chosen (slides 51-53).</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the true positive rate (TPR), which is recall under another name - the share of failures we catch. The false positive rate (FPR) - the share of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a:p>
            <a:pPr lvl="0" indent="0" marL="0">
              <a:buNone/>
            </a:pPr>
          </a:p>
          <a:p>
            <a:pPr lvl="0" indent="0" marL="0">
              <a:buNone/>
            </a:pPr>
            <a:r>
              <a:rPr/>
              <a:t>Make the steps concrete. Walk down the ranking one drive at a time: a failing drive moves the curve up by 1/76, a healthy one moves it right by 1/1,924. A steep start means the top of the ranking is failures. The ideal curve goes straight up to (0, 1), then across. Every curve ends at (1, 1), so a curve that is steep at the start is flat at the end - and the area under it, next slide, measures exactly that. Check one point: threshold 0.5 gives TPR = 43 ÷ 76 = 0.57 and FPR = 13 ÷ 1,924 = 0.007.</a:t>
            </a:r>
          </a:p>
          <a:p>
            <a:pPr lvl="0" indent="0" marL="0">
              <a:buNone/>
            </a:pPr>
          </a:p>
          <a:p>
            <a:pPr lvl="0" indent="0" marL="0">
              <a:buNone/>
            </a:pPr>
            <a:r>
              <a:rPr/>
              <a:t>The sweep is the same as the precision-recall curve’s; the reading is not. The precision-recall curve’s ideal is the top-right corner, and precision divides by the alarms raised. The ROC’s ideal is the top-left corner, and FPR divides by the 1,924 healthy drives, so its random baseline is the diagonal whatever the class balance, against 0.038 for precision-recall. That denominator is why ROC can hide imbalance (slides 48-49).</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 a classical test that compares two groups by counting, over every pair, which member ranks higher - is in the handout, section 8.2, for anyone who wants the proof. But notebook 3 does something better than a proof for this audience: it draws 200,000 random pairs and counts. 0.9488 against roc_auc_score’s 0.9493.</a:t>
            </a:r>
          </a:p>
          <a:p>
            <a:pPr lvl="0" indent="0" marL="0">
              <a:buNone/>
            </a:pPr>
          </a:p>
          <a:p>
            <a:pPr lvl="0" indent="0" marL="0">
              <a:buNone/>
            </a:pPr>
            <a:r>
              <a:rPr/>
              <a:t>Which pairs, and why the two differ. The test set has 76 × 1,924 = 146,224 (failing, healthy) pairs. The exact AUC is the share of them in which the failing drive scores higher, a tie counting half: notebook 3 counts 7,409 pairs in the wrong order, and 1 − 7,409 ÷ 146,224 = 0.9493. So “probability” and “share of pairs” are the same number. The 200,000 random pairs are an estimate of that share, which is why they give 0.9488: sampling noise.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the scores the model gives the test drives, drawn as two histograms: teal for the 1,924 healthy drives, rust for the 76 that failed. Each group is scaled to add up to 1, so the two shapes can be compared although one group is 25 times the size of the other. The horizontal axis is logarithmic, because most healthy drives get scores of a thousandth or less.</a:t>
            </a:r>
          </a:p>
          <a:p>
            <a:pPr lvl="0" indent="0" marL="0">
              <a:buNone/>
            </a:pPr>
          </a:p>
          <a:p>
            <a:pPr lvl="0" indent="0" marL="0">
              <a:buNone/>
            </a:pPr>
            <a:r>
              <a:rPr/>
              <a:t>The rust sits far to the right of the teal: most failing drives get high scores, most healthy ones tiny scores. That separation is what the AUC measures. Pick one rust drive and one teal drive at random: the AUC, 0.949, is the chance that the rust one lies further right. Notebook 3 checks it by drawing 200,000 such pairs: 0.9488.</a:t>
            </a:r>
          </a:p>
          <a:p>
            <a:pPr lvl="0" indent="0" marL="0">
              <a:buNone/>
            </a:pPr>
          </a:p>
          <a:p>
            <a:pPr lvl="0" indent="0" marL="0">
              <a:buNone/>
            </a:pPr>
            <a:r>
              <a:rPr/>
              <a:t>The pairs the model gets wrong come from where the two colours overlap - a few failing drives with scores as low as many healthy ones. No threshold separates those, and the AUC counts them as the 5% it misses.</a:t>
            </a:r>
          </a:p>
          <a:p>
            <a:pPr lvl="0" indent="0" marL="0">
              <a:buNone/>
            </a:pPr>
          </a:p>
          <a:p>
            <a:pPr lvl="0" indent="0" marL="0">
              <a:buNone/>
            </a:pPr>
            <a:r>
              <a:rPr/>
              <a:t>Note what the figure does not show: where to put the threshold. Any vertical line splits it, and the AUC is the same whichever you pick - the next slide.</a:t>
            </a:r>
          </a:p>
          <a:p>
            <a:pPr lvl="0" indent="0" marL="0">
              <a:buNone/>
            </a:pPr>
          </a:p>
          <a:p>
            <a:pPr lvl="0" indent="0" marL="0">
              <a:buNone/>
            </a:pPr>
            <a:r>
              <a:rPr/>
              <a:t>A predictable slip: reading the heights as numbers of drives. They are shares of each group, each colour adding up to 1; as counts the 76 rust drives would be invisible next to the 1,924 teal ones. The reading is reasonable because a histogram usually counts. Notebook 3 converts back: the tallest rust bar, 0.342, is 26 drives; the tallest teal bar, 0.056, is 108. The low bar holds four times as many drives.</a:t>
            </a:r>
          </a:p>
          <a:p>
            <a:pPr lvl="0" indent="0" marL="0">
              <a:buNone/>
            </a:pPr>
          </a:p>
          <a:p>
            <a:pPr lvl="0" indent="0" marL="0">
              <a:buNone/>
            </a:pPr>
            <a:r>
              <a:rPr/>
              <a:t>Where the 5% comes from, counted in notebook 3: 7,409 of the 146,224 pairs are in the wrong order. A failing drive costs one wrong pair for every healthy drive scored above it, so a failure far to the left costs a lot: the lowest-scoring one (p = 0.0004) is outscored by 1,408 healthy drives, a fifth of all the wrong pairs by itself. The 5 worst failures make 61% of them; 19 failures score above every healthy drive and cost nothing.</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unchanged by anything done to the scores that keeps their order.</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slides 52-53 do - AUC is not the check you want.</a:t>
            </a:r>
          </a:p>
          <a:p>
            <a:pPr lvl="0" indent="0" marL="0">
              <a:buNone/>
            </a:pPr>
          </a:p>
          <a:p>
            <a:pPr lvl="0" indent="0" marL="0">
              <a:buNone/>
            </a:pPr>
            <a:r>
              <a:rPr/>
              <a:t>Good place to mention that calibration - whether a predicted 0.7 really comes true 70% of the time - is a topic of its own, without going into it.</a:t>
            </a:r>
          </a:p>
          <a:p>
            <a:pPr lvl="0" indent="0" marL="0">
              <a:buNone/>
            </a:pPr>
          </a:p>
          <a:p>
            <a:pPr lvl="0" indent="0" marL="0">
              <a:buNone/>
            </a:pPr>
            <a:r>
              <a:rPr/>
              <a:t>The 56: at threshold 0.5 the fitted model flags 43 + 13 = 56 drives. Divided by 10, the largest score is 0.100, so nothing reaches 0.5: recall 0, AUC still 0.949. The condition: this holds for any change that keeps the order, that is any strictly increasing one; a change that reverses the order turns the AUC into 1 − AUC. “Multiply by 10” would keep the AUC too, but the scores would stop being probabilities.</a:t>
            </a:r>
          </a:p>
          <a:p>
            <a:pPr lvl="0" indent="0" marL="0">
              <a:buNone/>
            </a:pPr>
          </a:p>
          <a:p>
            <a:pPr lvl="0" indent="0" marL="0">
              <a:buNone/>
            </a:pPr>
            <a:r>
              <a:rPr/>
              <a:t>The converse is worth one sentence, because it shows the two properties are independent: give every drive 0.038, the fleet’s failure rate. On average that is right - calibrated - and it ranks nothing: AUC 0.5 (notebook 3).</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Notebook 3 generates a new, larger fleet of 60,000 drives from the same simulator, keeps every healthy drive, and throws away failures at random until they are 0.4% instead of 3.8% - the direction reality moves in fraud, disease, hardware failure.</a:t>
            </a:r>
          </a:p>
          <a:p>
            <a:pPr lvl="0" indent="0" marL="0">
              <a:buNone/>
            </a:pPr>
          </a:p>
          <a:p>
            <a:pPr lvl="0" indent="0" marL="0">
              <a:buNone/>
            </a:pPr>
            <a:r>
              <a:rPr/>
              <a:t>Someone will notice that at 3.8% the AUC reads 0.968, not the 0.949 of slide 45. Different drives: 0.949 rests on the 76 failures of our 2,000-drive test set, 0.968 on a fleet thirty times larger. Both are estimates of the same ranking ability. The same goes for average precision: 0.706 on the large fleet, against slide 42’s 0.717 on the test set.</a:t>
            </a:r>
          </a:p>
          <a:p>
            <a:pPr lvl="0" indent="0" marL="0">
              <a:buNone/>
            </a:pPr>
          </a:p>
          <a:p>
            <a:pPr lvl="0" indent="0" marL="0">
              <a:buNone/>
            </a:pPr>
            <a:r>
              <a:rPr/>
              <a:t>Left panel: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panel: the precision-recall curves are in three different worlds. Average precision falls from 0.706 to 0.361, and precision at the threshold of 0.5 falls from 0.79 to 0.26 - 1 - 0.26 = 0.74, three alarms in four now false.</a:t>
            </a:r>
          </a:p>
          <a:p>
            <a:pPr lvl="0" indent="0" marL="0">
              <a:buNone/>
            </a:pPr>
          </a:p>
          <a:p>
            <a:pPr lvl="0" indent="0" marL="0">
              <a:buNone/>
            </a:pPr>
            <a:r>
              <a:rPr/>
              <a:t>Three curves on the left, one model, no problem. Three curves on the right, same model, a disaster. Let that sit for a second before explaining.</a:t>
            </a:r>
          </a:p>
          <a:p>
            <a:pPr lvl="0" indent="0" marL="0">
              <a:buNone/>
            </a:pPr>
          </a:p>
          <a:p>
            <a:pPr lvl="0" indent="0" marL="0">
              <a:buNone/>
            </a:pPr>
            <a:r>
              <a:rPr/>
              <a:t>The fleets, precisely: 60,000 drives are generated, all 57,575 healthy ones are kept, and only failures are discarded, so the three fleets hold 59,849, 58,157 and 57,806 drives. The counts behind the right panel, at threshold 0.5: the false alarms are 304 in all three fleets, the true alarms 1,127, 261 and 106. The next slide reads them.</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Both ROC axes are shares inside one class. Recall is a share of the failures, and thinning the failures at random leaves it where it was: 0.50, 0.45, 0.46 at threshold 0.5, noise around one value. FPR is a share of the healthy drives, which are not touched: 304 ÷ 57,575 = 0.0053 every time. So the ROC curve cannot move. Precision is the one number that mixes the classes: TP over TP + 304, with TP falling 1,127 → 261 → 106, so precision falls 0.788 → 0.462 → 0.259. In one formula, with π the positive rate: precision = R·π ÷ (R·π + FPR · (1 − π)). R and FPR are the ROC’s axes and stay put; only π moves. Check the rarest fleet: 0.459 × 0.004 ÷ (0.459 × 0.004 + 0.0053 × 0.996) = 0.26.</a:t>
            </a:r>
          </a:p>
          <a:p>
            <a:pPr lvl="0" indent="0" marL="0">
              <a:buNone/>
            </a:pPr>
          </a:p>
          <a:p>
            <a:pPr lvl="0" indent="0" marL="0">
              <a:buNone/>
            </a:pPr>
            <a:r>
              <a:rPr/>
              <a:t>A predictable slip: “precision falls because the false positives grow”. They do not - 304 in every fleet. What grows is their share of the alarms, 304 ÷ (1,127 + 304) = 0.21 at 3.8% and 304 ÷ (106 + 304) = 0.74 at 0.4%, which is 1 − precision. The slip is natural: “the false alarms take over” sounds like “there are more of them”.</a:t>
            </a:r>
          </a:p>
          <a:p>
            <a:pPr lvl="0" indent="0" marL="0">
              <a:buNone/>
            </a:pPr>
          </a:p>
          <a:p>
            <a:pPr lvl="0" indent="0" marL="0">
              <a:buNone/>
            </a:pPr>
            <a:r>
              <a:rPr/>
              <a:t>So ROC measures the false alarms against a population nobody experiences. The technician does not see the 57,000 drives left alone; they see the alarm queue.</a:t>
            </a:r>
          </a:p>
          <a:p>
            <a:pPr lvl="0" indent="0" marL="0">
              <a:buNone/>
            </a:pPr>
          </a:p>
          <a:p>
            <a:pPr lvl="0" indent="0" marL="0">
              <a:buNone/>
            </a:pPr>
            <a:r>
              <a:rPr/>
              <a:t>This is the lesson’s second big predictable mistake, after trusting accuracy on slide 31,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The two measures answer two different questions, which is why neither replaces the other. AUC: does the model put the failures above the healthy drives? The precision-recall curve: of the alarms it raises, how many are real? On a balanced problem the answers travel together; on an imbalanced one the second can collapse while the first stands still, as slide 48 showed.</a:t>
            </a:r>
          </a:p>
          <a:p>
            <a:pPr lvl="0" indent="0" marL="0">
              <a:buNone/>
            </a:pPr>
          </a:p>
          <a:p>
            <a:pPr lvl="0" indent="0" marL="0">
              <a:buNone/>
            </a:pPr>
            <a:r>
              <a:rPr/>
              <a:t>Average precision reads as it is computed: walk down the thresholds from the top; each time recall goes up by a step, take the precision at that point; add the precisions, each weighted by its recall step. Why a random ranking scores 0.038: its precision is the positive rate π at every recall (slide 42 counted it), so the weighted average of a constant is that constant, π = 76 ÷ 2,000. So AP is read against π, not against 0.5 - which is also why it travels across problems with different class balance badly, and must always be quoted with the positive rate beside it.</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on slide 34 - €140 for a needless replacement, €2,600 for a drive that dies in service.</a:t>
            </a:r>
          </a:p>
          <a:p>
            <a:pPr lvl="0" indent="0" marL="0">
              <a:buNone/>
            </a:pPr>
          </a:p>
          <a:p>
            <a:pPr lvl="0" indent="0" marL="0">
              <a:buNone/>
            </a:pPr>
            <a:r>
              <a:rPr/>
              <a:t>The curve is the total cost on the test set as the threshold moves: FP × 140 + FN × 2,600, the formula on the vertical axis. The default 0.5 costs 13 × 140 + 33 × 2,600 = 1,820 + 85,800 = €87,620. The cheapest, at 0.078, costs 121 × 140 + 11 × 2,600 = 16,940 + 28,600 = €45,540. Read the shape: going down from 0.5, each miss at €2,600 becomes a false alarm at €140, a good trade until false alarms pile up near 0; to the right the cost climbs towards doing nothing, 76 × 2,600 = €197,600. Each little step is one drive crossing the threshold.</a:t>
            </a:r>
          </a:p>
          <a:p>
            <a:pPr lvl="0" indent="0" marL="0">
              <a:buNone/>
            </a:pPr>
          </a:p>
          <a:p>
            <a:pPr lvl="0" indent="0" marL="0">
              <a:buNone/>
            </a:pPr>
            <a:r>
              <a:rPr/>
              <a:t>One condition to say now, because slide 54 comes back to it: 0.078 was found by looking at the test set. Properly it is chosen on a validation set (lesson 5).</a:t>
            </a:r>
          </a:p>
          <a:p>
            <a:pPr lvl="0" indent="0" marL="0">
              <a:buNone/>
            </a:pPr>
          </a:p>
          <a:p>
            <a:pPr lvl="0" indent="0" marL="0">
              <a:buNone/>
            </a:pPr>
            <a:r>
              <a:rPr/>
              <a:t>Choosing the threshold on purpose HALVED the cost of the same model: 45,540 divided by 87,620 is 0.52.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any formula, the picture. The horizontal axis is one drive’s probability of failing, p; the vertical axis is the expected cost of each decision for that drive.</a:t>
            </a:r>
          </a:p>
          <a:p>
            <a:pPr lvl="0" indent="0" marL="0">
              <a:buNone/>
            </a:pPr>
          </a:p>
          <a:p>
            <a:pPr lvl="0" indent="0" marL="0">
              <a:buNone/>
            </a:pPr>
            <a:r>
              <a:rPr/>
              <a:t>Teal: flag it. We pay 140 euros for the replacement only if the drive was healthy, which happens with probability 1 minus p, so the expected cost is (1 - p) times 140 - nearly flat, because 140 is small. Rust: leave it. We pay 2,600 euros only if it fails, probability p, so the expected cost is p times 2,600 - steep.</a:t>
            </a:r>
          </a:p>
          <a:p>
            <a:pPr lvl="0" indent="0" marL="0">
              <a:buNone/>
            </a:pPr>
          </a:p>
          <a:p>
            <a:pPr lvl="0" indent="0" marL="0">
              <a:buNone/>
            </a:pPr>
            <a:r>
              <a:rPr/>
              <a:t>Left of the crossing, leaving the drive is cheaper; right of it, flagging is. So the rule is: flag every drive whose probability is beyond the crossing. The next slide finds where the crossing is.</a:t>
            </a:r>
          </a:p>
          <a:p>
            <a:pPr lvl="0" indent="0" marL="0">
              <a:buNone/>
            </a:pPr>
          </a:p>
          <a:p>
            <a:pPr lvl="0" indent="0" marL="0">
              <a:buNone/>
            </a:pPr>
            <a:r>
              <a:rPr/>
              <a:t>Then ask the room what happens to the crossing if a failure cost 140 euros as well: both lines would have the same slope in opposite directions, and they would cross at 0.5 - the default threshold, right only when the costs are equal. 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on the board, because it is two steps and it lands. Flag the drive when leaving it costs more in expectation than flagging it: p times 2,600 &gt; (1 - p) times 140. Multiply out: 140 &lt; p × (2,600 + 140) = p × 2,740, so p &gt; 140 ÷ 2,740 = 0.051. The probability does not simplify away: it is the unknown we solve for, and t* is a value of p - the one at which the two expected costs are equal, the crossing of the previous slide. The rule reads “flag every drive with p above t*“.</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State the condition, because the derivation used it: p must be an honest probability - among drives given 0.05, about 5% really fail. That property is called calibration (slide 47). Divide every probability by ten, as slide 47 did, and the formula would still say 0.051 while flagging far too few drives.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0.078 against a theoretical 0.051, and notebook 3 counts what separates them: 45 test drives are scored between the two, and 1 of them failed. Flagging them would cost 44 × 140 = €6,160, leaving them cost that one failure, €2,600 - so on this test set leaving them was cheaper. But their probabilities add up to 2.76 expected failures: for a calibrated model, leaving them costs about 2.76 × 2,600 = €7,176 against (45 − 2.76) × 140 = €5,914 for flagging, and the rule is right. The gap is 45 drives with one failure where the model expected almost three: sampling noise on 76 failures, plus calibration that is good but not perfect. At t* itself the cost is €49,100, 8% above the minimum - the flat bottom of slide 51.</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named at the start of today’s lesson, in the discussion of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The two prices on the slide show what is at stake. t* was fixed by the costs before anyone looked at the test set; 0.078 is the best of 300 thresholds tried on it. The €3,560 between them (8%) is in part luck the test set handed us - the 45 drives with one failure where almost three were expected - and the minimum of many tries on the same data is biased downwards. The test score is an unbiased estimate only if the test set played no part in any choice and is used once, at the end.</a:t>
            </a:r>
          </a:p>
          <a:p>
            <a:pPr lvl="0" indent="0" marL="0">
              <a:buNone/>
            </a:pPr>
          </a:p>
          <a:p>
            <a:pPr lvl="0" indent="0" marL="0">
              <a:buNone/>
            </a:pPr>
            <a:r>
              <a:rPr/>
              <a:t>Until then, treat the 0.078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steps, in order.</a:t>
            </a:r>
          </a:p>
          <a:p>
            <a:pPr lvl="0" indent="0" marL="0">
              <a:buNone/>
            </a:pPr>
          </a:p>
          <a:p>
            <a:pPr lvl="0" indent="0" marL="0">
              <a:buNone/>
            </a:pPr>
            <a:r>
              <a:rPr/>
              <a:t>What the weights are. The two numbers on the slide: 6,000 ÷ (2 × 5,770) = 0.52 and 6,000 ÷ (2 × 230) = 13.0. The log loss adds one term per training drive. A class weight multiplies the term of every drive in that class. “balanced” sets the weight to m divided by (2 times the number of drives in the class): 0.52 for a healthy drive, 13.0 for a failed one. Each failure therefore counts as 25 healthy drives - as if the training set held 25 copies of every failure.</a:t>
            </a:r>
          </a:p>
          <a:p>
            <a:pPr lvl="0" indent="0" marL="0">
              <a:buNone/>
            </a:pPr>
          </a:p>
          <a:p>
            <a:pPr lvl="0" indent="0" marL="0">
              <a:buNone/>
            </a:pPr>
            <a:r>
              <a:rPr/>
              <a:t>Where the 25 comes from: the class frequencies, 5,770 healthy against 230 failed in training. Not the costs. A predictable slip: reading “balanced” as “weighted by what the errors cost”. Both are weights and both push towards the failures, so the reading is natural - but balanced would give 25 whatever a miss cost. Weights from the costs exist too, and they are a separate choice: class_weight={0: 140, 1: 2600}, ratio 18.6. Notebook 3 fits that model as well: at 0.5 it raises 164 false alarms and misses 9, close to the plain model at t* (165 and 10).</a:t>
            </a:r>
          </a:p>
          <a:p>
            <a:pPr lvl="0" indent="0" marL="0">
              <a:buNone/>
            </a:pPr>
          </a:p>
          <a:p>
            <a:pPr lvl="0" indent="0" marL="0">
              <a:buNone/>
            </a:pPr>
            <a:r>
              <a:rPr/>
              <a:t>What the weights do. For logistic regression the main effect is on the intercept: it rises from −6.09 to −2.95, by 3.14, close to log 25 = 3.22. Every probability goes up, and the weighted model’s 0.5 lands where the plain model’s 1 ÷ (1 + 25) = 0.038 was. Notebook 3 checks it: the plain model at 0.038 raises 208 false alarms and misses 8; the weighted model at 0.5 raises 205 and misses 8; the two agree on 1,987 of the 2,000 test drives. The general rule: weights with ratio k behave like a threshold of 1 ÷ (1 + k). Balanced weights land near the cost optimum here only because 25 happens to be close to 18.6.</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is notebook 3’s comparison drawn as bills, one bar per model. Rust is the cost of the missed failures, FN times 2,600 euros; gold is the cost of the false alarms, FP times 140 euros. The default model misses 33 failures: 33 times 2,600 plus 13 times 140 is 87,620. The threshold at 0.078 misses 11 and raises 121 false alarms: 45,540. Balanced weights miss 8 and raise 205: 8 times 2,600 plus 205 times 140 is 49,500.</a:t>
            </a:r>
          </a:p>
          <a:p>
            <a:pPr lvl="0" indent="0" marL="0">
              <a:buNone/>
            </a:pPr>
          </a:p>
          <a:p>
            <a:pPr lvl="0" indent="0" marL="0">
              <a:buNone/>
            </a:pPr>
            <a:r>
              <a:rPr/>
              <a:t>Point at the AUC under each name: 0.949 against 0.950. Reweighting taught the model essentially nothing new about disk failure. What it did was move where the model puts its 0.5 line - the same lever as the threshold, pulled at training time instead of after it, as the previous slide showed.</a:t>
            </a:r>
          </a:p>
          <a:p>
            <a:pPr lvl="0" indent="0" marL="0">
              <a:buNone/>
            </a:pPr>
          </a:p>
          <a:p>
            <a:pPr lvl="0" indent="0" marL="0">
              <a:buNone/>
            </a:pPr>
            <a:r>
              <a:rPr/>
              <a:t>That matters because class weighting is usually presented as a REMEDY for imbalance. It is not a remedy; it is another way of setting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The same argument holds for resampling and for SMOTE (synthetic minority oversampling technique, which builds artificial minority examples): they move the operating point too. And both must be applied to the training rows only - inside each cross-validation fold, once lesson 5 introduces folds. Duplicated or synthetic failures in the test set would be scored as if they were real drives, and the test score would stop describing the real fleet; lesson 2 made the same argument for fitting the imputer on the training rows only.</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ROC curve by hand, the 200,000-pair experiment, the cost curve, then the multiclass matrix. Run notebook 03. Fifteen minutes, and the three multiclass slides that follow (58 to 60) are shown when the notebook reaches its last section, so they run alongside it rather than after it.</a:t>
            </a:r>
          </a:p>
          <a:p>
            <a:pPr lvl="0" indent="0" marL="0">
              <a:buNone/>
            </a:pPr>
          </a:p>
          <a:p>
            <a:pPr lvl="0" indent="0" marL="0">
              <a:buNone/>
            </a:pPr>
            <a:r>
              <a:rPr/>
              <a:t>If time is short, keep the pairs experiment: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 So three classes.</a:t>
            </a:r>
          </a:p>
          <a:p>
            <a:pPr lvl="0" indent="0" marL="0">
              <a:buNone/>
            </a:pPr>
          </a:p>
          <a:p>
            <a:pPr lvl="0" indent="0" marL="0">
              <a:buNone/>
            </a:pPr>
            <a:r>
              <a:rPr/>
              <a:t>The model keeps the idea of lesson 4’s first half and triplicates it: one linear score per class, each with its own coefficients. The softmax turns three scores into three probabilities in two moves - exponentiate, so all three are positive; divide by their sum, so they add up to 1. The largest score keeps the largest share. With two classes, subtract z₀ from both scores and the softmax becomes the sigmoid of z₁ − z₀: nothing new, the same model seen from further away.</a:t>
            </a:r>
          </a:p>
          <a:p>
            <a:pPr lvl="0" indent="0" marL="0">
              <a:buNone/>
            </a:pPr>
          </a:p>
          <a:p>
            <a:pPr lvl="0" indent="0" marL="0">
              <a:buNone/>
            </a:pPr>
            <a:r>
              <a:rPr/>
              <a:t>Work the drive on the slide if there is time: e to the 0.615 is 1.85, e to the 0.603 is 1.83, e to the −1.218 is 0.30; the sum is 3.97; dividing gives 0.466, 0.460, 0.074. Healthy wins by 0.006 - and the drive was degraded. That is what “degraded is the hard class” looks like from the inside.</a:t>
            </a:r>
          </a:p>
          <a:p>
            <a:pPr lvl="0" indent="0" marL="0">
              <a:buNone/>
            </a:pPr>
          </a:p>
          <a:p>
            <a:pPr lvl="0" indent="0" marL="0">
              <a:buNone/>
            </a:pPr>
            <a:r>
              <a:rPr/>
              <a:t>The decision is the largest probability, so there is no 0.5 threshold here: notebook 3 counts 33 test drives assigned a class whose probability is below 0.5. The cost generalises to categorical cross-entropy, the same idea as the log loss: the negative log of the probability assigned to what actually happened. Handout section 10.1. Lesson 9 uses the same softmax for ten digits.</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 gave the probabilities; this is where the decisions land.</a:t>
            </a:r>
          </a:p>
          <a:p>
            <a:pPr lvl="0" indent="0" marL="0">
              <a:buNone/>
            </a:pPr>
          </a:p>
          <a:p>
            <a:pPr lvl="0" indent="0" marL="0">
              <a:buNone/>
            </a:pPr>
            <a:r>
              <a:rPr/>
              <a:t>Read the off-diagonal cells rather than the accuracy. Degraded is the hard class, and understandably - it sits between two neighbours that both look like it from a distance: 121 degraded drives were called healthy, 31 failed drives were called degraded.</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 Notebook 3, the three-class model: one bar per class, its F1 from classification_report, and the two averages as lines.</a:t>
            </a:r>
          </a:p>
          <a:p>
            <a:pPr lvl="0" indent="0" marL="0">
              <a:buNone/>
            </a:pPr>
          </a:p>
          <a:p>
            <a:pPr lvl="0" indent="0" marL="0">
              <a:buNone/>
            </a:pPr>
            <a:r>
              <a:rPr/>
              <a:t>Macro treats the three conditions as equally important: (0.947 + 0.545 + 0.629) divided by 3 = 0.707, the dotted line. Weighted multiplies each class by its number of test drives: (1,665 times 0.947 + 259 times 0.545 + 76 times 0.629) divided by 2,000 = 0.883, the dashed line. The healthy class - 1,665 of 2,000, five drives in six - does most of the talking, so the dashed line sits close to the healthy bar.</a:t>
            </a:r>
          </a:p>
          <a:p>
            <a:pPr lvl="0" indent="0" marL="0">
              <a:buNone/>
            </a:pPr>
          </a:p>
          <a:p>
            <a:pPr lvl="0" indent="0" marL="0">
              <a:buNone/>
            </a:pPr>
            <a:r>
              <a:rPr/>
              <a:t>The weights are the support: the number of test drives whose TRUE class is that one, not the number predicted. The gap between the two averages, 0.883 − 0.707 = 0.18, is itself the finding: the small classes are handled much worse than the big one. A question that may come: the weighted average of recall is always the accuracy, 0.889 here, because support times recall is the number of drives of that class classified correctly.</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On the test set, 1,924 of the 2,000 drives are healthy: 1,924 ÷ 2,000 = 96.20% accuracy for a model that does nothing and catches none of the 76 failures.</a:t>
            </a:r>
          </a:p>
          <a:p>
            <a:pPr lvl="0" indent="0" marL="0">
              <a:buNone/>
            </a:pPr>
          </a:p>
          <a:p>
            <a:pPr lvl="0" indent="0" marL="0">
              <a:buNone/>
            </a:pPr>
            <a:r>
              <a:rPr/>
              <a:t>If they remember one thing from today, it should be the reflex to ask “what’s the base rate?” before believing any accuracy figure. Not “accuracy is useless”: against its baseline, the model’s 97.70% does say something. That reflex is worth more than any of the formulas.</a:t>
            </a:r>
          </a:p>
          <a:p>
            <a:pPr lvl="0" indent="0" marL="0">
              <a:buNone/>
            </a:pPr>
          </a:p>
          <a:p>
            <a:pPr lvl="0" indent="0" marL="0">
              <a:buNone/>
            </a:pPr>
            <a:r>
              <a:rPr/>
              <a:t>The second thing: accuracy, precision, recall and F1 all depended on a threshold, and the threshold has an answer - C-FP over C-FP plus C-FN, for honest probabilities - that comes from the business, not from the data. Class weights move the same line at training time.</a:t>
            </a:r>
          </a:p>
          <a:p>
            <a:pPr lvl="0" indent="0" marL="0">
              <a:buNone/>
            </a:pPr>
          </a:p>
          <a:p>
            <a:pPr lvl="0" indent="0" marL="0">
              <a:buNone/>
            </a:pPr>
            <a:r>
              <a:rPr/>
              <a:t>The first bullet is the first half of the lesson in one line: log loss is what maximum likelihood gives, and unlike squared error through the sigmoid it is convex, so gradient descent finds the one minimum.</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6 November.</a:t>
            </a:r>
          </a:p>
          <a:p>
            <a:pPr lvl="0" indent="0" marL="0">
              <a:buNone/>
            </a:pPr>
          </a:p>
          <a:p>
            <a:pPr lvl="0" indent="0" marL="0">
              <a:buNone/>
            </a:pPr>
            <a:r>
              <a:rPr/>
              <a:t>Emphasise which part matters at the exam, where one of the ten exercises is drawn and they talk through their own notebook. The classifier is a few lines and everyone will get it. The paragraph defending the threshold choice is where the learning is, and it is what they will be asked to defend.</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2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2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image" Target="../media/image2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30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a:p>
            <a:pPr lvl="0"/>
            <a:r>
              <a:rPr/>
              <a:t>Answer with a probability: 0 ≤ P(y = 1 | x) ≤ 1</a:t>
            </a:r>
          </a:p>
          <a:p>
            <a:pPr lvl="0"/>
            <a:r>
              <a:rPr/>
              <a:t>y = 1 if the drive failed, y = 0 if not; x holds its six counters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Reallocated sectors, spin retries, read and seek error rates, temperature, hours in service</a:t>
            </a:r>
          </a:p>
          <a:p>
            <a:pPr lvl="0"/>
            <a:r>
              <a:rPr/>
              <a:t>Label: did it fail within thirty days?</a:t>
            </a:r>
          </a:p>
          <a:p>
            <a:pPr lvl="0"/>
            <a:r>
              <a:rPr>
                <a:latin typeface="Courier"/>
              </a:rPr>
              <a:t>train_test_split(..., stratify=y)</a:t>
            </a:r>
            <a:r>
              <a:rPr/>
              <a:t>: 6,000 to train, 2,000 to test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306 ÷ 8,000 = 3.8% of the fleet</a:t>
            </a:r>
          </a:p>
          <a:p>
            <a:pPr lvl="0"/>
            <a:r>
              <a:rPr/>
              <a:t>Which means 100% − 3.8% =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log-odds</a:t>
            </a:r>
          </a:p>
        </p:txBody>
      </p:sp>
      <p:sp>
        <p:nvSpPr>
          <p:cNvPr id="3" name="Content Placeholder 2"/>
          <p:cNvSpPr>
            <a:spLocks noGrp="1"/>
          </p:cNvSpPr>
          <p:nvPr>
            <p:ph idx="1"/>
          </p:nvPr>
        </p:nvSpPr>
        <p:spPr>
          <a:xfrm>
            <a:off x="457200" y="1200151"/>
            <a:ext cx="8229600" cy="3394472"/>
          </a:xfrm>
        </p:spPr>
        <p:txBody>
          <a:bodyPr/>
          <a:lstStyle/>
          <a:p>
            <a:pPr lvl="0"/>
            <a:r>
              <a:rPr/>
              <a:t>A line gives any number; a probability, only [0, 1]</a:t>
            </a:r>
          </a:p>
          <a:p>
            <a:pPr lvl="0"/>
            <a:r>
              <a:rPr/>
              <a:t>Odds, p ÷ (1 − p): no ceiling, from 0 to ∞</a:t>
            </a:r>
          </a:p>
          <a:p>
            <a:pPr lvl="0"/>
            <a:r>
              <a:rPr/>
              <a:t>Log of the odds: no floor either, −∞ to +∞</a:t>
            </a:r>
          </a:p>
          <a:p>
            <a:pPr lvl="0"/>
            <a:r>
              <a:rPr/>
              <a:t>p = 0.99: log(0.99 ÷ 0.01) = log 99 = +4.60; p = 0.5: log(0.5 ÷ 0.5) = log 1 = 0</a:t>
            </a:r>
          </a:p>
          <a:p>
            <a:pPr lvl="0"/>
            <a:r>
              <a:rPr/>
              <a:t>Bonus: coefficients multiply the odds (slide 14)</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evidence on three drives</a:t>
            </a:r>
          </a:p>
        </p:txBody>
      </p:sp>
      <p:pic>
        <p:nvPicPr>
          <p:cNvPr descr="evidence_on_the_sigmoid.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Log-odds of p = P(y = 1 | x): a line</a:t>
            </a:r>
          </a:p>
        </p:txBody>
      </p:sp>
      <p:pic>
        <p:nvPicPr>
          <p:cNvPr descr="eq_2e0b8814eb.png" id="0" name="Picture 1"/>
          <p:cNvPicPr>
            <a:picLocks noGrp="1" noChangeAspect="1"/>
          </p:cNvPicPr>
          <p:nvPr/>
        </p:nvPicPr>
        <p:blipFill>
          <a:blip r:embed="rId3"/>
          <a:stretch>
            <a:fillRect/>
          </a:stretch>
        </p:blipFill>
        <p:spPr bwMode="auto">
          <a:xfrm>
            <a:off x="457200" y="2477889"/>
            <a:ext cx="8229600" cy="73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drawn: one neuron</a:t>
            </a:r>
          </a:p>
        </p:txBody>
      </p:sp>
      <p:pic>
        <p:nvPicPr>
          <p:cNvPr descr="logistic_neuron.png" id="0" name="Picture 1"/>
          <p:cNvPicPr>
            <a:picLocks noGrp="1" noChangeAspect="1"/>
          </p:cNvPicPr>
          <p:nvPr/>
        </p:nvPicPr>
        <p:blipFill>
          <a:blip r:embed="rId3"/>
          <a:stretch>
            <a:fillRect/>
          </a:stretch>
        </p:blipFill>
        <p:spPr bwMode="auto">
          <a:xfrm>
            <a:off x="457200" y="1169789"/>
            <a:ext cx="8229600" cy="3352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Standardised (mean 0, SD 1): one SD more of reallocated sectors adds its true coefficient, 1.80 (slide 15), to the log-odds</a:t>
            </a:r>
          </a:p>
          <a:p>
            <a:pPr lvl="0"/>
            <a:r>
              <a:rPr/>
              <a:t>Adding to a log multiplies the </a:t>
            </a:r>
            <a:r>
              <a:rPr b="1"/>
              <a:t>odds</a:t>
            </a:r>
            <a:r>
              <a:rPr/>
              <a:t>: log(odds) + 1.80 = log(odds × 6.05), since exp(1.80) = 6.05</a:t>
            </a:r>
          </a:p>
          <a:p>
            <a:pPr lvl="0"/>
            <a:r>
              <a:rPr/>
              <a:t>So: </a:t>
            </a:r>
            <a:r>
              <a:rPr b="1"/>
              <a:t>six times the odds</a:t>
            </a:r>
            <a:r>
              <a:rPr/>
              <a:t> of failing, slide 10’s teal step</a:t>
            </a:r>
          </a:p>
          <a:p>
            <a:pPr lvl="0"/>
            <a:r>
              <a:rPr/>
              <a:t>In code: </a:t>
            </a:r>
            <a:r>
              <a:rPr>
                <a:latin typeface="Courier"/>
              </a:rPr>
              <a:t>make_pipeline(StandardScaler(), LogisticRegression())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 notebook 1</a:t>
                      </a:r>
                    </a:p>
                  </a:txBody>
                  <a:tcPr/>
                </a:tc>
                <a:tc>
                  <a:txBody>
                    <a:bodyPr/>
                    <a:lstStyle/>
                    <a:p>
                      <a:pPr lvl="0" indent="0" marL="0">
                        <a:buNone/>
                      </a:pPr>
                      <a:r>
                        <a:rPr/>
                        <a:t>Odds ×, exp(Fitted)</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0.46</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1.02</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average drive’s chance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r>
              <a:rPr/>
              <a:t>, the log-odds of a drive average on every counter (all standardised x = 0)</a:t>
            </a:r>
          </a:p>
          <a:p>
            <a:pPr lvl="0"/>
            <a:r>
              <a:rPr/>
              <a:t>σ(−6.09) = 1 ÷ (1 + exp(6.09)) = 1 ÷ 442 = 0.0023: a 0.2% chance</a:t>
            </a:r>
          </a:p>
          <a:p>
            <a:pPr lvl="0"/>
            <a:r>
              <a:rPr/>
              <a:t>The fleet fails at 3.8% (slide 6): the failures come from the few drives far above average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each drive gets a 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What happened</a:t>
                      </a:r>
                    </a:p>
                  </a:txBody>
                  <a:tcPr/>
                </a:tc>
                <a:tc>
                  <a:txBody>
                    <a:bodyPr/>
                    <a:lstStyle/>
                    <a:p>
                      <a:pPr lvl="0" indent="0" marL="0">
                        <a:buNone/>
                      </a:pPr>
                      <a:r>
                        <a:rPr/>
                        <a:t>y</a:t>
                      </a:r>
                    </a:p>
                  </a:txBody>
                  <a:tcPr/>
                </a:tc>
                <a:tc>
                  <a:txBody>
                    <a:bodyPr/>
                    <a:lstStyle/>
                    <a:p>
                      <a:pPr lvl="0" indent="0" marL="0">
                        <a:buNone/>
                      </a:pPr>
                      <a:r>
                        <a:rPr/>
                        <a:t>Setting 1: p = σ(wᵀx + b), the P(fail)</a:t>
                      </a:r>
                    </a:p>
                  </a:txBody>
                  <a:tcPr/>
                </a:tc>
              </a:tr>
              <a:tr h="0">
                <a:tc>
                  <a:txBody>
                    <a:bodyPr/>
                    <a:lstStyle/>
                    <a:p>
                      <a:pPr lvl="0" indent="0" marL="0">
                        <a:buNone/>
                      </a:pPr>
                      <a:r>
                        <a:rPr/>
                        <a:t>A</a:t>
                      </a:r>
                    </a:p>
                  </a:txBody>
                </a:tc>
                <a:tc>
                  <a:txBody>
                    <a:bodyPr/>
                    <a:lstStyle/>
                    <a:p>
                      <a:pPr lvl="0" indent="0" marL="0">
                        <a:buNone/>
                      </a:pPr>
                      <a:r>
                        <a:rPr/>
                        <a:t>failed</a:t>
                      </a:r>
                    </a:p>
                  </a:txBody>
                </a:tc>
                <a:tc>
                  <a:txBody>
                    <a:bodyPr/>
                    <a:lstStyle/>
                    <a:p>
                      <a:pPr lvl="0" indent="0" marL="0">
                        <a:buNone/>
                      </a:pPr>
                      <a:r>
                        <a:rPr/>
                        <a:t>1</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0.1</a:t>
                      </a:r>
                    </a:p>
                  </a:txBody>
                </a:tc>
              </a:tr>
              <a:tr h="0">
                <a:tc>
                  <a:txBody>
                    <a:bodyPr/>
                    <a:lstStyle/>
                    <a:p>
                      <a:pPr lvl="0" indent="0" marL="0">
                        <a:buNone/>
                      </a:pPr>
                      <a:r>
                        <a:rPr/>
                        <a:t>C</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0.2</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how likely was the outcome?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p</a:t>
                      </a:r>
                    </a:p>
                  </a:txBody>
                  <a:tcPr/>
                </a:tc>
                <a:tc>
                  <a:txBody>
                    <a:bodyPr/>
                    <a:lstStyle/>
                    <a:p>
                      <a:pPr lvl="0" indent="0" marL="0">
                        <a:buNone/>
                      </a:pPr>
                      <a:r>
                        <a:rPr/>
                        <a:t>Probability of what happened: p if y = 1, 1 - p if y = 0</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r>
              <a:tr h="0">
                <a:tc>
                  <a:txBody>
                    <a:bodyPr/>
                    <a:lstStyle/>
                    <a:p>
                      <a:pPr lvl="0" indent="0" marL="0">
                        <a:buNone/>
                      </a:pPr>
                      <a:r>
                        <a:rPr/>
                        <a:t>All three together, if the drives are independent: multiply, as for two coins (½ × ½ = ¼)</a:t>
                      </a:r>
                    </a:p>
                  </a:txBody>
                </a:tc>
                <a:tc>
                  <a:txBody>
                    <a:bodyPr/>
                    <a:lstStyle/>
                    <a:p>
                      <a:endParaRPr/>
                    </a:p>
                  </a:txBody>
                </a:tc>
                <a:tc>
                  <a:txBody>
                    <a:bodyPr/>
                    <a:lstStyle/>
                    <a:p>
                      <a:endParaRPr/>
                    </a:p>
                  </a:txBody>
                </a:tc>
                <a:tc>
                  <a:txBody>
                    <a:bodyPr/>
                    <a:lstStyle/>
                    <a:p>
                      <a:pPr lvl="0" indent="0" marL="0">
                        <a:buNone/>
                      </a:pPr>
                      <a:r>
                        <a:rPr/>
                        <a:t>0.8 × 0.9 × 0.8 = </a:t>
                      </a:r>
                      <a:r>
                        <a:rPr b="1"/>
                        <a:t>0.576</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as formulas: one drive, then the likelihood</a:t>
            </a:r>
          </a:p>
        </p:txBody>
      </p:sp>
      <p:pic>
        <p:nvPicPr>
          <p:cNvPr descr="eq_4374b8da02.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3: two settings, the likelier wins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p</a:t>
                      </a:r>
                    </a:p>
                  </a:txBody>
                  <a:tcPr/>
                </a:tc>
                <a:tc>
                  <a:txBody>
                    <a:bodyPr/>
                    <a:lstStyle/>
                    <a:p>
                      <a:pPr lvl="0" indent="0" marL="0">
                        <a:buNone/>
                      </a:pPr>
                      <a:r>
                        <a:rPr/>
                        <a:t>Setting 1: probability of what happened</a:t>
                      </a:r>
                    </a:p>
                  </a:txBody>
                  <a:tcPr/>
                </a:tc>
                <a:tc>
                  <a:txBody>
                    <a:bodyPr/>
                    <a:lstStyle/>
                    <a:p>
                      <a:pPr lvl="0" indent="0" marL="0">
                        <a:buNone/>
                      </a:pPr>
                      <a:r>
                        <a:rPr/>
                        <a:t>Setting 2: p</a:t>
                      </a:r>
                    </a:p>
                  </a:txBody>
                  <a:tcPr/>
                </a:tc>
                <a:tc>
                  <a:txBody>
                    <a:bodyPr/>
                    <a:lstStyle/>
                    <a:p>
                      <a:pPr lvl="0" indent="0" marL="0">
                        <a:buNone/>
                      </a:pPr>
                      <a:r>
                        <a:rPr/>
                        <a:t>Setting 2: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c>
                  <a:txBody>
                    <a:bodyPr/>
                    <a:lstStyle/>
                    <a:p>
                      <a:pPr lvl="0" indent="0" marL="0">
                        <a:buNone/>
                      </a:pPr>
                      <a:r>
                        <a:rPr/>
                        <a:t>0.3</a:t>
                      </a:r>
                    </a:p>
                  </a:txBody>
                </a:tc>
                <a:tc>
                  <a:txBody>
                    <a:bodyPr/>
                    <a:lstStyle/>
                    <a:p>
                      <a:pPr lvl="0" indent="0" marL="0">
                        <a:buNone/>
                      </a:pPr>
                      <a:r>
                        <a:rPr/>
                        <a:t>0.3</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c>
                  <a:txBody>
                    <a:bodyPr/>
                    <a:lstStyle/>
                    <a:p>
                      <a:pPr lvl="0" indent="0" marL="0">
                        <a:buNone/>
                      </a:pPr>
                      <a:r>
                        <a:rPr/>
                        <a:t>0.6</a:t>
                      </a:r>
                    </a:p>
                  </a:txBody>
                </a:tc>
                <a:tc>
                  <a:txBody>
                    <a:bodyPr/>
                    <a:lstStyle/>
                    <a:p>
                      <a:pPr lvl="0" indent="0" marL="0">
                        <a:buNone/>
                      </a:pPr>
                      <a:r>
                        <a:rPr/>
                        <a:t>1 − 0.6 = 0.4</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c>
                  <a:txBody>
                    <a:bodyPr/>
                    <a:lstStyle/>
                    <a:p>
                      <a:pPr lvl="0" indent="0" marL="0">
                        <a:buNone/>
                      </a:pPr>
                      <a:r>
                        <a:rPr/>
                        <a:t>0.5</a:t>
                      </a:r>
                    </a:p>
                  </a:txBody>
                </a:tc>
                <a:tc>
                  <a:txBody>
                    <a:bodyPr/>
                    <a:lstStyle/>
                    <a:p>
                      <a:pPr lvl="0" indent="0" marL="0">
                        <a:buNone/>
                      </a:pPr>
                      <a:r>
                        <a:rPr/>
                        <a:t>1 − 0.5 = 0.5</a:t>
                      </a:r>
                    </a:p>
                  </a:txBody>
                </a:tc>
              </a:tr>
              <a:tr h="0">
                <a:tc>
                  <a:txBody>
                    <a:bodyPr/>
                    <a:lstStyle/>
                    <a:p>
                      <a:pPr lvl="0" indent="0" marL="0">
                        <a:buNone/>
                      </a:pPr>
                      <a:r>
                        <a:rPr/>
                        <a:t>Likelihood: the product</a:t>
                      </a:r>
                    </a:p>
                  </a:txBody>
                </a:tc>
                <a:tc>
                  <a:txBody>
                    <a:bodyPr/>
                    <a:lstStyle/>
                    <a:p>
                      <a:endParaRPr/>
                    </a:p>
                  </a:txBody>
                </a:tc>
                <a:tc>
                  <a:txBody>
                    <a:bodyPr/>
                    <a:lstStyle/>
                    <a:p>
                      <a:endParaRPr/>
                    </a:p>
                  </a:txBody>
                </a:tc>
                <a:tc>
                  <a:txBody>
                    <a:bodyPr/>
                    <a:lstStyle/>
                    <a:p>
                      <a:pPr lvl="0" indent="0" marL="0">
                        <a:buNone/>
                      </a:pPr>
                      <a:r>
                        <a:rPr/>
                        <a:t>0.8 × 0.9 × 0.8 = </a:t>
                      </a:r>
                      <a:r>
                        <a:rPr b="1"/>
                        <a:t>0.576</a:t>
                      </a:r>
                    </a:p>
                  </a:txBody>
                </a:tc>
                <a:tc>
                  <a:txBody>
                    <a:bodyPr/>
                    <a:lstStyle/>
                    <a:p>
                      <a:endParaRPr/>
                    </a:p>
                  </a:txBody>
                </a:tc>
                <a:tc>
                  <a:txBody>
                    <a:bodyPr/>
                    <a:lstStyle/>
                    <a:p>
                      <a:pPr lvl="0" indent="0" marL="0">
                        <a:buNone/>
                      </a:pPr>
                      <a:r>
                        <a:rPr/>
                        <a:t>0.3 × 0.4 × 0.5 = </a:t>
                      </a:r>
                      <a:r>
                        <a:rPr b="1"/>
                        <a:t>0.060</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minus the log, a cost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−log of probability of what happened</a:t>
                      </a:r>
                    </a:p>
                  </a:txBody>
                  <a:tcPr/>
                </a:tc>
                <a:tc>
                  <a:txBody>
                    <a:bodyPr/>
                    <a:lstStyle/>
                    <a:p>
                      <a:pPr lvl="0" indent="0" marL="0">
                        <a:buNone/>
                      </a:pPr>
                      <a:r>
                        <a:rPr/>
                        <a:t>Setting 2: −log of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−log 0.8 = 0.22</a:t>
                      </a:r>
                    </a:p>
                  </a:txBody>
                </a:tc>
                <a:tc>
                  <a:txBody>
                    <a:bodyPr/>
                    <a:lstStyle/>
                    <a:p>
                      <a:pPr lvl="0" indent="0" marL="0">
                        <a:buNone/>
                      </a:pPr>
                      <a:r>
                        <a:rPr/>
                        <a:t>−log 0.3 = 1.20</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−log 0.9 = 0.11</a:t>
                      </a:r>
                    </a:p>
                  </a:txBody>
                </a:tc>
                <a:tc>
                  <a:txBody>
                    <a:bodyPr/>
                    <a:lstStyle/>
                    <a:p>
                      <a:pPr lvl="0" indent="0" marL="0">
                        <a:buNone/>
                      </a:pPr>
                      <a:r>
                        <a:rPr/>
                        <a:t>−log 0.4 = 0.92</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−log 0.8 = 0.22</a:t>
                      </a:r>
                    </a:p>
                  </a:txBody>
                </a:tc>
                <a:tc>
                  <a:txBody>
                    <a:bodyPr/>
                    <a:lstStyle/>
                    <a:p>
                      <a:pPr lvl="0" indent="0" marL="0">
                        <a:buNone/>
                      </a:pPr>
                      <a:r>
                        <a:rPr/>
                        <a:t>−log 0.5 = 0.69</a:t>
                      </a:r>
                    </a:p>
                  </a:txBody>
                </a:tc>
              </a:tr>
              <a:tr h="0">
                <a:tc>
                  <a:txBody>
                    <a:bodyPr/>
                    <a:lstStyle/>
                    <a:p>
                      <a:pPr lvl="0" indent="0" marL="0">
                        <a:buNone/>
                      </a:pPr>
                      <a:r>
                        <a:rPr/>
                        <a:t>Sum = −log of the likelihood</a:t>
                      </a:r>
                    </a:p>
                  </a:txBody>
                </a:tc>
                <a:tc>
                  <a:txBody>
                    <a:bodyPr/>
                    <a:lstStyle/>
                    <a:p>
                      <a:endParaRPr/>
                    </a:p>
                  </a:txBody>
                </a:tc>
                <a:tc>
                  <a:txBody>
                    <a:bodyPr/>
                    <a:lstStyle/>
                    <a:p>
                      <a:pPr lvl="0" indent="0" marL="0">
                        <a:buNone/>
                      </a:pPr>
                      <a:r>
                        <a:rPr/>
                        <a:t>0.22 + 0.11 + 0.22 = </a:t>
                      </a:r>
                      <a:r>
                        <a:rPr b="1"/>
                        <a:t>0.55</a:t>
                      </a:r>
                    </a:p>
                  </a:txBody>
                </a:tc>
                <a:tc>
                  <a:txBody>
                    <a:bodyPr/>
                    <a:lstStyle/>
                    <a:p>
                      <a:pPr lvl="0" indent="0" marL="0">
                        <a:buNone/>
                      </a:pPr>
                      <a:r>
                        <a:rPr/>
                        <a:t>1.20 + 0.92 + 0.69 = </a:t>
                      </a:r>
                      <a:r>
                        <a:rPr b="1"/>
                        <a:t>2.81</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Surprise: minus the log of a probability</a:t>
            </a:r>
          </a:p>
        </p:txBody>
      </p:sp>
      <p:pic>
        <p:nvPicPr>
          <p:cNvPr descr="surprise_curve.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de37afc79.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Lesson 3’s gradient, ŷ = σ(wᵀx + b)</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a:p>
            <a:pPr lvl="0"/>
            <a:r>
              <a:rPr/>
              <a:t>Why not, from slide 26: its slope falls from 0, then climbs back to 0; a convex curve’s slope only grows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 of a two-counter model</a:t>
            </a:r>
          </a:p>
        </p:txBody>
      </p:sp>
      <p:pic>
        <p:nvPicPr>
          <p:cNvPr descr="decision_boundary.png" id="0" name="Picture 1"/>
          <p:cNvPicPr>
            <a:picLocks noGrp="1" noChangeAspect="1"/>
          </p:cNvPicPr>
          <p:nvPr/>
        </p:nvPicPr>
        <p:blipFill>
          <a:blip r:embed="rId3"/>
          <a:stretch>
            <a:fillRect/>
          </a:stretch>
        </p:blipFill>
        <p:spPr bwMode="auto">
          <a:xfrm>
            <a:off x="1841066" y="1166099"/>
            <a:ext cx="5461867" cy="3360181"/>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line on a 0/1 label, 7</a:t>
                      </a:r>
                    </a:p>
                  </a:txBody>
                </a:tc>
                <a:tc>
                  <a:txBody>
                    <a:bodyPr/>
                    <a:lstStyle/>
                    <a:p>
                      <a:pPr lvl="0" indent="0" marL="0">
                        <a:buNone/>
                      </a:pPr>
                      <a:r>
                        <a:rPr>
                          <a:latin typeface="Courier"/>
                        </a:rPr>
                        <a:t>LinearRegression</a:t>
                      </a:r>
                      <a:r>
                        <a:rPr/>
                        <a:t> → 3,606 negative probabilities</a:t>
                      </a:r>
                    </a:p>
                  </a:txBody>
                </a:tc>
              </a:tr>
              <a:tr h="0">
                <a:tc>
                  <a:txBody>
                    <a:bodyPr/>
                    <a:lstStyle/>
                    <a:p>
                      <a:pPr lvl="0" indent="0" marL="0">
                        <a:buNone/>
                      </a:pPr>
                      <a:r>
                        <a:rPr/>
                        <a:t>odds, and why not squared error, 8-27</a:t>
                      </a:r>
                    </a:p>
                  </a:txBody>
                </a:tc>
                <a:tc>
                  <a:txBody>
                    <a:bodyPr/>
                    <a:lstStyle/>
                    <a:p>
                      <a:pPr lvl="0" indent="0" marL="0">
                        <a:buNone/>
                      </a:pPr>
                      <a:r>
                        <a:rPr/>
                        <a:t>NumPy only: the sigmoid, the two losses, their gradients</a:t>
                      </a:r>
                    </a:p>
                  </a:txBody>
                </a:tc>
              </a:tr>
              <a:tr h="0">
                <a:tc>
                  <a:txBody>
                    <a:bodyPr/>
                    <a:lstStyle/>
                    <a:p>
                      <a:pPr lvl="0" indent="0" marL="0">
                        <a:buNone/>
                      </a:pPr>
                      <a:r>
                        <a:rPr/>
                        <a:t>gradient descent, 25</a:t>
                      </a:r>
                    </a:p>
                  </a:txBody>
                </a:tc>
                <a:tc>
                  <a:txBody>
                    <a:bodyPr/>
                    <a:lstStyle/>
                    <a:p>
                      <a:pPr lvl="0" indent="0" marL="0">
                        <a:buNone/>
                      </a:pPr>
                      <a:r>
                        <a:rPr>
                          <a:latin typeface="Courier"/>
                        </a:rPr>
                        <a:t>train_test_split</a:t>
                      </a:r>
                      <a:r>
                        <a:rPr/>
                        <a:t>, </a:t>
                      </a:r>
                      <a:r>
                        <a:rPr>
                          <a:latin typeface="Courier"/>
                        </a:rPr>
                        <a:t>StandardScaler</a:t>
                      </a:r>
                      <a:r>
                        <a:rPr/>
                        <a:t>, fifteen lines of NumPy → log loss 0.6931 to 0.0692</a:t>
                      </a:r>
                    </a:p>
                  </a:txBody>
                </a:tc>
              </a:tr>
              <a:tr h="0">
                <a:tc>
                  <a:txBody>
                    <a:bodyPr/>
                    <a:lstStyle/>
                    <a:p>
                      <a:pPr lvl="0" indent="0" marL="0">
                        <a:buNone/>
                      </a:pPr>
                      <a:r>
                        <a:rPr/>
                        <a:t>the decision boundary, 28</a:t>
                      </a:r>
                    </a:p>
                  </a:txBody>
                </a:tc>
                <a:tc>
                  <a:txBody>
                    <a:bodyPr/>
                    <a:lstStyle/>
                    <a:p>
                      <a:pPr lvl="0" indent="0" marL="0">
                        <a:buNone/>
                      </a:pPr>
                      <a:r>
                        <a:rPr>
                          <a:latin typeface="Courier"/>
                        </a:rPr>
                        <a:t>make_pipeline(StandardScaler(), LogisticRegression())</a:t>
                      </a:r>
                      <a:r>
                        <a:rPr/>
                        <a:t> on two features</a:t>
                      </a:r>
                    </a:p>
                  </a:txBody>
                </a:tc>
              </a:tr>
              <a:tr h="0">
                <a:tc>
                  <a:txBody>
                    <a:bodyPr/>
                    <a:lstStyle/>
                    <a:p>
                      <a:pPr lvl="0" indent="0" marL="0">
                        <a:buNone/>
                      </a:pPr>
                      <a:r>
                        <a:rPr/>
                        <a:t>the truth, recovered, 15-16</a:t>
                      </a:r>
                    </a:p>
                  </a:txBody>
                </a:tc>
                <a:tc>
                  <a:txBody>
                    <a:bodyPr/>
                    <a:lstStyle/>
                    <a:p>
                      <a:pPr lvl="0" indent="0" marL="0">
                        <a:buNone/>
                      </a:pPr>
                      <a:r>
                        <a:rPr>
                          <a:latin typeface="Courier"/>
                        </a:rPr>
                        <a:t>LogisticRegression</a:t>
                      </a:r>
                      <a:r>
                        <a:rPr/>
                        <a:t>, </a:t>
                      </a:r>
                      <a:r>
                        <a:rPr>
                          <a:latin typeface="Courier"/>
                        </a:rPr>
                        <a:t>.coef_</a:t>
                      </a:r>
                      <a:r>
                        <a:rPr/>
                        <a:t>, </a:t>
                      </a:r>
                      <a:r>
                        <a:rPr>
                          <a:latin typeface="Courier"/>
                        </a:rPr>
                        <a:t>.intercept_</a:t>
                      </a:r>
                      <a:r>
                        <a:rPr/>
                        <a:t> → seek_error_rate 0.02, intercept −6.09</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 on the 2,000 test drives (76 fail)</a:t>
                      </a:r>
                    </a:p>
                  </a:txBody>
                  <a:tcPr/>
                </a:tc>
                <a:tc>
                  <a:txBody>
                    <a:bodyPr/>
                    <a:lstStyle/>
                    <a:p>
                      <a:pPr lvl="0" indent="0" marL="0">
                        <a:buNone/>
                      </a:pPr>
                      <a:r>
                        <a:rPr/>
                        <a:t>Accuracy = right ÷ 2,000</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a:t>every healthy drive: 1,924 ÷ 2,000 = </a:t>
                      </a: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43 failures + 1,911 healthy: 1,954 ÷ 2,000 = 97.70%</a:t>
                      </a:r>
                    </a:p>
                  </a:txBody>
                </a:tc>
                <a:tc>
                  <a:txBody>
                    <a:bodyPr/>
                    <a:lstStyle/>
                    <a:p>
                      <a:pPr lvl="0" indent="0" marL="0">
                        <a:buNone/>
                      </a:pPr>
                      <a:r>
                        <a:rPr/>
                        <a:t>43 of 76</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whose two errors cost the same, that is exactly what you want</a:t>
            </a:r>
          </a:p>
          <a:p>
            <a:pPr lvl="0"/>
            <a:r>
              <a:rPr/>
              <a:t>The interesting class is almost always the </a:t>
            </a:r>
            <a:r>
              <a:rPr b="1"/>
              <a:t>rare</a:t>
            </a:r>
            <a:r>
              <a:rPr/>
              <a:t> one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a:p>
            <a:pPr lvl="0"/>
            <a:r>
              <a:rPr/>
              <a:t>Both costs are assumptions supplied from outside the data, not measured</a:t>
            </a:r>
          </a:p>
          <a:p>
            <a:pPr lvl="0"/>
            <a:r>
              <a:rPr/>
              <a:t>A correct decision counts as €0: each cost is what the error adds over the right call</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True and false positives and negatives: TP, FP, FN, TN</a:t>
            </a:r>
          </a:p>
          <a:p>
            <a:pPr lvl="0"/>
            <a:r>
              <a:rPr/>
              <a:t>Precision = TP ÷ (TP + FP) = 43 ÷ (43 + 13) = </a:t>
            </a:r>
            <a:r>
              <a:rPr b="1"/>
              <a:t>0.768</a:t>
            </a:r>
            <a:r>
              <a:rPr/>
              <a:t>: of the drives flagged</a:t>
            </a:r>
          </a:p>
          <a:p>
            <a:pPr lvl="0"/>
            <a:r>
              <a:rPr/>
              <a:t>Recall = TP ÷ (TP + FN) = 43 ÷ (43 + 33) = </a:t>
            </a:r>
            <a:r>
              <a:rPr b="1"/>
              <a:t>0.566</a:t>
            </a:r>
            <a:r>
              <a:rPr/>
              <a:t>: of the drives that failed</a:t>
            </a:r>
          </a:p>
          <a:p>
            <a:pPr lvl="0"/>
            <a:r>
              <a:rPr/>
              <a:t>Specificity = TN ÷ (TN + FP) = 1,911 ÷ 1,924 = 0.993; 1 − 0.993 is the false positive rate (FPR)</a:t>
            </a:r>
          </a:p>
          <a:p>
            <a:pPr lvl="0"/>
            <a:r>
              <a:rPr/>
              <a:t>In code: </a:t>
            </a:r>
            <a:r>
              <a:rPr>
                <a:latin typeface="Courier"/>
              </a:rPr>
              <a:t>precision_score</a:t>
            </a:r>
            <a:r>
              <a:rPr/>
              <a:t>, </a:t>
            </a:r>
            <a:r>
              <a:rPr>
                <a:latin typeface="Courier"/>
              </a:rPr>
              <a:t>recall_score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pic>
        <p:nvPicPr>
          <p:cNvPr descr="harmonic_vs_arithmetic.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t>F1 per class: healthy 0.988 (1,924 drives), failed 0.652 (76 drives)</a:t>
            </a:r>
          </a:p>
          <a:p>
            <a:pPr lvl="0"/>
            <a:r>
              <a:rPr>
                <a:latin typeface="Courier"/>
              </a:rPr>
              <a:t>macro avg</a:t>
            </a:r>
            <a:r>
              <a:rPr/>
              <a:t> F1 = (0.988 + 0.652) ÷ 2 = </a:t>
            </a:r>
            <a:r>
              <a:rPr b="1"/>
              <a:t>0.820</a:t>
            </a:r>
            <a:r>
              <a:rPr/>
              <a:t>: both classes count the same</a:t>
            </a:r>
          </a:p>
          <a:p>
            <a:pPr lvl="0"/>
            <a:r>
              <a:rPr>
                <a:latin typeface="Courier"/>
              </a:rPr>
              <a:t>weighted avg</a:t>
            </a:r>
            <a:r>
              <a:rPr/>
              <a:t> F1 = (1,924 × 0.988 + 76 × 0.652) ÷ 2,000 = </a:t>
            </a:r>
            <a:r>
              <a:rPr b="1"/>
              <a:t>0.975</a:t>
            </a:r>
            <a:r>
              <a:rPr/>
              <a:t>: the healthy class dominates</a:t>
            </a:r>
          </a:p>
          <a:p>
            <a:pPr lvl="0"/>
            <a:r>
              <a:rPr/>
              <a:t>In code: </a:t>
            </a:r>
            <a:r>
              <a:rPr>
                <a:latin typeface="Courier"/>
              </a:rPr>
              <a:t>classification_report(y_test, y_pred)</a:t>
            </a:r>
            <a:r>
              <a:rPr/>
              <a:t> prints both rows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number that should worry you, 31</a:t>
                      </a:r>
                    </a:p>
                  </a:txBody>
                </a:tc>
                <a:tc>
                  <a:txBody>
                    <a:bodyPr/>
                    <a:lstStyle/>
                    <a:p>
                      <a:pPr lvl="0" indent="0" marL="0">
                        <a:buNone/>
                      </a:pPr>
                      <a:r>
                        <a:rPr>
                          <a:latin typeface="Courier"/>
                        </a:rPr>
                        <a:t>accuracy_score</a:t>
                      </a:r>
                      <a:r>
                        <a:rPr/>
                        <a:t> → 96.20% for “always healthy”</a:t>
                      </a:r>
                    </a:p>
                  </a:txBody>
                </a:tc>
              </a:tr>
              <a:tr h="0">
                <a:tc>
                  <a:txBody>
                    <a:bodyPr/>
                    <a:lstStyle/>
                    <a:p>
                      <a:pPr lvl="0" indent="0" marL="0">
                        <a:buNone/>
                      </a:pPr>
                      <a:r>
                        <a:rPr/>
                        <a:t>the confusion matrix, 33</a:t>
                      </a:r>
                    </a:p>
                  </a:txBody>
                </a:tc>
                <a:tc>
                  <a:txBody>
                    <a:bodyPr/>
                    <a:lstStyle/>
                    <a:p>
                      <a:pPr lvl="0" indent="0" marL="0">
                        <a:buNone/>
                      </a:pPr>
                      <a:r>
                        <a:rPr/>
                        <a:t>counts by hand, then </a:t>
                      </a:r>
                      <a:r>
                        <a:rPr>
                          <a:latin typeface="Courier"/>
                        </a:rPr>
                        <a:t>confusion_matrix</a:t>
                      </a:r>
                      <a:r>
                        <a:rPr/>
                        <a:t>, </a:t>
                      </a:r>
                      <a:r>
                        <a:rPr>
                          <a:latin typeface="Courier"/>
                        </a:rPr>
                        <a:t>ConfusionMatrixDisplay</a:t>
                      </a:r>
                      <a:r>
                        <a:rPr/>
                        <a:t> → TP 43</a:t>
                      </a:r>
                    </a:p>
                  </a:txBody>
                </a:tc>
              </a:tr>
              <a:tr h="0">
                <a:tc>
                  <a:txBody>
                    <a:bodyPr/>
                    <a:lstStyle/>
                    <a:p>
                      <a:pPr lvl="0" indent="0" marL="0">
                        <a:buNone/>
                      </a:pPr>
                      <a:r>
                        <a:rPr/>
                        <a:t>precision and recall, 35-38</a:t>
                      </a:r>
                    </a:p>
                  </a:txBody>
                </a:tc>
                <a:tc>
                  <a:txBody>
                    <a:bodyPr/>
                    <a:lstStyle/>
                    <a:p>
                      <a:pPr lvl="0" indent="0" marL="0">
                        <a:buNone/>
                      </a:pPr>
                      <a:r>
                        <a:rPr>
                          <a:latin typeface="Courier"/>
                        </a:rPr>
                        <a:t>precision_score</a:t>
                      </a:r>
                      <a:r>
                        <a:rPr/>
                        <a:t>, </a:t>
                      </a:r>
                      <a:r>
                        <a:rPr>
                          <a:latin typeface="Courier"/>
                        </a:rPr>
                        <a:t>recall_score</a:t>
                      </a:r>
                      <a:r>
                        <a:rPr/>
                        <a:t>, </a:t>
                      </a:r>
                      <a:r>
                        <a:rPr>
                          <a:latin typeface="Courier"/>
                        </a:rPr>
                        <a:t>f1_score</a:t>
                      </a:r>
                      <a:r>
                        <a:rPr/>
                        <a:t>, </a:t>
                      </a:r>
                      <a:r>
                        <a:rPr>
                          <a:latin typeface="Courier"/>
                        </a:rPr>
                        <a:t>classification_report</a:t>
                      </a:r>
                    </a:p>
                  </a:txBody>
                </a:tc>
              </a:tr>
              <a:tr h="0">
                <a:tc>
                  <a:txBody>
                    <a:bodyPr/>
                    <a:lstStyle/>
                    <a:p>
                      <a:pPr lvl="0" indent="0" marL="0">
                        <a:buNone/>
                      </a:pPr>
                      <a:r>
                        <a:rPr/>
                        <a:t>the threshold sweep, 40-41</a:t>
                      </a:r>
                    </a:p>
                  </a:txBody>
                </a:tc>
                <a:tc>
                  <a:txBody>
                    <a:bodyPr/>
                    <a:lstStyle/>
                    <a:p>
                      <a:pPr lvl="0" indent="0" marL="0">
                        <a:buNone/>
                      </a:pPr>
                      <a:r>
                        <a:rPr>
                          <a:latin typeface="Courier"/>
                        </a:rPr>
                        <a:t>predict_proba</a:t>
                      </a:r>
                      <a:r>
                        <a:rPr/>
                        <a:t>, then the metrics at each threshold</a:t>
                      </a:r>
                    </a:p>
                  </a:txBody>
                </a:tc>
              </a:tr>
              <a:tr h="0">
                <a:tc>
                  <a:txBody>
                    <a:bodyPr/>
                    <a:lstStyle/>
                    <a:p>
                      <a:pPr lvl="0" indent="0" marL="0">
                        <a:buNone/>
                      </a:pPr>
                      <a:r>
                        <a:rPr/>
                        <a:t>the precision-recall curve, 42</a:t>
                      </a:r>
                    </a:p>
                  </a:txBody>
                </a:tc>
                <a:tc>
                  <a:txBody>
                    <a:bodyPr/>
                    <a:lstStyle/>
                    <a:p>
                      <a:pPr lvl="0" indent="0" marL="0">
                        <a:buNone/>
                      </a:pPr>
                      <a:r>
                        <a:rPr>
                          <a:latin typeface="Courier"/>
                        </a:rPr>
                        <a:t>precision_recall_curve</a:t>
                      </a:r>
                      <a:r>
                        <a:rPr/>
                        <a:t>, </a:t>
                      </a:r>
                      <a:r>
                        <a:rPr>
                          <a:latin typeface="Courier"/>
                        </a:rPr>
                        <a:t>average_precision_score</a:t>
                      </a:r>
                      <a:r>
                        <a:rPr/>
                        <a:t> → 0.717 against 0.038</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pic>
        <p:nvPicPr>
          <p:cNvPr descr="sweep_outcomes.png" id="0" name="Picture 1"/>
          <p:cNvPicPr>
            <a:picLocks noGrp="1" noChangeAspect="1"/>
          </p:cNvPicPr>
          <p:nvPr/>
        </p:nvPicPr>
        <p:blipFill>
          <a:blip r:embed="rId3"/>
          <a:stretch>
            <a:fillRect/>
          </a:stretch>
        </p:blipFill>
        <p:spPr bwMode="auto">
          <a:xfrm>
            <a:off x="1023045" y="1166099"/>
            <a:ext cx="7097910"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The </a:t>
            </a:r>
            <a:r>
              <a:rPr b="1"/>
              <a:t>ranking</a:t>
            </a:r>
            <a:r>
              <a:rPr/>
              <a:t>: the 2,000 test drives sorted by predicted probability, riskiest first</a:t>
            </a:r>
          </a:p>
          <a:p>
            <a:pPr lvl="0"/>
            <a:r>
              <a:rPr/>
              <a:t>A threshold is a cut in this list: every drive above the cut is flagged</a:t>
            </a:r>
          </a:p>
          <a:p>
            <a:pPr lvl="0"/>
            <a:r>
              <a:rPr/>
              <a:t>What if we score the whole ranking, every cut at once?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Area under the curve (AUC) = the probability that a random failing drive scores above a random healthy one</a:t>
            </a:r>
          </a:p>
          <a:p>
            <a:pPr lvl="0"/>
            <a:r>
              <a:rPr/>
              <a:t>Ours: 0.949 (</a:t>
            </a:r>
            <a:r>
              <a:rPr>
                <a:latin typeface="Courier"/>
              </a:rPr>
              <a:t>roc_auc_score</a:t>
            </a:r>
            <a:r>
              <a:rPr/>
              <a:t>, notebook 3)</a:t>
            </a:r>
          </a:p>
          <a:p>
            <a:pPr lvl="0"/>
            <a:r>
              <a:rPr/>
              <a:t>Check: in 200,000 random pairs, the failing drive scores higher 94.9% of the time</a:t>
            </a:r>
          </a:p>
          <a:p>
            <a:pPr lvl="0"/>
            <a:r>
              <a:rPr/>
              <a:t>In code: </a:t>
            </a:r>
            <a:r>
              <a:rPr>
                <a:latin typeface="Courier"/>
              </a:rPr>
              <a:t>roc_auc_score(y_test, scores)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scores behind the AUC</a:t>
            </a:r>
          </a:p>
        </p:txBody>
      </p:sp>
      <p:pic>
        <p:nvPicPr>
          <p:cNvPr descr="score_distributions.png" id="0" name="Picture 1"/>
          <p:cNvPicPr>
            <a:picLocks noGrp="1" noChangeAspect="1"/>
          </p:cNvPicPr>
          <p:nvPr/>
        </p:nvPicPr>
        <p:blipFill>
          <a:blip r:embed="rId3"/>
          <a:stretch>
            <a:fillRect/>
          </a:stretch>
        </p:blipFill>
        <p:spPr bwMode="auto">
          <a:xfrm>
            <a:off x="1130017" y="1166099"/>
            <a:ext cx="6883966"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0.949: the order of the drives is the same</a:t>
            </a:r>
          </a:p>
          <a:p>
            <a:pPr lvl="0"/>
            <a:r>
              <a:rPr/>
              <a:t>Every decision changes: at threshold 0.5, 56 drives flagged before, none after (notebook 3)</a:t>
            </a:r>
          </a:p>
          <a:p>
            <a:pPr lvl="0"/>
            <a:r>
              <a:rPr/>
              <a:t>The model is now badly </a:t>
            </a:r>
            <a:r>
              <a:rPr b="1"/>
              <a:t>calibrated</a:t>
            </a:r>
            <a:r>
              <a:rPr/>
              <a:t>: calibrated means a predicted 0.7 comes true about 70% of the time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False positive rate (FPR) = FP ÷ (FP + TN) divides by </a:t>
            </a:r>
            <a:r>
              <a:rPr b="1"/>
              <a:t>all 57,575 healthy drives</a:t>
            </a:r>
            <a:r>
              <a:rPr/>
              <a:t>, untouched by the thinning: 304 ÷ 57,575 = 0.0053 in all three fleets</a:t>
            </a:r>
          </a:p>
          <a:p>
            <a:pPr lvl="0"/>
            <a:r>
              <a:rPr/>
              <a:t>Precision = TP ÷ (TP + FP): FP </a:t>
            </a:r>
            <a:r>
              <a:rPr b="1"/>
              <a:t>stays 304</a:t>
            </a:r>
            <a:r>
              <a:rPr/>
              <a:t> while TP falls from 1,127 to 106, so the false alarms’ share of the alarms grows from 0.21 to 0.74</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report both</a:t>
            </a:r>
          </a:p>
        </p:txBody>
      </p:sp>
      <p:sp>
        <p:nvSpPr>
          <p:cNvPr id="3" name="Content Placeholder 2"/>
          <p:cNvSpPr>
            <a:spLocks noGrp="1"/>
          </p:cNvSpPr>
          <p:nvPr>
            <p:ph idx="1"/>
          </p:nvPr>
        </p:nvSpPr>
        <p:spPr>
          <a:xfrm>
            <a:off x="457200" y="1200151"/>
            <a:ext cx="8229600" cy="3394472"/>
          </a:xfrm>
        </p:spPr>
        <p:txBody>
          <a:bodyPr/>
          <a:lstStyle/>
          <a:p>
            <a:pPr lvl="0"/>
            <a:r>
              <a:rPr/>
              <a:t>AUC: are failures ranked above healthy drives? Precision-recall: how many alarms are real?</a:t>
            </a:r>
          </a:p>
          <a:p>
            <a:pPr lvl="0"/>
            <a:r>
              <a:rPr/>
              <a:t>On imbalanced data report the </a:t>
            </a:r>
            <a:r>
              <a:rPr b="1"/>
              <a:t>precision-recall curve beside the AUC</a:t>
            </a:r>
            <a:r>
              <a:rPr/>
              <a:t>, not instead</a:t>
            </a:r>
          </a:p>
          <a:p>
            <a:pPr lvl="0"/>
            <a:r>
              <a:rPr b="1"/>
              <a:t>Average precision (AP)</a:t>
            </a:r>
            <a:r>
              <a:rPr/>
              <a:t>: the area under that curve, Σₖ (Rₖ − Rₖ₋₁) × Pₖ, each threshold’s precision weighted by the recall it adds</a:t>
            </a:r>
          </a:p>
          <a:p>
            <a:pPr lvl="0"/>
            <a:r>
              <a:rPr/>
              <a:t>Ours: 0.717 (notebook 2); a random ranking: 76 ÷ 2,000 = 0.038</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two costs cross</a:t>
            </a:r>
          </a:p>
        </p:txBody>
      </p:sp>
      <p:pic>
        <p:nvPicPr>
          <p:cNvPr descr="expected_cost_lines.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they cross, in one line</a:t>
            </a:r>
          </a:p>
        </p:txBody>
      </p:sp>
      <p:pic>
        <p:nvPicPr>
          <p:cNvPr descr="eq_fa0fcf9718.png" id="0" name="Picture 1"/>
          <p:cNvPicPr>
            <a:picLocks noGrp="1" noChangeAspect="1"/>
          </p:cNvPicPr>
          <p:nvPr/>
        </p:nvPicPr>
        <p:blipFill>
          <a:blip r:embed="rId3"/>
          <a:stretch>
            <a:fillRect/>
          </a:stretch>
        </p:blipFill>
        <p:spPr bwMode="auto">
          <a:xfrm>
            <a:off x="457200" y="1925439"/>
            <a:ext cx="8229600" cy="18415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a:p>
            <a:pPr lvl="0"/>
            <a:r>
              <a:rPr/>
              <a:t>Done properly: choose it on a </a:t>
            </a:r>
            <a:r>
              <a:rPr b="1"/>
              <a:t>validation set</a:t>
            </a:r>
            <a:r>
              <a:rPr/>
              <a:t>, then measure once on the test set (lesson 5)</a:t>
            </a:r>
          </a:p>
          <a:p>
            <a:pPr lvl="0"/>
            <a:r>
              <a:rPr/>
              <a:t>The price of looking, here: t* = 0.051, fixed before looking, costs €49,100 on the test set; 0.078, picked by looking, €45,540</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class weights do</a:t>
            </a:r>
          </a:p>
        </p:txBody>
      </p:sp>
      <p:sp>
        <p:nvSpPr>
          <p:cNvPr id="3" name="Content Placeholder 2"/>
          <p:cNvSpPr>
            <a:spLocks noGrp="1"/>
          </p:cNvSpPr>
          <p:nvPr>
            <p:ph idx="1"/>
          </p:nvPr>
        </p:nvSpPr>
        <p:spPr>
          <a:xfrm>
            <a:off x="457200" y="1200151"/>
            <a:ext cx="8229600" cy="3394472"/>
          </a:xfrm>
        </p:spPr>
        <p:txBody>
          <a:bodyPr/>
          <a:lstStyle/>
          <a:p>
            <a:pPr lvl="0"/>
            <a:r>
              <a:rPr/>
              <a:t>Training multiplies each drive’s log-loss term by its </a:t>
            </a:r>
            <a:r>
              <a:rPr b="1"/>
              <a:t>class weight</a:t>
            </a:r>
          </a:p>
          <a:p>
            <a:pPr lvl="0"/>
            <a:r>
              <a:rPr>
                <a:latin typeface="Courier"/>
              </a:rPr>
              <a:t>class_weight="balanced"</a:t>
            </a:r>
            <a:r>
              <a:rPr/>
              <a:t>: m ÷ (2 × class size), 0.52 healthy, 13.0 failed</a:t>
            </a:r>
          </a:p>
          <a:p>
            <a:pPr lvl="0"/>
            <a:r>
              <a:rPr/>
              <a:t>A failure counts as 25 healthy drives: </a:t>
            </a:r>
            <a:r>
              <a:rPr b="1"/>
              <a:t>class frequencies</a:t>
            </a:r>
            <a:r>
              <a:rPr/>
              <a:t>, not costs</a:t>
            </a:r>
          </a:p>
          <a:p>
            <a:pPr lvl="0"/>
            <a:r>
              <a:rPr/>
              <a:t>Same decisions as the plain model at 1 ÷ 26 = 0.038, on 1,987 of 2,000 drives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pic>
        <p:nvPicPr>
          <p:cNvPr descr="class_weight_costs.png" id="0" name="Picture 1"/>
          <p:cNvPicPr>
            <a:picLocks noGrp="1" noChangeAspect="1"/>
          </p:cNvPicPr>
          <p:nvPr/>
        </p:nvPicPr>
        <p:blipFill>
          <a:blip r:embed="rId3"/>
          <a:stretch>
            <a:fillRect/>
          </a:stretch>
        </p:blipFill>
        <p:spPr bwMode="auto">
          <a:xfrm>
            <a:off x="457200" y="1284089"/>
            <a:ext cx="8229600" cy="31242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ROC curve by hand, 44</a:t>
                      </a:r>
                    </a:p>
                  </a:txBody>
                </a:tc>
                <a:tc>
                  <a:txBody>
                    <a:bodyPr/>
                    <a:lstStyle/>
                    <a:p>
                      <a:pPr lvl="0" indent="0" marL="0">
                        <a:buNone/>
                      </a:pPr>
                      <a:r>
                        <a:rPr>
                          <a:latin typeface="Courier"/>
                        </a:rPr>
                        <a:t>roc_curve</a:t>
                      </a:r>
                      <a:r>
                        <a:rPr/>
                        <a:t>, </a:t>
                      </a:r>
                      <a:r>
                        <a:rPr>
                          <a:latin typeface="Courier"/>
                        </a:rPr>
                        <a:t>roc_auc_score</a:t>
                      </a:r>
                      <a:r>
                        <a:rPr/>
                        <a:t> → 0.9493</a:t>
                      </a:r>
                    </a:p>
                  </a:txBody>
                </a:tc>
              </a:tr>
              <a:tr h="0">
                <a:tc>
                  <a:txBody>
                    <a:bodyPr/>
                    <a:lstStyle/>
                    <a:p>
                      <a:pPr lvl="0" indent="0" marL="0">
                        <a:buNone/>
                      </a:pPr>
                      <a:r>
                        <a:rPr/>
                        <a:t>what AUC means, 45-46</a:t>
                      </a:r>
                    </a:p>
                  </a:txBody>
                </a:tc>
                <a:tc>
                  <a:txBody>
                    <a:bodyPr/>
                    <a:lstStyle/>
                    <a:p>
                      <a:pPr lvl="0" indent="0" marL="0">
                        <a:buNone/>
                      </a:pPr>
                      <a:r>
                        <a:rPr/>
                        <a:t>200,000 random (failing, healthy) pairs → 0.9488</a:t>
                      </a:r>
                    </a:p>
                  </a:txBody>
                </a:tc>
              </a:tr>
              <a:tr h="0">
                <a:tc>
                  <a:txBody>
                    <a:bodyPr/>
                    <a:lstStyle/>
                    <a:p>
                      <a:pPr lvl="0" indent="0" marL="0">
                        <a:buNone/>
                      </a:pPr>
                      <a:r>
                        <a:rPr/>
                        <a:t>the rare-positive trap, 48-49</a:t>
                      </a:r>
                    </a:p>
                  </a:txBody>
                </a:tc>
                <a:tc>
                  <a:txBody>
                    <a:bodyPr/>
                    <a:lstStyle/>
                    <a:p>
                      <a:pPr lvl="0" indent="0" marL="0">
                        <a:buNone/>
                      </a:pPr>
                      <a:r>
                        <a:rPr>
                          <a:latin typeface="Courier"/>
                        </a:rPr>
                        <a:t>average_precision_score</a:t>
                      </a:r>
                      <a:r>
                        <a:rPr/>
                        <a:t> beside </a:t>
                      </a:r>
                      <a:r>
                        <a:rPr>
                          <a:latin typeface="Courier"/>
                        </a:rPr>
                        <a:t>roc_auc_score</a:t>
                      </a:r>
                      <a:r>
                        <a:rPr/>
                        <a:t> → AP 0.706 to 0.361, AUC unmoved</a:t>
                      </a:r>
                    </a:p>
                  </a:txBody>
                </a:tc>
              </a:tr>
              <a:tr h="0">
                <a:tc>
                  <a:txBody>
                    <a:bodyPr/>
                    <a:lstStyle/>
                    <a:p>
                      <a:pPr lvl="0" indent="0" marL="0">
                        <a:buNone/>
                      </a:pPr>
                      <a:r>
                        <a:rPr/>
                        <a:t>the threshold from costs, 51-54</a:t>
                      </a:r>
                    </a:p>
                  </a:txBody>
                </a:tc>
                <a:tc>
                  <a:txBody>
                    <a:bodyPr/>
                    <a:lstStyle/>
                    <a:p>
                      <a:pPr lvl="0" indent="0" marL="0">
                        <a:buNone/>
                      </a:pPr>
                      <a:r>
                        <a:rPr>
                          <a:latin typeface="Courier"/>
                        </a:rPr>
                        <a:t>confusion_matrix</a:t>
                      </a:r>
                      <a:r>
                        <a:rPr/>
                        <a:t> at each threshold → 45,540 EUR at 0.078, against 87,620 at 0.50</a:t>
                      </a:r>
                    </a:p>
                  </a:txBody>
                </a:tc>
              </a:tr>
              <a:tr h="0">
                <a:tc>
                  <a:txBody>
                    <a:bodyPr/>
                    <a:lstStyle/>
                    <a:p>
                      <a:pPr lvl="0" indent="0" marL="0">
                        <a:buNone/>
                      </a:pPr>
                      <a:r>
                        <a:rPr/>
                        <a:t>class weights, 55-56</a:t>
                      </a:r>
                    </a:p>
                  </a:txBody>
                </a:tc>
                <a:tc>
                  <a:txBody>
                    <a:bodyPr/>
                    <a:lstStyle/>
                    <a:p>
                      <a:pPr lvl="0" indent="0" marL="0">
                        <a:buNone/>
                      </a:pPr>
                      <a:r>
                        <a:rPr>
                          <a:latin typeface="Courier"/>
                        </a:rPr>
                        <a:t>LogisticRegression</a:t>
                      </a:r>
                      <a:r>
                        <a:rPr/>
                        <a:t> with balanced class weights → AUC 0.950</a:t>
                      </a:r>
                    </a:p>
                  </a:txBody>
                </a:tc>
              </a:tr>
              <a:tr h="0">
                <a:tc>
                  <a:txBody>
                    <a:bodyPr/>
                    <a:lstStyle/>
                    <a:p>
                      <a:pPr lvl="0" indent="0" marL="0">
                        <a:buNone/>
                      </a:pPr>
                      <a:r>
                        <a:rPr/>
                        <a:t>three classes, 58-60</a:t>
                      </a:r>
                    </a:p>
                  </a:txBody>
                </a:tc>
                <a:tc>
                  <a:txBody>
                    <a:bodyPr/>
                    <a:lstStyle/>
                    <a:p>
                      <a:pPr lvl="0" indent="0" marL="0">
                        <a:buNone/>
                      </a:pPr>
                      <a:r>
                        <a:rPr>
                          <a:latin typeface="Courier"/>
                        </a:rPr>
                        <a:t>classification_report</a:t>
                      </a:r>
                      <a:r>
                        <a:rPr/>
                        <a:t> → macro F1 0.707, weighted 0.883</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classes: softmax</a:t>
            </a:r>
          </a:p>
        </p:txBody>
      </p:sp>
      <p:sp>
        <p:nvSpPr>
          <p:cNvPr id="3" name="Content Placeholder 2"/>
          <p:cNvSpPr>
            <a:spLocks noGrp="1"/>
          </p:cNvSpPr>
          <p:nvPr>
            <p:ph idx="1"/>
          </p:nvPr>
        </p:nvSpPr>
        <p:spPr>
          <a:xfrm>
            <a:off x="457200" y="1200151"/>
            <a:ext cx="8229600" cy="3394472"/>
          </a:xfrm>
        </p:spPr>
        <p:txBody>
          <a:bodyPr/>
          <a:lstStyle/>
          <a:p>
            <a:pPr lvl="0"/>
            <a:r>
              <a:rPr/>
              <a:t>One score per class, zₖ = wₖᵀx + bₖ; </a:t>
            </a:r>
            <a:r>
              <a:rPr b="1"/>
              <a:t>softmax</a:t>
            </a:r>
            <a:r>
              <a:rPr/>
              <a:t>: exponentiate, divide by the sum</a:t>
            </a:r>
          </a:p>
          <a:p>
            <a:pPr lvl="0"/>
            <a:r>
              <a:rPr/>
              <a:t>A degraded drive: scores 0.615, 0.603, −1.218 → 0.466, 0.460, 0.074, called healthy</a:t>
            </a:r>
          </a:p>
          <a:p>
            <a:pPr lvl="0"/>
            <a:r>
              <a:rPr/>
              <a:t>Predicted class = the largest probability, no 0.5 threshold; two classes: the sigmoid of z₁ − z₀</a:t>
            </a:r>
          </a:p>
          <a:p>
            <a:pPr lvl="0"/>
            <a:r>
              <a:rPr/>
              <a:t>In code: </a:t>
            </a:r>
            <a:r>
              <a:rPr>
                <a:latin typeface="Courier"/>
              </a:rPr>
              <a:t>decision_function</a:t>
            </a:r>
            <a:r>
              <a:rPr/>
              <a:t> (scores), </a:t>
            </a:r>
            <a:r>
              <a:rPr>
                <a:latin typeface="Courier"/>
              </a:rPr>
              <a:t>predict_proba</a:t>
            </a:r>
            <a:r>
              <a:rPr/>
              <a:t> (softmax)</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pic>
        <p:nvPicPr>
          <p:cNvPr descr="macro_vs_weighted.png" id="0" name="Picture 1"/>
          <p:cNvPicPr>
            <a:picLocks noGrp="1" noChangeAspect="1"/>
          </p:cNvPicPr>
          <p:nvPr/>
        </p:nvPicPr>
        <p:blipFill>
          <a:blip r:embed="rId3"/>
          <a:stretch>
            <a:fillRect/>
          </a:stretch>
        </p:blipFill>
        <p:spPr bwMode="auto">
          <a:xfrm>
            <a:off x="1306206" y="1166099"/>
            <a:ext cx="6531587" cy="3360181"/>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Logistic regression: sigmoid of a linear score, fitted by log loss</a:t>
            </a:r>
          </a:p>
          <a:p>
            <a:pPr lvl="0"/>
            <a:r>
              <a:rPr b="1"/>
              <a:t>96.20% accuracy, nothing caught</a:t>
            </a:r>
            <a:r>
              <a:rPr/>
              <a:t>: check the baseline, 1,924 ÷ 2,000</a:t>
            </a:r>
          </a:p>
          <a:p>
            <a:pPr lvl="0"/>
            <a:r>
              <a:rPr/>
              <a:t>Precision: the </a:t>
            </a:r>
            <a:r>
              <a:rPr b="1"/>
              <a:t>alarms</a:t>
            </a:r>
            <a:r>
              <a:rPr/>
              <a:t>; recall: the </a:t>
            </a:r>
            <a:r>
              <a:rPr b="1"/>
              <a:t>failures</a:t>
            </a:r>
          </a:p>
          <a:p>
            <a:pPr lvl="0"/>
            <a:r>
              <a:rPr b="1"/>
              <a:t>Threshold</a:t>
            </a:r>
            <a:r>
              <a:rPr/>
              <a:t> from costs: 140 ÷ 2,740 = 0.051, if calibrated</a:t>
            </a:r>
          </a:p>
          <a:p>
            <a:pPr lvl="0"/>
            <a:r>
              <a:rPr b="1"/>
              <a:t>AUC = ranking</a:t>
            </a:r>
            <a:r>
              <a:rPr/>
              <a:t>: blind to calibration, hides imbalance</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6 November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30 October 2026</vt:lpwstr>
  </property>
  <property fmtid="{D5CDD505-2E9C-101B-9397-08002B2CF9AE}" pid="3" name="subtitle">
    <vt:lpwstr>Technologies for Artificial Intelligence</vt:lpwstr>
  </property>
</Properties>
</file>