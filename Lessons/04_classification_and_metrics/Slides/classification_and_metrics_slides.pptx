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and it is exactly the mistake lesson 1 named. Today’s lesson ends up in the same place from a different direction, when we choose a decision threshold.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Point out the proportion,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reallocated sectors, spin retries, read error rate, temperature, hours in service.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in section 5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- 45% of the fleet. Not a small negative number. A negative probability. And extend it slightly past the data, to 32 reallocated sectors, and it predicts more than 1.</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Steep in the middle, flat at both ends. Make the case that the flatness is the right behaviour, not a compromise - and be precise about what is diminishing. It is the total evidence z, not any one counter. Two units of log-odds from z = 0 take the probability from 0.50 to 0.88; the same two from z = 6 take it from 0.9975 to 0.9997, 178 times less.</a:t>
            </a:r>
          </a:p>
          <a:p>
            <a:pPr lvl="0" indent="0" marL="0">
              <a:buNone/>
            </a:pPr>
          </a:p>
          <a:p>
            <a:pPr lvl="0" indent="0" marL="0">
              <a:buNone/>
            </a:pPr>
            <a:r>
              <a:rPr/>
              <a:t>Expect someone to object that the previous figure says otherwise. That curve is drawn against raw reallocated sectors, not against z, so it is steepest at 13.2 and the first four sectors move it by only 0.03. Both pictures are right: the counters act on a log scale, and on that scale four sectors are worth +4.7 in log-odds, taking a drive from a 0.01% chance of failing to 1.3%. Handout section 1.1.</a:t>
            </a:r>
          </a:p>
          <a:p>
            <a:pPr lvl="0" indent="0" marL="0">
              <a:buNone/>
            </a:pPr>
          </a:p>
          <a:p>
            <a:pPr lvl="0" indent="0" marL="0">
              <a:buNone/>
            </a:pPr>
            <a:r>
              <a:rPr/>
              <a:t>Right: the same relationship inverted. This is the slide that explains WHY this particular curve and not some other S-shape.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one quarter, and it decays to zero at both ends. In fifteen minutes that fact will be simultaneously the reason the sigmoid works and the reason squared error does not.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A coefficient of 1.80 means: a drive one standard deviation worse on that counter has exp(1.80), about six times, the odds of failing.</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odds of 9, a probability of 0.90, multiplied by 5 gives odds of 45 - a probability of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do not just look at the estimates, we check them against the truth.</a:t>
            </a:r>
          </a:p>
          <a:p>
            <a:pPr lvl="0" indent="0" marL="0">
              <a:buNone/>
            </a:pPr>
          </a:p>
          <a:p>
            <a:pPr lvl="0" indent="0" marL="0">
              <a:buNone/>
            </a:pPr>
            <a:r>
              <a:rPr/>
              <a:t>Go down the column. Everything is close. Nothing is exact, and say why - 6,000 training drives carrying 230 failures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1.03.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Say first what the intercept is NOT: it is not the base rate. The fleet fails at 3.8%; the intercept describes a drive whose every counter sits at the average, and such a drive almost never fails. The failures come from the small group of drives far above average on one or more counters. Handout section 2.4.</a:t>
            </a:r>
          </a:p>
          <a:p>
            <a:pPr lvl="0" indent="0" marL="0">
              <a:buNone/>
            </a:pPr>
          </a:p>
          <a:p>
            <a:pPr lvl="0" indent="0" marL="0">
              <a:buNone/>
            </a:pPr>
            <a:r>
              <a:rPr/>
              <a:t>An average drive has a 0.2% chance of failing in thirty days. For the model to reach an even bet - probability one half, log-odds zero - the evidence has to move the log-odds by more than six. Only badly degraded drives manage that.</a:t>
            </a:r>
          </a:p>
          <a:p>
            <a:pPr lvl="0" indent="0" marL="0">
              <a:buNone/>
            </a:pPr>
          </a:p>
          <a:p>
            <a:pPr lvl="0" indent="0" marL="0">
              <a:buNone/>
            </a:pPr>
            <a:r>
              <a:rPr/>
              <a:t>So the model will assign small probabilities to almost everything, and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and more interesting, which is what makes it worth ten minutes.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before any algebra. It is the whole idea, and once they have it the derivation is bookkeeping.</a:t>
            </a:r>
          </a:p>
          <a:p>
            <a:pPr lvl="0" indent="0" marL="0">
              <a:buNone/>
            </a:pPr>
          </a:p>
          <a:p>
            <a:pPr lvl="0" indent="0" marL="0">
              <a:buNone/>
            </a:pPr>
            <a:r>
              <a:rPr/>
              <a:t>Each drive contributes one factor: the probability the model gave to what actually occurred. Multiply across the fleet and you have the probability of the whole dataset under that setting of the parameters. Choose the setting that makes it largest.</a:t>
            </a:r>
          </a:p>
          <a:p>
            <a:pPr lvl="0" indent="0" marL="0">
              <a:buNone/>
            </a:pPr>
          </a:p>
          <a:p>
            <a:pPr lvl="0" indent="0" marL="0">
              <a:buNone/>
            </a:pPr>
            <a:r>
              <a:rPr/>
              <a:t>Two practical notes worth saying aloud. We take the logarithm because it turns the product into a sum, which differentiates one term at a time - and because with 8,000 factors below 1 the product is about 10 to the minus 1000, which a 64-bit float stores as exactly zero. Every real implementation works in log space, and not for elegance.</a:t>
            </a:r>
          </a:p>
          <a:p>
            <a:pPr lvl="0" indent="0" marL="0">
              <a:buNone/>
            </a:pPr>
          </a:p>
          <a:p>
            <a:pPr lvl="0" indent="0" marL="0">
              <a:buNone/>
            </a:pPr>
            <a:r>
              <a:rPr/>
              <a:t>Then negate, so we minimise as in lesson 3.</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p is the predicted probability, the same number the next slide writes as y-hat. Say the other half aloud rather than showing it: the cost J is the average of this over the m examples, one over m times the sum. Written out in full the formula reached the slide edge and came out at 26pt, smaller than the bullets on the slide before it.</a:t>
            </a:r>
          </a:p>
          <a:p>
            <a:pPr lvl="0" indent="0" marL="0">
              <a:buNone/>
            </a:pPr>
          </a:p>
          <a:p>
            <a:pPr lvl="0" indent="0" marL="0">
              <a:buNone/>
            </a:pPr>
            <a:r>
              <a:rPr/>
              <a:t>Do not derive it here - the handout, section 3, does it in full. Show it and read it.</a:t>
            </a:r>
          </a:p>
          <a:p>
            <a:pPr lvl="0" indent="0" marL="0">
              <a:buNone/>
            </a:pPr>
          </a:p>
          <a:p>
            <a:pPr lvl="0" indent="0" marL="0">
              <a:buNone/>
            </a:pPr>
            <a:r>
              <a:rPr/>
              <a:t>The reading that makes it stick: the cost of an outcome is the SURPRISE of seeing it. Something you called certain costs nothing. Something you gave a probability of one in a thousand costs log 1000, about 6.9.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Prediction error times feature, averaged. Character for character the gradient of lesson 3, with a different model and a different cost function.</a:t>
            </a:r>
          </a:p>
          <a:p>
            <a:pPr lvl="0" indent="0" marL="0">
              <a:buNone/>
            </a:pPr>
          </a:p>
          <a:p>
            <a:pPr lvl="0" indent="0" marL="0">
              <a:buNone/>
            </a:pPr>
            <a:r>
              <a:rPr/>
              <a:t>The cancellation is worth showing on the board if there is appetite: the sigma times one-minus-sigma from the chain rule cancels against the one-over-sigma from the logarithm. Handout section 3.4 has it.</a:t>
            </a:r>
          </a:p>
          <a:p>
            <a:pPr lvl="0" indent="0" marL="0">
              <a:buNone/>
            </a:pPr>
          </a:p>
          <a:p>
            <a:pPr lvl="0" indent="0" marL="0">
              <a:buNone/>
            </a:pPr>
            <a:r>
              <a:rPr/>
              <a:t>If someone asks whether that is a coincidence: no. Both are generalised linear models fitted by maximum likelihood - Gaussian noise for regression, Bernoulli outcomes for classification - and the whole exponential family gives this form. They do not need that theory to use either method, but it is why the same gradient descent code, unchanged, trains both.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costs. A drive failed and the model said 0.0001. Squared error charges 0.9998. An honest “don’t know” - 0.5 - costs 0.25. So the worst possible answer is four times worse than a shrug. Log loss charges 9.2 against 0.69, and the ratio grows without bound.</a:t>
            </a:r>
          </a:p>
          <a:p>
            <a:pPr lvl="0" indent="0" marL="0">
              <a:buNone/>
            </a:pPr>
          </a:p>
          <a:p>
            <a:pPr lvl="0" indent="0" marL="0">
              <a:buNone/>
            </a:pPr>
            <a:r>
              <a:rPr/>
              <a:t>Right panel is the real argument, so spend the time here. The gradient is what the optimiser actually uses. Squared error’s gradient through the sigmoid carries a factor p times one-minus-p - which is exactly the sigmoid derivative from ten minutes ago - and that factor goes to zero as p goes to zero.</a:t>
            </a:r>
          </a:p>
          <a:p>
            <a:pPr lvl="0" indent="0" marL="0">
              <a:buNone/>
            </a:pPr>
          </a:p>
          <a:p>
            <a:pPr lvl="0" indent="0" marL="0">
              <a:buNone/>
            </a:pPr>
            <a:r>
              <a:rPr/>
              <a:t>Say it as a sentence: the wronger the model gets, the less squared error asks it to change. At p = 0.001 the gradient is a five-hundredth of log loss’s.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hit it in the notebook. Convex does NOT mean there is a closed-form solution. Setting the gradient to zero gives X-transpose times sigma of Xw minus y equals zero, which is not linear in w - the sigmoid is in the way.</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Fifteen lines of NumPy, then one line of scikit-learn, and the same answer. Run notebook 01. Twenty minutes.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almost every gold point - every drive that actually failed - is on the blue side of the line. At a threshold of 0.5 this model calls nearly the whole fleet healthy, including most of the drives that failed.</a:t>
            </a:r>
          </a:p>
          <a:p>
            <a:pPr lvl="0" indent="0" marL="0">
              <a:buNone/>
            </a:pPr>
          </a:p>
          <a:p>
            <a:pPr lvl="0" indent="0" marL="0">
              <a:buNone/>
            </a:pPr>
            <a:r>
              <a:rPr/>
              <a:t>Ask: is that a bad model? Take answers. Then say: the probabilities are fine. The threshold is a habit. Telling those two apart is the next two hours.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3.8% of the test set is left to compete over.</a:t>
            </a:r>
          </a:p>
          <a:p>
            <a:pPr lvl="0" indent="0" marL="0">
              <a:buNone/>
            </a:pPr>
          </a:p>
          <a:p>
            <a:pPr lvl="0" indent="0" marL="0">
              <a:buNone/>
            </a:pPr>
            <a:r>
              <a:rPr/>
              <a:t>This is the 306 from the first ten minutes, coming back as an accuracy score.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with a positive rate pi, the trivial always-negative classifier scores 1 minus pi. Here 96.2%. In some fraud problems, where the rate is one in a thousand,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prevents the most common confusion of the lesson. Both metrics divide the true positives.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and one minus it is the false positive rate, which comes back in the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1.0. Precision is 0.038.</a:t>
            </a:r>
          </a:p>
          <a:p>
            <a:pPr lvl="0" indent="0" marL="0">
              <a:buNone/>
            </a:pPr>
          </a:p>
          <a:p>
            <a:pPr lvl="0" indent="0" marL="0">
              <a:buNone/>
            </a:pPr>
            <a:r>
              <a:rPr/>
              <a:t>The ordinary average gives that model 0.519, which looks respectable. Anyone scanning a results table would not blink at 0.519.</a:t>
            </a:r>
          </a:p>
          <a:p>
            <a:pPr lvl="0" indent="0" marL="0">
              <a:buNone/>
            </a:pPr>
          </a:p>
          <a:p>
            <a:pPr lvl="0" indent="0" marL="0">
              <a:buNone/>
            </a:pPr>
            <a:r>
              <a:rPr/>
              <a:t>The harmonic mean gives it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a:t>
            </a:r>
          </a:p>
          <a:p>
            <a:pPr lvl="0" indent="0" marL="0">
              <a:buNone/>
            </a:pPr>
          </a:p>
          <a:p>
            <a:pPr lvl="0" indent="0" marL="0">
              <a:buNone/>
            </a:pPr>
            <a:r>
              <a:rPr/>
              <a:t>Mention F-beta in one sentence: beta above 1 weights recall more, which is what you want here where misses cost nineteen times more. F2 is the usual choice.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we spent twenty minutes on.</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by hand, then from scikit-learn, then the threshold sweep. Run notebook 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Spend time on the threshold sweep table. Do not explain it first - let them read the columns and say what they see. Somebody will notice that accuracy barely moves. That is the moment to make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when the two errors cost the same AND the classes are balanced. Neither is true here, and neither is true in most real problems.</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column by column with the room.</a:t>
            </a:r>
          </a:p>
          <a:p>
            <a:pPr lvl="0" indent="0" marL="0">
              <a:buNone/>
            </a:pPr>
          </a:p>
          <a:p>
            <a:pPr lvl="0" indent="0" marL="0">
              <a:buNone/>
            </a:pPr>
            <a:r>
              <a:rPr/>
              <a:t>Lower the threshold: recall rises, precision falls. At 0.02 we catch 69 of 76 failures and replace 284 healthy drives to do it. At 0.90 every alarm is justified and we catch fewer than a quarter.</a:t>
            </a:r>
          </a:p>
          <a:p>
            <a:pPr lvl="0" indent="0" marL="0">
              <a:buNone/>
            </a:pPr>
          </a:p>
          <a:p>
            <a:pPr lvl="0" indent="0" marL="0">
              <a:buNone/>
            </a:pPr>
            <a:r>
              <a:rPr/>
              <a:t>Now the accuracy column, which is the slide’s real argument. From 0.10 upwards it moves by three and a half percentage points, 0.942 to 0.977, while recall falls from 0.803 to 0.184. And its maximum is at 0.5 - the threshold that misses 33 of the 76 failures.</a:t>
            </a:r>
          </a:p>
          <a:p>
            <a:pPr lvl="0" indent="0" marL="0">
              <a:buNone/>
            </a:pPr>
          </a:p>
          <a:p>
            <a:pPr lvl="0" indent="0" marL="0">
              <a:buNone/>
            </a:pPr>
            <a:r>
              <a:rPr/>
              <a:t>Say the consequence plainly: tune on accuracy and it will quietly recommend catching fewer failures, because every alarm it drops was a possible false positive.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- 0.038 here - at every recall. That flat red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the same three thresholds from the last two slides, so they can see the correspondence.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true positive rate, which is recall under another name - the failures we catch. False positive rate - the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invariant under any monotone transformation of the scores.</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we will in ten minutes - AUC is not the check you want.</a:t>
            </a:r>
          </a:p>
          <a:p>
            <a:pPr lvl="0" indent="0" marL="0">
              <a:buNone/>
            </a:pPr>
          </a:p>
          <a:p>
            <a:pPr lvl="0" indent="0" marL="0">
              <a:buNone/>
            </a:pPr>
            <a:r>
              <a:rPr/>
              <a:t>Good place to mention calibration exists as a topic,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We keep every healthy drive in a fleet of 60,000 and thin the FAILURES until they are 0.4% instead of 3.8% - the direction reality moves in fraud, disease, hardware failure.</a:t>
            </a:r>
          </a:p>
          <a:p>
            <a:pPr lvl="0" indent="0" marL="0">
              <a:buNone/>
            </a:pPr>
          </a:p>
          <a:p>
            <a:pPr lvl="0" indent="0" marL="0">
              <a:buNone/>
            </a:pPr>
            <a:r>
              <a:rPr/>
              <a:t>Left: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the precision-recall curves are in three different worlds. Average precision falls from 0.706 to 0.361, and precision at the same threshold falls from 0.79 to 0.26 - two alarms in three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second predictable mistake of the lesson,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an hour ago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just named to them, this morning, on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rare example count as many, here about 25. It changes the training rather than the decision.</a:t>
            </a:r>
          </a:p>
          <a:p>
            <a:pPr lvl="0" indent="0" marL="0">
              <a:buNone/>
            </a:pPr>
          </a:p>
          <a:p>
            <a:pPr lvl="0" indent="0" marL="0">
              <a:buNone/>
            </a:pPr>
            <a:r>
              <a:rPr/>
              <a:t>Point at the AUC column: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another way of setting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Same caution for resampling and for SMOTE (synthetic minority oversampling technique, which builds artificial minority examples) - and it must happen inside the cross-validation fold, for the reasons lesson 2 gave about imputation.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ROC curve by hand, the 200,000-pair experiment, the cost curve, then the multiclass matrix. Run notebook 03. Twenty minutes if the clock allows, otherwise show the pairs experiment and the imbalance comparison and leave the rest for them.</a:t>
            </a:r>
          </a:p>
          <a:p>
            <a:pPr lvl="0" indent="0" marL="0">
              <a:buNone/>
            </a:pPr>
          </a:p>
          <a:p>
            <a:pPr lvl="0" indent="0" marL="0">
              <a:buNone/>
            </a:pPr>
            <a:r>
              <a:rPr/>
              <a:t>If time is short, keep the pairs experiment: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normalises them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a:t>
            </a:r>
          </a:p>
          <a:p>
            <a:pPr lvl="0" indent="0" marL="0">
              <a:buNone/>
            </a:pPr>
          </a:p>
          <a:p>
            <a:pPr lvl="0" indent="0" marL="0">
              <a:buNone/>
            </a:pPr>
            <a:r>
              <a:rPr/>
              <a:t>Macro treats the three conditions as equally important. Weighted lets the healthy class - five drives in six - do most of the talking.</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every metric on the slide depended on a threshold, and the threshold has an answer - C-FP over C-FP plus C-FN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30 October.</a:t>
            </a:r>
          </a:p>
          <a:p>
            <a:pPr lvl="0" indent="0" marL="0">
              <a:buNone/>
            </a:pPr>
          </a:p>
          <a:p>
            <a:pPr lvl="0" indent="0" marL="0">
              <a:buNone/>
            </a:pPr>
            <a:r>
              <a:rPr/>
              <a:t>Emphasise which part carries the marks. The classifier is a few lines and everyone will get it. The paragraph defending the threshold choice is where the learning is, and it is where the marks are.</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23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Label: did it fail within thirty days?</a:t>
            </a:r>
          </a:p>
          <a:p>
            <a:pPr lvl="0"/>
            <a:r>
              <a:rPr>
                <a:latin typeface="Courier"/>
              </a:rPr>
              <a:t>train_test_split(..., stratify=y)</a:t>
            </a:r>
            <a:r>
              <a:rPr/>
              <a:t>: 6,000 to train, 2,000 to test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3.8% of the fleet</a:t>
            </a:r>
          </a:p>
          <a:p>
            <a:pPr lvl="0"/>
            <a:r>
              <a:rPr/>
              <a:t>Which means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The model is linear in the log-odds, log(p ÷ (1 − p)), so </a:t>
            </a:r>
            <a:r>
              <a:rPr>
                <a:latin typeface="Courier"/>
              </a:rPr>
              <a:t>exp(coefficient)</a:t>
            </a:r>
            <a:r>
              <a:rPr/>
              <a:t> multiplies the </a:t>
            </a:r>
            <a:r>
              <a:rPr b="1"/>
              <a:t>odds</a:t>
            </a:r>
            <a:r>
              <a:rPr/>
              <a:t>, p ÷ (1 − p)</a:t>
            </a:r>
          </a:p>
          <a:p>
            <a:pPr lvl="0"/>
            <a:r>
              <a:rPr/>
              <a:t>Features standardised, so one unit = one standard deviation</a:t>
            </a:r>
          </a:p>
          <a:p>
            <a:pPr lvl="0"/>
            <a:r>
              <a:rPr/>
              <a:t>A coefficient of 1.80 means </a:t>
            </a:r>
            <a:r>
              <a:rPr b="1"/>
              <a:t>six times the odds</a:t>
            </a:r>
            <a:r>
              <a:rPr/>
              <a:t> of failing</a:t>
            </a:r>
          </a:p>
          <a:p>
            <a:pPr lvl="0"/>
            <a:r>
              <a:rPr/>
              <a:t>In code: </a:t>
            </a:r>
            <a:r>
              <a:rPr>
                <a:latin typeface="Courier"/>
              </a:rPr>
              <a:t>make_pipeline(StandardScaler(), LogisticRegression())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a:t>
                      </a:r>
                    </a:p>
                  </a:txBody>
                  <a:tcPr/>
                </a:tc>
                <a:tc>
                  <a:txBody>
                    <a:bodyPr/>
                    <a:lstStyle/>
                    <a:p>
                      <a:pPr lvl="0" indent="0" marL="0">
                        <a:buNone/>
                      </a:pPr>
                      <a:r>
                        <a:rPr/>
                        <a:t>Odds ×</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0.47</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1.03</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average drive’s chance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p>
          <a:p>
            <a:pPr lvl="0"/>
            <a:r>
              <a:rPr/>
              <a:t>σ(-6.09) = 0.0023: a 0.2% chance for a drive average on every counter</a:t>
            </a:r>
          </a:p>
          <a:p>
            <a:pPr lvl="0"/>
            <a:r>
              <a:rPr/>
              <a:t>The fleet fails at 3.8%: the failures come from the few drives far above average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Maximum likelihood, in one sentence</a:t>
            </a:r>
          </a:p>
        </p:txBody>
      </p:sp>
      <p:sp>
        <p:nvSpPr>
          <p:cNvPr id="3" name="Content Placeholder 2"/>
          <p:cNvSpPr>
            <a:spLocks noGrp="1"/>
          </p:cNvSpPr>
          <p:nvPr>
            <p:ph idx="1"/>
          </p:nvPr>
        </p:nvSpPr>
        <p:spPr>
          <a:xfrm>
            <a:off x="457200" y="1200151"/>
            <a:ext cx="8229600" cy="3394472"/>
          </a:xfrm>
        </p:spPr>
        <p:txBody>
          <a:bodyPr/>
          <a:lstStyle/>
          <a:p>
            <a:pPr lvl="0"/>
            <a:r>
              <a:rPr/>
              <a:t>The parameters w and b are a knob: each setting gives a probability to what actually happened</a:t>
            </a:r>
          </a:p>
          <a:p>
            <a:pPr lvl="0"/>
            <a:r>
              <a:rPr b="1"/>
              <a:t>Turn the knob so that what actually happened is least surprising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gradient is the one you already know</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line on a 0/1 label, 7</a:t>
                      </a:r>
                    </a:p>
                  </a:txBody>
                </a:tc>
                <a:tc>
                  <a:txBody>
                    <a:bodyPr/>
                    <a:lstStyle/>
                    <a:p>
                      <a:pPr lvl="0" indent="0" marL="0">
                        <a:buNone/>
                      </a:pPr>
                      <a:r>
                        <a:rPr>
                          <a:latin typeface="Courier"/>
                        </a:rPr>
                        <a:t>LinearRegression</a:t>
                      </a:r>
                      <a:r>
                        <a:rPr/>
                        <a:t> → 3,606 negative probabilities</a:t>
                      </a:r>
                    </a:p>
                  </a:txBody>
                </a:tc>
              </a:tr>
              <a:tr h="0">
                <a:tc>
                  <a:txBody>
                    <a:bodyPr/>
                    <a:lstStyle/>
                    <a:p>
                      <a:pPr lvl="0" indent="0" marL="0">
                        <a:buNone/>
                      </a:pPr>
                      <a:r>
                        <a:rPr/>
                        <a:t>odds, and why not squared error, 8-18</a:t>
                      </a:r>
                    </a:p>
                  </a:txBody>
                </a:tc>
                <a:tc>
                  <a:txBody>
                    <a:bodyPr/>
                    <a:lstStyle/>
                    <a:p>
                      <a:pPr lvl="0" indent="0" marL="0">
                        <a:buNone/>
                      </a:pPr>
                      <a:r>
                        <a:rPr/>
                        <a:t>NumPy only: the sigmoid, the two losses, their gradients</a:t>
                      </a:r>
                    </a:p>
                  </a:txBody>
                </a:tc>
              </a:tr>
              <a:tr h="0">
                <a:tc>
                  <a:txBody>
                    <a:bodyPr/>
                    <a:lstStyle/>
                    <a:p>
                      <a:pPr lvl="0" indent="0" marL="0">
                        <a:buNone/>
                      </a:pPr>
                      <a:r>
                        <a:rPr/>
                        <a:t>gradient descent, 16</a:t>
                      </a:r>
                    </a:p>
                  </a:txBody>
                </a:tc>
                <a:tc>
                  <a:txBody>
                    <a:bodyPr/>
                    <a:lstStyle/>
                    <a:p>
                      <a:pPr lvl="0" indent="0" marL="0">
                        <a:buNone/>
                      </a:pPr>
                      <a:r>
                        <a:rPr>
                          <a:latin typeface="Courier"/>
                        </a:rPr>
                        <a:t>train_test_split</a:t>
                      </a:r>
                      <a:r>
                        <a:rPr/>
                        <a:t>, </a:t>
                      </a:r>
                      <a:r>
                        <a:rPr>
                          <a:latin typeface="Courier"/>
                        </a:rPr>
                        <a:t>StandardScaler</a:t>
                      </a:r>
                      <a:r>
                        <a:rPr/>
                        <a:t>, fifteen lines of NumPy → log loss 0.6931 to 0.0692</a:t>
                      </a:r>
                    </a:p>
                  </a:txBody>
                </a:tc>
              </a:tr>
              <a:tr h="0">
                <a:tc>
                  <a:txBody>
                    <a:bodyPr/>
                    <a:lstStyle/>
                    <a:p>
                      <a:pPr lvl="0" indent="0" marL="0">
                        <a:buNone/>
                      </a:pPr>
                      <a:r>
                        <a:rPr/>
                        <a:t>the decision boundary, 20</a:t>
                      </a:r>
                    </a:p>
                  </a:txBody>
                </a:tc>
                <a:tc>
                  <a:txBody>
                    <a:bodyPr/>
                    <a:lstStyle/>
                    <a:p>
                      <a:pPr lvl="0" indent="0" marL="0">
                        <a:buNone/>
                      </a:pPr>
                      <a:r>
                        <a:rPr>
                          <a:latin typeface="Courier"/>
                        </a:rPr>
                        <a:t>make_pipeline(StandardScaler(), LogisticRegression())</a:t>
                      </a:r>
                      <a:r>
                        <a:rPr/>
                        <a:t> on two features</a:t>
                      </a:r>
                    </a:p>
                  </a:txBody>
                </a:tc>
              </a:tr>
              <a:tr h="0">
                <a:tc>
                  <a:txBody>
                    <a:bodyPr/>
                    <a:lstStyle/>
                    <a:p>
                      <a:pPr lvl="0" indent="0" marL="0">
                        <a:buNone/>
                      </a:pPr>
                      <a:r>
                        <a:rPr/>
                        <a:t>the truth, recovered, 11-12</a:t>
                      </a:r>
                    </a:p>
                  </a:txBody>
                </a:tc>
                <a:tc>
                  <a:txBody>
                    <a:bodyPr/>
                    <a:lstStyle/>
                    <a:p>
                      <a:pPr lvl="0" indent="0" marL="0">
                        <a:buNone/>
                      </a:pPr>
                      <a:r>
                        <a:rPr>
                          <a:latin typeface="Courier"/>
                        </a:rPr>
                        <a:t>LogisticRegression</a:t>
                      </a:r>
                      <a:r>
                        <a:rPr/>
                        <a:t>, </a:t>
                      </a:r>
                      <a:r>
                        <a:rPr>
                          <a:latin typeface="Courier"/>
                        </a:rPr>
                        <a:t>.coef_</a:t>
                      </a:r>
                      <a:r>
                        <a:rPr/>
                        <a:t>, </a:t>
                      </a:r>
                      <a:r>
                        <a:rPr>
                          <a:latin typeface="Courier"/>
                        </a:rPr>
                        <a:t>.intercept_</a:t>
                      </a:r>
                      <a:r>
                        <a:rPr/>
                        <a:t> → seek_error_rate 0.02, intercept −6.09</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97.70%</a:t>
                      </a:r>
                    </a:p>
                  </a:txBody>
                </a:tc>
                <a:tc>
                  <a:txBody>
                    <a:bodyPr/>
                    <a:lstStyle/>
                    <a:p>
                      <a:pPr lvl="0" indent="0" marL="0">
                        <a:buNone/>
                      </a:pPr>
                      <a:r>
                        <a:rPr/>
                        <a:t>43 of 76</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True and false positives and negatives: TP, FP, FN, TN</a:t>
            </a:r>
          </a:p>
          <a:p>
            <a:pPr lvl="0"/>
            <a:r>
              <a:rPr/>
              <a:t>Precision = TP ÷ (TP + FP) = 43 ÷ 56 = </a:t>
            </a:r>
            <a:r>
              <a:rPr b="1"/>
              <a:t>0.768</a:t>
            </a:r>
            <a:r>
              <a:rPr/>
              <a:t>: of the drives flagged</a:t>
            </a:r>
          </a:p>
          <a:p>
            <a:pPr lvl="0"/>
            <a:r>
              <a:rPr/>
              <a:t>Recall = TP ÷ (TP + FN) = 43 ÷ 76 = </a:t>
            </a:r>
            <a:r>
              <a:rPr b="1"/>
              <a:t>0.566</a:t>
            </a:r>
            <a:r>
              <a:rPr/>
              <a:t>: of the drives that failed</a:t>
            </a:r>
          </a:p>
          <a:p>
            <a:pPr lvl="0"/>
            <a:r>
              <a:rPr/>
              <a:t>Specificity = TN ÷ (TN + FP) = 1,911 ÷ 1,924 = 0.993</a:t>
            </a:r>
          </a:p>
          <a:p>
            <a:pPr lvl="0"/>
            <a:r>
              <a:rPr/>
              <a:t>In code: </a:t>
            </a:r>
            <a:r>
              <a:rPr>
                <a:latin typeface="Courier"/>
              </a:rPr>
              <a:t>precision_score</a:t>
            </a:r>
            <a:r>
              <a:rPr/>
              <a:t>, </a:t>
            </a:r>
            <a:r>
              <a:rPr>
                <a:latin typeface="Courier"/>
              </a:rPr>
              <a:t>recall_score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Arithmetic mean</a:t>
                      </a:r>
                    </a:p>
                  </a:txBody>
                  <a:tcPr/>
                </a:tc>
                <a:tc>
                  <a:txBody>
                    <a:bodyPr/>
                    <a:lstStyle/>
                    <a:p>
                      <a:pPr lvl="0" indent="0" marL="0">
                        <a:buNone/>
                      </a:pPr>
                      <a:r>
                        <a:rPr/>
                        <a:t>Harmonic, F1 = 2PR ÷ (P + R)</a:t>
                      </a:r>
                    </a:p>
                  </a:txBody>
                  <a:tcPr/>
                </a:tc>
              </a:tr>
              <a:tr h="0">
                <a:tc>
                  <a:txBody>
                    <a:bodyPr/>
                    <a:lstStyle/>
                    <a:p>
                      <a:pPr lvl="0" indent="0" marL="0">
                        <a:buNone/>
                      </a:pPr>
                      <a:r>
                        <a:rPr/>
                        <a:t>Flag every drive</a:t>
                      </a:r>
                    </a:p>
                  </a:txBody>
                </a:tc>
                <a:tc>
                  <a:txBody>
                    <a:bodyPr/>
                    <a:lstStyle/>
                    <a:p>
                      <a:pPr lvl="0" indent="0" marL="0">
                        <a:buNone/>
                      </a:pPr>
                      <a:r>
                        <a:rPr/>
                        <a:t>0.038</a:t>
                      </a:r>
                    </a:p>
                  </a:txBody>
                </a:tc>
                <a:tc>
                  <a:txBody>
                    <a:bodyPr/>
                    <a:lstStyle/>
                    <a:p>
                      <a:pPr lvl="0" indent="0" marL="0">
                        <a:buNone/>
                      </a:pPr>
                      <a:r>
                        <a:rPr/>
                        <a:t>1.000</a:t>
                      </a:r>
                    </a:p>
                  </a:txBody>
                </a:tc>
                <a:tc>
                  <a:txBody>
                    <a:bodyPr/>
                    <a:lstStyle/>
                    <a:p>
                      <a:pPr lvl="0" indent="0" marL="0">
                        <a:buNone/>
                      </a:pPr>
                      <a:r>
                        <a:rPr/>
                        <a:t>0.519</a:t>
                      </a:r>
                    </a:p>
                  </a:txBody>
                </a:tc>
                <a:tc>
                  <a:txBody>
                    <a:bodyPr/>
                    <a:lstStyle/>
                    <a:p>
                      <a:pPr lvl="0" indent="0" marL="0">
                        <a:buNone/>
                      </a:pPr>
                      <a:r>
                        <a:rPr b="1"/>
                        <a:t>0.073</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weighted avg</a:t>
            </a:r>
            <a:r>
              <a:rPr/>
              <a:t> F1: </a:t>
            </a:r>
            <a:r>
              <a:rPr b="1"/>
              <a:t>0.975</a:t>
            </a:r>
            <a:r>
              <a:rPr/>
              <a:t> (dominated by the healthy class)</a:t>
            </a:r>
          </a:p>
          <a:p>
            <a:pPr lvl="0"/>
            <a:r>
              <a:rPr>
                <a:latin typeface="Courier"/>
              </a:rPr>
              <a:t>macro avg</a:t>
            </a:r>
            <a:r>
              <a:rPr/>
              <a:t> F1: </a:t>
            </a:r>
            <a:r>
              <a:rPr b="1"/>
              <a:t>0.820</a:t>
            </a:r>
            <a:r>
              <a:rPr/>
              <a:t> (both classes get an equal say)</a:t>
            </a:r>
          </a:p>
          <a:p>
            <a:pPr lvl="0"/>
            <a:r>
              <a:rPr/>
              <a:t>In code: </a:t>
            </a:r>
            <a:r>
              <a:rPr>
                <a:latin typeface="Courier"/>
              </a:rPr>
              <a:t>classification_report(y_test, y_pred)</a:t>
            </a:r>
            <a:r>
              <a:rPr/>
              <a:t> prints both rows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number that should worry you, 22</a:t>
                      </a:r>
                    </a:p>
                  </a:txBody>
                </a:tc>
                <a:tc>
                  <a:txBody>
                    <a:bodyPr/>
                    <a:lstStyle/>
                    <a:p>
                      <a:pPr lvl="0" indent="0" marL="0">
                        <a:buNone/>
                      </a:pPr>
                      <a:r>
                        <a:rPr>
                          <a:latin typeface="Courier"/>
                        </a:rPr>
                        <a:t>accuracy_score</a:t>
                      </a:r>
                      <a:r>
                        <a:rPr/>
                        <a:t> → 96.20% for “always healthy”</a:t>
                      </a:r>
                    </a:p>
                  </a:txBody>
                </a:tc>
              </a:tr>
              <a:tr h="0">
                <a:tc>
                  <a:txBody>
                    <a:bodyPr/>
                    <a:lstStyle/>
                    <a:p>
                      <a:pPr lvl="0" indent="0" marL="0">
                        <a:buNone/>
                      </a:pPr>
                      <a:r>
                        <a:rPr/>
                        <a:t>the confusion matrix, 24</a:t>
                      </a:r>
                    </a:p>
                  </a:txBody>
                </a:tc>
                <a:tc>
                  <a:txBody>
                    <a:bodyPr/>
                    <a:lstStyle/>
                    <a:p>
                      <a:pPr lvl="0" indent="0" marL="0">
                        <a:buNone/>
                      </a:pPr>
                      <a:r>
                        <a:rPr/>
                        <a:t>counts by hand, then </a:t>
                      </a:r>
                      <a:r>
                        <a:rPr>
                          <a:latin typeface="Courier"/>
                        </a:rPr>
                        <a:t>confusion_matrix</a:t>
                      </a:r>
                      <a:r>
                        <a:rPr/>
                        <a:t>, </a:t>
                      </a:r>
                      <a:r>
                        <a:rPr>
                          <a:latin typeface="Courier"/>
                        </a:rPr>
                        <a:t>ConfusionMatrixDisplay</a:t>
                      </a:r>
                      <a:r>
                        <a:rPr/>
                        <a:t> → TP 43</a:t>
                      </a:r>
                    </a:p>
                  </a:txBody>
                </a:tc>
              </a:tr>
              <a:tr h="0">
                <a:tc>
                  <a:txBody>
                    <a:bodyPr/>
                    <a:lstStyle/>
                    <a:p>
                      <a:pPr lvl="0" indent="0" marL="0">
                        <a:buNone/>
                      </a:pPr>
                      <a:r>
                        <a:rPr/>
                        <a:t>precision and recall, 26-29</a:t>
                      </a:r>
                    </a:p>
                  </a:txBody>
                </a:tc>
                <a:tc>
                  <a:txBody>
                    <a:bodyPr/>
                    <a:lstStyle/>
                    <a:p>
                      <a:pPr lvl="0" indent="0" marL="0">
                        <a:buNone/>
                      </a:pPr>
                      <a:r>
                        <a:rPr>
                          <a:latin typeface="Courier"/>
                        </a:rPr>
                        <a:t>precision_score</a:t>
                      </a:r>
                      <a:r>
                        <a:rPr/>
                        <a:t>, </a:t>
                      </a:r>
                      <a:r>
                        <a:rPr>
                          <a:latin typeface="Courier"/>
                        </a:rPr>
                        <a:t>recall_score</a:t>
                      </a:r>
                      <a:r>
                        <a:rPr/>
                        <a:t>, </a:t>
                      </a:r>
                      <a:r>
                        <a:rPr>
                          <a:latin typeface="Courier"/>
                        </a:rPr>
                        <a:t>f1_score</a:t>
                      </a:r>
                      <a:r>
                        <a:rPr/>
                        <a:t>, </a:t>
                      </a:r>
                      <a:r>
                        <a:rPr>
                          <a:latin typeface="Courier"/>
                        </a:rPr>
                        <a:t>classification_report</a:t>
                      </a:r>
                    </a:p>
                  </a:txBody>
                </a:tc>
              </a:tr>
              <a:tr h="0">
                <a:tc>
                  <a:txBody>
                    <a:bodyPr/>
                    <a:lstStyle/>
                    <a:p>
                      <a:pPr lvl="0" indent="0" marL="0">
                        <a:buNone/>
                      </a:pPr>
                      <a:r>
                        <a:rPr/>
                        <a:t>the threshold sweep, 31-32</a:t>
                      </a:r>
                    </a:p>
                  </a:txBody>
                </a:tc>
                <a:tc>
                  <a:txBody>
                    <a:bodyPr/>
                    <a:lstStyle/>
                    <a:p>
                      <a:pPr lvl="0" indent="0" marL="0">
                        <a:buNone/>
                      </a:pPr>
                      <a:r>
                        <a:rPr>
                          <a:latin typeface="Courier"/>
                        </a:rPr>
                        <a:t>predict_proba</a:t>
                      </a:r>
                      <a:r>
                        <a:rPr/>
                        <a:t>, then the metrics at each threshold</a:t>
                      </a:r>
                    </a:p>
                  </a:txBody>
                </a:tc>
              </a:tr>
              <a:tr h="0">
                <a:tc>
                  <a:txBody>
                    <a:bodyPr/>
                    <a:lstStyle/>
                    <a:p>
                      <a:pPr lvl="0" indent="0" marL="0">
                        <a:buNone/>
                      </a:pPr>
                      <a:r>
                        <a:rPr/>
                        <a:t>the precision-recall curve, 33</a:t>
                      </a:r>
                    </a:p>
                  </a:txBody>
                </a:tc>
                <a:tc>
                  <a:txBody>
                    <a:bodyPr/>
                    <a:lstStyle/>
                    <a:p>
                      <a:pPr lvl="0" indent="0" marL="0">
                        <a:buNone/>
                      </a:pPr>
                      <a:r>
                        <a:rPr>
                          <a:latin typeface="Courier"/>
                        </a:rPr>
                        <a:t>precision_recall_curve</a:t>
                      </a:r>
                      <a:r>
                        <a:rPr/>
                        <a:t>, </a:t>
                      </a:r>
                      <a:r>
                        <a:rPr>
                          <a:latin typeface="Courier"/>
                        </a:rPr>
                        <a:t>average_precision_score</a:t>
                      </a:r>
                      <a:r>
                        <a:rPr/>
                        <a:t> → 0.717 against 0.038</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175657"/>
                <a:gridCol w="1175657"/>
                <a:gridCol w="1175657"/>
                <a:gridCol w="1175657"/>
                <a:gridCol w="1175657"/>
                <a:gridCol w="1175657"/>
                <a:gridCol w="1175658"/>
              </a:tblGrid>
              <a:tr h="0">
                <a:tc>
                  <a:txBody>
                    <a:bodyPr/>
                    <a:lstStyle/>
                    <a:p>
                      <a:pPr lvl="0" indent="0" marL="0">
                        <a:buNone/>
                      </a:pPr>
                      <a:r>
                        <a:rPr/>
                        <a:t>Threshold</a:t>
                      </a:r>
                    </a:p>
                  </a:txBody>
                  <a:tcPr/>
                </a:tc>
                <a:tc>
                  <a:txBody>
                    <a:bodyPr/>
                    <a:lstStyle/>
                    <a:p>
                      <a:pPr lvl="0" indent="0" marL="0">
                        <a:buNone/>
                      </a:pPr>
                      <a:r>
                        <a:rPr/>
                        <a:t>TP</a:t>
                      </a:r>
                    </a:p>
                  </a:txBody>
                  <a:tcPr/>
                </a:tc>
                <a:tc>
                  <a:txBody>
                    <a:bodyPr/>
                    <a:lstStyle/>
                    <a:p>
                      <a:pPr lvl="0" indent="0" marL="0">
                        <a:buNone/>
                      </a:pPr>
                      <a:r>
                        <a:rPr/>
                        <a:t>FP</a:t>
                      </a:r>
                    </a:p>
                  </a:txBody>
                  <a:tcPr/>
                </a:tc>
                <a:tc>
                  <a:txBody>
                    <a:bodyPr/>
                    <a:lstStyle/>
                    <a:p>
                      <a:pPr lvl="0" indent="0" marL="0">
                        <a:buNone/>
                      </a:pPr>
                      <a:r>
                        <a:rPr/>
                        <a:t>FN</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Accuracy</a:t>
                      </a:r>
                    </a:p>
                  </a:txBody>
                  <a:tcPr/>
                </a:tc>
              </a:tr>
              <a:tr h="0">
                <a:tc>
                  <a:txBody>
                    <a:bodyPr/>
                    <a:lstStyle/>
                    <a:p>
                      <a:pPr lvl="0" indent="0" marL="0">
                        <a:buNone/>
                      </a:pPr>
                      <a:r>
                        <a:rPr/>
                        <a:t>0.02</a:t>
                      </a:r>
                    </a:p>
                  </a:txBody>
                </a:tc>
                <a:tc>
                  <a:txBody>
                    <a:bodyPr/>
                    <a:lstStyle/>
                    <a:p>
                      <a:pPr lvl="0" indent="0" marL="0">
                        <a:buNone/>
                      </a:pPr>
                      <a:r>
                        <a:rPr/>
                        <a:t>69</a:t>
                      </a:r>
                    </a:p>
                  </a:txBody>
                </a:tc>
                <a:tc>
                  <a:txBody>
                    <a:bodyPr/>
                    <a:lstStyle/>
                    <a:p>
                      <a:pPr lvl="0" indent="0" marL="0">
                        <a:buNone/>
                      </a:pPr>
                      <a:r>
                        <a:rPr/>
                        <a:t>284</a:t>
                      </a:r>
                    </a:p>
                  </a:txBody>
                </a:tc>
                <a:tc>
                  <a:txBody>
                    <a:bodyPr/>
                    <a:lstStyle/>
                    <a:p>
                      <a:pPr lvl="0" indent="0" marL="0">
                        <a:buNone/>
                      </a:pPr>
                      <a:r>
                        <a:rPr/>
                        <a:t>7</a:t>
                      </a:r>
                    </a:p>
                  </a:txBody>
                </a:tc>
                <a:tc>
                  <a:txBody>
                    <a:bodyPr/>
                    <a:lstStyle/>
                    <a:p>
                      <a:pPr lvl="0" indent="0" marL="0">
                        <a:buNone/>
                      </a:pPr>
                      <a:r>
                        <a:rPr/>
                        <a:t>0.195</a:t>
                      </a:r>
                    </a:p>
                  </a:txBody>
                </a:tc>
                <a:tc>
                  <a:txBody>
                    <a:bodyPr/>
                    <a:lstStyle/>
                    <a:p>
                      <a:pPr lvl="0" indent="0" marL="0">
                        <a:buNone/>
                      </a:pPr>
                      <a:r>
                        <a:rPr/>
                        <a:t>0.908</a:t>
                      </a:r>
                    </a:p>
                  </a:txBody>
                </a:tc>
                <a:tc>
                  <a:txBody>
                    <a:bodyPr/>
                    <a:lstStyle/>
                    <a:p>
                      <a:pPr lvl="0" indent="0" marL="0">
                        <a:buNone/>
                      </a:pPr>
                      <a:r>
                        <a:rPr/>
                        <a:t>0.855</a:t>
                      </a:r>
                    </a:p>
                  </a:txBody>
                </a:tc>
              </a:tr>
              <a:tr h="0">
                <a:tc>
                  <a:txBody>
                    <a:bodyPr/>
                    <a:lstStyle/>
                    <a:p>
                      <a:pPr lvl="0" indent="0" marL="0">
                        <a:buNone/>
                      </a:pPr>
                      <a:r>
                        <a:rPr/>
                        <a:t>0.10</a:t>
                      </a:r>
                    </a:p>
                  </a:txBody>
                </a:tc>
                <a:tc>
                  <a:txBody>
                    <a:bodyPr/>
                    <a:lstStyle/>
                    <a:p>
                      <a:pPr lvl="0" indent="0" marL="0">
                        <a:buNone/>
                      </a:pPr>
                      <a:r>
                        <a:rPr/>
                        <a:t>61</a:t>
                      </a:r>
                    </a:p>
                  </a:txBody>
                </a:tc>
                <a:tc>
                  <a:txBody>
                    <a:bodyPr/>
                    <a:lstStyle/>
                    <a:p>
                      <a:pPr lvl="0" indent="0" marL="0">
                        <a:buNone/>
                      </a:pPr>
                      <a:r>
                        <a:rPr/>
                        <a:t>102</a:t>
                      </a:r>
                    </a:p>
                  </a:txBody>
                </a:tc>
                <a:tc>
                  <a:txBody>
                    <a:bodyPr/>
                    <a:lstStyle/>
                    <a:p>
                      <a:pPr lvl="0" indent="0" marL="0">
                        <a:buNone/>
                      </a:pPr>
                      <a:r>
                        <a:rPr/>
                        <a:t>15</a:t>
                      </a:r>
                    </a:p>
                  </a:txBody>
                </a:tc>
                <a:tc>
                  <a:txBody>
                    <a:bodyPr/>
                    <a:lstStyle/>
                    <a:p>
                      <a:pPr lvl="0" indent="0" marL="0">
                        <a:buNone/>
                      </a:pPr>
                      <a:r>
                        <a:rPr/>
                        <a:t>0.374</a:t>
                      </a:r>
                    </a:p>
                  </a:txBody>
                </a:tc>
                <a:tc>
                  <a:txBody>
                    <a:bodyPr/>
                    <a:lstStyle/>
                    <a:p>
                      <a:pPr lvl="0" indent="0" marL="0">
                        <a:buNone/>
                      </a:pPr>
                      <a:r>
                        <a:rPr/>
                        <a:t>0.803</a:t>
                      </a:r>
                    </a:p>
                  </a:txBody>
                </a:tc>
                <a:tc>
                  <a:txBody>
                    <a:bodyPr/>
                    <a:lstStyle/>
                    <a:p>
                      <a:pPr lvl="0" indent="0" marL="0">
                        <a:buNone/>
                      </a:pPr>
                      <a:r>
                        <a:rPr/>
                        <a:t>0.942</a:t>
                      </a:r>
                    </a:p>
                  </a:txBody>
                </a:tc>
              </a:tr>
              <a:tr h="0">
                <a:tc>
                  <a:txBody>
                    <a:bodyPr/>
                    <a:lstStyle/>
                    <a:p>
                      <a:pPr lvl="0" indent="0" marL="0">
                        <a:buNone/>
                      </a:pPr>
                      <a:r>
                        <a:rPr/>
                        <a:t>0.30</a:t>
                      </a:r>
                    </a:p>
                  </a:txBody>
                </a:tc>
                <a:tc>
                  <a:txBody>
                    <a:bodyPr/>
                    <a:lstStyle/>
                    <a:p>
                      <a:pPr lvl="0" indent="0" marL="0">
                        <a:buNone/>
                      </a:pPr>
                      <a:r>
                        <a:rPr/>
                        <a:t>53</a:t>
                      </a:r>
                    </a:p>
                  </a:txBody>
                </a:tc>
                <a:tc>
                  <a:txBody>
                    <a:bodyPr/>
                    <a:lstStyle/>
                    <a:p>
                      <a:pPr lvl="0" indent="0" marL="0">
                        <a:buNone/>
                      </a:pPr>
                      <a:r>
                        <a:rPr/>
                        <a:t>25</a:t>
                      </a:r>
                    </a:p>
                  </a:txBody>
                </a:tc>
                <a:tc>
                  <a:txBody>
                    <a:bodyPr/>
                    <a:lstStyle/>
                    <a:p>
                      <a:pPr lvl="0" indent="0" marL="0">
                        <a:buNone/>
                      </a:pPr>
                      <a:r>
                        <a:rPr/>
                        <a:t>23</a:t>
                      </a:r>
                    </a:p>
                  </a:txBody>
                </a:tc>
                <a:tc>
                  <a:txBody>
                    <a:bodyPr/>
                    <a:lstStyle/>
                    <a:p>
                      <a:pPr lvl="0" indent="0" marL="0">
                        <a:buNone/>
                      </a:pPr>
                      <a:r>
                        <a:rPr/>
                        <a:t>0.679</a:t>
                      </a:r>
                    </a:p>
                  </a:txBody>
                </a:tc>
                <a:tc>
                  <a:txBody>
                    <a:bodyPr/>
                    <a:lstStyle/>
                    <a:p>
                      <a:pPr lvl="0" indent="0" marL="0">
                        <a:buNone/>
                      </a:pPr>
                      <a:r>
                        <a:rPr/>
                        <a:t>0.697</a:t>
                      </a:r>
                    </a:p>
                  </a:txBody>
                </a:tc>
                <a:tc>
                  <a:txBody>
                    <a:bodyPr/>
                    <a:lstStyle/>
                    <a:p>
                      <a:pPr lvl="0" indent="0" marL="0">
                        <a:buNone/>
                      </a:pPr>
                      <a:r>
                        <a:rPr/>
                        <a:t>0.976</a:t>
                      </a:r>
                    </a:p>
                  </a:txBody>
                </a:tc>
              </a:tr>
              <a:tr h="0">
                <a:tc>
                  <a:txBody>
                    <a:bodyPr/>
                    <a:lstStyle/>
                    <a:p>
                      <a:pPr lvl="0" indent="0" marL="0">
                        <a:buNone/>
                      </a:pPr>
                      <a:r>
                        <a:rPr/>
                        <a:t>0.50</a:t>
                      </a:r>
                    </a:p>
                  </a:txBody>
                </a:tc>
                <a:tc>
                  <a:txBody>
                    <a:bodyPr/>
                    <a:lstStyle/>
                    <a:p>
                      <a:pPr lvl="0" indent="0" marL="0">
                        <a:buNone/>
                      </a:pPr>
                      <a:r>
                        <a:rPr/>
                        <a:t>43</a:t>
                      </a:r>
                    </a:p>
                  </a:txBody>
                </a:tc>
                <a:tc>
                  <a:txBody>
                    <a:bodyPr/>
                    <a:lstStyle/>
                    <a:p>
                      <a:pPr lvl="0" indent="0" marL="0">
                        <a:buNone/>
                      </a:pPr>
                      <a:r>
                        <a:rPr/>
                        <a:t>13</a:t>
                      </a:r>
                    </a:p>
                  </a:txBody>
                </a:tc>
                <a:tc>
                  <a:txBody>
                    <a:bodyPr/>
                    <a:lstStyle/>
                    <a:p>
                      <a:pPr lvl="0" indent="0" marL="0">
                        <a:buNone/>
                      </a:pPr>
                      <a:r>
                        <a:rPr/>
                        <a:t>33</a:t>
                      </a:r>
                    </a:p>
                  </a:txBody>
                </a:tc>
                <a:tc>
                  <a:txBody>
                    <a:bodyPr/>
                    <a:lstStyle/>
                    <a:p>
                      <a:pPr lvl="0" indent="0" marL="0">
                        <a:buNone/>
                      </a:pPr>
                      <a:r>
                        <a:rPr/>
                        <a:t>0.768</a:t>
                      </a:r>
                    </a:p>
                  </a:txBody>
                </a:tc>
                <a:tc>
                  <a:txBody>
                    <a:bodyPr/>
                    <a:lstStyle/>
                    <a:p>
                      <a:pPr lvl="0" indent="0" marL="0">
                        <a:buNone/>
                      </a:pPr>
                      <a:r>
                        <a:rPr/>
                        <a:t>0.566</a:t>
                      </a:r>
                    </a:p>
                  </a:txBody>
                </a:tc>
                <a:tc>
                  <a:txBody>
                    <a:bodyPr/>
                    <a:lstStyle/>
                    <a:p>
                      <a:pPr lvl="0" indent="0" marL="0">
                        <a:buNone/>
                      </a:pPr>
                      <a:r>
                        <a:rPr b="1"/>
                        <a:t>0.977</a:t>
                      </a:r>
                    </a:p>
                  </a:txBody>
                </a:tc>
              </a:tr>
              <a:tr h="0">
                <a:tc>
                  <a:txBody>
                    <a:bodyPr/>
                    <a:lstStyle/>
                    <a:p>
                      <a:pPr lvl="0" indent="0" marL="0">
                        <a:buNone/>
                      </a:pPr>
                      <a:r>
                        <a:rPr/>
                        <a:t>0.90</a:t>
                      </a:r>
                    </a:p>
                  </a:txBody>
                </a:tc>
                <a:tc>
                  <a:txBody>
                    <a:bodyPr/>
                    <a:lstStyle/>
                    <a:p>
                      <a:pPr lvl="0" indent="0" marL="0">
                        <a:buNone/>
                      </a:pPr>
                      <a:r>
                        <a:rPr/>
                        <a:t>14</a:t>
                      </a:r>
                    </a:p>
                  </a:txBody>
                </a:tc>
                <a:tc>
                  <a:txBody>
                    <a:bodyPr/>
                    <a:lstStyle/>
                    <a:p>
                      <a:pPr lvl="0" indent="0" marL="0">
                        <a:buNone/>
                      </a:pPr>
                      <a:r>
                        <a:rPr/>
                        <a:t>0</a:t>
                      </a:r>
                    </a:p>
                  </a:txBody>
                </a:tc>
                <a:tc>
                  <a:txBody>
                    <a:bodyPr/>
                    <a:lstStyle/>
                    <a:p>
                      <a:pPr lvl="0" indent="0" marL="0">
                        <a:buNone/>
                      </a:pPr>
                      <a:r>
                        <a:rPr/>
                        <a:t>62</a:t>
                      </a:r>
                    </a:p>
                  </a:txBody>
                </a:tc>
                <a:tc>
                  <a:txBody>
                    <a:bodyPr/>
                    <a:lstStyle/>
                    <a:p>
                      <a:pPr lvl="0" indent="0" marL="0">
                        <a:buNone/>
                      </a:pPr>
                      <a:r>
                        <a:rPr/>
                        <a:t>1.000</a:t>
                      </a:r>
                    </a:p>
                  </a:txBody>
                </a:tc>
                <a:tc>
                  <a:txBody>
                    <a:bodyPr/>
                    <a:lstStyle/>
                    <a:p>
                      <a:pPr lvl="0" indent="0" marL="0">
                        <a:buNone/>
                      </a:pPr>
                      <a:r>
                        <a:rPr/>
                        <a:t>0.184</a:t>
                      </a:r>
                    </a:p>
                  </a:txBody>
                </a:tc>
                <a:tc>
                  <a:txBody>
                    <a:bodyPr/>
                    <a:lstStyle/>
                    <a:p>
                      <a:pPr lvl="0" indent="0" marL="0">
                        <a:buNone/>
                      </a:pPr>
                      <a:r>
                        <a:rPr/>
                        <a:t>0.969</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Area under the curve (AUC) = the probability that a random failing drive scores above a random healthy one</a:t>
            </a:r>
          </a:p>
          <a:p>
            <a:pPr lvl="0"/>
            <a:r>
              <a:rPr/>
              <a:t>Ours: 0.949</a:t>
            </a:r>
          </a:p>
          <a:p>
            <a:pPr lvl="0"/>
            <a:r>
              <a:rPr/>
              <a:t>In code: </a:t>
            </a:r>
            <a:r>
              <a:rPr>
                <a:latin typeface="Courier"/>
              </a:rPr>
              <a:t>roc_auc_score(y_test, scores)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False positive rate (FPR)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a:p>
            <a:pPr lvl="0"/>
            <a:r>
              <a:rPr/>
              <a:t>Its area is the </a:t>
            </a:r>
            <a:r>
              <a:rPr b="1"/>
              <a:t>average precision</a:t>
            </a:r>
            <a:r>
              <a:rPr/>
              <a:t>, </a:t>
            </a:r>
            <a:r>
              <a:rPr>
                <a:latin typeface="Courier"/>
              </a:rPr>
              <a:t>average_precision_score</a:t>
            </a:r>
            <a:r>
              <a:rPr/>
              <a:t>: 0.717 here, against a floor of 0.038</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Recall</a:t>
                      </a:r>
                    </a:p>
                  </a:txBody>
                  <a:tcPr/>
                </a:tc>
                <a:tc>
                  <a:txBody>
                    <a:bodyPr/>
                    <a:lstStyle/>
                    <a:p>
                      <a:pPr lvl="0" indent="0" marL="0">
                        <a:buNone/>
                      </a:pPr>
                      <a:r>
                        <a:rPr/>
                        <a:t>Precision</a:t>
                      </a:r>
                    </a:p>
                  </a:txBody>
                  <a:tcPr/>
                </a:tc>
                <a:tc>
                  <a:txBody>
                    <a:bodyPr/>
                    <a:lstStyle/>
                    <a:p>
                      <a:pPr lvl="0" indent="0" marL="0">
                        <a:buNone/>
                      </a:pPr>
                      <a:r>
                        <a:rPr/>
                        <a:t>AUC</a:t>
                      </a:r>
                    </a:p>
                  </a:txBody>
                  <a:tcPr/>
                </a:tc>
                <a:tc>
                  <a:txBody>
                    <a:bodyPr/>
                    <a:lstStyle/>
                    <a:p>
                      <a:pPr lvl="0" indent="0" marL="0">
                        <a:buNone/>
                      </a:pPr>
                      <a:r>
                        <a:rPr/>
                        <a:t>Cost</a:t>
                      </a:r>
                    </a:p>
                  </a:txBody>
                  <a:tcPr/>
                </a:tc>
              </a:tr>
              <a:tr h="0">
                <a:tc>
                  <a:txBody>
                    <a:bodyPr/>
                    <a:lstStyle/>
                    <a:p>
                      <a:pPr lvl="0" indent="0" marL="0">
                        <a:buNone/>
                      </a:pPr>
                      <a:r>
                        <a:rPr/>
                        <a:t>Plain, threshold 0.50</a:t>
                      </a:r>
                    </a:p>
                  </a:txBody>
                </a:tc>
                <a:tc>
                  <a:txBody>
                    <a:bodyPr/>
                    <a:lstStyle/>
                    <a:p>
                      <a:pPr lvl="0" indent="0" marL="0">
                        <a:buNone/>
                      </a:pPr>
                      <a:r>
                        <a:rPr/>
                        <a:t>0.566</a:t>
                      </a:r>
                    </a:p>
                  </a:txBody>
                </a:tc>
                <a:tc>
                  <a:txBody>
                    <a:bodyPr/>
                    <a:lstStyle/>
                    <a:p>
                      <a:pPr lvl="0" indent="0" marL="0">
                        <a:buNone/>
                      </a:pPr>
                      <a:r>
                        <a:rPr/>
                        <a:t>0.768</a:t>
                      </a:r>
                    </a:p>
                  </a:txBody>
                </a:tc>
                <a:tc>
                  <a:txBody>
                    <a:bodyPr/>
                    <a:lstStyle/>
                    <a:p>
                      <a:pPr lvl="0" indent="0" marL="0">
                        <a:buNone/>
                      </a:pPr>
                      <a:r>
                        <a:rPr/>
                        <a:t>0.949</a:t>
                      </a:r>
                    </a:p>
                  </a:txBody>
                </a:tc>
                <a:tc>
                  <a:txBody>
                    <a:bodyPr/>
                    <a:lstStyle/>
                    <a:p>
                      <a:pPr lvl="0" indent="0" marL="0">
                        <a:buNone/>
                      </a:pPr>
                      <a:r>
                        <a:rPr/>
                        <a:t>87,620</a:t>
                      </a:r>
                    </a:p>
                  </a:txBody>
                </a:tc>
              </a:tr>
              <a:tr h="0">
                <a:tc>
                  <a:txBody>
                    <a:bodyPr/>
                    <a:lstStyle/>
                    <a:p>
                      <a:pPr lvl="0" indent="0" marL="0">
                        <a:buNone/>
                      </a:pPr>
                      <a:r>
                        <a:rPr/>
                        <a:t>Plain, threshold 0.08</a:t>
                      </a:r>
                    </a:p>
                  </a:txBody>
                </a:tc>
                <a:tc>
                  <a:txBody>
                    <a:bodyPr/>
                    <a:lstStyle/>
                    <a:p>
                      <a:pPr lvl="0" indent="0" marL="0">
                        <a:buNone/>
                      </a:pPr>
                      <a:r>
                        <a:rPr/>
                        <a:t>0.855</a:t>
                      </a:r>
                    </a:p>
                  </a:txBody>
                </a:tc>
                <a:tc>
                  <a:txBody>
                    <a:bodyPr/>
                    <a:lstStyle/>
                    <a:p>
                      <a:pPr lvl="0" indent="0" marL="0">
                        <a:buNone/>
                      </a:pPr>
                      <a:r>
                        <a:rPr/>
                        <a:t>0.349</a:t>
                      </a:r>
                    </a:p>
                  </a:txBody>
                </a:tc>
                <a:tc>
                  <a:txBody>
                    <a:bodyPr/>
                    <a:lstStyle/>
                    <a:p>
                      <a:pPr lvl="0" indent="0" marL="0">
                        <a:buNone/>
                      </a:pPr>
                      <a:r>
                        <a:rPr/>
                        <a:t>0.949</a:t>
                      </a:r>
                    </a:p>
                  </a:txBody>
                </a:tc>
                <a:tc>
                  <a:txBody>
                    <a:bodyPr/>
                    <a:lstStyle/>
                    <a:p>
                      <a:pPr lvl="0" indent="0" marL="0">
                        <a:buNone/>
                      </a:pPr>
                      <a:r>
                        <a:rPr/>
                        <a:t>45,540</a:t>
                      </a:r>
                    </a:p>
                  </a:txBody>
                </a:tc>
              </a:tr>
              <a:tr h="0">
                <a:tc>
                  <a:txBody>
                    <a:bodyPr/>
                    <a:lstStyle/>
                    <a:p>
                      <a:pPr lvl="0" indent="0" marL="0">
                        <a:buNone/>
                      </a:pPr>
                      <a:r>
                        <a:rPr/>
                        <a:t>Balanced class weights, 0.50</a:t>
                      </a:r>
                    </a:p>
                  </a:txBody>
                </a:tc>
                <a:tc>
                  <a:txBody>
                    <a:bodyPr/>
                    <a:lstStyle/>
                    <a:p>
                      <a:pPr lvl="0" indent="0" marL="0">
                        <a:buNone/>
                      </a:pPr>
                      <a:r>
                        <a:rPr/>
                        <a:t>0.895</a:t>
                      </a:r>
                    </a:p>
                  </a:txBody>
                </a:tc>
                <a:tc>
                  <a:txBody>
                    <a:bodyPr/>
                    <a:lstStyle/>
                    <a:p>
                      <a:pPr lvl="0" indent="0" marL="0">
                        <a:buNone/>
                      </a:pPr>
                      <a:r>
                        <a:rPr/>
                        <a:t>0.249</a:t>
                      </a:r>
                    </a:p>
                  </a:txBody>
                </a:tc>
                <a:tc>
                  <a:txBody>
                    <a:bodyPr/>
                    <a:lstStyle/>
                    <a:p>
                      <a:pPr lvl="0" indent="0" marL="0">
                        <a:buNone/>
                      </a:pPr>
                      <a:r>
                        <a:rPr b="1"/>
                        <a:t>0.950</a:t>
                      </a:r>
                    </a:p>
                  </a:txBody>
                </a:tc>
                <a:tc>
                  <a:txBody>
                    <a:bodyPr/>
                    <a:lstStyle/>
                    <a:p>
                      <a:pPr lvl="0" indent="0" marL="0">
                        <a:buNone/>
                      </a:pPr>
                      <a:r>
                        <a:rPr/>
                        <a:t>49,500</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ROC curve by hand, 35</a:t>
                      </a:r>
                    </a:p>
                  </a:txBody>
                </a:tc>
                <a:tc>
                  <a:txBody>
                    <a:bodyPr/>
                    <a:lstStyle/>
                    <a:p>
                      <a:pPr lvl="0" indent="0" marL="0">
                        <a:buNone/>
                      </a:pPr>
                      <a:r>
                        <a:rPr>
                          <a:latin typeface="Courier"/>
                        </a:rPr>
                        <a:t>roc_curve</a:t>
                      </a:r>
                      <a:r>
                        <a:rPr/>
                        <a:t>, </a:t>
                      </a:r>
                      <a:r>
                        <a:rPr>
                          <a:latin typeface="Courier"/>
                        </a:rPr>
                        <a:t>roc_auc_score</a:t>
                      </a:r>
                      <a:r>
                        <a:rPr/>
                        <a:t> → 0.9493</a:t>
                      </a:r>
                    </a:p>
                  </a:txBody>
                </a:tc>
              </a:tr>
              <a:tr h="0">
                <a:tc>
                  <a:txBody>
                    <a:bodyPr/>
                    <a:lstStyle/>
                    <a:p>
                      <a:pPr lvl="0" indent="0" marL="0">
                        <a:buNone/>
                      </a:pPr>
                      <a:r>
                        <a:rPr/>
                        <a:t>what AUC means, 36</a:t>
                      </a:r>
                    </a:p>
                  </a:txBody>
                </a:tc>
                <a:tc>
                  <a:txBody>
                    <a:bodyPr/>
                    <a:lstStyle/>
                    <a:p>
                      <a:pPr lvl="0" indent="0" marL="0">
                        <a:buNone/>
                      </a:pPr>
                      <a:r>
                        <a:rPr/>
                        <a:t>200,000 random (failing, healthy) pairs → 0.9488</a:t>
                      </a:r>
                    </a:p>
                  </a:txBody>
                </a:tc>
              </a:tr>
              <a:tr h="0">
                <a:tc>
                  <a:txBody>
                    <a:bodyPr/>
                    <a:lstStyle/>
                    <a:p>
                      <a:pPr lvl="0" indent="0" marL="0">
                        <a:buNone/>
                      </a:pPr>
                      <a:r>
                        <a:rPr/>
                        <a:t>the rare-positive trap, 38-39</a:t>
                      </a:r>
                    </a:p>
                  </a:txBody>
                </a:tc>
                <a:tc>
                  <a:txBody>
                    <a:bodyPr/>
                    <a:lstStyle/>
                    <a:p>
                      <a:pPr lvl="0" indent="0" marL="0">
                        <a:buNone/>
                      </a:pPr>
                      <a:r>
                        <a:rPr>
                          <a:latin typeface="Courier"/>
                        </a:rPr>
                        <a:t>average_precision_score</a:t>
                      </a:r>
                      <a:r>
                        <a:rPr/>
                        <a:t> beside </a:t>
                      </a:r>
                      <a:r>
                        <a:rPr>
                          <a:latin typeface="Courier"/>
                        </a:rPr>
                        <a:t>roc_auc_score</a:t>
                      </a:r>
                      <a:r>
                        <a:rPr/>
                        <a:t> → AP 0.706 to 0.361, AUC unmoved</a:t>
                      </a:r>
                    </a:p>
                  </a:txBody>
                </a:tc>
              </a:tr>
              <a:tr h="0">
                <a:tc>
                  <a:txBody>
                    <a:bodyPr/>
                    <a:lstStyle/>
                    <a:p>
                      <a:pPr lvl="0" indent="0" marL="0">
                        <a:buNone/>
                      </a:pPr>
                      <a:r>
                        <a:rPr/>
                        <a:t>the threshold from costs, 41-43</a:t>
                      </a:r>
                    </a:p>
                  </a:txBody>
                </a:tc>
                <a:tc>
                  <a:txBody>
                    <a:bodyPr/>
                    <a:lstStyle/>
                    <a:p>
                      <a:pPr lvl="0" indent="0" marL="0">
                        <a:buNone/>
                      </a:pPr>
                      <a:r>
                        <a:rPr>
                          <a:latin typeface="Courier"/>
                        </a:rPr>
                        <a:t>confusion_matrix</a:t>
                      </a:r>
                      <a:r>
                        <a:rPr/>
                        <a:t> at each threshold → 45,540 EUR at 0.08, against 87,620 at 0.50</a:t>
                      </a:r>
                    </a:p>
                  </a:txBody>
                </a:tc>
              </a:tr>
              <a:tr h="0">
                <a:tc>
                  <a:txBody>
                    <a:bodyPr/>
                    <a:lstStyle/>
                    <a:p>
                      <a:pPr lvl="0" indent="0" marL="0">
                        <a:buNone/>
                      </a:pPr>
                      <a:r>
                        <a:rPr/>
                        <a:t>class weights, 44</a:t>
                      </a:r>
                    </a:p>
                  </a:txBody>
                </a:tc>
                <a:tc>
                  <a:txBody>
                    <a:bodyPr/>
                    <a:lstStyle/>
                    <a:p>
                      <a:pPr lvl="0" indent="0" marL="0">
                        <a:buNone/>
                      </a:pPr>
                      <a:r>
                        <a:rPr>
                          <a:latin typeface="Courier"/>
                        </a:rPr>
                        <a:t>LogisticRegression</a:t>
                      </a:r>
                      <a:r>
                        <a:rPr/>
                        <a:t> with balanced class weights → AUC 0.950</a:t>
                      </a:r>
                    </a:p>
                  </a:txBody>
                </a:tc>
              </a:tr>
              <a:tr h="0">
                <a:tc>
                  <a:txBody>
                    <a:bodyPr/>
                    <a:lstStyle/>
                    <a:p>
                      <a:pPr lvl="0" indent="0" marL="0">
                        <a:buNone/>
                      </a:pPr>
                      <a:r>
                        <a:rPr/>
                        <a:t>three classes, 46-47</a:t>
                      </a:r>
                    </a:p>
                  </a:txBody>
                </a:tc>
                <a:tc>
                  <a:txBody>
                    <a:bodyPr/>
                    <a:lstStyle/>
                    <a:p>
                      <a:pPr lvl="0" indent="0" marL="0">
                        <a:buNone/>
                      </a:pPr>
                      <a:r>
                        <a:rPr>
                          <a:latin typeface="Courier"/>
                        </a:rPr>
                        <a:t>classification_report</a:t>
                      </a:r>
                      <a:r>
                        <a:rPr/>
                        <a:t> → macro F1 0.707, weighted 0.883</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sp>
        <p:nvSpPr>
          <p:cNvPr id="3" name="Content Placeholder 2"/>
          <p:cNvSpPr>
            <a:spLocks noGrp="1"/>
          </p:cNvSpPr>
          <p:nvPr>
            <p:ph idx="1"/>
          </p:nvPr>
        </p:nvSpPr>
        <p:spPr>
          <a:xfrm>
            <a:off x="457200" y="1200151"/>
            <a:ext cx="8229600" cy="3394472"/>
          </a:xfrm>
        </p:spPr>
        <p:txBody>
          <a:bodyPr/>
          <a:lstStyle/>
          <a:p>
            <a:pPr lvl="0"/>
            <a:r>
              <a:rPr/>
              <a:t>macro avg F1: </a:t>
            </a:r>
            <a:r>
              <a:rPr b="1"/>
              <a:t>0.707</a:t>
            </a:r>
          </a:p>
          <a:p>
            <a:pPr lvl="0"/>
            <a:r>
              <a:rPr/>
              <a:t>weighted avg F1: </a:t>
            </a:r>
            <a:r>
              <a:rPr b="1"/>
              <a:t>0.883</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30 October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23 October 2026</vt:lpwstr>
  </property>
  <property fmtid="{D5CDD505-2E9C-101B-9397-08002B2CF9AE}" pid="3" name="subtitle">
    <vt:lpwstr>Technologies for Artificial Intelligence</vt:lpwstr>
  </property>
</Properties>
</file>