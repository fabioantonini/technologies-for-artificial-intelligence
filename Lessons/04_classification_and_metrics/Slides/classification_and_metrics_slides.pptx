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(handout section 1.1) - the first four move it from 1.2% to 4.4%,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4 times 0.336 = 1.34 to z and take a drive from sigma(-4.43) = 1.2% to sigma(-4.43 + 1.34) = sigma(-3.09) =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12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that is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Standardising first (StandardScaler, lesson 3) puts every feature in the same unit, one standard deviation, so the coefficients can be compared with each other. For the four counters that the data puts on a logarithmic scale, it is one standard deviation of the transformed column.</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14 of 76, fewer than a quarter.</a:t>
            </a:r>
          </a:p>
          <a:p>
            <a:pPr lvl="0" indent="0" marL="0">
              <a:buNone/>
            </a:pPr>
          </a:p>
          <a:p>
            <a:pPr lvl="0" indent="0" marL="0">
              <a:buNone/>
            </a:pPr>
            <a:r>
              <a:rPr/>
              <a:t>Now the accuracy column, which is the slide’s real argument. From 0.10 upwards it moves by 0.977 - 0.942 = 0.035, three and a half percentage points,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alarms go from 53 + 25 = 78 to 43 + 13 = 56, 22 fewer: 25 - 13 = 12 were false and 53 - 43 = 10 were caught failures. Accuracy gains 12 right answers and loses 10, two more in all, 0.976 to 0.977.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(53 and 54)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- 1,665 of 2,000,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one standard deviation more of reallocated sectors adds 1.80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76 ÷ 2,000 = 0.038</a:t>
                      </a:r>
                    </a:p>
                  </a:txBody>
                </a:tc>
                <a:tc>
                  <a:txBody>
                    <a:bodyPr/>
                    <a:lstStyle/>
                    <a:p>
                      <a:pPr lvl="0" indent="0" marL="0">
                        <a:buNone/>
                      </a:pPr>
                      <a:r>
                        <a:rPr/>
                        <a:t>76 ÷ 76 = 1</a:t>
                      </a:r>
                    </a:p>
                  </a:txBody>
                </a:tc>
                <a:tc>
                  <a:txBody>
                    <a:bodyPr/>
                    <a:lstStyle/>
                    <a:p>
                      <a:pPr lvl="0" indent="0" marL="0">
                        <a:buNone/>
                      </a:pPr>
                      <a:r>
                        <a:rPr/>
                        <a:t>(0.038 + 1) ÷ 2 = 0.519</a:t>
                      </a:r>
                    </a:p>
                  </a:txBody>
                </a:tc>
                <a:tc>
                  <a:txBody>
                    <a:bodyPr/>
                    <a:lstStyle/>
                    <a:p>
                      <a:pPr lvl="0" indent="0" marL="0">
                        <a:buNone/>
                      </a:pPr>
                      <a:r>
                        <a:rPr/>
                        <a:t>2 × 0.038 × 1 ÷ 1.038 = </a:t>
                      </a: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 TP ÷ (TP + FP)</a:t>
                      </a:r>
                    </a:p>
                  </a:txBody>
                  <a:tcPr/>
                </a:tc>
                <a:tc>
                  <a:txBody>
                    <a:bodyPr/>
                    <a:lstStyle/>
                    <a:p>
                      <a:pPr lvl="0" indent="0" marL="0">
                        <a:buNone/>
                      </a:pPr>
                      <a:r>
                        <a:rPr/>
                        <a:t>Recall, TP ÷ (TP + FN)</a:t>
                      </a:r>
                    </a:p>
                  </a:txBody>
                  <a:tcPr/>
                </a:tc>
                <a:tc>
                  <a:txBody>
                    <a:bodyPr/>
                    <a:lstStyle/>
                    <a:p>
                      <a:pPr lvl="0" indent="0" marL="0">
                        <a:buNone/>
                      </a:pPr>
                      <a:r>
                        <a:rPr/>
                        <a:t>Accuracy, (TP + TN) ÷ 2,000</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Failures missed, FN</a:t>
                      </a:r>
                    </a:p>
                  </a:txBody>
                  <a:tcPr/>
                </a:tc>
                <a:tc>
                  <a:txBody>
                    <a:bodyPr/>
                    <a:lstStyle/>
                    <a:p>
                      <a:pPr lvl="0" indent="0" marL="0">
                        <a:buNone/>
                      </a:pPr>
                      <a:r>
                        <a:rPr/>
                        <a:t>False alarms, FP</a:t>
                      </a:r>
                    </a:p>
                  </a:txBody>
                  <a:tcPr/>
                </a:tc>
                <a:tc>
                  <a:txBody>
                    <a:bodyPr/>
                    <a:lstStyle/>
                    <a:p>
                      <a:pPr lvl="0" indent="0" marL="0">
                        <a:buNone/>
                      </a:pPr>
                      <a:r>
                        <a:rPr/>
                        <a:t>Cost = FN × €2,600 + FP × €140</a:t>
                      </a:r>
                    </a:p>
                  </a:txBody>
                  <a:tcPr/>
                </a:tc>
                <a:tc>
                  <a:txBody>
                    <a:bodyPr/>
                    <a:lstStyle/>
                    <a:p>
                      <a:pPr lvl="0" indent="0" marL="0">
                        <a:buNone/>
                      </a:pPr>
                      <a:r>
                        <a:rPr/>
                        <a:t>AUC</a:t>
                      </a:r>
                    </a:p>
                  </a:txBody>
                  <a:tcPr/>
                </a:tc>
              </a:tr>
              <a:tr h="0">
                <a:tc>
                  <a:txBody>
                    <a:bodyPr/>
                    <a:lstStyle/>
                    <a:p>
                      <a:pPr lvl="0" indent="0" marL="0">
                        <a:buNone/>
                      </a:pPr>
                      <a:r>
                        <a:rPr/>
                        <a:t>Plain, threshold 0.50</a:t>
                      </a:r>
                    </a:p>
                  </a:txBody>
                </a:tc>
                <a:tc>
                  <a:txBody>
                    <a:bodyPr/>
                    <a:lstStyle/>
                    <a:p>
                      <a:pPr lvl="0" indent="0" marL="0">
                        <a:buNone/>
                      </a:pPr>
                      <a:r>
                        <a:rPr/>
                        <a:t>33</a:t>
                      </a:r>
                    </a:p>
                  </a:txBody>
                </a:tc>
                <a:tc>
                  <a:txBody>
                    <a:bodyPr/>
                    <a:lstStyle/>
                    <a:p>
                      <a:pPr lvl="0" indent="0" marL="0">
                        <a:buNone/>
                      </a:pPr>
                      <a:r>
                        <a:rPr/>
                        <a:t>13</a:t>
                      </a:r>
                    </a:p>
                  </a:txBody>
                </a:tc>
                <a:tc>
                  <a:txBody>
                    <a:bodyPr/>
                    <a:lstStyle/>
                    <a:p>
                      <a:pPr lvl="0" indent="0" marL="0">
                        <a:buNone/>
                      </a:pPr>
                      <a:r>
                        <a:rPr/>
                        <a:t>33 × 2,600 + 13 × 140 = €87,620</a:t>
                      </a:r>
                    </a:p>
                  </a:txBody>
                </a:tc>
                <a:tc>
                  <a:txBody>
                    <a:bodyPr/>
                    <a:lstStyle/>
                    <a:p>
                      <a:pPr lvl="0" indent="0" marL="0">
                        <a:buNone/>
                      </a:pPr>
                      <a:r>
                        <a:rPr/>
                        <a:t>0.949</a:t>
                      </a:r>
                    </a:p>
                  </a:txBody>
                </a:tc>
              </a:tr>
              <a:tr h="0">
                <a:tc>
                  <a:txBody>
                    <a:bodyPr/>
                    <a:lstStyle/>
                    <a:p>
                      <a:pPr lvl="0" indent="0" marL="0">
                        <a:buNone/>
                      </a:pPr>
                      <a:r>
                        <a:rPr/>
                        <a:t>Plain, threshold 0.08</a:t>
                      </a:r>
                    </a:p>
                  </a:txBody>
                </a:tc>
                <a:tc>
                  <a:txBody>
                    <a:bodyPr/>
                    <a:lstStyle/>
                    <a:p>
                      <a:pPr lvl="0" indent="0" marL="0">
                        <a:buNone/>
                      </a:pPr>
                      <a:r>
                        <a:rPr/>
                        <a:t>11</a:t>
                      </a:r>
                    </a:p>
                  </a:txBody>
                </a:tc>
                <a:tc>
                  <a:txBody>
                    <a:bodyPr/>
                    <a:lstStyle/>
                    <a:p>
                      <a:pPr lvl="0" indent="0" marL="0">
                        <a:buNone/>
                      </a:pPr>
                      <a:r>
                        <a:rPr/>
                        <a:t>121</a:t>
                      </a:r>
                    </a:p>
                  </a:txBody>
                </a:tc>
                <a:tc>
                  <a:txBody>
                    <a:bodyPr/>
                    <a:lstStyle/>
                    <a:p>
                      <a:pPr lvl="0" indent="0" marL="0">
                        <a:buNone/>
                      </a:pPr>
                      <a:r>
                        <a:rPr/>
                        <a:t>11 × 2,600 + 121 × 140 = €45,540</a:t>
                      </a:r>
                    </a:p>
                  </a:txBody>
                </a:tc>
                <a:tc>
                  <a:txBody>
                    <a:bodyPr/>
                    <a:lstStyle/>
                    <a:p>
                      <a:pPr lvl="0" indent="0" marL="0">
                        <a:buNone/>
                      </a:pPr>
                      <a:r>
                        <a:rPr/>
                        <a:t>0.949</a:t>
                      </a:r>
                    </a:p>
                  </a:txBody>
                </a:tc>
              </a:tr>
              <a:tr h="0">
                <a:tc>
                  <a:txBody>
                    <a:bodyPr/>
                    <a:lstStyle/>
                    <a:p>
                      <a:pPr lvl="0" indent="0" marL="0">
                        <a:buNone/>
                      </a:pPr>
                      <a:r>
                        <a:rPr/>
                        <a:t>Balanced class weights, 0.50</a:t>
                      </a:r>
                    </a:p>
                  </a:txBody>
                </a:tc>
                <a:tc>
                  <a:txBody>
                    <a:bodyPr/>
                    <a:lstStyle/>
                    <a:p>
                      <a:pPr lvl="0" indent="0" marL="0">
                        <a:buNone/>
                      </a:pPr>
                      <a:r>
                        <a:rPr/>
                        <a:t>8</a:t>
                      </a:r>
                    </a:p>
                  </a:txBody>
                </a:tc>
                <a:tc>
                  <a:txBody>
                    <a:bodyPr/>
                    <a:lstStyle/>
                    <a:p>
                      <a:pPr lvl="0" indent="0" marL="0">
                        <a:buNone/>
                      </a:pPr>
                      <a:r>
                        <a:rPr/>
                        <a:t>205</a:t>
                      </a:r>
                    </a:p>
                  </a:txBody>
                </a:tc>
                <a:tc>
                  <a:txBody>
                    <a:bodyPr/>
                    <a:lstStyle/>
                    <a:p>
                      <a:pPr lvl="0" indent="0" marL="0">
                        <a:buNone/>
                      </a:pPr>
                      <a:r>
                        <a:rPr/>
                        <a:t>8 × 2,600 + 205 × 140 = €49,500</a:t>
                      </a:r>
                    </a:p>
                  </a:txBody>
                </a:tc>
                <a:tc>
                  <a:txBody>
                    <a:bodyPr/>
                    <a:lstStyle/>
                    <a:p>
                      <a:pPr lvl="0" indent="0" marL="0">
                        <a:buNone/>
                      </a:pPr>
                      <a:r>
                        <a:rPr b="1"/>
                        <a:t>0.950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F1 per class: healthy 0.947 (1,665 drives), degraded 0.545 (259), failed 0.629 (76)</a:t>
            </a:r>
          </a:p>
          <a:p>
            <a:pPr lvl="0"/>
            <a:r>
              <a:rPr/>
              <a:t>macro avg F1 = (0.947 + 0.545 + 0.629) ÷ 3 = </a:t>
            </a:r>
            <a:r>
              <a:rPr b="1"/>
              <a:t>0.707</a:t>
            </a:r>
          </a:p>
          <a:p>
            <a:pPr lvl="0"/>
            <a:r>
              <a:rPr/>
              <a:t>weighted avg F1 = (1,665 × 0.947 + 259 × 0.545 + 76 × 0.629) ÷ 2,000 = </a:t>
            </a:r>
            <a:r>
              <a:rPr b="1"/>
              <a:t>0.883</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