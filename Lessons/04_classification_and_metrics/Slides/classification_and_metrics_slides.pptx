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45,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24,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17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19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whole idea of how logistic regression is fitted, so say it before any algebra, and say it on these three drives. The numbers are made up for the example; the three drives are not from the dataset.</a:t>
            </a:r>
          </a:p>
          <a:p>
            <a:pPr lvl="0" indent="0" marL="0">
              <a:buNone/>
            </a:pPr>
          </a:p>
          <a:p>
            <a:pPr lvl="0" indent="0" marL="0">
              <a:buNone/>
            </a:pPr>
            <a:r>
              <a:rPr/>
              <a:t>A “setting” is one choice of the coefficients w and the intercept b. Plug a drive’s counters into the model of slide 11 and the setting gives that drive a probability of failing, P(fail). Two settings, two columns.</a:t>
            </a:r>
          </a:p>
          <a:p>
            <a:pPr lvl="0" indent="0" marL="0">
              <a:buNone/>
            </a:pPr>
          </a:p>
          <a:p>
            <a:pPr lvl="0" indent="0" marL="0">
              <a:buNone/>
            </a:pPr>
            <a:r>
              <a:rPr/>
              <a:t>Now score each setting against what actually happened. Drive A failed, so the relevant number is the probability the setting gave to failing: 0.8 under setting 1, 0.3 under setting 2. Drives B and C stayed healthy, so the relevant number is the probability of staying healthy, 1 minus P(fail): under setting 1, 0.9 and 0.8; under setting 2, 0.4 and 0.5. That is what each arrow in the table does - it turns P(fail) into the probability of the outcome that really occurred.</a:t>
            </a:r>
          </a:p>
          <a:p>
            <a:pPr lvl="0" indent="0" marL="0">
              <a:buNone/>
            </a:pPr>
          </a:p>
          <a:p>
            <a:pPr lvl="0" indent="0" marL="0">
              <a:buNone/>
            </a:pPr>
            <a:r>
              <a:rPr/>
              <a:t>Multiply down each column, treating the drives as independent. The product is the probability that setting assigns to the whole dataset, exactly as it was observed: 0.576 for setting 1, 0.060 for setting 2. That product is called the likelihood. What actually happened is about ten times more probable under setting 1 (9.6 times), so setting 1 is the better explanation of the data.</a:t>
            </a:r>
          </a:p>
          <a:p>
            <a:pPr lvl="0" indent="0" marL="0">
              <a:buNone/>
            </a:pPr>
          </a:p>
          <a:p>
            <a:pPr lvl="0" indent="0" marL="0">
              <a:buNone/>
            </a:pPr>
            <a:r>
              <a:rPr/>
              <a:t>Maximum likelihood is this comparison, done over every possible setting rather than two: choose the w and b that make the likelihood as large as possible. Gradient descent does the searching, as in lesson 3.</a:t>
            </a:r>
          </a:p>
          <a:p>
            <a:pPr lvl="0" indent="0" marL="0">
              <a:buNone/>
            </a:pPr>
          </a:p>
          <a:p>
            <a:pPr lvl="0" indent="0" marL="0">
              <a:buNone/>
            </a:pPr>
            <a:r>
              <a:rPr/>
              <a:t>Why the products are never used as they are, and the bridge to the next slide. Take minus the logarithm of each factor and add, instead of multiplying: 0.55 for setting 1, 2.81 for setting 2. That is minus the log of the likelihood, so the order is the same, reversed - the better setting now has the SMALLER number, which gives us something to minimise, as in lesson 3. Minus the log of a probability is called the surprise: 0 for something you were certain of, large for something you said was unlikely. “Most likely” and “least surprising” are the same choice. Averaged over the drives instead of summed, it is the cost on the next slide.</a:t>
            </a:r>
          </a:p>
          <a:p>
            <a:pPr lvl="0" indent="0" marL="0">
              <a:buNone/>
            </a:pPr>
          </a:p>
          <a:p>
            <a:pPr lvl="0" indent="0" marL="0">
              <a:buNone/>
            </a:pPr>
            <a:r>
              <a:rPr/>
              <a:t>Two reasons for the logarithm, worth saying aloud. It turns the product into a sum, which differentiates one term at a time. And the product itself is too small to store. Gradient descent starts with all weights at zero, so z is 0 for every drive and every probability is 0.5; 0.5 multiplied by itself 6,000 times, once per training drive, is about 10 to the minus 1806. The smallest number a 64-bit float holds is about 10 to the minus 308, so the computer stores exactly zero. Every real implementation therefore adds up the logarithms of the probabilities instead of multiplying the probabilities, and not for elegance.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17)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19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18).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30,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24 to 27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trustworthy - slide 44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44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38. Different drives: 0.949 rests on the 76 failures of our 2,000-drive test set, 0.968 on a fleet thirty times larger. Both are estimates of the same ranking ability.</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27 -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39). Divide every probability by ten, as slide 39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(48 and 49)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on three drives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Drive, what happened</a:t>
                      </a:r>
                    </a:p>
                  </a:txBody>
                  <a:tcPr/>
                </a:tc>
                <a:tc>
                  <a:txBody>
                    <a:bodyPr/>
                    <a:lstStyle/>
                    <a:p>
                      <a:pPr lvl="0" indent="0" marL="0">
                        <a:buNone/>
                      </a:pPr>
                      <a:r>
                        <a:rPr/>
                        <a:t>Setting 1 of w, b: P(fail) → P(what happened)</a:t>
                      </a:r>
                    </a:p>
                  </a:txBody>
                  <a:tcPr/>
                </a:tc>
                <a:tc>
                  <a:txBody>
                    <a:bodyPr/>
                    <a:lstStyle/>
                    <a:p>
                      <a:pPr lvl="0" indent="0" marL="0">
                        <a:buNone/>
                      </a:pPr>
                      <a:r>
                        <a:rPr/>
                        <a:t>Setting 2 of w, b: P(fail) → P(what happened)</a:t>
                      </a:r>
                    </a:p>
                  </a:txBody>
                  <a:tcPr/>
                </a:tc>
              </a:tr>
              <a:tr h="0">
                <a:tc>
                  <a:txBody>
                    <a:bodyPr/>
                    <a:lstStyle/>
                    <a:p>
                      <a:pPr lvl="0" indent="0" marL="0">
                        <a:buNone/>
                      </a:pPr>
                      <a:r>
                        <a:rPr/>
                        <a:t>A, failed</a:t>
                      </a:r>
                    </a:p>
                  </a:txBody>
                </a:tc>
                <a:tc>
                  <a:txBody>
                    <a:bodyPr/>
                    <a:lstStyle/>
                    <a:p>
                      <a:pPr lvl="0" indent="0" marL="0">
                        <a:buNone/>
                      </a:pPr>
                      <a:r>
                        <a:rPr/>
                        <a:t>0.8 → </a:t>
                      </a:r>
                      <a:r>
                        <a:rPr b="1"/>
                        <a:t>0.8</a:t>
                      </a:r>
                    </a:p>
                  </a:txBody>
                </a:tc>
                <a:tc>
                  <a:txBody>
                    <a:bodyPr/>
                    <a:lstStyle/>
                    <a:p>
                      <a:pPr lvl="0" indent="0" marL="0">
                        <a:buNone/>
                      </a:pPr>
                      <a:r>
                        <a:rPr/>
                        <a:t>0.3 → </a:t>
                      </a:r>
                      <a:r>
                        <a:rPr b="1"/>
                        <a:t>0.3</a:t>
                      </a:r>
                    </a:p>
                  </a:txBody>
                </a:tc>
              </a:tr>
              <a:tr h="0">
                <a:tc>
                  <a:txBody>
                    <a:bodyPr/>
                    <a:lstStyle/>
                    <a:p>
                      <a:pPr lvl="0" indent="0" marL="0">
                        <a:buNone/>
                      </a:pPr>
                      <a:r>
                        <a:rPr/>
                        <a:t>B, healthy</a:t>
                      </a:r>
                    </a:p>
                  </a:txBody>
                </a:tc>
                <a:tc>
                  <a:txBody>
                    <a:bodyPr/>
                    <a:lstStyle/>
                    <a:p>
                      <a:pPr lvl="0" indent="0" marL="0">
                        <a:buNone/>
                      </a:pPr>
                      <a:r>
                        <a:rPr/>
                        <a:t>0.1 → </a:t>
                      </a:r>
                      <a:r>
                        <a:rPr b="1"/>
                        <a:t>0.9</a:t>
                      </a:r>
                    </a:p>
                  </a:txBody>
                </a:tc>
                <a:tc>
                  <a:txBody>
                    <a:bodyPr/>
                    <a:lstStyle/>
                    <a:p>
                      <a:pPr lvl="0" indent="0" marL="0">
                        <a:buNone/>
                      </a:pPr>
                      <a:r>
                        <a:rPr/>
                        <a:t>0.6 → </a:t>
                      </a:r>
                      <a:r>
                        <a:rPr b="1"/>
                        <a:t>0.4</a:t>
                      </a:r>
                    </a:p>
                  </a:txBody>
                </a:tc>
              </a:tr>
              <a:tr h="0">
                <a:tc>
                  <a:txBody>
                    <a:bodyPr/>
                    <a:lstStyle/>
                    <a:p>
                      <a:pPr lvl="0" indent="0" marL="0">
                        <a:buNone/>
                      </a:pPr>
                      <a:r>
                        <a:rPr/>
                        <a:t>C, healthy</a:t>
                      </a:r>
                    </a:p>
                  </a:txBody>
                </a:tc>
                <a:tc>
                  <a:txBody>
                    <a:bodyPr/>
                    <a:lstStyle/>
                    <a:p>
                      <a:pPr lvl="0" indent="0" marL="0">
                        <a:buNone/>
                      </a:pPr>
                      <a:r>
                        <a:rPr/>
                        <a:t>0.2 → </a:t>
                      </a:r>
                      <a:r>
                        <a:rPr b="1"/>
                        <a:t>0.8</a:t>
                      </a:r>
                    </a:p>
                  </a:txBody>
                </a:tc>
                <a:tc>
                  <a:txBody>
                    <a:bodyPr/>
                    <a:lstStyle/>
                    <a:p>
                      <a:pPr lvl="0" indent="0" marL="0">
                        <a:buNone/>
                      </a:pPr>
                      <a:r>
                        <a:rPr/>
                        <a:t>0.5 → </a:t>
                      </a:r>
                      <a:r>
                        <a:rPr b="1"/>
                        <a:t>0.5</a:t>
                      </a:r>
                    </a:p>
                  </a:txBody>
                </a:tc>
              </a:tr>
              <a:tr h="0">
                <a:tc>
                  <a:txBody>
                    <a:bodyPr/>
                    <a:lstStyle/>
                    <a:p>
                      <a:pPr lvl="0" indent="0" marL="0">
                        <a:buNone/>
                      </a:pPr>
                      <a:r>
                        <a:rPr/>
                        <a:t>Multiplied: the likelihood</a:t>
                      </a:r>
                    </a:p>
                  </a:txBody>
                </a:tc>
                <a:tc>
                  <a:txBody>
                    <a:bodyPr/>
                    <a:lstStyle/>
                    <a:p>
                      <a:pPr lvl="0" indent="0" marL="0">
                        <a:buNone/>
                      </a:pPr>
                      <a:r>
                        <a:rPr b="1"/>
                        <a:t>0.576</a:t>
                      </a:r>
                    </a:p>
                  </a:txBody>
                </a:tc>
                <a:tc>
                  <a:txBody>
                    <a:bodyPr/>
                    <a:lstStyle/>
                    <a:p>
                      <a:pPr lvl="0" indent="0" marL="0">
                        <a:buNone/>
                      </a:pPr>
                      <a:r>
                        <a:rPr b="1"/>
                        <a:t>0.060</a:t>
                      </a:r>
                    </a:p>
                  </a:txBody>
                </a:tc>
              </a:tr>
              <a:tr h="0">
                <a:tc>
                  <a:txBody>
                    <a:bodyPr/>
                    <a:lstStyle/>
                    <a:p>
                      <a:pPr lvl="0" indent="0" marL="0">
                        <a:buNone/>
                      </a:pPr>
                      <a:r>
                        <a:rPr/>
                        <a:t>Maximum likelihood keeps</a:t>
                      </a:r>
                    </a:p>
                  </a:txBody>
                </a:tc>
                <a:tc>
                  <a:txBody>
                    <a:bodyPr/>
                    <a:lstStyle/>
                    <a:p>
                      <a:pPr lvl="0" indent="0" marL="0">
                        <a:buNone/>
                      </a:pPr>
                      <a:r>
                        <a:rPr b="1"/>
                        <a:t>setting 1</a:t>
                      </a:r>
                    </a:p>
                  </a:txBody>
                </a:tc>
                <a:tc>
                  <a:txBody>
                    <a:bodyPr/>
                    <a:lstStyle/>
                    <a:p>
                      <a:endParaRP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8-20</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18</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22</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24</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26</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28-31</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33-34</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35</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37</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38</a:t>
                      </a:r>
                    </a:p>
                  </a:txBody>
                </a:tc>
                <a:tc>
                  <a:txBody>
                    <a:bodyPr/>
                    <a:lstStyle/>
                    <a:p>
                      <a:pPr lvl="0" indent="0" marL="0">
                        <a:buNone/>
                      </a:pPr>
                      <a:r>
                        <a:rPr/>
                        <a:t>200,000 random (failing, healthy) pairs → 0.9488</a:t>
                      </a:r>
                    </a:p>
                  </a:txBody>
                </a:tc>
              </a:tr>
              <a:tr h="0">
                <a:tc>
                  <a:txBody>
                    <a:bodyPr/>
                    <a:lstStyle/>
                    <a:p>
                      <a:pPr lvl="0" indent="0" marL="0">
                        <a:buNone/>
                      </a:pPr>
                      <a:r>
                        <a:rPr/>
                        <a:t>the rare-positive trap, 40-41</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43-45</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48-49</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