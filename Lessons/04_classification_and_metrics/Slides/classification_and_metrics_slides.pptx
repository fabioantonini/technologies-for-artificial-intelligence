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50,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The third bullet names the six: reallocated sectors (bad patches of the disk the drive has retired and replaced with spare ones), spin retries (times the motor needed a second attempt to bring the platters up to speed), the share of reads and of head movements that hit an error, temperature, and hours in service. Handout section 1.1 has them in a table, with a typical drive’s values.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29,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- 3,606 divided by 8,000 is 45% of the fleet. Not a small negative number. A negative probability. And extend it slightly past the data, to 32 reallocated sectors, and it predicts more than 1 (notebook 1 prints the line; the worst drive has 28).</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11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sigma(0) = 0.50 to sigma(2) = 1 over (1 + e to the minus 2) = 0.88, a rise of 0.38; the same two units starting from z = 6 take it from sigma(6) = 0.9975 to sigma(8) = 0.9997, a rise of 0.0021 - 0.38 divided by 0.0021 is 178 times less. Once the model is nearly sure, more evidence barely changes its answer.</a:t>
            </a:r>
          </a:p>
          <a:p>
            <a:pPr lvl="0" indent="0" marL="0">
              <a:buNone/>
            </a:pPr>
          </a:p>
          <a:p>
            <a:pPr lvl="0" indent="0" marL="0">
              <a:buNone/>
            </a:pPr>
            <a:r>
              <a:rPr/>
              <a:t>Expect someone to object with slide 7’s right panel. That curve barely moves over the first few reallocated sectors, where 90% of the drives sit (four sectors or fewer), and it is steepest at 13.2 sectors. So do the first sectors say little? Two separate answers, in this order.</a:t>
            </a:r>
          </a:p>
          <a:p>
            <a:pPr lvl="0" indent="0" marL="0">
              <a:buNone/>
            </a:pPr>
          </a:p>
          <a:p>
            <a:pPr lvl="0" indent="0" marL="0">
              <a:buNone/>
            </a:pPr>
            <a:r>
              <a:rPr/>
              <a:t>First, it is the same sigmoid, drawn against a different axis. Slide 7’s model has one input, the raw count of reallocated sectors, so its z is a straight line in the count: z = 0.336 times the count, minus 4.43. With no sectors z is already -4.43, deep in the flat left end of this slide’s curve; z reaches 0, the steep middle, where 0.336 times the count equals 4.43: at 4.43 divided by 0.336 = 13.2 sectors. The flat start of slide 7 is the flat left end of slide 8, with sectors on the axis instead of z.</a:t>
            </a:r>
          </a:p>
          <a:p>
            <a:pPr lvl="0" indent="0" marL="0">
              <a:buNone/>
            </a:pPr>
          </a:p>
          <a:p>
            <a:pPr lvl="0" indent="0" marL="0">
              <a:buNone/>
            </a:pPr>
            <a:r>
              <a:rPr/>
              <a:t>Second, the flat start comes from using the raw count, not from the drives. A straight line in the count gives every sector the same weight: the first adds as much to z as the twentieth. But the labels were generated from log(1 + count), which gives the first sectors the most weight (handout section 1.1). The handout’s figure in section 2.2 draws what the sectors add to z under each of the two. That is why the six-counter model of slide 12 onwards takes log(1 + count) as its input.</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 divided by 0.8 =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13;</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22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reading,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9 said the log-odds has the range a line needs. That is true, but it is not a reason: plenty of other functions also stretch (0, 1) onto the whole line. This picture gives the reason.</a:t>
            </a:r>
          </a:p>
          <a:p>
            <a:pPr lvl="0" indent="0" marL="0">
              <a:buNone/>
            </a:pPr>
          </a:p>
          <a:p>
            <a:pPr lvl="0" indent="0" marL="0">
              <a:buNone/>
            </a:pPr>
            <a:r>
              <a:rPr/>
              <a:t>Start from what a linear model does. It adds one contribution per feature, and each contribution is the same whatever the other features say. So we want the same evidence to act on every drive in the same way, whatever its risk.</a:t>
            </a:r>
          </a:p>
          <a:p>
            <a:pPr lvl="0" indent="0" marL="0">
              <a:buNone/>
            </a:pPr>
          </a:p>
          <a:p>
            <a:pPr lvl="0" indent="0" marL="0">
              <a:buNone/>
            </a:pPr>
            <a:r>
              <a:rPr/>
              <a:t>The picture shows three drives, marked by the yellow dots: an average drive at 0.2%, one at 50% and one at 95%. Each receives the same reading, one that is six times more common among drives that fail than among healthy ones. Bayes’ rule says such a reading multiplies the odds - the probability of failing divided by the probability of not failing - by 6, whatever they were before (handout section 2.3 shows it by counting 1,000 drives). On the horizontal axis, the log-odds, multiplying by 6 is always the same step: the three teal arrows have the same length.</a:t>
            </a:r>
          </a:p>
          <a:p>
            <a:pPr lvl="0" indent="0" marL="0">
              <a:buNone/>
            </a:pPr>
          </a:p>
          <a:p>
            <a:pPr lvl="0" indent="0" marL="0">
              <a:buNone/>
            </a:pPr>
            <a:r>
              <a:rPr/>
              <a:t>Now the rust arrows: what that same step does to the probability. 36 points for the drive at 50%, 4 points for the drive at 95%, 1 point for the average drive. And it never passes 100%, because the curve cannot. A fixed step in probability would: plus 0.10 takes the drive at 95% to 105%.</a:t>
            </a:r>
          </a:p>
          <a:p>
            <a:pPr lvl="0" indent="0" marL="0">
              <a:buNone/>
            </a:pPr>
          </a:p>
          <a:p>
            <a:pPr lvl="0" indent="0" marL="0">
              <a:buNone/>
            </a:pPr>
            <a:r>
              <a:rPr/>
              <a:t>So nobody chose the S-shape of slide 8. It is what “evidence multiplies the odds” looks like when it is drawn as a probability: steep in the middle, flat at both ends.</a:t>
            </a:r>
          </a:p>
          <a:p>
            <a:pPr lvl="0" indent="0" marL="0">
              <a:buNone/>
            </a:pPr>
          </a:p>
          <a:p>
            <a:pPr lvl="0" indent="0" marL="0">
              <a:buNone/>
            </a:pPr>
            <a:r>
              <a:rPr/>
              <a:t>The step to the next slide: on the log-odds axis, evidence simply adds. Several readings, if independent given the class, are one fixed step each, starting from the average drive at minus 6.20. A starting value plus one step per feature is exactly w-transpose-x plus b, which is why slide 11 puts the line on the log-odds. Six is a realistic factor: the coefficient of reallocated sectors used to generate the labels is 1.80 per standard deviation, and e to the 1.80 is 6.05 (slide 13 reads coefficients this way; slide 14 shows the true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a log-odds of +2.20 gives back 1 over (1 plus e to the minus 2.2) = 1 over (1 + 0.111) = 0.90. Going the other way, a probability of 0.90 is odds of 0.9 divided by 0.1 = 9, and log 9 = 2.20. A log-odds of 0 gives back exactly a half.</a:t>
            </a:r>
          </a:p>
          <a:p>
            <a:pPr lvl="0" indent="0" marL="0">
              <a:buNone/>
            </a:pPr>
          </a:p>
          <a:p>
            <a:pPr lvl="0" indent="0" marL="0">
              <a:buNone/>
            </a:pPr>
            <a:r>
              <a:rPr/>
              <a:t>The handout runs the same algebra in the other direction, from the sigmoid to the log-odds, in section 2.3.</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at sigma = 0.5, where it is 0.5 times 0.5 = one quarter, and it decays to zero at both ends. That one fact does two jobs later. It is why the sigmoid behaves well: flat ends mean that once the model is sure, extra evidence changes little (slide 8). And it is why squared error fails with it: slide 24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Three steps, one per bullet.</a:t>
            </a:r>
          </a:p>
          <a:p>
            <a:pPr lvl="0" indent="0" marL="0">
              <a:buNone/>
            </a:pPr>
          </a:p>
          <a:p>
            <a:pPr lvl="0" indent="0" marL="0">
              <a:buNone/>
            </a:pPr>
            <a:r>
              <a:rPr/>
              <a:t>First bullet, its first half. Standardising first (StandardScaler, lesson 3) puts every feature in the same unit, one standard deviation, so the coefficients can be compared with each other. For the four counters that the data puts on a logarithmic scale, it is one standard deviation of the transformed column.</a:t>
            </a:r>
          </a:p>
          <a:p>
            <a:pPr lvl="0" indent="0" marL="0">
              <a:buNone/>
            </a:pPr>
          </a:p>
          <a:p>
            <a:pPr lvl="0" indent="0" marL="0">
              <a:buNone/>
            </a:pPr>
            <a:r>
              <a:rPr/>
              <a:t>First bullet, its second half: this is slide 11’s line, log-odds = b + w1 x1 + … + w6 x6. Each feature contributes its coefficient times its value, so raising reallocated sectors by one standard deviation adds exactly its coefficient to the log-odds - 1.80 is the true coefficient, the one the data was generated with (next slide) - and it adds 1.80 whatever the other five counters say. That is what “linear” buys.</a:t>
            </a:r>
          </a:p>
          <a:p>
            <a:pPr lvl="0" indent="0" marL="0">
              <a:buNone/>
            </a:pPr>
          </a:p>
          <a:p>
            <a:pPr lvl="0" indent="0" marL="0">
              <a:buNone/>
            </a:pPr>
            <a:r>
              <a:rPr/>
              <a:t>Second bullet: why a sum on the log-odds becomes a product on the odds. The logarithm turns products into sums, log of a times b is log a plus log b. Read it backwards: adding 1.80 to the logarithm of the odds is the same as multiplying the odds by exp(1.80), which is 6.05. Check it on an average drive: its log-odds are the intercept, minus 6.20, so its odds are exp(-6.20) = 0.0020. One standard deviation more of reallocated sectors: log-odds minus 4.40, odds exp(-4.40) = 0.0123. Divide: 6.05.</a:t>
            </a:r>
          </a:p>
          <a:p>
            <a:pPr lvl="0" indent="0" marL="0">
              <a:buNone/>
            </a:pPr>
          </a:p>
          <a:p>
            <a:pPr lvl="0" indent="0" marL="0">
              <a:buNone/>
            </a:pPr>
            <a:r>
              <a:rPr/>
              <a:t>Third bullet: that is the arrow of slide 10’s figure. Every teal arrow was a multiplication of the odds by 6, and on the log-odds axis it had the same length - 1.79, almost exactly this coefficient.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a probability of 0.90 is odds of 0.9 divided by 0.1 = 9; multiplied by 5 that gives odds of 45, which is a probability of 45 divided by 46 =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13.</a:t>
            </a:r>
          </a:p>
          <a:p>
            <a:pPr lvl="0" indent="0" marL="0">
              <a:buNone/>
            </a:pPr>
          </a:p>
          <a:p>
            <a:pPr lvl="0" indent="0" marL="0">
              <a:buNone/>
            </a:pPr>
            <a:r>
              <a:rPr/>
              <a:t>Go down the column. Everything is close. Nothing is exact, and say why - 6,000 training drives carrying 230 failures (306 in the fleet minus the 76 kept for the test set)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exp(0.02) = 1.02.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Say first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so do not give it yet. Slides 17 to 21 first build, on three drives, the cost that logistic regression does minimise; slide 24 then comes back to squared error and shows what goes wrong with it, on a drive the model is confidently wrong about.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next five slides answer the question of slide 16 - what should fitting minimise? - one step at a time, on three drives. The numbers are made up for the example; drives A, B and C are not from the dataset.</a:t>
            </a:r>
          </a:p>
          <a:p>
            <a:pPr lvl="0" indent="0" marL="0">
              <a:buNone/>
            </a:pPr>
          </a:p>
          <a:p>
            <a:pPr lvl="0" indent="0" marL="0">
              <a:buNone/>
            </a:pPr>
            <a:r>
              <a:rPr/>
              <a:t>Start from what the model does. Fitting means choosing the coefficients w and the intercept b. Call one particular choice of w and b a “setting”. Given a setting, the model of slide 12 turns each drive’s counters x into a probability of failing: p = sigma(w-transpose-x + b). This slide shows the p that one setting, setting 1, gives to each of the three drives.</a:t>
            </a:r>
          </a:p>
          <a:p>
            <a:pPr lvl="0" indent="0" marL="0">
              <a:buNone/>
            </a:pPr>
          </a:p>
          <a:p>
            <a:pPr lvl="0" indent="0" marL="0">
              <a:buNone/>
            </a:pPr>
            <a:r>
              <a:rPr/>
              <a:t>Next to it, what actually happened, and its label y: 1 for a drive that failed, 0 for one that stayed healthy - the convention of slide 4.</a:t>
            </a:r>
          </a:p>
          <a:p>
            <a:pPr lvl="0" indent="0" marL="0">
              <a:buNone/>
            </a:pPr>
          </a:p>
          <a:p>
            <a:pPr lvl="0" indent="0" marL="0">
              <a:buNone/>
            </a:pPr>
            <a:r>
              <a:rPr/>
              <a:t>Ask the room: is setting 1 a good setting? Let them argue it from the table. It gave the drive that failed a high p, and the two that survived a low one, so it looks good. The next slide turns that impression into a number.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judge a setting by how probable it made what really happened.</a:t>
            </a:r>
          </a:p>
          <a:p>
            <a:pPr lvl="0" indent="0" marL="0">
              <a:buNone/>
            </a:pPr>
          </a:p>
          <a:p>
            <a:pPr lvl="0" indent="0" marL="0">
              <a:buNone/>
            </a:pPr>
            <a:r>
              <a:rPr/>
              <a:t>p is the probability of failing. For drive A, which did fail, that is exactly the probability of what happened: 0.8. For drives B and C, which stayed healthy, the probability of what happened is the probability of staying healthy, which is 1 minus p: 1 - 0.1 = 0.9 and 1 - 0.2 = 0.8. That is the rule in the last column header: p if y = 1, 1 - p if y = 0.</a:t>
            </a:r>
          </a:p>
          <a:p>
            <a:pPr lvl="0" indent="0" marL="0">
              <a:buNone/>
            </a:pPr>
          </a:p>
          <a:p>
            <a:pPr lvl="0" indent="0" marL="0">
              <a:buNone/>
            </a:pPr>
            <a:r>
              <a:rPr/>
              <a:t>Then the three drives together. If the drives fail or survive independently of each other, the probability that all three outcomes happen is the product of the three: 0.8 times 0.9 times 0.8, which is 0.576. Under setting 1, what we observed had a 57.6% chance of happening.</a:t>
            </a:r>
          </a:p>
          <a:p>
            <a:pPr lvl="0" indent="0" marL="0">
              <a:buNone/>
            </a:pPr>
          </a:p>
          <a:p>
            <a:pPr lvl="0" indent="0" marL="0">
              <a:buNone/>
            </a:pPr>
            <a:r>
              <a:rPr/>
              <a:t>That product has a name: the likelihood of the setting. The next slide writes the same two rules as formulas.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formulas, and both are the previous slide written in symbols.</a:t>
            </a:r>
          </a:p>
          <a:p>
            <a:pPr lvl="0" indent="0" marL="0">
              <a:buNone/>
            </a:pPr>
          </a:p>
          <a:p>
            <a:pPr lvl="0" indent="0" marL="0">
              <a:buNone/>
            </a:pPr>
            <a:r>
              <a:rPr/>
              <a:t>Top line: the probability of what happened to one drive. It is the rule “p if y = 1, 1 - p if y = 0” in a single expression. Check it with y = 1: p to the power 1 is p, and (1 - p) to the power 0 is 1, so it gives p. With y = 0 it gives 1 times (1 - p). Do drive B on the board: 0.1 to the power 0 times 0.9 to the power 1 is 0.9, the number in the table. The exponents are just a way of writing an if-statement.</a:t>
            </a:r>
          </a:p>
          <a:p>
            <a:pPr lvl="0" indent="0" marL="0">
              <a:buNone/>
            </a:pPr>
          </a:p>
          <a:p>
            <a:pPr lvl="0" indent="0" marL="0">
              <a:buNone/>
            </a:pPr>
            <a:r>
              <a:rPr/>
              <a:t>Bottom line: the likelihood, script L, of a setting (w, b). The capital pi means “multiply over all the drives”, i from 1 to m, the way a capital sigma means “add”. Each drive contributes its factor from the top line; the superscript (i) says which drive. For our three drives, m = 3 and the product is 0.8 times 0.9 times 0.8 = 0.576.</a:t>
            </a:r>
          </a:p>
          <a:p>
            <a:pPr lvl="0" indent="0" marL="0">
              <a:buNone/>
            </a:pPr>
          </a:p>
          <a:p>
            <a:pPr lvl="0" indent="0" marL="0">
              <a:buNone/>
            </a:pPr>
            <a:r>
              <a:rPr/>
              <a:t>The p inside depends on w and b, through p = sigma(w-transpose-x + b). That is why L is written as a function of w and b: change the setting, every p changes, and the likelihood changes with them.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a second setting, a different choice of w and b. It gives the three drives p = 0.3, 0.6 and 0.5: a low p to the drive that failed, a high p to one that survived. It looks worse, and the likelihood says how much worse.</a:t>
            </a:r>
          </a:p>
          <a:p>
            <a:pPr lvl="0" indent="0" marL="0">
              <a:buNone/>
            </a:pPr>
          </a:p>
          <a:p>
            <a:pPr lvl="0" indent="0" marL="0">
              <a:buNone/>
            </a:pPr>
            <a:r>
              <a:rPr/>
              <a:t>Apply the same rule, column by column. A failed, so its factor is p = 0.3. B and C survived, so their factors are 1 - 0.6 = 0.4 and 1 - 0.5 = 0.5. Multiply: 0.3 times 0.4 times 0.5 = 0.060.</a:t>
            </a:r>
          </a:p>
          <a:p>
            <a:pPr lvl="0" indent="0" marL="0">
              <a:buNone/>
            </a:pPr>
          </a:p>
          <a:p>
            <a:pPr lvl="0" indent="0" marL="0">
              <a:buNone/>
            </a:pPr>
            <a:r>
              <a:rPr/>
              <a:t>Compare: 0.576 against 0.060. What actually happened is 0.576 divided by 0.060 = 9.6 times more probable under setting 1, so setting 1 explains the data better. Keep it.</a:t>
            </a:r>
          </a:p>
          <a:p>
            <a:pPr lvl="0" indent="0" marL="0">
              <a:buNone/>
            </a:pPr>
          </a:p>
          <a:p>
            <a:pPr lvl="0" indent="0" marL="0">
              <a:buNone/>
            </a:pPr>
            <a:r>
              <a:rPr/>
              <a:t>That comparison is maximum likelihood. Fitting a logistic regression is the same comparison made over every possible setting rather than two: choose the w and b with the largest likelihood. Nobody tries them one by one - gradient descent does the searching, as in lesson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step turns “largest likelihood” into “smallest cost”, so it can be minimised as in lesson 3. Natural logarithms throughout.</a:t>
            </a:r>
          </a:p>
          <a:p>
            <a:pPr lvl="0" indent="0" marL="0">
              <a:buNone/>
            </a:pPr>
          </a:p>
          <a:p>
            <a:pPr lvl="0" indent="0" marL="0">
              <a:buNone/>
            </a:pPr>
            <a:r>
              <a:rPr/>
              <a:t>Take minus the logarithm of each drive’s factor and add them up. Because the log of a product is the sum of the logs, the sum is minus the log of the likelihood: 0.55 is minus the log of 0.576, and 2.81 is minus the log of 0.060. The logarithm keeps the order and the minus sign reverses it, so the better setting now has the SMALLER number - 0.55 against 2.81. Setting 1 still wins.</a:t>
            </a:r>
          </a:p>
          <a:p>
            <a:pPr lvl="0" indent="0" marL="0">
              <a:buNone/>
            </a:pPr>
          </a:p>
          <a:p>
            <a:pPr lvl="0" indent="0" marL="0">
              <a:buNone/>
            </a:pPr>
            <a:r>
              <a:rPr/>
              <a:t>Read the per-drive numbers too. Minus the log of a probability is called the surprise of an outcome: 0 for something you were certain of, large for something you said was unlikely. Setting 2 is most surprised by drive A, 1.20, because it gave A’s failure only 0.3. Maximum likelihood and least total surprise are the same choice.</a:t>
            </a:r>
          </a:p>
          <a:p>
            <a:pPr lvl="0" indent="0" marL="0">
              <a:buNone/>
            </a:pPr>
          </a:p>
          <a:p>
            <a:pPr lvl="0" indent="0" marL="0">
              <a:buNone/>
            </a:pPr>
            <a:r>
              <a:rPr/>
              <a:t>Two reasons we always work with the logarithm, worth saying aloud. A sum differentiates one term at a time. And the product itself is too small to store. Notebook 1’s gradient descent starts with every coefficient and the intercept at zero, so z is 0 for every drive and every p is 0.5. 0.5 multiplied by itself 6,000 times, once per training drive, is 10 to the power 6,000 times log10 of 0.5 = 6,000 times minus 0.301 = minus 1806, while the smallest positive number a 64-bit float can hold is about 5 times 10 to the minus 324. The computer would store exactly zero.</a:t>
            </a:r>
          </a:p>
          <a:p>
            <a:pPr lvl="0" indent="0" marL="0">
              <a:buNone/>
            </a:pPr>
          </a:p>
          <a:p>
            <a:pPr lvl="0" indent="0" marL="0">
              <a:buNone/>
            </a:pPr>
            <a:r>
              <a:rPr/>
              <a:t>Divide the sum by the number of drives and you have the average surprise: that is the cost J that fitting minimises, and scikit-learn’s log_loss computes exactly this average. The next slide writes the surprise of one drive as a formula, the loss L; J is its average over the drives. Handout sections 3.1 to 3.3.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It is left off the slide because, written out in full, the formula does not fit at a readable size.</a:t>
            </a:r>
          </a:p>
          <a:p>
            <a:pPr lvl="0" indent="0" marL="0">
              <a:buNone/>
            </a:pPr>
          </a:p>
          <a:p>
            <a:pPr lvl="0" indent="0" marL="0">
              <a:buNone/>
            </a:pPr>
            <a:r>
              <a:rPr/>
              <a:t>Nothing new to derive: this is slides 17 to 21 written for one drive in symbols. Check it on drive B of slide 17: y = 0 and p = 0.1, so the first term vanishes and L = -log(1 - 0.1) = -log 0.9 = 0.11, the number slide 21 gave B under setting 1. The handout, section 3, does it for m drives in full.</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 says,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12 - which is why the title says so. The cost is different too: squared error there, log loss (slide 22)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12;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24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(0.0001 - 1) squared = 0.9998. An honest “don’t know” - 0.5 - costs (0.5 - 1) squared = 0.25. So the worst possible answer is four times worse than a shrug. Log loss charges minus log 0.0001 = 9.2 against minus log 0.5 =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23). Squared error’s is 2(p - 1) times p times (1 - p): the chain rule through the sigmoid brings in its derivative, p times one-minus-p, from slide 12, and nothing cancels it. That factor goes to zero as p goes to zero.</a:t>
            </a:r>
          </a:p>
          <a:p>
            <a:pPr lvl="0" indent="0" marL="0">
              <a:buNone/>
            </a:pPr>
          </a:p>
          <a:p>
            <a:pPr lvl="0" indent="0" marL="0">
              <a:buNone/>
            </a:pPr>
            <a:r>
              <a:rPr/>
              <a:t>Say it as a sentence: the wronger the model gets, the less squared error asks it to change. Divide one gradient by the other: squared error’s is log loss’s times 2p(1 - p). At p = 0.001 that factor is 2 times 0.001 times 0.999 = 0.002, a five-hundredth.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see max_iter set in notebook 1 and wonder why. Convex does NOT mean there is a closed-form solution. Setting the gradient to zero gives X-transpose times the vector of errors, sigma(Xw + b) minus y, equal to zero. That equation is not linear in w - the sigmoid is in the way - so it cannot be solved in one step as lesson 3’s normal equation was.</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Seventeen minutes, leaving three for the decision boundary on the next slide.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most of the gold points - the drives that actually failed - are on the blue side of the line. At a threshold of 0.5 this two-feature model calls nearly the whole fleet healthy, including most of the drives that failed. It uses two counters only, so that it can be drawn; the six-counter model of slide 29 does better at the same 0.5, and still misses 33 of the 76 test failures.</a:t>
            </a:r>
          </a:p>
          <a:p>
            <a:pPr lvl="0" indent="0" marL="0">
              <a:buNone/>
            </a:pPr>
          </a:p>
          <a:p>
            <a:pPr lvl="0" indent="0" marL="0">
              <a:buNone/>
            </a:pPr>
            <a:r>
              <a:rPr/>
              <a:t>Ask: is that a bad model? Take answers. Then say: the probabilities are fine. The threshold of 0.5 is a habit. Telling those two apart is the rest of the lesson.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97.70 minus 96.20: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the 76 failures, 76 divided by 2,000 = 3.8% of the test set, are left to compete over.</a:t>
            </a:r>
          </a:p>
          <a:p>
            <a:pPr lvl="0" indent="0" marL="0">
              <a:buNone/>
            </a:pPr>
          </a:p>
          <a:p>
            <a:pPr lvl="0" indent="0" marL="0">
              <a:buNone/>
            </a:pPr>
            <a:r>
              <a:rPr/>
              <a:t>This is the 306 of slide 6 coming back as an accuracy score: 96.20% is simply the share of test drives that are healthy.</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1 - 0.038 = 96.2%. In some fraud problems, where the rate is one in a thousand, 1 - 0.001 =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35,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which comes back in the receiver operating characteristic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0.519.</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divided by 140 = 18.6).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29 to 32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show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calibrated: among drives given 0.3, about 30% really fail (slide 44 names the property). Slide 49 derives the threshold from the costs, and it is 0.5 exactly when they are equal. Here a miss costs about nineteen times a false alarm (2,600 divided by 140 = 18.6),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2, the threshold sweep, five of its rows drawn as bars. Each pair of bars is one threshold: teal is the failures caught, out of the 76 in the test set; gold is the healthy drives flagged by mistake. On the right, the accuracy each threshold scores: right answers divided by 2,000.</a:t>
            </a:r>
          </a:p>
          <a:p>
            <a:pPr lvl="0" indent="0" marL="0">
              <a:buNone/>
            </a:pPr>
          </a:p>
          <a:p>
            <a:pPr lvl="0" indent="0" marL="0">
              <a:buNone/>
            </a:pPr>
            <a:r>
              <a:rPr/>
              <a:t>Lower the threshold - go up the figure: both bars grow. At 0.02 we catch 69 of 76 failures and replace 284 healthy drives to do it. At 0.90 there are no false alarms at all, and we catch 14 of 76, fewer than a quarter.</a:t>
            </a:r>
          </a:p>
          <a:p>
            <a:pPr lvl="0" indent="0" marL="0">
              <a:buNone/>
            </a:pPr>
          </a:p>
          <a:p>
            <a:pPr lvl="0" indent="0" marL="0">
              <a:buNone/>
            </a:pPr>
            <a:r>
              <a:rPr/>
              <a:t>Now the right-hand column, which is the slide’s real argument. For every threshold from 0.10 up to 0.90 it stays between 0.942 and 0.977, a range of 0.977 - 0.942 = 0.035, three and a half percentage points, while the teal bar shrinks from 61 to 14. And its maximum, in bold, is at 0.5 - the threshold that misses 76 - 43 = 33 failures.</a:t>
            </a:r>
          </a:p>
          <a:p>
            <a:pPr lvl="0" indent="0" marL="0">
              <a:buNone/>
            </a:pPr>
          </a:p>
          <a:p>
            <a:pPr lvl="0" indent="0" marL="0">
              <a:buNone/>
            </a:pPr>
            <a:r>
              <a:rPr/>
              <a:t>Say the consequence plainly: tune on accuracy and it will quietly recommend catching fewer failures. Most of the alarms a higher threshold drops are false ones, so accuracy rises with each drop, even though some of the dropped alarms were failures being caught. From 0.30 to 0.50 the gold bar loses 25 - 13 = 12 false alarms and the teal bar loses 53 - 43 = 10 caught failures. Accuracy gains 12 right answers and loses 10, two more in all, 0.976 to 0.977.</a:t>
            </a:r>
          </a:p>
          <a:p>
            <a:pPr lvl="0" indent="0" marL="0">
              <a:buNone/>
            </a:pPr>
          </a:p>
          <a:p>
            <a:pPr lvl="0" indent="0" marL="0">
              <a:buNone/>
            </a:pPr>
            <a:r>
              <a:rPr/>
              <a:t>Precision and recall at each threshold are in the handout’s table in section 7.1, computed with the formulas of slide 34.</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- 76 failures divided by 2,000 drives = 0.038 here - at every recall.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 a classical test that compares two groups by counting, over every pair, which member ranks higher -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unchanged by anything done to the scores that keeps their order.</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 49 does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43. Different drives: 0.949 rests on the 76 failures of our 2,000-drive test set, 0.968 on a fleet thirty times larger. Both are estimates of the same ranking ability. The same goes for average precision: 0.706 on the large fleet, against slide 40’s 0.717 on the test set.</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threshold of 0.5 falls from 0.79 to 0.26 - 1 - 0.26 = 0.74, three alarms in four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lesson’s second big predictable mistake, after trusting accuracy on slide 29,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32 -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45,540 divided by 87,620 is 0.52.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44). Divide every probability by ten, as slide 44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 Two likely reasons for the gap: the test set holds only 76 failures, and the probabilities are good but not perfectly calibrated.</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failed drive count, in the cost, as much as about 25 healthy ones - the ratio of healthy to failed drives in the training set, (6,000 - 230) divided by 230 = 25. It changes the training rather than the decision.</a:t>
            </a:r>
          </a:p>
          <a:p>
            <a:pPr lvl="0" indent="0" marL="0">
              <a:buNone/>
            </a:pPr>
          </a:p>
          <a:p>
            <a:pPr lvl="0" indent="0" marL="0">
              <a:buNone/>
            </a:pPr>
            <a:r>
              <a:rPr/>
              <a:t>The figure is notebook 3’s comparison drawn as bills, one bar per model. Rust is the cost of the missed failures, FN times 2,600 euros; gold is the cost of the false alarms, FP times 140 euros. The default model misses 33 failures: 33 times 2,600 plus 13 times 140 is 87,620. The threshold at 0.08 misses 11 and raises 121 false alarms: 45,540. Balanced weights miss 8 and raise 205: 8 times 2,600 plus 205 times 140 is 49,500.</a:t>
            </a:r>
          </a:p>
          <a:p>
            <a:pPr lvl="0" indent="0" marL="0">
              <a:buNone/>
            </a:pPr>
          </a:p>
          <a:p>
            <a:pPr lvl="0" indent="0" marL="0">
              <a:buNone/>
            </a:pPr>
            <a:r>
              <a:rPr/>
              <a:t>Point at the AUC under each name: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reading holds for resampling and for SMOTE (synthetic minority oversampling technique, which builds artificial minority examples): they move the operating point too. And both must be applied to the training rows only - inside each cross-validation fold, once lesson 5 introduces folds. Duplicated or synthetic failures in the test set would be scored as if they were real drives, and the test score would stop describing the real fleet; lesson 2 made the same argument for fitting the imputer on the training rows only.</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two multiclass slides that follow (53 and 54)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turns them into K probabilities that add up to 1 -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 Notebook 3, the three-class model: one bar per class, its F1 from classification_report, and the two averages as lines.</a:t>
            </a:r>
          </a:p>
          <a:p>
            <a:pPr lvl="0" indent="0" marL="0">
              <a:buNone/>
            </a:pPr>
          </a:p>
          <a:p>
            <a:pPr lvl="0" indent="0" marL="0">
              <a:buNone/>
            </a:pPr>
            <a:r>
              <a:rPr/>
              <a:t>Macro treats the three conditions as equally important: (0.947 + 0.545 + 0.629) divided by 3 = 0.707, the dotted line. Weighted multiplies each class by its number of test drives: (1,665 times 0.947 + 259 times 0.545 + 76 times 0.629) divided by 2,000 = 0.883, the dashed line. The healthy class - 1,665 of 2,000, five drives in six - does most of the talking, so the dashed line sits close to the healthy bar.</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accuracy, precision, recall and F1 all depended on a threshold, and the threshold has an answer - C-FP over C-FP plus C-FN, for honest probabilities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3.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Reallocated sectors, spin retries, read and seek error rates, temperature, hours in service</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306 ÷ 8,000 = 3.8% of the fleet</a:t>
            </a:r>
          </a:p>
          <a:p>
            <a:pPr lvl="0"/>
            <a:r>
              <a:rPr/>
              <a:t>Which means 100% − 3.8% =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0.99: log(0.99 ÷ 0.01) = log 99 = +4.60; p = 0.5: log(0.5 ÷ 0.5) = log 1 = 0</a:t>
            </a:r>
          </a:p>
          <a:p>
            <a:pPr lvl="0"/>
            <a:r>
              <a:rPr/>
              <a:t>Bonus: coefficients multiply the odds (slide 13)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Evidence multiplies the odds</a:t>
            </a:r>
          </a:p>
        </p:txBody>
      </p:sp>
      <p:pic>
        <p:nvPicPr>
          <p:cNvPr descr="evidence_on_the_sigmoid.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Standardised: one standard deviation more of reallocated sectors adds 1.80 to the log-odds</a:t>
            </a:r>
          </a:p>
          <a:p>
            <a:pPr lvl="0"/>
            <a:r>
              <a:rPr/>
              <a:t>Adding to a log multiplies the </a:t>
            </a:r>
            <a:r>
              <a:rPr b="1"/>
              <a:t>odds</a:t>
            </a:r>
            <a:r>
              <a:rPr/>
              <a:t>: log(odds) + 1.80 = log(odds × 6.05), since exp(1.80) = 6.05</a:t>
            </a:r>
          </a:p>
          <a:p>
            <a:pPr lvl="0"/>
            <a:r>
              <a:rPr/>
              <a:t>So: </a:t>
            </a:r>
            <a:r>
              <a:rPr b="1"/>
              <a:t>six times the odds</a:t>
            </a:r>
            <a:r>
              <a:rPr/>
              <a:t> of failing, slide 10’s teal step</a:t>
            </a:r>
          </a:p>
          <a:p>
            <a:pPr lvl="0"/>
            <a:r>
              <a:rPr/>
              <a:t>In code: </a:t>
            </a:r>
            <a:r>
              <a:rPr>
                <a:latin typeface="Courier"/>
              </a:rPr>
              <a:t>make_pipeline(StandardScaler(), LogisticRegression())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 notebook 1</a:t>
                      </a:r>
                    </a:p>
                  </a:txBody>
                  <a:tcPr/>
                </a:tc>
                <a:tc>
                  <a:txBody>
                    <a:bodyPr/>
                    <a:lstStyle/>
                    <a:p>
                      <a:pPr lvl="0" indent="0" marL="0">
                        <a:buNone/>
                      </a:pPr>
                      <a:r>
                        <a:rPr/>
                        <a:t>Odds ×, exp(Fitted)</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0.46</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1.02</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r>
              <a:rPr/>
              <a:t>, the log-odds of a drive average on every counter (all x = 0)</a:t>
            </a:r>
          </a:p>
          <a:p>
            <a:pPr lvl="0"/>
            <a:r>
              <a:rPr/>
              <a:t>σ(−6.09) = 1 ÷ (1 + exp(6.09)) = 1 ÷ 442 = 0.0023: a 0.2% chance</a:t>
            </a:r>
          </a:p>
          <a:p>
            <a:pPr lvl="0"/>
            <a:r>
              <a:rPr/>
              <a:t>The fleet fails at 3.8% (slide 6): the failures come from the few drives far above average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each drive gets a 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What happened</a:t>
                      </a:r>
                    </a:p>
                  </a:txBody>
                  <a:tcPr/>
                </a:tc>
                <a:tc>
                  <a:txBody>
                    <a:bodyPr/>
                    <a:lstStyle/>
                    <a:p>
                      <a:pPr lvl="0" indent="0" marL="0">
                        <a:buNone/>
                      </a:pPr>
                      <a:r>
                        <a:rPr/>
                        <a:t>y</a:t>
                      </a:r>
                    </a:p>
                  </a:txBody>
                  <a:tcPr/>
                </a:tc>
                <a:tc>
                  <a:txBody>
                    <a:bodyPr/>
                    <a:lstStyle/>
                    <a:p>
                      <a:pPr lvl="0" indent="0" marL="0">
                        <a:buNone/>
                      </a:pPr>
                      <a:r>
                        <a:rPr/>
                        <a:t>Setting 1: p = σ(wᵀx + b), the P(fail)</a:t>
                      </a:r>
                    </a:p>
                  </a:txBody>
                  <a:tcPr/>
                </a:tc>
              </a:tr>
              <a:tr h="0">
                <a:tc>
                  <a:txBody>
                    <a:bodyPr/>
                    <a:lstStyle/>
                    <a:p>
                      <a:pPr lvl="0" indent="0" marL="0">
                        <a:buNone/>
                      </a:pPr>
                      <a:r>
                        <a:rPr/>
                        <a:t>A</a:t>
                      </a:r>
                    </a:p>
                  </a:txBody>
                </a:tc>
                <a:tc>
                  <a:txBody>
                    <a:bodyPr/>
                    <a:lstStyle/>
                    <a:p>
                      <a:pPr lvl="0" indent="0" marL="0">
                        <a:buNone/>
                      </a:pPr>
                      <a:r>
                        <a:rPr/>
                        <a:t>failed</a:t>
                      </a:r>
                    </a:p>
                  </a:txBody>
                </a:tc>
                <a:tc>
                  <a:txBody>
                    <a:bodyPr/>
                    <a:lstStyle/>
                    <a:p>
                      <a:pPr lvl="0" indent="0" marL="0">
                        <a:buNone/>
                      </a:pPr>
                      <a:r>
                        <a:rPr/>
                        <a:t>1</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0.1</a:t>
                      </a:r>
                    </a:p>
                  </a:txBody>
                </a:tc>
              </a:tr>
              <a:tr h="0">
                <a:tc>
                  <a:txBody>
                    <a:bodyPr/>
                    <a:lstStyle/>
                    <a:p>
                      <a:pPr lvl="0" indent="0" marL="0">
                        <a:buNone/>
                      </a:pPr>
                      <a:r>
                        <a:rPr/>
                        <a:t>C</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0.2</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how likely was the outcome?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p</a:t>
                      </a:r>
                    </a:p>
                  </a:txBody>
                  <a:tcPr/>
                </a:tc>
                <a:tc>
                  <a:txBody>
                    <a:bodyPr/>
                    <a:lstStyle/>
                    <a:p>
                      <a:pPr lvl="0" indent="0" marL="0">
                        <a:buNone/>
                      </a:pPr>
                      <a:r>
                        <a:rPr/>
                        <a:t>Probability of what happened: p if y = 1, 1 - p if y = 0</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r>
              <a:tr h="0">
                <a:tc>
                  <a:txBody>
                    <a:bodyPr/>
                    <a:lstStyle/>
                    <a:p>
                      <a:pPr lvl="0" indent="0" marL="0">
                        <a:buNone/>
                      </a:pPr>
                      <a:r>
                        <a:rPr/>
                        <a:t>All three: multiply</a:t>
                      </a:r>
                    </a:p>
                  </a:txBody>
                </a:tc>
                <a:tc>
                  <a:txBody>
                    <a:bodyPr/>
                    <a:lstStyle/>
                    <a:p>
                      <a:endParaRPr/>
                    </a:p>
                  </a:txBody>
                </a:tc>
                <a:tc>
                  <a:txBody>
                    <a:bodyPr/>
                    <a:lstStyle/>
                    <a:p>
                      <a:endParaRPr/>
                    </a:p>
                  </a:txBody>
                </a:tc>
                <a:tc>
                  <a:txBody>
                    <a:bodyPr/>
                    <a:lstStyle/>
                    <a:p>
                      <a:pPr lvl="0" indent="0" marL="0">
                        <a:buNone/>
                      </a:pPr>
                      <a:r>
                        <a:rPr/>
                        <a:t>0.8 × 0.9 × 0.8 = </a:t>
                      </a:r>
                      <a:r>
                        <a:rPr b="1"/>
                        <a:t>0.576</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as formulas: the likelihood</a:t>
            </a:r>
          </a:p>
        </p:txBody>
      </p:sp>
      <p:pic>
        <p:nvPicPr>
          <p:cNvPr descr="eq_4374b8da02.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two settings, the likelier wins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p</a:t>
                      </a:r>
                    </a:p>
                  </a:txBody>
                  <a:tcPr/>
                </a:tc>
                <a:tc>
                  <a:txBody>
                    <a:bodyPr/>
                    <a:lstStyle/>
                    <a:p>
                      <a:pPr lvl="0" indent="0" marL="0">
                        <a:buNone/>
                      </a:pPr>
                      <a:r>
                        <a:rPr/>
                        <a:t>Setting 1: probability of what happened</a:t>
                      </a:r>
                    </a:p>
                  </a:txBody>
                  <a:tcPr/>
                </a:tc>
                <a:tc>
                  <a:txBody>
                    <a:bodyPr/>
                    <a:lstStyle/>
                    <a:p>
                      <a:pPr lvl="0" indent="0" marL="0">
                        <a:buNone/>
                      </a:pPr>
                      <a:r>
                        <a:rPr/>
                        <a:t>Setting 2: p</a:t>
                      </a:r>
                    </a:p>
                  </a:txBody>
                  <a:tcPr/>
                </a:tc>
                <a:tc>
                  <a:txBody>
                    <a:bodyPr/>
                    <a:lstStyle/>
                    <a:p>
                      <a:pPr lvl="0" indent="0" marL="0">
                        <a:buNone/>
                      </a:pPr>
                      <a:r>
                        <a:rPr/>
                        <a:t>Setting 2: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c>
                  <a:txBody>
                    <a:bodyPr/>
                    <a:lstStyle/>
                    <a:p>
                      <a:pPr lvl="0" indent="0" marL="0">
                        <a:buNone/>
                      </a:pPr>
                      <a:r>
                        <a:rPr/>
                        <a:t>0.3</a:t>
                      </a:r>
                    </a:p>
                  </a:txBody>
                </a:tc>
                <a:tc>
                  <a:txBody>
                    <a:bodyPr/>
                    <a:lstStyle/>
                    <a:p>
                      <a:pPr lvl="0" indent="0" marL="0">
                        <a:buNone/>
                      </a:pPr>
                      <a:r>
                        <a:rPr/>
                        <a:t>0.3</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c>
                  <a:txBody>
                    <a:bodyPr/>
                    <a:lstStyle/>
                    <a:p>
                      <a:pPr lvl="0" indent="0" marL="0">
                        <a:buNone/>
                      </a:pPr>
                      <a:r>
                        <a:rPr/>
                        <a:t>0.6</a:t>
                      </a:r>
                    </a:p>
                  </a:txBody>
                </a:tc>
                <a:tc>
                  <a:txBody>
                    <a:bodyPr/>
                    <a:lstStyle/>
                    <a:p>
                      <a:pPr lvl="0" indent="0" marL="0">
                        <a:buNone/>
                      </a:pPr>
                      <a:r>
                        <a:rPr/>
                        <a:t>1 − 0.6 = 0.4</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c>
                  <a:txBody>
                    <a:bodyPr/>
                    <a:lstStyle/>
                    <a:p>
                      <a:pPr lvl="0" indent="0" marL="0">
                        <a:buNone/>
                      </a:pPr>
                      <a:r>
                        <a:rPr/>
                        <a:t>0.5</a:t>
                      </a:r>
                    </a:p>
                  </a:txBody>
                </a:tc>
                <a:tc>
                  <a:txBody>
                    <a:bodyPr/>
                    <a:lstStyle/>
                    <a:p>
                      <a:pPr lvl="0" indent="0" marL="0">
                        <a:buNone/>
                      </a:pPr>
                      <a:r>
                        <a:rPr/>
                        <a:t>1 − 0.5 = 0.5</a:t>
                      </a:r>
                    </a:p>
                  </a:txBody>
                </a:tc>
              </a:tr>
              <a:tr h="0">
                <a:tc>
                  <a:txBody>
                    <a:bodyPr/>
                    <a:lstStyle/>
                    <a:p>
                      <a:pPr lvl="0" indent="0" marL="0">
                        <a:buNone/>
                      </a:pPr>
                      <a:r>
                        <a:rPr/>
                        <a:t>Likelihood: the product</a:t>
                      </a:r>
                    </a:p>
                  </a:txBody>
                </a:tc>
                <a:tc>
                  <a:txBody>
                    <a:bodyPr/>
                    <a:lstStyle/>
                    <a:p>
                      <a:endParaRPr/>
                    </a:p>
                  </a:txBody>
                </a:tc>
                <a:tc>
                  <a:txBody>
                    <a:bodyPr/>
                    <a:lstStyle/>
                    <a:p>
                      <a:endParaRPr/>
                    </a:p>
                  </a:txBody>
                </a:tc>
                <a:tc>
                  <a:txBody>
                    <a:bodyPr/>
                    <a:lstStyle/>
                    <a:p>
                      <a:pPr lvl="0" indent="0" marL="0">
                        <a:buNone/>
                      </a:pPr>
                      <a:r>
                        <a:rPr/>
                        <a:t>0.8 × 0.9 × 0.8 = </a:t>
                      </a:r>
                      <a:r>
                        <a:rPr b="1"/>
                        <a:t>0.576</a:t>
                      </a:r>
                    </a:p>
                  </a:txBody>
                </a:tc>
                <a:tc>
                  <a:txBody>
                    <a:bodyPr/>
                    <a:lstStyle/>
                    <a:p>
                      <a:endParaRPr/>
                    </a:p>
                  </a:txBody>
                </a:tc>
                <a:tc>
                  <a:txBody>
                    <a:bodyPr/>
                    <a:lstStyle/>
                    <a:p>
                      <a:pPr lvl="0" indent="0" marL="0">
                        <a:buNone/>
                      </a:pPr>
                      <a:r>
                        <a:rPr/>
                        <a:t>0.3 × 0.4 × 0.5 = </a:t>
                      </a:r>
                      <a:r>
                        <a:rPr b="1"/>
                        <a:t>0.060</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minus the log, a cost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−log of probability of what happened</a:t>
                      </a:r>
                    </a:p>
                  </a:txBody>
                  <a:tcPr/>
                </a:tc>
                <a:tc>
                  <a:txBody>
                    <a:bodyPr/>
                    <a:lstStyle/>
                    <a:p>
                      <a:pPr lvl="0" indent="0" marL="0">
                        <a:buNone/>
                      </a:pPr>
                      <a:r>
                        <a:rPr/>
                        <a:t>Setting 2: −log of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−log 0.8 = 0.22</a:t>
                      </a:r>
                    </a:p>
                  </a:txBody>
                </a:tc>
                <a:tc>
                  <a:txBody>
                    <a:bodyPr/>
                    <a:lstStyle/>
                    <a:p>
                      <a:pPr lvl="0" indent="0" marL="0">
                        <a:buNone/>
                      </a:pPr>
                      <a:r>
                        <a:rPr/>
                        <a:t>−log 0.3 = 1.20</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−log 0.9 = 0.11</a:t>
                      </a:r>
                    </a:p>
                  </a:txBody>
                </a:tc>
                <a:tc>
                  <a:txBody>
                    <a:bodyPr/>
                    <a:lstStyle/>
                    <a:p>
                      <a:pPr lvl="0" indent="0" marL="0">
                        <a:buNone/>
                      </a:pPr>
                      <a:r>
                        <a:rPr/>
                        <a:t>−log 0.4 = 0.92</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−log 0.8 = 0.22</a:t>
                      </a:r>
                    </a:p>
                  </a:txBody>
                </a:tc>
                <a:tc>
                  <a:txBody>
                    <a:bodyPr/>
                    <a:lstStyle/>
                    <a:p>
                      <a:pPr lvl="0" indent="0" marL="0">
                        <a:buNone/>
                      </a:pPr>
                      <a:r>
                        <a:rPr/>
                        <a:t>−log 0.5 = 0.69</a:t>
                      </a:r>
                    </a:p>
                  </a:txBody>
                </a:tc>
              </a:tr>
              <a:tr h="0">
                <a:tc>
                  <a:txBody>
                    <a:bodyPr/>
                    <a:lstStyle/>
                    <a:p>
                      <a:pPr lvl="0" indent="0" marL="0">
                        <a:buNone/>
                      </a:pPr>
                      <a:r>
                        <a:rPr/>
                        <a:t>Sum = −log of the likelihood</a:t>
                      </a:r>
                    </a:p>
                  </a:txBody>
                </a:tc>
                <a:tc>
                  <a:txBody>
                    <a:bodyPr/>
                    <a:lstStyle/>
                    <a:p>
                      <a:endParaRPr/>
                    </a:p>
                  </a:txBody>
                </a:tc>
                <a:tc>
                  <a:txBody>
                    <a:bodyPr/>
                    <a:lstStyle/>
                    <a:p>
                      <a:pPr lvl="0" indent="0" marL="0">
                        <a:buNone/>
                      </a:pPr>
                      <a:r>
                        <a:rPr/>
                        <a:t>0.22 + 0.11 + 0.22 = </a:t>
                      </a:r>
                      <a:r>
                        <a:rPr b="1"/>
                        <a:t>0.55</a:t>
                      </a:r>
                    </a:p>
                  </a:txBody>
                </a:tc>
                <a:tc>
                  <a:txBody>
                    <a:bodyPr/>
                    <a:lstStyle/>
                    <a:p>
                      <a:pPr lvl="0" indent="0" marL="0">
                        <a:buNone/>
                      </a:pPr>
                      <a:r>
                        <a:rPr/>
                        <a:t>1.20 + 0.92 + 0.69 = </a:t>
                      </a:r>
                      <a:r>
                        <a:rPr b="1"/>
                        <a:t>2.81</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8-25</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23</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27</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14-15</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 on the 2,000 test drives (76 fail)</a:t>
                      </a:r>
                    </a:p>
                  </a:txBody>
                  <a:tcPr/>
                </a:tc>
                <a:tc>
                  <a:txBody>
                    <a:bodyPr/>
                    <a:lstStyle/>
                    <a:p>
                      <a:pPr lvl="0" indent="0" marL="0">
                        <a:buNone/>
                      </a:pPr>
                      <a:r>
                        <a:rPr/>
                        <a:t>Accuracy = right ÷ 2,000</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a:t>every healthy drive: 1,924 ÷ 2,000 = </a:t>
                      </a: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43 failures + 1,911 healthy: 1,954 ÷ 2,000 = 97.70%</a:t>
                      </a:r>
                    </a:p>
                  </a:txBody>
                </a:tc>
                <a:tc>
                  <a:txBody>
                    <a:bodyPr/>
                    <a:lstStyle/>
                    <a:p>
                      <a:pPr lvl="0" indent="0" marL="0">
                        <a:buNone/>
                      </a:pPr>
                      <a:r>
                        <a:rPr/>
                        <a:t>43 of 76</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a:p>
            <a:pPr lvl="0"/>
            <a:r>
              <a:rPr/>
              <a:t>Both costs are assumptions supplied from outside the data, not measured</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(43 + 13) = </a:t>
            </a:r>
            <a:r>
              <a:rPr b="1"/>
              <a:t>0.768</a:t>
            </a:r>
            <a:r>
              <a:rPr/>
              <a:t>: of the drives flagged</a:t>
            </a:r>
          </a:p>
          <a:p>
            <a:pPr lvl="0"/>
            <a:r>
              <a:rPr/>
              <a:t>Recall = TP ÷ (TP + FN) = 43 ÷ (43 + 33) = </a:t>
            </a:r>
            <a:r>
              <a:rPr b="1"/>
              <a:t>0.566</a:t>
            </a:r>
            <a:r>
              <a:rPr/>
              <a:t>: of the drives that failed</a:t>
            </a:r>
          </a:p>
          <a:p>
            <a:pPr lvl="0"/>
            <a:r>
              <a:rPr/>
              <a:t>Specificity = TN ÷ (TN + FP) = 1,911 ÷ (1,911 + 13) = 0.993</a:t>
            </a:r>
          </a:p>
          <a:p>
            <a:pPr lvl="0"/>
            <a:r>
              <a:rPr/>
              <a:t>In code: </a:t>
            </a:r>
            <a:r>
              <a:rPr>
                <a:latin typeface="Courier"/>
              </a:rPr>
              <a:t>precision_score</a:t>
            </a:r>
            <a:r>
              <a:rPr/>
              <a:t>, </a:t>
            </a:r>
            <a:r>
              <a:rPr>
                <a:latin typeface="Courier"/>
              </a:rPr>
              <a:t>recall_score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 mean</a:t>
                      </a:r>
                    </a:p>
                  </a:txBody>
                  <a:tcPr/>
                </a:tc>
                <a:tc>
                  <a:txBody>
                    <a:bodyPr/>
                    <a:lstStyle/>
                    <a:p>
                      <a:pPr lvl="0" indent="0" marL="0">
                        <a:buNone/>
                      </a:pPr>
                      <a:r>
                        <a:rPr/>
                        <a:t>Harmonic, F1 = 2PR ÷ (P + R)</a:t>
                      </a:r>
                    </a:p>
                  </a:txBody>
                  <a:tcPr/>
                </a:tc>
              </a:tr>
              <a:tr h="0">
                <a:tc>
                  <a:txBody>
                    <a:bodyPr/>
                    <a:lstStyle/>
                    <a:p>
                      <a:pPr lvl="0" indent="0" marL="0">
                        <a:buNone/>
                      </a:pPr>
                      <a:r>
                        <a:rPr/>
                        <a:t>Flag every drive</a:t>
                      </a:r>
                    </a:p>
                  </a:txBody>
                </a:tc>
                <a:tc>
                  <a:txBody>
                    <a:bodyPr/>
                    <a:lstStyle/>
                    <a:p>
                      <a:pPr lvl="0" indent="0" marL="0">
                        <a:buNone/>
                      </a:pPr>
                      <a:r>
                        <a:rPr/>
                        <a:t>76 ÷ 2,000 = 0.038</a:t>
                      </a:r>
                    </a:p>
                  </a:txBody>
                </a:tc>
                <a:tc>
                  <a:txBody>
                    <a:bodyPr/>
                    <a:lstStyle/>
                    <a:p>
                      <a:pPr lvl="0" indent="0" marL="0">
                        <a:buNone/>
                      </a:pPr>
                      <a:r>
                        <a:rPr/>
                        <a:t>76 ÷ 76 = 1</a:t>
                      </a:r>
                    </a:p>
                  </a:txBody>
                </a:tc>
                <a:tc>
                  <a:txBody>
                    <a:bodyPr/>
                    <a:lstStyle/>
                    <a:p>
                      <a:pPr lvl="0" indent="0" marL="0">
                        <a:buNone/>
                      </a:pPr>
                      <a:r>
                        <a:rPr/>
                        <a:t>(0.038 + 1) ÷ 2 = 0.519</a:t>
                      </a:r>
                    </a:p>
                  </a:txBody>
                </a:tc>
                <a:tc>
                  <a:txBody>
                    <a:bodyPr/>
                    <a:lstStyle/>
                    <a:p>
                      <a:pPr lvl="0" indent="0" marL="0">
                        <a:buNone/>
                      </a:pPr>
                      <a:r>
                        <a:rPr/>
                        <a:t>2 × 0.038 × 1 ÷ 1.038 = </a:t>
                      </a:r>
                      <a:r>
                        <a:rPr b="1"/>
                        <a:t>0.073</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t>F1 per class: healthy 0.988 (1,924 drives), failed 0.652 (76 drives)</a:t>
            </a:r>
          </a:p>
          <a:p>
            <a:pPr lvl="0"/>
            <a:r>
              <a:rPr>
                <a:latin typeface="Courier"/>
              </a:rPr>
              <a:t>macro avg</a:t>
            </a:r>
            <a:r>
              <a:rPr/>
              <a:t> F1 = (0.988 + 0.652) ÷ 2 = </a:t>
            </a:r>
            <a:r>
              <a:rPr b="1"/>
              <a:t>0.820</a:t>
            </a:r>
            <a:r>
              <a:rPr/>
              <a:t>: both classes count the same</a:t>
            </a:r>
          </a:p>
          <a:p>
            <a:pPr lvl="0"/>
            <a:r>
              <a:rPr>
                <a:latin typeface="Courier"/>
              </a:rPr>
              <a:t>weighted avg</a:t>
            </a:r>
            <a:r>
              <a:rPr/>
              <a:t> F1 = (1,924 × 0.988 + 76 × 0.652) ÷ 2,000 = </a:t>
            </a:r>
            <a:r>
              <a:rPr b="1"/>
              <a:t>0.975</a:t>
            </a:r>
            <a:r>
              <a:rPr/>
              <a:t>: the healthy class dominates</a:t>
            </a:r>
          </a:p>
          <a:p>
            <a:pPr lvl="0"/>
            <a:r>
              <a:rPr/>
              <a:t>In code: </a:t>
            </a:r>
            <a:r>
              <a:rPr>
                <a:latin typeface="Courier"/>
              </a:rPr>
              <a:t>classification_report(y_test, y_pred)</a:t>
            </a:r>
            <a:r>
              <a:rPr/>
              <a:t> prints both rows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29</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31</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33-36</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38-39</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40</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pic>
        <p:nvPicPr>
          <p:cNvPr descr="sweep_outcomes.png" id="0" name="Picture 1"/>
          <p:cNvPicPr>
            <a:picLocks noGrp="1" noChangeAspect="1"/>
          </p:cNvPicPr>
          <p:nvPr/>
        </p:nvPicPr>
        <p:blipFill>
          <a:blip r:embed="rId3"/>
          <a:stretch>
            <a:fillRect/>
          </a:stretch>
        </p:blipFill>
        <p:spPr bwMode="auto">
          <a:xfrm>
            <a:off x="1023045" y="1166099"/>
            <a:ext cx="7097910"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 (</a:t>
            </a:r>
            <a:r>
              <a:rPr>
                <a:latin typeface="Courier"/>
              </a:rPr>
              <a:t>roc_auc_score</a:t>
            </a:r>
            <a:r>
              <a:rPr/>
              <a:t>, notebook 3)</a:t>
            </a:r>
          </a:p>
          <a:p>
            <a:pPr lvl="0"/>
            <a:r>
              <a:rPr/>
              <a:t>Check: in 200,000 random pairs, the failing drive scores higher 94.9% of the time</a:t>
            </a:r>
          </a:p>
          <a:p>
            <a:pPr lvl="0"/>
            <a:r>
              <a:rPr/>
              <a:t>In code: </a:t>
            </a:r>
            <a:r>
              <a:rPr>
                <a:latin typeface="Courier"/>
              </a:rPr>
              <a:t>roc_auc_score(y_test, scores)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a:p>
            <a:pPr lvl="0"/>
            <a:r>
              <a:rPr/>
              <a:t>Its area is the </a:t>
            </a:r>
            <a:r>
              <a:rPr b="1"/>
              <a:t>average precision</a:t>
            </a:r>
            <a:r>
              <a:rPr/>
              <a:t>, </a:t>
            </a:r>
            <a:r>
              <a:rPr>
                <a:latin typeface="Courier"/>
              </a:rPr>
              <a:t>average_precision_score</a:t>
            </a:r>
            <a:r>
              <a:rPr/>
              <a:t>: 0.717 here, against 0.038 = 76 ÷ 2,000 for a model that ranks at random</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pic>
        <p:nvPicPr>
          <p:cNvPr descr="class_weight_costs.png" id="0" name="Picture 1"/>
          <p:cNvPicPr>
            <a:picLocks noGrp="1" noChangeAspect="1"/>
          </p:cNvPicPr>
          <p:nvPr/>
        </p:nvPicPr>
        <p:blipFill>
          <a:blip r:embed="rId3"/>
          <a:stretch>
            <a:fillRect/>
          </a:stretch>
        </p:blipFill>
        <p:spPr bwMode="auto">
          <a:xfrm>
            <a:off x="457200" y="1284089"/>
            <a:ext cx="8229600" cy="31242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42</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43</a:t>
                      </a:r>
                    </a:p>
                  </a:txBody>
                </a:tc>
                <a:tc>
                  <a:txBody>
                    <a:bodyPr/>
                    <a:lstStyle/>
                    <a:p>
                      <a:pPr lvl="0" indent="0" marL="0">
                        <a:buNone/>
                      </a:pPr>
                      <a:r>
                        <a:rPr/>
                        <a:t>200,000 random (failing, healthy) pairs → 0.9488</a:t>
                      </a:r>
                    </a:p>
                  </a:txBody>
                </a:tc>
              </a:tr>
              <a:tr h="0">
                <a:tc>
                  <a:txBody>
                    <a:bodyPr/>
                    <a:lstStyle/>
                    <a:p>
                      <a:pPr lvl="0" indent="0" marL="0">
                        <a:buNone/>
                      </a:pPr>
                      <a:r>
                        <a:rPr/>
                        <a:t>the rare-positive trap, 45-46</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48-50</a:t>
                      </a:r>
                    </a:p>
                  </a:txBody>
                </a:tc>
                <a:tc>
                  <a:txBody>
                    <a:bodyPr/>
                    <a:lstStyle/>
                    <a:p>
                      <a:pPr lvl="0" indent="0" marL="0">
                        <a:buNone/>
                      </a:pPr>
                      <a:r>
                        <a:rPr>
                          <a:latin typeface="Courier"/>
                        </a:rPr>
                        <a:t>confusion_matrix</a:t>
                      </a:r>
                      <a:r>
                        <a:rPr/>
                        <a:t> at each threshold → 45,540 EUR at 0.08, against 87,620 at 0.50</a:t>
                      </a:r>
                    </a:p>
                  </a:txBody>
                </a:tc>
              </a:tr>
              <a:tr h="0">
                <a:tc>
                  <a:txBody>
                    <a:bodyPr/>
                    <a:lstStyle/>
                    <a:p>
                      <a:pPr lvl="0" indent="0" marL="0">
                        <a:buNone/>
                      </a:pPr>
                      <a:r>
                        <a:rPr/>
                        <a:t>class weights, 51</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53-54</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pic>
        <p:nvPicPr>
          <p:cNvPr descr="macro_vs_weighted.png" id="0" name="Picture 1"/>
          <p:cNvPicPr>
            <a:picLocks noGrp="1" noChangeAspect="1"/>
          </p:cNvPicPr>
          <p:nvPr/>
        </p:nvPicPr>
        <p:blipFill>
          <a:blip r:embed="rId3"/>
          <a:stretch>
            <a:fillRect/>
          </a:stretch>
        </p:blipFill>
        <p:spPr bwMode="auto">
          <a:xfrm>
            <a:off x="1306206" y="1166099"/>
            <a:ext cx="6531587" cy="3360181"/>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6 November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