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50,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29,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 the first four move it by 0.03 -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at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gives every sector the same 0.336 of z, so for that model the first four sectors add 1.34 to z and take a drive from 1.2% to 4.4%. But the labels were generated from log(1 + count), on which the first sectors weigh the most (handout section 1.1): for a drive whose other counters are average, the first four sectors add 4.7 to z and take it from 0.012% to 1.3%, about a hundred times more. That is why the six-counter model of slide 12 onwards takes log(1 + count) as its input.</a:t>
            </a:r>
          </a:p>
          <a:p>
            <a:pPr lvl="0" indent="0" marL="0">
              <a:buNone/>
            </a:pPr>
          </a:p>
          <a:p>
            <a:pPr lvl="0" indent="0" marL="0">
              <a:buNone/>
            </a:pPr>
            <a:r>
              <a:rPr/>
              <a:t>If a sharp student notices that 0.012% to 1.3% is a smaller move in probability than slide 7’s 0.03: compare effects in z, not in probability. That drive starts so deep in the flat tail that even a hundredfold rise moves its probability by only 0.013. Handout section 2.2.</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22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and it is about how evidence combines.</a:t>
            </a:r>
          </a:p>
          <a:p>
            <a:pPr lvl="0" indent="0" marL="0">
              <a:buNone/>
            </a:pPr>
          </a:p>
          <a:p>
            <a:pPr lvl="0" indent="0" marL="0">
              <a:buNone/>
            </a:pPr>
            <a:r>
              <a:rPr/>
              <a:t>Start from what a linear model does. It adds one contribution per feature, and each contribution is the same whatever the other features say. So we want the same evidence - say, one standard deviation more of reallocated sectors - to raise the risk by the same amount on every drive.</a:t>
            </a:r>
          </a:p>
          <a:p>
            <a:pPr lvl="0" indent="0" marL="0">
              <a:buNone/>
            </a:pPr>
          </a:p>
          <a:p>
            <a:pPr lvl="0" indent="0" marL="0">
              <a:buNone/>
            </a:pPr>
            <a:r>
              <a:rPr/>
              <a:t>Last column first. Try a fixed step in probability: plus 0.10. A drive at 50% goes to 60%, fine. A drive at 95% goes to 105%, which is not a probability. No step is small enough to be safe for every drive.</a:t>
            </a:r>
          </a:p>
          <a:p>
            <a:pPr lvl="0" indent="0" marL="0">
              <a:buNone/>
            </a:pPr>
          </a:p>
          <a:p>
            <a:pPr lvl="0" indent="0" marL="0">
              <a:buNone/>
            </a:pPr>
            <a:r>
              <a:rPr/>
              <a:t>Now the odds: the probability of failing divided by the probability of not failing, p over 1 minus p. Bayes’ rule, written with odds, says exactly how evidence acts on them: the odds after seeing a reading are the odds before, times how much more common that reading is among drives that fail than among drives that do not. That ratio is called the likelihood ratio. A reading six times more common among failing drives multiplies the odds by 6 - whatever they were. Six is realistic here: the coefficient of reallocated sectors used to generate the labels is 1.80 per standard deviation, and e to the 1.80 is 6.05 (slide 13 reads coefficients this way; slide 14 shows the true ones).</a:t>
            </a:r>
          </a:p>
          <a:p>
            <a:pPr lvl="0" indent="0" marL="0">
              <a:buNone/>
            </a:pPr>
          </a:p>
          <a:p>
            <a:pPr lvl="0" indent="0" marL="0">
              <a:buNone/>
            </a:pPr>
            <a:r>
              <a:rPr/>
              <a:t>Go along the rows. A factor never breaks anything: odds times 6 are still positive odds, so the last-but-one column is always a probability. And read how much it moves: 36 points at 50%, but 1 point at 0.2% and 4 points at 95%. Steep in the middle, flat at both ends - that is slide 8’s sigmoid, and nobody chose it. It is what multiplying the odds looks like on the probability scale.</a:t>
            </a:r>
          </a:p>
          <a:p>
            <a:pPr lvl="0" indent="0" marL="0">
              <a:buNone/>
            </a:pPr>
          </a:p>
          <a:p>
            <a:pPr lvl="0" indent="0" marL="0">
              <a:buNone/>
            </a:pPr>
            <a:r>
              <a:rPr/>
              <a:t>Then the step to the next slide. Several readings, if independent given the class, multiply the odds by one factor each. Take the logarithm and the factors become terms that add: log of the odds after equals log of the odds before plus one log-factor per reading. A starting value plus one term per feature is exactly w-transpose-x plus b. The intercept is the log-odds of an average drive, minus 6.20, which is the 0.2% in the first row; each term is the log of the factor its feature multiplies the odds by - log 6 is 1.79. That is why slide 11 puts the line on the log-odds.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24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24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22)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24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23).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29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35,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29 to 32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44 names the property). Slide 49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49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43. Different drives: 0.949 rests on the 76 failures of our 2,000-drive test set, 0.968 on a fleet thirty times larger. Both are estimates of the same ranking ability. The same goes for average precision: 0.706 on the large fleet, against slide 40’s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29,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32 -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44). Divide every probability by ten, as slide 44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Risk before, p</a:t>
                      </a:r>
                    </a:p>
                  </a:txBody>
                  <a:tcPr/>
                </a:tc>
                <a:tc>
                  <a:txBody>
                    <a:bodyPr/>
                    <a:lstStyle/>
                    <a:p>
                      <a:pPr lvl="0" indent="0" marL="0">
                        <a:buNone/>
                      </a:pPr>
                      <a:r>
                        <a:rPr/>
                        <a:t>Odds before, p ÷ (1 − p)</a:t>
                      </a:r>
                    </a:p>
                  </a:txBody>
                  <a:tcPr/>
                </a:tc>
                <a:tc>
                  <a:txBody>
                    <a:bodyPr/>
                    <a:lstStyle/>
                    <a:p>
                      <a:pPr lvl="0" indent="0" marL="0">
                        <a:buNone/>
                      </a:pPr>
                      <a:r>
                        <a:rPr/>
                        <a:t>A reading 6 times more common among failing drives: odds × 6</a:t>
                      </a:r>
                    </a:p>
                  </a:txBody>
                  <a:tcPr/>
                </a:tc>
                <a:tc>
                  <a:txBody>
                    <a:bodyPr/>
                    <a:lstStyle/>
                    <a:p>
                      <a:pPr lvl="0" indent="0" marL="0">
                        <a:buNone/>
                      </a:pPr>
                      <a:r>
                        <a:rPr/>
                        <a:t>Risk after, odds ÷ (1 + odds)</a:t>
                      </a:r>
                    </a:p>
                  </a:txBody>
                  <a:tcPr/>
                </a:tc>
                <a:tc>
                  <a:txBody>
                    <a:bodyPr/>
                    <a:lstStyle/>
                    <a:p>
                      <a:pPr lvl="0" indent="0" marL="0">
                        <a:buNone/>
                      </a:pPr>
                      <a:r>
                        <a:rPr/>
                        <a:t>Adding 0.10 to the risk instead</a:t>
                      </a:r>
                    </a:p>
                  </a:txBody>
                  <a:tcPr/>
                </a:tc>
              </a:tr>
              <a:tr h="0">
                <a:tc>
                  <a:txBody>
                    <a:bodyPr/>
                    <a:lstStyle/>
                    <a:p>
                      <a:pPr lvl="0" indent="0" marL="0">
                        <a:buNone/>
                      </a:pPr>
                      <a:r>
                        <a:rPr/>
                        <a:t>0.2% (an average drive)</a:t>
                      </a:r>
                    </a:p>
                  </a:txBody>
                </a:tc>
                <a:tc>
                  <a:txBody>
                    <a:bodyPr/>
                    <a:lstStyle/>
                    <a:p>
                      <a:pPr lvl="0" indent="0" marL="0">
                        <a:buNone/>
                      </a:pPr>
                      <a:r>
                        <a:rPr/>
                        <a:t>0.002</a:t>
                      </a:r>
                    </a:p>
                  </a:txBody>
                </a:tc>
                <a:tc>
                  <a:txBody>
                    <a:bodyPr/>
                    <a:lstStyle/>
                    <a:p>
                      <a:pPr lvl="0" indent="0" marL="0">
                        <a:buNone/>
                      </a:pPr>
                      <a:r>
                        <a:rPr/>
                        <a:t>0.012</a:t>
                      </a:r>
                    </a:p>
                  </a:txBody>
                </a:tc>
                <a:tc>
                  <a:txBody>
                    <a:bodyPr/>
                    <a:lstStyle/>
                    <a:p>
                      <a:pPr lvl="0" indent="0" marL="0">
                        <a:buNone/>
                      </a:pPr>
                      <a:r>
                        <a:rPr/>
                        <a:t>1.2%</a:t>
                      </a:r>
                    </a:p>
                  </a:txBody>
                </a:tc>
                <a:tc>
                  <a:txBody>
                    <a:bodyPr/>
                    <a:lstStyle/>
                    <a:p>
                      <a:pPr lvl="0" indent="0" marL="0">
                        <a:buNone/>
                      </a:pPr>
                      <a:r>
                        <a:rPr/>
                        <a:t>10.2%</a:t>
                      </a:r>
                    </a:p>
                  </a:txBody>
                </a:tc>
              </a:tr>
              <a:tr h="0">
                <a:tc>
                  <a:txBody>
                    <a:bodyPr/>
                    <a:lstStyle/>
                    <a:p>
                      <a:pPr lvl="0" indent="0" marL="0">
                        <a:buNone/>
                      </a:pPr>
                      <a:r>
                        <a:rPr/>
                        <a:t>50%</a:t>
                      </a:r>
                    </a:p>
                  </a:txBody>
                </a:tc>
                <a:tc>
                  <a:txBody>
                    <a:bodyPr/>
                    <a:lstStyle/>
                    <a:p>
                      <a:pPr lvl="0" indent="0" marL="0">
                        <a:buNone/>
                      </a:pPr>
                      <a:r>
                        <a:rPr/>
                        <a:t>1</a:t>
                      </a:r>
                    </a:p>
                  </a:txBody>
                </a:tc>
                <a:tc>
                  <a:txBody>
                    <a:bodyPr/>
                    <a:lstStyle/>
                    <a:p>
                      <a:pPr lvl="0" indent="0" marL="0">
                        <a:buNone/>
                      </a:pPr>
                      <a:r>
                        <a:rPr/>
                        <a:t>6</a:t>
                      </a:r>
                    </a:p>
                  </a:txBody>
                </a:tc>
                <a:tc>
                  <a:txBody>
                    <a:bodyPr/>
                    <a:lstStyle/>
                    <a:p>
                      <a:pPr lvl="0" indent="0" marL="0">
                        <a:buNone/>
                      </a:pPr>
                      <a:r>
                        <a:rPr/>
                        <a:t>86%</a:t>
                      </a:r>
                    </a:p>
                  </a:txBody>
                </a:tc>
                <a:tc>
                  <a:txBody>
                    <a:bodyPr/>
                    <a:lstStyle/>
                    <a:p>
                      <a:pPr lvl="0" indent="0" marL="0">
                        <a:buNone/>
                      </a:pPr>
                      <a:r>
                        <a:rPr/>
                        <a:t>60%</a:t>
                      </a:r>
                    </a:p>
                  </a:txBody>
                </a:tc>
              </a:tr>
              <a:tr h="0">
                <a:tc>
                  <a:txBody>
                    <a:bodyPr/>
                    <a:lstStyle/>
                    <a:p>
                      <a:pPr lvl="0" indent="0" marL="0">
                        <a:buNone/>
                      </a:pPr>
                      <a:r>
                        <a:rPr/>
                        <a:t>95%</a:t>
                      </a:r>
                    </a:p>
                  </a:txBody>
                </a:tc>
                <a:tc>
                  <a:txBody>
                    <a:bodyPr/>
                    <a:lstStyle/>
                    <a:p>
                      <a:pPr lvl="0" indent="0" marL="0">
                        <a:buNone/>
                      </a:pPr>
                      <a:r>
                        <a:rPr/>
                        <a:t>19</a:t>
                      </a:r>
                    </a:p>
                  </a:txBody>
                </a:tc>
                <a:tc>
                  <a:txBody>
                    <a:bodyPr/>
                    <a:lstStyle/>
                    <a:p>
                      <a:pPr lvl="0" indent="0" marL="0">
                        <a:buNone/>
                      </a:pPr>
                      <a:r>
                        <a:rPr/>
                        <a:t>114</a:t>
                      </a:r>
                    </a:p>
                  </a:txBody>
                </a:tc>
                <a:tc>
                  <a:txBody>
                    <a:bodyPr/>
                    <a:lstStyle/>
                    <a:p>
                      <a:pPr lvl="0" indent="0" marL="0">
                        <a:buNone/>
                      </a:pPr>
                      <a:r>
                        <a:rPr/>
                        <a:t>99.1%</a:t>
                      </a:r>
                    </a:p>
                  </a:txBody>
                </a:tc>
                <a:tc>
                  <a:txBody>
                    <a:bodyPr/>
                    <a:lstStyle/>
                    <a:p>
                      <a:pPr lvl="0" indent="0" marL="0">
                        <a:buNone/>
                      </a:pPr>
                      <a:r>
                        <a:rPr/>
                        <a:t>105%: impossible</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8-25</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23</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27</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29</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31</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33-36</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38-39</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40</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42</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43</a:t>
                      </a:r>
                    </a:p>
                  </a:txBody>
                </a:tc>
                <a:tc>
                  <a:txBody>
                    <a:bodyPr/>
                    <a:lstStyle/>
                    <a:p>
                      <a:pPr lvl="0" indent="0" marL="0">
                        <a:buNone/>
                      </a:pPr>
                      <a:r>
                        <a:rPr/>
                        <a:t>200,000 random (failing, healthy) pairs → 0.9488</a:t>
                      </a:r>
                    </a:p>
                  </a:txBody>
                </a:tc>
              </a:tr>
              <a:tr h="0">
                <a:tc>
                  <a:txBody>
                    <a:bodyPr/>
                    <a:lstStyle/>
                    <a:p>
                      <a:pPr lvl="0" indent="0" marL="0">
                        <a:buNone/>
                      </a:pPr>
                      <a:r>
                        <a:rPr/>
                        <a:t>the rare-positive trap, 45-46</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48-50</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51</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53-54</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