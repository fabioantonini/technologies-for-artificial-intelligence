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Ask who chose which penalty and why, and name the recurring mistake rather than praising the good answers - it is worth more to the room.</a:t>
            </a:r>
          </a:p>
          <a:p>
            <a:pPr lvl="0" indent="0" marL="0">
              <a:buNone/>
            </a:pPr>
          </a:p>
          <a:p>
            <a:pPr lvl="0" indent="0" marL="0">
              <a:buNone/>
            </a:pPr>
            <a:r>
              <a:rPr/>
              <a:t>The one to watch for: choosing the penalty by looking at the test error. It is the natural thing to do because the test error is the number they were told to care about. It is exactly the mistake lesson 1 named: once the test set has helped choose anything, its score is no longer an honest estimate of how the model does on new data, because the choice was fitted to it. Today’s lesson ends up in the same place from a different direction, on slide 53, when we choose a decision threshold by looking at the test set. Lesson 5 gives them the machinery to do both honestly.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agenda. Point out the proportion, because it is the point of the lesson: about a third of today is the model, two thirds is how to tell whether it works.</a:t>
            </a:r>
          </a:p>
          <a:p>
            <a:pPr lvl="0" indent="0" marL="0">
              <a:buNone/>
            </a:pPr>
          </a:p>
          <a:p>
            <a:pPr lvl="0" indent="0" marL="0">
              <a:buNone/>
            </a:pPr>
            <a:r>
              <a:rPr/>
              <a:t>That is not padding. Fitting a classifier is one line of scikit-learn. Deciding whether the thing you fitted is any good, and reporting that honestly, is where the difficulty actually lives - and it is where working data scientists most often get it wrong in public.</a:t>
            </a:r>
          </a:p>
          <a:p>
            <a:pPr lvl="0" indent="0" marL="0">
              <a:buNone/>
            </a:pPr>
          </a:p>
          <a:p>
            <a:pPr lvl="0" indent="0" marL="0">
              <a:buNone/>
            </a:pPr>
            <a:r>
              <a:rPr/>
              <a:t>If anyone asks why this comes before k-nearest neighbours and support vector machines: because every one of those needs the same evaluation apparatus, and it is better learned once, here, on the simplest possible model.</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third bullet aloud: “the probability that y equals 1, given x”. The vertical bar is read “given”: everything to its right is what we know about the drive, everything to its left is what we want to know. The two inequalities are the point of writing it this way - whatever the model outputs has to stay between 0 and 1, and slide 7 shows a straight line failing exactly that.</a:t>
            </a:r>
          </a:p>
          <a:p>
            <a:pPr lvl="0" indent="0" marL="0">
              <a:buNone/>
            </a:pPr>
          </a:p>
          <a:p>
            <a:pPr lvl="0" indent="0" marL="0">
              <a:buNone/>
            </a:pPr>
            <a:r>
              <a:rPr/>
              <a:t>Draw the distinction sharply. Regression predicts a quantity; classification predicts a category. The change sounds cosmetic and forces two separate changes of machinery.</a:t>
            </a:r>
          </a:p>
          <a:p>
            <a:pPr lvl="0" indent="0" marL="0">
              <a:buNone/>
            </a:pPr>
          </a:p>
          <a:p>
            <a:pPr lvl="0" indent="0" marL="0">
              <a:buNone/>
            </a:pPr>
            <a:r>
              <a:rPr/>
              <a:t>First, the model has to change, because a straight line is unbounded and a probability is not. Second, the evaluation has to change, because “how far off were we on average” means nothing when the answer is yes or no.</a:t>
            </a:r>
          </a:p>
          <a:p>
            <a:pPr lvl="0" indent="0" marL="0">
              <a:buNone/>
            </a:pPr>
          </a:p>
          <a:p>
            <a:pPr lvl="0" indent="0" marL="0">
              <a:buNone/>
            </a:pPr>
            <a:r>
              <a:rPr/>
              <a:t>Ask the room for other examples of the second kind before moving on. You want them to notice that the interesting class is nearly always the rare one: fraud, disease, intrusion, equipment failure. That observation is the whole second half of today.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SMART is the diagnostic data a drive keeps about itself. The third bullet names the six: reallocated sectors (bad patches of the disk the drive has retired and replaced with spare ones), spin retries (times the motor needed a second attempt to bring the platters up to speed), the share of reads and of head movements that hit an error, temperature, and hours in service. Handout section 1.1 has them in a table, with a typical drive’s values. Expand the acronym on the slide and out loud - it is the kind of thing that gets skipped and then quietly blocks a student for the rest of the hour.</a:t>
            </a:r>
          </a:p>
          <a:p>
            <a:pPr lvl="0" indent="0" marL="0">
              <a:buNone/>
            </a:pPr>
          </a:p>
          <a:p>
            <a:pPr lvl="0" indent="0" marL="0">
              <a:buNone/>
            </a:pPr>
            <a:r>
              <a:rPr/>
              <a:t>The data is synthetic, and say why: the coefficients that generated the labels are written down in disk_data.py. Same argument as lesson 3 - a real dataset lets you admire an estimate, a synthetic one lets you check it.</a:t>
            </a:r>
          </a:p>
          <a:p>
            <a:pPr lvl="0" indent="0" marL="0">
              <a:buNone/>
            </a:pPr>
          </a:p>
          <a:p>
            <a:pPr lvl="0" indent="0" marL="0">
              <a:buNone/>
            </a:pPr>
            <a:r>
              <a:rPr/>
              <a:t>One column, seek_error_rate, was generated with a coefficient of exactly zero. Do not reveal that yet. It comes back in the last section of notebook 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this number on the board and leave it there. It is the number the whole lesson turns on, and they will meet it again as an accuracy score in an hour.</a:t>
            </a:r>
          </a:p>
          <a:p>
            <a:pPr lvl="0" indent="0" marL="0">
              <a:buNone/>
            </a:pPr>
          </a:p>
          <a:p>
            <a:pPr lvl="0" indent="0" marL="0">
              <a:buNone/>
            </a:pPr>
            <a:r>
              <a:rPr/>
              <a:t>Ask, without answering: if a model has to guess for each drive, and it wants to be right as often as possible, what should it say?</a:t>
            </a:r>
          </a:p>
          <a:p>
            <a:pPr lvl="0" indent="0" marL="0">
              <a:buNone/>
            </a:pPr>
          </a:p>
          <a:p>
            <a:pPr lvl="0" indent="0" marL="0">
              <a:buNone/>
            </a:pPr>
            <a:r>
              <a:rPr/>
              <a:t>Somebody will say “healthy, every time”. Agree, and move on. Do not explain the consequence yet - it lands far harder on slide 30, after the break, when they see 96.2% printed as a model’s accuracy score.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notebook 1, section 1. Ordinary least squares on a 0/1 label, one feature. Nothing prevents it and the code runs.</a:t>
            </a:r>
          </a:p>
          <a:p>
            <a:pPr lvl="0" indent="0" marL="0">
              <a:buNone/>
            </a:pPr>
          </a:p>
          <a:p>
            <a:pPr lvl="0" indent="0" marL="0">
              <a:buNone/>
            </a:pPr>
            <a:r>
              <a:rPr/>
              <a:t>The left panel: the fitted line gives a NEGATIVE probability to 3,606 of the 8,000 drives - 3,606 divided by 8,000 is 45% of the fleet. Not a small negative number. A negative probability. And extend it slightly past the data, to 32 reallocated sectors, and it predicts more than 1 (notebook 1 prints the line; the worst drive has 28).</a:t>
            </a:r>
          </a:p>
          <a:p>
            <a:pPr lvl="0" indent="0" marL="0">
              <a:buNone/>
            </a:pPr>
          </a:p>
          <a:p>
            <a:pPr lvl="0" indent="0" marL="0">
              <a:buNone/>
            </a:pPr>
            <a:r>
              <a:rPr/>
              <a:t>Say clearly that this is not a defect better fitting would remove. A straight line is unbounded, a probability is not; no slope and intercept reconcile them. The shape of the function has to change, not its parameters.</a:t>
            </a:r>
          </a:p>
          <a:p>
            <a:pPr lvl="0" indent="0" marL="0">
              <a:buNone/>
            </a:pPr>
          </a:p>
          <a:p>
            <a:pPr lvl="0" indent="0" marL="0">
              <a:buNone/>
            </a:pPr>
            <a:r>
              <a:rPr/>
              <a:t>The right panel is where we are going. Same data, a curve that cannot leave the interval.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curve. Its horizontal axis is z, the number the linear model w-transpose-x plus b produces for a drive - think of it as the total evidence that the drive will fail, all six counters added together with their weights. Its vertical axis is the probability. Slide 11 shows that z is exactly the log-odds; for now, z is “evidence”.</a:t>
            </a:r>
          </a:p>
          <a:p>
            <a:pPr lvl="0" indent="0" marL="0">
              <a:buNone/>
            </a:pPr>
          </a:p>
          <a:p>
            <a:pPr lvl="0" indent="0" marL="0">
              <a:buNone/>
            </a:pPr>
            <a:r>
              <a:rPr/>
              <a:t>Steep in the middle, flat at both ends. Make the case that the flatness is the right behaviour, not a compromise - and be precise about what is diminishing. It is the total evidence z, not any one counter. Two more units of z starting from z = 0 take the probability from sigma(0) = 0.50 to sigma(2) = 1 over (1 + e to the minus 2) = 0.88, a rise of 0.38; the same two units starting from z = 6 take it from sigma(6) = 0.9975 to sigma(8) = 0.9997, a rise of 0.0021 - 0.38 divided by 0.0021 is 178 times less. Once the model is nearly sure, more evidence barely changes its answer.</a:t>
            </a:r>
          </a:p>
          <a:p>
            <a:pPr lvl="0" indent="0" marL="0">
              <a:buNone/>
            </a:pPr>
          </a:p>
          <a:p>
            <a:pPr lvl="0" indent="0" marL="0">
              <a:buNone/>
            </a:pPr>
            <a:r>
              <a:rPr/>
              <a:t>Expect someone to object with slide 7’s right panel. That curve barely moves over the first few reallocated sectors, where 90% of the drives sit (four sectors or fewer), and it is steepest at 13.2 sectors. So do the first sectors say little? Two separate answers, in this order.</a:t>
            </a:r>
          </a:p>
          <a:p>
            <a:pPr lvl="0" indent="0" marL="0">
              <a:buNone/>
            </a:pPr>
          </a:p>
          <a:p>
            <a:pPr lvl="0" indent="0" marL="0">
              <a:buNone/>
            </a:pPr>
            <a:r>
              <a:rPr/>
              <a:t>First, it is the same sigmoid, drawn against a different axis. Slide 7’s model has one input, the raw count of reallocated sectors, so its z is a straight line in the count: z = 0.336 times the count, minus 4.43. With no sectors z is already -4.43, deep in the flat left end of this slide’s curve; z reaches 0, the steep middle, where 0.336 times the count equals 4.43: at 4.43 divided by 0.336 = 13.2 sectors. The flat start of slide 7 is the flat left end of slide 8, with sectors on the axis instead of z.</a:t>
            </a:r>
          </a:p>
          <a:p>
            <a:pPr lvl="0" indent="0" marL="0">
              <a:buNone/>
            </a:pPr>
          </a:p>
          <a:p>
            <a:pPr lvl="0" indent="0" marL="0">
              <a:buNone/>
            </a:pPr>
            <a:r>
              <a:rPr/>
              <a:t>Second, the flat start comes from using the raw count, not from the drives. A straight line in the count gives every sector the same weight: the first adds as much to z as the twentieth. But the labels were generated from log(1 + count), which gives the first sectors the most weight (handout section 1.1). The handout’s figure in section 2.2 draws what the sectors add to z under each of the two. That is why the six-counter model of slide 12 onwards takes log(1 + count) as its input.</a:t>
            </a:r>
          </a:p>
          <a:p>
            <a:pPr lvl="0" indent="0" marL="0">
              <a:buNone/>
            </a:pPr>
          </a:p>
          <a:p>
            <a:pPr lvl="0" indent="0" marL="0">
              <a:buNone/>
            </a:pPr>
            <a:r>
              <a:rPr/>
              <a:t>Right panel: the same relationship inverted - probability on the horizontal axis, log-odds on the vertical one. This is the panel that explains WHY this particular curve and not some other S-shape; slide 9 says it in words. A probability is trapped in [0,1]. The odds - p over 1 minus p - remove the ceiling. The log of the odds removes the floor too, leaving something that runs over all of the real line.</a:t>
            </a:r>
          </a:p>
          <a:p>
            <a:pPr lvl="0" indent="0" marL="0">
              <a:buNone/>
            </a:pPr>
          </a:p>
          <a:p>
            <a:pPr lvl="0" indent="0" marL="0">
              <a:buNone/>
            </a:pPr>
            <a:r>
              <a:rPr/>
              <a:t>And that is exactly what a linear model can safely predict. So the sigmoid is not a squashing trick bolted onto linear regression: it is what you get when you model the log-odds linearly and then ask for the probability back.</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puts in words what the right panel of slide 8 shows. Go through the two steps slowly; each removes one limit. Odds: a probability of 0.2 is odds of 0.2 divided by 0.8 = 0.25, and as the probability approaches 1 the odds run off to infinity - no ceiling. But odds are never negative, so there is still a floor at 0. The logarithm sends 0 to minus infinity, and the floor is gone too.</a:t>
            </a:r>
          </a:p>
          <a:p>
            <a:pPr lvl="0" indent="0" marL="0">
              <a:buNone/>
            </a:pPr>
          </a:p>
          <a:p>
            <a:pPr lvl="0" indent="0" marL="0">
              <a:buNone/>
            </a:pPr>
            <a:r>
              <a:rPr/>
              <a:t>Nothing is lost on the way: each probability has exactly one log-odds and back. The fourth bullet makes the stretch concrete - the scale is symmetric around a half, and the extremes are pushed outwards.</a:t>
            </a:r>
          </a:p>
          <a:p>
            <a:pPr lvl="0" indent="0" marL="0">
              <a:buNone/>
            </a:pPr>
          </a:p>
          <a:p>
            <a:pPr lvl="0" indent="0" marL="0">
              <a:buNone/>
            </a:pPr>
            <a:r>
              <a:rPr/>
              <a:t>The question a sharp student asks: why this function and not some other one that also maps (0, 1) onto the whole line? There are others; the probit, built on the inverse of the normal distribution, is the common one, and it gives almost the same S-shape. The log-odds wins on three counts, and the shape is not one of them:</a:t>
            </a:r>
          </a:p>
          <a:p>
            <a:pPr lvl="0" indent="0" marL="0">
              <a:buNone/>
            </a:pPr>
          </a:p>
          <a:p>
            <a:pPr lvl="0"/>
            <a:r>
              <a:rPr/>
              <a:t>the coefficients read as odds multipliers, which is slide 13;</a:t>
            </a:r>
          </a:p>
          <a:p>
            <a:pPr lvl="0" indent="0" marL="0">
              <a:buNone/>
            </a:pPr>
          </a:p>
          <a:p>
            <a:pPr lvl="0"/>
            <a:r>
              <a:rPr/>
              <a:t>it is the scale on which Bayes’ rule adds evidence: the log-odds after seeing a drive’s counters equals the log-odds before seeing them (from the base rate alone) plus one term per counter, if the counters are independent given the class - and a sum of one term per feature is exactly what a linear model is;</a:t>
            </a:r>
          </a:p>
          <a:p>
            <a:pPr lvl="0" indent="0" marL="0">
              <a:buNone/>
            </a:pPr>
          </a:p>
          <a:p>
            <a:pPr lvl="0"/>
            <a:r>
              <a:rPr/>
              <a:t>with the cross-entropy cost of slide 23 the gradient comes out as (prediction minus label) times x, and the cost is convex - handout sections 3.4 and 4.3.</a:t>
            </a:r>
          </a:p>
          <a:p>
            <a:pPr lvl="0" indent="0" marL="0">
              <a:buNone/>
            </a:pPr>
          </a:p>
          <a:p>
            <a:pPr lvl="0" indent="0" marL="0">
              <a:buNone/>
            </a:pPr>
            <a:r>
              <a:rPr/>
              <a:t>The predictable mistake: students think the sigmoid was picked because it looks like the right S-shape. A reasonable interpretation, because the shape is what slide 8 shows first. But many curves have that shape; what singles this one out is the log-odds behind it. 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Slide 9 said the log-odds has the range a line needs. That is true, but it is not a reason: plenty of other functions also stretch (0, 1) onto the whole line. This picture gives the reason.</a:t>
            </a:r>
          </a:p>
          <a:p>
            <a:pPr lvl="0" indent="0" marL="0">
              <a:buNone/>
            </a:pPr>
          </a:p>
          <a:p>
            <a:pPr lvl="0" indent="0" marL="0">
              <a:buNone/>
            </a:pPr>
            <a:r>
              <a:rPr/>
              <a:t>Start from what a linear model does. It adds one contribution per feature, and each contribution is the same whatever the other features say. So we want the same evidence to act on every drive in the same way, whatever its risk.</a:t>
            </a:r>
          </a:p>
          <a:p>
            <a:pPr lvl="0" indent="0" marL="0">
              <a:buNone/>
            </a:pPr>
          </a:p>
          <a:p>
            <a:pPr lvl="0" indent="0" marL="0">
              <a:buNone/>
            </a:pPr>
            <a:r>
              <a:rPr/>
              <a:t>The picture shows three drives, marked by the yellow dots: an average drive at 0.2%, one at 50% and one at 95%. Each receives the same reading - a value one of its counters reports, say a high count of reallocated sectors - and it is a reading six times more common among drives that fail than among healthy ones. Bayes’ rule says such a reading multiplies the odds - the probability of failing divided by the probability of not failing - by 6, whatever they were before (handout section 2.3 shows it by counting 1,000 drives). On the horizontal axis, the log-odds, multiplying by 6 is always the same step: the three teal arrows have the same length.</a:t>
            </a:r>
          </a:p>
          <a:p>
            <a:pPr lvl="0" indent="0" marL="0">
              <a:buNone/>
            </a:pPr>
          </a:p>
          <a:p>
            <a:pPr lvl="0" indent="0" marL="0">
              <a:buNone/>
            </a:pPr>
            <a:r>
              <a:rPr/>
              <a:t>Now the rust arrows: what that same step does to the probability. 36 points for the drive at 50%, 4 points for the drive at 95%, 1 point for the average drive. And it never passes 100%, because the curve cannot. A fixed step in probability would: plus 0.10 takes the drive at 95% to 105%.</a:t>
            </a:r>
          </a:p>
          <a:p>
            <a:pPr lvl="0" indent="0" marL="0">
              <a:buNone/>
            </a:pPr>
          </a:p>
          <a:p>
            <a:pPr lvl="0" indent="0" marL="0">
              <a:buNone/>
            </a:pPr>
            <a:r>
              <a:rPr/>
              <a:t>So nobody chose the S-shape of slide 8. It is what “evidence multiplies the odds” looks like when it is drawn as a probability: steep in the middle, flat at both ends.</a:t>
            </a:r>
          </a:p>
          <a:p>
            <a:pPr lvl="0" indent="0" marL="0">
              <a:buNone/>
            </a:pPr>
          </a:p>
          <a:p>
            <a:pPr lvl="0" indent="0" marL="0">
              <a:buNone/>
            </a:pPr>
            <a:r>
              <a:rPr/>
              <a:t>The step to the next slide: on the log-odds axis, evidence simply adds. Several readings, if independent given the class, are one fixed step each, starting from the average drive at minus 6.20. A starting value plus one step per feature is exactly w-transpose-x plus b, which is why slide 11 puts the line on the log-odds. Six is a realistic factor: the coefficient of reallocated sectors used to generate the labels is 1.80 per standard deviation, and e to the 1.80 is 6.05 (slide 13 reads coefficients this way; slide 14 shows the true ones).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step from the log-odds of slide 9 to the sigmoid of the next slide, done on the board. p is shorthand for P(y = 1 | x), the probability from slide 4.</a:t>
            </a:r>
          </a:p>
          <a:p>
            <a:pPr lvl="0" indent="0" marL="0">
              <a:buNone/>
            </a:pPr>
          </a:p>
          <a:p>
            <a:pPr lvl="0" indent="0" marL="0">
              <a:buNone/>
            </a:pPr>
            <a:r>
              <a:rPr/>
              <a:t>The left-hand equation is the modelling decision. The log-odds runs over the whole real line - the right panel of slide 8 - so it is the one version of the probability a line can predict without ever leaving the range. So put the linear model of lesson 3 there, unchanged.</a:t>
            </a:r>
          </a:p>
          <a:p>
            <a:pPr lvl="0" indent="0" marL="0">
              <a:buNone/>
            </a:pPr>
          </a:p>
          <a:p>
            <a:pPr lvl="0" indent="0" marL="0">
              <a:buNone/>
            </a:pPr>
            <a:r>
              <a:rPr/>
              <a:t>The right-hand side is algebra, three lines. Write z for w-transpose-x plus b. Exponentiate both sides: p over 1 minus p equals e to the z. Multiply out and collect p: p times (1 plus e to the z) equals e to the z, so p is e to the z over 1 plus e to the z. Divide top and bottom by e to the z: p is 1 over 1 plus e to the minus z. That function has a name, and the next slide gives it.</a:t>
            </a:r>
          </a:p>
          <a:p>
            <a:pPr lvl="0" indent="0" marL="0">
              <a:buNone/>
            </a:pPr>
          </a:p>
          <a:p>
            <a:pPr lvl="0" indent="0" marL="0">
              <a:buNone/>
            </a:pPr>
            <a:r>
              <a:rPr/>
              <a:t>Check it with a number: a log-odds of +2.20 gives back 1 over (1 plus e to the minus 2.2) = 1 over (1 + 0.111) = 0.90. Going the other way, a probability of 0.90 is odds of 0.9 divided by 0.1 = 9, and log 9 = 2.20. A log-odds of 0 gives back exactly a half.</a:t>
            </a:r>
          </a:p>
          <a:p>
            <a:pPr lvl="0" indent="0" marL="0">
              <a:buNone/>
            </a:pPr>
          </a:p>
          <a:p>
            <a:pPr lvl="0" indent="0" marL="0">
              <a:buNone/>
            </a:pPr>
            <a:r>
              <a:rPr/>
              <a:t>The handout runs the same algebra in the other direction, from the sigmoid to the log-odds, in section 2.3.</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aloud as a sentence: take the linear model of lesson 3, and instead of calling its output a prediction, call it the log-odds and convert.</a:t>
            </a:r>
          </a:p>
          <a:p>
            <a:pPr lvl="0" indent="0" marL="0">
              <a:buNone/>
            </a:pPr>
          </a:p>
          <a:p>
            <a:pPr lvl="0" indent="0" marL="0">
              <a:buNone/>
            </a:pPr>
            <a:r>
              <a:rPr/>
              <a:t>Name the three properties we will use, without deriving them here - the handout section 2.2 does that: sigma of 0 is a half; sigma of minus z is 1 minus sigma of z; and the derivative is sigma times one minus sigma.</a:t>
            </a:r>
          </a:p>
          <a:p>
            <a:pPr lvl="0" indent="0" marL="0">
              <a:buNone/>
            </a:pPr>
          </a:p>
          <a:p>
            <a:pPr lvl="0" indent="0" marL="0">
              <a:buNone/>
            </a:pPr>
            <a:r>
              <a:rPr/>
              <a:t>That last one is the one to flag. It is largest in the middle, at sigma = 0.5, where it is 0.5 times 0.5 = one quarter, and it decays to zero at both ends. That one fact does two jobs later. It is why the sigmoid behaves well: flat ends mean that once the model is sure, extra evidence changes little (slide 8). And it is why squared error fails with it: slide 25 shows that the same factor ends up inside squared error’s gradient and switches learning off exactly when the model is confidently wrong.</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interpretability that keeps logistic regression in production in medicine and credit scoring. Three steps, one per bullet.</a:t>
            </a:r>
          </a:p>
          <a:p>
            <a:pPr lvl="0" indent="0" marL="0">
              <a:buNone/>
            </a:pPr>
          </a:p>
          <a:p>
            <a:pPr lvl="0" indent="0" marL="0">
              <a:buNone/>
            </a:pPr>
            <a:r>
              <a:rPr/>
              <a:t>First bullet, its first half. Standardising first (StandardScaler, lesson 3) puts every feature in the same unit, one standard deviation, so the coefficients can be compared with each other. For the four counters that the data puts on a logarithmic scale, it is one standard deviation of the transformed column.</a:t>
            </a:r>
          </a:p>
          <a:p>
            <a:pPr lvl="0" indent="0" marL="0">
              <a:buNone/>
            </a:pPr>
          </a:p>
          <a:p>
            <a:pPr lvl="0" indent="0" marL="0">
              <a:buNone/>
            </a:pPr>
            <a:r>
              <a:rPr/>
              <a:t>First bullet, its second half: this is slide 11’s line, log-odds = b + w1 x1 + … + w6 x6. Each feature contributes its coefficient times its value, so raising reallocated sectors by one standard deviation adds exactly its coefficient to the log-odds - 1.80 is the true coefficient, the one the data was generated with (next slide) - and it adds 1.80 whatever the other five counters say. That is what “linear” buys.</a:t>
            </a:r>
          </a:p>
          <a:p>
            <a:pPr lvl="0" indent="0" marL="0">
              <a:buNone/>
            </a:pPr>
          </a:p>
          <a:p>
            <a:pPr lvl="0" indent="0" marL="0">
              <a:buNone/>
            </a:pPr>
            <a:r>
              <a:rPr/>
              <a:t>Second bullet: why a sum on the log-odds becomes a product on the odds. The logarithm turns products into sums, log of a times b is log a plus log b. Read it backwards: adding 1.80 to the logarithm of the odds is the same as multiplying the odds by exp(1.80), which is 6.05. Check it on an average drive: its log-odds are the intercept, minus 6.20, so its odds are exp(-6.20) = 0.0020. One standard deviation more of reallocated sectors: log-odds minus 4.40, odds exp(-4.40) = 0.0123. Divide: 6.05.</a:t>
            </a:r>
          </a:p>
          <a:p>
            <a:pPr lvl="0" indent="0" marL="0">
              <a:buNone/>
            </a:pPr>
          </a:p>
          <a:p>
            <a:pPr lvl="0" indent="0" marL="0">
              <a:buNone/>
            </a:pPr>
            <a:r>
              <a:rPr/>
              <a:t>Third bullet: that is the arrow of slide 10’s figure. Every teal arrow was a multiplication of the odds by 6, and on the log-odds axis it had the same length - 1.79, almost exactly this coefficient. The fitted coefficient on the next slide is 1.66, a multiplier of 5.28.</a:t>
            </a:r>
          </a:p>
          <a:p>
            <a:pPr lvl="0" indent="0" marL="0">
              <a:buNone/>
            </a:pPr>
          </a:p>
          <a:p>
            <a:pPr lvl="0" indent="0" marL="0">
              <a:buNone/>
            </a:pPr>
            <a:r>
              <a:rPr/>
              <a:t>Now the mistake they will make, and it is a reasonable one. They will read “six times the odds” as “six times as likely”. For rare events those are nearly the same number, so here it is almost right - which is exactly why the habit survives until it does damage.</a:t>
            </a:r>
          </a:p>
          <a:p>
            <a:pPr lvl="0" indent="0" marL="0">
              <a:buNone/>
            </a:pPr>
          </a:p>
          <a:p>
            <a:pPr lvl="0" indent="0" marL="0">
              <a:buNone/>
            </a:pPr>
            <a:r>
              <a:rPr/>
              <a:t>Give them the counterexample out loud: a probability of 0.90 is odds of 0.9 divided by 0.1 = 9; multiplied by 5 that gives odds of 45, which is a probability of 45 divided by 46 = 0.978. The odds went up fivefold; the probability moved eight points. Odds ratios multiply odds.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1, last section. This is the payoff of using synthetic data: we do not just look at the estimates, we check them against the truth.</a:t>
            </a:r>
          </a:p>
          <a:p>
            <a:pPr lvl="0" indent="0" marL="0">
              <a:buNone/>
            </a:pPr>
          </a:p>
          <a:p>
            <a:pPr lvl="0" indent="0" marL="0">
              <a:buNone/>
            </a:pPr>
            <a:r>
              <a:rPr/>
              <a:t>The columns: True is the coefficient disk_data.py generated the labels with, Fitted is what LogisticRegression estimated from 6,000 training drives, and “Odds ×” is exp(Fitted), the multiplier of slide 13.</a:t>
            </a:r>
          </a:p>
          <a:p>
            <a:pPr lvl="0" indent="0" marL="0">
              <a:buNone/>
            </a:pPr>
          </a:p>
          <a:p>
            <a:pPr lvl="0" indent="0" marL="0">
              <a:buNone/>
            </a:pPr>
            <a:r>
              <a:rPr/>
              <a:t>Go down the column. Everything is close. Nothing is exact, and say why - 6,000 training drives carrying 230 failures (306 in the fleet minus the 76 kept for the test set) is a modest amount of evidence, and 230 is the number that matters, not 6,000.</a:t>
            </a:r>
          </a:p>
          <a:p>
            <a:pPr lvl="0" indent="0" marL="0">
              <a:buNone/>
            </a:pPr>
          </a:p>
          <a:p>
            <a:pPr lvl="0" indent="0" marL="0">
              <a:buNone/>
            </a:pPr>
            <a:r>
              <a:rPr/>
              <a:t>Then the last row, which is the one to pause on. seek_error_rate was generated with a coefficient of exactly zero: a real-looking counter with no connection to failure. The model estimates 0.02, an odds multiplier of exp(0.02) = 1.02. It did not fall for it.</a:t>
            </a:r>
          </a:p>
          <a:p>
            <a:pPr lvl="0" indent="0" marL="0">
              <a:buNone/>
            </a:pPr>
          </a:p>
          <a:p>
            <a:pPr lvl="0" indent="0" marL="0">
              <a:buNone/>
            </a:pPr>
            <a:r>
              <a:rPr/>
              <a:t>Then ask the room the harder question: would you have noticed, if I had not told you? Leave it hanging. It is lesson 5.</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quietly explains everything in the second half of the lesson, so do not rush it.</a:t>
            </a:r>
          </a:p>
          <a:p>
            <a:pPr lvl="0" indent="0" marL="0">
              <a:buNone/>
            </a:pPr>
          </a:p>
          <a:p>
            <a:pPr lvl="0" indent="0" marL="0">
              <a:buNone/>
            </a:pPr>
            <a:r>
              <a:rPr/>
              <a:t>Say first what the intercept is NOT: it is not the base rate. The fleet fails at 3.8%; the intercept describes a drive whose every counter sits at the average, and such a drive almost never fails. The failures come from the small group of drives far above average on one or more counters. Handout section 2.4.</a:t>
            </a:r>
          </a:p>
          <a:p>
            <a:pPr lvl="0" indent="0" marL="0">
              <a:buNone/>
            </a:pPr>
          </a:p>
          <a:p>
            <a:pPr lvl="0" indent="0" marL="0">
              <a:buNone/>
            </a:pPr>
            <a:r>
              <a:rPr/>
              <a:t>An average drive has a 0.2% chance of failing in thirty days. For the model to reach an even bet - probability one half, log-odds zero - the counters have to add more than 6.09 to the intercept’s -6.09. Only badly degraded drives manage that.</a:t>
            </a:r>
          </a:p>
          <a:p>
            <a:pPr lvl="0" indent="0" marL="0">
              <a:buNone/>
            </a:pPr>
          </a:p>
          <a:p>
            <a:pPr lvl="0" indent="0" marL="0">
              <a:buNone/>
            </a:pPr>
            <a:r>
              <a:rPr/>
              <a:t>So the model will assign small probabilities to almost everything. Introduce the word now: a model that outputs a probability still has to decide “fail” or “healthy”, and it does so with a threshold - flag the drive if its probability is at least the threshold. scikit-learn’s predict() uses 0.5. With these probabilities, a threshold of 0.5 will flag almost nothing. That is not the model being timid. It is the model being correct about a rare event. Everything that looks like a failure of the classifier in the next hour traces back to this number.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Put the question to the room and take answers before showing the next slide. This is a good place for them to be wrong out loud, because the honest answer is not obvious and the usual first guesses (“it’s not differentiable”, “it doesn’t work for categories”) are wrong.</a:t>
            </a:r>
          </a:p>
          <a:p>
            <a:pPr lvl="0" indent="0" marL="0">
              <a:buNone/>
            </a:pPr>
          </a:p>
          <a:p>
            <a:pPr lvl="0" indent="0" marL="0">
              <a:buNone/>
            </a:pPr>
            <a:r>
              <a:rPr/>
              <a:t>Squared error on the sigmoid IS differentiable, and it does produce a working model on easy problems. The reason to reject it is subtler, so do not give it yet. Slides 17 to 21 first build, on three drives, the cost that logistic regression does minimise; slide 25 then comes back to squared error and shows what goes wrong with it, on a drive the model is confidently wrong about.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next five slides answer the question of slide 16 - what should fitting minimise? - one step at a time, on three drives. The numbers are made up for the example; drives A, B and C are not from the dataset.</a:t>
            </a:r>
          </a:p>
          <a:p>
            <a:pPr lvl="0" indent="0" marL="0">
              <a:buNone/>
            </a:pPr>
          </a:p>
          <a:p>
            <a:pPr lvl="0" indent="0" marL="0">
              <a:buNone/>
            </a:pPr>
            <a:r>
              <a:rPr/>
              <a:t>Start from what the model does. Fitting means choosing the coefficients w and the intercept b. Call one particular choice of w and b a “setting”. Given a setting, the model of slide 12 turns each drive’s counters x into a probability of failing: p = sigma(w-transpose-x + b). This slide shows the p that one setting, setting 1, gives to each of the three drives.</a:t>
            </a:r>
          </a:p>
          <a:p>
            <a:pPr lvl="0" indent="0" marL="0">
              <a:buNone/>
            </a:pPr>
          </a:p>
          <a:p>
            <a:pPr lvl="0" indent="0" marL="0">
              <a:buNone/>
            </a:pPr>
            <a:r>
              <a:rPr/>
              <a:t>Next to it, what actually happened, and its label y: 1 for a drive that failed, 0 for one that stayed healthy - the convention of slide 4.</a:t>
            </a:r>
          </a:p>
          <a:p>
            <a:pPr lvl="0" indent="0" marL="0">
              <a:buNone/>
            </a:pPr>
          </a:p>
          <a:p>
            <a:pPr lvl="0" indent="0" marL="0">
              <a:buNone/>
            </a:pPr>
            <a:r>
              <a:rPr/>
              <a:t>Ask the room: is setting 1 a good setting? Let them argue it from the table. It gave the drive that failed a high p, and the two that survived a low one, so it looks good. The next slide turns that impression into a number.</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idea: judge a setting by how probable it made what really happened.</a:t>
            </a:r>
          </a:p>
          <a:p>
            <a:pPr lvl="0" indent="0" marL="0">
              <a:buNone/>
            </a:pPr>
          </a:p>
          <a:p>
            <a:pPr lvl="0" indent="0" marL="0">
              <a:buNone/>
            </a:pPr>
            <a:r>
              <a:rPr/>
              <a:t>p is the probability of failing. For drive A, which did fail, that is exactly the probability of what happened: 0.8. For drives B and C, which stayed healthy, the probability of what happened is the probability of staying healthy, which is 1 minus p: 1 - 0.1 = 0.9 and 1 - 0.2 = 0.8. That is the rule in the last column header: p if y = 1, 1 - p if y = 0.</a:t>
            </a:r>
          </a:p>
          <a:p>
            <a:pPr lvl="0" indent="0" marL="0">
              <a:buNone/>
            </a:pPr>
          </a:p>
          <a:p>
            <a:pPr lvl="0" indent="0" marL="0">
              <a:buNone/>
            </a:pPr>
            <a:r>
              <a:rPr/>
              <a:t>Then the three drives together. If the drives fail or survive independently of each other, the probability that all three outcomes happen is the product of the three: 0.8 times 0.9 times 0.8, which is 0.576. Under setting 1, what we observed had a 57.6% chance of happening.</a:t>
            </a:r>
          </a:p>
          <a:p>
            <a:pPr lvl="0" indent="0" marL="0">
              <a:buNone/>
            </a:pPr>
          </a:p>
          <a:p>
            <a:pPr lvl="0" indent="0" marL="0">
              <a:buNone/>
            </a:pPr>
            <a:r>
              <a:rPr/>
              <a:t>That product has a name: the likelihood of the setting. The next slide writes the same two rules as formulas.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formulas, and both are the previous slide written in symbols.</a:t>
            </a:r>
          </a:p>
          <a:p>
            <a:pPr lvl="0" indent="0" marL="0">
              <a:buNone/>
            </a:pPr>
          </a:p>
          <a:p>
            <a:pPr lvl="0" indent="0" marL="0">
              <a:buNone/>
            </a:pPr>
            <a:r>
              <a:rPr/>
              <a:t>Top line: the probability of what happened to one drive. It is the rule “p if y = 1, 1 - p if y = 0” in a single expression. Check it with y = 1: p to the power 1 is p, and (1 - p) to the power 0 is 1, so it gives p. With y = 0 it gives 1 times (1 - p). Do drive B on the board: 0.1 to the power 0 times 0.9 to the power 1 is 0.9, the number in the table. The exponents are just a way of writing an if-statement.</a:t>
            </a:r>
          </a:p>
          <a:p>
            <a:pPr lvl="0" indent="0" marL="0">
              <a:buNone/>
            </a:pPr>
          </a:p>
          <a:p>
            <a:pPr lvl="0" indent="0" marL="0">
              <a:buNone/>
            </a:pPr>
            <a:r>
              <a:rPr/>
              <a:t>Bottom line: the likelihood, script L, of a setting (w, b). The capital pi means “multiply over all the drives”, i from 1 to m, the way a capital sigma means “add”. Each drive contributes its factor from the top line; the superscript (i) says which drive. For our three drives, m = 3 and the product is 0.8 times 0.9 times 0.8 = 0.576.</a:t>
            </a:r>
          </a:p>
          <a:p>
            <a:pPr lvl="0" indent="0" marL="0">
              <a:buNone/>
            </a:pPr>
          </a:p>
          <a:p>
            <a:pPr lvl="0" indent="0" marL="0">
              <a:buNone/>
            </a:pPr>
            <a:r>
              <a:rPr/>
              <a:t>The p inside depends on w and b, through p = sigma(w-transpose-x + b). That is why L is written as a function of w and b: change the setting, every p changes, and the likelihood changes with them.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a second setting, a different choice of w and b. It gives the three drives p = 0.3, 0.6 and 0.5: a low p to the drive that failed, a high p to one that survived. It looks worse, and the likelihood says how much worse.</a:t>
            </a:r>
          </a:p>
          <a:p>
            <a:pPr lvl="0" indent="0" marL="0">
              <a:buNone/>
            </a:pPr>
          </a:p>
          <a:p>
            <a:pPr lvl="0" indent="0" marL="0">
              <a:buNone/>
            </a:pPr>
            <a:r>
              <a:rPr/>
              <a:t>Apply the same rule, column by column. A failed, so its factor is p = 0.3. B and C survived, so their factors are 1 - 0.6 = 0.4 and 1 - 0.5 = 0.5. Multiply: 0.3 times 0.4 times 0.5 = 0.060.</a:t>
            </a:r>
          </a:p>
          <a:p>
            <a:pPr lvl="0" indent="0" marL="0">
              <a:buNone/>
            </a:pPr>
          </a:p>
          <a:p>
            <a:pPr lvl="0" indent="0" marL="0">
              <a:buNone/>
            </a:pPr>
            <a:r>
              <a:rPr/>
              <a:t>Compare: 0.576 against 0.060. What actually happened is 0.576 divided by 0.060 = 9.6 times more probable under setting 1, so setting 1 explains the data better. Keep it.</a:t>
            </a:r>
          </a:p>
          <a:p>
            <a:pPr lvl="0" indent="0" marL="0">
              <a:buNone/>
            </a:pPr>
          </a:p>
          <a:p>
            <a:pPr lvl="0" indent="0" marL="0">
              <a:buNone/>
            </a:pPr>
            <a:r>
              <a:rPr/>
              <a:t>That comparison is maximum likelihood. Fitting a logistic regression is the same comparison made over every possible setting rather than two: choose the w and b with the largest likelihood. Nobody tries them one by one - gradient descent does the searching, as in lesson 3.</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last step turns “largest likelihood” into “smallest cost”, so it can be minimised as in lesson 3. Natural logarithms throughout.</a:t>
            </a:r>
          </a:p>
          <a:p>
            <a:pPr lvl="0" indent="0" marL="0">
              <a:buNone/>
            </a:pPr>
          </a:p>
          <a:p>
            <a:pPr lvl="0" indent="0" marL="0">
              <a:buNone/>
            </a:pPr>
            <a:r>
              <a:rPr/>
              <a:t>Take minus the logarithm of each drive’s factor and add them up. Because the log of a product is the sum of the logs, the sum is minus the log of the likelihood: 0.55 is minus the log of 0.576, and 2.81 is minus the log of 0.060. The logarithm keeps the order and the minus sign reverses it, so the better setting now has the SMALLER number - 0.55 against 2.81. Setting 1 still wins.</a:t>
            </a:r>
          </a:p>
          <a:p>
            <a:pPr lvl="0" indent="0" marL="0">
              <a:buNone/>
            </a:pPr>
          </a:p>
          <a:p>
            <a:pPr lvl="0" indent="0" marL="0">
              <a:buNone/>
            </a:pPr>
            <a:r>
              <a:rPr/>
              <a:t>Read the per-drive numbers too. Minus the log of a probability is called the surprise of an outcome: 0 for something you were certain of, large for something you said was unlikely. Setting 2 is most surprised by drive A, 1.20, because it gave A’s failure only 0.3. Maximum likelihood and least total surprise are the same choice.</a:t>
            </a:r>
          </a:p>
          <a:p>
            <a:pPr lvl="0" indent="0" marL="0">
              <a:buNone/>
            </a:pPr>
          </a:p>
          <a:p>
            <a:pPr lvl="0" indent="0" marL="0">
              <a:buNone/>
            </a:pPr>
            <a:r>
              <a:rPr/>
              <a:t>Two reasons we always work with the logarithm, worth saying aloud. A sum differentiates one term at a time. And the product itself is too small to store. Notebook 1’s gradient descent starts with every coefficient and the intercept at zero, so z is 0 for every drive and every p is 0.5. 0.5 multiplied by itself 6,000 times, once per training drive, is 10 to the power 6,000 times log10 of 0.5 = 6,000 times minus 0.301 = minus 1806, while the smallest positive number a 64-bit float can hold is about 5 times 10 to the minus 324. The computer would store exactly zero.</a:t>
            </a:r>
          </a:p>
          <a:p>
            <a:pPr lvl="0" indent="0" marL="0">
              <a:buNone/>
            </a:pPr>
          </a:p>
          <a:p>
            <a:pPr lvl="0" indent="0" marL="0">
              <a:buNone/>
            </a:pPr>
            <a:r>
              <a:rPr/>
              <a:t>Divide the sum by the number of drives and you have the average surprise: that is the cost J that fitting minimises, and scikit-learn’s log_loss computes exactly this average. The next slide draws the surprise of one drive, and slide 23 writes it as a formula, the loss L; J is its average over the drives. Handout sections 3.1 to 3.3.</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Slide 21’s numbers, drawn. The horizontal axis is the probability the model gave to what actually happened - the factors of slides 18 and 20. The vertical axis is minus the log of it: the surprise.</a:t>
            </a:r>
          </a:p>
          <a:p>
            <a:pPr lvl="0" indent="0" marL="0">
              <a:buNone/>
            </a:pPr>
          </a:p>
          <a:p>
            <a:pPr lvl="0" indent="0" marL="0">
              <a:buNone/>
            </a:pPr>
            <a:r>
              <a:rPr/>
              <a:t>Read the curve from right to left. Something the model was sure of, p = 1, costs nothing: minus log 1 is 0. As p falls the surprise grows, slowly at first and then without limit: something the model called impossible costs infinity.</a:t>
            </a:r>
          </a:p>
          <a:p>
            <a:pPr lvl="0" indent="0" marL="0">
              <a:buNone/>
            </a:pPr>
          </a:p>
          <a:p>
            <a:pPr lvl="0" indent="0" marL="0">
              <a:buNone/>
            </a:pPr>
            <a:r>
              <a:rPr/>
              <a:t>Now the six dots. Setting 1’s factors, 0.8, 0.9 and 0.8, sit on the flat right-hand part: small surprises, 0.22 + 0.11 + 0.22 = 0.55 in all. Setting 2’s, 0.3, 0.4 and 0.5, sit higher up: 1.20 + 0.92 + 0.69 = 2.81. The highest dot is drive A under setting 2: it failed, and setting 2 had given its failure only 0.3, so minus log 0.3 = 1.20.</a:t>
            </a:r>
          </a:p>
          <a:p>
            <a:pPr lvl="0" indent="0" marL="0">
              <a:buNone/>
            </a:pPr>
          </a:p>
          <a:p>
            <a:pPr lvl="0" indent="0" marL="0">
              <a:buNone/>
            </a:pPr>
            <a:r>
              <a:rPr/>
              <a:t>The curve is the cost of one drive, which the next slide writes as a formula: the loss L.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loss on ONE example, L, not the cost over the training set; p is the predicted probability, the same number the next slide writes as y-hat. Say the other half aloud rather than showing it: the cost J is the average of this over the m examples, one over m times the sum. It is left off the slide because, written out in full, the formula does not fit at a readable size.</a:t>
            </a:r>
          </a:p>
          <a:p>
            <a:pPr lvl="0" indent="0" marL="0">
              <a:buNone/>
            </a:pPr>
          </a:p>
          <a:p>
            <a:pPr lvl="0" indent="0" marL="0">
              <a:buNone/>
            </a:pPr>
            <a:r>
              <a:rPr/>
              <a:t>Nothing new to derive: this is slides 17 to 21 written for one drive in symbols. Check it on drive B of slide 17: y = 0 and p = 0.1, so the first term vanishes and L = -log(1 - 0.1) = -log 0.9 = 0.11, the number slide 21 gave B under setting 1. The handout, section 3, does it for m drives in full.</a:t>
            </a:r>
          </a:p>
          <a:p>
            <a:pPr lvl="0" indent="0" marL="0">
              <a:buNone/>
            </a:pPr>
          </a:p>
          <a:p>
            <a:pPr lvl="0" indent="0" marL="0">
              <a:buNone/>
            </a:pPr>
            <a:r>
              <a:rPr/>
              <a:t>The interpretation that makes it stick: the cost of an outcome is the SURPRISE of seeing it. Something you called certain costs nothing. Something you gave a probability of one in a thousand costs log 1000, about 6.9 (natural logarithm, as everywhere in this lesson). Something you declared impossible costs infinity.</a:t>
            </a:r>
          </a:p>
          <a:p>
            <a:pPr lvl="0" indent="0" marL="0">
              <a:buNone/>
            </a:pPr>
          </a:p>
          <a:p>
            <a:pPr lvl="0" indent="0" marL="0">
              <a:buNone/>
            </a:pPr>
            <a:r>
              <a:rPr/>
              <a:t>Only one of the two terms is ever active, because y is 0 or 1. The bracket is a way of writing an if-statement in algebra, nothing more.</a:t>
            </a:r>
          </a:p>
          <a:p>
            <a:pPr lvl="0" indent="0" marL="0">
              <a:buNone/>
            </a:pPr>
          </a:p>
          <a:p>
            <a:pPr lvl="0" indent="0" marL="0">
              <a:buNone/>
            </a:pPr>
            <a:r>
              <a:rPr/>
              <a:t>And the headline: nobody designed this function. It fell out of asking for the parameters that make the data least surprising.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the formula says, in words. To find how the cost J changes when the coefficient w_j is nudged up: take each training drive, compute its error - the predicted probability y-hat minus the true label y, which is 0 or 1 - multiply that error by the drive’s value of feature j, and average over the m drives. Gradient descent then steps w_j in the opposite direction.</a:t>
            </a:r>
          </a:p>
          <a:p>
            <a:pPr lvl="0" indent="0" marL="0">
              <a:buNone/>
            </a:pPr>
          </a:p>
          <a:p>
            <a:pPr lvl="0" indent="0" marL="0">
              <a:buNone/>
            </a:pPr>
            <a:r>
              <a:rPr/>
              <a:t>What is new, and what is not. The formula is written with exactly the symbols of lesson 3’s slide 23. The difference is hidden in y-hat: in lesson 3 it was the straight line w-transpose-x plus b, and here it is the sigmoid of that line, the probability of slide 12 - which is why the title says so. The cost is different too: squared error there, log loss (slide 23) here. Different model, different cost, and yet the same gradient.</a:t>
            </a:r>
          </a:p>
          <a:p>
            <a:pPr lvl="0" indent="0" marL="0">
              <a:buNone/>
            </a:pPr>
          </a:p>
          <a:p>
            <a:pPr lvl="0" indent="0" marL="0">
              <a:buNone/>
            </a:pPr>
            <a:r>
              <a:rPr/>
              <a:t>A concrete drive. A drive that failed, y = 1, to which the model gives y-hat = 0.2: its error is 0.2 minus 1, which is minus 0.8. A negative term means the cost falls if w_j rises, so this drive pulls w_j up, and pulls harder the larger its value of feature j. A healthy drive, y = 0, given the same 0.2 has error plus 0.2 and pulls the other way, four times more gently. This is lesson 3’s weighted vote: each drive pulls in proportion to how wrong it was and how large the feature was for it.</a:t>
            </a:r>
          </a:p>
          <a:p>
            <a:pPr lvl="0" indent="0" marL="0">
              <a:buNone/>
            </a:pPr>
          </a:p>
          <a:p>
            <a:pPr lvl="0" indent="0" marL="0">
              <a:buNone/>
            </a:pPr>
            <a:r>
              <a:rPr/>
              <a:t>Why it comes out the same - worth the board if there is appetite, handout section 3.4 has it in full. Follow one drive through the chain rule, in three links, with p for y-hat and z for w-transpose-x plus b: - how the loss changes with p: (p - y) divided by p times (1 - p) - the denominator comes from the logarithms in the log loss; - how p changes with z: p times (1 - p), the sigmoid’s derivative from slide 12; - how z changes with w_j: x_j. Multiply the three: the p times (1 - p) cancels, and what is left is (p - y) times x_j.</a:t>
            </a:r>
          </a:p>
          <a:p>
            <a:pPr lvl="0" indent="0" marL="0">
              <a:buNone/>
            </a:pPr>
          </a:p>
          <a:p>
            <a:pPr lvl="0" indent="0" marL="0">
              <a:buNone/>
            </a:pPr>
            <a:r>
              <a:rPr/>
              <a:t>Why that cancellation matters, and it is the bridge to the next slide: with squared error in place of log loss, nothing cancels the factor p times (1 - p), and slide 25 shows what it does to a drive the model is confidently wrong about.</a:t>
            </a:r>
          </a:p>
          <a:p>
            <a:pPr lvl="0" indent="0" marL="0">
              <a:buNone/>
            </a:pPr>
          </a:p>
          <a:p>
            <a:pPr lvl="0" indent="0" marL="0">
              <a:buNone/>
            </a:pPr>
            <a:r>
              <a:rPr/>
              <a:t>If someone asks whether the match is a coincidence: no, and one sentence is enough. Both costs come from maximum likelihood - squared error when the noise on y is Gaussian (lesson 3, handout section 2.2), log loss when y is a 0/1 outcome - and each paired with its own model gives this same form. Statisticians call the family “generalised linear models”; the name is not examinable. The practical consequence is: the same gradient descent code trains both models, and only the line that computes y-hat changes.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panels take a drive that failed, y = 1, and move the model’s probability p for it along the horizontal axis. Squared error here is (p - 1) squared, the handout’s convention in section 4.</a:t>
            </a:r>
          </a:p>
          <a:p>
            <a:pPr lvl="0" indent="0" marL="0">
              <a:buNone/>
            </a:pPr>
          </a:p>
          <a:p>
            <a:pPr lvl="0" indent="0" marL="0">
              <a:buNone/>
            </a:pPr>
            <a:r>
              <a:rPr/>
              <a:t>Left panel, the costs. A drive failed and the model said 0.0001. Squared error charges (0.0001 - 1) squared = 0.9998. An honest “don’t know” - 0.5 - costs (0.5 - 1) squared = 0.25. So the worst possible answer is four times worse than a shrug. Log loss charges minus log 0.0001 = 9.2 against minus log 0.5 = 0.69, and the ratio grows without bound.</a:t>
            </a:r>
          </a:p>
          <a:p>
            <a:pPr lvl="0" indent="0" marL="0">
              <a:buNone/>
            </a:pPr>
          </a:p>
          <a:p>
            <a:pPr lvl="0" indent="0" marL="0">
              <a:buNone/>
            </a:pPr>
            <a:r>
              <a:rPr/>
              <a:t>Right panel is the real argument, so spend the time here. It shows the size of the gradient with respect to z, the push gradient descent gives the model. Log loss’s gradient is p - 1 (slide 24). Squared error’s is 2(p - 1) times p times (1 - p): the chain rule through the sigmoid brings in its derivative, p times one-minus-p, from slide 12, and nothing cancels it. That factor goes to zero as p goes to zero.</a:t>
            </a:r>
          </a:p>
          <a:p>
            <a:pPr lvl="0" indent="0" marL="0">
              <a:buNone/>
            </a:pPr>
          </a:p>
          <a:p>
            <a:pPr lvl="0" indent="0" marL="0">
              <a:buNone/>
            </a:pPr>
            <a:r>
              <a:rPr/>
              <a:t>Say it as a sentence: the wronger the model gets, the less squared error asks it to change. Divide one gradient by the other: squared error’s is log loss’s times 2p(1 - p). At p = 0.001 that factor is 2 times 0.001 times 0.999 = 0.002, a five-hundredth. Log loss goes the other way, approaching its maximum push exactly where the error is worst.</a:t>
            </a:r>
          </a:p>
          <a:p>
            <a:pPr lvl="0" indent="0" marL="0">
              <a:buNone/>
            </a:pPr>
          </a:p>
          <a:p>
            <a:pPr lvl="0" indent="0" marL="0">
              <a:buNone/>
            </a:pPr>
            <a:r>
              <a:rPr/>
              <a:t>That is the failure. Not that squared error scores badly - that it stops teaching.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it, do not prove it; the handout section 4.3 has the argument.</a:t>
            </a:r>
          </a:p>
          <a:p>
            <a:pPr lvl="0" indent="0" marL="0">
              <a:buNone/>
            </a:pPr>
          </a:p>
          <a:p>
            <a:pPr lvl="0" indent="0" marL="0">
              <a:buNone/>
            </a:pPr>
            <a:r>
              <a:rPr/>
              <a:t>The consequence is practical: gradient descent on log loss cannot get trapped. Squared error through a sigmoid has no such guarantee and is in general non-convex.</a:t>
            </a:r>
          </a:p>
          <a:p>
            <a:pPr lvl="0" indent="0" marL="0">
              <a:buNone/>
            </a:pPr>
          </a:p>
          <a:p>
            <a:pPr lvl="0" indent="0" marL="0">
              <a:buNone/>
            </a:pPr>
            <a:r>
              <a:rPr/>
              <a:t>Now the caution that catches people, and it is worth ten seconds because they will see max_iter set in notebook 1 and wonder why. Convex does NOT mean there is a closed-form solution. Setting the gradient to zero gives X-transpose times the vector of errors, sigma(Xw + b) minus y, equal to zero. That equation is not linear in w - the sigmoid is in the way - so it cannot be solved in one step as lesson 3’s normal equation was.</a:t>
            </a:r>
          </a:p>
          <a:p>
            <a:pPr lvl="0" indent="0" marL="0">
              <a:buNone/>
            </a:pPr>
          </a:p>
          <a:p>
            <a:pPr lvl="0" indent="0" marL="0">
              <a:buNone/>
            </a:pPr>
            <a:r>
              <a:rPr/>
              <a:t>There is no normal equation for logistic regression. It has to be solved iteratively, which is why LogisticRegression has a max_iter argument and LinearRegression does not. If a student ever sees a convergence warning, that is what it is about.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Fifteen lines of NumPy, then one line of scikit-learn, and the same answer. Run notebook 01. Seventeen minutes, leaving three for the decision boundary on the next slide. The parts worth stopping on:</a:t>
            </a:r>
          </a:p>
          <a:p>
            <a:pPr lvl="0" indent="0" marL="0">
              <a:buNone/>
            </a:pPr>
          </a:p>
          <a:p>
            <a:pPr lvl="0" indent="0" marL="0">
              <a:buNone/>
            </a:pPr>
            <a:r>
              <a:rPr/>
              <a:t>The linear-fit failure - let them see 3,606 negative probabilities printed rather than being told.</a:t>
            </a:r>
          </a:p>
          <a:p>
            <a:pPr lvl="0" indent="0" marL="0">
              <a:buNone/>
            </a:pPr>
          </a:p>
          <a:p>
            <a:pPr lvl="0" indent="0" marL="0">
              <a:buNone/>
            </a:pPr>
            <a:r>
              <a:rPr/>
              <a:t>The gradient/loss figure, which is the argument you just made, in code they can change. Invite them to change it: what happens to the squared-error gradient at p = 0.5?</a:t>
            </a:r>
          </a:p>
          <a:p>
            <a:pPr lvl="0" indent="0" marL="0">
              <a:buNone/>
            </a:pPr>
          </a:p>
          <a:p>
            <a:pPr lvl="0" indent="0" marL="0">
              <a:buNone/>
            </a:pPr>
            <a:r>
              <a:rPr/>
              <a:t>The coefficient recovery table, including the decoy.</a:t>
            </a:r>
          </a:p>
          <a:p>
            <a:pPr lvl="0" indent="0" marL="0">
              <a:buNone/>
            </a:pPr>
          </a:p>
          <a:p>
            <a:pPr lvl="0" indent="0" marL="0">
              <a:buNone/>
            </a:pPr>
            <a:r>
              <a:rPr/>
              <a:t>If time is short, skip the descent curve - it is the least surprising cell and they saw the same picture in lesson 3.</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features, so the model can be drawn. The black line is where the predicted probability is exactly 0.5 - equivalently, where the log-odds are zero.</a:t>
            </a:r>
          </a:p>
          <a:p>
            <a:pPr lvl="0" indent="0" marL="0">
              <a:buNone/>
            </a:pPr>
          </a:p>
          <a:p>
            <a:pPr lvl="0" indent="0" marL="0">
              <a:buNone/>
            </a:pPr>
            <a:r>
              <a:rPr/>
              <a:t>First observation: it is STRAIGHT. Logistic regression is a linear classifier. The curve is in the probabilities, not in the boundary. That surprises people who expected the sigmoid to bend it.</a:t>
            </a:r>
          </a:p>
          <a:p>
            <a:pPr lvl="0" indent="0" marL="0">
              <a:buNone/>
            </a:pPr>
          </a:p>
          <a:p>
            <a:pPr lvl="0" indent="0" marL="0">
              <a:buNone/>
            </a:pPr>
            <a:r>
              <a:rPr/>
              <a:t>Second observation, and this is the bridge to the rest of the lesson: most of the gold points - the drives that actually failed - are on the blue side of the line. At a threshold of 0.5 this two-feature model calls nearly the whole fleet healthy, including most of the drives that failed. It uses two counters only, so that it can be drawn; the six-counter model of slide 30 does better at the same 0.5, and still misses 33 of the 76 test failures.</a:t>
            </a:r>
          </a:p>
          <a:p>
            <a:pPr lvl="0" indent="0" marL="0">
              <a:buNone/>
            </a:pPr>
          </a:p>
          <a:p>
            <a:pPr lvl="0" indent="0" marL="0">
              <a:buNone/>
            </a:pPr>
            <a:r>
              <a:rPr/>
              <a:t>Ask: is that a bad model? Take answers. Then say: the probabilities are fine. The threshold of 0.5 is a habit. Telling those two apart is the rest of the lesson.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Ten minutes. When they come back, the first slide is the trap, and it works best if they have not been thinking about it.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remember from lesson 4. Put it up and say nothing for a moment.</a:t>
            </a:r>
          </a:p>
          <a:p>
            <a:pPr lvl="0" indent="0" marL="0">
              <a:buNone/>
            </a:pPr>
          </a:p>
          <a:p>
            <a:pPr lvl="0" indent="0" marL="0">
              <a:buNone/>
            </a:pPr>
            <a:r>
              <a:rPr/>
              <a:t>A model that could be written </a:t>
            </a:r>
            <a:r>
              <a:rPr>
                <a:latin typeface="Courier"/>
              </a:rPr>
              <a:t>return 0</a:t>
            </a:r>
            <a:r>
              <a:rPr/>
              <a:t> - no learning, no data, no features - scores 96.20%. The model they just built, which finds more than half the failing drives, scores 97.70%. 97.70 minus 96.20: one and a half percentage points separate a real model from a worthless one.</a:t>
            </a:r>
          </a:p>
          <a:p>
            <a:pPr lvl="0" indent="0" marL="0">
              <a:buNone/>
            </a:pPr>
          </a:p>
          <a:p>
            <a:pPr lvl="0" indent="0" marL="0">
              <a:buNone/>
            </a:pPr>
            <a:r>
              <a:rPr/>
              <a:t>The arithmetic is not subtle: 1,924 of the 2,000 test drives are healthy, so answering “healthy” collects them all for free. Only the 76 failures, 76 divided by 2,000 = 3.8% of the test set, are left to compete over.</a:t>
            </a:r>
          </a:p>
          <a:p>
            <a:pPr lvl="0" indent="0" marL="0">
              <a:buNone/>
            </a:pPr>
          </a:p>
          <a:p>
            <a:pPr lvl="0" indent="0" marL="0">
              <a:buNone/>
            </a:pPr>
            <a:r>
              <a:rPr/>
              <a:t>This is the 306 of slide 6 coming back as an accuracy score: 96.20% is simply the share of test drives that are healthy.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careful to defend the instinct rather than mock it. Accuracy is not a naive metric, and students who reached for it were not being lazy - on a balanced problem it is the correct summary and everything else is a complication.</a:t>
            </a:r>
          </a:p>
          <a:p>
            <a:pPr lvl="0" indent="0" marL="0">
              <a:buNone/>
            </a:pPr>
          </a:p>
          <a:p>
            <a:pPr lvl="0" indent="0" marL="0">
              <a:buNone/>
            </a:pPr>
            <a:r>
              <a:rPr/>
              <a:t>It stops being informative precisely when one class is rare. And then list the problems: fraud, disease screening, intrusion detection, equipment failure, spam. In every one of them the class you care about is the small one.</a:t>
            </a:r>
          </a:p>
          <a:p>
            <a:pPr lvl="0" indent="0" marL="0">
              <a:buNone/>
            </a:pPr>
          </a:p>
          <a:p>
            <a:pPr lvl="0" indent="0" marL="0">
              <a:buNone/>
            </a:pPr>
            <a:r>
              <a:rPr/>
              <a:t>The general statement, worth putting on the board: if a share pi of the cases are positive (the positive rate), the trivial always-negative classifier scores 1 minus pi. Here 1 - 0.038 = 96.2%. In some fraud problems, where the rate is one in a thousand, 1 - 0.001 = 99.9%.</a:t>
            </a:r>
          </a:p>
          <a:p>
            <a:pPr lvl="0" indent="0" marL="0">
              <a:buNone/>
            </a:pPr>
          </a:p>
          <a:p>
            <a:pPr lvl="0" indent="0" marL="0">
              <a:buNone/>
            </a:pPr>
            <a:r>
              <a:rPr/>
              <a:t>Accuracy is not wrong. It is answering a question nobody asked.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fix is to stop collapsing four outcomes into one number.</a:t>
            </a:r>
          </a:p>
          <a:p>
            <a:pPr lvl="0" indent="0" marL="0">
              <a:buNone/>
            </a:pPr>
          </a:p>
          <a:p>
            <a:pPr lvl="0" indent="0" marL="0">
              <a:buNone/>
            </a:pPr>
            <a:r>
              <a:rPr/>
              <a:t>Side by side, the two models are obviously not comparable - and the number that separates them, 0 caught against 43, is nowhere in the accuracy figure.</a:t>
            </a:r>
          </a:p>
          <a:p>
            <a:pPr lvl="0" indent="0" marL="0">
              <a:buNone/>
            </a:pPr>
          </a:p>
          <a:p>
            <a:pPr lvl="0" indent="0" marL="0">
              <a:buNone/>
            </a:pPr>
            <a:r>
              <a:rPr/>
              <a:t>Teach them to read the bottom-left cell first when misses are expensive: 33 drives failed and were called healthy. That is the cell that costs money, and it is the one a single-number metric hides.</a:t>
            </a:r>
          </a:p>
          <a:p>
            <a:pPr lvl="0" indent="0" marL="0">
              <a:buNone/>
            </a:pPr>
          </a:p>
          <a:p>
            <a:pPr lvl="0" indent="0" marL="0">
              <a:buNone/>
            </a:pPr>
            <a:r>
              <a:rPr/>
              <a:t>Worth naming the convention while it is on screen, because half the world uses the transpose: scikit-learn puts truth in rows and predictions in columns. Any time they read a confusion matrix from a paper, check which way round it is before drawing conclusions.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names are jargon until they are attached to consequences, so attach them here and keep the numbers visible - they come back at the end of the lesson when we choose a threshold.</a:t>
            </a:r>
          </a:p>
          <a:p>
            <a:pPr lvl="0" indent="0" marL="0">
              <a:buNone/>
            </a:pPr>
          </a:p>
          <a:p>
            <a:pPr lvl="0" indent="0" marL="0">
              <a:buNone/>
            </a:pPr>
            <a:r>
              <a:rPr/>
              <a:t>The essential point: these two errors are NOT the same size, and no single-number metric knows that. Accuracy treats them as identical. F1, the metric of slide 36, treats them as identical. Only a cost, supplied from outside the data, distinguishes them.</a:t>
            </a:r>
          </a:p>
          <a:p>
            <a:pPr lvl="0" indent="0" marL="0">
              <a:buNone/>
            </a:pPr>
          </a:p>
          <a:p>
            <a:pPr lvl="0" indent="0" marL="0">
              <a:buNone/>
            </a:pPr>
            <a:r>
              <a:rPr/>
              <a:t>Ask for a domain where the ratio goes the other way - where a false positive is the expensive one. Medical screening that triggers an invasive biopsy is the usual answer; content moderation that removes a legitimate post is another.</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picture prevents the most common confusion of the lesson. Both metrics put the true positives - failed drives we flagged - on top of the fraction. The difference is entirely in what goes underneath, and the shading shows it.</a:t>
            </a:r>
          </a:p>
          <a:p>
            <a:pPr lvl="0" indent="0" marL="0">
              <a:buNone/>
            </a:pPr>
          </a:p>
          <a:p>
            <a:pPr lvl="0" indent="0" marL="0">
              <a:buNone/>
            </a:pPr>
            <a:r>
              <a:rPr/>
              <a:t>Precision divides by the COLUMN - everything we flagged. When this model raises an alarm, how often is it right? That is the technician’s question: how much of my time are you wasting?</a:t>
            </a:r>
          </a:p>
          <a:p>
            <a:pPr lvl="0" indent="0" marL="0">
              <a:buNone/>
            </a:pPr>
          </a:p>
          <a:p>
            <a:pPr lvl="0" indent="0" marL="0">
              <a:buNone/>
            </a:pPr>
            <a:r>
              <a:rPr/>
              <a:t>Recall divides by the ROW - everything that actually failed. Of the drives that were going to fail, how many did we find? That is the operations manager’s question: how exposed am I still?</a:t>
            </a:r>
          </a:p>
          <a:p>
            <a:pPr lvl="0" indent="0" marL="0">
              <a:buNone/>
            </a:pPr>
          </a:p>
          <a:p>
            <a:pPr lvl="0" indent="0" marL="0">
              <a:buNone/>
            </a:pPr>
            <a:r>
              <a:rPr/>
              <a:t>Give them the hook and make them repeat it: precision is about the alarms, recall is about the failures. When in doubt, find the denominator and ask which population it is.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each line as an English sentence with the counts in it, not as a ratio. That is the habit worth building: a metric that cannot be said as a sentence about actual objects has not been understood.</a:t>
            </a:r>
          </a:p>
          <a:p>
            <a:pPr lvl="0" indent="0" marL="0">
              <a:buNone/>
            </a:pPr>
          </a:p>
          <a:p>
            <a:pPr lvl="0" indent="0" marL="0">
              <a:buNone/>
            </a:pPr>
            <a:r>
              <a:rPr/>
              <a:t>Specificity is recall for the negative class: of the healthy drives, how many did we leave alone. One minus it is the false positive rate, which comes back in the receiver operating characteristic (ROC) section. Mention it now so the term is not new later.</a:t>
            </a:r>
          </a:p>
          <a:p>
            <a:pPr lvl="0" indent="0" marL="0">
              <a:buNone/>
            </a:pPr>
          </a:p>
          <a:p>
            <a:pPr lvl="0" indent="0" marL="0">
              <a:buNone/>
            </a:pPr>
            <a:r>
              <a:rPr/>
              <a:t>If someone asks which of the three to report: the answer is that it depends on who is asking, which is the honest answer and also the lesson.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Take the stupidest possible model - flag every single drive - and score it. Recall is a perfect 76 out of 76 = 1. Precision is 76 out of 2,000 = 0.038, because all 2,000 drives are flagged and 76 of them fail.</a:t>
            </a:r>
          </a:p>
          <a:p>
            <a:pPr lvl="0" indent="0" marL="0">
              <a:buNone/>
            </a:pPr>
          </a:p>
          <a:p>
            <a:pPr lvl="0" indent="0" marL="0">
              <a:buNone/>
            </a:pPr>
            <a:r>
              <a:rPr/>
              <a:t>The figure holds recall at 1 and lets precision run along the horizontal axis. The grey line is the ordinary average, (P + 1) divided by 2: at the left edge, where our model sits, it gives (0.038 + 1) divided by 2 = 0.519, and it can never drop below one half however useless the model. Anyone scanning a results table would not blink at 0.519.</a:t>
            </a:r>
          </a:p>
          <a:p>
            <a:pPr lvl="0" indent="0" marL="0">
              <a:buNone/>
            </a:pPr>
          </a:p>
          <a:p>
            <a:pPr lvl="0" indent="0" marL="0">
              <a:buNone/>
            </a:pPr>
            <a:r>
              <a:rPr/>
              <a:t>The blue line is the harmonic mean, F1 = 2PR divided by (P + R), here 2P divided by (P + 1): 2 times 0.038 divided by 1.038 = 0.073, which is the truth.</a:t>
            </a:r>
          </a:p>
          <a:p>
            <a:pPr lvl="0" indent="0" marL="0">
              <a:buNone/>
            </a:pPr>
          </a:p>
          <a:p>
            <a:pPr lvl="0" indent="0" marL="0">
              <a:buNone/>
            </a:pPr>
            <a:r>
              <a:rPr/>
              <a:t>The reason: the harmonic mean is dominated by the smaller of the two numbers. A model is only as good as its weaker side, and F1 refuses to let a perfect score on one axis buy a pass on the other. The two lines meet only at the right edge, where both precision and recall are 1.</a:t>
            </a:r>
          </a:p>
          <a:p>
            <a:pPr lvl="0" indent="0" marL="0">
              <a:buNone/>
            </a:pPr>
          </a:p>
          <a:p>
            <a:pPr lvl="0" indent="0" marL="0">
              <a:buNone/>
            </a:pPr>
            <a:r>
              <a:rPr/>
              <a:t>Mention F-beta in one sentence: a version of F1 with a weight beta, where beta above 1 counts recall more than precision. That is what you want here, where a miss costs about nineteen times a false alarm (2,600 divided by 140 = 18.6). F2 is the usual choice. Handout section 6.3.</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classification_report is scikit-learn’s summary table, and they will print it themselves in notebook 2 in about five minutes: one row per class, then three summary rows - accuracy, macro avg, weighted avg. The two numbers on this slide are the f1-score column of the last two.</a:t>
            </a:r>
          </a:p>
          <a:p>
            <a:pPr lvl="0" indent="0" marL="0">
              <a:buNone/>
            </a:pPr>
          </a:p>
          <a:p>
            <a:pPr lvl="0" indent="0" marL="0">
              <a:buNone/>
            </a:pPr>
            <a:r>
              <a:rPr/>
              <a:t>Anticipating it by one slide is deliberate. The rule for choosing between those rows is what they need in their heads while they run the notebook, not afterwards - left to themselves they quote whichever is biggest.</a:t>
            </a:r>
          </a:p>
          <a:p>
            <a:pPr lvl="0" indent="0" marL="0">
              <a:buNone/>
            </a:pPr>
          </a:p>
          <a:p>
            <a:pPr lvl="0" indent="0" marL="0">
              <a:buNone/>
            </a:pPr>
            <a:r>
              <a:rPr/>
              <a:t>The weighted average weights each class by how common it is, so on this problem it is essentially the healthy class talking, and it reads close to accuracy - inheriting exactly the blindness slides 30 to 33 were about.</a:t>
            </a:r>
          </a:p>
          <a:p>
            <a:pPr lvl="0" indent="0" marL="0">
              <a:buNone/>
            </a:pPr>
          </a:p>
          <a:p>
            <a:pPr lvl="0" indent="0" marL="0">
              <a:buNone/>
            </a:pPr>
            <a:r>
              <a:rPr/>
              <a:t>The macro average gives the two classes equal weight, so the rare class actually registers. 0.820 against 0.975 for the same model.</a:t>
            </a:r>
          </a:p>
          <a:p>
            <a:pPr lvl="0" indent="0" marL="0">
              <a:buNone/>
            </a:pPr>
          </a:p>
          <a:p>
            <a:pPr lvl="0" indent="0" marL="0">
              <a:buNone/>
            </a:pPr>
            <a:r>
              <a:rPr/>
              <a:t>The rule: on an imbalanced problem, quote the macro average or the minority class directly. Reporting the weighted average is not incorrect - it is the number that makes a mediocre model look finished, and choosing it without saying so is how a result gets oversold.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confusion matrix by hand, then from scikit-learn, then the threshold sweep. Run notebook 02. Twenty minutes.</a:t>
            </a:r>
          </a:p>
          <a:p>
            <a:pPr lvl="0" indent="0" marL="0">
              <a:buNone/>
            </a:pPr>
          </a:p>
          <a:p>
            <a:pPr lvl="0" indent="0" marL="0">
              <a:buNone/>
            </a:pPr>
            <a:r>
              <a:rPr/>
              <a:t>Have them build the four counts by hand before calling confusion_matrix. It is four comparisons and it takes two minutes, and it is what makes the jargon stop being jargon.</a:t>
            </a:r>
          </a:p>
          <a:p>
            <a:pPr lvl="0" indent="0" marL="0">
              <a:buNone/>
            </a:pPr>
          </a:p>
          <a:p>
            <a:pPr lvl="0" indent="0" marL="0">
              <a:buNone/>
            </a:pPr>
            <a:r>
              <a:rPr/>
              <a:t>Spend time on the threshold sweep table. Do not explain it first - let them read the columns and say what they see. Somebody will notice that accuracy barely moves. That is the moment to show the next slide.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title of that figure is the point: nothing about the model changes along the x-axis. Same coefficients, same probabilities, same drives. All that moves is where we draw the line between “leave it” and “replace it”.</a:t>
            </a:r>
          </a:p>
          <a:p>
            <a:pPr lvl="0" indent="0" marL="0">
              <a:buNone/>
            </a:pPr>
          </a:p>
          <a:p>
            <a:pPr lvl="0" indent="0" marL="0">
              <a:buNone/>
            </a:pPr>
            <a:r>
              <a:rPr/>
              <a:t>That 0.5 is predict()’s default and nothing more. It is the right choice only when the two errors cost the same and the probabilities are calibrated: among drives given 0.3, about 30% really fail (slide 46 names the property). Slide 51 derives the threshold from the costs, and it is 0.5 exactly when they are equal. Here a miss costs about nineteen times a false alarm (2,600 divided by 140 = 18.6), and in most real problems the costs differ too.</a:t>
            </a:r>
          </a:p>
          <a:p>
            <a:pPr lvl="0" indent="0" marL="0">
              <a:buNone/>
            </a:pPr>
          </a:p>
          <a:p>
            <a:pPr lvl="0" indent="0" marL="0">
              <a:buNone/>
            </a:pPr>
            <a:r>
              <a:rPr/>
              <a:t>So when a paper or a colleague reports 77% precision, the useful follow-up is: at what threshold, and why that one? Most of the time there is no answer, because nobody chose it.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2, the threshold sweep, five of its rows drawn as bars. Each pair of bars is one threshold: teal is the failures caught, out of the 76 in the test set; gold is the healthy drives flagged by mistake. On the right, the accuracy each threshold scores: right answers divided by 2,000.</a:t>
            </a:r>
          </a:p>
          <a:p>
            <a:pPr lvl="0" indent="0" marL="0">
              <a:buNone/>
            </a:pPr>
          </a:p>
          <a:p>
            <a:pPr lvl="0" indent="0" marL="0">
              <a:buNone/>
            </a:pPr>
            <a:r>
              <a:rPr/>
              <a:t>Lower the threshold - go up the figure: both bars grow. At 0.02 we catch 69 of 76 failures and replace 284 healthy drives to do it. At 0.90 there are no false alarms at all, and we catch 14 of 76, fewer than a quarter.</a:t>
            </a:r>
          </a:p>
          <a:p>
            <a:pPr lvl="0" indent="0" marL="0">
              <a:buNone/>
            </a:pPr>
          </a:p>
          <a:p>
            <a:pPr lvl="0" indent="0" marL="0">
              <a:buNone/>
            </a:pPr>
            <a:r>
              <a:rPr/>
              <a:t>Now the right-hand column, which is the slide’s real argument. For every threshold from 0.10 up to 0.90 it stays between 0.942 and 0.977, a range of 0.977 - 0.942 = 0.035, three and a half percentage points, while the teal bar shrinks from 61 to 14. And its maximum, in bold, is at 0.5 - the threshold that misses 76 - 43 = 33 failures.</a:t>
            </a:r>
          </a:p>
          <a:p>
            <a:pPr lvl="0" indent="0" marL="0">
              <a:buNone/>
            </a:pPr>
          </a:p>
          <a:p>
            <a:pPr lvl="0" indent="0" marL="0">
              <a:buNone/>
            </a:pPr>
            <a:r>
              <a:rPr/>
              <a:t>Say the consequence plainly: tune on accuracy and it will quietly recommend catching fewer failures. Most of the alarms a higher threshold drops are false ones, so accuracy rises with each drop, even though some of the dropped alarms were failures being caught. From 0.30 to 0.50 the gold bar loses 25 - 13 = 12 false alarms and the teal bar loses 53 - 43 = 10 caught failures. Accuracy gains 12 right answers and loses 10, two more in all, 0.976 to 0.977.</a:t>
            </a:r>
          </a:p>
          <a:p>
            <a:pPr lvl="0" indent="0" marL="0">
              <a:buNone/>
            </a:pPr>
          </a:p>
          <a:p>
            <a:pPr lvl="0" indent="0" marL="0">
              <a:buNone/>
            </a:pPr>
            <a:r>
              <a:rPr/>
              <a:t>Precision and recall at each threshold are in the handout’s table in section 7.1, computed with the formulas of slide 35.</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sweep traced a path through precision-recall space; this is that path drawn directly. Every threshold at once.</a:t>
            </a:r>
          </a:p>
          <a:p>
            <a:pPr lvl="0" indent="0" marL="0">
              <a:buNone/>
            </a:pPr>
          </a:p>
          <a:p>
            <a:pPr lvl="0" indent="0" marL="0">
              <a:buNone/>
            </a:pPr>
            <a:r>
              <a:rPr/>
              <a:t>The part to teach is the baseline. A model with random scores has precision equal to the positive rate - 76 failures divided by 2,000 drives = 0.038 here - at every recall. That flat dashed line, not 0.5, is what “no skill” looks like on an imbalanced problem.</a:t>
            </a:r>
          </a:p>
          <a:p>
            <a:pPr lvl="0" indent="0" marL="0">
              <a:buNone/>
            </a:pPr>
          </a:p>
          <a:p>
            <a:pPr lvl="0" indent="0" marL="0">
              <a:buNone/>
            </a:pPr>
            <a:r>
              <a:rPr/>
              <a:t>That is why this curve is so much more informative than accuracy when positives are rare: the floor is where the difficulty actually is. Our model’s area under it, the average precision, is 0.717 against a floor of 0.038.</a:t>
            </a:r>
          </a:p>
          <a:p>
            <a:pPr lvl="0" indent="0" marL="0">
              <a:buNone/>
            </a:pPr>
          </a:p>
          <a:p>
            <a:pPr lvl="0" indent="0" marL="0">
              <a:buNone/>
            </a:pPr>
            <a:r>
              <a:rPr/>
              <a:t>The three marked dots are thresholds 0.5, 0.3 and 0.05. The first two are rows of the table on the previous slide, so they can check the correspondence: at 0.5, recall 0.566 and precision 0.768.</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the next section as a question rather than announcing a tool.</a:t>
            </a:r>
          </a:p>
          <a:p>
            <a:pPr lvl="0" indent="0" marL="0">
              <a:buNone/>
            </a:pPr>
          </a:p>
          <a:p>
            <a:pPr lvl="0" indent="0" marL="0">
              <a:buNone/>
            </a:pPr>
            <a:r>
              <a:rPr/>
              <a:t>Everything so far has needed a threshold. That is fine when you know the costs, and we will come back to it. But often you want to compare two models before committing - is model A better than model B, at any operating point?</a:t>
            </a:r>
          </a:p>
          <a:p>
            <a:pPr lvl="0" indent="0" marL="0">
              <a:buNone/>
            </a:pPr>
          </a:p>
          <a:p>
            <a:pPr lvl="0" indent="0" marL="0">
              <a:buNone/>
            </a:pPr>
            <a:r>
              <a:rPr/>
              <a:t>The move is to stop asking “how many did it get right” and start asking “did it put the failures at the top of the list”. That is a question about ranking, and ranking has no threshold in it.</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Receiver operating characteristic - expand it, and say where the name comes from, because it makes the idea concrete. Wartime radar: operators tuning receivers to spot aircraft without chasing flocks of birds. Same problem shape, literally the same trade-off.</a:t>
            </a:r>
          </a:p>
          <a:p>
            <a:pPr lvl="0" indent="0" marL="0">
              <a:buNone/>
            </a:pPr>
          </a:p>
          <a:p>
            <a:pPr lvl="0" indent="0" marL="0">
              <a:buNone/>
            </a:pPr>
            <a:r>
              <a:rPr/>
              <a:t>The two axes: the true positive rate (TPR), which is recall under another name - the share of failures we catch. The false positive rate (FPR) - the share of healthy drives we condemn.</a:t>
            </a:r>
          </a:p>
          <a:p>
            <a:pPr lvl="0" indent="0" marL="0">
              <a:buNone/>
            </a:pPr>
          </a:p>
          <a:p>
            <a:pPr lvl="0" indent="0" marL="0">
              <a:buNone/>
            </a:pPr>
            <a:r>
              <a:rPr/>
              <a:t>The intuition worth saying slowly: at threshold 1 both are zero, flag nothing. At threshold 0 both are one. The entire content of the curve is the ORDER in which they get there. A good model raises TPR fast while FPR is still low, because its highest scores really are the failures. A useless model raises them together and traces the diagonal.</a:t>
            </a:r>
          </a:p>
          <a:p>
            <a:pPr lvl="0" indent="0" marL="0">
              <a:buNone/>
            </a:pPr>
          </a:p>
          <a:p>
            <a:pPr lvl="0" indent="0" marL="0">
              <a:buNone/>
            </a:pPr>
            <a:r>
              <a:rPr/>
              <a:t>So the curve asks: as we grow more willing to raise alarms, do we catch failures faster than we annoy technicians?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definition to remember, and it is much more useful than “area under the curve”, which is a geometric fact rather than a meaning.</a:t>
            </a:r>
          </a:p>
          <a:p>
            <a:pPr lvl="0" indent="0" marL="0">
              <a:buNone/>
            </a:pPr>
          </a:p>
          <a:p>
            <a:pPr lvl="0" indent="0" marL="0">
              <a:buNone/>
            </a:pPr>
            <a:r>
              <a:rPr/>
              <a:t>Say it concretely: pick one drive that failed and one that did not, at random. 95 times out of 100 the model gave the failing one a higher score.</a:t>
            </a:r>
          </a:p>
          <a:p>
            <a:pPr lvl="0" indent="0" marL="0">
              <a:buNone/>
            </a:pPr>
          </a:p>
          <a:p>
            <a:pPr lvl="0" indent="0" marL="0">
              <a:buNone/>
            </a:pPr>
            <a:r>
              <a:rPr/>
              <a:t>That makes AUC a measure of RANKING quality. It is threshold-free because ranking is threshold-free.</a:t>
            </a:r>
          </a:p>
          <a:p>
            <a:pPr lvl="0" indent="0" marL="0">
              <a:buNone/>
            </a:pPr>
          </a:p>
          <a:p>
            <a:pPr lvl="0" indent="0" marL="0">
              <a:buNone/>
            </a:pPr>
            <a:r>
              <a:rPr/>
              <a:t>The identity with the Mann-Whitney U statistic - a classical test that compares two groups by counting, over every pair, which member ranks higher - is in the handout, section 8.2, for anyone who wants the proof. But notebook 3 does something better than a proof for this audience: it draws 200,000 random pairs and counts. 0.9488 against roc_auc_score’s 0.9493.</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3, the scores the model gives the test drives, drawn as two histograms: teal for the 1,924 healthy drives, rust for the 76 that failed. Each group is scaled to add up to 1, so the two shapes can be compared although one group is 25 times the size of the other. The horizontal axis is logarithmic, because most healthy drives get scores of a thousandth or less.</a:t>
            </a:r>
          </a:p>
          <a:p>
            <a:pPr lvl="0" indent="0" marL="0">
              <a:buNone/>
            </a:pPr>
          </a:p>
          <a:p>
            <a:pPr lvl="0" indent="0" marL="0">
              <a:buNone/>
            </a:pPr>
            <a:r>
              <a:rPr/>
              <a:t>The rust sits far to the right of the teal: most failing drives get high scores, most healthy ones tiny scores. That separation is what the AUC measures. Pick one rust drive and one teal drive at random: the AUC, 0.949, is the chance that the rust one lies further right. Notebook 3 checks it by drawing 200,000 such pairs: 0.9488.</a:t>
            </a:r>
          </a:p>
          <a:p>
            <a:pPr lvl="0" indent="0" marL="0">
              <a:buNone/>
            </a:pPr>
          </a:p>
          <a:p>
            <a:pPr lvl="0" indent="0" marL="0">
              <a:buNone/>
            </a:pPr>
            <a:r>
              <a:rPr/>
              <a:t>The pairs the model gets wrong come from where the two colours overlap - a few failing drives with scores as low as many healthy ones. No threshold separates those, and the AUC counts them as the 5% it misses.</a:t>
            </a:r>
          </a:p>
          <a:p>
            <a:pPr lvl="0" indent="0" marL="0">
              <a:buNone/>
            </a:pPr>
          </a:p>
          <a:p>
            <a:pPr lvl="0" indent="0" marL="0">
              <a:buNone/>
            </a:pPr>
            <a:r>
              <a:rPr/>
              <a:t>Note what the figure does not show: where to put the threshold. Any vertical line splits it, and the AUC is the same whichever you pick - the next slide.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Short slide, important consequence. AUC depends only on the ordering, so it is unchanged by anything done to the scores that keeps their order.</a:t>
            </a:r>
          </a:p>
          <a:p>
            <a:pPr lvl="0" indent="0" marL="0">
              <a:buNone/>
            </a:pPr>
          </a:p>
          <a:p>
            <a:pPr lvl="0" indent="0" marL="0">
              <a:buNone/>
            </a:pPr>
            <a:r>
              <a:rPr/>
              <a:t>Divide all the probabilities by ten and the ranking is identical, so the AUC is identical - while the model is now badly calibrated and every threshold-based decision it makes is different.</a:t>
            </a:r>
          </a:p>
          <a:p>
            <a:pPr lvl="0" indent="0" marL="0">
              <a:buNone/>
            </a:pPr>
          </a:p>
          <a:p>
            <a:pPr lvl="0" indent="0" marL="0">
              <a:buNone/>
            </a:pPr>
            <a:r>
              <a:rPr/>
              <a:t>The consequence: AUC says nothing about whether “0.7” means anything. If you need the probabilities to be believable - because you are computing expected costs, as slide 51 does - AUC is not the check you want.</a:t>
            </a:r>
          </a:p>
          <a:p>
            <a:pPr lvl="0" indent="0" marL="0">
              <a:buNone/>
            </a:pPr>
          </a:p>
          <a:p>
            <a:pPr lvl="0" indent="0" marL="0">
              <a:buNone/>
            </a:pPr>
            <a:r>
              <a:rPr/>
              <a:t>Good place to mention that calibration - whether a predicted 0.7 really comes true 70% of the time - is a topic of its own, without going into it.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model. Not retrained. Notebook 3 generates a new, larger fleet of 60,000 drives from the same simulator, keeps every healthy drive, and throws away failures at random until they are 0.4% instead of 3.8% - the direction reality moves in fraud, disease, hardware failure.</a:t>
            </a:r>
          </a:p>
          <a:p>
            <a:pPr lvl="0" indent="0" marL="0">
              <a:buNone/>
            </a:pPr>
          </a:p>
          <a:p>
            <a:pPr lvl="0" indent="0" marL="0">
              <a:buNone/>
            </a:pPr>
            <a:r>
              <a:rPr/>
              <a:t>Someone will notice that at 3.8% the AUC reads 0.968, not the 0.949 of slide 44. Different drives: 0.949 rests on the 76 failures of our 2,000-drive test set, 0.968 on a fleet thirty times larger. Both are estimates of the same ranking ability. The same goes for average precision: 0.706 on the large fleet, against slide 41’s 0.717 on the test set.</a:t>
            </a:r>
          </a:p>
          <a:p>
            <a:pPr lvl="0" indent="0" marL="0">
              <a:buNone/>
            </a:pPr>
          </a:p>
          <a:p>
            <a:pPr lvl="0" indent="0" marL="0">
              <a:buNone/>
            </a:pPr>
            <a:r>
              <a:rPr/>
              <a:t>Left panel: the three ROC curves sit on top of each other. AUC 0.968, 0.965, 0.974. It reports an excellent model throughout, and at the rarest setting a marginally better one, which is sampling noise on 231 positives.</a:t>
            </a:r>
          </a:p>
          <a:p>
            <a:pPr lvl="0" indent="0" marL="0">
              <a:buNone/>
            </a:pPr>
          </a:p>
          <a:p>
            <a:pPr lvl="0" indent="0" marL="0">
              <a:buNone/>
            </a:pPr>
            <a:r>
              <a:rPr/>
              <a:t>Right panel: the precision-recall curves are in three different worlds. Average precision falls from 0.706 to 0.361, and precision at the threshold of 0.5 falls from 0.79 to 0.26 - 1 - 0.26 = 0.74, three alarms in four now false.</a:t>
            </a:r>
          </a:p>
          <a:p>
            <a:pPr lvl="0" indent="0" marL="0">
              <a:buNone/>
            </a:pPr>
          </a:p>
          <a:p>
            <a:pPr lvl="0" indent="0" marL="0">
              <a:buNone/>
            </a:pPr>
            <a:r>
              <a:rPr/>
              <a:t>Three curves on the left, one model, no problem. Three curves on the right, same model, a disaster. Let that sit for a second before explaining.</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explanation is entirely in the denominators, and it is worth writing on the board.</a:t>
            </a:r>
          </a:p>
          <a:p>
            <a:pPr lvl="0" indent="0" marL="0">
              <a:buNone/>
            </a:pPr>
          </a:p>
          <a:p>
            <a:pPr lvl="0" indent="0" marL="0">
              <a:buNone/>
            </a:pPr>
            <a:r>
              <a:rPr/>
              <a:t>A thousand false alarms among a hundred thousand healthy drives is a false positive rate of 0.01 - invisible on the ROC axis, a rounding error. The same thousand false alarms, set against the alarms actually raised, may be most of them.</a:t>
            </a:r>
          </a:p>
          <a:p>
            <a:pPr lvl="0" indent="0" marL="0">
              <a:buNone/>
            </a:pPr>
          </a:p>
          <a:p>
            <a:pPr lvl="0" indent="0" marL="0">
              <a:buNone/>
            </a:pPr>
            <a:r>
              <a:rPr/>
              <a:t>So ROC is measuring the false alarms against a population nobody experiences. The technician does not see the 99,000 drives left alone; they see the alarm queue.</a:t>
            </a:r>
          </a:p>
          <a:p>
            <a:pPr lvl="0" indent="0" marL="0">
              <a:buNone/>
            </a:pPr>
          </a:p>
          <a:p>
            <a:pPr lvl="0" indent="0" marL="0">
              <a:buNone/>
            </a:pPr>
            <a:r>
              <a:rPr/>
              <a:t>This is the lesson’s second big predictable mistake, after trusting accuracy on slide 30, and again defend the instinct: AUC is threshold-free, comparable across models and datasets, bounded in a familiar range. Those are real virtues. It simply answers a question about ranking when the question was about the alarm queue.</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Short and quotable, and this is the thing to have on the board when they write their exercise reports.</a:t>
            </a:r>
          </a:p>
          <a:p>
            <a:pPr lvl="0" indent="0" marL="0">
              <a:buNone/>
            </a:pPr>
          </a:p>
          <a:p>
            <a:pPr lvl="0" indent="0" marL="0">
              <a:buNone/>
            </a:pPr>
            <a:r>
              <a:rPr/>
              <a:t>If someone asks which single number to use when a single number is demanded: average precision, because its baseline moves with the problem. But push back on the premise - the reason to demand a single number is usually to avoid thinking, and this lesson is about the thinking.</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Finally, the honest way to pick a threshold. It needs one ingredient no metric can supply: what the errors cost. We wrote those down on slide 33 - €140 for a needless replacement, €2,600 for a drive that dies in service.</a:t>
            </a:r>
          </a:p>
          <a:p>
            <a:pPr lvl="0" indent="0" marL="0">
              <a:buNone/>
            </a:pPr>
          </a:p>
          <a:p>
            <a:pPr lvl="0" indent="0" marL="0">
              <a:buNone/>
            </a:pPr>
            <a:r>
              <a:rPr/>
              <a:t>The curve is the total cost on the test set as the threshold moves. The default 0.5 costs €87,620. The cheapest, at 0.08, costs €45,540.</a:t>
            </a:r>
          </a:p>
          <a:p>
            <a:pPr lvl="0" indent="0" marL="0">
              <a:buNone/>
            </a:pPr>
          </a:p>
          <a:p>
            <a:pPr lvl="0" indent="0" marL="0">
              <a:buNone/>
            </a:pPr>
            <a:r>
              <a:rPr/>
              <a:t>Choosing the threshold on purpose HALVED the cost of the same model: 45,540 divided by 87,620 is 0.52. No retraining, no new features, no better algorithm. One number, taken from the economics instead of from the library default.</a:t>
            </a:r>
          </a:p>
          <a:p>
            <a:pPr lvl="0" indent="0" marL="0">
              <a:buNone/>
            </a:pPr>
          </a:p>
          <a:p>
            <a:pPr lvl="0" indent="0" marL="0">
              <a:buNone/>
            </a:pPr>
            <a:r>
              <a:rPr/>
              <a:t>Note the flatness around the minimum, and say why it is good news: the exact threshold does not have to be right. Which is fortunate, because cost estimates never are.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Derive it in one line on the board, because it is two steps and it lands: flag the drive if the expected cost of flagging is lower than the expected cost of not. Flagging costs C-FP if the drive was healthy, which happens with probability 1 minus p. Leaving it costs C-FN if it fails, probability p. Set one below the other and solve.</a:t>
            </a:r>
          </a:p>
          <a:p>
            <a:pPr lvl="0" indent="0" marL="0">
              <a:buNone/>
            </a:pPr>
          </a:p>
          <a:p>
            <a:pPr lvl="0" indent="0" marL="0">
              <a:buNone/>
            </a:pPr>
            <a:r>
              <a:rPr/>
              <a:t>Then read the formula rather than the number, which is the part worth remembering: the optimal threshold does not depend on the model, the dataset, or the class balance. Only on the RATIO of the two costs.</a:t>
            </a:r>
          </a:p>
          <a:p>
            <a:pPr lvl="0" indent="0" marL="0">
              <a:buNone/>
            </a:pPr>
          </a:p>
          <a:p>
            <a:pPr lvl="0" indent="0" marL="0">
              <a:buNone/>
            </a:pPr>
            <a:r>
              <a:rPr/>
              <a:t>State the condition, because the derivation used it: p must be an honest probability - among drives given 0.05, about 5% really fail. That property is called calibration (slide 46). Divide every probability by ten, as slide 46 did, and the formula would still say 0.051 while flagging far too few drives.</a:t>
            </a:r>
          </a:p>
          <a:p>
            <a:pPr lvl="0" indent="0" marL="0">
              <a:buNone/>
            </a:pPr>
          </a:p>
          <a:p>
            <a:pPr lvl="0" indent="0" marL="0">
              <a:buNone/>
            </a:pPr>
            <a:r>
              <a:rPr/>
              <a:t>If the errors cost the same, t-star is 0.5 and the default was right all along. As misses grow more expensive, it falls towards zero.</a:t>
            </a:r>
          </a:p>
          <a:p>
            <a:pPr lvl="0" indent="0" marL="0">
              <a:buNone/>
            </a:pPr>
          </a:p>
          <a:p>
            <a:pPr lvl="0" indent="0" marL="0">
              <a:buNone/>
            </a:pPr>
            <a:r>
              <a:rPr/>
              <a:t>Empirically we found 0.08 against a theoretical 0.051, and the curve is flat between them. Two likely reasons for the gap: the test set holds only 76 failures, and the probabilities are good but not perfectly calibrated.</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closed form of the previous slide, drawn. The horizontal axis is one drive’s probability of failing, p; the vertical axis is the expected cost of each decision for that drive.</a:t>
            </a:r>
          </a:p>
          <a:p>
            <a:pPr lvl="0" indent="0" marL="0">
              <a:buNone/>
            </a:pPr>
          </a:p>
          <a:p>
            <a:pPr lvl="0" indent="0" marL="0">
              <a:buNone/>
            </a:pPr>
            <a:r>
              <a:rPr/>
              <a:t>Teal: flag it. We pay 140 euros for the replacement only if the drive was healthy, which happens with probability 1 minus p, so the expected cost is (1 - p) times 140 - nearly flat, because 140 is small. Rust: leave it. We pay 2,600 euros only if it fails, probability p, so the expected cost is p times 2,600 - steep.</a:t>
            </a:r>
          </a:p>
          <a:p>
            <a:pPr lvl="0" indent="0" marL="0">
              <a:buNone/>
            </a:pPr>
          </a:p>
          <a:p>
            <a:pPr lvl="0" indent="0" marL="0">
              <a:buNone/>
            </a:pPr>
            <a:r>
              <a:rPr/>
              <a:t>Where the lines cross the two decisions cost the same: (1 - p) times 140 = p times 2,600, which gives p = 140 divided by (140 + 2,600) = 0.051, the t-star of slide 51. Left of the crossing, leaving the drive is cheaper; right of it, flagging is. So the rule is: flag every drive whose probability is above 0.051.</a:t>
            </a:r>
          </a:p>
          <a:p>
            <a:pPr lvl="0" indent="0" marL="0">
              <a:buNone/>
            </a:pPr>
          </a:p>
          <a:p>
            <a:pPr lvl="0" indent="0" marL="0">
              <a:buNone/>
            </a:pPr>
            <a:r>
              <a:rPr/>
              <a:t>Then ask the room what happens to the crossing if a failure cost 140 euros as well: both lines would have the same slope in opposite directions, and they would cross at 0.5 - the default threshold, right only when the costs are equal. Handout section 7.2.</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this out loud rather than leaving it in the handout, because it is the same mistake you may have named at the start of today’s lesson, in the discussion of exercise 3.</a:t>
            </a:r>
          </a:p>
          <a:p>
            <a:pPr lvl="0" indent="0" marL="0">
              <a:buNone/>
            </a:pPr>
          </a:p>
          <a:p>
            <a:pPr lvl="0" indent="0" marL="0">
              <a:buNone/>
            </a:pPr>
            <a:r>
              <a:rPr/>
              <a:t>The threshold is a parameter. Choosing it by looking at the test set means the test set has influenced the model, and the number it then reports is optimistic.</a:t>
            </a:r>
          </a:p>
          <a:p>
            <a:pPr lvl="0" indent="0" marL="0">
              <a:buNone/>
            </a:pPr>
          </a:p>
          <a:p>
            <a:pPr lvl="0" indent="0" marL="0">
              <a:buNone/>
            </a:pPr>
            <a:r>
              <a:rPr/>
              <a:t>Done properly: choose the threshold on a validation set, then measure once on test. Lesson 5 builds exactly that machinery, and this is the concrete reason it is needed - not a hygiene rule, a thing that changes the number you report.</a:t>
            </a:r>
          </a:p>
          <a:p>
            <a:pPr lvl="0" indent="0" marL="0">
              <a:buNone/>
            </a:pPr>
          </a:p>
          <a:p>
            <a:pPr lvl="0" indent="0" marL="0">
              <a:buNone/>
            </a:pPr>
            <a:r>
              <a:rPr/>
              <a:t>Until then, treat the 0.08 as a demonstration of a method, not a result anyone could publish.</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class_weight=“balanced” makes each failed drive count, in the cost, as much as about 25 healthy ones - the ratio of healthy to failed drives in the training set, (6,000 - 230) divided by 230 = 25. It changes the training rather than the decision.</a:t>
            </a:r>
          </a:p>
          <a:p>
            <a:pPr lvl="0" indent="0" marL="0">
              <a:buNone/>
            </a:pPr>
          </a:p>
          <a:p>
            <a:pPr lvl="0" indent="0" marL="0">
              <a:buNone/>
            </a:pPr>
            <a:r>
              <a:rPr/>
              <a:t>The figure is notebook 3’s comparison drawn as bills, one bar per model. Rust is the cost of the missed failures, FN times 2,600 euros; gold is the cost of the false alarms, FP times 140 euros. The default model misses 33 failures: 33 times 2,600 plus 13 times 140 is 87,620. The threshold at 0.08 misses 11 and raises 121 false alarms: 45,540. Balanced weights miss 8 and raise 205: 8 times 2,600 plus 205 times 140 is 49,500.</a:t>
            </a:r>
          </a:p>
          <a:p>
            <a:pPr lvl="0" indent="0" marL="0">
              <a:buNone/>
            </a:pPr>
          </a:p>
          <a:p>
            <a:pPr lvl="0" indent="0" marL="0">
              <a:buNone/>
            </a:pPr>
            <a:r>
              <a:rPr/>
              <a:t>Point at the AUC under each name: 0.949 against 0.950. Reweighting taught the model essentially nothing new about disk failure. What it did was move where the model puts its 0.5 line - the same lever as the threshold, pulled at a different moment.</a:t>
            </a:r>
          </a:p>
          <a:p>
            <a:pPr lvl="0" indent="0" marL="0">
              <a:buNone/>
            </a:pPr>
          </a:p>
          <a:p>
            <a:pPr lvl="0" indent="0" marL="0">
              <a:buNone/>
            </a:pPr>
            <a:r>
              <a:rPr/>
              <a:t>That matters because class weighting is usually presented as a REMEDY for imbalance. It is not a remedy; it is another way of setting the same decision. The remedy, where one exists, is more positive examples.</a:t>
            </a:r>
          </a:p>
          <a:p>
            <a:pPr lvl="0" indent="0" marL="0">
              <a:buNone/>
            </a:pPr>
          </a:p>
          <a:p>
            <a:pPr lvl="0" indent="0" marL="0">
              <a:buNone/>
            </a:pPr>
            <a:r>
              <a:rPr/>
              <a:t>Where it earns its place: when a downstream tool insists on predict() and gives you no threshold to move. Then this is how you shift the operating point.</a:t>
            </a:r>
          </a:p>
          <a:p>
            <a:pPr lvl="0" indent="0" marL="0">
              <a:buNone/>
            </a:pPr>
          </a:p>
          <a:p>
            <a:pPr lvl="0" indent="0" marL="0">
              <a:buNone/>
            </a:pPr>
            <a:r>
              <a:rPr/>
              <a:t>The same argument holds for resampling and for SMOTE (synthetic minority oversampling technique, which builds artificial minority examples): they move the operating point too. And both must be applied to the training rows only - inside each cross-validation fold, once lesson 5 introduces folds. Duplicated or synthetic failures in the test set would be scored as if they were real drives, and the test score would stop describing the real fleet; lesson 2 made the same argument for fitting the imputer on the training rows only.</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ROC curve by hand, the 200,000-pair experiment, the cost curve, then the multiclass matrix. Run notebook 03. Fifteen minutes, and the two multiclass slides that follow (56 and 57) are shown when the notebook reaches its last section, so they run alongside it rather than after it.</a:t>
            </a:r>
          </a:p>
          <a:p>
            <a:pPr lvl="0" indent="0" marL="0">
              <a:buNone/>
            </a:pPr>
          </a:p>
          <a:p>
            <a:pPr lvl="0" indent="0" marL="0">
              <a:buNone/>
            </a:pPr>
            <a:r>
              <a:rPr/>
              <a:t>If time is short, keep the pairs experiment: it turns a definition they would otherwise memorise into something they watched happen.</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Real fleets are not healthy-or-dead. A drive can be degraded: readable, but reporting errors, and worth replacing at the next maintenance window rather than at three in the morning.</a:t>
            </a:r>
          </a:p>
          <a:p>
            <a:pPr lvl="0" indent="0" marL="0">
              <a:buNone/>
            </a:pPr>
          </a:p>
          <a:p>
            <a:pPr lvl="0" indent="0" marL="0">
              <a:buNone/>
            </a:pPr>
            <a:r>
              <a:rPr/>
              <a:t>For K classes the model produces one score per class and turns them into K probabilities that add up to 1 - the softmax, which for two classes reduces exactly to the sigmoid. The cost generalises to categorical cross-entropy, and it is the same idea: the negative log of the probability assigned to what actually happened. Handout section 10.</a:t>
            </a:r>
          </a:p>
          <a:p>
            <a:pPr lvl="0" indent="0" marL="0">
              <a:buNone/>
            </a:pPr>
          </a:p>
          <a:p>
            <a:pPr lvl="0" indent="0" marL="0">
              <a:buNone/>
            </a:pPr>
            <a:r>
              <a:rPr/>
              <a:t>Read the off-diagonal cells rather than the accuracy. Degraded is the hard class, and understandably - it sits between two neighbours that both look like it from a distance.</a:t>
            </a:r>
          </a:p>
          <a:p>
            <a:pPr lvl="0" indent="0" marL="0">
              <a:buNone/>
            </a:pPr>
          </a:p>
          <a:p>
            <a:pPr lvl="0" indent="0" marL="0">
              <a:buNone/>
            </a:pPr>
            <a:r>
              <a:rPr/>
              <a:t>Precision and recall are computed one class at a time: each class in turn is the positive one, the rest are negative.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choice as before, now with a much starker gap on three classes. Notebook 3, the three-class model: one bar per class, its F1 from classification_report, and the two averages as lines.</a:t>
            </a:r>
          </a:p>
          <a:p>
            <a:pPr lvl="0" indent="0" marL="0">
              <a:buNone/>
            </a:pPr>
          </a:p>
          <a:p>
            <a:pPr lvl="0" indent="0" marL="0">
              <a:buNone/>
            </a:pPr>
            <a:r>
              <a:rPr/>
              <a:t>Macro treats the three conditions as equally important: (0.947 + 0.545 + 0.629) divided by 3 = 0.707, the dotted line. Weighted multiplies each class by its number of test drives: (1,665 times 0.947 + 259 times 0.545 + 76 times 0.629) divided by 2,000 = 0.883, the dashed line. The healthy class - 1,665 of 2,000, five drives in six - does most of the talking, so the dashed line sits close to the healthy bar.</a:t>
            </a:r>
          </a:p>
          <a:p>
            <a:pPr lvl="0" indent="0" marL="0">
              <a:buNone/>
            </a:pPr>
          </a:p>
          <a:p>
            <a:pPr lvl="0" indent="0" marL="0">
              <a:buNone/>
            </a:pPr>
            <a:r>
              <a:rPr/>
              <a:t>Which to quote is a question about the application, not about statistics. If missing a failure matters as much as missing a healthy drive, macro is the honest one. Say which you used, always.</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number they started with. 306 failures out of 8,000; 96.2% accuracy for a model that does nothing.</a:t>
            </a:r>
          </a:p>
          <a:p>
            <a:pPr lvl="0" indent="0" marL="0">
              <a:buNone/>
            </a:pPr>
          </a:p>
          <a:p>
            <a:pPr lvl="0" indent="0" marL="0">
              <a:buNone/>
            </a:pPr>
            <a:r>
              <a:rPr/>
              <a:t>If they remember one thing from today, it should be the reflex to ask “what’s the base rate?” before believing any accuracy figure. That reflex is worth more than any of the formulas.</a:t>
            </a:r>
          </a:p>
          <a:p>
            <a:pPr lvl="0" indent="0" marL="0">
              <a:buNone/>
            </a:pPr>
          </a:p>
          <a:p>
            <a:pPr lvl="0" indent="0" marL="0">
              <a:buNone/>
            </a:pPr>
            <a:r>
              <a:rPr/>
              <a:t>The second thing: accuracy, precision, recall and F1 all depended on a threshold, and the threshold has an answer - C-FP over C-FP plus C-FN, for honest probabilities - that comes from the business, not from the data.</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next Friday, 6 November.</a:t>
            </a:r>
          </a:p>
          <a:p>
            <a:pPr lvl="0" indent="0" marL="0">
              <a:buNone/>
            </a:pPr>
          </a:p>
          <a:p>
            <a:pPr lvl="0" indent="0" marL="0">
              <a:buNone/>
            </a:pPr>
            <a:r>
              <a:rPr/>
              <a:t>Emphasise which part matters at the exam, where one of the ten exercises is drawn and they talk through their own notebook. The classifier is a few lines and everyone will get it. The paragraph defending the threshold choice is where the learning is, and it is what they will be asked to defend.</a:t>
            </a:r>
          </a:p>
          <a:p>
            <a:pPr lvl="0" indent="0" marL="0">
              <a:buNone/>
            </a:pPr>
          </a:p>
          <a:p>
            <a:pPr lvl="0" indent="0" marL="0">
              <a:buNone/>
            </a:pPr>
            <a:r>
              <a:rPr/>
              <a:t>Warn them about the trap deliberately planted: the dataset has a decoy column, as this one did, and the exercise asks them to report AUC and average precision together. Anyone reporting AUC alone will be reporting a number that looks better than the model is.</a:t>
            </a:r>
          </a:p>
          <a:p>
            <a:pPr lvl="0" indent="0" marL="0">
              <a:buNone/>
            </a:pPr>
          </a:p>
          <a:p>
            <a:pPr lvl="0" indent="0" marL="0">
              <a:buNone/>
            </a:pPr>
            <a:r>
              <a:rPr/>
              <a:t>Next week: experimental methodology. Cross-validation, bias-variance, and the honest way to make every choice we made by hand today.</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4: Classification and Evaluation Metrics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30 October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we start</a:t>
            </a:r>
          </a:p>
        </p:txBody>
      </p:sp>
      <p:sp>
        <p:nvSpPr>
          <p:cNvPr id="3" name="Content Placeholder 2"/>
          <p:cNvSpPr>
            <a:spLocks noGrp="1"/>
          </p:cNvSpPr>
          <p:nvPr>
            <p:ph idx="1"/>
          </p:nvPr>
        </p:nvSpPr>
        <p:spPr>
          <a:xfrm>
            <a:off x="457200" y="1200151"/>
            <a:ext cx="8229600" cy="3394472"/>
          </a:xfrm>
        </p:spPr>
        <p:txBody>
          <a:bodyPr/>
          <a:lstStyle/>
          <a:p>
            <a:pPr lvl="0"/>
            <a:r>
              <a:rPr/>
              <a:t>Exercise 3, which we discuss now</a:t>
            </a:r>
          </a:p>
          <a:p>
            <a:pPr lvl="0"/>
            <a:r>
              <a:rPr/>
              <a:t>Ridge, Lasso, and the choice of the penalty strength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 from a number to a decision</a:t>
            </a:r>
          </a:p>
        </p:txBody>
      </p:sp>
      <p:sp>
        <p:nvSpPr>
          <p:cNvPr id="3" name="Content Placeholder 2"/>
          <p:cNvSpPr>
            <a:spLocks noGrp="1"/>
          </p:cNvSpPr>
          <p:nvPr>
            <p:ph idx="1"/>
          </p:nvPr>
        </p:nvSpPr>
        <p:spPr>
          <a:xfrm>
            <a:off x="457200" y="1200151"/>
            <a:ext cx="8229600" cy="3394472"/>
          </a:xfrm>
        </p:spPr>
        <p:txBody>
          <a:bodyPr/>
          <a:lstStyle/>
          <a:p>
            <a:pPr lvl="0"/>
            <a:r>
              <a:rPr/>
              <a:t>Logistic regression: the model and why the cost had to change</a:t>
            </a:r>
          </a:p>
          <a:p>
            <a:pPr lvl="0"/>
            <a:r>
              <a:rPr/>
              <a:t>The confusion matrix, and why accuracy lies</a:t>
            </a:r>
          </a:p>
          <a:p>
            <a:pPr lvl="0"/>
            <a:r>
              <a:rPr/>
              <a:t>Precision, recall, F1, and the threshold nobody chose</a:t>
            </a:r>
          </a:p>
          <a:p>
            <a:pPr lvl="0"/>
            <a:r>
              <a:rPr/>
              <a:t>Receiver operating characteristic (ROC) curves, and where they mislead</a:t>
            </a:r>
          </a:p>
          <a:p>
            <a:pPr lvl="0"/>
            <a:r>
              <a:rPr/>
              <a:t>Choosing a threshold from money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question has changed</a:t>
            </a:r>
          </a:p>
        </p:txBody>
      </p:sp>
      <p:sp>
        <p:nvSpPr>
          <p:cNvPr id="3" name="Content Placeholder 2"/>
          <p:cNvSpPr>
            <a:spLocks noGrp="1"/>
          </p:cNvSpPr>
          <p:nvPr>
            <p:ph idx="1"/>
          </p:nvPr>
        </p:nvSpPr>
        <p:spPr>
          <a:xfrm>
            <a:off x="457200" y="1200151"/>
            <a:ext cx="8229600" cy="3394472"/>
          </a:xfrm>
        </p:spPr>
        <p:txBody>
          <a:bodyPr/>
          <a:lstStyle/>
          <a:p>
            <a:pPr lvl="0"/>
            <a:r>
              <a:rPr/>
              <a:t>Lesson 3: given a house, </a:t>
            </a:r>
            <a:r>
              <a:rPr b="1"/>
              <a:t>how many euros?</a:t>
            </a:r>
          </a:p>
          <a:p>
            <a:pPr lvl="0"/>
            <a:r>
              <a:rPr/>
              <a:t>Lesson 4: given a disk drive, </a:t>
            </a:r>
            <a:r>
              <a:rPr b="1"/>
              <a:t>will it fail?</a:t>
            </a:r>
          </a:p>
          <a:p>
            <a:pPr lvl="0"/>
            <a:r>
              <a:rPr/>
              <a:t>Answer with a probability: 0 ≤ P(y = 1 | x) ≤ 1</a:t>
            </a:r>
          </a:p>
          <a:p>
            <a:pPr lvl="0"/>
            <a:r>
              <a:rPr/>
              <a:t>y = 1 if the drive failed, y = 0 if not; x holds its six counters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fleet</a:t>
            </a:r>
          </a:p>
        </p:txBody>
      </p:sp>
      <p:sp>
        <p:nvSpPr>
          <p:cNvPr id="3" name="Content Placeholder 2"/>
          <p:cNvSpPr>
            <a:spLocks noGrp="1"/>
          </p:cNvSpPr>
          <p:nvPr>
            <p:ph idx="1"/>
          </p:nvPr>
        </p:nvSpPr>
        <p:spPr>
          <a:xfrm>
            <a:off x="457200" y="1200151"/>
            <a:ext cx="8229600" cy="3394472"/>
          </a:xfrm>
        </p:spPr>
        <p:txBody>
          <a:bodyPr/>
          <a:lstStyle/>
          <a:p>
            <a:pPr lvl="0"/>
            <a:r>
              <a:rPr b="1"/>
              <a:t>8,000 disk drives</a:t>
            </a:r>
            <a:r>
              <a:rPr/>
              <a:t> in a data centre</a:t>
            </a:r>
          </a:p>
          <a:p>
            <a:pPr lvl="0"/>
            <a:r>
              <a:rPr/>
              <a:t>Six SMART counters each: Self-Monitoring, Analysis and Reporting Technology</a:t>
            </a:r>
          </a:p>
          <a:p>
            <a:pPr lvl="0"/>
            <a:r>
              <a:rPr/>
              <a:t>Reallocated sectors, spin retries, read and seek error rates, temperature, hours in service</a:t>
            </a:r>
          </a:p>
          <a:p>
            <a:pPr lvl="0"/>
            <a:r>
              <a:rPr/>
              <a:t>Label: did it fail within thirty days?</a:t>
            </a:r>
          </a:p>
          <a:p>
            <a:pPr lvl="0"/>
            <a:r>
              <a:rPr>
                <a:latin typeface="Courier"/>
              </a:rPr>
              <a:t>train_test_split(..., stratify=y)</a:t>
            </a:r>
            <a:r>
              <a:rPr/>
              <a:t>: 6,000 to train, 2,000 to test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306</a:t>
            </a:r>
          </a:p>
        </p:txBody>
      </p:sp>
      <p:sp>
        <p:nvSpPr>
          <p:cNvPr id="3" name="Content Placeholder 2"/>
          <p:cNvSpPr>
            <a:spLocks noGrp="1"/>
          </p:cNvSpPr>
          <p:nvPr>
            <p:ph idx="1"/>
          </p:nvPr>
        </p:nvSpPr>
        <p:spPr>
          <a:xfrm>
            <a:off x="457200" y="1200151"/>
            <a:ext cx="8229600" cy="3394472"/>
          </a:xfrm>
        </p:spPr>
        <p:txBody>
          <a:bodyPr/>
          <a:lstStyle/>
          <a:p>
            <a:pPr lvl="0"/>
            <a:r>
              <a:rPr b="1"/>
              <a:t>306 of the 8,000 drives failed</a:t>
            </a:r>
            <a:r>
              <a:rPr/>
              <a:t>: 306 ÷ 8,000 = 3.8% of the fleet</a:t>
            </a:r>
          </a:p>
          <a:p>
            <a:pPr lvl="0"/>
            <a:r>
              <a:rPr/>
              <a:t>Which means 100% − 3.8% = 96.2% did not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goes wrong if we just fit a line</a:t>
            </a:r>
          </a:p>
        </p:txBody>
      </p:sp>
      <p:pic>
        <p:nvPicPr>
          <p:cNvPr descr="linear_vs_logistic.png" id="0" name="Picture 1"/>
          <p:cNvPicPr>
            <a:picLocks noGrp="1" noChangeAspect="1"/>
          </p:cNvPicPr>
          <p:nvPr/>
        </p:nvPicPr>
        <p:blipFill>
          <a:blip r:embed="rId3"/>
          <a:stretch>
            <a:fillRect/>
          </a:stretch>
        </p:blipFill>
        <p:spPr bwMode="auto">
          <a:xfrm>
            <a:off x="457200" y="1341239"/>
            <a:ext cx="8229600" cy="3009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sigmoid</a:t>
            </a:r>
          </a:p>
        </p:txBody>
      </p:sp>
      <p:pic>
        <p:nvPicPr>
          <p:cNvPr descr="sigmoid_and_odds.png" id="0" name="Picture 1"/>
          <p:cNvPicPr>
            <a:picLocks noGrp="1" noChangeAspect="1"/>
          </p:cNvPicPr>
          <p:nvPr/>
        </p:nvPicPr>
        <p:blipFill>
          <a:blip r:embed="rId3"/>
          <a:stretch>
            <a:fillRect/>
          </a:stretch>
        </p:blipFill>
        <p:spPr bwMode="auto">
          <a:xfrm>
            <a:off x="457200" y="1379339"/>
            <a:ext cx="8229600" cy="29337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the log-odds</a:t>
            </a:r>
          </a:p>
        </p:txBody>
      </p:sp>
      <p:sp>
        <p:nvSpPr>
          <p:cNvPr id="3" name="Content Placeholder 2"/>
          <p:cNvSpPr>
            <a:spLocks noGrp="1"/>
          </p:cNvSpPr>
          <p:nvPr>
            <p:ph idx="1"/>
          </p:nvPr>
        </p:nvSpPr>
        <p:spPr>
          <a:xfrm>
            <a:off x="457200" y="1200151"/>
            <a:ext cx="8229600" cy="3394472"/>
          </a:xfrm>
        </p:spPr>
        <p:txBody>
          <a:bodyPr/>
          <a:lstStyle/>
          <a:p>
            <a:pPr lvl="0"/>
            <a:r>
              <a:rPr/>
              <a:t>A line gives any number; a probability, only [0, 1]</a:t>
            </a:r>
          </a:p>
          <a:p>
            <a:pPr lvl="0"/>
            <a:r>
              <a:rPr/>
              <a:t>Odds, p ÷ (1 − p): no ceiling, from 0 to ∞</a:t>
            </a:r>
          </a:p>
          <a:p>
            <a:pPr lvl="0"/>
            <a:r>
              <a:rPr/>
              <a:t>Log of the odds: no floor either, −∞ to +∞</a:t>
            </a:r>
          </a:p>
          <a:p>
            <a:pPr lvl="0"/>
            <a:r>
              <a:rPr/>
              <a:t>p = 0.99: log(0.99 ÷ 0.01) = log 99 = +4.60; p = 0.5: log(0.5 ÷ 0.5) = log 1 = 0</a:t>
            </a:r>
          </a:p>
          <a:p>
            <a:pPr lvl="0"/>
            <a:r>
              <a:rPr/>
              <a:t>Bonus: coefficients multiply the odds (slide 13)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Evidence multiplies the odds</a:t>
            </a:r>
          </a:p>
        </p:txBody>
      </p:sp>
      <p:pic>
        <p:nvPicPr>
          <p:cNvPr descr="evidence_on_the_sigmoid.png" id="0" name="Picture 1"/>
          <p:cNvPicPr>
            <a:picLocks noGrp="1" noChangeAspect="1"/>
          </p:cNvPicPr>
          <p:nvPr/>
        </p:nvPicPr>
        <p:blipFill>
          <a:blip r:embed="rId3"/>
          <a:stretch>
            <a:fillRect/>
          </a:stretch>
        </p:blipFill>
        <p:spPr bwMode="auto">
          <a:xfrm>
            <a:off x="1016752" y="1166099"/>
            <a:ext cx="7110495" cy="3360181"/>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Log-odds of p = P(y = 1 | x): a line</a:t>
            </a:r>
          </a:p>
        </p:txBody>
      </p:sp>
      <p:pic>
        <p:nvPicPr>
          <p:cNvPr descr="eq_2e0b8814eb.png" id="0" name="Picture 1"/>
          <p:cNvPicPr>
            <a:picLocks noGrp="1" noChangeAspect="1"/>
          </p:cNvPicPr>
          <p:nvPr/>
        </p:nvPicPr>
        <p:blipFill>
          <a:blip r:embed="rId3"/>
          <a:stretch>
            <a:fillRect/>
          </a:stretch>
        </p:blipFill>
        <p:spPr bwMode="auto">
          <a:xfrm>
            <a:off x="457200" y="2477889"/>
            <a:ext cx="8229600" cy="736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model, in one line</a:t>
            </a:r>
          </a:p>
        </p:txBody>
      </p:sp>
      <p:pic>
        <p:nvPicPr>
          <p:cNvPr descr="eq_e936e058d0.png" id="0" name="Picture 1"/>
          <p:cNvPicPr>
            <a:picLocks noGrp="1" noChangeAspect="1"/>
          </p:cNvPicPr>
          <p:nvPr/>
        </p:nvPicPr>
        <p:blipFill>
          <a:blip r:embed="rId3"/>
          <a:stretch>
            <a:fillRect/>
          </a:stretch>
        </p:blipFill>
        <p:spPr bwMode="auto">
          <a:xfrm>
            <a:off x="457200" y="2535039"/>
            <a:ext cx="8229600" cy="6223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coefficients mean</a:t>
            </a:r>
          </a:p>
        </p:txBody>
      </p:sp>
      <p:sp>
        <p:nvSpPr>
          <p:cNvPr id="3" name="Content Placeholder 2"/>
          <p:cNvSpPr>
            <a:spLocks noGrp="1"/>
          </p:cNvSpPr>
          <p:nvPr>
            <p:ph idx="1"/>
          </p:nvPr>
        </p:nvSpPr>
        <p:spPr>
          <a:xfrm>
            <a:off x="457200" y="1200151"/>
            <a:ext cx="8229600" cy="3394472"/>
          </a:xfrm>
        </p:spPr>
        <p:txBody>
          <a:bodyPr/>
          <a:lstStyle/>
          <a:p>
            <a:pPr lvl="0"/>
            <a:r>
              <a:rPr/>
              <a:t>Standardised: one standard deviation more of reallocated sectors adds 1.80 to the log-odds</a:t>
            </a:r>
          </a:p>
          <a:p>
            <a:pPr lvl="0"/>
            <a:r>
              <a:rPr/>
              <a:t>Adding to a log multiplies the </a:t>
            </a:r>
            <a:r>
              <a:rPr b="1"/>
              <a:t>odds</a:t>
            </a:r>
            <a:r>
              <a:rPr/>
              <a:t>: log(odds) + 1.80 = log(odds × 6.05), since exp(1.80) = 6.05</a:t>
            </a:r>
          </a:p>
          <a:p>
            <a:pPr lvl="0"/>
            <a:r>
              <a:rPr/>
              <a:t>So: </a:t>
            </a:r>
            <a:r>
              <a:rPr b="1"/>
              <a:t>six times the odds</a:t>
            </a:r>
            <a:r>
              <a:rPr/>
              <a:t> of failing, slide 10’s teal step</a:t>
            </a:r>
          </a:p>
          <a:p>
            <a:pPr lvl="0"/>
            <a:r>
              <a:rPr/>
              <a:t>In code: </a:t>
            </a:r>
            <a:r>
              <a:rPr>
                <a:latin typeface="Courier"/>
              </a:rPr>
              <a:t>make_pipeline(StandardScaler(), LogisticRegression())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truth, and what we recovered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Feature</a:t>
                      </a:r>
                    </a:p>
                  </a:txBody>
                  <a:tcPr/>
                </a:tc>
                <a:tc>
                  <a:txBody>
                    <a:bodyPr/>
                    <a:lstStyle/>
                    <a:p>
                      <a:pPr lvl="0" indent="0" marL="0">
                        <a:buNone/>
                      </a:pPr>
                      <a:r>
                        <a:rPr/>
                        <a:t>True</a:t>
                      </a:r>
                    </a:p>
                  </a:txBody>
                  <a:tcPr/>
                </a:tc>
                <a:tc>
                  <a:txBody>
                    <a:bodyPr/>
                    <a:lstStyle/>
                    <a:p>
                      <a:pPr lvl="0" indent="0" marL="0">
                        <a:buNone/>
                      </a:pPr>
                      <a:r>
                        <a:rPr/>
                        <a:t>Fitted, notebook 1</a:t>
                      </a:r>
                    </a:p>
                  </a:txBody>
                  <a:tcPr/>
                </a:tc>
                <a:tc>
                  <a:txBody>
                    <a:bodyPr/>
                    <a:lstStyle/>
                    <a:p>
                      <a:pPr lvl="0" indent="0" marL="0">
                        <a:buNone/>
                      </a:pPr>
                      <a:r>
                        <a:rPr/>
                        <a:t>Odds ×, exp(Fitted)</a:t>
                      </a:r>
                    </a:p>
                  </a:txBody>
                  <a:tcPr/>
                </a:tc>
              </a:tr>
              <a:tr h="0">
                <a:tc>
                  <a:txBody>
                    <a:bodyPr/>
                    <a:lstStyle/>
                    <a:p>
                      <a:pPr lvl="0" indent="0" marL="0">
                        <a:buNone/>
                      </a:pPr>
                      <a:r>
                        <a:rPr/>
                        <a:t>reallocated_sectors</a:t>
                      </a:r>
                    </a:p>
                  </a:txBody>
                </a:tc>
                <a:tc>
                  <a:txBody>
                    <a:bodyPr/>
                    <a:lstStyle/>
                    <a:p>
                      <a:pPr lvl="0" indent="0" marL="0">
                        <a:buNone/>
                      </a:pPr>
                      <a:r>
                        <a:rPr/>
                        <a:t>1.80</a:t>
                      </a:r>
                    </a:p>
                  </a:txBody>
                </a:tc>
                <a:tc>
                  <a:txBody>
                    <a:bodyPr/>
                    <a:lstStyle/>
                    <a:p>
                      <a:pPr lvl="0" indent="0" marL="0">
                        <a:buNone/>
                      </a:pPr>
                      <a:r>
                        <a:rPr/>
                        <a:t>1.66</a:t>
                      </a:r>
                    </a:p>
                  </a:txBody>
                </a:tc>
                <a:tc>
                  <a:txBody>
                    <a:bodyPr/>
                    <a:lstStyle/>
                    <a:p>
                      <a:pPr lvl="0" indent="0" marL="0">
                        <a:buNone/>
                      </a:pPr>
                      <a:r>
                        <a:rPr/>
                        <a:t>5.28</a:t>
                      </a:r>
                    </a:p>
                  </a:txBody>
                </a:tc>
              </a:tr>
              <a:tr h="0">
                <a:tc>
                  <a:txBody>
                    <a:bodyPr/>
                    <a:lstStyle/>
                    <a:p>
                      <a:pPr lvl="0" indent="0" marL="0">
                        <a:buNone/>
                      </a:pPr>
                      <a:r>
                        <a:rPr/>
                        <a:t>spin_retry_count</a:t>
                      </a:r>
                    </a:p>
                  </a:txBody>
                </a:tc>
                <a:tc>
                  <a:txBody>
                    <a:bodyPr/>
                    <a:lstStyle/>
                    <a:p>
                      <a:pPr lvl="0" indent="0" marL="0">
                        <a:buNone/>
                      </a:pPr>
                      <a:r>
                        <a:rPr/>
                        <a:t>1.15</a:t>
                      </a:r>
                    </a:p>
                  </a:txBody>
                </a:tc>
                <a:tc>
                  <a:txBody>
                    <a:bodyPr/>
                    <a:lstStyle/>
                    <a:p>
                      <a:pPr lvl="0" indent="0" marL="0">
                        <a:buNone/>
                      </a:pPr>
                      <a:r>
                        <a:rPr/>
                        <a:t>1.17</a:t>
                      </a:r>
                    </a:p>
                  </a:txBody>
                </a:tc>
                <a:tc>
                  <a:txBody>
                    <a:bodyPr/>
                    <a:lstStyle/>
                    <a:p>
                      <a:pPr lvl="0" indent="0" marL="0">
                        <a:buNone/>
                      </a:pPr>
                      <a:r>
                        <a:rPr/>
                        <a:t>3.22</a:t>
                      </a:r>
                    </a:p>
                  </a:txBody>
                </a:tc>
              </a:tr>
              <a:tr h="0">
                <a:tc>
                  <a:txBody>
                    <a:bodyPr/>
                    <a:lstStyle/>
                    <a:p>
                      <a:pPr lvl="0" indent="0" marL="0">
                        <a:buNone/>
                      </a:pPr>
                      <a:r>
                        <a:rPr/>
                        <a:t>read_error_rate</a:t>
                      </a:r>
                    </a:p>
                  </a:txBody>
                </a:tc>
                <a:tc>
                  <a:txBody>
                    <a:bodyPr/>
                    <a:lstStyle/>
                    <a:p>
                      <a:pPr lvl="0" indent="0" marL="0">
                        <a:buNone/>
                      </a:pPr>
                      <a:r>
                        <a:rPr/>
                        <a:t>0.85</a:t>
                      </a:r>
                    </a:p>
                  </a:txBody>
                </a:tc>
                <a:tc>
                  <a:txBody>
                    <a:bodyPr/>
                    <a:lstStyle/>
                    <a:p>
                      <a:pPr lvl="0" indent="0" marL="0">
                        <a:buNone/>
                      </a:pPr>
                      <a:r>
                        <a:rPr/>
                        <a:t>0.87</a:t>
                      </a:r>
                    </a:p>
                  </a:txBody>
                </a:tc>
                <a:tc>
                  <a:txBody>
                    <a:bodyPr/>
                    <a:lstStyle/>
                    <a:p>
                      <a:pPr lvl="0" indent="0" marL="0">
                        <a:buNone/>
                      </a:pPr>
                      <a:r>
                        <a:rPr/>
                        <a:t>2.39</a:t>
                      </a:r>
                    </a:p>
                  </a:txBody>
                </a:tc>
              </a:tr>
              <a:tr h="0">
                <a:tc>
                  <a:txBody>
                    <a:bodyPr/>
                    <a:lstStyle/>
                    <a:p>
                      <a:pPr lvl="0" indent="0" marL="0">
                        <a:buNone/>
                      </a:pPr>
                      <a:r>
                        <a:rPr/>
                        <a:t>temperature_c</a:t>
                      </a:r>
                    </a:p>
                  </a:txBody>
                </a:tc>
                <a:tc>
                  <a:txBody>
                    <a:bodyPr/>
                    <a:lstStyle/>
                    <a:p>
                      <a:pPr lvl="0" indent="0" marL="0">
                        <a:buNone/>
                      </a:pPr>
                      <a:r>
                        <a:rPr/>
                        <a:t>0.45</a:t>
                      </a:r>
                    </a:p>
                  </a:txBody>
                </a:tc>
                <a:tc>
                  <a:txBody>
                    <a:bodyPr/>
                    <a:lstStyle/>
                    <a:p>
                      <a:pPr lvl="0" indent="0" marL="0">
                        <a:buNone/>
                      </a:pPr>
                      <a:r>
                        <a:rPr/>
                        <a:t>0.46</a:t>
                      </a:r>
                    </a:p>
                  </a:txBody>
                </a:tc>
                <a:tc>
                  <a:txBody>
                    <a:bodyPr/>
                    <a:lstStyle/>
                    <a:p>
                      <a:pPr lvl="0" indent="0" marL="0">
                        <a:buNone/>
                      </a:pPr>
                      <a:r>
                        <a:rPr/>
                        <a:t>1.59</a:t>
                      </a:r>
                    </a:p>
                  </a:txBody>
                </a:tc>
              </a:tr>
              <a:tr h="0">
                <a:tc>
                  <a:txBody>
                    <a:bodyPr/>
                    <a:lstStyle/>
                    <a:p>
                      <a:pPr lvl="0" indent="0" marL="0">
                        <a:buNone/>
                      </a:pPr>
                      <a:r>
                        <a:rPr/>
                        <a:t>power_on_hours</a:t>
                      </a:r>
                    </a:p>
                  </a:txBody>
                </a:tc>
                <a:tc>
                  <a:txBody>
                    <a:bodyPr/>
                    <a:lstStyle/>
                    <a:p>
                      <a:pPr lvl="0" indent="0" marL="0">
                        <a:buNone/>
                      </a:pPr>
                      <a:r>
                        <a:rPr/>
                        <a:t>0.35</a:t>
                      </a:r>
                    </a:p>
                  </a:txBody>
                </a:tc>
                <a:tc>
                  <a:txBody>
                    <a:bodyPr/>
                    <a:lstStyle/>
                    <a:p>
                      <a:pPr lvl="0" indent="0" marL="0">
                        <a:buNone/>
                      </a:pPr>
                      <a:r>
                        <a:rPr/>
                        <a:t>0.38</a:t>
                      </a:r>
                    </a:p>
                  </a:txBody>
                </a:tc>
                <a:tc>
                  <a:txBody>
                    <a:bodyPr/>
                    <a:lstStyle/>
                    <a:p>
                      <a:pPr lvl="0" indent="0" marL="0">
                        <a:buNone/>
                      </a:pPr>
                      <a:r>
                        <a:rPr/>
                        <a:t>1.46</a:t>
                      </a:r>
                    </a:p>
                  </a:txBody>
                </a:tc>
              </a:tr>
              <a:tr h="0">
                <a:tc>
                  <a:txBody>
                    <a:bodyPr/>
                    <a:lstStyle/>
                    <a:p>
                      <a:pPr lvl="0" indent="0" marL="0">
                        <a:buNone/>
                      </a:pPr>
                      <a:r>
                        <a:rPr/>
                        <a:t>seek_error_rate</a:t>
                      </a:r>
                    </a:p>
                  </a:txBody>
                </a:tc>
                <a:tc>
                  <a:txBody>
                    <a:bodyPr/>
                    <a:lstStyle/>
                    <a:p>
                      <a:pPr lvl="0" indent="0" marL="0">
                        <a:buNone/>
                      </a:pPr>
                      <a:r>
                        <a:rPr b="1"/>
                        <a:t>0.00</a:t>
                      </a:r>
                    </a:p>
                  </a:txBody>
                </a:tc>
                <a:tc>
                  <a:txBody>
                    <a:bodyPr/>
                    <a:lstStyle/>
                    <a:p>
                      <a:pPr lvl="0" indent="0" marL="0">
                        <a:buNone/>
                      </a:pPr>
                      <a:r>
                        <a:rPr b="1"/>
                        <a:t>0.02</a:t>
                      </a:r>
                    </a:p>
                  </a:txBody>
                </a:tc>
                <a:tc>
                  <a:txBody>
                    <a:bodyPr/>
                    <a:lstStyle/>
                    <a:p>
                      <a:pPr lvl="0" indent="0" marL="0">
                        <a:buNone/>
                      </a:pPr>
                      <a:r>
                        <a:rPr b="1"/>
                        <a:t>1.02</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intercept is the average drive’s chance</a:t>
            </a:r>
          </a:p>
        </p:txBody>
      </p:sp>
      <p:sp>
        <p:nvSpPr>
          <p:cNvPr id="3" name="Content Placeholder 2"/>
          <p:cNvSpPr>
            <a:spLocks noGrp="1"/>
          </p:cNvSpPr>
          <p:nvPr>
            <p:ph idx="1"/>
          </p:nvPr>
        </p:nvSpPr>
        <p:spPr>
          <a:xfrm>
            <a:off x="457200" y="1200151"/>
            <a:ext cx="8229600" cy="3394472"/>
          </a:xfrm>
        </p:spPr>
        <p:txBody>
          <a:bodyPr/>
          <a:lstStyle/>
          <a:p>
            <a:pPr lvl="0"/>
            <a:r>
              <a:rPr/>
              <a:t>Fitted intercept: </a:t>
            </a:r>
            <a:r>
              <a:rPr b="1"/>
              <a:t>−6.09</a:t>
            </a:r>
            <a:r>
              <a:rPr/>
              <a:t>, the log-odds of a drive average on every counter (all x = 0)</a:t>
            </a:r>
          </a:p>
          <a:p>
            <a:pPr lvl="0"/>
            <a:r>
              <a:rPr/>
              <a:t>σ(−6.09) = 1 ÷ (1 + exp(6.09)) = 1 ÷ 442 = 0.0023: a 0.2% chance</a:t>
            </a:r>
          </a:p>
          <a:p>
            <a:pPr lvl="0"/>
            <a:r>
              <a:rPr/>
              <a:t>The fleet fails at 3.8% (slide 6): the failures come from the few drives far above average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Fitting means minimising something, but what?</a:t>
            </a:r>
          </a:p>
        </p:txBody>
      </p:sp>
      <p:sp>
        <p:nvSpPr>
          <p:cNvPr id="3" name="Content Placeholder 2"/>
          <p:cNvSpPr>
            <a:spLocks noGrp="1"/>
          </p:cNvSpPr>
          <p:nvPr>
            <p:ph idx="1"/>
          </p:nvPr>
        </p:nvSpPr>
        <p:spPr>
          <a:xfrm>
            <a:off x="457200" y="1200151"/>
            <a:ext cx="8229600" cy="3394472"/>
          </a:xfrm>
        </p:spPr>
        <p:txBody>
          <a:bodyPr/>
          <a:lstStyle/>
          <a:p>
            <a:pPr lvl="0"/>
            <a:r>
              <a:rPr/>
              <a:t>Squared error worked for lesson 3</a:t>
            </a:r>
          </a:p>
          <a:p>
            <a:pPr lvl="0"/>
            <a:r>
              <a:rPr/>
              <a:t>Why not just apply it to the sigmoid’s output?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1: each drive gets a p</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Drive</a:t>
                      </a:r>
                    </a:p>
                  </a:txBody>
                  <a:tcPr/>
                </a:tc>
                <a:tc>
                  <a:txBody>
                    <a:bodyPr/>
                    <a:lstStyle/>
                    <a:p>
                      <a:pPr lvl="0" indent="0" marL="0">
                        <a:buNone/>
                      </a:pPr>
                      <a:r>
                        <a:rPr/>
                        <a:t>What happened</a:t>
                      </a:r>
                    </a:p>
                  </a:txBody>
                  <a:tcPr/>
                </a:tc>
                <a:tc>
                  <a:txBody>
                    <a:bodyPr/>
                    <a:lstStyle/>
                    <a:p>
                      <a:pPr lvl="0" indent="0" marL="0">
                        <a:buNone/>
                      </a:pPr>
                      <a:r>
                        <a:rPr/>
                        <a:t>y</a:t>
                      </a:r>
                    </a:p>
                  </a:txBody>
                  <a:tcPr/>
                </a:tc>
                <a:tc>
                  <a:txBody>
                    <a:bodyPr/>
                    <a:lstStyle/>
                    <a:p>
                      <a:pPr lvl="0" indent="0" marL="0">
                        <a:buNone/>
                      </a:pPr>
                      <a:r>
                        <a:rPr/>
                        <a:t>Setting 1: p = σ(wᵀx + b), the P(fail)</a:t>
                      </a:r>
                    </a:p>
                  </a:txBody>
                  <a:tcPr/>
                </a:tc>
              </a:tr>
              <a:tr h="0">
                <a:tc>
                  <a:txBody>
                    <a:bodyPr/>
                    <a:lstStyle/>
                    <a:p>
                      <a:pPr lvl="0" indent="0" marL="0">
                        <a:buNone/>
                      </a:pPr>
                      <a:r>
                        <a:rPr/>
                        <a:t>A</a:t>
                      </a:r>
                    </a:p>
                  </a:txBody>
                </a:tc>
                <a:tc>
                  <a:txBody>
                    <a:bodyPr/>
                    <a:lstStyle/>
                    <a:p>
                      <a:pPr lvl="0" indent="0" marL="0">
                        <a:buNone/>
                      </a:pPr>
                      <a:r>
                        <a:rPr/>
                        <a:t>failed</a:t>
                      </a:r>
                    </a:p>
                  </a:txBody>
                </a:tc>
                <a:tc>
                  <a:txBody>
                    <a:bodyPr/>
                    <a:lstStyle/>
                    <a:p>
                      <a:pPr lvl="0" indent="0" marL="0">
                        <a:buNone/>
                      </a:pPr>
                      <a:r>
                        <a:rPr/>
                        <a:t>1</a:t>
                      </a:r>
                    </a:p>
                  </a:txBody>
                </a:tc>
                <a:tc>
                  <a:txBody>
                    <a:bodyPr/>
                    <a:lstStyle/>
                    <a:p>
                      <a:pPr lvl="0" indent="0" marL="0">
                        <a:buNone/>
                      </a:pPr>
                      <a:r>
                        <a:rPr/>
                        <a:t>0.8</a:t>
                      </a:r>
                    </a:p>
                  </a:txBody>
                </a:tc>
              </a:tr>
              <a:tr h="0">
                <a:tc>
                  <a:txBody>
                    <a:bodyPr/>
                    <a:lstStyle/>
                    <a:p>
                      <a:pPr lvl="0" indent="0" marL="0">
                        <a:buNone/>
                      </a:pPr>
                      <a:r>
                        <a:rPr/>
                        <a:t>B</a:t>
                      </a:r>
                    </a:p>
                  </a:txBody>
                </a:tc>
                <a:tc>
                  <a:txBody>
                    <a:bodyPr/>
                    <a:lstStyle/>
                    <a:p>
                      <a:pPr lvl="0" indent="0" marL="0">
                        <a:buNone/>
                      </a:pPr>
                      <a:r>
                        <a:rPr/>
                        <a:t>stayed healthy</a:t>
                      </a:r>
                    </a:p>
                  </a:txBody>
                </a:tc>
                <a:tc>
                  <a:txBody>
                    <a:bodyPr/>
                    <a:lstStyle/>
                    <a:p>
                      <a:pPr lvl="0" indent="0" marL="0">
                        <a:buNone/>
                      </a:pPr>
                      <a:r>
                        <a:rPr/>
                        <a:t>0</a:t>
                      </a:r>
                    </a:p>
                  </a:txBody>
                </a:tc>
                <a:tc>
                  <a:txBody>
                    <a:bodyPr/>
                    <a:lstStyle/>
                    <a:p>
                      <a:pPr lvl="0" indent="0" marL="0">
                        <a:buNone/>
                      </a:pPr>
                      <a:r>
                        <a:rPr/>
                        <a:t>0.1</a:t>
                      </a:r>
                    </a:p>
                  </a:txBody>
                </a:tc>
              </a:tr>
              <a:tr h="0">
                <a:tc>
                  <a:txBody>
                    <a:bodyPr/>
                    <a:lstStyle/>
                    <a:p>
                      <a:pPr lvl="0" indent="0" marL="0">
                        <a:buNone/>
                      </a:pPr>
                      <a:r>
                        <a:rPr/>
                        <a:t>C</a:t>
                      </a:r>
                    </a:p>
                  </a:txBody>
                </a:tc>
                <a:tc>
                  <a:txBody>
                    <a:bodyPr/>
                    <a:lstStyle/>
                    <a:p>
                      <a:pPr lvl="0" indent="0" marL="0">
                        <a:buNone/>
                      </a:pPr>
                      <a:r>
                        <a:rPr/>
                        <a:t>stayed healthy</a:t>
                      </a:r>
                    </a:p>
                  </a:txBody>
                </a:tc>
                <a:tc>
                  <a:txBody>
                    <a:bodyPr/>
                    <a:lstStyle/>
                    <a:p>
                      <a:pPr lvl="0" indent="0" marL="0">
                        <a:buNone/>
                      </a:pPr>
                      <a:r>
                        <a:rPr/>
                        <a:t>0</a:t>
                      </a:r>
                    </a:p>
                  </a:txBody>
                </a:tc>
                <a:tc>
                  <a:txBody>
                    <a:bodyPr/>
                    <a:lstStyle/>
                    <a:p>
                      <a:pPr lvl="0" indent="0" marL="0">
                        <a:buNone/>
                      </a:pPr>
                      <a:r>
                        <a:rPr/>
                        <a:t>0.2</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2: how likely was the outcome?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Drive</a:t>
                      </a:r>
                    </a:p>
                  </a:txBody>
                  <a:tcPr/>
                </a:tc>
                <a:tc>
                  <a:txBody>
                    <a:bodyPr/>
                    <a:lstStyle/>
                    <a:p>
                      <a:pPr lvl="0" indent="0" marL="0">
                        <a:buNone/>
                      </a:pPr>
                      <a:r>
                        <a:rPr/>
                        <a:t>y</a:t>
                      </a:r>
                    </a:p>
                  </a:txBody>
                  <a:tcPr/>
                </a:tc>
                <a:tc>
                  <a:txBody>
                    <a:bodyPr/>
                    <a:lstStyle/>
                    <a:p>
                      <a:pPr lvl="0" indent="0" marL="0">
                        <a:buNone/>
                      </a:pPr>
                      <a:r>
                        <a:rPr/>
                        <a:t>p</a:t>
                      </a:r>
                    </a:p>
                  </a:txBody>
                  <a:tcPr/>
                </a:tc>
                <a:tc>
                  <a:txBody>
                    <a:bodyPr/>
                    <a:lstStyle/>
                    <a:p>
                      <a:pPr lvl="0" indent="0" marL="0">
                        <a:buNone/>
                      </a:pPr>
                      <a:r>
                        <a:rPr/>
                        <a:t>Probability of what happened: p if y = 1, 1 - p if y = 0</a:t>
                      </a:r>
                    </a:p>
                  </a:txBody>
                  <a:tcPr/>
                </a:tc>
              </a:tr>
              <a:tr h="0">
                <a:tc>
                  <a:txBody>
                    <a:bodyPr/>
                    <a:lstStyle/>
                    <a:p>
                      <a:pPr lvl="0" indent="0" marL="0">
                        <a:buNone/>
                      </a:pPr>
                      <a:r>
                        <a:rPr/>
                        <a:t>A</a:t>
                      </a:r>
                    </a:p>
                  </a:txBody>
                </a:tc>
                <a:tc>
                  <a:txBody>
                    <a:bodyPr/>
                    <a:lstStyle/>
                    <a:p>
                      <a:pPr lvl="0" indent="0" marL="0">
                        <a:buNone/>
                      </a:pPr>
                      <a:r>
                        <a:rPr/>
                        <a:t>1</a:t>
                      </a:r>
                    </a:p>
                  </a:txBody>
                </a:tc>
                <a:tc>
                  <a:txBody>
                    <a:bodyPr/>
                    <a:lstStyle/>
                    <a:p>
                      <a:pPr lvl="0" indent="0" marL="0">
                        <a:buNone/>
                      </a:pPr>
                      <a:r>
                        <a:rPr/>
                        <a:t>0.8</a:t>
                      </a:r>
                    </a:p>
                  </a:txBody>
                </a:tc>
                <a:tc>
                  <a:txBody>
                    <a:bodyPr/>
                    <a:lstStyle/>
                    <a:p>
                      <a:pPr lvl="0" indent="0" marL="0">
                        <a:buNone/>
                      </a:pPr>
                      <a:r>
                        <a:rPr/>
                        <a:t>0.8</a:t>
                      </a:r>
                    </a:p>
                  </a:txBody>
                </a:tc>
              </a:tr>
              <a:tr h="0">
                <a:tc>
                  <a:txBody>
                    <a:bodyPr/>
                    <a:lstStyle/>
                    <a:p>
                      <a:pPr lvl="0" indent="0" marL="0">
                        <a:buNone/>
                      </a:pPr>
                      <a:r>
                        <a:rPr/>
                        <a:t>B</a:t>
                      </a:r>
                    </a:p>
                  </a:txBody>
                </a:tc>
                <a:tc>
                  <a:txBody>
                    <a:bodyPr/>
                    <a:lstStyle/>
                    <a:p>
                      <a:pPr lvl="0" indent="0" marL="0">
                        <a:buNone/>
                      </a:pPr>
                      <a:r>
                        <a:rPr/>
                        <a:t>0</a:t>
                      </a:r>
                    </a:p>
                  </a:txBody>
                </a:tc>
                <a:tc>
                  <a:txBody>
                    <a:bodyPr/>
                    <a:lstStyle/>
                    <a:p>
                      <a:pPr lvl="0" indent="0" marL="0">
                        <a:buNone/>
                      </a:pPr>
                      <a:r>
                        <a:rPr/>
                        <a:t>0.1</a:t>
                      </a:r>
                    </a:p>
                  </a:txBody>
                </a:tc>
                <a:tc>
                  <a:txBody>
                    <a:bodyPr/>
                    <a:lstStyle/>
                    <a:p>
                      <a:pPr lvl="0" indent="0" marL="0">
                        <a:buNone/>
                      </a:pPr>
                      <a:r>
                        <a:rPr/>
                        <a:t>1 − 0.1 = 0.9</a:t>
                      </a:r>
                    </a:p>
                  </a:txBody>
                </a:tc>
              </a:tr>
              <a:tr h="0">
                <a:tc>
                  <a:txBody>
                    <a:bodyPr/>
                    <a:lstStyle/>
                    <a:p>
                      <a:pPr lvl="0" indent="0" marL="0">
                        <a:buNone/>
                      </a:pPr>
                      <a:r>
                        <a:rPr/>
                        <a:t>C</a:t>
                      </a:r>
                    </a:p>
                  </a:txBody>
                </a:tc>
                <a:tc>
                  <a:txBody>
                    <a:bodyPr/>
                    <a:lstStyle/>
                    <a:p>
                      <a:pPr lvl="0" indent="0" marL="0">
                        <a:buNone/>
                      </a:pPr>
                      <a:r>
                        <a:rPr/>
                        <a:t>0</a:t>
                      </a:r>
                    </a:p>
                  </a:txBody>
                </a:tc>
                <a:tc>
                  <a:txBody>
                    <a:bodyPr/>
                    <a:lstStyle/>
                    <a:p>
                      <a:pPr lvl="0" indent="0" marL="0">
                        <a:buNone/>
                      </a:pPr>
                      <a:r>
                        <a:rPr/>
                        <a:t>0.2</a:t>
                      </a:r>
                    </a:p>
                  </a:txBody>
                </a:tc>
                <a:tc>
                  <a:txBody>
                    <a:bodyPr/>
                    <a:lstStyle/>
                    <a:p>
                      <a:pPr lvl="0" indent="0" marL="0">
                        <a:buNone/>
                      </a:pPr>
                      <a:r>
                        <a:rPr/>
                        <a:t>1 − 0.2 = 0.8</a:t>
                      </a:r>
                    </a:p>
                  </a:txBody>
                </a:tc>
              </a:tr>
              <a:tr h="0">
                <a:tc>
                  <a:txBody>
                    <a:bodyPr/>
                    <a:lstStyle/>
                    <a:p>
                      <a:pPr lvl="0" indent="0" marL="0">
                        <a:buNone/>
                      </a:pPr>
                      <a:r>
                        <a:rPr/>
                        <a:t>All three: multiply</a:t>
                      </a:r>
                    </a:p>
                  </a:txBody>
                </a:tc>
                <a:tc>
                  <a:txBody>
                    <a:bodyPr/>
                    <a:lstStyle/>
                    <a:p>
                      <a:endParaRPr/>
                    </a:p>
                  </a:txBody>
                </a:tc>
                <a:tc>
                  <a:txBody>
                    <a:bodyPr/>
                    <a:lstStyle/>
                    <a:p>
                      <a:endParaRPr/>
                    </a:p>
                  </a:txBody>
                </a:tc>
                <a:tc>
                  <a:txBody>
                    <a:bodyPr/>
                    <a:lstStyle/>
                    <a:p>
                      <a:pPr lvl="0" indent="0" marL="0">
                        <a:buNone/>
                      </a:pPr>
                      <a:r>
                        <a:rPr/>
                        <a:t>0.8 × 0.9 × 0.8 = </a:t>
                      </a:r>
                      <a:r>
                        <a:rPr b="1"/>
                        <a:t>0.576</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2 as formulas: the likelihood</a:t>
            </a:r>
          </a:p>
        </p:txBody>
      </p:sp>
      <p:pic>
        <p:nvPicPr>
          <p:cNvPr descr="eq_4374b8da02.png" id="0" name="Picture 1"/>
          <p:cNvPicPr>
            <a:picLocks noGrp="1" noChangeAspect="1"/>
          </p:cNvPicPr>
          <p:nvPr/>
        </p:nvPicPr>
        <p:blipFill>
          <a:blip r:embed="rId3"/>
          <a:stretch>
            <a:fillRect/>
          </a:stretch>
        </p:blipFill>
        <p:spPr bwMode="auto">
          <a:xfrm>
            <a:off x="457200" y="1512689"/>
            <a:ext cx="8229600" cy="26670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3: two settings, the likelier wins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pPr lvl="0" indent="0" marL="0">
                        <a:buNone/>
                      </a:pPr>
                      <a:r>
                        <a:rPr/>
                        <a:t>Drive</a:t>
                      </a:r>
                    </a:p>
                  </a:txBody>
                  <a:tcPr/>
                </a:tc>
                <a:tc>
                  <a:txBody>
                    <a:bodyPr/>
                    <a:lstStyle/>
                    <a:p>
                      <a:pPr lvl="0" indent="0" marL="0">
                        <a:buNone/>
                      </a:pPr>
                      <a:r>
                        <a:rPr/>
                        <a:t>y</a:t>
                      </a:r>
                    </a:p>
                  </a:txBody>
                  <a:tcPr/>
                </a:tc>
                <a:tc>
                  <a:txBody>
                    <a:bodyPr/>
                    <a:lstStyle/>
                    <a:p>
                      <a:pPr lvl="0" indent="0" marL="0">
                        <a:buNone/>
                      </a:pPr>
                      <a:r>
                        <a:rPr/>
                        <a:t>Setting 1: p</a:t>
                      </a:r>
                    </a:p>
                  </a:txBody>
                  <a:tcPr/>
                </a:tc>
                <a:tc>
                  <a:txBody>
                    <a:bodyPr/>
                    <a:lstStyle/>
                    <a:p>
                      <a:pPr lvl="0" indent="0" marL="0">
                        <a:buNone/>
                      </a:pPr>
                      <a:r>
                        <a:rPr/>
                        <a:t>Setting 1: probability of what happened</a:t>
                      </a:r>
                    </a:p>
                  </a:txBody>
                  <a:tcPr/>
                </a:tc>
                <a:tc>
                  <a:txBody>
                    <a:bodyPr/>
                    <a:lstStyle/>
                    <a:p>
                      <a:pPr lvl="0" indent="0" marL="0">
                        <a:buNone/>
                      </a:pPr>
                      <a:r>
                        <a:rPr/>
                        <a:t>Setting 2: p</a:t>
                      </a:r>
                    </a:p>
                  </a:txBody>
                  <a:tcPr/>
                </a:tc>
                <a:tc>
                  <a:txBody>
                    <a:bodyPr/>
                    <a:lstStyle/>
                    <a:p>
                      <a:pPr lvl="0" indent="0" marL="0">
                        <a:buNone/>
                      </a:pPr>
                      <a:r>
                        <a:rPr/>
                        <a:t>Setting 2: probability of what happened</a:t>
                      </a:r>
                    </a:p>
                  </a:txBody>
                  <a:tcPr/>
                </a:tc>
              </a:tr>
              <a:tr h="0">
                <a:tc>
                  <a:txBody>
                    <a:bodyPr/>
                    <a:lstStyle/>
                    <a:p>
                      <a:pPr lvl="0" indent="0" marL="0">
                        <a:buNone/>
                      </a:pPr>
                      <a:r>
                        <a:rPr/>
                        <a:t>A</a:t>
                      </a:r>
                    </a:p>
                  </a:txBody>
                </a:tc>
                <a:tc>
                  <a:txBody>
                    <a:bodyPr/>
                    <a:lstStyle/>
                    <a:p>
                      <a:pPr lvl="0" indent="0" marL="0">
                        <a:buNone/>
                      </a:pPr>
                      <a:r>
                        <a:rPr/>
                        <a:t>1</a:t>
                      </a:r>
                    </a:p>
                  </a:txBody>
                </a:tc>
                <a:tc>
                  <a:txBody>
                    <a:bodyPr/>
                    <a:lstStyle/>
                    <a:p>
                      <a:pPr lvl="0" indent="0" marL="0">
                        <a:buNone/>
                      </a:pPr>
                      <a:r>
                        <a:rPr/>
                        <a:t>0.8</a:t>
                      </a:r>
                    </a:p>
                  </a:txBody>
                </a:tc>
                <a:tc>
                  <a:txBody>
                    <a:bodyPr/>
                    <a:lstStyle/>
                    <a:p>
                      <a:pPr lvl="0" indent="0" marL="0">
                        <a:buNone/>
                      </a:pPr>
                      <a:r>
                        <a:rPr/>
                        <a:t>0.8</a:t>
                      </a:r>
                    </a:p>
                  </a:txBody>
                </a:tc>
                <a:tc>
                  <a:txBody>
                    <a:bodyPr/>
                    <a:lstStyle/>
                    <a:p>
                      <a:pPr lvl="0" indent="0" marL="0">
                        <a:buNone/>
                      </a:pPr>
                      <a:r>
                        <a:rPr/>
                        <a:t>0.3</a:t>
                      </a:r>
                    </a:p>
                  </a:txBody>
                </a:tc>
                <a:tc>
                  <a:txBody>
                    <a:bodyPr/>
                    <a:lstStyle/>
                    <a:p>
                      <a:pPr lvl="0" indent="0" marL="0">
                        <a:buNone/>
                      </a:pPr>
                      <a:r>
                        <a:rPr/>
                        <a:t>0.3</a:t>
                      </a:r>
                    </a:p>
                  </a:txBody>
                </a:tc>
              </a:tr>
              <a:tr h="0">
                <a:tc>
                  <a:txBody>
                    <a:bodyPr/>
                    <a:lstStyle/>
                    <a:p>
                      <a:pPr lvl="0" indent="0" marL="0">
                        <a:buNone/>
                      </a:pPr>
                      <a:r>
                        <a:rPr/>
                        <a:t>B</a:t>
                      </a:r>
                    </a:p>
                  </a:txBody>
                </a:tc>
                <a:tc>
                  <a:txBody>
                    <a:bodyPr/>
                    <a:lstStyle/>
                    <a:p>
                      <a:pPr lvl="0" indent="0" marL="0">
                        <a:buNone/>
                      </a:pPr>
                      <a:r>
                        <a:rPr/>
                        <a:t>0</a:t>
                      </a:r>
                    </a:p>
                  </a:txBody>
                </a:tc>
                <a:tc>
                  <a:txBody>
                    <a:bodyPr/>
                    <a:lstStyle/>
                    <a:p>
                      <a:pPr lvl="0" indent="0" marL="0">
                        <a:buNone/>
                      </a:pPr>
                      <a:r>
                        <a:rPr/>
                        <a:t>0.1</a:t>
                      </a:r>
                    </a:p>
                  </a:txBody>
                </a:tc>
                <a:tc>
                  <a:txBody>
                    <a:bodyPr/>
                    <a:lstStyle/>
                    <a:p>
                      <a:pPr lvl="0" indent="0" marL="0">
                        <a:buNone/>
                      </a:pPr>
                      <a:r>
                        <a:rPr/>
                        <a:t>1 − 0.1 = 0.9</a:t>
                      </a:r>
                    </a:p>
                  </a:txBody>
                </a:tc>
                <a:tc>
                  <a:txBody>
                    <a:bodyPr/>
                    <a:lstStyle/>
                    <a:p>
                      <a:pPr lvl="0" indent="0" marL="0">
                        <a:buNone/>
                      </a:pPr>
                      <a:r>
                        <a:rPr/>
                        <a:t>0.6</a:t>
                      </a:r>
                    </a:p>
                  </a:txBody>
                </a:tc>
                <a:tc>
                  <a:txBody>
                    <a:bodyPr/>
                    <a:lstStyle/>
                    <a:p>
                      <a:pPr lvl="0" indent="0" marL="0">
                        <a:buNone/>
                      </a:pPr>
                      <a:r>
                        <a:rPr/>
                        <a:t>1 − 0.6 = 0.4</a:t>
                      </a:r>
                    </a:p>
                  </a:txBody>
                </a:tc>
              </a:tr>
              <a:tr h="0">
                <a:tc>
                  <a:txBody>
                    <a:bodyPr/>
                    <a:lstStyle/>
                    <a:p>
                      <a:pPr lvl="0" indent="0" marL="0">
                        <a:buNone/>
                      </a:pPr>
                      <a:r>
                        <a:rPr/>
                        <a:t>C</a:t>
                      </a:r>
                    </a:p>
                  </a:txBody>
                </a:tc>
                <a:tc>
                  <a:txBody>
                    <a:bodyPr/>
                    <a:lstStyle/>
                    <a:p>
                      <a:pPr lvl="0" indent="0" marL="0">
                        <a:buNone/>
                      </a:pPr>
                      <a:r>
                        <a:rPr/>
                        <a:t>0</a:t>
                      </a:r>
                    </a:p>
                  </a:txBody>
                </a:tc>
                <a:tc>
                  <a:txBody>
                    <a:bodyPr/>
                    <a:lstStyle/>
                    <a:p>
                      <a:pPr lvl="0" indent="0" marL="0">
                        <a:buNone/>
                      </a:pPr>
                      <a:r>
                        <a:rPr/>
                        <a:t>0.2</a:t>
                      </a:r>
                    </a:p>
                  </a:txBody>
                </a:tc>
                <a:tc>
                  <a:txBody>
                    <a:bodyPr/>
                    <a:lstStyle/>
                    <a:p>
                      <a:pPr lvl="0" indent="0" marL="0">
                        <a:buNone/>
                      </a:pPr>
                      <a:r>
                        <a:rPr/>
                        <a:t>1 − 0.2 = 0.8</a:t>
                      </a:r>
                    </a:p>
                  </a:txBody>
                </a:tc>
                <a:tc>
                  <a:txBody>
                    <a:bodyPr/>
                    <a:lstStyle/>
                    <a:p>
                      <a:pPr lvl="0" indent="0" marL="0">
                        <a:buNone/>
                      </a:pPr>
                      <a:r>
                        <a:rPr/>
                        <a:t>0.5</a:t>
                      </a:r>
                    </a:p>
                  </a:txBody>
                </a:tc>
                <a:tc>
                  <a:txBody>
                    <a:bodyPr/>
                    <a:lstStyle/>
                    <a:p>
                      <a:pPr lvl="0" indent="0" marL="0">
                        <a:buNone/>
                      </a:pPr>
                      <a:r>
                        <a:rPr/>
                        <a:t>1 − 0.5 = 0.5</a:t>
                      </a:r>
                    </a:p>
                  </a:txBody>
                </a:tc>
              </a:tr>
              <a:tr h="0">
                <a:tc>
                  <a:txBody>
                    <a:bodyPr/>
                    <a:lstStyle/>
                    <a:p>
                      <a:pPr lvl="0" indent="0" marL="0">
                        <a:buNone/>
                      </a:pPr>
                      <a:r>
                        <a:rPr/>
                        <a:t>Likelihood: the product</a:t>
                      </a:r>
                    </a:p>
                  </a:txBody>
                </a:tc>
                <a:tc>
                  <a:txBody>
                    <a:bodyPr/>
                    <a:lstStyle/>
                    <a:p>
                      <a:endParaRPr/>
                    </a:p>
                  </a:txBody>
                </a:tc>
                <a:tc>
                  <a:txBody>
                    <a:bodyPr/>
                    <a:lstStyle/>
                    <a:p>
                      <a:endParaRPr/>
                    </a:p>
                  </a:txBody>
                </a:tc>
                <a:tc>
                  <a:txBody>
                    <a:bodyPr/>
                    <a:lstStyle/>
                    <a:p>
                      <a:pPr lvl="0" indent="0" marL="0">
                        <a:buNone/>
                      </a:pPr>
                      <a:r>
                        <a:rPr/>
                        <a:t>0.8 × 0.9 × 0.8 = </a:t>
                      </a:r>
                      <a:r>
                        <a:rPr b="1"/>
                        <a:t>0.576</a:t>
                      </a:r>
                    </a:p>
                  </a:txBody>
                </a:tc>
                <a:tc>
                  <a:txBody>
                    <a:bodyPr/>
                    <a:lstStyle/>
                    <a:p>
                      <a:endParaRPr/>
                    </a:p>
                  </a:txBody>
                </a:tc>
                <a:tc>
                  <a:txBody>
                    <a:bodyPr/>
                    <a:lstStyle/>
                    <a:p>
                      <a:pPr lvl="0" indent="0" marL="0">
                        <a:buNone/>
                      </a:pPr>
                      <a:r>
                        <a:rPr/>
                        <a:t>0.3 × 0.4 × 0.5 = </a:t>
                      </a:r>
                      <a:r>
                        <a:rPr b="1"/>
                        <a:t>0.060</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4: minus the log, a cost</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Drive</a:t>
                      </a:r>
                    </a:p>
                  </a:txBody>
                  <a:tcPr/>
                </a:tc>
                <a:tc>
                  <a:txBody>
                    <a:bodyPr/>
                    <a:lstStyle/>
                    <a:p>
                      <a:pPr lvl="0" indent="0" marL="0">
                        <a:buNone/>
                      </a:pPr>
                      <a:r>
                        <a:rPr/>
                        <a:t>y</a:t>
                      </a:r>
                    </a:p>
                  </a:txBody>
                  <a:tcPr/>
                </a:tc>
                <a:tc>
                  <a:txBody>
                    <a:bodyPr/>
                    <a:lstStyle/>
                    <a:p>
                      <a:pPr lvl="0" indent="0" marL="0">
                        <a:buNone/>
                      </a:pPr>
                      <a:r>
                        <a:rPr/>
                        <a:t>Setting 1: −log of probability of what happened</a:t>
                      </a:r>
                    </a:p>
                  </a:txBody>
                  <a:tcPr/>
                </a:tc>
                <a:tc>
                  <a:txBody>
                    <a:bodyPr/>
                    <a:lstStyle/>
                    <a:p>
                      <a:pPr lvl="0" indent="0" marL="0">
                        <a:buNone/>
                      </a:pPr>
                      <a:r>
                        <a:rPr/>
                        <a:t>Setting 2: −log of probability of what happened</a:t>
                      </a:r>
                    </a:p>
                  </a:txBody>
                  <a:tcPr/>
                </a:tc>
              </a:tr>
              <a:tr h="0">
                <a:tc>
                  <a:txBody>
                    <a:bodyPr/>
                    <a:lstStyle/>
                    <a:p>
                      <a:pPr lvl="0" indent="0" marL="0">
                        <a:buNone/>
                      </a:pPr>
                      <a:r>
                        <a:rPr/>
                        <a:t>A</a:t>
                      </a:r>
                    </a:p>
                  </a:txBody>
                </a:tc>
                <a:tc>
                  <a:txBody>
                    <a:bodyPr/>
                    <a:lstStyle/>
                    <a:p>
                      <a:pPr lvl="0" indent="0" marL="0">
                        <a:buNone/>
                      </a:pPr>
                      <a:r>
                        <a:rPr/>
                        <a:t>1</a:t>
                      </a:r>
                    </a:p>
                  </a:txBody>
                </a:tc>
                <a:tc>
                  <a:txBody>
                    <a:bodyPr/>
                    <a:lstStyle/>
                    <a:p>
                      <a:pPr lvl="0" indent="0" marL="0">
                        <a:buNone/>
                      </a:pPr>
                      <a:r>
                        <a:rPr/>
                        <a:t>−log 0.8 = 0.22</a:t>
                      </a:r>
                    </a:p>
                  </a:txBody>
                </a:tc>
                <a:tc>
                  <a:txBody>
                    <a:bodyPr/>
                    <a:lstStyle/>
                    <a:p>
                      <a:pPr lvl="0" indent="0" marL="0">
                        <a:buNone/>
                      </a:pPr>
                      <a:r>
                        <a:rPr/>
                        <a:t>−log 0.3 = 1.20</a:t>
                      </a:r>
                    </a:p>
                  </a:txBody>
                </a:tc>
              </a:tr>
              <a:tr h="0">
                <a:tc>
                  <a:txBody>
                    <a:bodyPr/>
                    <a:lstStyle/>
                    <a:p>
                      <a:pPr lvl="0" indent="0" marL="0">
                        <a:buNone/>
                      </a:pPr>
                      <a:r>
                        <a:rPr/>
                        <a:t>B</a:t>
                      </a:r>
                    </a:p>
                  </a:txBody>
                </a:tc>
                <a:tc>
                  <a:txBody>
                    <a:bodyPr/>
                    <a:lstStyle/>
                    <a:p>
                      <a:pPr lvl="0" indent="0" marL="0">
                        <a:buNone/>
                      </a:pPr>
                      <a:r>
                        <a:rPr/>
                        <a:t>0</a:t>
                      </a:r>
                    </a:p>
                  </a:txBody>
                </a:tc>
                <a:tc>
                  <a:txBody>
                    <a:bodyPr/>
                    <a:lstStyle/>
                    <a:p>
                      <a:pPr lvl="0" indent="0" marL="0">
                        <a:buNone/>
                      </a:pPr>
                      <a:r>
                        <a:rPr/>
                        <a:t>−log 0.9 = 0.11</a:t>
                      </a:r>
                    </a:p>
                  </a:txBody>
                </a:tc>
                <a:tc>
                  <a:txBody>
                    <a:bodyPr/>
                    <a:lstStyle/>
                    <a:p>
                      <a:pPr lvl="0" indent="0" marL="0">
                        <a:buNone/>
                      </a:pPr>
                      <a:r>
                        <a:rPr/>
                        <a:t>−log 0.4 = 0.92</a:t>
                      </a:r>
                    </a:p>
                  </a:txBody>
                </a:tc>
              </a:tr>
              <a:tr h="0">
                <a:tc>
                  <a:txBody>
                    <a:bodyPr/>
                    <a:lstStyle/>
                    <a:p>
                      <a:pPr lvl="0" indent="0" marL="0">
                        <a:buNone/>
                      </a:pPr>
                      <a:r>
                        <a:rPr/>
                        <a:t>C</a:t>
                      </a:r>
                    </a:p>
                  </a:txBody>
                </a:tc>
                <a:tc>
                  <a:txBody>
                    <a:bodyPr/>
                    <a:lstStyle/>
                    <a:p>
                      <a:pPr lvl="0" indent="0" marL="0">
                        <a:buNone/>
                      </a:pPr>
                      <a:r>
                        <a:rPr/>
                        <a:t>0</a:t>
                      </a:r>
                    </a:p>
                  </a:txBody>
                </a:tc>
                <a:tc>
                  <a:txBody>
                    <a:bodyPr/>
                    <a:lstStyle/>
                    <a:p>
                      <a:pPr lvl="0" indent="0" marL="0">
                        <a:buNone/>
                      </a:pPr>
                      <a:r>
                        <a:rPr/>
                        <a:t>−log 0.8 = 0.22</a:t>
                      </a:r>
                    </a:p>
                  </a:txBody>
                </a:tc>
                <a:tc>
                  <a:txBody>
                    <a:bodyPr/>
                    <a:lstStyle/>
                    <a:p>
                      <a:pPr lvl="0" indent="0" marL="0">
                        <a:buNone/>
                      </a:pPr>
                      <a:r>
                        <a:rPr/>
                        <a:t>−log 0.5 = 0.69</a:t>
                      </a:r>
                    </a:p>
                  </a:txBody>
                </a:tc>
              </a:tr>
              <a:tr h="0">
                <a:tc>
                  <a:txBody>
                    <a:bodyPr/>
                    <a:lstStyle/>
                    <a:p>
                      <a:pPr lvl="0" indent="0" marL="0">
                        <a:buNone/>
                      </a:pPr>
                      <a:r>
                        <a:rPr/>
                        <a:t>Sum = −log of the likelihood</a:t>
                      </a:r>
                    </a:p>
                  </a:txBody>
                </a:tc>
                <a:tc>
                  <a:txBody>
                    <a:bodyPr/>
                    <a:lstStyle/>
                    <a:p>
                      <a:endParaRPr/>
                    </a:p>
                  </a:txBody>
                </a:tc>
                <a:tc>
                  <a:txBody>
                    <a:bodyPr/>
                    <a:lstStyle/>
                    <a:p>
                      <a:pPr lvl="0" indent="0" marL="0">
                        <a:buNone/>
                      </a:pPr>
                      <a:r>
                        <a:rPr/>
                        <a:t>0.22 + 0.11 + 0.22 = </a:t>
                      </a:r>
                      <a:r>
                        <a:rPr b="1"/>
                        <a:t>0.55</a:t>
                      </a:r>
                    </a:p>
                  </a:txBody>
                </a:tc>
                <a:tc>
                  <a:txBody>
                    <a:bodyPr/>
                    <a:lstStyle/>
                    <a:p>
                      <a:pPr lvl="0" indent="0" marL="0">
                        <a:buNone/>
                      </a:pPr>
                      <a:r>
                        <a:rPr/>
                        <a:t>1.20 + 0.92 + 0.69 = </a:t>
                      </a:r>
                      <a:r>
                        <a:rPr b="1"/>
                        <a:t>2.81</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Surprise: minus the log of a probability</a:t>
            </a:r>
          </a:p>
        </p:txBody>
      </p:sp>
      <p:pic>
        <p:nvPicPr>
          <p:cNvPr descr="surprise_curve.png" id="0" name="Picture 1"/>
          <p:cNvPicPr>
            <a:picLocks noGrp="1" noChangeAspect="1"/>
          </p:cNvPicPr>
          <p:nvPr/>
        </p:nvPicPr>
        <p:blipFill>
          <a:blip r:embed="rId3"/>
          <a:stretch>
            <a:fillRect/>
          </a:stretch>
        </p:blipFill>
        <p:spPr bwMode="auto">
          <a:xfrm>
            <a:off x="1148894" y="1166099"/>
            <a:ext cx="6846211" cy="3360181"/>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Cross-entropy, also called log loss</a:t>
            </a:r>
          </a:p>
        </p:txBody>
      </p:sp>
      <p:pic>
        <p:nvPicPr>
          <p:cNvPr descr="eq_9de37afc79.png" id="0" name="Picture 1"/>
          <p:cNvPicPr>
            <a:picLocks noGrp="1" noChangeAspect="1"/>
          </p:cNvPicPr>
          <p:nvPr/>
        </p:nvPicPr>
        <p:blipFill>
          <a:blip r:embed="rId3"/>
          <a:stretch>
            <a:fillRect/>
          </a:stretch>
        </p:blipFill>
        <p:spPr bwMode="auto">
          <a:xfrm>
            <a:off x="457200" y="2560439"/>
            <a:ext cx="8229600" cy="5715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Lesson 3’s gradient, ŷ = σ(wᵀx + b)</a:t>
            </a:r>
          </a:p>
        </p:txBody>
      </p:sp>
      <p:pic>
        <p:nvPicPr>
          <p:cNvPr descr="eq_65f9b62493.png" id="0" name="Picture 1"/>
          <p:cNvPicPr>
            <a:picLocks noGrp="1" noChangeAspect="1"/>
          </p:cNvPicPr>
          <p:nvPr/>
        </p:nvPicPr>
        <p:blipFill>
          <a:blip r:embed="rId3"/>
          <a:stretch>
            <a:fillRect/>
          </a:stretch>
        </p:blipFill>
        <p:spPr bwMode="auto">
          <a:xfrm>
            <a:off x="631768" y="1861131"/>
            <a:ext cx="7880464" cy="1970116"/>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So why not squared error?</a:t>
            </a:r>
          </a:p>
        </p:txBody>
      </p:sp>
      <p:pic>
        <p:nvPicPr>
          <p:cNvPr descr="loss_comparison.png" id="0" name="Picture 1"/>
          <p:cNvPicPr>
            <a:picLocks noGrp="1" noChangeAspect="1"/>
          </p:cNvPicPr>
          <p:nvPr/>
        </p:nvPicPr>
        <p:blipFill>
          <a:blip r:embed="rId3"/>
          <a:stretch>
            <a:fillRect/>
          </a:stretch>
        </p:blipFill>
        <p:spPr bwMode="auto">
          <a:xfrm>
            <a:off x="457200" y="1379339"/>
            <a:ext cx="8229600" cy="29337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And it is convex, which squared error is not</a:t>
            </a:r>
          </a:p>
        </p:txBody>
      </p:sp>
      <p:sp>
        <p:nvSpPr>
          <p:cNvPr id="3" name="Content Placeholder 2"/>
          <p:cNvSpPr>
            <a:spLocks noGrp="1"/>
          </p:cNvSpPr>
          <p:nvPr>
            <p:ph idx="1"/>
          </p:nvPr>
        </p:nvSpPr>
        <p:spPr>
          <a:xfrm>
            <a:off x="457200" y="1200151"/>
            <a:ext cx="8229600" cy="3394472"/>
          </a:xfrm>
        </p:spPr>
        <p:txBody>
          <a:bodyPr/>
          <a:lstStyle/>
          <a:p>
            <a:pPr lvl="0"/>
            <a:r>
              <a:rPr/>
              <a:t>Log loss is </a:t>
            </a:r>
            <a:r>
              <a:rPr b="1"/>
              <a:t>convex</a:t>
            </a:r>
            <a:r>
              <a:rPr/>
              <a:t> in the weights, so any local minimum is global</a:t>
            </a:r>
          </a:p>
          <a:p>
            <a:pPr lvl="0"/>
            <a:r>
              <a:rPr/>
              <a:t>Squared error through a sigmoid is not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a line on a 0/1 label, 7</a:t>
                      </a:r>
                    </a:p>
                  </a:txBody>
                </a:tc>
                <a:tc>
                  <a:txBody>
                    <a:bodyPr/>
                    <a:lstStyle/>
                    <a:p>
                      <a:pPr lvl="0" indent="0" marL="0">
                        <a:buNone/>
                      </a:pPr>
                      <a:r>
                        <a:rPr>
                          <a:latin typeface="Courier"/>
                        </a:rPr>
                        <a:t>LinearRegression</a:t>
                      </a:r>
                      <a:r>
                        <a:rPr/>
                        <a:t> → 3,606 negative probabilities</a:t>
                      </a:r>
                    </a:p>
                  </a:txBody>
                </a:tc>
              </a:tr>
              <a:tr h="0">
                <a:tc>
                  <a:txBody>
                    <a:bodyPr/>
                    <a:lstStyle/>
                    <a:p>
                      <a:pPr lvl="0" indent="0" marL="0">
                        <a:buNone/>
                      </a:pPr>
                      <a:r>
                        <a:rPr/>
                        <a:t>odds, and why not squared error, 8-26</a:t>
                      </a:r>
                    </a:p>
                  </a:txBody>
                </a:tc>
                <a:tc>
                  <a:txBody>
                    <a:bodyPr/>
                    <a:lstStyle/>
                    <a:p>
                      <a:pPr lvl="0" indent="0" marL="0">
                        <a:buNone/>
                      </a:pPr>
                      <a:r>
                        <a:rPr/>
                        <a:t>NumPy only: the sigmoid, the two losses, their gradients</a:t>
                      </a:r>
                    </a:p>
                  </a:txBody>
                </a:tc>
              </a:tr>
              <a:tr h="0">
                <a:tc>
                  <a:txBody>
                    <a:bodyPr/>
                    <a:lstStyle/>
                    <a:p>
                      <a:pPr lvl="0" indent="0" marL="0">
                        <a:buNone/>
                      </a:pPr>
                      <a:r>
                        <a:rPr/>
                        <a:t>gradient descent, 24</a:t>
                      </a:r>
                    </a:p>
                  </a:txBody>
                </a:tc>
                <a:tc>
                  <a:txBody>
                    <a:bodyPr/>
                    <a:lstStyle/>
                    <a:p>
                      <a:pPr lvl="0" indent="0" marL="0">
                        <a:buNone/>
                      </a:pPr>
                      <a:r>
                        <a:rPr>
                          <a:latin typeface="Courier"/>
                        </a:rPr>
                        <a:t>train_test_split</a:t>
                      </a:r>
                      <a:r>
                        <a:rPr/>
                        <a:t>, </a:t>
                      </a:r>
                      <a:r>
                        <a:rPr>
                          <a:latin typeface="Courier"/>
                        </a:rPr>
                        <a:t>StandardScaler</a:t>
                      </a:r>
                      <a:r>
                        <a:rPr/>
                        <a:t>, fifteen lines of NumPy → log loss 0.6931 to 0.0692</a:t>
                      </a:r>
                    </a:p>
                  </a:txBody>
                </a:tc>
              </a:tr>
              <a:tr h="0">
                <a:tc>
                  <a:txBody>
                    <a:bodyPr/>
                    <a:lstStyle/>
                    <a:p>
                      <a:pPr lvl="0" indent="0" marL="0">
                        <a:buNone/>
                      </a:pPr>
                      <a:r>
                        <a:rPr/>
                        <a:t>the decision boundary, 28</a:t>
                      </a:r>
                    </a:p>
                  </a:txBody>
                </a:tc>
                <a:tc>
                  <a:txBody>
                    <a:bodyPr/>
                    <a:lstStyle/>
                    <a:p>
                      <a:pPr lvl="0" indent="0" marL="0">
                        <a:buNone/>
                      </a:pPr>
                      <a:r>
                        <a:rPr>
                          <a:latin typeface="Courier"/>
                        </a:rPr>
                        <a:t>make_pipeline(StandardScaler(), LogisticRegression())</a:t>
                      </a:r>
                      <a:r>
                        <a:rPr/>
                        <a:t> on two features</a:t>
                      </a:r>
                    </a:p>
                  </a:txBody>
                </a:tc>
              </a:tr>
              <a:tr h="0">
                <a:tc>
                  <a:txBody>
                    <a:bodyPr/>
                    <a:lstStyle/>
                    <a:p>
                      <a:pPr lvl="0" indent="0" marL="0">
                        <a:buNone/>
                      </a:pPr>
                      <a:r>
                        <a:rPr/>
                        <a:t>the truth, recovered, 14-15</a:t>
                      </a:r>
                    </a:p>
                  </a:txBody>
                </a:tc>
                <a:tc>
                  <a:txBody>
                    <a:bodyPr/>
                    <a:lstStyle/>
                    <a:p>
                      <a:pPr lvl="0" indent="0" marL="0">
                        <a:buNone/>
                      </a:pPr>
                      <a:r>
                        <a:rPr>
                          <a:latin typeface="Courier"/>
                        </a:rPr>
                        <a:t>LogisticRegression</a:t>
                      </a:r>
                      <a:r>
                        <a:rPr/>
                        <a:t>, </a:t>
                      </a:r>
                      <a:r>
                        <a:rPr>
                          <a:latin typeface="Courier"/>
                        </a:rPr>
                        <a:t>.coef_</a:t>
                      </a:r>
                      <a:r>
                        <a:rPr/>
                        <a:t>, </a:t>
                      </a:r>
                      <a:r>
                        <a:rPr>
                          <a:latin typeface="Courier"/>
                        </a:rPr>
                        <a:t>.intercept_</a:t>
                      </a:r>
                      <a:r>
                        <a:rPr/>
                        <a:t> → seek_error_rate 0.02, intercept −6.09</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decision boundary</a:t>
            </a:r>
          </a:p>
        </p:txBody>
      </p:sp>
      <p:pic>
        <p:nvPicPr>
          <p:cNvPr descr="decision_boundary.png" id="0" name="Picture 1"/>
          <p:cNvPicPr>
            <a:picLocks noGrp="1" noChangeAspect="1"/>
          </p:cNvPicPr>
          <p:nvPr/>
        </p:nvPicPr>
        <p:blipFill>
          <a:blip r:embed="rId3"/>
          <a:stretch>
            <a:fillRect/>
          </a:stretch>
        </p:blipFill>
        <p:spPr bwMode="auto">
          <a:xfrm>
            <a:off x="1834774" y="1166099"/>
            <a:ext cx="5474452" cy="3360181"/>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Ten minutes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models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 on the 2,000 test drives (76 fail)</a:t>
                      </a:r>
                    </a:p>
                  </a:txBody>
                  <a:tcPr/>
                </a:tc>
                <a:tc>
                  <a:txBody>
                    <a:bodyPr/>
                    <a:lstStyle/>
                    <a:p>
                      <a:pPr lvl="0" indent="0" marL="0">
                        <a:buNone/>
                      </a:pPr>
                      <a:r>
                        <a:rPr/>
                        <a:t>Accuracy = right ÷ 2,000</a:t>
                      </a:r>
                    </a:p>
                  </a:txBody>
                  <a:tcPr/>
                </a:tc>
                <a:tc>
                  <a:txBody>
                    <a:bodyPr/>
                    <a:lstStyle/>
                    <a:p>
                      <a:pPr lvl="0" indent="0" marL="0">
                        <a:buNone/>
                      </a:pPr>
                      <a:r>
                        <a:rPr/>
                        <a:t>Failures caught</a:t>
                      </a:r>
                    </a:p>
                  </a:txBody>
                  <a:tcPr/>
                </a:tc>
              </a:tr>
              <a:tr h="0">
                <a:tc>
                  <a:txBody>
                    <a:bodyPr/>
                    <a:lstStyle/>
                    <a:p>
                      <a:pPr lvl="0" indent="0" marL="0">
                        <a:buNone/>
                      </a:pPr>
                      <a:r>
                        <a:rPr/>
                        <a:t>Predict “healthy” for everything</a:t>
                      </a:r>
                    </a:p>
                  </a:txBody>
                </a:tc>
                <a:tc>
                  <a:txBody>
                    <a:bodyPr/>
                    <a:lstStyle/>
                    <a:p>
                      <a:pPr lvl="0" indent="0" marL="0">
                        <a:buNone/>
                      </a:pPr>
                      <a:r>
                        <a:rPr/>
                        <a:t>every healthy drive: 1,924 ÷ 2,000 = </a:t>
                      </a:r>
                      <a:r>
                        <a:rPr b="1"/>
                        <a:t>96.20%</a:t>
                      </a:r>
                    </a:p>
                  </a:txBody>
                </a:tc>
                <a:tc>
                  <a:txBody>
                    <a:bodyPr/>
                    <a:lstStyle/>
                    <a:p>
                      <a:pPr lvl="0" indent="0" marL="0">
                        <a:buNone/>
                      </a:pPr>
                      <a:r>
                        <a:rPr b="1"/>
                        <a:t>0 of 76</a:t>
                      </a:r>
                    </a:p>
                  </a:txBody>
                </a:tc>
              </a:tr>
              <a:tr h="0">
                <a:tc>
                  <a:txBody>
                    <a:bodyPr/>
                    <a:lstStyle/>
                    <a:p>
                      <a:pPr lvl="0" indent="0" marL="0">
                        <a:buNone/>
                      </a:pPr>
                      <a:r>
                        <a:rPr/>
                        <a:t>Logistic regression, threshold 0.5</a:t>
                      </a:r>
                    </a:p>
                  </a:txBody>
                </a:tc>
                <a:tc>
                  <a:txBody>
                    <a:bodyPr/>
                    <a:lstStyle/>
                    <a:p>
                      <a:pPr lvl="0" indent="0" marL="0">
                        <a:buNone/>
                      </a:pPr>
                      <a:r>
                        <a:rPr/>
                        <a:t>43 failures + 1,911 healthy: 1,954 ÷ 2,000 = 97.70%</a:t>
                      </a:r>
                    </a:p>
                  </a:txBody>
                </a:tc>
                <a:tc>
                  <a:txBody>
                    <a:bodyPr/>
                    <a:lstStyle/>
                    <a:p>
                      <a:pPr lvl="0" indent="0" marL="0">
                        <a:buNone/>
                      </a:pPr>
                      <a:r>
                        <a:rPr/>
                        <a:t>43 of 76</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everyone makes this mistake once</a:t>
            </a:r>
          </a:p>
        </p:txBody>
      </p:sp>
      <p:sp>
        <p:nvSpPr>
          <p:cNvPr id="3" name="Content Placeholder 2"/>
          <p:cNvSpPr>
            <a:spLocks noGrp="1"/>
          </p:cNvSpPr>
          <p:nvPr>
            <p:ph idx="1"/>
          </p:nvPr>
        </p:nvSpPr>
        <p:spPr>
          <a:xfrm>
            <a:off x="457200" y="1200151"/>
            <a:ext cx="8229600" cy="3394472"/>
          </a:xfrm>
        </p:spPr>
        <p:txBody>
          <a:bodyPr/>
          <a:lstStyle/>
          <a:p>
            <a:pPr lvl="0"/>
            <a:r>
              <a:rPr/>
              <a:t>Accuracy is the fraction of predictions that were right</a:t>
            </a:r>
          </a:p>
          <a:p>
            <a:pPr lvl="0"/>
            <a:r>
              <a:rPr/>
              <a:t>On a </a:t>
            </a:r>
            <a:r>
              <a:rPr b="1"/>
              <a:t>balanced</a:t>
            </a:r>
            <a:r>
              <a:rPr/>
              <a:t> problem that is exactly what you want</a:t>
            </a:r>
          </a:p>
          <a:p>
            <a:pPr lvl="0"/>
            <a:r>
              <a:rPr/>
              <a:t>The interesting class is almost always the </a:t>
            </a:r>
            <a:r>
              <a:rPr b="1"/>
              <a:t>rare</a:t>
            </a:r>
            <a:r>
              <a:rPr/>
              <a:t> one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numbers instead of one</a:t>
            </a:r>
          </a:p>
        </p:txBody>
      </p:sp>
      <p:pic>
        <p:nvPicPr>
          <p:cNvPr descr="confusion_matrix.png" id="0" name="Picture 1"/>
          <p:cNvPicPr>
            <a:picLocks noGrp="1" noChangeAspect="1"/>
          </p:cNvPicPr>
          <p:nvPr/>
        </p:nvPicPr>
        <p:blipFill>
          <a:blip r:embed="rId3"/>
          <a:stretch>
            <a:fillRect/>
          </a:stretch>
        </p:blipFill>
        <p:spPr bwMode="auto">
          <a:xfrm>
            <a:off x="658081" y="1166099"/>
            <a:ext cx="7827837" cy="3360181"/>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four outcomes, and what they cost</a:t>
            </a:r>
          </a:p>
        </p:txBody>
      </p:sp>
      <p:sp>
        <p:nvSpPr>
          <p:cNvPr id="3" name="Content Placeholder 2"/>
          <p:cNvSpPr>
            <a:spLocks noGrp="1"/>
          </p:cNvSpPr>
          <p:nvPr>
            <p:ph idx="1"/>
          </p:nvPr>
        </p:nvSpPr>
        <p:spPr>
          <a:xfrm>
            <a:off x="457200" y="1200151"/>
            <a:ext cx="8229600" cy="3394472"/>
          </a:xfrm>
        </p:spPr>
        <p:txBody>
          <a:bodyPr/>
          <a:lstStyle/>
          <a:p>
            <a:pPr lvl="0"/>
            <a:r>
              <a:rPr b="1"/>
              <a:t>False positive</a:t>
            </a:r>
            <a:r>
              <a:rPr/>
              <a:t>: we replace a healthy drive. A technician’s hour, €140</a:t>
            </a:r>
          </a:p>
          <a:p>
            <a:pPr lvl="0"/>
            <a:r>
              <a:rPr b="1"/>
              <a:t>False negative</a:t>
            </a:r>
            <a:r>
              <a:rPr/>
              <a:t>: a drive dies in service. Callout, rebuild, risk, €2,600</a:t>
            </a:r>
          </a:p>
          <a:p>
            <a:pPr lvl="0"/>
            <a:r>
              <a:rPr/>
              <a:t>Both costs are assumptions supplied from outside the data, not measured</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Precision and recall: look at the denominator</a:t>
            </a:r>
          </a:p>
        </p:txBody>
      </p:sp>
      <p:pic>
        <p:nvPicPr>
          <p:cNvPr descr="metric_denominators.png" id="0" name="Picture 1"/>
          <p:cNvPicPr>
            <a:picLocks noGrp="1" noChangeAspect="1"/>
          </p:cNvPicPr>
          <p:nvPr/>
        </p:nvPicPr>
        <p:blipFill>
          <a:blip r:embed="rId3"/>
          <a:stretch>
            <a:fillRect/>
          </a:stretch>
        </p:blipFill>
        <p:spPr bwMode="auto">
          <a:xfrm>
            <a:off x="457200" y="1207889"/>
            <a:ext cx="8229600" cy="32766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Our model, in those terms</a:t>
            </a:r>
          </a:p>
        </p:txBody>
      </p:sp>
      <p:sp>
        <p:nvSpPr>
          <p:cNvPr id="3" name="Content Placeholder 2"/>
          <p:cNvSpPr>
            <a:spLocks noGrp="1"/>
          </p:cNvSpPr>
          <p:nvPr>
            <p:ph idx="1"/>
          </p:nvPr>
        </p:nvSpPr>
        <p:spPr>
          <a:xfrm>
            <a:off x="457200" y="1200151"/>
            <a:ext cx="8229600" cy="3394472"/>
          </a:xfrm>
        </p:spPr>
        <p:txBody>
          <a:bodyPr/>
          <a:lstStyle/>
          <a:p>
            <a:pPr lvl="0"/>
            <a:r>
              <a:rPr/>
              <a:t>True and false positives and negatives: TP, FP, FN, TN</a:t>
            </a:r>
          </a:p>
          <a:p>
            <a:pPr lvl="0"/>
            <a:r>
              <a:rPr/>
              <a:t>Precision = TP ÷ (TP + FP) = 43 ÷ (43 + 13) = </a:t>
            </a:r>
            <a:r>
              <a:rPr b="1"/>
              <a:t>0.768</a:t>
            </a:r>
            <a:r>
              <a:rPr/>
              <a:t>: of the drives flagged</a:t>
            </a:r>
          </a:p>
          <a:p>
            <a:pPr lvl="0"/>
            <a:r>
              <a:rPr/>
              <a:t>Recall = TP ÷ (TP + FN) = 43 ÷ (43 + 33) = </a:t>
            </a:r>
            <a:r>
              <a:rPr b="1"/>
              <a:t>0.566</a:t>
            </a:r>
            <a:r>
              <a:rPr/>
              <a:t>: of the drives that failed</a:t>
            </a:r>
          </a:p>
          <a:p>
            <a:pPr lvl="0"/>
            <a:r>
              <a:rPr/>
              <a:t>Specificity = TN ÷ (TN + FP) = 1,911 ÷ (1,911 + 13) = 0.993</a:t>
            </a:r>
          </a:p>
          <a:p>
            <a:pPr lvl="0"/>
            <a:r>
              <a:rPr/>
              <a:t>In code: </a:t>
            </a:r>
            <a:r>
              <a:rPr>
                <a:latin typeface="Courier"/>
              </a:rPr>
              <a:t>precision_score</a:t>
            </a:r>
            <a:r>
              <a:rPr/>
              <a:t>, </a:t>
            </a:r>
            <a:r>
              <a:rPr>
                <a:latin typeface="Courier"/>
              </a:rPr>
              <a:t>recall_score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F1: why the harmonic mean</a:t>
            </a:r>
          </a:p>
        </p:txBody>
      </p:sp>
      <p:pic>
        <p:nvPicPr>
          <p:cNvPr descr="harmonic_vs_arithmetic.png" id="0" name="Picture 1"/>
          <p:cNvPicPr>
            <a:picLocks noGrp="1" noChangeAspect="1"/>
          </p:cNvPicPr>
          <p:nvPr/>
        </p:nvPicPr>
        <p:blipFill>
          <a:blip r:embed="rId3"/>
          <a:stretch>
            <a:fillRect/>
          </a:stretch>
        </p:blipFill>
        <p:spPr bwMode="auto">
          <a:xfrm>
            <a:off x="1148894" y="1166099"/>
            <a:ext cx="6846211" cy="3360181"/>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Read the minority class, not the average</a:t>
            </a:r>
          </a:p>
        </p:txBody>
      </p:sp>
      <p:sp>
        <p:nvSpPr>
          <p:cNvPr id="3" name="Content Placeholder 2"/>
          <p:cNvSpPr>
            <a:spLocks noGrp="1"/>
          </p:cNvSpPr>
          <p:nvPr>
            <p:ph idx="1"/>
          </p:nvPr>
        </p:nvSpPr>
        <p:spPr>
          <a:xfrm>
            <a:off x="457200" y="1200151"/>
            <a:ext cx="8229600" cy="3394472"/>
          </a:xfrm>
        </p:spPr>
        <p:txBody>
          <a:bodyPr/>
          <a:lstStyle/>
          <a:p>
            <a:pPr lvl="0"/>
            <a:r>
              <a:rPr/>
              <a:t>F1 per class: healthy 0.988 (1,924 drives), failed 0.652 (76 drives)</a:t>
            </a:r>
          </a:p>
          <a:p>
            <a:pPr lvl="0"/>
            <a:r>
              <a:rPr>
                <a:latin typeface="Courier"/>
              </a:rPr>
              <a:t>macro avg</a:t>
            </a:r>
            <a:r>
              <a:rPr/>
              <a:t> F1 = (0.988 + 0.652) ÷ 2 = </a:t>
            </a:r>
            <a:r>
              <a:rPr b="1"/>
              <a:t>0.820</a:t>
            </a:r>
            <a:r>
              <a:rPr/>
              <a:t>: both classes count the same</a:t>
            </a:r>
          </a:p>
          <a:p>
            <a:pPr lvl="0"/>
            <a:r>
              <a:rPr>
                <a:latin typeface="Courier"/>
              </a:rPr>
              <a:t>weighted avg</a:t>
            </a:r>
            <a:r>
              <a:rPr/>
              <a:t> F1 = (1,924 × 0.988 + 76 × 0.652) ÷ 2,000 = </a:t>
            </a:r>
            <a:r>
              <a:rPr b="1"/>
              <a:t>0.975</a:t>
            </a:r>
            <a:r>
              <a:rPr/>
              <a:t>: the healthy class dominates</a:t>
            </a:r>
          </a:p>
          <a:p>
            <a:pPr lvl="0"/>
            <a:r>
              <a:rPr/>
              <a:t>In code: </a:t>
            </a:r>
            <a:r>
              <a:rPr>
                <a:latin typeface="Courier"/>
              </a:rPr>
              <a:t>classification_report(y_test, y_pred)</a:t>
            </a:r>
            <a:r>
              <a:rPr/>
              <a:t> prints both rows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number that should worry you, 30</a:t>
                      </a:r>
                    </a:p>
                  </a:txBody>
                </a:tc>
                <a:tc>
                  <a:txBody>
                    <a:bodyPr/>
                    <a:lstStyle/>
                    <a:p>
                      <a:pPr lvl="0" indent="0" marL="0">
                        <a:buNone/>
                      </a:pPr>
                      <a:r>
                        <a:rPr>
                          <a:latin typeface="Courier"/>
                        </a:rPr>
                        <a:t>accuracy_score</a:t>
                      </a:r>
                      <a:r>
                        <a:rPr/>
                        <a:t> → 96.20% for “always healthy”</a:t>
                      </a:r>
                    </a:p>
                  </a:txBody>
                </a:tc>
              </a:tr>
              <a:tr h="0">
                <a:tc>
                  <a:txBody>
                    <a:bodyPr/>
                    <a:lstStyle/>
                    <a:p>
                      <a:pPr lvl="0" indent="0" marL="0">
                        <a:buNone/>
                      </a:pPr>
                      <a:r>
                        <a:rPr/>
                        <a:t>the confusion matrix, 32</a:t>
                      </a:r>
                    </a:p>
                  </a:txBody>
                </a:tc>
                <a:tc>
                  <a:txBody>
                    <a:bodyPr/>
                    <a:lstStyle/>
                    <a:p>
                      <a:pPr lvl="0" indent="0" marL="0">
                        <a:buNone/>
                      </a:pPr>
                      <a:r>
                        <a:rPr/>
                        <a:t>counts by hand, then </a:t>
                      </a:r>
                      <a:r>
                        <a:rPr>
                          <a:latin typeface="Courier"/>
                        </a:rPr>
                        <a:t>confusion_matrix</a:t>
                      </a:r>
                      <a:r>
                        <a:rPr/>
                        <a:t>, </a:t>
                      </a:r>
                      <a:r>
                        <a:rPr>
                          <a:latin typeface="Courier"/>
                        </a:rPr>
                        <a:t>ConfusionMatrixDisplay</a:t>
                      </a:r>
                      <a:r>
                        <a:rPr/>
                        <a:t> → TP 43</a:t>
                      </a:r>
                    </a:p>
                  </a:txBody>
                </a:tc>
              </a:tr>
              <a:tr h="0">
                <a:tc>
                  <a:txBody>
                    <a:bodyPr/>
                    <a:lstStyle/>
                    <a:p>
                      <a:pPr lvl="0" indent="0" marL="0">
                        <a:buNone/>
                      </a:pPr>
                      <a:r>
                        <a:rPr/>
                        <a:t>precision and recall, 34-37</a:t>
                      </a:r>
                    </a:p>
                  </a:txBody>
                </a:tc>
                <a:tc>
                  <a:txBody>
                    <a:bodyPr/>
                    <a:lstStyle/>
                    <a:p>
                      <a:pPr lvl="0" indent="0" marL="0">
                        <a:buNone/>
                      </a:pPr>
                      <a:r>
                        <a:rPr>
                          <a:latin typeface="Courier"/>
                        </a:rPr>
                        <a:t>precision_score</a:t>
                      </a:r>
                      <a:r>
                        <a:rPr/>
                        <a:t>, </a:t>
                      </a:r>
                      <a:r>
                        <a:rPr>
                          <a:latin typeface="Courier"/>
                        </a:rPr>
                        <a:t>recall_score</a:t>
                      </a:r>
                      <a:r>
                        <a:rPr/>
                        <a:t>, </a:t>
                      </a:r>
                      <a:r>
                        <a:rPr>
                          <a:latin typeface="Courier"/>
                        </a:rPr>
                        <a:t>f1_score</a:t>
                      </a:r>
                      <a:r>
                        <a:rPr/>
                        <a:t>, </a:t>
                      </a:r>
                      <a:r>
                        <a:rPr>
                          <a:latin typeface="Courier"/>
                        </a:rPr>
                        <a:t>classification_report</a:t>
                      </a:r>
                    </a:p>
                  </a:txBody>
                </a:tc>
              </a:tr>
              <a:tr h="0">
                <a:tc>
                  <a:txBody>
                    <a:bodyPr/>
                    <a:lstStyle/>
                    <a:p>
                      <a:pPr lvl="0" indent="0" marL="0">
                        <a:buNone/>
                      </a:pPr>
                      <a:r>
                        <a:rPr/>
                        <a:t>the threshold sweep, 39-40</a:t>
                      </a:r>
                    </a:p>
                  </a:txBody>
                </a:tc>
                <a:tc>
                  <a:txBody>
                    <a:bodyPr/>
                    <a:lstStyle/>
                    <a:p>
                      <a:pPr lvl="0" indent="0" marL="0">
                        <a:buNone/>
                      </a:pPr>
                      <a:r>
                        <a:rPr>
                          <a:latin typeface="Courier"/>
                        </a:rPr>
                        <a:t>predict_proba</a:t>
                      </a:r>
                      <a:r>
                        <a:rPr/>
                        <a:t>, then the metrics at each threshold</a:t>
                      </a:r>
                    </a:p>
                  </a:txBody>
                </a:tc>
              </a:tr>
              <a:tr h="0">
                <a:tc>
                  <a:txBody>
                    <a:bodyPr/>
                    <a:lstStyle/>
                    <a:p>
                      <a:pPr lvl="0" indent="0" marL="0">
                        <a:buNone/>
                      </a:pPr>
                      <a:r>
                        <a:rPr/>
                        <a:t>the precision-recall curve, 41</a:t>
                      </a:r>
                    </a:p>
                  </a:txBody>
                </a:tc>
                <a:tc>
                  <a:txBody>
                    <a:bodyPr/>
                    <a:lstStyle/>
                    <a:p>
                      <a:pPr lvl="0" indent="0" marL="0">
                        <a:buNone/>
                      </a:pPr>
                      <a:r>
                        <a:rPr>
                          <a:latin typeface="Courier"/>
                        </a:rPr>
                        <a:t>precision_recall_curve</a:t>
                      </a:r>
                      <a:r>
                        <a:rPr/>
                        <a:t>, </a:t>
                      </a:r>
                      <a:r>
                        <a:rPr>
                          <a:latin typeface="Courier"/>
                        </a:rPr>
                        <a:t>average_precision_score</a:t>
                      </a:r>
                      <a:r>
                        <a:rPr/>
                        <a:t> → 0.717 against 0.038</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threshold is a choice nobody made</a:t>
            </a:r>
          </a:p>
        </p:txBody>
      </p:sp>
      <p:pic>
        <p:nvPicPr>
          <p:cNvPr descr="threshold_sweep.png" id="0" name="Picture 1"/>
          <p:cNvPicPr>
            <a:picLocks noGrp="1" noChangeAspect="1"/>
          </p:cNvPicPr>
          <p:nvPr/>
        </p:nvPicPr>
        <p:blipFill>
          <a:blip r:embed="rId3"/>
          <a:stretch>
            <a:fillRect/>
          </a:stretch>
        </p:blipFill>
        <p:spPr bwMode="auto">
          <a:xfrm>
            <a:off x="1476103" y="1166099"/>
            <a:ext cx="6191794" cy="3360181"/>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sweep actually costs</a:t>
            </a:r>
          </a:p>
        </p:txBody>
      </p:sp>
      <p:pic>
        <p:nvPicPr>
          <p:cNvPr descr="sweep_outcomes.png" id="0" name="Picture 1"/>
          <p:cNvPicPr>
            <a:picLocks noGrp="1" noChangeAspect="1"/>
          </p:cNvPicPr>
          <p:nvPr/>
        </p:nvPicPr>
        <p:blipFill>
          <a:blip r:embed="rId3"/>
          <a:stretch>
            <a:fillRect/>
          </a:stretch>
        </p:blipFill>
        <p:spPr bwMode="auto">
          <a:xfrm>
            <a:off x="1023045" y="1166099"/>
            <a:ext cx="7097910" cy="3360181"/>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precision-recall curve</a:t>
            </a:r>
          </a:p>
        </p:txBody>
      </p:sp>
      <p:pic>
        <p:nvPicPr>
          <p:cNvPr descr="precision_recall_curve.png" id="0" name="Picture 1"/>
          <p:cNvPicPr>
            <a:picLocks noGrp="1" noChangeAspect="1"/>
          </p:cNvPicPr>
          <p:nvPr/>
        </p:nvPicPr>
        <p:blipFill>
          <a:blip r:embed="rId3"/>
          <a:stretch>
            <a:fillRect/>
          </a:stretch>
        </p:blipFill>
        <p:spPr bwMode="auto">
          <a:xfrm>
            <a:off x="1916576" y="1166099"/>
            <a:ext cx="5310847" cy="3360181"/>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Comparing models without choosing a threshold</a:t>
            </a:r>
          </a:p>
        </p:txBody>
      </p:sp>
      <p:sp>
        <p:nvSpPr>
          <p:cNvPr id="3" name="Content Placeholder 2"/>
          <p:cNvSpPr>
            <a:spLocks noGrp="1"/>
          </p:cNvSpPr>
          <p:nvPr>
            <p:ph idx="1"/>
          </p:nvPr>
        </p:nvSpPr>
        <p:spPr>
          <a:xfrm>
            <a:off x="457200" y="1200151"/>
            <a:ext cx="8229600" cy="3394472"/>
          </a:xfrm>
        </p:spPr>
        <p:txBody>
          <a:bodyPr/>
          <a:lstStyle/>
          <a:p>
            <a:pPr lvl="0"/>
            <a:r>
              <a:rPr/>
              <a:t>We keep evaluating at one threshold, but which?</a:t>
            </a:r>
          </a:p>
          <a:p>
            <a:pPr lvl="0"/>
            <a:r>
              <a:rPr/>
              <a:t>What if we score the whole </a:t>
            </a:r>
            <a:r>
              <a:rPr b="1"/>
              <a:t>ranking</a:t>
            </a:r>
            <a:r>
              <a:rPr/>
              <a:t> instead?</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ROC curve</a:t>
            </a:r>
          </a:p>
        </p:txBody>
      </p:sp>
      <p:pic>
        <p:nvPicPr>
          <p:cNvPr descr="roc_curve.png" id="0" name="Picture 1"/>
          <p:cNvPicPr>
            <a:picLocks noGrp="1" noChangeAspect="1"/>
          </p:cNvPicPr>
          <p:nvPr/>
        </p:nvPicPr>
        <p:blipFill>
          <a:blip r:embed="rId3"/>
          <a:stretch>
            <a:fillRect/>
          </a:stretch>
        </p:blipFill>
        <p:spPr bwMode="auto">
          <a:xfrm>
            <a:off x="2646503" y="1166099"/>
            <a:ext cx="3850993" cy="3360181"/>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area means</a:t>
            </a:r>
          </a:p>
        </p:txBody>
      </p:sp>
      <p:sp>
        <p:nvSpPr>
          <p:cNvPr id="3" name="Content Placeholder 2"/>
          <p:cNvSpPr>
            <a:spLocks noGrp="1"/>
          </p:cNvSpPr>
          <p:nvPr>
            <p:ph idx="1"/>
          </p:nvPr>
        </p:nvSpPr>
        <p:spPr>
          <a:xfrm>
            <a:off x="457200" y="1200151"/>
            <a:ext cx="8229600" cy="3394472"/>
          </a:xfrm>
        </p:spPr>
        <p:txBody>
          <a:bodyPr/>
          <a:lstStyle/>
          <a:p>
            <a:pPr lvl="0"/>
            <a:r>
              <a:rPr b="1"/>
              <a:t>Area under the curve (AUC) = the probability that a random failing drive scores above a random healthy one</a:t>
            </a:r>
          </a:p>
          <a:p>
            <a:pPr lvl="0"/>
            <a:r>
              <a:rPr/>
              <a:t>Ours: 0.949 (</a:t>
            </a:r>
            <a:r>
              <a:rPr>
                <a:latin typeface="Courier"/>
              </a:rPr>
              <a:t>roc_auc_score</a:t>
            </a:r>
            <a:r>
              <a:rPr/>
              <a:t>, notebook 3)</a:t>
            </a:r>
          </a:p>
          <a:p>
            <a:pPr lvl="0"/>
            <a:r>
              <a:rPr/>
              <a:t>Check: in 200,000 random pairs, the failing drive scores higher 94.9% of the time</a:t>
            </a:r>
          </a:p>
          <a:p>
            <a:pPr lvl="0"/>
            <a:r>
              <a:rPr/>
              <a:t>In code: </a:t>
            </a:r>
            <a:r>
              <a:rPr>
                <a:latin typeface="Courier"/>
              </a:rPr>
              <a:t>roc_auc_score(y_test, scores)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scores behind the AUC</a:t>
            </a:r>
          </a:p>
        </p:txBody>
      </p:sp>
      <p:pic>
        <p:nvPicPr>
          <p:cNvPr descr="score_distributions.png" id="0" name="Picture 1"/>
          <p:cNvPicPr>
            <a:picLocks noGrp="1" noChangeAspect="1"/>
          </p:cNvPicPr>
          <p:nvPr/>
        </p:nvPicPr>
        <p:blipFill>
          <a:blip r:embed="rId3"/>
          <a:stretch>
            <a:fillRect/>
          </a:stretch>
        </p:blipFill>
        <p:spPr bwMode="auto">
          <a:xfrm>
            <a:off x="1130017" y="1166099"/>
            <a:ext cx="6883966"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AUC does not tell you</a:t>
            </a:r>
          </a:p>
        </p:txBody>
      </p:sp>
      <p:sp>
        <p:nvSpPr>
          <p:cNvPr id="3" name="Content Placeholder 2"/>
          <p:cNvSpPr>
            <a:spLocks noGrp="1"/>
          </p:cNvSpPr>
          <p:nvPr>
            <p:ph idx="1"/>
          </p:nvPr>
        </p:nvSpPr>
        <p:spPr>
          <a:xfrm>
            <a:off x="457200" y="1200151"/>
            <a:ext cx="8229600" cy="3394472"/>
          </a:xfrm>
        </p:spPr>
        <p:txBody>
          <a:bodyPr/>
          <a:lstStyle/>
          <a:p>
            <a:pPr lvl="0"/>
            <a:r>
              <a:rPr/>
              <a:t>Divide every predicted probability by 10</a:t>
            </a:r>
          </a:p>
          <a:p>
            <a:pPr lvl="0"/>
            <a:r>
              <a:rPr/>
              <a:t>AUC is </a:t>
            </a:r>
            <a:r>
              <a:rPr b="1"/>
              <a:t>unchanged</a:t>
            </a:r>
            <a:r>
              <a:rPr/>
              <a:t>; every decision changes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ROC misleads</a:t>
            </a:r>
          </a:p>
        </p:txBody>
      </p:sp>
      <p:pic>
        <p:nvPicPr>
          <p:cNvPr descr="roc_vs_pr_imbalance.png" id="0" name="Picture 1"/>
          <p:cNvPicPr>
            <a:picLocks noGrp="1" noChangeAspect="1"/>
          </p:cNvPicPr>
          <p:nvPr/>
        </p:nvPicPr>
        <p:blipFill>
          <a:blip r:embed="rId3"/>
          <a:stretch>
            <a:fillRect/>
          </a:stretch>
        </p:blipFill>
        <p:spPr bwMode="auto">
          <a:xfrm>
            <a:off x="494477" y="1166099"/>
            <a:ext cx="8155046" cy="3360181"/>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the two disagree</a:t>
            </a:r>
          </a:p>
        </p:txBody>
      </p:sp>
      <p:sp>
        <p:nvSpPr>
          <p:cNvPr id="3" name="Content Placeholder 2"/>
          <p:cNvSpPr>
            <a:spLocks noGrp="1"/>
          </p:cNvSpPr>
          <p:nvPr>
            <p:ph idx="1"/>
          </p:nvPr>
        </p:nvSpPr>
        <p:spPr>
          <a:xfrm>
            <a:off x="457200" y="1200151"/>
            <a:ext cx="8229600" cy="3394472"/>
          </a:xfrm>
        </p:spPr>
        <p:txBody>
          <a:bodyPr/>
          <a:lstStyle/>
          <a:p>
            <a:pPr lvl="0"/>
            <a:r>
              <a:rPr/>
              <a:t>False positive rate (FPR) divides by </a:t>
            </a:r>
            <a:r>
              <a:rPr b="1"/>
              <a:t>all healthy drives</a:t>
            </a:r>
            <a:r>
              <a:rPr/>
              <a:t>: an enormous, growing denominator</a:t>
            </a:r>
          </a:p>
          <a:p>
            <a:pPr lvl="0"/>
            <a:r>
              <a:rPr/>
              <a:t>Precision divides by </a:t>
            </a:r>
            <a:r>
              <a:rPr b="1"/>
              <a:t>the alarms raised</a:t>
            </a:r>
            <a:r>
              <a:rPr/>
              <a:t>, where the false ones dominate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rule</a:t>
            </a:r>
          </a:p>
        </p:txBody>
      </p:sp>
      <p:sp>
        <p:nvSpPr>
          <p:cNvPr id="3" name="Content Placeholder 2"/>
          <p:cNvSpPr>
            <a:spLocks noGrp="1"/>
          </p:cNvSpPr>
          <p:nvPr>
            <p:ph idx="1"/>
          </p:nvPr>
        </p:nvSpPr>
        <p:spPr>
          <a:xfrm>
            <a:off x="457200" y="1200151"/>
            <a:ext cx="8229600" cy="3394472"/>
          </a:xfrm>
        </p:spPr>
        <p:txBody>
          <a:bodyPr/>
          <a:lstStyle/>
          <a:p>
            <a:pPr lvl="0"/>
            <a:r>
              <a:rPr/>
              <a:t>On an imbalanced problem, report the </a:t>
            </a:r>
            <a:r>
              <a:rPr b="1"/>
              <a:t>precision-recall curve alongside AUC</a:t>
            </a:r>
          </a:p>
          <a:p>
            <a:pPr lvl="0"/>
            <a:r>
              <a:rPr/>
              <a:t>Never instead of it, and never AUC alone</a:t>
            </a:r>
          </a:p>
          <a:p>
            <a:pPr lvl="0"/>
            <a:r>
              <a:rPr/>
              <a:t>Its area is the </a:t>
            </a:r>
            <a:r>
              <a:rPr b="1"/>
              <a:t>average precision</a:t>
            </a:r>
            <a:r>
              <a:rPr/>
              <a:t>, </a:t>
            </a:r>
            <a:r>
              <a:rPr>
                <a:latin typeface="Courier"/>
              </a:rPr>
              <a:t>average_precision_score</a:t>
            </a:r>
            <a:r>
              <a:rPr/>
              <a:t>: 0.717 here, against 0.038 = 76 ÷ 2,000 for a model that ranks at random</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Choosing the threshold from money</a:t>
            </a:r>
          </a:p>
        </p:txBody>
      </p:sp>
      <p:pic>
        <p:nvPicPr>
          <p:cNvPr descr="cost_curve.png" id="0" name="Picture 1"/>
          <p:cNvPicPr>
            <a:picLocks noGrp="1" noChangeAspect="1"/>
          </p:cNvPicPr>
          <p:nvPr/>
        </p:nvPicPr>
        <p:blipFill>
          <a:blip r:embed="rId3"/>
          <a:stretch>
            <a:fillRect/>
          </a:stretch>
        </p:blipFill>
        <p:spPr bwMode="auto">
          <a:xfrm>
            <a:off x="1564198" y="1166099"/>
            <a:ext cx="6015604" cy="3360181"/>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And it has a closed form</a:t>
            </a:r>
          </a:p>
        </p:txBody>
      </p:sp>
      <p:pic>
        <p:nvPicPr>
          <p:cNvPr descr="eq_fe4d0730d7.png" id="0" name="Picture 1"/>
          <p:cNvPicPr>
            <a:picLocks noGrp="1" noChangeAspect="1"/>
          </p:cNvPicPr>
          <p:nvPr/>
        </p:nvPicPr>
        <p:blipFill>
          <a:blip r:embed="rId3"/>
          <a:stretch>
            <a:fillRect/>
          </a:stretch>
        </p:blipFill>
        <p:spPr bwMode="auto">
          <a:xfrm>
            <a:off x="457204" y="2363590"/>
            <a:ext cx="8229591" cy="965199"/>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the two costs cross</a:t>
            </a:r>
          </a:p>
        </p:txBody>
      </p:sp>
      <p:pic>
        <p:nvPicPr>
          <p:cNvPr descr="expected_cost_lines.png" id="0" name="Picture 1"/>
          <p:cNvPicPr>
            <a:picLocks noGrp="1" noChangeAspect="1"/>
          </p:cNvPicPr>
          <p:nvPr/>
        </p:nvPicPr>
        <p:blipFill>
          <a:blip r:embed="rId3"/>
          <a:stretch>
            <a:fillRect/>
          </a:stretch>
        </p:blipFill>
        <p:spPr bwMode="auto">
          <a:xfrm>
            <a:off x="1148894" y="1166099"/>
            <a:ext cx="6846211" cy="3360181"/>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caveat you must state</a:t>
            </a:r>
          </a:p>
        </p:txBody>
      </p:sp>
      <p:sp>
        <p:nvSpPr>
          <p:cNvPr id="3" name="Content Placeholder 2"/>
          <p:cNvSpPr>
            <a:spLocks noGrp="1"/>
          </p:cNvSpPr>
          <p:nvPr>
            <p:ph idx="1"/>
          </p:nvPr>
        </p:nvSpPr>
        <p:spPr>
          <a:xfrm>
            <a:off x="457200" y="1200151"/>
            <a:ext cx="8229600" cy="3394472"/>
          </a:xfrm>
        </p:spPr>
        <p:txBody>
          <a:bodyPr/>
          <a:lstStyle/>
          <a:p>
            <a:pPr lvl="0"/>
            <a:r>
              <a:rPr/>
              <a:t>We chose the threshold </a:t>
            </a:r>
            <a:r>
              <a:rPr b="1"/>
              <a:t>by looking at the test set</a:t>
            </a:r>
          </a:p>
          <a:p>
            <a:pPr lvl="0"/>
            <a:r>
              <a:rPr/>
              <a:t>That is precisely what lesson 1 forbade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Class weights: the same lever, pulled earlier</a:t>
            </a:r>
          </a:p>
        </p:txBody>
      </p:sp>
      <p:pic>
        <p:nvPicPr>
          <p:cNvPr descr="class_weight_costs.png" id="0" name="Picture 1"/>
          <p:cNvPicPr>
            <a:picLocks noGrp="1" noChangeAspect="1"/>
          </p:cNvPicPr>
          <p:nvPr/>
        </p:nvPicPr>
        <p:blipFill>
          <a:blip r:embed="rId3"/>
          <a:stretch>
            <a:fillRect/>
          </a:stretch>
        </p:blipFill>
        <p:spPr bwMode="auto">
          <a:xfrm>
            <a:off x="457200" y="1284089"/>
            <a:ext cx="8229600" cy="31242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ROC curve by hand, 43</a:t>
                      </a:r>
                    </a:p>
                  </a:txBody>
                </a:tc>
                <a:tc>
                  <a:txBody>
                    <a:bodyPr/>
                    <a:lstStyle/>
                    <a:p>
                      <a:pPr lvl="0" indent="0" marL="0">
                        <a:buNone/>
                      </a:pPr>
                      <a:r>
                        <a:rPr>
                          <a:latin typeface="Courier"/>
                        </a:rPr>
                        <a:t>roc_curve</a:t>
                      </a:r>
                      <a:r>
                        <a:rPr/>
                        <a:t>, </a:t>
                      </a:r>
                      <a:r>
                        <a:rPr>
                          <a:latin typeface="Courier"/>
                        </a:rPr>
                        <a:t>roc_auc_score</a:t>
                      </a:r>
                      <a:r>
                        <a:rPr/>
                        <a:t> → 0.9493</a:t>
                      </a:r>
                    </a:p>
                  </a:txBody>
                </a:tc>
              </a:tr>
              <a:tr h="0">
                <a:tc>
                  <a:txBody>
                    <a:bodyPr/>
                    <a:lstStyle/>
                    <a:p>
                      <a:pPr lvl="0" indent="0" marL="0">
                        <a:buNone/>
                      </a:pPr>
                      <a:r>
                        <a:rPr/>
                        <a:t>what AUC means, 44-45</a:t>
                      </a:r>
                    </a:p>
                  </a:txBody>
                </a:tc>
                <a:tc>
                  <a:txBody>
                    <a:bodyPr/>
                    <a:lstStyle/>
                    <a:p>
                      <a:pPr lvl="0" indent="0" marL="0">
                        <a:buNone/>
                      </a:pPr>
                      <a:r>
                        <a:rPr/>
                        <a:t>200,000 random (failing, healthy) pairs → 0.9488</a:t>
                      </a:r>
                    </a:p>
                  </a:txBody>
                </a:tc>
              </a:tr>
              <a:tr h="0">
                <a:tc>
                  <a:txBody>
                    <a:bodyPr/>
                    <a:lstStyle/>
                    <a:p>
                      <a:pPr lvl="0" indent="0" marL="0">
                        <a:buNone/>
                      </a:pPr>
                      <a:r>
                        <a:rPr/>
                        <a:t>the rare-positive trap, 47-48</a:t>
                      </a:r>
                    </a:p>
                  </a:txBody>
                </a:tc>
                <a:tc>
                  <a:txBody>
                    <a:bodyPr/>
                    <a:lstStyle/>
                    <a:p>
                      <a:pPr lvl="0" indent="0" marL="0">
                        <a:buNone/>
                      </a:pPr>
                      <a:r>
                        <a:rPr>
                          <a:latin typeface="Courier"/>
                        </a:rPr>
                        <a:t>average_precision_score</a:t>
                      </a:r>
                      <a:r>
                        <a:rPr/>
                        <a:t> beside </a:t>
                      </a:r>
                      <a:r>
                        <a:rPr>
                          <a:latin typeface="Courier"/>
                        </a:rPr>
                        <a:t>roc_auc_score</a:t>
                      </a:r>
                      <a:r>
                        <a:rPr/>
                        <a:t> → AP 0.706 to 0.361, AUC unmoved</a:t>
                      </a:r>
                    </a:p>
                  </a:txBody>
                </a:tc>
              </a:tr>
              <a:tr h="0">
                <a:tc>
                  <a:txBody>
                    <a:bodyPr/>
                    <a:lstStyle/>
                    <a:p>
                      <a:pPr lvl="0" indent="0" marL="0">
                        <a:buNone/>
                      </a:pPr>
                      <a:r>
                        <a:rPr/>
                        <a:t>the threshold from costs, 50-53</a:t>
                      </a:r>
                    </a:p>
                  </a:txBody>
                </a:tc>
                <a:tc>
                  <a:txBody>
                    <a:bodyPr/>
                    <a:lstStyle/>
                    <a:p>
                      <a:pPr lvl="0" indent="0" marL="0">
                        <a:buNone/>
                      </a:pPr>
                      <a:r>
                        <a:rPr>
                          <a:latin typeface="Courier"/>
                        </a:rPr>
                        <a:t>confusion_matrix</a:t>
                      </a:r>
                      <a:r>
                        <a:rPr/>
                        <a:t> at each threshold → 45,540 EUR at 0.08, against 87,620 at 0.50</a:t>
                      </a:r>
                    </a:p>
                  </a:txBody>
                </a:tc>
              </a:tr>
              <a:tr h="0">
                <a:tc>
                  <a:txBody>
                    <a:bodyPr/>
                    <a:lstStyle/>
                    <a:p>
                      <a:pPr lvl="0" indent="0" marL="0">
                        <a:buNone/>
                      </a:pPr>
                      <a:r>
                        <a:rPr/>
                        <a:t>class weights, 54</a:t>
                      </a:r>
                    </a:p>
                  </a:txBody>
                </a:tc>
                <a:tc>
                  <a:txBody>
                    <a:bodyPr/>
                    <a:lstStyle/>
                    <a:p>
                      <a:pPr lvl="0" indent="0" marL="0">
                        <a:buNone/>
                      </a:pPr>
                      <a:r>
                        <a:rPr>
                          <a:latin typeface="Courier"/>
                        </a:rPr>
                        <a:t>LogisticRegression</a:t>
                      </a:r>
                      <a:r>
                        <a:rPr/>
                        <a:t> with balanced class weights → AUC 0.950</a:t>
                      </a:r>
                    </a:p>
                  </a:txBody>
                </a:tc>
              </a:tr>
              <a:tr h="0">
                <a:tc>
                  <a:txBody>
                    <a:bodyPr/>
                    <a:lstStyle/>
                    <a:p>
                      <a:pPr lvl="0" indent="0" marL="0">
                        <a:buNone/>
                      </a:pPr>
                      <a:r>
                        <a:rPr/>
                        <a:t>three classes, 56-57</a:t>
                      </a:r>
                    </a:p>
                  </a:txBody>
                </a:tc>
                <a:tc>
                  <a:txBody>
                    <a:bodyPr/>
                    <a:lstStyle/>
                    <a:p>
                      <a:pPr lvl="0" indent="0" marL="0">
                        <a:buNone/>
                      </a:pPr>
                      <a:r>
                        <a:rPr>
                          <a:latin typeface="Courier"/>
                        </a:rPr>
                        <a:t>classification_report</a:t>
                      </a:r>
                      <a:r>
                        <a:rPr/>
                        <a:t> → macro F1 0.707, weighted 0.883</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More than two classes</a:t>
            </a:r>
          </a:p>
        </p:txBody>
      </p:sp>
      <p:pic>
        <p:nvPicPr>
          <p:cNvPr descr="multiclass_confusion.png" id="0" name="Picture 1"/>
          <p:cNvPicPr>
            <a:picLocks noGrp="1" noChangeAspect="1"/>
          </p:cNvPicPr>
          <p:nvPr/>
        </p:nvPicPr>
        <p:blipFill>
          <a:blip r:embed="rId3"/>
          <a:stretch>
            <a:fillRect/>
          </a:stretch>
        </p:blipFill>
        <p:spPr bwMode="auto">
          <a:xfrm>
            <a:off x="2759768" y="1166099"/>
            <a:ext cx="3624464" cy="3360181"/>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Macro against weighted, one last time</a:t>
            </a:r>
          </a:p>
        </p:txBody>
      </p:sp>
      <p:pic>
        <p:nvPicPr>
          <p:cNvPr descr="macro_vs_weighted.png" id="0" name="Picture 1"/>
          <p:cNvPicPr>
            <a:picLocks noGrp="1" noChangeAspect="1"/>
          </p:cNvPicPr>
          <p:nvPr/>
        </p:nvPicPr>
        <p:blipFill>
          <a:blip r:embed="rId3"/>
          <a:stretch>
            <a:fillRect/>
          </a:stretch>
        </p:blipFill>
        <p:spPr bwMode="auto">
          <a:xfrm>
            <a:off x="1306206" y="1166099"/>
            <a:ext cx="6531587" cy="3360181"/>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b="1"/>
              <a:t>96.20% accuracy, nothing caught.</a:t>
            </a:r>
            <a:r>
              <a:rPr/>
              <a:t> Accuracy measures the majority class</a:t>
            </a:r>
          </a:p>
          <a:p>
            <a:pPr lvl="0"/>
            <a:r>
              <a:rPr/>
              <a:t>Precision is about the </a:t>
            </a:r>
            <a:r>
              <a:rPr b="1"/>
              <a:t>alarms</a:t>
            </a:r>
            <a:r>
              <a:rPr/>
              <a:t>, recall is about the </a:t>
            </a:r>
            <a:r>
              <a:rPr b="1"/>
              <a:t>failures</a:t>
            </a:r>
          </a:p>
          <a:p>
            <a:pPr lvl="0"/>
            <a:r>
              <a:rPr/>
              <a:t>The </a:t>
            </a:r>
            <a:r>
              <a:rPr b="1"/>
              <a:t>threshold is a decision</a:t>
            </a:r>
            <a:r>
              <a:rPr/>
              <a:t>, and it has a formula</a:t>
            </a:r>
          </a:p>
          <a:p>
            <a:pPr lvl="0"/>
            <a:r>
              <a:rPr b="1"/>
              <a:t>AUC measures ranking</a:t>
            </a:r>
            <a:r>
              <a:rPr/>
              <a:t> and hides imbalance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4</a:t>
            </a:r>
            <a:r>
              <a:rPr/>
              <a:t>, discussed at the start of </a:t>
            </a:r>
            <a:r>
              <a:rPr b="1"/>
              <a:t>Friday 6 November</a:t>
            </a:r>
          </a:p>
          <a:p>
            <a:pPr lvl="0"/>
            <a:r>
              <a:rPr/>
              <a:t>Build a classifier, choose a threshold from a stated cost ratio, defend it</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Classification and Evaluation Metrics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30 October 2026</vt:lpwstr>
  </property>
  <property fmtid="{D5CDD505-2E9C-101B-9397-08002B2CF9AE}" pid="3" name="subtitle">
    <vt:lpwstr>Technologies for Artificial Intelligence</vt:lpwstr>
  </property>
</Properties>
</file>