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Ask two or three people what they built. If the common mistake appeared, name it: fitting the scaler or the imputer before splitting the data.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Say that this is the first lesson where we fit a model,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a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question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Read the first sum aloud: for every house i, the prediction minus the true price, added up. A model that is 50,000 too high on one house and 50,000 too low on another is not perfect, but that sum is zero.</a:t>
            </a:r>
          </a:p>
          <a:p>
            <a:pPr lvl="0" indent="0" marL="0">
              <a:buNone/>
            </a:pPr>
          </a:p>
          <a:p>
            <a:pPr lvl="0" indent="0" marL="0">
              <a:buNone/>
            </a:pPr>
            <a:r>
              <a:rPr/>
              <a:t>So every error must count as a positive amount. That is the requirement, and the last line gives the two ways of meeting it: take the absolute value of each error, or square it. The next slide says why we choose squaring, and the one after turns the squared sum into the cost the lesson minimises.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from the formula on the first line, the squared error of the previous slide: for each house, the prediction minus the true price, squared, then added up. Call one error e: squared error adds e squared for it, absolute error would add the size of e.</a:t>
            </a:r>
          </a:p>
          <a:p>
            <a:pPr lvl="0" indent="0" marL="0">
              <a:buNone/>
            </a:pPr>
          </a:p>
          <a:p>
            <a:pPr lvl="0" indent="0" marL="0">
              <a:buNone/>
            </a:pPr>
            <a:r>
              <a:rPr/>
              <a:t>Then give the three reasons on the slide in increasing order of depth. The first, differentiability, is convenience: e squared has a derivative everywhere, while the absolute value has a corner at zero, so with squared error calculus can find the minimum directly. The second is a design decision: doubling an error quadruples its cost, so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 the coefficients it picks are the ones under which the observed prices were most probable. That connects to the histogram of the residuals (the leftover errors) in notebook 1, which has the bell shape of a Gaussian.</a:t>
            </a:r>
          </a:p>
          <a:p>
            <a:pPr lvl="0" indent="0" marL="0">
              <a:buNone/>
            </a:pPr>
          </a:p>
          <a:p>
            <a:pPr lvl="0" indent="0" marL="0">
              <a:buNone/>
            </a:pPr>
            <a:r>
              <a:rPr/>
              <a:t>Then the consequence, which is not optional: squared error is sensitive to outliers, because one absurd value contributes its error squared. Lesson 2’s work on outliers is needed for this lesson, not an optional warm-up.</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is the number of examples, the sum runs over all of them, the half is there for convenience when we differentiate, and the square makes every error positive and punishes large ones most, as the previous slide said.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pay much less attention to the outlier - which is what robust regression (a family of methods built to resist outliers)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its score is taken seriously;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w star and b star are the values of the slope and the intercept at which the cost J is smallest. The star marks “the best values”; it is a label, not an operation.</a:t>
            </a:r>
          </a:p>
          <a:p>
            <a:pPr lvl="0" indent="0" marL="0">
              <a:buNone/>
            </a:pPr>
          </a:p>
          <a:p>
            <a:pPr lvl="0" indent="0" marL="0">
              <a:buNone/>
            </a:pPr>
            <a:r>
              <a:rPr/>
              <a:t>arg min is lesson 1’s notation, met there as f-hat equals the arg min of the training error. It returns where the minimum is reached, not the minimum itself: here, a pair of numbers (w, b), not a cost. That distinction is worth a sentence, because the minimum of J is a number nobody needs - what the lesson wants is the coefficients that achieve it.</a:t>
            </a:r>
          </a:p>
          <a:p>
            <a:pPr lvl="0" indent="0" marL="0">
              <a:buNone/>
            </a:pPr>
          </a:p>
          <a:p>
            <a:pPr lvl="0" indent="0" marL="0">
              <a:buNone/>
            </a:pPr>
            <a:r>
              <a:rPr/>
              <a:t>This line is the whole of “fitting”. Everything else in the first half of the lesson is a way of computing it: exactly, with the normal equation on slides 15-18, or step by step, with gradient descent on slides 22-26. The next slide shows J as a surface over (w, b), and the pair this formula asks for is the lowest point of that surface.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 The gold star is the previous slide’s (w</a:t>
            </a:r>
            <a:r>
              <a:rPr i="1"/>
              <a:t>, b</a:t>
            </a:r>
            <a:r>
              <a:rPr/>
              <a:t>): the notebook computes the cost at every point of a grid and keeps the lowest, a slope of 2,790 and an intercept of -52,000. The normal equation, three slides on, leads to the exact answer, 2,785 and -51,025, within one grid step of the star.</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pieces of notation, and the next slide is unreadable without them.</a:t>
            </a:r>
          </a:p>
          <a:p>
            <a:pPr lvl="0" indent="0" marL="0">
              <a:buNone/>
            </a:pPr>
          </a:p>
          <a:p>
            <a:pPr lvl="0" indent="0" marL="0">
              <a:buNone/>
            </a:pPr>
            <a:r>
              <a:rPr/>
              <a:t>Theta is a column vector: b on top, then w1 down to wn. It is the course’s symbol for all the parameters together, intercept included. Write it on the board as a column - b, w1, dots, wn - because that is how it multiplies.</a:t>
            </a:r>
          </a:p>
          <a:p>
            <a:pPr lvl="0" indent="0" marL="0">
              <a:buNone/>
            </a:pPr>
          </a:p>
          <a:p>
            <a:pPr lvl="0" indent="0" marL="0">
              <a:buNone/>
            </a:pPr>
            <a:r>
              <a:rPr/>
              <a:t>X is the table of features with one extra column of 1s in front. Ask the room why the 1s are there before you say it: multiply a row of X by theta, and the 1 picks up b while each feature picks up its own w. So one row times theta is exactly the linear model of slide 6, b + w1 x1 + … + wn xn, and X times theta is that prediction for every house at once.</a:t>
            </a:r>
          </a:p>
          <a:p>
            <a:pPr lvl="0" indent="0" marL="0">
              <a:buNone/>
            </a:pPr>
          </a:p>
          <a:p>
            <a:pPr lvl="0" indent="0" marL="0">
              <a:buNone/>
            </a:pPr>
            <a:r>
              <a:rPr/>
              <a:t>With the three houses of the slide after next: X has rows (1, 80), (1, 120), (1, 200), and theta is (b, w).</a:t>
            </a:r>
          </a:p>
          <a:p>
            <a:pPr lvl="0" indent="0" marL="0">
              <a:buNone/>
            </a:pPr>
          </a:p>
          <a:p>
            <a:pPr lvl="0" indent="0" marL="0">
              <a:buNone/>
            </a:pPr>
            <a:r>
              <a:rPr/>
              <a:t>Handout section 3.1 sets this up before the derivation.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exact solution: theta collects the intercept and every coefficient, and the formula gives all of them at once, with no iteration. It is four lines of NumPy, and notebook 1 shows it agreeing with scikit-learn’s answer to within 1.8 × 10⁻¹² euros per square metre - the two differ only by rounding.</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Why it is the minimum and not some other flat point is the next slide but one.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coefficients were meaningless every time.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one of the ideas from the first half of the lesson that is most useful outside it.</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consequence, which appears twice. For the exact solution, a stretched valley is what makes the inverse enormous and the answer unstable. For gradient descent, which is the next section,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first that the prices here are in thousands of euros, so 240 means 240,000, which keeps the numbers small enough to read.</a:t>
            </a:r>
          </a:p>
          <a:p>
            <a:pPr lvl="0" indent="0" marL="0">
              <a:buNone/>
            </a:pPr>
          </a:p>
          <a:p>
            <a:pPr lvl="0" indent="0" marL="0">
              <a:buNone/>
            </a:pPr>
            <a:r>
              <a:rPr/>
              <a:t>Both gradients are negative - the model starts at zero and predicts zero for every house, so every prediction is far too low - and both parameters therefore increase. So far, nothing surprising.</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In the gradient, each house’s error is multiplied by its area for the slope, and by 1 for the intercept (the intercept behaves like a feature that is always 1). The two areas are 80 and 200, so the slope’s gradient comes out about 163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the iteration number. It falls steeply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a rule of thumb. Handout section 4.3 derives it: for a bowl whose curvature (how quickly the slope changes) is c, gradient descent converges only when alpha is below 2/c. With several features the bowl has a different curvature in each direction, and the steepest one sets the limit; on unscaled data that steepest direction belongs to the feature with the largest spread.</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model, the cost, the exact solution and the iterative one, built from scratch. 25 minutes. Let them work through it themselves.</a:t>
            </a:r>
          </a:p>
          <a:p>
            <a:pPr lvl="0" indent="0" marL="0">
              <a:buNone/>
            </a:pPr>
          </a:p>
          <a:p>
            <a:pPr lvl="0" indent="0" marL="0">
              <a:buNone/>
            </a:pPr>
            <a:r>
              <a:rPr/>
              <a:t>The two moments worth pausing on together. First, the agreement between their four-line normal equation and scikit-learn, to within about 10⁻¹² - seeing it on their own screen convinces more than any assurance from the lecturer.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of which 21 are used for training -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trick, and it surprises people. The model is a curve in t, but it is still a weighted sum of columns: one column holds t, a second holds t squared, and the weights w enter only by multiplication and addition. Nothing in the derivation of least squares required the columns to be the raw inputs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the same 21 points. The degree-1 line is too rigid to follow the U; degree 2 matches the true curve, which is quadratic; degree 12 swings wildly between the points.</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from 113 down to 14, never once suggesting anything is wrong. Test error bottoms out at degree 3 and then climbs: 590 at degree 9, and 24,656 at degree 12.</a:t>
            </a:r>
          </a:p>
          <a:p>
            <a:pPr lvl="0" indent="0" marL="0">
              <a:buNone/>
            </a:pPr>
          </a:p>
          <a:p>
            <a:pPr lvl="0" indent="0" marL="0">
              <a:buNone/>
            </a:pPr>
            <a:r>
              <a:rPr/>
              <a:t>If someone asks why degree 3 wins when the truth is quadratic: the notebook also fits degree 2, which scores 17.4 against degree 3’s 16.9. With nine test days that difference is noise; the two are equally good.</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the error on the data we fitted against the error on data we have not seen. And note how little it took: 21 training points, and at degree 12 the model has 12 coefficients plus an intercept to place among them.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the test error,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Fit the curve, push the degree up, and watch the test error turn. 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is built from enormous terms that nearly cancel: one pushes the curve up, the next pushes it down by almost the same amount. At each training point the cancellation is tuned so the curve lands near the point, because that is all least squares checks. Between the points nothing tunes it, and the curve swings by thousands.</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Ridge charges the sum of the squared coefficients, Lasso the sum of their absolute values; the next slide gives the two rules both of them need.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the noise we added to each day has a standard deviation of 22 kWh, and no model can predict below it.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table runs lambda from 0.01 to 100, four orders of magnitude, and the test error changes tenfold across them. That is why lambda cannot be guessed: it has to be searched for, which lesson 5 does properly.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treats it fully, with the tools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a price on large coefficients.</a:t>
            </a:r>
          </a:p>
          <a:p>
            <a:pPr lvl="0" indent="0" marL="0">
              <a:buNone/>
            </a:pPr>
          </a:p>
          <a:p>
            <a:pPr lvl="0" indent="0" marL="0">
              <a:buNone/>
            </a:pPr>
            <a:r>
              <a:rPr/>
              <a:t>Two small print points, for anyone who checks it against the cost on the earlier slide. Written with theta, the formula penalises the intercept too; in practice the intercept’s entry of I is set to zero, or the data are centred first so the intercept drops out, which is what scikit-learn does. And with the cost written as MSE plus lambda times the sum of squares, the lambda in this formula is that lambda times 2m. Handout section 6.2 shows where the factor comes from.</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the corner is exactly what produces the zeros, as two slides from now show.</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of that valley.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For two coefficients, charging squares makes the affordable region a disc; charging absolute values makes it a diamond, a square turned to stand on its corners.</a:t>
            </a:r>
          </a:p>
          <a:p>
            <a:pPr lvl="0" indent="0" marL="0">
              <a:buNone/>
            </a:pPr>
          </a:p>
          <a:p>
            <a:pPr lvl="0" indent="0" marL="0">
              <a:buNone/>
            </a:pPr>
            <a:r>
              <a:rPr/>
              <a:t>The best affordable fit is where the error contours (the rings of equal cost around the unpenalised answer)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The housing data again, with all six features scaled, and lambda growing from left to right. Point at the right panel: one by one the lasso lines reach the zero line and stay on it. The next slide reads off the order.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three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What a square metre adds is the metres coefficient plus 10.76 times the feet coefficient, since a square metre is 10.76 square feet, and on every split that sum stays within about 2% of the true 2,400 (the notebook prints 2,424 for its own split).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Say the units, or the comparison misleads: ridge runs on scaled features, so these are euros per standard deviation of area, not euros per square metre, and they cannot be set against the table. What matters is that they are stable and equal,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slide of the lesson most useful outside it.</a:t>
            </a:r>
          </a:p>
          <a:p>
            <a:pPr lvl="0" indent="0" marL="0">
              <a:buNone/>
            </a:pPr>
          </a:p>
          <a:p>
            <a:pPr lvl="0" indent="0" marL="0">
              <a:buNone/>
            </a:pPr>
            <a:r>
              <a:rPr/>
              <a:t>The x axis is how correlated each feature is with area; the y axis is how far its estimated coefficient landed from the truth. Read it from left to right. Three features are uncorrelated with area. Two of them, distance and age, are recovered to within 1%. The third, garage, is 9.6% out: it is a yes-or-no column, so it varies little, and the noise weighs more on its coefficient. Then the correlated ones: bathrooms, correlated 0.49 with area, is 9% out; bedrooms, correlated 0.77, is 17% out.</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Ridge on the degree-12 fit, the regularisation paths, and the collinear case. 20 minutes. The collinear section is the one to make sure everyone reaches - it is the argument they will need whenever someone asks what a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the lessons.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slide 41: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lesson 4 derives.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when it is discussed. It uses a new dataset, bike sharing demand, so the exploration is theirs to do.</a:t>
            </a:r>
          </a:p>
          <a:p>
            <a:pPr lvl="0" indent="0" marL="0">
              <a:buNone/>
            </a:pPr>
          </a:p>
          <a:p>
            <a:pPr lvl="0" indent="0" marL="0">
              <a:buNone/>
            </a:pPr>
            <a:r>
              <a:rPr/>
              <a:t>Point out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at the exam, accuracy alone earns nothing; the reasoning does.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a:p>
            <a:pPr lvl="0" indent="0" marL="0">
              <a:buNone/>
            </a:pPr>
            <a:r>
              <a:rPr/>
              <a:t>In code: </a:t>
            </a:r>
            <a:r>
              <a:rPr>
                <a:latin typeface="Courier"/>
              </a:rPr>
              <a:t>train_test_split(X, y, test_size=0.25)</a:t>
            </a:r>
            <a:r>
              <a:rPr/>
              <a:t> keeps 150 houses for testing.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 ŷ = w₁x₁ + w₂x₂ + … + wₙxₙ + b, one coefficient w per feature plus an intercept b.</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Σᵢ (ŷ⁽ⁱ⁾ − y⁽ⁱ⁾), fails: +50,000 and −50,000 cancel to zero.</a:t>
            </a:r>
          </a:p>
          <a:p>
            <a:pPr lvl="0" indent="0" marL="0">
              <a:buNone/>
            </a:pPr>
            <a:r>
              <a:rPr/>
              <a:t>Every error must count as a positive amount:</a:t>
            </a:r>
          </a:p>
          <a:p>
            <a:pPr lvl="0"/>
            <a:r>
              <a:rPr/>
              <a:t>absolute error Σᵢ |ŷ⁽ⁱ⁾ − y⁽ⁱ⁾|</a:t>
            </a:r>
          </a:p>
          <a:p>
            <a:pPr lvl="0"/>
            <a:r>
              <a:rPr/>
              <a:t>squared error Σᵢ (ŷ⁽ⁱ⁾ − y⁽ⁱ⁾)²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a:t>Squared error Σᵢ (ŷ⁽ⁱ⁾ − y⁽ⁱ⁾)²: each error e = ŷ⁽ⁱ⁾ − y⁽ⁱ⁾ counts as e², not as |⁠e⁠|</a:t>
            </a:r>
          </a:p>
          <a:p>
            <a:pPr lvl="0"/>
            <a:r>
              <a:rPr b="1"/>
              <a:t>Differentiable everywhere</a:t>
            </a:r>
            <a:r>
              <a:rPr/>
              <a:t>: e² is smooth, |⁠e⁠| has a corner at e = 0</a:t>
            </a:r>
          </a:p>
          <a:p>
            <a:pPr lvl="0"/>
            <a:r>
              <a:rPr b="1"/>
              <a:t>Punishes one large error more</a:t>
            </a:r>
            <a:r>
              <a:rPr/>
              <a:t>: double an error and |⁠e⁠| doubles, e² quadruples</a:t>
            </a:r>
          </a:p>
          <a:p>
            <a:pPr lvl="0"/>
            <a:r>
              <a:rPr/>
              <a:t>Under Gaussian noise it is </a:t>
            </a:r>
            <a:r>
              <a:rPr b="1"/>
              <a:t>maximum likelihood</a:t>
            </a:r>
            <a:r>
              <a:rPr/>
              <a:t>: it picks the coefficients that make the observed prices most probable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a:p>
            <a:pPr lvl="0"/>
            <a:r>
              <a:rPr/>
              <a:t>In code: </a:t>
            </a:r>
            <a:r>
              <a:rPr>
                <a:latin typeface="Courier"/>
              </a:rPr>
              <a:t>mean_squared_error(y, y_pred)</a:t>
            </a:r>
            <a:r>
              <a:rPr/>
              <a:t>, the mean of the squared errors without the ½</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a:t>
            </a:r>
            <a:r>
              <a:rPr b="1"/>
              <a:t>always predict the mean</a:t>
            </a:r>
            <a:r>
              <a:rPr/>
              <a:t>, </a:t>
            </a:r>
            <a:r>
              <a:rPr>
                <a:latin typeface="Courier"/>
              </a:rPr>
              <a:t>DummyRegressor()</a:t>
            </a:r>
          </a:p>
          <a:p>
            <a:pPr lvl="0"/>
            <a:r>
              <a:rPr/>
              <a:t>Root mean squared error, RMSE = √MSE, on the 150 test houses: </a:t>
            </a:r>
            <a:r>
              <a:rPr b="1"/>
              <a:t>96,440 €</a:t>
            </a:r>
            <a:r>
              <a:rPr/>
              <a:t> for the mean, </a:t>
            </a:r>
            <a:r>
              <a:rPr b="1"/>
              <a:t>20,341 €</a:t>
            </a:r>
            <a:r>
              <a:rPr/>
              <a:t> for the model</a:t>
            </a:r>
          </a:p>
          <a:p>
            <a:pPr lvl="0"/>
            <a:r>
              <a:rPr/>
              <a:t>R² = 1 − Σ(y − ŷ)² ÷ Σ(y − ȳ)² = </a:t>
            </a:r>
            <a:r>
              <a:rPr b="1"/>
              <a:t>0.956</a:t>
            </a:r>
            <a:r>
              <a:rPr/>
              <a:t> (</a:t>
            </a:r>
            <a:r>
              <a:rPr>
                <a:latin typeface="Courier"/>
              </a:rPr>
              <a:t>r2_score</a:t>
            </a:r>
            <a:r>
              <a:rPr/>
              <a:t>): 0 is the mean, 1 is perfect</a:t>
            </a:r>
          </a:p>
          <a:p>
            <a:pPr lvl="0"/>
            <a:r>
              <a:rPr/>
              <a:t>Quote the euros too: R² depends on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is finding where J is smallest</a:t>
            </a:r>
          </a:p>
        </p:txBody>
      </p:sp>
      <p:pic>
        <p:nvPicPr>
          <p:cNvPr descr="eq_dc62389775.png" id="0" name="Picture 1"/>
          <p:cNvPicPr>
            <a:picLocks noGrp="1" noChangeAspect="1"/>
          </p:cNvPicPr>
          <p:nvPr/>
        </p:nvPicPr>
        <p:blipFill>
          <a:blip r:embed="rId3"/>
          <a:stretch>
            <a:fillRect/>
          </a:stretch>
        </p:blipFill>
        <p:spPr bwMode="auto">
          <a:xfrm>
            <a:off x="457200" y="2223889"/>
            <a:ext cx="8229600" cy="1244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θ and X: all parameters, all houses</a:t>
            </a:r>
          </a:p>
        </p:txBody>
      </p:sp>
      <p:sp>
        <p:nvSpPr>
          <p:cNvPr id="3" name="Content Placeholder 2"/>
          <p:cNvSpPr>
            <a:spLocks noGrp="1"/>
          </p:cNvSpPr>
          <p:nvPr>
            <p:ph idx="1"/>
          </p:nvPr>
        </p:nvSpPr>
        <p:spPr>
          <a:xfrm>
            <a:off x="457200" y="1200151"/>
            <a:ext cx="8229600" cy="3394472"/>
          </a:xfrm>
        </p:spPr>
        <p:txBody>
          <a:bodyPr/>
          <a:lstStyle/>
          <a:p>
            <a:pPr lvl="0"/>
            <a:r>
              <a:rPr/>
              <a:t>θ = (b, w₁, …, wₙ)ᵀ: every parameter in one column, the intercept first</a:t>
            </a:r>
          </a:p>
          <a:p>
            <a:pPr lvl="0"/>
            <a:r>
              <a:rPr/>
              <a:t>X: one row per house; a column of 1s, then one column per feature</a:t>
            </a:r>
          </a:p>
          <a:p>
            <a:pPr lvl="0"/>
            <a:r>
              <a:rPr/>
              <a:t>So Xθ gives b + w₁x₁ + … + wₙxₙ for every house at once: all m predictions in one product</a:t>
            </a:r>
          </a:p>
          <a:p>
            <a:pPr lvl="0"/>
            <a:r>
              <a:rPr/>
              <a:t>The cost becomes J(θ), and the next slide solves for θ</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 and θ</a:t>
                      </a:r>
                    </a:p>
                  </a:txBody>
                </a:tc>
                <a:tc>
                  <a:txBody>
                    <a:bodyPr/>
                    <a:lstStyle/>
                    <a:p>
                      <a:pPr lvl="0" indent="0" marL="0">
                        <a:buNone/>
                      </a:pPr>
                      <a:r>
                        <a:rPr/>
                        <a:t>a column of 1s (for b) beside the areas; θ = (b, w)</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(zero gradient) is </a:t>
            </a:r>
            <a:r>
              <a:rPr i="1"/>
              <a:t>the</a:t>
            </a:r>
            <a:r>
              <a:rPr/>
              <a:t> answer, not </a:t>
            </a:r>
            <a:r>
              <a:rPr i="1"/>
              <a:t>an</a:t>
            </a:r>
            <a:r>
              <a:rPr/>
              <a:t> answer</a:t>
            </a:r>
          </a:p>
          <a:p>
            <a:pPr lvl="0"/>
            <a:r>
              <a:rPr/>
              <a:t>In code: </a:t>
            </a:r>
            <a:r>
              <a:rPr>
                <a:latin typeface="Courier"/>
              </a:rPr>
              <a:t>LinearRegression().fit(X, y)</a:t>
            </a:r>
            <a:r>
              <a:rPr/>
              <a:t> solves the same problem</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κ = steepest curvature ÷ shallowest curvature: how many times steeper the steepest direction of the bowl is than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a:p>
            <a:pPr lvl="0" indent="0" marL="0">
              <a:buNone/>
            </a:pPr>
            <a:r>
              <a:rPr/>
              <a:t>So: step against the slope, by an amount set by the </a:t>
            </a:r>
            <a:r>
              <a:rPr b="1"/>
              <a:t>learning rate</a:t>
            </a:r>
            <a:r>
              <a:rPr/>
              <a:t> α, and repeat until the cost stops falling.</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on two houses,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80 m² at 240k, 200 m² at 540k; 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8239"/>
            <a:ext cx="8229600" cy="2755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one feature, 4-5</a:t>
                      </a:r>
                    </a:p>
                  </a:txBody>
                </a:tc>
                <a:tc>
                  <a:txBody>
                    <a:bodyPr/>
                    <a:lstStyle/>
                    <a:p>
                      <a:pPr lvl="0" indent="0" marL="0">
                        <a:buNone/>
                      </a:pPr>
                      <a:r>
                        <a:rPr>
                          <a:latin typeface="Courier"/>
                        </a:rPr>
                        <a:t>train_test_split</a:t>
                      </a:r>
                      <a:r>
                        <a:rPr/>
                        <a:t> → 450 houses to fit, 150 to test</a:t>
                      </a:r>
                    </a:p>
                  </a:txBody>
                </a:tc>
              </a:tr>
              <a:tr h="0">
                <a:tc>
                  <a:txBody>
                    <a:bodyPr/>
                    <a:lstStyle/>
                    <a:p>
                      <a:pPr lvl="0" indent="0" marL="0">
                        <a:buNone/>
                      </a:pPr>
                      <a:r>
                        <a:rPr/>
                        <a:t>the exact answer, 15-19</a:t>
                      </a:r>
                    </a:p>
                  </a:txBody>
                </a:tc>
                <a:tc>
                  <a:txBody>
                    <a:bodyPr/>
                    <a:lstStyle/>
                    <a:p>
                      <a:pPr lvl="0" indent="0" marL="0">
                        <a:buNone/>
                      </a:pPr>
                      <a:r>
                        <a:rPr/>
                        <a:t>the normal equation in NumPy, then </a:t>
                      </a:r>
                      <a:r>
                        <a:rPr>
                          <a:latin typeface="Courier"/>
                        </a:rPr>
                        <a:t>LinearRegression</a:t>
                      </a:r>
                      <a:r>
                        <a:rPr/>
                        <a:t> → 2,785 €/m², agreeing to 1.82e-12</a:t>
                      </a:r>
                    </a:p>
                  </a:txBody>
                </a:tc>
              </a:tr>
              <a:tr h="0">
                <a:tc>
                  <a:txBody>
                    <a:bodyPr/>
                    <a:lstStyle/>
                    <a:p>
                      <a:pPr lvl="0" indent="0" marL="0">
                        <a:buNone/>
                      </a:pPr>
                      <a:r>
                        <a:rPr/>
                        <a:t>the iterative answer, 22-26</a:t>
                      </a:r>
                    </a:p>
                  </a:txBody>
                </a:tc>
                <a:tc>
                  <a:txBody>
                    <a:bodyPr/>
                    <a:lstStyle/>
                    <a:p>
                      <a:pPr lvl="0" indent="0" marL="0">
                        <a:buNone/>
                      </a:pPr>
                      <a:r>
                        <a:rPr/>
                        <a:t>NumPy only: gradient descent → the same answer, slowly</a:t>
                      </a:r>
                    </a:p>
                  </a:txBody>
                </a:tc>
              </a:tr>
              <a:tr h="0">
                <a:tc>
                  <a:txBody>
                    <a:bodyPr/>
                    <a:lstStyle/>
                    <a:p>
                      <a:pPr lvl="0" indent="0" marL="0">
                        <a:buNone/>
                      </a:pPr>
                      <a:r>
                        <a:rPr/>
                        <a:t>all six features, 51-52</a:t>
                      </a:r>
                    </a:p>
                  </a:txBody>
                </a:tc>
                <a:tc>
                  <a:txBody>
                    <a:bodyPr/>
                    <a:lstStyle/>
                    <a:p>
                      <a:pPr lvl="0" indent="0" marL="0">
                        <a:buNone/>
                      </a:pPr>
                      <a:r>
                        <a:rPr>
                          <a:latin typeface="Courier"/>
                        </a:rPr>
                        <a:t>LinearRegression</a:t>
                      </a:r>
                      <a:r>
                        <a:rPr/>
                        <a:t> → area 2,421, bedrooms −16.6%</a:t>
                      </a:r>
                    </a:p>
                  </a:txBody>
                </a:tc>
              </a:tr>
              <a:tr h="0">
                <a:tc>
                  <a:txBody>
                    <a:bodyPr/>
                    <a:lstStyle/>
                    <a:p>
                      <a:pPr lvl="0" indent="0" marL="0">
                        <a:buNone/>
                      </a:pPr>
                      <a:r>
                        <a:rPr/>
                        <a:t>the baseline, 12</a:t>
                      </a:r>
                    </a:p>
                  </a:txBody>
                </a:tc>
                <a:tc>
                  <a:txBody>
                    <a:bodyPr/>
                    <a:lstStyle/>
                    <a:p>
                      <a:pPr lvl="0" indent="0" marL="0">
                        <a:buNone/>
                      </a:pPr>
                      <a:r>
                        <a:rPr>
                          <a:latin typeface="Courier"/>
                        </a:rPr>
                        <a:t>DummyRegressor(strategy="mean")</a:t>
                      </a:r>
                      <a:r>
                        <a:rPr/>
                        <a:t>, </a:t>
                      </a:r>
                      <a:r>
                        <a:rPr>
                          <a:latin typeface="Courier"/>
                        </a:rPr>
                        <a:t>r2_score</a:t>
                      </a:r>
                      <a:r>
                        <a:rPr/>
                        <a:t> → 96,440 € against 20,341 €, R² 0.956</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a:p>
            <a:pPr lvl="0" indent="0" marL="0">
              <a:buNone/>
            </a:pPr>
            <a:r>
              <a:rPr/>
              <a:t>In code: </a:t>
            </a:r>
            <a:r>
              <a:rPr>
                <a:latin typeface="Courier"/>
              </a:rPr>
              <a:t>PolynomialFeatures(degree=2)</a:t>
            </a:r>
            <a:r>
              <a:rPr/>
              <a:t> adds the squared temperature, t², as a second column.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 (kWh)</a:t>
                      </a:r>
                    </a:p>
                  </a:txBody>
                  <a:tcPr/>
                </a:tc>
                <a:tc>
                  <a:txBody>
                    <a:bodyPr/>
                    <a:lstStyle/>
                    <a:p>
                      <a:pPr lvl="0" indent="0" marL="0">
                        <a:buNone/>
                      </a:pPr>
                      <a:r>
                        <a:rPr/>
                        <a:t>Test RMSE (kWh)</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relationship that bends, 29-30</a:t>
                      </a:r>
                    </a:p>
                  </a:txBody>
                </a:tc>
                <a:tc>
                  <a:txBody>
                    <a:bodyPr/>
                    <a:lstStyle/>
                    <a:p>
                      <a:pPr lvl="0" indent="0" marL="0">
                        <a:buNone/>
                      </a:pPr>
                      <a:r>
                        <a:rPr>
                          <a:latin typeface="Courier"/>
                        </a:rPr>
                        <a:t>train_test_split</a:t>
                      </a:r>
                      <a:r>
                        <a:rPr/>
                        <a:t> → 21 days to fit, 9 to test</a:t>
                      </a:r>
                    </a:p>
                  </a:txBody>
                </a:tc>
              </a:tr>
              <a:tr h="0">
                <a:tc>
                  <a:txBody>
                    <a:bodyPr/>
                    <a:lstStyle/>
                    <a:p>
                      <a:pPr lvl="0" indent="0" marL="0">
                        <a:buNone/>
                      </a:pPr>
                      <a:r>
                        <a:rPr/>
                        <a:t>linear in the coefficients, 31-33</a:t>
                      </a:r>
                    </a:p>
                  </a:txBody>
                </a:tc>
                <a:tc>
                  <a:txBody>
                    <a:bodyPr/>
                    <a:lstStyle/>
                    <a:p>
                      <a:pPr lvl="0" indent="0" marL="0">
                        <a:buNone/>
                      </a:pPr>
                      <a:r>
                        <a:rPr>
                          <a:latin typeface="Courier"/>
                        </a:rPr>
                        <a:t>PolynomialFeatures</a:t>
                      </a:r>
                      <a:r>
                        <a:rPr/>
                        <a:t>, </a:t>
                      </a:r>
                      <a:r>
                        <a:rPr>
                          <a:latin typeface="Courier"/>
                        </a:rPr>
                        <a:t>StandardScaler</a:t>
                      </a:r>
                      <a:r>
                        <a:rPr/>
                        <a:t> and </a:t>
                      </a:r>
                      <a:r>
                        <a:rPr>
                          <a:latin typeface="Courier"/>
                        </a:rPr>
                        <a:t>LinearRegression</a:t>
                      </a:r>
                      <a:r>
                        <a:rPr/>
                        <a:t>, chained by </a:t>
                      </a:r>
                      <a:r>
                        <a:rPr>
                          <a:latin typeface="Courier"/>
                        </a:rPr>
                        <a:t>make_pipeline</a:t>
                      </a:r>
                    </a:p>
                  </a:txBody>
                </a:tc>
              </a:tr>
              <a:tr h="0">
                <a:tc>
                  <a:txBody>
                    <a:bodyPr/>
                    <a:lstStyle/>
                    <a:p>
                      <a:pPr lvl="0" indent="0" marL="0">
                        <a:buNone/>
                      </a:pPr>
                      <a:r>
                        <a:rPr/>
                        <a:t>too much flexibility, 34-36</a:t>
                      </a:r>
                    </a:p>
                  </a:txBody>
                </a:tc>
                <a:tc>
                  <a:txBody>
                    <a:bodyPr/>
                    <a:lstStyle/>
                    <a:p>
                      <a:pPr lvl="0" indent="0" marL="0">
                        <a:buNone/>
                      </a:pPr>
                      <a:r>
                        <a:rPr>
                          <a:latin typeface="Courier"/>
                        </a:rPr>
                        <a:t>mean_squared_error</a:t>
                      </a:r>
                      <a:r>
                        <a:rPr/>
                        <a:t>, square-rooted → test RMSE 16.9 at degree 3, 24,655.7 at 12</a:t>
                      </a:r>
                    </a:p>
                  </a:txBody>
                </a:tc>
              </a:tr>
              <a:tr h="0">
                <a:tc>
                  <a:txBody>
                    <a:bodyPr/>
                    <a:lstStyle/>
                    <a:p>
                      <a:pPr lvl="0" indent="0" marL="0">
                        <a:buNone/>
                      </a:pPr>
                      <a:r>
                        <a:rPr/>
                        <a:t>why the wiggles appear, 38</a:t>
                      </a:r>
                    </a:p>
                  </a:txBody>
                </a:tc>
                <a:tc>
                  <a:txBody>
                    <a:bodyPr/>
                    <a:lstStyle/>
                    <a:p>
                      <a:pPr lvl="0" indent="0" marL="0">
                        <a:buNone/>
                      </a:pPr>
                      <a:r>
                        <a:rPr/>
                        <a:t>the fitted coefficients → largest 3,097,038,010 at degree 12</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a:p>
            <a:pPr lvl="0"/>
            <a:r>
              <a:rPr/>
              <a:t>In code: </a:t>
            </a:r>
            <a:r>
              <a:rPr>
                <a:latin typeface="Courier"/>
              </a:rPr>
              <a:t>make_pipeline(StandardScaler(), Ridge(alpha=0.01))</a:t>
            </a:r>
            <a:r>
              <a:rPr/>
              <a:t>; scikit-learn calls λ </a:t>
            </a:r>
            <a:r>
              <a:rPr>
                <a:latin typeface="Courier"/>
              </a:rPr>
              <a:t>alpha</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 RMSE</a:t>
                      </a:r>
                    </a:p>
                  </a:txBody>
                  <a:tcPr/>
                </a:tc>
                <a:tc>
                  <a:txBody>
                    <a:bodyPr/>
                    <a:lstStyle/>
                    <a:p>
                      <a:pPr lvl="0" indent="0" marL="0">
                        <a:buNone/>
                      </a:pPr>
                      <a:r>
                        <a:rPr/>
                        <a:t>Test RMSE</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of XᵀX shifts up by λ, so none of them can be zero</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area_sqm</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Ridge on the degree-12 fit, 39-43</a:t>
                      </a:r>
                    </a:p>
                  </a:txBody>
                </a:tc>
                <a:tc>
                  <a:txBody>
                    <a:bodyPr/>
                    <a:lstStyle/>
                    <a:p>
                      <a:pPr lvl="0" indent="0" marL="0">
                        <a:buNone/>
                      </a:pPr>
                      <a:r>
                        <a:rPr>
                          <a:latin typeface="Courier"/>
                        </a:rPr>
                        <a:t>Ridge(alpha=0.01)</a:t>
                      </a:r>
                      <a:r>
                        <a:rPr/>
                        <a:t> after </a:t>
                      </a:r>
                      <a:r>
                        <a:rPr>
                          <a:latin typeface="Courier"/>
                        </a:rPr>
                        <a:t>PolynomialFeatures</a:t>
                      </a:r>
                      <a:r>
                        <a:rPr/>
                        <a:t> and </a:t>
                      </a:r>
                      <a:r>
                        <a:rPr>
                          <a:latin typeface="Courier"/>
                        </a:rPr>
                        <a:t>StandardScaler</a:t>
                      </a:r>
                      <a:r>
                        <a:rPr/>
                        <a:t> → largest coefficient 365</a:t>
                      </a:r>
                    </a:p>
                  </a:txBody>
                </a:tc>
              </a:tr>
              <a:tr h="0">
                <a:tc>
                  <a:txBody>
                    <a:bodyPr/>
                    <a:lstStyle/>
                    <a:p>
                      <a:pPr lvl="0" indent="0" marL="0">
                        <a:buNone/>
                      </a:pPr>
                      <a:r>
                        <a:rPr/>
                        <a:t>regularisation paths, 46-48</a:t>
                      </a:r>
                    </a:p>
                  </a:txBody>
                </a:tc>
                <a:tc>
                  <a:txBody>
                    <a:bodyPr/>
                    <a:lstStyle/>
                    <a:p>
                      <a:pPr lvl="0" indent="0" marL="0">
                        <a:buNone/>
                      </a:pPr>
                      <a:r>
                        <a:rPr>
                          <a:latin typeface="Courier"/>
                        </a:rPr>
                        <a:t>make_pipeline(StandardScaler(), Ridge(alpha=...))</a:t>
                      </a:r>
                      <a:r>
                        <a:rPr/>
                        <a:t>, the same with </a:t>
                      </a:r>
                      <a:r>
                        <a:rPr>
                          <a:latin typeface="Courier"/>
                        </a:rPr>
                        <a:t>Lasso</a:t>
                      </a:r>
                      <a:r>
                        <a:rPr/>
                        <a:t> → only area left at 40,000</a:t>
                      </a:r>
                    </a:p>
                  </a:txBody>
                </a:tc>
              </a:tr>
              <a:tr h="0">
                <a:tc>
                  <a:txBody>
                    <a:bodyPr/>
                    <a:lstStyle/>
                    <a:p>
                      <a:pPr lvl="0" indent="0" marL="0">
                        <a:buNone/>
                      </a:pPr>
                      <a:r>
                        <a:rPr/>
                        <a:t>the collinear case, 49-50</a:t>
                      </a:r>
                    </a:p>
                  </a:txBody>
                </a:tc>
                <a:tc>
                  <a:txBody>
                    <a:bodyPr/>
                    <a:lstStyle/>
                    <a:p>
                      <a:pPr lvl="0" indent="0" marL="0">
                        <a:buNone/>
                      </a:pPr>
                      <a:r>
                        <a:rPr>
                          <a:latin typeface="Courier"/>
                        </a:rPr>
                        <a:t>LinearRegression</a:t>
                      </a:r>
                      <a:r>
                        <a:rPr/>
                        <a:t> against </a:t>
                      </a:r>
                      <a:r>
                        <a:rPr>
                          <a:latin typeface="Courier"/>
                        </a:rPr>
                        <a:t>Ridge(alpha=10)</a:t>
                      </a:r>
                      <a:r>
                        <a:rPr/>
                        <a:t> on four splits → 9,261 to 45,307, then about 40,000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23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