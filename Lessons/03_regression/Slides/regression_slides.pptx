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is collected. Ask two or three people what they built. If the common mistake appeared, name it: fitting the scaler or the imputer before splitting the data. It is the exact thing lesson 2 warned about, and seeing it in their own work is more instructive than any slide.</a:t>
            </a:r>
          </a:p>
          <a:p>
            <a:pPr lvl="0" indent="0" marL="0">
              <a:buNone/>
            </a:pPr>
          </a:p>
          <a:p>
            <a:pPr lvl="0" indent="0" marL="0">
              <a:buNone/>
            </a:pPr>
            <a:r>
              <a:rPr/>
              <a:t>Then the connection forward: everything from today onwards goes inside that ColumnTransformer. We are no longer preparing data, we are fitting models to prepared data.</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agenda. Say that this is the first lesson where we fit a model, and that regression is a deliberate first choice for three reasons: it has an exact solution, so we can see what fitting means with no machinery in the way; it has an iterative one too, which is the same algorithm that trains neural networks in lesson 9; and its coefficients are readable in the units of the problem.</a:t>
            </a:r>
          </a:p>
          <a:p>
            <a:pPr lvl="0" indent="0" marL="0">
              <a:buNone/>
            </a:pPr>
          </a:p>
          <a:p>
            <a:pPr lvl="0" indent="0" marL="0">
              <a:buNone/>
            </a:pPr>
            <a:r>
              <a:rPr/>
              <a:t>That third property is why linear models are still in production in medicine and credit scoring, decades after more accurate methods existed. Worth saying - the room usually assumes “simple” means “obsolete”.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Synthetic, deliberately. Every estimate today can be checked against the truth, which no real dataset allows.</a:t>
            </a:r>
          </a:p>
          <a:p>
            <a:pPr lvl="0" indent="0" marL="0">
              <a:buNone/>
            </a:pPr>
          </a:p>
          <a:p>
            <a:pPr lvl="0" indent="0" marL="0">
              <a:buNone/>
            </a:pPr>
            <a:r>
              <a:rPr/>
              <a:t>Give the numbers: 2,400 euros per square metre, 9,000 per bedroom, 14,000 per bathroom, minus 1,800 per year of age, minus 6,500 per kilometre from the centre, 12,000 for a garage. Noise of 18,000 euros on each price.</a:t>
            </a:r>
          </a:p>
          <a:p>
            <a:pPr lvl="0" indent="0" marL="0">
              <a:buNone/>
            </a:pPr>
          </a:p>
          <a:p>
            <a:pPr lvl="0" indent="0" marL="0">
              <a:buNone/>
            </a:pPr>
            <a:r>
              <a:rPr/>
              <a:t>Say why this matters: without the truth, “the coefficient is 7,503” is a number. With it, “the coefficient is 7,503 and the truth is 9,000” is a lesson about when estimates can be trusted - which is section 7 of the handout and the most useful thing in today’s lesson.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notebook 1. Before any model, look at the data - the habit lesson 2 spent three hours arguing for.</a:t>
            </a:r>
          </a:p>
          <a:p>
            <a:pPr lvl="0" indent="0" marL="0">
              <a:buNone/>
            </a:pPr>
          </a:p>
          <a:p>
            <a:pPr lvl="0" indent="0" marL="0">
              <a:buNone/>
            </a:pPr>
            <a:r>
              <a:rPr/>
              <a:t>Two things to point at. The cloud clearly slopes, so a line is a reasonable first guess; and the spread around that slope is wide, which is the 18,000 euros of noise we put in. That spread is a floor: no model, however clever, can predict these prices better than the noise allows.</a:t>
            </a:r>
          </a:p>
          <a:p>
            <a:pPr lvl="0" indent="0" marL="0">
              <a:buNone/>
            </a:pPr>
          </a:p>
          <a:p>
            <a:pPr lvl="0" indent="0" marL="0">
              <a:buNone/>
            </a:pPr>
            <a:r>
              <a:rPr/>
              <a:t>Ask the room to eyeball the slope in euros per square metre before you show any fit. Someone usually lands near 2,400, and having guessed it makes the fitted number mean something when it arrives.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as a sentence, then question it. Is the hundred-and-first square metre really worth what the fiftieth was? Is a garage worth the same in the centre as in the suburbs, where there is street parking anyway?</a:t>
            </a:r>
          </a:p>
          <a:p>
            <a:pPr lvl="0" indent="0" marL="0">
              <a:buNone/>
            </a:pPr>
          </a:p>
          <a:p>
            <a:pPr lvl="0" indent="0" marL="0">
              <a:buNone/>
            </a:pPr>
            <a:r>
              <a:rPr/>
              <a:t>Almost certainly not. The right response is not to abandon linear models but to know what you have assumed - section 5 shows how to check the assumption and how to relax it when it fails.</a:t>
            </a:r>
          </a:p>
          <a:p>
            <a:pPr lvl="0" indent="0" marL="0">
              <a:buNone/>
            </a:pPr>
          </a:p>
          <a:p>
            <a:pPr lvl="0" indent="0" marL="0">
              <a:buNone/>
            </a:pPr>
            <a:r>
              <a:rPr/>
              <a:t>Ask the room for a feature where the constant-per-unit claim would obviously break. Bedrooms is a good answer: the tenth bedroom is not worth what the second was.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intuition before the formula, and it takes ten seconds. Read the first sum aloud: for every house i, the prediction minus the true price, added up. A model that is 50,000 too high on one house and 50,000 too low on another is not perfect, but that sum is zero.</a:t>
            </a:r>
          </a:p>
          <a:p>
            <a:pPr lvl="0" indent="0" marL="0">
              <a:buNone/>
            </a:pPr>
          </a:p>
          <a:p>
            <a:pPr lvl="0" indent="0" marL="0">
              <a:buNone/>
            </a:pPr>
            <a:r>
              <a:rPr/>
              <a:t>So every error must count as a positive amount. That is the requirement, and the last line gives the two ways of meeting it: take the absolute value of each error, or square it. The next slide says why we choose squaring, and the one after turns the squared sum into the cost the lesson minimises.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from the formula on the first line, the squared error of the previous slide: for each house, the prediction minus the true price, squared, then added up. Call one error e: squared error adds e squared for it, absolute error would add the size of e.</a:t>
            </a:r>
          </a:p>
          <a:p>
            <a:pPr lvl="0" indent="0" marL="0">
              <a:buNone/>
            </a:pPr>
          </a:p>
          <a:p>
            <a:pPr lvl="0" indent="0" marL="0">
              <a:buNone/>
            </a:pPr>
            <a:r>
              <a:rPr/>
              <a:t>Then give the three reasons on the slide in increasing order of depth. The first, differentiability, is convenience: e squared has a derivative everywhere, while the absolute value has a corner at zero, so with squared error calculus can find the minimum directly. The second is a design decision: doubling an error quadruples its cost, so being wrong by 40,000 on one house costs the same as 20,000 on four, which matches most intuitions about what a bad prediction is.</a:t>
            </a:r>
          </a:p>
          <a:p>
            <a:pPr lvl="0" indent="0" marL="0">
              <a:buNone/>
            </a:pPr>
          </a:p>
          <a:p>
            <a:pPr lvl="0" indent="0" marL="0">
              <a:buNone/>
            </a:pPr>
            <a:r>
              <a:rPr/>
              <a:t>The third is the real reason and worth saying even though we do not prove it: if you believe the noise is Gaussian, least squares is not a convention, it is the maximum likelihood estimator - the coefficients it picks are the ones under which the observed prices were most probable. That connects to the histogram of the residuals (the leftover errors) in notebook 1, which has the bell shape of a Gaussian.</a:t>
            </a:r>
          </a:p>
          <a:p>
            <a:pPr lvl="0" indent="0" marL="0">
              <a:buNone/>
            </a:pPr>
          </a:p>
          <a:p>
            <a:pPr lvl="0" indent="0" marL="0">
              <a:buNone/>
            </a:pPr>
            <a:r>
              <a:rPr/>
              <a:t>Then the consequence, which is not optional: squared error is sensitive to outliers, because one absurd value contributes its error squared. Lesson 2’s work on outliers is needed for this lesson, not an optional warm-up.</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the parts: m is the number of examples, the sum runs over all of them, the half is there for convenience when we differentiate, and the square makes every error positive and punishes large ones most, as the previous slide said. This is the mean squared error, MSE from here on, and the name is worth saying aloud because every later slide uses the abbreviation.</a:t>
            </a:r>
          </a:p>
          <a:p>
            <a:pPr lvl="0" indent="0" marL="0">
              <a:buNone/>
            </a:pPr>
          </a:p>
          <a:p>
            <a:pPr lvl="0" indent="0" marL="0">
              <a:buNone/>
            </a:pPr>
            <a:r>
              <a:rPr/>
              <a:t>Ask where the half comes from if nobody has. Answer: differentiating a square brings down a 2, and the half cancels it. It cannot move the minimum, because scaling a function by a constant does not move its minimiser.</a:t>
            </a:r>
          </a:p>
          <a:p>
            <a:pPr lvl="0" indent="0" marL="0">
              <a:buNone/>
            </a:pPr>
          </a:p>
          <a:p>
            <a:pPr lvl="0" indent="0" marL="0">
              <a:buNone/>
            </a:pPr>
            <a:r>
              <a:rPr/>
              <a:t>Handout section 2.2. The worked table there computes the cost for three houses and shows how the two large errors contribute nearly everything - squared error spends its attention on the worst predictions, which is a choice you are making whether or not you notice.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first row across out loud: 80 square metres, the model says 237,000, the truth is 240,000, so it is 3,000 euros light. Then the last column squares it.</a:t>
            </a:r>
          </a:p>
          <a:p>
            <a:pPr lvl="0" indent="0" marL="0">
              <a:buNone/>
            </a:pPr>
          </a:p>
          <a:p>
            <a:pPr lvl="0" indent="0" marL="0">
              <a:buNone/>
            </a:pPr>
            <a:r>
              <a:rPr/>
              <a:t>Dividing the sum by 2m gives a cost of about 6.7 × 10⁷. Nobody should be impressed by that number on its own - a cost is only meaningful compared with another cost, which is exactly what fitting does.</a:t>
            </a:r>
          </a:p>
          <a:p>
            <a:pPr lvl="0" indent="0" marL="0">
              <a:buNone/>
            </a:pPr>
          </a:p>
          <a:p>
            <a:pPr lvl="0" indent="0" marL="0">
              <a:buNone/>
            </a:pPr>
            <a:r>
              <a:rPr/>
              <a:t>Handout section 2.3 has this table. The next slide is what it is really for.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point of the worked example, and it is a design decision rather than a fact of nature.</a:t>
            </a:r>
          </a:p>
          <a:p>
            <a:pPr lvl="0" indent="0" marL="0">
              <a:buNone/>
            </a:pPr>
          </a:p>
          <a:p>
            <a:pPr lvl="0" indent="0" marL="0">
              <a:buNone/>
            </a:pPr>
            <a:r>
              <a:rPr/>
              <a:t>Put the third bullet against its opposite, because the contrast is the whole lesson: halving the </a:t>
            </a:r>
            <a:r>
              <a:rPr i="1"/>
              <a:t>worst</a:t>
            </a:r>
            <a:r>
              <a:rPr/>
              <a:t> error cuts the cost by 42%, while halving the </a:t>
            </a:r>
            <a:r>
              <a:rPr i="1"/>
              <a:t>best</a:t>
            </a:r>
            <a:r>
              <a:rPr/>
              <a:t> one cuts it by 1.7%. Same effort, twenty-five times the reward - so that is where the fit will go.</a:t>
            </a:r>
          </a:p>
          <a:p>
            <a:pPr lvl="0" indent="0" marL="0">
              <a:buNone/>
            </a:pPr>
          </a:p>
          <a:p>
            <a:pPr lvl="0" indent="0" marL="0">
              <a:buNone/>
            </a:pPr>
            <a:r>
              <a:rPr/>
              <a:t>Squaring means the fit will bend itself towards its worst predictions and largely ignore the ones it already gets nearly right. Most of the time that is what you want - a model wrong by 40,000 on one house is worse than one wrong by 10,000 on four.</a:t>
            </a:r>
          </a:p>
          <a:p>
            <a:pPr lvl="0" indent="0" marL="0">
              <a:buNone/>
            </a:pPr>
          </a:p>
          <a:p>
            <a:pPr lvl="0" indent="0" marL="0">
              <a:buNone/>
            </a:pPr>
            <a:r>
              <a:rPr/>
              <a:t>But say the flip side plainly, because it is lesson 2 arriving from a new direction: one absurd outlier contributes its error squared, so it can drag the entire fit towards itself. If you did not clean the data, least squares will faithfully optimise for the mistake.</a:t>
            </a:r>
          </a:p>
          <a:p>
            <a:pPr lvl="0" indent="0" marL="0">
              <a:buNone/>
            </a:pPr>
          </a:p>
          <a:p>
            <a:pPr lvl="0" indent="0" marL="0">
              <a:buNone/>
            </a:pPr>
            <a:r>
              <a:rPr/>
              <a:t>Ask what would change if we minimised absolute error instead. Answer: the fit would follow the bulk of the data and pay much less attention to the outlier - which is what robust regression (a family of methods built to resist outliers) does, and why it exists.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 1’s habit, applied to regression for the first time. A classifier gets a majority-class baseline before its score is taken seriously; a regression gets the mean.</a:t>
            </a:r>
          </a:p>
          <a:p>
            <a:pPr lvl="0" indent="0" marL="0">
              <a:buNone/>
            </a:pPr>
          </a:p>
          <a:p>
            <a:pPr lvl="0" indent="0" marL="0">
              <a:buNone/>
            </a:pPr>
            <a:r>
              <a:rPr/>
              <a:t>Read the two root mean squared error (RMSE) numbers aloud before the ratio: 96,440 euros against 20,341. Then say that R-squared is nothing more than that comparison written as one number - one minus the model’s squared error over the mean’s - so 0 means you matched the mean, 1 means perfect, and negative means worse than the mean, which does happen on a test set.</a:t>
            </a:r>
          </a:p>
          <a:p>
            <a:pPr lvl="0" indent="0" marL="0">
              <a:buNone/>
            </a:pPr>
          </a:p>
          <a:p>
            <a:pPr lvl="0" indent="0" marL="0">
              <a:buNone/>
            </a:pPr>
            <a:r>
              <a:rPr/>
              <a:t>The last bullet is the caution that keeps them out of trouble, and the handout measures it: keep this exact model and score it on the 55 test houses whose price is within half a standard deviation of the mean - a street where the houses resemble each other. R-squared falls from 0.956 to 0.448 while the RMSE IMPROVES, 20,341 euros to 18,661, because predicting the mean is a good strategy when every house is worth about the same.</a:t>
            </a:r>
          </a:p>
          <a:p>
            <a:pPr lvl="0" indent="0" marL="0">
              <a:buNone/>
            </a:pPr>
          </a:p>
          <a:p>
            <a:pPr lvl="0" indent="0" marL="0">
              <a:buNone/>
            </a:pPr>
            <a:r>
              <a:rPr/>
              <a:t>So R-squared compares a model against the mean OF THE DATASET IT WAS MEASURED ON, and cannot compare two models measured on different data. Handout section 2.4.</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aloud: w star and b star are the values of the slope and the intercept at which the cost J is smallest. The star marks “the best values”; it is a label, not an operation.</a:t>
            </a:r>
          </a:p>
          <a:p>
            <a:pPr lvl="0" indent="0" marL="0">
              <a:buNone/>
            </a:pPr>
          </a:p>
          <a:p>
            <a:pPr lvl="0" indent="0" marL="0">
              <a:buNone/>
            </a:pPr>
            <a:r>
              <a:rPr/>
              <a:t>arg min is lesson 1’s notation, met there as f-hat equals the arg min of the training error. It returns where the minimum is reached, not the minimum itself: here, a pair of numbers (w, b), not a cost. That distinction is worth a sentence, because the minimum of J is a number nobody needs - what the lesson wants is the coefficients that achieve it.</a:t>
            </a:r>
          </a:p>
          <a:p>
            <a:pPr lvl="0" indent="0" marL="0">
              <a:buNone/>
            </a:pPr>
          </a:p>
          <a:p>
            <a:pPr lvl="0" indent="0" marL="0">
              <a:buNone/>
            </a:pPr>
            <a:r>
              <a:rPr/>
              <a:t>This line is the whole of “fitting”. Everything else in the first half of the lesson is a way of computing it: exactly, with the normal equation on slides 15-18, or step by step, with gradient descent on slides 21-25. The next slide shows J as a surface over (w, b), and the pair this formula asks for is the lowest point of that surface.</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notebook 1. Two parameters, so the cost is a surface over the plane of (slope, intercept), and fitting means finding its lowest point.</a:t>
            </a:r>
          </a:p>
          <a:p>
            <a:pPr lvl="0" indent="0" marL="0">
              <a:buNone/>
            </a:pPr>
          </a:p>
          <a:p>
            <a:pPr lvl="0" indent="0" marL="0">
              <a:buNone/>
            </a:pPr>
            <a:r>
              <a:rPr/>
              <a:t>The important structural fact: this bowl is convex. There is one minimum and no local traps. Say that explicitly, because it is a property most methods later in the course do NOT have - lesson 9’s networks have cost surfaces full of local minima, and a great deal of the difficulty of training them comes from exactly that.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Spend a full minute here. This is the intuition; the algebra follows.</a:t>
            </a:r>
          </a:p>
          <a:p>
            <a:pPr lvl="0" indent="0" marL="0">
              <a:buNone/>
            </a:pPr>
          </a:p>
          <a:p>
            <a:pPr lvl="0" indent="0" marL="0">
              <a:buNone/>
            </a:pPr>
            <a:r>
              <a:rPr/>
              <a:t>Each feature is a direction the model can move in. Everything the model can predict lies on the flat surface those directions span. The true prices are a point that almost certainly does NOT lie on it - no combination of area and age reproduces them exactly.</a:t>
            </a:r>
          </a:p>
          <a:p>
            <a:pPr lvl="0" indent="0" marL="0">
              <a:buNone/>
            </a:pPr>
          </a:p>
          <a:p>
            <a:pPr lvl="0" indent="0" marL="0">
              <a:buNone/>
            </a:pPr>
            <a:r>
              <a:rPr/>
              <a:t>So the best you can do is the closest point on the surface: the shadow, the perpendicular projection.</a:t>
            </a:r>
          </a:p>
          <a:p>
            <a:pPr lvl="0" indent="0" marL="0">
              <a:buNone/>
            </a:pPr>
          </a:p>
          <a:p>
            <a:pPr lvl="0" indent="0" marL="0">
              <a:buNone/>
            </a:pPr>
            <a:r>
              <a:rPr/>
              <a:t>Then the punchline, which is the whole method: why perpendicular? Because if the leftover error had any component lying ALONG the surface, you could have moved that way and done better. At the optimum the error must be at right angles to every feature. That is what the normal equations say, and it is where the name comes from.</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exact solution: theta collects the intercept and every coefficient, and the formula gives all of them at once, with no iteration. It is four lines of NumPy, and notebook 1 shows it agreeing with scikit-learn’s answer to within 1.8 × 10⁻¹² euros per square metre - the two differ only by rounding.</a:t>
            </a:r>
          </a:p>
          <a:p>
            <a:pPr lvl="0" indent="0" marL="0">
              <a:buNone/>
            </a:pPr>
          </a:p>
          <a:p>
            <a:pPr lvl="0" indent="0" marL="0">
              <a:buNone/>
            </a:pPr>
            <a:r>
              <a:rPr/>
              <a:t>Handout section 3.1 derives it properly and section 3.2 does it by hand on three houses: X transpose X, determinant 22,400, the inverse, and out comes 2,536 euros per square metre against a true 2,400. Three data points, two parameters, 6% error. Worth doing on the board if the room is engaged.</a:t>
            </a:r>
          </a:p>
          <a:p>
            <a:pPr lvl="0" indent="0" marL="0">
              <a:buNone/>
            </a:pPr>
          </a:p>
          <a:p>
            <a:pPr lvl="0" indent="0" marL="0">
              <a:buNone/>
            </a:pPr>
            <a:r>
              <a:rPr/>
              <a:t>Why it is the minimum and not some other flat point is the next slide but one.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Worth doing on the board if the room is awake - it takes four minutes and it turns the formula into something they have touched.</a:t>
            </a:r>
          </a:p>
          <a:p>
            <a:pPr lvl="0" indent="0" marL="0">
              <a:buNone/>
            </a:pPr>
          </a:p>
          <a:p>
            <a:pPr lvl="0" indent="0" marL="0">
              <a:buNone/>
            </a:pPr>
            <a:r>
              <a:rPr/>
              <a:t>The whole method on three data points: build the two-by-two matrix, take its determinant, invert it, multiply. Out comes a slope within 6% of the value that generated the data, from three houses and two parameters.</a:t>
            </a:r>
          </a:p>
          <a:p>
            <a:pPr lvl="0" indent="0" marL="0">
              <a:buNone/>
            </a:pPr>
          </a:p>
          <a:p>
            <a:pPr lvl="0" indent="0" marL="0">
              <a:buNone/>
            </a:pPr>
            <a:r>
              <a:rPr/>
              <a:t>If you do put it on the board, show the dot product that gives the second entry of X transpose y - 80 times 240, plus 120 times 320, plus 200 times 540. It is the step where an arithmetic slip hides, and watching it done is what makes the formula stop being a black box.</a:t>
            </a:r>
          </a:p>
          <a:p>
            <a:pPr lvl="0" indent="0" marL="0">
              <a:buNone/>
            </a:pPr>
          </a:p>
          <a:p>
            <a:pPr lvl="0" indent="0" marL="0">
              <a:buNone/>
            </a:pPr>
            <a:r>
              <a:rPr/>
              <a:t>Then the honest caveat, and it is sharper than it looks: three points is nothing, and the 6% is luck. Run the SAME one-feature fit on 450 houses and you get 2,785 - sixteen percent high, further from the truth, with 150 times the data. More rows cannot fix it, because nothing is broken: asked what a square metre is worth when area is all you are told, the honest answer includes the bedrooms and bathrooms that come with it. All six features give 2,421.</a:t>
            </a:r>
          </a:p>
          <a:p>
            <a:pPr lvl="0" indent="0" marL="0">
              <a:buNone/>
            </a:pPr>
          </a:p>
          <a:p>
            <a:pPr lvl="0" indent="0" marL="0">
              <a:buNone/>
            </a:pPr>
            <a:r>
              <a:rPr/>
              <a:t>So the point is not the accuracy. It is that the formula is arithmetic you could do by hand - and that what a coefficient means depends on what else is in the model, which is section 7.</a:t>
            </a:r>
          </a:p>
          <a:p>
            <a:pPr lvl="0" indent="0" marL="0">
              <a:buNone/>
            </a:pPr>
          </a:p>
          <a:p>
            <a:pPr lvl="0" indent="0" marL="0">
              <a:buNone/>
            </a:pPr>
            <a:r>
              <a:rPr/>
              <a:t>Handout section 3.2 carries every intermediate step.</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Short slide, big consequence. Setting a gradient to zero finds a flat spot; it does not by itself tell you the flat spot is the lowest point rather than a ridge or a local dip.</a:t>
            </a:r>
          </a:p>
          <a:p>
            <a:pPr lvl="0" indent="0" marL="0">
              <a:buNone/>
            </a:pPr>
          </a:p>
          <a:p>
            <a:pPr lvl="0" indent="0" marL="0">
              <a:buNone/>
            </a:pPr>
            <a:r>
              <a:rPr/>
              <a:t>Here it does, because the cost is convex. Give the one-line reason without the algebra: XᵀX can never be negative in any direction, since asking for its value in direction v gives the squared length of Xv, and a squared length is never negative.</a:t>
            </a:r>
          </a:p>
          <a:p>
            <a:pPr lvl="0" indent="0" marL="0">
              <a:buNone/>
            </a:pPr>
          </a:p>
          <a:p>
            <a:pPr lvl="0" indent="0" marL="0">
              <a:buNone/>
            </a:pPr>
            <a:r>
              <a:rPr/>
              <a:t>Now flag it forward, because this is the slide they should remember in lesson 9: this property is a luxury. Neural network cost surfaces are full of local minima, and a large part of the difficulty of training them is that nobody can promise the point you reached is the point you wanted. Today we can.</a:t>
            </a:r>
          </a:p>
          <a:p>
            <a:pPr lvl="0" indent="0" marL="0">
              <a:buNone/>
            </a:pPr>
          </a:p>
          <a:p>
            <a:pPr lvl="0" indent="0" marL="0">
              <a:buNone/>
            </a:pPr>
            <a:r>
              <a:rPr/>
              <a:t>Handout section 3.1, the paragraph headed “Is this really a minimum?”.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failure modes, and the third is the dangerous one because nothing visibly breaks.</a:t>
            </a:r>
          </a:p>
          <a:p>
            <a:pPr lvl="0" indent="0" marL="0">
              <a:buNone/>
            </a:pPr>
          </a:p>
          <a:p>
            <a:pPr lvl="0" indent="0" marL="0">
              <a:buNone/>
            </a:pPr>
            <a:r>
              <a:rPr/>
              <a:t>At a thousand features the cube is a billion operations; at a hundred thousand it is out of reach. Every large model in this course is trained iteratively.</a:t>
            </a:r>
          </a:p>
          <a:p>
            <a:pPr lvl="0" indent="0" marL="0">
              <a:buNone/>
            </a:pPr>
          </a:p>
          <a:p>
            <a:pPr lvl="0" indent="0" marL="0">
              <a:buNone/>
            </a:pPr>
            <a:r>
              <a:rPr/>
              <a:t>For the second: notebook 3 constructs exactly this, an area column in metres and the same in feet.</a:t>
            </a:r>
          </a:p>
          <a:p>
            <a:pPr lvl="0" indent="0" marL="0">
              <a:buNone/>
            </a:pPr>
          </a:p>
          <a:p>
            <a:pPr lvl="0" indent="0" marL="0">
              <a:buNone/>
            </a:pPr>
            <a:r>
              <a:rPr/>
              <a:t>For the third, give the number from notebook 3: a coefficient that moves from 9,261 to 45,307 across four random splits of the same dataset. The matrix was invertible every time. The coefficients were meaningless every time.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behind “nearly redundant”, and one of the ideas from the first half of the lesson that is most useful outside it.</a:t>
            </a:r>
          </a:p>
          <a:p>
            <a:pPr lvl="0" indent="0" marL="0">
              <a:buNone/>
            </a:pPr>
          </a:p>
          <a:p>
            <a:pPr lvl="0" indent="0" marL="0">
              <a:buNone/>
            </a:pPr>
            <a:r>
              <a:rPr/>
              <a:t>The picture: a round bowl is easy to walk down because every direction behaves the same. Two nearly-identical columns produce a ravine instead - steep across, almost flat along. The flat direction is the one where moving one coefficient up and the other down changes the predictions barely at all, which is precisely why the fit cannot decide between them.</a:t>
            </a:r>
          </a:p>
          <a:p>
            <a:pPr lvl="0" indent="0" marL="0">
              <a:buNone/>
            </a:pPr>
          </a:p>
          <a:p>
            <a:pPr lvl="0" indent="0" marL="0">
              <a:buNone/>
            </a:pPr>
            <a:r>
              <a:rPr/>
              <a:t>Then the consequence, which appears twice. For the exact solution, a stretched valley is what makes the inverse enormous and the answer unstable. For gradient descent, which is the next section, one step size has to serve every direction at once, so the steep direction sets the limit and the shallow one crawls. The condition number is, near enough, what sets the iteration count.</a:t>
            </a:r>
          </a:p>
          <a:p>
            <a:pPr lvl="0" indent="0" marL="0">
              <a:buNone/>
            </a:pPr>
          </a:p>
          <a:p>
            <a:pPr lvl="0" indent="0" marL="0">
              <a:buNone/>
            </a:pPr>
            <a:r>
              <a:rPr/>
              <a:t>Lesson 2 introduced this for scaling; unscaled features stretch the valley for exactly the same reason. Handout section 4.4.</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intuition before any notation. Take a step downhill, feel again, repeat. That is the entire algorithm.</a:t>
            </a:r>
          </a:p>
          <a:p>
            <a:pPr lvl="0" indent="0" marL="0">
              <a:buNone/>
            </a:pPr>
          </a:p>
          <a:p>
            <a:pPr lvl="0" indent="0" marL="0">
              <a:buNone/>
            </a:pPr>
            <a:r>
              <a:rPr/>
              <a:t>The gradient is the direction of steepest ascent, so we walk against it. The learning rate is the length of the stride.</a:t>
            </a:r>
          </a:p>
          <a:p>
            <a:pPr lvl="0" indent="0" marL="0">
              <a:buNone/>
            </a:pPr>
          </a:p>
          <a:p>
            <a:pPr lvl="0" indent="0" marL="0">
              <a:buNone/>
            </a:pPr>
            <a:r>
              <a:rPr/>
              <a:t>And the danger is equally intuitive, which is the point of using this picture: stride too far and you cross the valley and end up higher on the far slope. Everyone has done that walking down a steep hill.</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gradient aloud as a sentence, because its shape carries a lesson: each example pulls the coefficient in proportion to two things - how wrong the prediction was, AND how large that feature was for that example.</a:t>
            </a:r>
          </a:p>
          <a:p>
            <a:pPr lvl="0" indent="0" marL="0">
              <a:buNone/>
            </a:pPr>
          </a:p>
          <a:p>
            <a:pPr lvl="0" indent="0" marL="0">
              <a:buNone/>
            </a:pPr>
            <a:r>
              <a:rPr/>
              <a:t>So a 200 square metre house that is badly mispriced moves the area coefficient much more than a 40 square metre one with the same error. The gradient is a weighted vote and the weights are the feature values.</a:t>
            </a:r>
          </a:p>
          <a:p>
            <a:pPr lvl="0" indent="0" marL="0">
              <a:buNone/>
            </a:pPr>
          </a:p>
          <a:p>
            <a:pPr lvl="0" indent="0" marL="0">
              <a:buNone/>
            </a:pPr>
            <a:r>
              <a:rPr/>
              <a:t>That is precisely why unscaled features cause trouble, and it is lesson 2’s argument arriving from a different direction. The intercept gradient has no x in it - every example gets an equal vote there.</a:t>
            </a:r>
          </a:p>
          <a:p>
            <a:pPr lvl="0" indent="0" marL="0">
              <a:buNone/>
            </a:pPr>
          </a:p>
          <a:p>
            <a:pPr lvl="0" indent="0" marL="0">
              <a:buNone/>
            </a:pPr>
            <a:r>
              <a:rPr/>
              <a:t>Handout 4.2 works one step by hand: after a single update the slope has moved 163 times further than the intercept.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first that the prices here are in thousands of euros, so 240 means 240,000, which keeps the numbers small enough to read.</a:t>
            </a:r>
          </a:p>
          <a:p>
            <a:pPr lvl="0" indent="0" marL="0">
              <a:buNone/>
            </a:pPr>
          </a:p>
          <a:p>
            <a:pPr lvl="0" indent="0" marL="0">
              <a:buNone/>
            </a:pPr>
            <a:r>
              <a:rPr/>
              <a:t>Both gradients are negative - the model starts at zero and predicts zero for every house, so every prediction is far too low - and both parameters therefore increase. So far, nothing surprising.</a:t>
            </a:r>
          </a:p>
          <a:p>
            <a:pPr lvl="0" indent="0" marL="0">
              <a:buNone/>
            </a:pPr>
          </a:p>
          <a:p>
            <a:pPr lvl="0" indent="0" marL="0">
              <a:buNone/>
            </a:pPr>
            <a:r>
              <a:rPr/>
              <a:t>Now the thing to notice, and give the room a moment to spot it: after one identical step the slope has moved </a:t>
            </a:r>
            <a:r>
              <a:rPr b="1"/>
              <a:t>163 times further</a:t>
            </a:r>
            <a:r>
              <a:rPr/>
              <a:t> than the intercept.</a:t>
            </a:r>
          </a:p>
          <a:p>
            <a:pPr lvl="0" indent="0" marL="0">
              <a:buNone/>
            </a:pPr>
          </a:p>
          <a:p>
            <a:pPr lvl="0" indent="0" marL="0">
              <a:buNone/>
            </a:pPr>
            <a:r>
              <a:rPr/>
              <a:t>Nothing clever caused that. In the gradient, each house’s error is multiplied by its area for the slope, and by 1 for the intercept (the intercept behaves like a feature that is always 1). The two areas are 80 and 200, so the slope’s gradient comes out about 163 times larger before anything else happens. With one shared learning rate, the intercept crawls towards its value long after the slope has arrived - which is exactly what notebook 1 shows after 4,000 iterations.</a:t>
            </a:r>
          </a:p>
          <a:p>
            <a:pPr lvl="0" indent="0" marL="0">
              <a:buNone/>
            </a:pPr>
          </a:p>
          <a:p>
            <a:pPr lvl="0" indent="0" marL="0">
              <a:buNone/>
            </a:pPr>
            <a:r>
              <a:rPr/>
              <a:t>That is the concrete cost of unscaled features, and the cure is lesson 2’s.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panels are from notebook 1, and they are the same run seen two ways.</a:t>
            </a:r>
          </a:p>
          <a:p>
            <a:pPr lvl="0" indent="0" marL="0">
              <a:buNone/>
            </a:pPr>
          </a:p>
          <a:p>
            <a:pPr lvl="0" indent="0" marL="0">
              <a:buNone/>
            </a:pPr>
            <a:r>
              <a:rPr/>
              <a:t>Left: the cost against the iteration number. It falls steeply in the first few dozen steps and then flattens into a long tail that is still creeping at 4,000. Point at the flat part and say what it means - the model was essentially fitted very early, and almost all the iterations bought almost nothing.</a:t>
            </a:r>
          </a:p>
          <a:p>
            <a:pPr lvl="0" indent="0" marL="0">
              <a:buNone/>
            </a:pPr>
          </a:p>
          <a:p>
            <a:pPr lvl="0" indent="0" marL="0">
              <a:buNone/>
            </a:pPr>
            <a:r>
              <a:rPr/>
              <a:t>Right: the same run drawn on the contours, with the star marking the exact solution from the normal equation. The path arrives quickly in the steep direction and then crawls along the floor of the valley towards the star. That crawl is the previous slide’s 163-to-1 asymmetry, and it is the condition number made visible.</a:t>
            </a:r>
          </a:p>
          <a:p>
            <a:pPr lvl="0" indent="0" marL="0">
              <a:buNone/>
            </a:pPr>
          </a:p>
          <a:p>
            <a:pPr lvl="0" indent="0" marL="0">
              <a:buNone/>
            </a:pPr>
            <a:r>
              <a:rPr/>
              <a:t>The two panels are one point: progress stalls because one stride length has to serve a direction that is steep and a direction that is nearly flat.</a:t>
            </a:r>
          </a:p>
          <a:p>
            <a:pPr lvl="0" indent="0" marL="0">
              <a:buNone/>
            </a:pPr>
          </a:p>
          <a:p>
            <a:pPr lvl="0" indent="0" marL="0">
              <a:buNone/>
            </a:pPr>
            <a:r>
              <a:rPr/>
              <a:t>Ask what would happen with a much larger stride. Answer on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too small, correct but slow - the cost falls every iteration and simply takes too many of them. Middle: about right. Right: too large, and it climbs out of the valley.</a:t>
            </a:r>
          </a:p>
          <a:p>
            <a:pPr lvl="0" indent="0" marL="0">
              <a:buNone/>
            </a:pPr>
          </a:p>
          <a:p>
            <a:pPr lvl="0" indent="0" marL="0">
              <a:buNone/>
            </a:pPr>
            <a:r>
              <a:rPr/>
              <a:t>The threshold is not a rule of thumb. Handout section 4.3 derives it: for a bowl whose curvature (how quickly the slope changes) is c, gradient descent converges only when alpha is below 2/c. With several features the bowl has a different curvature in each direction, and the steepest one sets the limit; on unscaled data that steepest direction belongs to the feature with the largest spread.</a:t>
            </a:r>
          </a:p>
          <a:p>
            <a:pPr lvl="0" indent="0" marL="0">
              <a:buNone/>
            </a:pPr>
          </a:p>
          <a:p>
            <a:pPr lvl="0" indent="0" marL="0">
              <a:buNone/>
            </a:pPr>
            <a:r>
              <a:rPr/>
              <a:t>So the safe learning rate is set by your worst-scaled feature, which is another argument for scaling everything.</a:t>
            </a:r>
          </a:p>
          <a:p>
            <a:pPr lvl="0" indent="0" marL="0">
              <a:buNone/>
            </a:pPr>
          </a:p>
          <a:p>
            <a:pPr lvl="0" indent="0" marL="0">
              <a:buNone/>
            </a:pPr>
            <a:r>
              <a:rPr/>
              <a:t>Practical recipe to give them: start at 0.01 on scaled features, watch the cost, divide by three if it rises. Lesson 5 replaces the recipe with a search.</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model, the cost, the exact solution and the iterative one, built from scratch. 25 minutes. Let them work through it themselves.</a:t>
            </a:r>
          </a:p>
          <a:p>
            <a:pPr lvl="0" indent="0" marL="0">
              <a:buNone/>
            </a:pPr>
          </a:p>
          <a:p>
            <a:pPr lvl="0" indent="0" marL="0">
              <a:buNone/>
            </a:pPr>
            <a:r>
              <a:rPr/>
              <a:t>The two moments worth pausing on together. First, the agreement between their four-line normal equation and scikit-learn, to within about 10⁻¹² - seeing it on their own screen convinces more than any assurance from the lecturer. Second, the coefficient table at the end, which is the setup for the last section of the lesson.</a:t>
            </a:r>
          </a:p>
          <a:p>
            <a:pPr lvl="0" indent="0" marL="0">
              <a:buNone/>
            </a:pPr>
          </a:p>
          <a:p>
            <a:pPr lvl="0" indent="0" marL="0">
              <a:buNone/>
            </a:pPr>
            <a:r>
              <a:rPr/>
              <a:t>Watch for anyone whose gradient descent diverges. That is the “try this” at the end of the notebook and it is a good thing to have happen.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15 minutes. Back for curves, overfitting and regularisation.</a:t>
            </a:r>
          </a:p>
          <a:p>
            <a:pPr lvl="0" indent="0" marL="0">
              <a:buNone/>
            </a:pPr>
          </a:p>
          <a:p>
            <a:pPr lvl="0" indent="0" marL="0">
              <a:buNone/>
            </a:pPr>
            <a:r>
              <a:rPr/>
              <a:t>Check who is stuck in notebook 1 - the second half assumes everyone got the coefficient table out, and it is much cheaper to fix now.</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problem before the solution. Draw the U shape in the air: consumption high at both ends, minimum somewhere around 18 degrees.</a:t>
            </a:r>
          </a:p>
          <a:p>
            <a:pPr lvl="0" indent="0" marL="0">
              <a:buNone/>
            </a:pPr>
          </a:p>
          <a:p>
            <a:pPr lvl="0" indent="0" marL="0">
              <a:buNone/>
            </a:pPr>
            <a:r>
              <a:rPr/>
              <a:t>Ask what a straight line would do here. Someone will say it averages through the middle - right, and it will be too high in the centre and too low at both ends, wrong in a structural way rather than slightly imprecise.</a:t>
            </a:r>
          </a:p>
          <a:p>
            <a:pPr lvl="0" indent="0" marL="0">
              <a:buNone/>
            </a:pPr>
          </a:p>
          <a:p>
            <a:pPr lvl="0" indent="0" marL="0">
              <a:buNone/>
            </a:pPr>
            <a:r>
              <a:rPr/>
              <a:t>Notebook 2 has this dataset: 30 days of measurements, of which 21 are used for training - deliberately few.</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notebook 2. Daily energy consumption against outdoor temperature: heating at the cold end, cooling at the warm end, a minimum somewhere around 18 degrees.</a:t>
            </a:r>
          </a:p>
          <a:p>
            <a:pPr lvl="0" indent="0" marL="0">
              <a:buNone/>
            </a:pPr>
          </a:p>
          <a:p>
            <a:pPr lvl="0" indent="0" marL="0">
              <a:buNone/>
            </a:pPr>
            <a:r>
              <a:rPr/>
              <a:t>Let them look at it before saying anything. The U is obvious to a human eye in under a second, which is worth remarking on - the hard part was never seeing the shape, it is getting a model to represent it.</a:t>
            </a:r>
          </a:p>
          <a:p>
            <a:pPr lvl="0" indent="0" marL="0">
              <a:buNone/>
            </a:pPr>
          </a:p>
          <a:p>
            <a:pPr lvl="0" indent="0" marL="0">
              <a:buNone/>
            </a:pPr>
            <a:r>
              <a:rPr/>
              <a:t>Note the sample size out loud: 21 training points. Deliberately few, because the overfitting we are about to produce needs the model to have nearly as many coefficients as there are observations, and that situation is far more common in real work than people expect.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trick, and it surprises people. The model is a curve in t, but it is still a weighted sum of columns: one column holds t, a second holds t squared, and the weights w enter only by multiplication and addition. Nothing in the derivation of least squares required the columns to be the raw inputs - only that the model is linear in w, which it still is.</a:t>
            </a:r>
          </a:p>
          <a:p>
            <a:pPr lvl="0" indent="0" marL="0">
              <a:buNone/>
            </a:pPr>
          </a:p>
          <a:p>
            <a:pPr lvl="0" indent="0" marL="0">
              <a:buNone/>
            </a:pPr>
            <a:r>
              <a:rPr/>
              <a:t>So this is the same least squares, the same normal equation, the same code, on a design matrix with one extra column. PolynomialFeatures builds those columns.</a:t>
            </a:r>
          </a:p>
          <a:p>
            <a:pPr lvl="0" indent="0" marL="0">
              <a:buNone/>
            </a:pPr>
          </a:p>
          <a:p>
            <a:pPr lvl="0" indent="0" marL="0">
              <a:buNone/>
            </a:pPr>
            <a:r>
              <a:rPr/>
              <a:t>The same trick covers interactions like x1 times x2, logarithms, anything you can compute. It is why linear models remain useful on relationships that are not lines.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diagnostic to teach. The U in the residuals says: there is structure here the model did not take.</a:t>
            </a:r>
          </a:p>
          <a:p>
            <a:pPr lvl="0" indent="0" marL="0">
              <a:buNone/>
            </a:pPr>
          </a:p>
          <a:p>
            <a:pPr lvl="0" indent="0" marL="0">
              <a:buNone/>
            </a:pPr>
            <a:r>
              <a:rPr/>
              <a:t>Contrast with notebook 1, where the residuals were a formless cloud with a spread matching the known noise. That is what “the model got everything” looks like.</a:t>
            </a:r>
          </a:p>
          <a:p>
            <a:pPr lvl="0" indent="0" marL="0">
              <a:buNone/>
            </a:pPr>
          </a:p>
          <a:p>
            <a:pPr lvl="0" indent="0" marL="0">
              <a:buNone/>
            </a:pPr>
            <a:r>
              <a:rPr/>
              <a:t>Give them the habit: after fitting anything, plot the residuals against each feature. A pattern means the model has missed something.</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contrast to the previous slide, and from notebook 1 - the housing fit, where the model did capture the structure.</a:t>
            </a:r>
          </a:p>
          <a:p>
            <a:pPr lvl="0" indent="0" marL="0">
              <a:buNone/>
            </a:pPr>
          </a:p>
          <a:p>
            <a:pPr lvl="0" indent="0" marL="0">
              <a:buNone/>
            </a:pPr>
            <a:r>
              <a:rPr/>
              <a:t>A formless cloud, centred on zero, with no pattern as you sweep left to right. The spread matches the 18,000 euros of noise we know we put in, which is the best possible outcome: the model has taken everything that was there to take, and what remains is the part nobody could have predicted.</a:t>
            </a:r>
          </a:p>
          <a:p>
            <a:pPr lvl="0" indent="0" marL="0">
              <a:buNone/>
            </a:pPr>
          </a:p>
          <a:p>
            <a:pPr lvl="0" indent="0" marL="0">
              <a:buNone/>
            </a:pPr>
            <a:r>
              <a:rPr/>
              <a:t>Put the two pictures side by side in words: a U means structure you missed, a cloud means you are done. That is the whole diagnostic, and it costs one line of code after every fit.</a:t>
            </a:r>
          </a:p>
          <a:p>
            <a:pPr lvl="0" indent="0" marL="0">
              <a:buNone/>
            </a:pPr>
          </a:p>
          <a:p>
            <a:pPr lvl="0" indent="0" marL="0">
              <a:buNone/>
            </a:pPr>
            <a:r>
              <a:rPr/>
              <a:t>Give them the habit explicitly - plot residuals against each feature, every time. A pattern means the model has missed something.</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fits to the same 21 points. The degree-1 line is too rigid to follow the U; degree 2 matches the true curve, which is quadratic; degree 12 swings wildly between the points.</a:t>
            </a:r>
          </a:p>
          <a:p>
            <a:pPr lvl="0" indent="0" marL="0">
              <a:buNone/>
            </a:pPr>
          </a:p>
          <a:p>
            <a:pPr lvl="0" indent="0" marL="0">
              <a:buNone/>
            </a:pPr>
            <a:r>
              <a:rPr/>
              <a:t>Ask them which they would pick if the dashed true curve were not drawn - because that is the real situation. The only thing you ever see is the points.</a:t>
            </a:r>
          </a:p>
          <a:p>
            <a:pPr lvl="0" indent="0" marL="0">
              <a:buNone/>
            </a:pPr>
          </a:p>
          <a:p>
            <a:pPr lvl="0" indent="0" marL="0">
              <a:buNone/>
            </a:pPr>
            <a:r>
              <a:rPr/>
              <a:t>Then note the trap in the right-hand panel: it passes closest to the training points of the three. If you selected by training error you would pick it every time.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name in full before anything else, because every later slide uses the abbreviation: root mean squared error, RMSE, the square root of the mean squared error. Taking the root puts the number back into the units of the target - kilowatt-hours here - so it can be compared with the thing being predicted. An MSE of 285 means nothing to anyone; an RMSE of 16.9 kWh does.</a:t>
            </a:r>
          </a:p>
          <a:p>
            <a:pPr lvl="0" indent="0" marL="0">
              <a:buNone/>
            </a:pPr>
          </a:p>
          <a:p>
            <a:pPr lvl="0" indent="0" marL="0">
              <a:buNone/>
            </a:pPr>
            <a:r>
              <a:rPr/>
              <a:t>This is the table the whole lesson turns on. Read the columns against each other, slowly.</a:t>
            </a:r>
          </a:p>
          <a:p>
            <a:pPr lvl="0" indent="0" marL="0">
              <a:buNone/>
            </a:pPr>
          </a:p>
          <a:p>
            <a:pPr lvl="0" indent="0" marL="0">
              <a:buNone/>
            </a:pPr>
            <a:r>
              <a:rPr/>
              <a:t>Training error falls at every single step, from 113 down to 14, never once suggesting anything is wrong. Test error bottoms out at degree 3 and then climbs: 590 at degree 9, and 24,656 at degree 12.</a:t>
            </a:r>
          </a:p>
          <a:p>
            <a:pPr lvl="0" indent="0" marL="0">
              <a:buNone/>
            </a:pPr>
          </a:p>
          <a:p>
            <a:pPr lvl="0" indent="0" marL="0">
              <a:buNone/>
            </a:pPr>
            <a:r>
              <a:rPr/>
              <a:t>If someone asks why degree 3 wins when the truth is quadratic: the notebook also fits degree 2, which scores 17.4 against degree 3’s 16.9. With nine test days that difference is noise; the two are equally good.</a:t>
            </a:r>
          </a:p>
          <a:p>
            <a:pPr lvl="0" indent="0" marL="0">
              <a:buNone/>
            </a:pPr>
          </a:p>
          <a:p>
            <a:pPr lvl="0" indent="0" marL="0">
              <a:buNone/>
            </a:pPr>
            <a:r>
              <a:rPr/>
              <a:t>So the model that fits the training data best is more than a thousand times worse on data it has not seen - and the training error congratulated us the whole way.</a:t>
            </a:r>
          </a:p>
          <a:p>
            <a:pPr lvl="0" indent="0" marL="0">
              <a:buNone/>
            </a:pPr>
          </a:p>
          <a:p>
            <a:pPr lvl="0" indent="0" marL="0">
              <a:buNone/>
            </a:pPr>
            <a:r>
              <a:rPr/>
              <a:t>This is lesson 1’s empirical-versus-expected risk with numbers in it: the error on the data we fitted against the error on data we have not seen. And note how little it took: 21 training points, and at degree 12 the model has 12 coefficients plus an intercept to place among them.</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table as a picture, and the shape is the one to carry out of the room.</a:t>
            </a:r>
          </a:p>
          <a:p>
            <a:pPr lvl="0" indent="0" marL="0">
              <a:buNone/>
            </a:pPr>
          </a:p>
          <a:p>
            <a:pPr lvl="0" indent="0" marL="0">
              <a:buNone/>
            </a:pPr>
            <a:r>
              <a:rPr/>
              <a:t>Training error, the lower line, falls monotonically and never once turns up. If that were the only curve you could see - and on your own data it is - you would keep adding degrees forever and congratulate yourself the whole way.</a:t>
            </a:r>
          </a:p>
          <a:p>
            <a:pPr lvl="0" indent="0" marL="0">
              <a:buNone/>
            </a:pPr>
          </a:p>
          <a:p>
            <a:pPr lvl="0" indent="0" marL="0">
              <a:buNone/>
            </a:pPr>
            <a:r>
              <a:rPr/>
              <a:t>Test error is the other line, and it turns. The gap between the two curves is the thing with a name: that gap </a:t>
            </a:r>
            <a:r>
              <a:rPr i="1"/>
              <a:t>is</a:t>
            </a:r>
            <a:r>
              <a:rPr/>
              <a:t> overfitting, and it widens without limit.</a:t>
            </a:r>
          </a:p>
          <a:p>
            <a:pPr lvl="0" indent="0" marL="0">
              <a:buNone/>
            </a:pPr>
          </a:p>
          <a:p>
            <a:pPr lvl="0" indent="0" marL="0">
              <a:buNone/>
            </a:pPr>
            <a:r>
              <a:rPr/>
              <a:t>This is lesson 1’s empirical risk versus expected risk, now with numbers and a picture. Lesson 5 is about measuring the upper curve, the test error, honestly when you do not have a test set to spend.</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Fit the curve, push the degree up, and watch the test error turn. 20 minutes. This is the shortest of the three notebooks and the most visual.</a:t>
            </a:r>
          </a:p>
          <a:p>
            <a:pPr lvl="0" indent="0" marL="0">
              <a:buNone/>
            </a:pPr>
          </a:p>
          <a:p>
            <a:pPr lvl="0" indent="0" marL="0">
              <a:buNone/>
            </a:pPr>
            <a:r>
              <a:rPr/>
              <a:t>Have them run the degree sweep first and stop at the table, then predict which degree wins before scrolling. Most rooms guess too high - the instinct that more flexibility is better is exactly what the lesson is dismantling.</a:t>
            </a:r>
          </a:p>
          <a:p>
            <a:pPr lvl="0" indent="0" marL="0">
              <a:buNone/>
            </a:pPr>
          </a:p>
          <a:p>
            <a:pPr lvl="0" indent="0" marL="0">
              <a:buNone/>
            </a:pPr>
            <a:r>
              <a:rPr/>
              <a:t>The moment to make sure everyone reaches is the coefficient printout at the end, because the next slide is about that number and it lands far better if they have just seen it appear on their own screen.</a:t>
            </a:r>
          </a:p>
          <a:p>
            <a:pPr lvl="0" indent="0" marL="0">
              <a:buNone/>
            </a:pPr>
          </a:p>
          <a:p>
            <a:pPr lvl="0" indent="0" marL="0">
              <a:buNone/>
            </a:pPr>
            <a:r>
              <a:rPr/>
              <a:t>The “try this” reduces the training set from 21 points to 15 and asks which degree wins then. The answer moves down, which is the first hint that the right amount of flexibility depends on how much data you have - a theme for lesson 5.</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the mechanism, and it is the setup for everything after the break.</a:t>
            </a:r>
          </a:p>
          <a:p>
            <a:pPr lvl="0" indent="0" marL="0">
              <a:buNone/>
            </a:pPr>
          </a:p>
          <a:p>
            <a:pPr lvl="0" indent="0" marL="0">
              <a:buNone/>
            </a:pPr>
            <a:r>
              <a:rPr/>
              <a:t>The huge coefficients work in OPPOSITION. With 21 points and 12 coefficients there are many ways to pass close to every point, and the one least squares finds is built from enormous terms that nearly cancel: one pushes the curve up, the next pushes it down by almost the same amount. At each training point the cancellation is tuned so the curve lands near the point, because that is all least squares checks. Between the points nothing tunes it, and the curve swings by thousands.</a:t>
            </a:r>
          </a:p>
          <a:p>
            <a:pPr lvl="0" indent="0" marL="0">
              <a:buNone/>
            </a:pPr>
          </a:p>
          <a:p>
            <a:pPr lvl="0" indent="0" marL="0">
              <a:buNone/>
            </a:pPr>
            <a:r>
              <a:rPr/>
              <a:t>Then the question that leads the rest of the lesson: if enormous opposing coefficients are the symptom, what would happen if we charged for coefficient size?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penalties, one difference: squares or absolute values. MSE here is the mean squared error from the first half of the lesson. Lambda sets the exchange rate between fitting the data and keeping coefficients small; at lambda = 0 both are ordinary least squares.</a:t>
            </a:r>
          </a:p>
          <a:p>
            <a:pPr lvl="0" indent="0" marL="0">
              <a:buNone/>
            </a:pPr>
          </a:p>
          <a:p>
            <a:pPr lvl="0" indent="0" marL="0">
              <a:buNone/>
            </a:pPr>
            <a:r>
              <a:rPr/>
              <a:t>Say the naming trap out loud, because they will hit it in five minutes: we write the penalty strength as lambda, and reserve alpha for the learning rate. scikit-learn calls the penalty </a:t>
            </a:r>
            <a:r>
              <a:rPr>
                <a:latin typeface="Courier"/>
              </a:rPr>
              <a:t>alpha</a:t>
            </a:r>
            <a:r>
              <a:rPr/>
              <a:t>. So </a:t>
            </a:r>
            <a:r>
              <a:rPr>
                <a:latin typeface="Courier"/>
              </a:rPr>
              <a:t>Ridge(alpha=0.01)</a:t>
            </a:r>
            <a:r>
              <a:rPr/>
              <a:t> in code is lambda = 0.01 on this slide.</a:t>
            </a:r>
          </a:p>
          <a:p>
            <a:pPr lvl="0" indent="0" marL="0">
              <a:buNone/>
            </a:pPr>
          </a:p>
          <a:p>
            <a:pPr lvl="0" indent="0" marL="0">
              <a:buNone/>
            </a:pPr>
            <a:r>
              <a:rPr/>
              <a:t>Ridge charges the sum of the squared coefficients, Lasso the sum of their absolute values; the next slide gives the two rules both of them need.</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of these are things students get wrong, and both produce results that look fine, which is what makes them worth a slide of their own.</a:t>
            </a:r>
          </a:p>
          <a:p>
            <a:pPr lvl="0" indent="0" marL="0">
              <a:buNone/>
            </a:pPr>
          </a:p>
          <a:p>
            <a:pPr lvl="0" indent="0" marL="0">
              <a:buNone/>
            </a:pPr>
            <a:r>
              <a:rPr/>
              <a:t>The intercept says where the surface sits, not what any feature is worth. Shrinking it would drag every prediction towards zero, which for house prices in euros is a meaningless place to be dragged. scikit-learn handles this for you in both Ridge and Lasso - but only because someone decided it should, not because the formula does it by itself.</a:t>
            </a:r>
          </a:p>
          <a:p>
            <a:pPr lvl="0" indent="0" marL="0">
              <a:buNone/>
            </a:pPr>
          </a:p>
          <a:p>
            <a:pPr lvl="0" indent="0" marL="0">
              <a:buNone/>
            </a:pPr>
            <a:r>
              <a:rPr/>
              <a:t>Scaling is the sharper one. The penalty is a sum over coefficients, so the same feature measured in metres and in kilometres attracts penalties differing by a factor of a thousand. Whichever feature happens to be recorded in small units gets a large coefficient and is therefore punished hardest, entirely by accident of the unit someone chose.</a:t>
            </a:r>
          </a:p>
          <a:p>
            <a:pPr lvl="0" indent="0" marL="0">
              <a:buNone/>
            </a:pPr>
          </a:p>
          <a:p>
            <a:pPr lvl="0" indent="0" marL="0">
              <a:buNone/>
            </a:pPr>
            <a:r>
              <a:rPr/>
              <a:t>Say the contrast with lesson 2 explicitly, because it is the point: there, scaling was about optimisation speed and you could skip it and still be right. Here it is correctness. Skip it and the model answers a different question.</a:t>
            </a:r>
          </a:p>
          <a:p>
            <a:pPr lvl="0" indent="0" marL="0">
              <a:buNone/>
            </a:pPr>
          </a:p>
          <a:p>
            <a:pPr lvl="0" indent="0" marL="0">
              <a:buNone/>
            </a:pPr>
            <a:r>
              <a:rPr/>
              <a:t>Handout section 6.1.</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last column first: three billion down to 365, from a penalty of one hundredth. And the test error falls from 24,656 to 23, which is the noise floor: the noise we added to each day has a standard deviation of 22 kWh, and no model can predict below it. A thousandfold improvement, bought with one number.</a:t>
            </a:r>
          </a:p>
          <a:p>
            <a:pPr lvl="0" indent="0" marL="0">
              <a:buNone/>
            </a:pPr>
          </a:p>
          <a:p>
            <a:pPr lvl="0" indent="0" marL="0">
              <a:buNone/>
            </a:pPr>
            <a:r>
              <a:rPr/>
              <a:t>Now the training column, which is the honest part: it gets WORSE at every step. 13.6, 18, 45, 96. That is the trade being made deliberately - a worse fit on the data we have, in exchange for a better fit on data we do not.</a:t>
            </a:r>
          </a:p>
          <a:p>
            <a:pPr lvl="0" indent="0" marL="0">
              <a:buNone/>
            </a:pPr>
          </a:p>
          <a:p>
            <a:pPr lvl="0" indent="0" marL="0">
              <a:buNone/>
            </a:pPr>
            <a:r>
              <a:rPr/>
              <a:t>And it stops paying. The test error rises from 22.8 at lambda 0.01, to 105 at lambda 1, to 228 at lambda 100 - a tenfold loss against the best penalty, because the model is now too rigid to follow the curve.</a:t>
            </a:r>
          </a:p>
          <a:p>
            <a:pPr lvl="0" indent="0" marL="0">
              <a:buNone/>
            </a:pPr>
          </a:p>
          <a:p>
            <a:pPr lvl="0" indent="0" marL="0">
              <a:buNone/>
            </a:pPr>
            <a:r>
              <a:rPr/>
              <a:t>The table runs lambda from 0.01 to 100, four orders of magnitude, and the test error changes tenfold across them. That is why lambda cannot be guessed: it has to be searched for, which lesson 5 does properly.</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last column of that table, drawn. Give the room a moment on the left panel before saying anything.</a:t>
            </a:r>
          </a:p>
          <a:p>
            <a:pPr lvl="0" indent="0" marL="0">
              <a:buNone/>
            </a:pPr>
          </a:p>
          <a:p>
            <a:pPr lvl="0" indent="0" marL="0">
              <a:buNone/>
            </a:pPr>
            <a:r>
              <a:rPr/>
              <a:t>Point at the vertical scale. The unpenalised curve goes off the top and off the bottom between the training points, and it only comes back where a point is sitting there to pull it. That is what a coefficient of three billion looks like from the outside.</a:t>
            </a:r>
          </a:p>
          <a:p>
            <a:pPr lvl="0" indent="0" marL="0">
              <a:buNone/>
            </a:pPr>
          </a:p>
          <a:p>
            <a:pPr lvl="0" indent="0" marL="0">
              <a:buNone/>
            </a:pPr>
            <a:r>
              <a:rPr/>
              <a:t>Middle panel, lambda one hundredth: on top of the true curve, the dashed line. You cannot separate them by eye.</a:t>
            </a:r>
          </a:p>
          <a:p>
            <a:pPr lvl="0" indent="0" marL="0">
              <a:buNone/>
            </a:pPr>
          </a:p>
          <a:p>
            <a:pPr lvl="0" indent="0" marL="0">
              <a:buNone/>
            </a:pPr>
            <a:r>
              <a:rPr/>
              <a:t>Right panel, lambda one hundred: a nearly flat line. It misses the curve completely - but look at how it misses. It is wrong by a few hundred kilowatt hours, on a plot where the left panel is wrong by thousands.</a:t>
            </a:r>
          </a:p>
          <a:p>
            <a:pPr lvl="0" indent="0" marL="0">
              <a:buNone/>
            </a:pPr>
          </a:p>
          <a:p>
            <a:pPr lvl="0" indent="0" marL="0">
              <a:buNone/>
            </a:pPr>
            <a:r>
              <a:rPr/>
              <a:t>That is the asymmetry to take away, and the table hides it: too much penalty is a mild failure, too little is a catastrophic one. If you have to err, err towards more penalty. Handout section 6.4.</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table as a picture. Both ends are failures, and they fail for opposite reasons.</a:t>
            </a:r>
          </a:p>
          <a:p>
            <a:pPr lvl="0" indent="0" marL="0">
              <a:buNone/>
            </a:pPr>
          </a:p>
          <a:p>
            <a:pPr lvl="0" indent="0" marL="0">
              <a:buNone/>
            </a:pPr>
            <a:r>
              <a:rPr/>
              <a:t>This shape has a name - the bias-variance trade-off - and lesson 5 treats it fully, with the tools to find the bottom of that curve honestly. Today the point is only that the bottom exists and is not where either extreme is.</a:t>
            </a:r>
          </a:p>
          <a:p>
            <a:pPr lvl="0" indent="0" marL="0">
              <a:buNone/>
            </a:pPr>
          </a:p>
          <a:p>
            <a:pPr lvl="0" indent="0" marL="0">
              <a:buNone/>
            </a:pPr>
            <a:r>
              <a:rPr/>
              <a:t>If someone asks how to choose lambda: not by looking at this test curve, because that would be selecting on the test set. Cross-validation, lesson 5.</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Put this next to the normal equation from before the break and ask what changed. The answer is: one term. Add lambda down the diagonal of the matrix you invert, and that is the entire modification.</a:t>
            </a:r>
          </a:p>
          <a:p>
            <a:pPr lvl="0" indent="0" marL="0">
              <a:buNone/>
            </a:pPr>
          </a:p>
          <a:p>
            <a:pPr lvl="0" indent="0" marL="0">
              <a:buNone/>
            </a:pPr>
            <a:r>
              <a:rPr/>
              <a:t>Everything else is identical - same derivation, same projection idea, same four lines of NumPy. Ridge is not a different method; it is least squares with a price on large coefficients.</a:t>
            </a:r>
          </a:p>
          <a:p>
            <a:pPr lvl="0" indent="0" marL="0">
              <a:buNone/>
            </a:pPr>
          </a:p>
          <a:p>
            <a:pPr lvl="0" indent="0" marL="0">
              <a:buNone/>
            </a:pPr>
            <a:r>
              <a:rPr/>
              <a:t>Two small print points, for anyone who checks it against the cost on the earlier slide. Written with theta, the formula penalises the intercept too; in practice the intercept’s entry of I is set to zero, or the data are centred first so the intercept drops out, which is what scikit-learn does. And with the cost written as MSE plus lambda times the sum of squares, the lambda in this formula is that lambda times 2m. Handout section 6.2 shows where the factor comes from.</a:t>
            </a:r>
          </a:p>
          <a:p>
            <a:pPr lvl="0" indent="0" marL="0">
              <a:buNone/>
            </a:pPr>
          </a:p>
          <a:p>
            <a:pPr lvl="0" indent="0" marL="0">
              <a:buNone/>
            </a:pPr>
            <a:r>
              <a:rPr/>
              <a:t>Note that Lasso has no such formula. The absolute value has a corner, so it cannot be differentiated at zero, and the solution has to be found iteratively. That inconvenience is inseparable from the property that makes Lasso useful: the corner is exactly what produces the zeros, as two slides from now show.</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Come back to the ravine picture from before the break. The reason two identical columns break least squares is that there is a direction in which moving the coefficients changes the predictions not at all - the valley is perfectly flat along it, so there is no unique lowest point. Infinitely many answers fit equally well.</a:t>
            </a:r>
          </a:p>
          <a:p>
            <a:pPr lvl="0" indent="0" marL="0">
              <a:buNone/>
            </a:pPr>
          </a:p>
          <a:p>
            <a:pPr lvl="0" indent="0" marL="0">
              <a:buNone/>
            </a:pPr>
            <a:r>
              <a:rPr/>
              <a:t>Ridge tilts the floor of that valley. Once coefficient size costs something, moving along that flat direction is no longer free, the flatness acquires a slope, and a single lowest point appears.</a:t>
            </a:r>
          </a:p>
          <a:p>
            <a:pPr lvl="0" indent="0" marL="0">
              <a:buNone/>
            </a:pPr>
          </a:p>
          <a:p>
            <a:pPr lvl="0" indent="0" marL="0">
              <a:buNone/>
            </a:pPr>
            <a:r>
              <a:rPr/>
              <a:t>The algebraic version is the third bullet and it is worth one sentence: adding lambda to the diagonal shifts every eigenvalue up by lambda, and a matrix is singular exactly when one of its eigenvalues is zero. So for any lambda above zero, it cannot be singular. </a:t>
            </a:r>
            <a:r>
              <a:rPr b="1"/>
              <a:t>Ridge always has a unique answer, even where least squares has none at all.</a:t>
            </a:r>
          </a:p>
          <a:p>
            <a:pPr lvl="0" indent="0" marL="0">
              <a:buNone/>
            </a:pPr>
          </a:p>
          <a:p>
            <a:pPr lvl="0" indent="0" marL="0">
              <a:buNone/>
            </a:pPr>
            <a:r>
              <a:rPr/>
              <a:t>Worth saying plainly: Hoerl and Kennard invented ridge in 1970 for this problem, not for overfitting. The overfitting cure was the side effect.</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Intuition before algebra again, and this one is worth the time.</a:t>
            </a:r>
          </a:p>
          <a:p>
            <a:pPr lvl="0" indent="0" marL="0">
              <a:buNone/>
            </a:pPr>
          </a:p>
          <a:p>
            <a:pPr lvl="0" indent="0" marL="0">
              <a:buNone/>
            </a:pPr>
            <a:r>
              <a:rPr/>
              <a:t>Think of the penalty as a budget: you may spend a fixed total on coefficients and want the best fit that money buys. Draw what you can afford. For two coefficients, charging squares makes the affordable region a disc; charging absolute values makes it a diamond, a square turned to stand on its corners.</a:t>
            </a:r>
          </a:p>
          <a:p>
            <a:pPr lvl="0" indent="0" marL="0">
              <a:buNone/>
            </a:pPr>
          </a:p>
          <a:p>
            <a:pPr lvl="0" indent="0" marL="0">
              <a:buNone/>
            </a:pPr>
            <a:r>
              <a:rPr/>
              <a:t>The best affordable fit is where the error contours (the rings of equal cost around the unpenalised answer) first touch the region.</a:t>
            </a:r>
          </a:p>
          <a:p>
            <a:pPr lvl="0" indent="0" marL="0">
              <a:buNone/>
            </a:pPr>
          </a:p>
          <a:p>
            <a:pPr lvl="0" indent="0" marL="0">
              <a:buNone/>
            </a:pPr>
            <a:r>
              <a:rPr/>
              <a:t>A disc is smooth, so contact happens at a generic point with both coefficients non-zero. A diamond has corners, its corners lie ON THE AXES, and a corner is a point where one coefficient is exactly zero. Corners stick out, so they get touched first.</a:t>
            </a:r>
          </a:p>
          <a:p>
            <a:pPr lvl="0" indent="0" marL="0">
              <a:buNone/>
            </a:pPr>
          </a:p>
          <a:p>
            <a:pPr lvl="0" indent="0" marL="0">
              <a:buNone/>
            </a:pPr>
            <a:r>
              <a:rPr/>
              <a:t>That is the entire reason Lasso produces zeros and Ridge does not. Not a tolerance, not a numerical accident - the shape of the budget.</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notebook 3. Left: ridge coefficients approach zero smoothly and never arrive. Right: lasso coefficients hit zero at a finite lambda and stay.</a:t>
            </a:r>
          </a:p>
          <a:p>
            <a:pPr lvl="0" indent="0" marL="0">
              <a:buNone/>
            </a:pPr>
          </a:p>
          <a:p>
            <a:pPr lvl="0" indent="0" marL="0">
              <a:buNone/>
            </a:pPr>
            <a:r>
              <a:rPr/>
              <a:t>The housing data again, with all six features scaled, and lambda growing from left to right. Point at the right panel: one by one the lasso lines reach the zero line and stay on it. The next slide reads off the order.</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picture, now as numbers. Read down the right column.</a:t>
            </a:r>
          </a:p>
          <a:p>
            <a:pPr lvl="0" indent="0" marL="0">
              <a:buNone/>
            </a:pPr>
          </a:p>
          <a:p>
            <a:pPr lvl="0" indent="0" marL="0">
              <a:buNone/>
            </a:pPr>
            <a:r>
              <a:rPr/>
              <a:t>The order is not arbitrary and it is worth asking the room to explain it before you do. </a:t>
            </a:r>
            <a:r>
              <a:rPr>
                <a:latin typeface="Courier"/>
              </a:rPr>
              <a:t>garage</a:t>
            </a:r>
            <a:r>
              <a:rPr/>
              <a:t> goes first because, once every feature is on a common scale, it buys the least accuracy per unit of coefficient spent. </a:t>
            </a:r>
            <a:r>
              <a:rPr>
                <a:latin typeface="Courier"/>
              </a:rPr>
              <a:t>area_sqm</a:t>
            </a:r>
            <a:r>
              <a:rPr/>
              <a:t> survives longest because it buys the most.</a:t>
            </a:r>
          </a:p>
          <a:p>
            <a:pPr lvl="0" indent="0" marL="0">
              <a:buNone/>
            </a:pPr>
          </a:p>
          <a:p>
            <a:pPr lvl="0" indent="0" marL="0">
              <a:buNone/>
            </a:pPr>
            <a:r>
              <a:rPr/>
              <a:t>Nobody told Lasso which features mattered. It was given a budget and told to spend it well, and this ranking fell out of that - which is genuinely remarkable and is why Lasso is used as a feature selector at all.</a:t>
            </a:r>
          </a:p>
          <a:p>
            <a:pPr lvl="0" indent="0" marL="0">
              <a:buNone/>
            </a:pPr>
          </a:p>
          <a:p>
            <a:pPr lvl="0" indent="0" marL="0">
              <a:buNone/>
            </a:pPr>
            <a:r>
              <a:rPr/>
              <a:t>Now the warning, and it is the part that gets forgotten in practice: </a:t>
            </a:r>
            <a:r>
              <a:rPr b="1"/>
              <a:t>the selection depends entirely on lambda</a:t>
            </a:r>
            <a:r>
              <a:rPr/>
              <a:t>. “Lasso chose these three features” is not a complete statement - at a different lambda it chooses differently. Presenting lasso output as an objective ranking of importance is one of the commonest misuses of it.</a:t>
            </a:r>
          </a:p>
          <a:p>
            <a:pPr lvl="0" indent="0" marL="0">
              <a:buNone/>
            </a:pPr>
          </a:p>
          <a:p>
            <a:pPr lvl="0" indent="0" marL="0">
              <a:buNone/>
            </a:pPr>
            <a:r>
              <a:rPr/>
              <a:t>Handout section 6.5.</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situation from the failure-modes slide, made concrete: someone merged two systems and the same fact arrived twice.</a:t>
            </a:r>
          </a:p>
          <a:p>
            <a:pPr lvl="0" indent="0" marL="0">
              <a:buNone/>
            </a:pPr>
          </a:p>
          <a:p>
            <a:pPr lvl="0" indent="0" marL="0">
              <a:buNone/>
            </a:pPr>
            <a:r>
              <a:rPr/>
              <a:t>Ask what least squares should do. The honest answer is that it has no basis for choosing between “all the effect on the metres column” and “all of it on the feet column” and everything in between - they all fit identically.</a:t>
            </a:r>
          </a:p>
          <a:p>
            <a:pPr lvl="0" indent="0" marL="0">
              <a:buNone/>
            </a:pPr>
          </a:p>
          <a:p>
            <a:pPr lvl="0" indent="0" marL="0">
              <a:buNone/>
            </a:pPr>
            <a:r>
              <a:rPr/>
              <a:t>So it picks one arbitrarily, and the arbitrariness changes with the sample.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dataset, four different random splits. The area coefficient varies by a factor of five, and its duplicate swings the opposite way to compensate.</a:t>
            </a:r>
          </a:p>
          <a:p>
            <a:pPr lvl="0" indent="0" marL="0">
              <a:buNone/>
            </a:pPr>
          </a:p>
          <a:p>
            <a:pPr lvl="0" indent="0" marL="0">
              <a:buNone/>
            </a:pPr>
            <a:r>
              <a:rPr/>
              <a:t>Stress what is and is not broken: the PREDICTIONS are fine throughout. What a square metre adds is the metres coefficient plus 10.76 times the feet coefficient, since a square metre is 10.76 square feet, and on every split that sum stays within about 2% of the true 2,400 (the notebook prints 2,424 for its own split). It is the EXPLANATION that is noise.</a:t>
            </a:r>
          </a:p>
          <a:p>
            <a:pPr lvl="0" indent="0" marL="0">
              <a:buNone/>
            </a:pPr>
          </a:p>
          <a:p>
            <a:pPr lvl="0" indent="0" marL="0">
              <a:buNone/>
            </a:pPr>
            <a:r>
              <a:rPr/>
              <a:t>Anyone reading these coefficients to learn what drives house prices would draw nonsense, confidently. With ridge at lambda 10 the same four splits give 38,000 to 41,000 on both columns, split evenly. Say the units, or the comparison misleads: ridge runs on scaled features, so these are euros per standard deviation of area, not euros per square metre, and they cannot be set against the table. What matters is that they are stable and equal, because two moderate coefficients cost less under a squared penalty than one huge positive and one huge negative.</a:t>
            </a:r>
          </a:p>
          <a:p>
            <a:pPr lvl="0" indent="0" marL="0">
              <a:buNone/>
            </a:pPr>
          </a:p>
          <a:p>
            <a:pPr lvl="0" indent="0" marL="0">
              <a:buNone/>
            </a:pPr>
            <a:r>
              <a:rPr/>
              <a:t>So ridge is not only a cure for overfitting. It is what makes coefficients readable when features overlap - which in real data they always do.</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That last clause is doing enormous work and is almost always skipped over. Say it slowly, then make it concrete.</a:t>
            </a:r>
          </a:p>
          <a:p>
            <a:pPr lvl="0" indent="0" marL="0">
              <a:buNone/>
            </a:pPr>
          </a:p>
          <a:p>
            <a:pPr lvl="0" indent="0" marL="0">
              <a:buNone/>
            </a:pPr>
            <a:r>
              <a:rPr/>
              <a:t>The coefficient on </a:t>
            </a:r>
            <a:r>
              <a:rPr>
                <a:latin typeface="Courier"/>
              </a:rPr>
              <a:t>bedrooms</a:t>
            </a:r>
            <a:r>
              <a:rPr/>
              <a:t> is not “what a bedroom is worth”. It is what a bedroom is worth </a:t>
            </a:r>
            <a:r>
              <a:rPr i="1"/>
              <a:t>to a house whose floor area does not change</a:t>
            </a:r>
            <a:r>
              <a:rPr/>
              <a:t> - which is a strange object. A house that gains a bedroom without gaining any space has had its existing rooms subdivided, and that is a genuinely different proposition from an extra bedroom in an extra 15 square metres.</a:t>
            </a:r>
          </a:p>
          <a:p>
            <a:pPr lvl="0" indent="0" marL="0">
              <a:buNone/>
            </a:pPr>
          </a:p>
          <a:p>
            <a:pPr lvl="0" indent="0" marL="0">
              <a:buNone/>
            </a:pPr>
            <a:r>
              <a:rPr/>
              <a:t>Ask the room what the coefficient on bedrooms ought to be for the subdivision version. Plausibly near zero, or negative. The estimate we get, 7,503, is a blend of that and something else - which is the setup for the next slide.</a:t>
            </a:r>
          </a:p>
          <a:p>
            <a:pPr lvl="0" indent="0" marL="0">
              <a:buNone/>
            </a:pPr>
          </a:p>
          <a:p>
            <a:pPr lvl="0" indent="0" marL="0">
              <a:buNone/>
            </a:pPr>
            <a:r>
              <a:rPr/>
              <a:t>This is the reason two honest analysts fit the same data, report different coefficients, and are both right: they included different features, so their “held fixed” clauses differ. Handout section 7.1.</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notebook 1, and this is the slide of the lesson most useful outside it.</a:t>
            </a:r>
          </a:p>
          <a:p>
            <a:pPr lvl="0" indent="0" marL="0">
              <a:buNone/>
            </a:pPr>
          </a:p>
          <a:p>
            <a:pPr lvl="0" indent="0" marL="0">
              <a:buNone/>
            </a:pPr>
            <a:r>
              <a:rPr/>
              <a:t>The x axis is how correlated each feature is with area; the y axis is how far its estimated coefficient landed from the truth. Read it from left to right. Three features are uncorrelated with area. Two of them, distance and age, are recovered to within 1%. The third, garage, is 9.6% out: it is a yes-or-no column, so it varies little, and the noise weighs more on its coefficient. Then the correlated ones: bathrooms, correlated 0.49 with area, is 9% out; bedrooms, correlated 0.77, is 17% out.</a:t>
            </a:r>
          </a:p>
          <a:p>
            <a:pPr lvl="0" indent="0" marL="0">
              <a:buNone/>
            </a:pPr>
          </a:p>
          <a:p>
            <a:pPr lvl="0" indent="0" marL="0">
              <a:buNone/>
            </a:pPr>
            <a:r>
              <a:rPr/>
              <a:t>State the rule: a coefficient is only as trustworthy as its feature is independent. And on a real dataset the same wobble is there with nothing to reveal it - you would just have a number.</a:t>
            </a:r>
          </a:p>
          <a:p>
            <a:pPr lvl="0" indent="0" marL="0">
              <a:buNone/>
            </a:pPr>
          </a:p>
          <a:p>
            <a:pPr lvl="0" indent="0" marL="0">
              <a:buNone/>
            </a:pPr>
            <a:r>
              <a:rPr/>
              <a:t>Then the harder point, briefly: a coefficient is an association, not a causal effect. If houses near the centre are older and dearer, age and distance divide the effect between them however the sample suggests. Neither number tells you what would happen if you moved a house.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Ridge on the degree-12 fit, the regularisation paths, and the collinear case. 20 minutes. The collinear section is the one to make sure everyone reaches - it is the argument they will need whenever someone asks what a model says drives the outcome.</a:t>
            </a:r>
          </a:p>
          <a:p>
            <a:pPr lvl="0" indent="0" marL="0">
              <a:buNone/>
            </a:pPr>
          </a:p>
          <a:p>
            <a:pPr lvl="0" indent="0" marL="0">
              <a:buNone/>
            </a:pPr>
            <a:r>
              <a:rPr/>
              <a:t>The “try this” swaps Ridge for Lasso on the redundant columns. Ask them to predict which way lasso resolves it before running, then to explain why the two penalties disagree. It is a good check of whether the disc-and-diamond picture landed.</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the lessons. Lesson 2 prepared data honestly; today we fitted something to it and found that fitting well and explaining well are different goals.</a:t>
            </a:r>
          </a:p>
          <a:p>
            <a:pPr lvl="0" indent="0" marL="0">
              <a:buNone/>
            </a:pPr>
          </a:p>
          <a:p>
            <a:pPr lvl="0" indent="0" marL="0">
              <a:buNone/>
            </a:pPr>
            <a:r>
              <a:rPr/>
              <a:t>The one sentence to leave them with: the model that fits your training data best is usually not the one you want.</a:t>
            </a:r>
          </a:p>
          <a:p>
            <a:pPr lvl="0" indent="0" marL="0">
              <a:buNone/>
            </a:pPr>
          </a:p>
          <a:p>
            <a:pPr lvl="0" indent="0" marL="0">
              <a:buNone/>
            </a:pPr>
            <a:r>
              <a:rPr/>
              <a:t>And the number to leave them with, repeated from slide 40: a penalty of one hundredth took the largest coefficient from billions to 365 and the test error from 24,656 to 22.8. One number, chosen well, bought all of that.</a:t>
            </a:r>
          </a:p>
          <a:p>
            <a:pPr lvl="0" indent="0" marL="0">
              <a:buNone/>
            </a:pPr>
          </a:p>
          <a:p>
            <a:pPr lvl="0" indent="0" marL="0">
              <a:buNone/>
            </a:pPr>
            <a:r>
              <a:rPr/>
              <a:t>Preview lesson 4 in a sentence: same machinery, but the target becomes a category instead of a number - and that single change turns out to require a different cost function, for a reason lesson 4 derives.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when it is discussed. It uses a new dataset, bike sharing demand, so the exploration is theirs to do.</a:t>
            </a:r>
          </a:p>
          <a:p>
            <a:pPr lvl="0" indent="0" marL="0">
              <a:buNone/>
            </a:pPr>
          </a:p>
          <a:p>
            <a:pPr lvl="0" indent="0" marL="0">
              <a:buNone/>
            </a:pPr>
            <a:r>
              <a:rPr/>
              <a:t>Point out the two tasks that carry the most marks. Task 4 asks them to justify a choice of lambda without looking at the test set, which is genuinely awkward before lesson 5 and is meant to be: the point is to feel the need for cross-validation before being handed it. Task 6 asks which coefficients they trust and why, which is section 7 of the handout applied.</a:t>
            </a:r>
          </a:p>
          <a:p>
            <a:pPr lvl="0" indent="0" marL="0">
              <a:buNone/>
            </a:pPr>
          </a:p>
          <a:p>
            <a:pPr lvl="0" indent="0" marL="0">
              <a:buNone/>
            </a:pPr>
            <a:r>
              <a:rPr/>
              <a:t>As always: at the exam, accuracy alone earns nothing; the reasoning does.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3: Regression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16 October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we start</a:t>
            </a:r>
          </a:p>
        </p:txBody>
      </p:sp>
      <p:sp>
        <p:nvSpPr>
          <p:cNvPr id="3" name="Content Placeholder 2"/>
          <p:cNvSpPr>
            <a:spLocks noGrp="1"/>
          </p:cNvSpPr>
          <p:nvPr>
            <p:ph idx="1"/>
          </p:nvPr>
        </p:nvSpPr>
        <p:spPr>
          <a:xfrm>
            <a:off x="457200" y="1200151"/>
            <a:ext cx="8229600" cy="3394472"/>
          </a:xfrm>
        </p:spPr>
        <p:txBody>
          <a:bodyPr/>
          <a:lstStyle/>
          <a:p>
            <a:pPr lvl="0"/>
            <a:r>
              <a:rPr/>
              <a:t>Exercise 2, which we discuss now</a:t>
            </a:r>
          </a:p>
          <a:p>
            <a:pPr lvl="0"/>
            <a:r>
              <a:rPr/>
              <a:t>The pipeline you built is the one we fit models into from now 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Today: the first real model</a:t>
            </a:r>
          </a:p>
        </p:txBody>
      </p:sp>
      <p:sp>
        <p:nvSpPr>
          <p:cNvPr id="3" name="Content Placeholder 2"/>
          <p:cNvSpPr>
            <a:spLocks noGrp="1"/>
          </p:cNvSpPr>
          <p:nvPr>
            <p:ph idx="1"/>
          </p:nvPr>
        </p:nvSpPr>
        <p:spPr>
          <a:xfrm>
            <a:off x="457200" y="1200151"/>
            <a:ext cx="8229600" cy="3394472"/>
          </a:xfrm>
        </p:spPr>
        <p:txBody>
          <a:bodyPr/>
          <a:lstStyle/>
          <a:p>
            <a:pPr lvl="0"/>
            <a:r>
              <a:rPr/>
              <a:t>The model and what it claims</a:t>
            </a:r>
          </a:p>
          <a:p>
            <a:pPr lvl="0"/>
            <a:r>
              <a:rPr/>
              <a:t>The exact solution, and why it sometimes fails</a:t>
            </a:r>
          </a:p>
          <a:p>
            <a:pPr lvl="0"/>
            <a:r>
              <a:rPr/>
              <a:t>Gradient descent</a:t>
            </a:r>
          </a:p>
          <a:p>
            <a:pPr lvl="0"/>
            <a:r>
              <a:rPr/>
              <a:t>Curves, and the price of flexibility</a:t>
            </a:r>
          </a:p>
          <a:p>
            <a:pPr lvl="0"/>
            <a:r>
              <a:rPr/>
              <a:t>Ridge and Lasso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dataset, all lesson</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600 houses. Six measurements. A price.</a:t>
            </a:r>
          </a:p>
          <a:p>
            <a:pPr lvl="0" indent="0" marL="0">
              <a:buNone/>
            </a:pPr>
            <a:r>
              <a:rPr b="1"/>
              <a:t>And we know the coefficients that generated it.</a:t>
            </a:r>
          </a:p>
          <a:p>
            <a:pPr lvl="0" indent="0" marL="0">
              <a:buNone/>
            </a:pPr>
            <a:r>
              <a:rPr/>
              <a:t>In code: </a:t>
            </a:r>
            <a:r>
              <a:rPr>
                <a:latin typeface="Courier"/>
              </a:rPr>
              <a:t>train_test_split(X, y, test_size=0.25)</a:t>
            </a:r>
            <a:r>
              <a:rPr/>
              <a:t> keeps 150 houses for testing.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we are trying to predict</a:t>
            </a:r>
          </a:p>
        </p:txBody>
      </p:sp>
      <p:pic>
        <p:nvPicPr>
          <p:cNvPr descr="price_vs_area.png" id="0" name="Picture 1"/>
          <p:cNvPicPr>
            <a:picLocks noGrp="1" noChangeAspect="1"/>
          </p:cNvPicPr>
          <p:nvPr/>
        </p:nvPicPr>
        <p:blipFill>
          <a:blip r:embed="rId3"/>
          <a:stretch>
            <a:fillRect/>
          </a:stretch>
        </p:blipFill>
        <p:spPr bwMode="auto">
          <a:xfrm>
            <a:off x="1834774" y="1166099"/>
            <a:ext cx="5474452" cy="3360181"/>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 linear model claims</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Each feature contributes a fixed amount per unit, and the contributions add up: ŷ = w₁x₁ + w₂x₂ + … + wₙxₙ + b, one coefficient w per feature plus an intercept b.</a:t>
            </a:r>
          </a:p>
          <a:p>
            <a:pPr lvl="0"/>
            <a:r>
              <a:rPr/>
              <a:t>Every square metre: the same 2,400 €</a:t>
            </a:r>
          </a:p>
          <a:p>
            <a:pPr lvl="0"/>
            <a:r>
              <a:rPr/>
              <a:t>Every kilometre out: the same −6,500 €</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Fitting means minimising something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We need one number saying how badly a candidate model is doing.</a:t>
            </a:r>
          </a:p>
          <a:p>
            <a:pPr lvl="0" indent="0" marL="0">
              <a:buNone/>
            </a:pPr>
            <a:r>
              <a:rPr/>
              <a:t>Adding up the errors, Σᵢ (ŷ⁽ⁱ⁾ − y⁽ⁱ⁾), fails: +50,000 and −50,000 cancel to zero.</a:t>
            </a:r>
          </a:p>
          <a:p>
            <a:pPr lvl="0" indent="0" marL="0">
              <a:buNone/>
            </a:pPr>
            <a:r>
              <a:rPr/>
              <a:t>Every error must count as a positive amount:</a:t>
            </a:r>
          </a:p>
          <a:p>
            <a:pPr lvl="0"/>
            <a:r>
              <a:rPr/>
              <a:t>absolute error Σᵢ |ŷ⁽ⁱ⁾ − y⁽ⁱ⁾|</a:t>
            </a:r>
          </a:p>
          <a:p>
            <a:pPr lvl="0"/>
            <a:r>
              <a:rPr/>
              <a:t>squared error Σᵢ (ŷ⁽ⁱ⁾ − y⁽ⁱ⁾)²</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squared, not absolute</a:t>
            </a:r>
          </a:p>
        </p:txBody>
      </p:sp>
      <p:sp>
        <p:nvSpPr>
          <p:cNvPr id="3" name="Content Placeholder 2"/>
          <p:cNvSpPr>
            <a:spLocks noGrp="1"/>
          </p:cNvSpPr>
          <p:nvPr>
            <p:ph idx="1"/>
          </p:nvPr>
        </p:nvSpPr>
        <p:spPr>
          <a:xfrm>
            <a:off x="457200" y="1200151"/>
            <a:ext cx="8229600" cy="3394472"/>
          </a:xfrm>
        </p:spPr>
        <p:txBody>
          <a:bodyPr/>
          <a:lstStyle/>
          <a:p>
            <a:pPr lvl="0"/>
            <a:r>
              <a:rPr/>
              <a:t>Squared error Σᵢ (ŷ⁽ⁱ⁾ − y⁽ⁱ⁾)²: each error e = ŷ⁽ⁱ⁾ − y⁽ⁱ⁾ counts as e², not as |⁠e⁠|</a:t>
            </a:r>
          </a:p>
          <a:p>
            <a:pPr lvl="0"/>
            <a:r>
              <a:rPr b="1"/>
              <a:t>Differentiable everywhere</a:t>
            </a:r>
            <a:r>
              <a:rPr/>
              <a:t>: e² is smooth, |⁠e⁠| has a corner at e = 0</a:t>
            </a:r>
          </a:p>
          <a:p>
            <a:pPr lvl="0"/>
            <a:r>
              <a:rPr b="1"/>
              <a:t>Punishes one large error more</a:t>
            </a:r>
            <a:r>
              <a:rPr/>
              <a:t>: double an error and |⁠e⁠| doubles, e² quadruples</a:t>
            </a:r>
          </a:p>
          <a:p>
            <a:pPr lvl="0"/>
            <a:r>
              <a:rPr/>
              <a:t>Under Gaussian noise it is </a:t>
            </a:r>
            <a:r>
              <a:rPr b="1"/>
              <a:t>maximum likelihood</a:t>
            </a:r>
            <a:r>
              <a:rPr/>
              <a:t>: it picks the coefficients that make the observed prices most probable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cost function: mean squared error</a:t>
            </a:r>
          </a:p>
        </p:txBody>
      </p:sp>
      <p:pic>
        <p:nvPicPr>
          <p:cNvPr descr="eq_d901970e7c.png" id="0" name="Picture 1"/>
          <p:cNvPicPr>
            <a:picLocks noGrp="1" noChangeAspect="1"/>
          </p:cNvPicPr>
          <p:nvPr/>
        </p:nvPicPr>
        <p:blipFill>
          <a:blip r:embed="rId3"/>
          <a:stretch>
            <a:fillRect/>
          </a:stretch>
        </p:blipFill>
        <p:spPr bwMode="auto">
          <a:xfrm>
            <a:off x="457200" y="1938139"/>
            <a:ext cx="8229600" cy="18161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Trying ŷ = 2,400 · area + 45,000</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0">
                <a:tc>
                  <a:txBody>
                    <a:bodyPr/>
                    <a:lstStyle/>
                    <a:p>
                      <a:pPr lvl="0" indent="0" marL="0">
                        <a:buNone/>
                      </a:pPr>
                      <a:r>
                        <a:rPr/>
                        <a:t>Area (m²)</a:t>
                      </a:r>
                    </a:p>
                  </a:txBody>
                  <a:tcPr/>
                </a:tc>
                <a:tc>
                  <a:txBody>
                    <a:bodyPr/>
                    <a:lstStyle/>
                    <a:p>
                      <a:pPr lvl="0" indent="0" marL="0">
                        <a:buNone/>
                      </a:pPr>
                      <a:r>
                        <a:rPr/>
                        <a:t>True (€)</a:t>
                      </a:r>
                    </a:p>
                  </a:txBody>
                  <a:tcPr/>
                </a:tc>
                <a:tc>
                  <a:txBody>
                    <a:bodyPr/>
                    <a:lstStyle/>
                    <a:p>
                      <a:pPr lvl="0" indent="0" marL="0">
                        <a:buNone/>
                      </a:pPr>
                      <a:r>
                        <a:rPr/>
                        <a:t>Predicted (€)</a:t>
                      </a:r>
                    </a:p>
                  </a:txBody>
                  <a:tcPr/>
                </a:tc>
                <a:tc>
                  <a:txBody>
                    <a:bodyPr/>
                    <a:lstStyle/>
                    <a:p>
                      <a:pPr lvl="0" indent="0" marL="0">
                        <a:buNone/>
                      </a:pPr>
                      <a:r>
                        <a:rPr/>
                        <a:t>Error ŷ − y</a:t>
                      </a:r>
                    </a:p>
                  </a:txBody>
                  <a:tcPr/>
                </a:tc>
                <a:tc>
                  <a:txBody>
                    <a:bodyPr/>
                    <a:lstStyle/>
                    <a:p>
                      <a:pPr lvl="0" indent="0" marL="0">
                        <a:buNone/>
                      </a:pPr>
                      <a:r>
                        <a:rPr/>
                        <a:t>Error²</a:t>
                      </a:r>
                    </a:p>
                  </a:txBody>
                  <a:tcPr/>
                </a:tc>
              </a:tr>
              <a:tr h="0">
                <a:tc>
                  <a:txBody>
                    <a:bodyPr/>
                    <a:lstStyle/>
                    <a:p>
                      <a:pPr lvl="0" indent="0" marL="0">
                        <a:buNone/>
                      </a:pPr>
                      <a:r>
                        <a:rPr/>
                        <a:t>80</a:t>
                      </a:r>
                    </a:p>
                  </a:txBody>
                </a:tc>
                <a:tc>
                  <a:txBody>
                    <a:bodyPr/>
                    <a:lstStyle/>
                    <a:p>
                      <a:pPr lvl="0" indent="0" marL="0">
                        <a:buNone/>
                      </a:pPr>
                      <a:r>
                        <a:rPr/>
                        <a:t>240,000</a:t>
                      </a:r>
                    </a:p>
                  </a:txBody>
                </a:tc>
                <a:tc>
                  <a:txBody>
                    <a:bodyPr/>
                    <a:lstStyle/>
                    <a:p>
                      <a:pPr lvl="0" indent="0" marL="0">
                        <a:buNone/>
                      </a:pPr>
                      <a:r>
                        <a:rPr/>
                        <a:t>237,000</a:t>
                      </a:r>
                    </a:p>
                  </a:txBody>
                </a:tc>
                <a:tc>
                  <a:txBody>
                    <a:bodyPr/>
                    <a:lstStyle/>
                    <a:p>
                      <a:pPr lvl="0" indent="0" marL="0">
                        <a:buNone/>
                      </a:pPr>
                      <a:r>
                        <a:rPr/>
                        <a:t>−3,000</a:t>
                      </a:r>
                    </a:p>
                  </a:txBody>
                </a:tc>
                <a:tc>
                  <a:txBody>
                    <a:bodyPr/>
                    <a:lstStyle/>
                    <a:p>
                      <a:pPr lvl="0" indent="0" marL="0">
                        <a:buNone/>
                      </a:pPr>
                      <a:r>
                        <a:rPr/>
                        <a:t>9.0 × 10⁶</a:t>
                      </a:r>
                    </a:p>
                  </a:txBody>
                </a:tc>
              </a:tr>
              <a:tr h="0">
                <a:tc>
                  <a:txBody>
                    <a:bodyPr/>
                    <a:lstStyle/>
                    <a:p>
                      <a:pPr lvl="0" indent="0" marL="0">
                        <a:buNone/>
                      </a:pPr>
                      <a:r>
                        <a:rPr/>
                        <a:t>120</a:t>
                      </a:r>
                    </a:p>
                  </a:txBody>
                </a:tc>
                <a:tc>
                  <a:txBody>
                    <a:bodyPr/>
                    <a:lstStyle/>
                    <a:p>
                      <a:pPr lvl="0" indent="0" marL="0">
                        <a:buNone/>
                      </a:pPr>
                      <a:r>
                        <a:rPr/>
                        <a:t>320,000</a:t>
                      </a:r>
                    </a:p>
                  </a:txBody>
                </a:tc>
                <a:tc>
                  <a:txBody>
                    <a:bodyPr/>
                    <a:lstStyle/>
                    <a:p>
                      <a:pPr lvl="0" indent="0" marL="0">
                        <a:buNone/>
                      </a:pPr>
                      <a:r>
                        <a:rPr/>
                        <a:t>333,000</a:t>
                      </a:r>
                    </a:p>
                  </a:txBody>
                </a:tc>
                <a:tc>
                  <a:txBody>
                    <a:bodyPr/>
                    <a:lstStyle/>
                    <a:p>
                      <a:pPr lvl="0" indent="0" marL="0">
                        <a:buNone/>
                      </a:pPr>
                      <a:r>
                        <a:rPr/>
                        <a:t>+13,000</a:t>
                      </a:r>
                    </a:p>
                  </a:txBody>
                </a:tc>
                <a:tc>
                  <a:txBody>
                    <a:bodyPr/>
                    <a:lstStyle/>
                    <a:p>
                      <a:pPr lvl="0" indent="0" marL="0">
                        <a:buNone/>
                      </a:pPr>
                      <a:r>
                        <a:rPr/>
                        <a:t>1.69 × 10⁸</a:t>
                      </a:r>
                    </a:p>
                  </a:txBody>
                </a:tc>
              </a:tr>
              <a:tr h="0">
                <a:tc>
                  <a:txBody>
                    <a:bodyPr/>
                    <a:lstStyle/>
                    <a:p>
                      <a:pPr lvl="0" indent="0" marL="0">
                        <a:buNone/>
                      </a:pPr>
                      <a:r>
                        <a:rPr/>
                        <a:t>200</a:t>
                      </a:r>
                    </a:p>
                  </a:txBody>
                </a:tc>
                <a:tc>
                  <a:txBody>
                    <a:bodyPr/>
                    <a:lstStyle/>
                    <a:p>
                      <a:pPr lvl="0" indent="0" marL="0">
                        <a:buNone/>
                      </a:pPr>
                      <a:r>
                        <a:rPr/>
                        <a:t>540,000</a:t>
                      </a:r>
                    </a:p>
                  </a:txBody>
                </a:tc>
                <a:tc>
                  <a:txBody>
                    <a:bodyPr/>
                    <a:lstStyle/>
                    <a:p>
                      <a:pPr lvl="0" indent="0" marL="0">
                        <a:buNone/>
                      </a:pPr>
                      <a:r>
                        <a:rPr/>
                        <a:t>525,000</a:t>
                      </a:r>
                    </a:p>
                  </a:txBody>
                </a:tc>
                <a:tc>
                  <a:txBody>
                    <a:bodyPr/>
                    <a:lstStyle/>
                    <a:p>
                      <a:pPr lvl="0" indent="0" marL="0">
                        <a:buNone/>
                      </a:pPr>
                      <a:r>
                        <a:rPr/>
                        <a:t>−15,000</a:t>
                      </a:r>
                    </a:p>
                  </a:txBody>
                </a:tc>
                <a:tc>
                  <a:txBody>
                    <a:bodyPr/>
                    <a:lstStyle/>
                    <a:p>
                      <a:pPr lvl="0" indent="0" marL="0">
                        <a:buNone/>
                      </a:pPr>
                      <a:r>
                        <a:rPr/>
                        <a:t>2.25 × 10⁸</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Squared error spends its attention on the worst house</a:t>
            </a:r>
          </a:p>
        </p:txBody>
      </p:sp>
      <p:sp>
        <p:nvSpPr>
          <p:cNvPr id="3" name="Content Placeholder 2"/>
          <p:cNvSpPr>
            <a:spLocks noGrp="1"/>
          </p:cNvSpPr>
          <p:nvPr>
            <p:ph idx="1"/>
          </p:nvPr>
        </p:nvSpPr>
        <p:spPr>
          <a:xfrm>
            <a:off x="457200" y="1200151"/>
            <a:ext cx="8229600" cy="3394472"/>
          </a:xfrm>
        </p:spPr>
        <p:txBody>
          <a:bodyPr/>
          <a:lstStyle/>
          <a:p>
            <a:pPr lvl="0"/>
            <a:r>
              <a:rPr/>
              <a:t>The 3,000 € error contributes about </a:t>
            </a:r>
            <a:r>
              <a:rPr b="1"/>
              <a:t>2%</a:t>
            </a:r>
            <a:r>
              <a:rPr/>
              <a:t> of the total</a:t>
            </a:r>
          </a:p>
          <a:p>
            <a:pPr lvl="0"/>
            <a:r>
              <a:rPr/>
              <a:t>The two large errors contribute the other </a:t>
            </a:r>
            <a:r>
              <a:rPr b="1"/>
              <a:t>98%</a:t>
            </a:r>
          </a:p>
          <a:p>
            <a:pPr lvl="0"/>
            <a:r>
              <a:rPr/>
              <a:t>Halving the 15,000 € error cuts the cost by </a:t>
            </a:r>
            <a:r>
              <a:rPr b="1"/>
              <a:t>42%</a:t>
            </a:r>
          </a:p>
          <a:p>
            <a:pPr lvl="0"/>
            <a:r>
              <a:rPr/>
              <a:t>In code: </a:t>
            </a:r>
            <a:r>
              <a:rPr>
                <a:latin typeface="Courier"/>
              </a:rPr>
              <a:t>mean_squared_error(y, y_pred)</a:t>
            </a:r>
            <a:r>
              <a:rPr/>
              <a:t>, the mean of the squared errors without the ½</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cost needs something to be compared against</a:t>
            </a:r>
          </a:p>
        </p:txBody>
      </p:sp>
      <p:sp>
        <p:nvSpPr>
          <p:cNvPr id="3" name="Content Placeholder 2"/>
          <p:cNvSpPr>
            <a:spLocks noGrp="1"/>
          </p:cNvSpPr>
          <p:nvPr>
            <p:ph idx="1"/>
          </p:nvPr>
        </p:nvSpPr>
        <p:spPr>
          <a:xfrm>
            <a:off x="457200" y="1200151"/>
            <a:ext cx="8229600" cy="3394472"/>
          </a:xfrm>
        </p:spPr>
        <p:txBody>
          <a:bodyPr/>
          <a:lstStyle/>
          <a:p>
            <a:pPr lvl="0"/>
            <a:r>
              <a:rPr/>
              <a:t>Trivial answer: </a:t>
            </a:r>
            <a:r>
              <a:rPr b="1"/>
              <a:t>always predict the mean</a:t>
            </a:r>
            <a:r>
              <a:rPr/>
              <a:t>, </a:t>
            </a:r>
            <a:r>
              <a:rPr>
                <a:latin typeface="Courier"/>
              </a:rPr>
              <a:t>DummyRegressor()</a:t>
            </a:r>
          </a:p>
          <a:p>
            <a:pPr lvl="0"/>
            <a:r>
              <a:rPr/>
              <a:t>Root mean squared error, RMSE = √MSE, on the 150 test houses: </a:t>
            </a:r>
            <a:r>
              <a:rPr b="1"/>
              <a:t>96,440 €</a:t>
            </a:r>
            <a:r>
              <a:rPr/>
              <a:t> for the mean, </a:t>
            </a:r>
            <a:r>
              <a:rPr b="1"/>
              <a:t>20,341 €</a:t>
            </a:r>
            <a:r>
              <a:rPr/>
              <a:t> for the model</a:t>
            </a:r>
          </a:p>
          <a:p>
            <a:pPr lvl="0"/>
            <a:r>
              <a:rPr/>
              <a:t>R² = 1 − Σ(y − ŷ)² ÷ Σ(y − ȳ)² = </a:t>
            </a:r>
            <a:r>
              <a:rPr b="1"/>
              <a:t>0.956</a:t>
            </a:r>
            <a:r>
              <a:rPr/>
              <a:t> (</a:t>
            </a:r>
            <a:r>
              <a:rPr>
                <a:latin typeface="Courier"/>
              </a:rPr>
              <a:t>r2_score</a:t>
            </a:r>
            <a:r>
              <a:rPr/>
              <a:t>): 0 is the mean, 1 is perfect</a:t>
            </a:r>
          </a:p>
          <a:p>
            <a:pPr lvl="0"/>
            <a:r>
              <a:rPr/>
              <a:t>Quote the euros too: R² depends on </a:t>
            </a:r>
            <a:r>
              <a:rPr i="1"/>
              <a:t>this</a:t>
            </a:r>
            <a:r>
              <a:rPr/>
              <a:t> test set’s variance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Fitting is finding where J is smallest</a:t>
            </a:r>
          </a:p>
        </p:txBody>
      </p:sp>
      <p:pic>
        <p:nvPicPr>
          <p:cNvPr descr="eq_dc62389775.png" id="0" name="Picture 1"/>
          <p:cNvPicPr>
            <a:picLocks noGrp="1" noChangeAspect="1"/>
          </p:cNvPicPr>
          <p:nvPr/>
        </p:nvPicPr>
        <p:blipFill>
          <a:blip r:embed="rId3"/>
          <a:stretch>
            <a:fillRect/>
          </a:stretch>
        </p:blipFill>
        <p:spPr bwMode="auto">
          <a:xfrm>
            <a:off x="457200" y="2223889"/>
            <a:ext cx="8229600" cy="12446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cost is a bowl</a:t>
            </a:r>
          </a:p>
        </p:txBody>
      </p:sp>
      <p:pic>
        <p:nvPicPr>
          <p:cNvPr descr="cost_surface.png" id="0" name="Picture 1"/>
          <p:cNvPicPr>
            <a:picLocks noGrp="1" noChangeAspect="1"/>
          </p:cNvPicPr>
          <p:nvPr/>
        </p:nvPicPr>
        <p:blipFill>
          <a:blip r:embed="rId3"/>
          <a:stretch>
            <a:fillRect/>
          </a:stretch>
        </p:blipFill>
        <p:spPr bwMode="auto">
          <a:xfrm>
            <a:off x="2010963" y="1166099"/>
            <a:ext cx="5122073" cy="3360181"/>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picture behind the exact solution</a:t>
            </a:r>
          </a:p>
        </p:txBody>
      </p:sp>
      <p:pic>
        <p:nvPicPr>
          <p:cNvPr descr="projection_picture.png" id="0" name="Picture 1"/>
          <p:cNvPicPr>
            <a:picLocks noGrp="1" noChangeAspect="1"/>
          </p:cNvPicPr>
          <p:nvPr/>
        </p:nvPicPr>
        <p:blipFill>
          <a:blip r:embed="rId3"/>
          <a:stretch>
            <a:fillRect/>
          </a:stretch>
        </p:blipFill>
        <p:spPr bwMode="auto">
          <a:xfrm>
            <a:off x="1708924" y="1166099"/>
            <a:ext cx="5726151" cy="3360181"/>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normal equation</a:t>
            </a:r>
          </a:p>
        </p:txBody>
      </p:sp>
      <p:pic>
        <p:nvPicPr>
          <p:cNvPr descr="eq_6c30311558.png" id="0" name="Picture 1"/>
          <p:cNvPicPr>
            <a:picLocks noGrp="1" noChangeAspect="1"/>
          </p:cNvPicPr>
          <p:nvPr/>
        </p:nvPicPr>
        <p:blipFill>
          <a:blip r:embed="rId3"/>
          <a:stretch>
            <a:fillRect/>
          </a:stretch>
        </p:blipFill>
        <p:spPr bwMode="auto">
          <a:xfrm>
            <a:off x="1545483" y="2393146"/>
            <a:ext cx="6053034" cy="906087"/>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same equation, by hand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Quantity</a:t>
                      </a:r>
                    </a:p>
                  </a:txBody>
                  <a:tcPr/>
                </a:tc>
                <a:tc>
                  <a:txBody>
                    <a:bodyPr/>
                    <a:lstStyle/>
                    <a:p>
                      <a:pPr lvl="0" indent="0" marL="0">
                        <a:buNone/>
                      </a:pPr>
                      <a:r>
                        <a:rPr/>
                        <a:t>Value</a:t>
                      </a:r>
                    </a:p>
                  </a:txBody>
                  <a:tcPr/>
                </a:tc>
              </a:tr>
              <a:tr h="0">
                <a:tc>
                  <a:txBody>
                    <a:bodyPr/>
                    <a:lstStyle/>
                    <a:p>
                      <a:pPr lvl="0" indent="0" marL="0">
                        <a:buNone/>
                      </a:pPr>
                      <a:r>
                        <a:rPr/>
                        <a:t>the three houses</a:t>
                      </a:r>
                    </a:p>
                  </a:txBody>
                </a:tc>
                <a:tc>
                  <a:txBody>
                    <a:bodyPr/>
                    <a:lstStyle/>
                    <a:p>
                      <a:pPr lvl="0" indent="0" marL="0">
                        <a:buNone/>
                      </a:pPr>
                      <a:r>
                        <a:rPr/>
                        <a:t>80, 120, 200 m² → 240k, 320k, 540k</a:t>
                      </a:r>
                    </a:p>
                  </a:txBody>
                </a:tc>
              </a:tr>
              <a:tr h="0">
                <a:tc>
                  <a:txBody>
                    <a:bodyPr/>
                    <a:lstStyle/>
                    <a:p>
                      <a:pPr lvl="0" indent="0" marL="0">
                        <a:buNone/>
                      </a:pPr>
                      <a:r>
                        <a:rPr/>
                        <a:t>X, and θ</a:t>
                      </a:r>
                    </a:p>
                  </a:txBody>
                </a:tc>
                <a:tc>
                  <a:txBody>
                    <a:bodyPr/>
                    <a:lstStyle/>
                    <a:p>
                      <a:pPr lvl="0" indent="0" marL="0">
                        <a:buNone/>
                      </a:pPr>
                      <a:r>
                        <a:rPr/>
                        <a:t>a column of 1s (for b) beside the areas; θ = (b, w)</a:t>
                      </a:r>
                    </a:p>
                  </a:txBody>
                </a:tc>
              </a:tr>
              <a:tr h="0">
                <a:tc>
                  <a:txBody>
                    <a:bodyPr/>
                    <a:lstStyle/>
                    <a:p>
                      <a:pPr lvl="0" indent="0" marL="0">
                        <a:buNone/>
                      </a:pPr>
                      <a:r>
                        <a:rPr/>
                        <a:t>XᵀX</a:t>
                      </a:r>
                    </a:p>
                  </a:txBody>
                </a:tc>
                <a:tc>
                  <a:txBody>
                    <a:bodyPr/>
                    <a:lstStyle/>
                    <a:p>
                      <a:pPr lvl="0" indent="0" marL="0">
                        <a:buNone/>
                      </a:pPr>
                      <a:r>
                        <a:rPr/>
                        <a:t>rows (3, 400) and (400, 60,800)</a:t>
                      </a:r>
                    </a:p>
                  </a:txBody>
                </a:tc>
              </a:tr>
              <a:tr h="0">
                <a:tc>
                  <a:txBody>
                    <a:bodyPr/>
                    <a:lstStyle/>
                    <a:p>
                      <a:pPr lvl="0" indent="0" marL="0">
                        <a:buNone/>
                      </a:pPr>
                      <a:r>
                        <a:rPr/>
                        <a:t>Xᵀy</a:t>
                      </a:r>
                    </a:p>
                  </a:txBody>
                </a:tc>
                <a:tc>
                  <a:txBody>
                    <a:bodyPr/>
                    <a:lstStyle/>
                    <a:p>
                      <a:pPr lvl="0" indent="0" marL="0">
                        <a:buNone/>
                      </a:pPr>
                      <a:r>
                        <a:rPr/>
                        <a:t>(1,100, 165,600)</a:t>
                      </a:r>
                    </a:p>
                  </a:txBody>
                </a:tc>
              </a:tr>
              <a:tr h="0">
                <a:tc>
                  <a:txBody>
                    <a:bodyPr/>
                    <a:lstStyle/>
                    <a:p>
                      <a:pPr lvl="0" indent="0" marL="0">
                        <a:buNone/>
                      </a:pPr>
                      <a:r>
                        <a:rPr/>
                        <a:t>determinant</a:t>
                      </a:r>
                    </a:p>
                  </a:txBody>
                </a:tc>
                <a:tc>
                  <a:txBody>
                    <a:bodyPr/>
                    <a:lstStyle/>
                    <a:p>
                      <a:pPr lvl="0" indent="0" marL="0">
                        <a:buNone/>
                      </a:pPr>
                      <a:r>
                        <a:rPr/>
                        <a:t>22,400</a:t>
                      </a:r>
                    </a:p>
                  </a:txBody>
                </a:tc>
              </a:tr>
              <a:tr h="0">
                <a:tc>
                  <a:txBody>
                    <a:bodyPr/>
                    <a:lstStyle/>
                    <a:p>
                      <a:pPr lvl="0" indent="0" marL="0">
                        <a:buNone/>
                      </a:pPr>
                      <a:r>
                        <a:rPr b="1"/>
                        <a:t>slope w</a:t>
                      </a:r>
                    </a:p>
                  </a:txBody>
                </a:tc>
                <a:tc>
                  <a:txBody>
                    <a:bodyPr/>
                    <a:lstStyle/>
                    <a:p>
                      <a:pPr lvl="0" indent="0" marL="0">
                        <a:buNone/>
                      </a:pPr>
                      <a:r>
                        <a:rPr b="1"/>
                        <a:t>2,536 €/m²</a:t>
                      </a:r>
                      <a:r>
                        <a:rPr/>
                        <a:t> (truth 2,400)</a:t>
                      </a:r>
                    </a:p>
                  </a:txBody>
                </a:tc>
              </a:tr>
              <a:tr h="0">
                <a:tc>
                  <a:txBody>
                    <a:bodyPr/>
                    <a:lstStyle/>
                    <a:p>
                      <a:pPr lvl="0" indent="0" marL="0">
                        <a:buNone/>
                      </a:pPr>
                      <a:r>
                        <a:rPr/>
                        <a:t>intercept b</a:t>
                      </a:r>
                    </a:p>
                  </a:txBody>
                </a:tc>
                <a:tc>
                  <a:txBody>
                    <a:bodyPr/>
                    <a:lstStyle/>
                    <a:p>
                      <a:pPr lvl="0" indent="0" marL="0">
                        <a:buNone/>
                      </a:pPr>
                      <a:r>
                        <a:rPr/>
                        <a:t>28,600 €</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And it really is the minimum</a:t>
            </a:r>
          </a:p>
        </p:txBody>
      </p:sp>
      <p:sp>
        <p:nvSpPr>
          <p:cNvPr id="3" name="Content Placeholder 2"/>
          <p:cNvSpPr>
            <a:spLocks noGrp="1"/>
          </p:cNvSpPr>
          <p:nvPr>
            <p:ph idx="1"/>
          </p:nvPr>
        </p:nvSpPr>
        <p:spPr>
          <a:xfrm>
            <a:off x="457200" y="1200151"/>
            <a:ext cx="8229600" cy="3394472"/>
          </a:xfrm>
        </p:spPr>
        <p:txBody>
          <a:bodyPr/>
          <a:lstStyle/>
          <a:p>
            <a:pPr lvl="0"/>
            <a:r>
              <a:rPr/>
              <a:t>The second derivative is XᵀX, never negative in any direction</a:t>
            </a:r>
          </a:p>
          <a:p>
            <a:pPr lvl="0"/>
            <a:r>
              <a:rPr/>
              <a:t>So the cost is </a:t>
            </a:r>
            <a:r>
              <a:rPr b="1"/>
              <a:t>convex</a:t>
            </a:r>
            <a:r>
              <a:rPr/>
              <a:t>: one bottom, no local traps</a:t>
            </a:r>
          </a:p>
          <a:p>
            <a:pPr lvl="0"/>
            <a:r>
              <a:rPr/>
              <a:t>Any stationary point (zero gradient) is </a:t>
            </a:r>
            <a:r>
              <a:rPr i="1"/>
              <a:t>the</a:t>
            </a:r>
            <a:r>
              <a:rPr/>
              <a:t> answer, not </a:t>
            </a:r>
            <a:r>
              <a:rPr i="1"/>
              <a:t>an</a:t>
            </a:r>
            <a:r>
              <a:rPr/>
              <a:t> answer</a:t>
            </a:r>
          </a:p>
          <a:p>
            <a:pPr lvl="0"/>
            <a:r>
              <a:rPr/>
              <a:t>In code: </a:t>
            </a:r>
            <a:r>
              <a:rPr>
                <a:latin typeface="Courier"/>
              </a:rPr>
              <a:t>LinearRegression().fit(X, y)</a:t>
            </a:r>
            <a:r>
              <a:rPr/>
              <a:t> solves the same problem</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So why learn anything else?</a:t>
            </a:r>
          </a:p>
        </p:txBody>
      </p:sp>
      <p:sp>
        <p:nvSpPr>
          <p:cNvPr id="3" name="Content Placeholder 2"/>
          <p:cNvSpPr>
            <a:spLocks noGrp="1"/>
          </p:cNvSpPr>
          <p:nvPr>
            <p:ph idx="1"/>
          </p:nvPr>
        </p:nvSpPr>
        <p:spPr>
          <a:xfrm>
            <a:off x="457200" y="1200151"/>
            <a:ext cx="8229600" cy="3394472"/>
          </a:xfrm>
        </p:spPr>
        <p:txBody>
          <a:bodyPr/>
          <a:lstStyle/>
          <a:p>
            <a:pPr lvl="0"/>
            <a:r>
              <a:rPr/>
              <a:t>(XᵀX)⁻¹ costs about n³ operations</a:t>
            </a:r>
          </a:p>
          <a:p>
            <a:pPr lvl="0"/>
            <a:r>
              <a:rPr/>
              <a:t>Two columns carrying one fact → </a:t>
            </a:r>
            <a:r>
              <a:rPr b="1"/>
              <a:t>no inverse exists</a:t>
            </a:r>
          </a:p>
          <a:p>
            <a:pPr lvl="0"/>
            <a:r>
              <a:rPr/>
              <a:t>Nearly-redundant columns → an inverse that is useless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stretched is the valley?</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The </a:t>
            </a:r>
            <a:r>
              <a:rPr b="1"/>
              <a:t>condition number</a:t>
            </a:r>
            <a:r>
              <a:rPr/>
              <a:t> κ = steepest curvature ÷ shallowest curvature: how many times steeper the steepest direction of the bowl is than the shallowest.</a:t>
            </a:r>
          </a:p>
          <a:p>
            <a:pPr lvl="0"/>
            <a:r>
              <a:rPr/>
              <a:t>Housing features as recorded: </a:t>
            </a:r>
            <a:r>
              <a:rPr b="1"/>
              <a:t>285</a:t>
            </a:r>
          </a:p>
          <a:p>
            <a:pPr lvl="0"/>
            <a:r>
              <a:rPr/>
              <a:t>The same features, standardised: </a:t>
            </a:r>
            <a:r>
              <a:rPr b="1"/>
              <a:t>3.4</a:t>
            </a:r>
          </a:p>
          <a:p>
            <a:pPr lvl="0"/>
            <a:r>
              <a:rPr/>
              <a:t>Add </a:t>
            </a:r>
            <a:r>
              <a:rPr>
                <a:latin typeface="Courier"/>
              </a:rPr>
              <a:t>area_sqft</a:t>
            </a:r>
            <a:r>
              <a:rPr/>
              <a:t> beside </a:t>
            </a:r>
            <a:r>
              <a:rPr>
                <a:latin typeface="Courier"/>
              </a:rPr>
              <a:t>area_sqm</a:t>
            </a:r>
            <a:r>
              <a:rPr/>
              <a:t>: </a:t>
            </a:r>
            <a:r>
              <a:rPr b="1"/>
              <a:t>2,286</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picture behind gradient descent</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You are on a hillside in fog.</a:t>
            </a:r>
          </a:p>
          <a:p>
            <a:pPr lvl="0" indent="0" marL="0">
              <a:buNone/>
            </a:pPr>
            <a:r>
              <a:rPr/>
              <a:t>You cannot see the valley, but you can feel which way the ground slopes.</a:t>
            </a:r>
          </a:p>
          <a:p>
            <a:pPr lvl="0" indent="0" marL="0">
              <a:buNone/>
            </a:pPr>
            <a:r>
              <a:rPr/>
              <a:t>So: step against the slope, by an amount set by the </a:t>
            </a:r>
            <a:r>
              <a:rPr b="1"/>
              <a:t>learning rate</a:t>
            </a:r>
            <a:r>
              <a:rPr/>
              <a:t> α, and repeat until the cost stops falling.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update rule</a:t>
            </a:r>
          </a:p>
        </p:txBody>
      </p:sp>
      <p:pic>
        <p:nvPicPr>
          <p:cNvPr descr="eq_5ff8726bde.png" id="0" name="Picture 1"/>
          <p:cNvPicPr>
            <a:picLocks noGrp="1" noChangeAspect="1"/>
          </p:cNvPicPr>
          <p:nvPr/>
        </p:nvPicPr>
        <p:blipFill>
          <a:blip r:embed="rId3"/>
          <a:stretch>
            <a:fillRect/>
          </a:stretch>
        </p:blipFill>
        <p:spPr bwMode="auto">
          <a:xfrm>
            <a:off x="457200" y="2357239"/>
            <a:ext cx="8229600" cy="977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step on two houses, from w = 0 and b = 0</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80 m² at 240k, 200 m² at 540k; α = 10⁻⁵</a:t>
                      </a:r>
                    </a:p>
                  </a:txBody>
                  <a:tcPr/>
                </a:tc>
                <a:tc>
                  <a:txBody>
                    <a:bodyPr/>
                    <a:lstStyle/>
                    <a:p>
                      <a:pPr lvl="0" indent="0" marL="0">
                        <a:buNone/>
                      </a:pPr>
                      <a:r>
                        <a:rPr/>
                        <a:t>Gradient</a:t>
                      </a:r>
                    </a:p>
                  </a:txBody>
                  <a:tcPr/>
                </a:tc>
                <a:tc>
                  <a:txBody>
                    <a:bodyPr/>
                    <a:lstStyle/>
                    <a:p>
                      <a:pPr lvl="0" indent="0" marL="0">
                        <a:buNone/>
                      </a:pPr>
                      <a:r>
                        <a:rPr/>
                        <a:t>After one step</a:t>
                      </a:r>
                    </a:p>
                  </a:txBody>
                  <a:tcPr/>
                </a:tc>
              </a:tr>
              <a:tr h="0">
                <a:tc>
                  <a:txBody>
                    <a:bodyPr/>
                    <a:lstStyle/>
                    <a:p>
                      <a:pPr lvl="0" indent="0" marL="0">
                        <a:buNone/>
                      </a:pPr>
                      <a:r>
                        <a:rPr/>
                        <a:t>slope w</a:t>
                      </a:r>
                    </a:p>
                  </a:txBody>
                </a:tc>
                <a:tc>
                  <a:txBody>
                    <a:bodyPr/>
                    <a:lstStyle/>
                    <a:p>
                      <a:pPr lvl="0" indent="0" marL="0">
                        <a:buNone/>
                      </a:pPr>
                      <a:r>
                        <a:rPr/>
                        <a:t>−63,600</a:t>
                      </a:r>
                    </a:p>
                  </a:txBody>
                </a:tc>
                <a:tc>
                  <a:txBody>
                    <a:bodyPr/>
                    <a:lstStyle/>
                    <a:p>
                      <a:pPr lvl="0" indent="0" marL="0">
                        <a:buNone/>
                      </a:pPr>
                      <a:r>
                        <a:rPr/>
                        <a:t>0.636</a:t>
                      </a:r>
                    </a:p>
                  </a:txBody>
                </a:tc>
              </a:tr>
              <a:tr h="0">
                <a:tc>
                  <a:txBody>
                    <a:bodyPr/>
                    <a:lstStyle/>
                    <a:p>
                      <a:pPr lvl="0" indent="0" marL="0">
                        <a:buNone/>
                      </a:pPr>
                      <a:r>
                        <a:rPr/>
                        <a:t>intercept b</a:t>
                      </a:r>
                    </a:p>
                  </a:txBody>
                </a:tc>
                <a:tc>
                  <a:txBody>
                    <a:bodyPr/>
                    <a:lstStyle/>
                    <a:p>
                      <a:pPr lvl="0" indent="0" marL="0">
                        <a:buNone/>
                      </a:pPr>
                      <a:r>
                        <a:rPr/>
                        <a:t>−390</a:t>
                      </a:r>
                    </a:p>
                  </a:txBody>
                </a:tc>
                <a:tc>
                  <a:txBody>
                    <a:bodyPr/>
                    <a:lstStyle/>
                    <a:p>
                      <a:pPr lvl="0" indent="0" marL="0">
                        <a:buNone/>
                      </a:pPr>
                      <a:r>
                        <a:rPr/>
                        <a:t>0.0039</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path it takes</a:t>
            </a:r>
          </a:p>
        </p:txBody>
      </p:sp>
      <p:pic>
        <p:nvPicPr>
          <p:cNvPr descr="gradient_descent_path.png" id="0" name="Picture 1"/>
          <p:cNvPicPr>
            <a:picLocks noGrp="1" noChangeAspect="1"/>
          </p:cNvPicPr>
          <p:nvPr/>
        </p:nvPicPr>
        <p:blipFill>
          <a:blip r:embed="rId3"/>
          <a:stretch>
            <a:fillRect/>
          </a:stretch>
        </p:blipFill>
        <p:spPr bwMode="auto">
          <a:xfrm>
            <a:off x="457200" y="1461889"/>
            <a:ext cx="8229600" cy="27686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learning rates</a:t>
            </a:r>
          </a:p>
        </p:txBody>
      </p:sp>
      <p:pic>
        <p:nvPicPr>
          <p:cNvPr descr="learning_rate_regimes.png" id="0" name="Picture 1"/>
          <p:cNvPicPr>
            <a:picLocks noGrp="1" noChangeAspect="1"/>
          </p:cNvPicPr>
          <p:nvPr/>
        </p:nvPicPr>
        <p:blipFill>
          <a:blip r:embed="rId3"/>
          <a:stretch>
            <a:fillRect/>
          </a:stretch>
        </p:blipFill>
        <p:spPr bwMode="auto">
          <a:xfrm>
            <a:off x="457200" y="1684139"/>
            <a:ext cx="8229600" cy="23241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one feature, 4-5</a:t>
                      </a:r>
                    </a:p>
                  </a:txBody>
                </a:tc>
                <a:tc>
                  <a:txBody>
                    <a:bodyPr/>
                    <a:lstStyle/>
                    <a:p>
                      <a:pPr lvl="0" indent="0" marL="0">
                        <a:buNone/>
                      </a:pPr>
                      <a:r>
                        <a:rPr>
                          <a:latin typeface="Courier"/>
                        </a:rPr>
                        <a:t>train_test_split</a:t>
                      </a:r>
                      <a:r>
                        <a:rPr/>
                        <a:t> → 450 houses to fit, 150 to test</a:t>
                      </a:r>
                    </a:p>
                  </a:txBody>
                </a:tc>
              </a:tr>
              <a:tr h="0">
                <a:tc>
                  <a:txBody>
                    <a:bodyPr/>
                    <a:lstStyle/>
                    <a:p>
                      <a:pPr lvl="0" indent="0" marL="0">
                        <a:buNone/>
                      </a:pPr>
                      <a:r>
                        <a:rPr/>
                        <a:t>the exact answer, 15-18</a:t>
                      </a:r>
                    </a:p>
                  </a:txBody>
                </a:tc>
                <a:tc>
                  <a:txBody>
                    <a:bodyPr/>
                    <a:lstStyle/>
                    <a:p>
                      <a:pPr lvl="0" indent="0" marL="0">
                        <a:buNone/>
                      </a:pPr>
                      <a:r>
                        <a:rPr/>
                        <a:t>the normal equation in NumPy, then </a:t>
                      </a:r>
                      <a:r>
                        <a:rPr>
                          <a:latin typeface="Courier"/>
                        </a:rPr>
                        <a:t>LinearRegression</a:t>
                      </a:r>
                      <a:r>
                        <a:rPr/>
                        <a:t> → 2,785 €/m², agreeing to 1.82e-12</a:t>
                      </a:r>
                    </a:p>
                  </a:txBody>
                </a:tc>
              </a:tr>
              <a:tr h="0">
                <a:tc>
                  <a:txBody>
                    <a:bodyPr/>
                    <a:lstStyle/>
                    <a:p>
                      <a:pPr lvl="0" indent="0" marL="0">
                        <a:buNone/>
                      </a:pPr>
                      <a:r>
                        <a:rPr/>
                        <a:t>the iterative answer, 21-25</a:t>
                      </a:r>
                    </a:p>
                  </a:txBody>
                </a:tc>
                <a:tc>
                  <a:txBody>
                    <a:bodyPr/>
                    <a:lstStyle/>
                    <a:p>
                      <a:pPr lvl="0" indent="0" marL="0">
                        <a:buNone/>
                      </a:pPr>
                      <a:r>
                        <a:rPr/>
                        <a:t>NumPy only: gradient descent → the same answer, slowly</a:t>
                      </a:r>
                    </a:p>
                  </a:txBody>
                </a:tc>
              </a:tr>
              <a:tr h="0">
                <a:tc>
                  <a:txBody>
                    <a:bodyPr/>
                    <a:lstStyle/>
                    <a:p>
                      <a:pPr lvl="0" indent="0" marL="0">
                        <a:buNone/>
                      </a:pPr>
                      <a:r>
                        <a:rPr/>
                        <a:t>all six features, 50-51</a:t>
                      </a:r>
                    </a:p>
                  </a:txBody>
                </a:tc>
                <a:tc>
                  <a:txBody>
                    <a:bodyPr/>
                    <a:lstStyle/>
                    <a:p>
                      <a:pPr lvl="0" indent="0" marL="0">
                        <a:buNone/>
                      </a:pPr>
                      <a:r>
                        <a:rPr>
                          <a:latin typeface="Courier"/>
                        </a:rPr>
                        <a:t>LinearRegression</a:t>
                      </a:r>
                      <a:r>
                        <a:rPr/>
                        <a:t> → area 2,421, bedrooms −16.6%</a:t>
                      </a:r>
                    </a:p>
                  </a:txBody>
                </a:tc>
              </a:tr>
              <a:tr h="0">
                <a:tc>
                  <a:txBody>
                    <a:bodyPr/>
                    <a:lstStyle/>
                    <a:p>
                      <a:pPr lvl="0" indent="0" marL="0">
                        <a:buNone/>
                      </a:pPr>
                      <a:r>
                        <a:rPr/>
                        <a:t>the baseline, 12</a:t>
                      </a:r>
                    </a:p>
                  </a:txBody>
                </a:tc>
                <a:tc>
                  <a:txBody>
                    <a:bodyPr/>
                    <a:lstStyle/>
                    <a:p>
                      <a:pPr lvl="0" indent="0" marL="0">
                        <a:buNone/>
                      </a:pPr>
                      <a:r>
                        <a:rPr>
                          <a:latin typeface="Courier"/>
                        </a:rPr>
                        <a:t>DummyRegressor(strategy="mean")</a:t>
                      </a:r>
                      <a:r>
                        <a:rPr/>
                        <a:t>, </a:t>
                      </a:r>
                      <a:r>
                        <a:rPr>
                          <a:latin typeface="Courier"/>
                        </a:rPr>
                        <a:t>r2_score</a:t>
                      </a:r>
                      <a:r>
                        <a:rPr/>
                        <a:t> → 96,440 € against 20,341 €, R² 0.956</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if the relationship bends?</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Energy consumption against temperature: heating in the cold, cooling in the heat.</a:t>
            </a:r>
          </a:p>
          <a:p>
            <a:pPr lvl="0" indent="0" marL="0">
              <a:buNone/>
            </a:pPr>
            <a:r>
              <a:rPr/>
              <a:t>No straight line follows that.</a:t>
            </a:r>
          </a:p>
          <a:p>
            <a:pPr lvl="0" indent="0" marL="0">
              <a:buNone/>
            </a:pPr>
            <a:r>
              <a:rPr/>
              <a:t>In code: </a:t>
            </a:r>
            <a:r>
              <a:rPr>
                <a:latin typeface="Courier"/>
              </a:rPr>
              <a:t>PolynomialFeatures(degree=2)</a:t>
            </a:r>
            <a:r>
              <a:rPr/>
              <a:t> adds the squared temperature, t², as a second column.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relationship a line cannot follow</a:t>
            </a:r>
          </a:p>
        </p:txBody>
      </p:sp>
      <p:pic>
        <p:nvPicPr>
          <p:cNvPr descr="energy_curve.png" id="0" name="Picture 1"/>
          <p:cNvPicPr>
            <a:picLocks noGrp="1" noChangeAspect="1"/>
          </p:cNvPicPr>
          <p:nvPr/>
        </p:nvPicPr>
        <p:blipFill>
          <a:blip r:embed="rId3"/>
          <a:stretch>
            <a:fillRect/>
          </a:stretch>
        </p:blipFill>
        <p:spPr bwMode="auto">
          <a:xfrm>
            <a:off x="1746679" y="1166099"/>
            <a:ext cx="5650641" cy="3360181"/>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“Linear” means linear in the coefficients</a:t>
            </a:r>
          </a:p>
        </p:txBody>
      </p:sp>
      <p:pic>
        <p:nvPicPr>
          <p:cNvPr descr="eq_cd7cba7d3b.png" id="0" name="Picture 1"/>
          <p:cNvPicPr>
            <a:picLocks noGrp="1" noChangeAspect="1"/>
          </p:cNvPicPr>
          <p:nvPr/>
        </p:nvPicPr>
        <p:blipFill>
          <a:blip r:embed="rId3"/>
          <a:stretch>
            <a:fillRect/>
          </a:stretch>
        </p:blipFill>
        <p:spPr bwMode="auto">
          <a:xfrm>
            <a:off x="1377260" y="2382755"/>
            <a:ext cx="6389479" cy="926869"/>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straight line’s residuals keep the shape</a:t>
            </a:r>
          </a:p>
        </p:txBody>
      </p:sp>
      <p:pic>
        <p:nvPicPr>
          <p:cNvPr descr="underfit_residuals.png" id="0" name="Picture 1"/>
          <p:cNvPicPr>
            <a:picLocks noGrp="1" noChangeAspect="1"/>
          </p:cNvPicPr>
          <p:nvPr/>
        </p:nvPicPr>
        <p:blipFill>
          <a:blip r:embed="rId3"/>
          <a:stretch>
            <a:fillRect/>
          </a:stretch>
        </p:blipFill>
        <p:spPr bwMode="auto">
          <a:xfrm>
            <a:off x="1325084" y="1166099"/>
            <a:ext cx="6493832" cy="3360181"/>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“nothing left” looks like</a:t>
            </a:r>
          </a:p>
        </p:txBody>
      </p:sp>
      <p:pic>
        <p:nvPicPr>
          <p:cNvPr descr="residuals.png" id="0" name="Picture 1"/>
          <p:cNvPicPr>
            <a:picLocks noGrp="1" noChangeAspect="1"/>
          </p:cNvPicPr>
          <p:nvPr/>
        </p:nvPicPr>
        <p:blipFill>
          <a:blip r:embed="rId3"/>
          <a:stretch>
            <a:fillRect/>
          </a:stretch>
        </p:blipFill>
        <p:spPr bwMode="auto">
          <a:xfrm>
            <a:off x="457200" y="1499989"/>
            <a:ext cx="8229600" cy="26924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So use more flexibility?</a:t>
            </a:r>
          </a:p>
        </p:txBody>
      </p:sp>
      <p:pic>
        <p:nvPicPr>
          <p:cNvPr descr="polynomial_degrees.png" id="0" name="Picture 1"/>
          <p:cNvPicPr>
            <a:picLocks noGrp="1" noChangeAspect="1"/>
          </p:cNvPicPr>
          <p:nvPr/>
        </p:nvPicPr>
        <p:blipFill>
          <a:blip r:embed="rId3"/>
          <a:stretch>
            <a:fillRect/>
          </a:stretch>
        </p:blipFill>
        <p:spPr bwMode="auto">
          <a:xfrm>
            <a:off x="457200" y="1696839"/>
            <a:ext cx="8229600" cy="22987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Root mean squared error (RMSE), by degree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Degree</a:t>
                      </a:r>
                    </a:p>
                  </a:txBody>
                  <a:tcPr/>
                </a:tc>
                <a:tc>
                  <a:txBody>
                    <a:bodyPr/>
                    <a:lstStyle/>
                    <a:p>
                      <a:pPr lvl="0" indent="0" marL="0">
                        <a:buNone/>
                      </a:pPr>
                      <a:r>
                        <a:rPr/>
                        <a:t>Train RMSE (kWh)</a:t>
                      </a:r>
                    </a:p>
                  </a:txBody>
                  <a:tcPr/>
                </a:tc>
                <a:tc>
                  <a:txBody>
                    <a:bodyPr/>
                    <a:lstStyle/>
                    <a:p>
                      <a:pPr lvl="0" indent="0" marL="0">
                        <a:buNone/>
                      </a:pPr>
                      <a:r>
                        <a:rPr/>
                        <a:t>Test RMSE (kWh)</a:t>
                      </a:r>
                    </a:p>
                  </a:txBody>
                  <a:tcPr/>
                </a:tc>
              </a:tr>
              <a:tr h="0">
                <a:tc>
                  <a:txBody>
                    <a:bodyPr/>
                    <a:lstStyle/>
                    <a:p>
                      <a:pPr lvl="0" indent="0" marL="0">
                        <a:buNone/>
                      </a:pPr>
                      <a:r>
                        <a:rPr/>
                        <a:t>1</a:t>
                      </a:r>
                    </a:p>
                  </a:txBody>
                </a:tc>
                <a:tc>
                  <a:txBody>
                    <a:bodyPr/>
                    <a:lstStyle/>
                    <a:p>
                      <a:pPr lvl="0" indent="0" marL="0">
                        <a:buNone/>
                      </a:pPr>
                      <a:r>
                        <a:rPr/>
                        <a:t>113.3</a:t>
                      </a:r>
                    </a:p>
                  </a:txBody>
                </a:tc>
                <a:tc>
                  <a:txBody>
                    <a:bodyPr/>
                    <a:lstStyle/>
                    <a:p>
                      <a:pPr lvl="0" indent="0" marL="0">
                        <a:buNone/>
                      </a:pPr>
                      <a:r>
                        <a:rPr/>
                        <a:t>212.1</a:t>
                      </a:r>
                    </a:p>
                  </a:txBody>
                </a:tc>
              </a:tr>
              <a:tr h="0">
                <a:tc>
                  <a:txBody>
                    <a:bodyPr/>
                    <a:lstStyle/>
                    <a:p>
                      <a:pPr lvl="0" indent="0" marL="0">
                        <a:buNone/>
                      </a:pPr>
                      <a:r>
                        <a:rPr/>
                        <a:t>3</a:t>
                      </a:r>
                    </a:p>
                  </a:txBody>
                </a:tc>
                <a:tc>
                  <a:txBody>
                    <a:bodyPr/>
                    <a:lstStyle/>
                    <a:p>
                      <a:pPr lvl="0" indent="0" marL="0">
                        <a:buNone/>
                      </a:pPr>
                      <a:r>
                        <a:rPr/>
                        <a:t>17.5</a:t>
                      </a:r>
                    </a:p>
                  </a:txBody>
                </a:tc>
                <a:tc>
                  <a:txBody>
                    <a:bodyPr/>
                    <a:lstStyle/>
                    <a:p>
                      <a:pPr lvl="0" indent="0" marL="0">
                        <a:buNone/>
                      </a:pPr>
                      <a:r>
                        <a:rPr b="1"/>
                        <a:t>16.9</a:t>
                      </a:r>
                    </a:p>
                  </a:txBody>
                </a:tc>
              </a:tr>
              <a:tr h="0">
                <a:tc>
                  <a:txBody>
                    <a:bodyPr/>
                    <a:lstStyle/>
                    <a:p>
                      <a:pPr lvl="0" indent="0" marL="0">
                        <a:buNone/>
                      </a:pPr>
                      <a:r>
                        <a:rPr/>
                        <a:t>9</a:t>
                      </a:r>
                    </a:p>
                  </a:txBody>
                </a:tc>
                <a:tc>
                  <a:txBody>
                    <a:bodyPr/>
                    <a:lstStyle/>
                    <a:p>
                      <a:pPr lvl="0" indent="0" marL="0">
                        <a:buNone/>
                      </a:pPr>
                      <a:r>
                        <a:rPr/>
                        <a:t>16.2</a:t>
                      </a:r>
                    </a:p>
                  </a:txBody>
                </a:tc>
                <a:tc>
                  <a:txBody>
                    <a:bodyPr/>
                    <a:lstStyle/>
                    <a:p>
                      <a:pPr lvl="0" indent="0" marL="0">
                        <a:buNone/>
                      </a:pPr>
                      <a:r>
                        <a:rPr/>
                        <a:t>590.1</a:t>
                      </a:r>
                    </a:p>
                  </a:txBody>
                </a:tc>
              </a:tr>
              <a:tr h="0">
                <a:tc>
                  <a:txBody>
                    <a:bodyPr/>
                    <a:lstStyle/>
                    <a:p>
                      <a:pPr lvl="0" indent="0" marL="0">
                        <a:buNone/>
                      </a:pPr>
                      <a:r>
                        <a:rPr/>
                        <a:t>12</a:t>
                      </a:r>
                    </a:p>
                  </a:txBody>
                </a:tc>
                <a:tc>
                  <a:txBody>
                    <a:bodyPr/>
                    <a:lstStyle/>
                    <a:p>
                      <a:pPr lvl="0" indent="0" marL="0">
                        <a:buNone/>
                      </a:pPr>
                      <a:r>
                        <a:rPr/>
                        <a:t>13.6</a:t>
                      </a:r>
                    </a:p>
                  </a:txBody>
                </a:tc>
                <a:tc>
                  <a:txBody>
                    <a:bodyPr/>
                    <a:lstStyle/>
                    <a:p>
                      <a:pPr lvl="0" indent="0" marL="0">
                        <a:buNone/>
                      </a:pPr>
                      <a:r>
                        <a:rPr/>
                        <a:t>24,655.7</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gap is the overfitting</a:t>
            </a:r>
          </a:p>
        </p:txBody>
      </p:sp>
      <p:pic>
        <p:nvPicPr>
          <p:cNvPr descr="train_test_by_degree.png" id="0" name="Picture 1"/>
          <p:cNvPicPr>
            <a:picLocks noGrp="1" noChangeAspect="1"/>
          </p:cNvPicPr>
          <p:nvPr/>
        </p:nvPicPr>
        <p:blipFill>
          <a:blip r:embed="rId3"/>
          <a:stretch>
            <a:fillRect/>
          </a:stretch>
        </p:blipFill>
        <p:spPr bwMode="auto">
          <a:xfrm>
            <a:off x="1658585" y="1166099"/>
            <a:ext cx="5826830" cy="3360181"/>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a relationship that bends, 28-29</a:t>
                      </a:r>
                    </a:p>
                  </a:txBody>
                </a:tc>
                <a:tc>
                  <a:txBody>
                    <a:bodyPr/>
                    <a:lstStyle/>
                    <a:p>
                      <a:pPr lvl="0" indent="0" marL="0">
                        <a:buNone/>
                      </a:pPr>
                      <a:r>
                        <a:rPr>
                          <a:latin typeface="Courier"/>
                        </a:rPr>
                        <a:t>train_test_split</a:t>
                      </a:r>
                      <a:r>
                        <a:rPr/>
                        <a:t> → 21 days to fit, 9 to test</a:t>
                      </a:r>
                    </a:p>
                  </a:txBody>
                </a:tc>
              </a:tr>
              <a:tr h="0">
                <a:tc>
                  <a:txBody>
                    <a:bodyPr/>
                    <a:lstStyle/>
                    <a:p>
                      <a:pPr lvl="0" indent="0" marL="0">
                        <a:buNone/>
                      </a:pPr>
                      <a:r>
                        <a:rPr/>
                        <a:t>linear in the coefficients, 30-32</a:t>
                      </a:r>
                    </a:p>
                  </a:txBody>
                </a:tc>
                <a:tc>
                  <a:txBody>
                    <a:bodyPr/>
                    <a:lstStyle/>
                    <a:p>
                      <a:pPr lvl="0" indent="0" marL="0">
                        <a:buNone/>
                      </a:pPr>
                      <a:r>
                        <a:rPr>
                          <a:latin typeface="Courier"/>
                        </a:rPr>
                        <a:t>PolynomialFeatures</a:t>
                      </a:r>
                      <a:r>
                        <a:rPr/>
                        <a:t>, </a:t>
                      </a:r>
                      <a:r>
                        <a:rPr>
                          <a:latin typeface="Courier"/>
                        </a:rPr>
                        <a:t>StandardScaler</a:t>
                      </a:r>
                      <a:r>
                        <a:rPr/>
                        <a:t> and </a:t>
                      </a:r>
                      <a:r>
                        <a:rPr>
                          <a:latin typeface="Courier"/>
                        </a:rPr>
                        <a:t>LinearRegression</a:t>
                      </a:r>
                      <a:r>
                        <a:rPr/>
                        <a:t>, chained by </a:t>
                      </a:r>
                      <a:r>
                        <a:rPr>
                          <a:latin typeface="Courier"/>
                        </a:rPr>
                        <a:t>make_pipeline</a:t>
                      </a:r>
                    </a:p>
                  </a:txBody>
                </a:tc>
              </a:tr>
              <a:tr h="0">
                <a:tc>
                  <a:txBody>
                    <a:bodyPr/>
                    <a:lstStyle/>
                    <a:p>
                      <a:pPr lvl="0" indent="0" marL="0">
                        <a:buNone/>
                      </a:pPr>
                      <a:r>
                        <a:rPr/>
                        <a:t>too much flexibility, 33-35</a:t>
                      </a:r>
                    </a:p>
                  </a:txBody>
                </a:tc>
                <a:tc>
                  <a:txBody>
                    <a:bodyPr/>
                    <a:lstStyle/>
                    <a:p>
                      <a:pPr lvl="0" indent="0" marL="0">
                        <a:buNone/>
                      </a:pPr>
                      <a:r>
                        <a:rPr>
                          <a:latin typeface="Courier"/>
                        </a:rPr>
                        <a:t>mean_squared_error</a:t>
                      </a:r>
                      <a:r>
                        <a:rPr/>
                        <a:t>, square-rooted → test RMSE 16.9 at degree 3, 24,655.7 at 12</a:t>
                      </a:r>
                    </a:p>
                  </a:txBody>
                </a:tc>
              </a:tr>
              <a:tr h="0">
                <a:tc>
                  <a:txBody>
                    <a:bodyPr/>
                    <a:lstStyle/>
                    <a:p>
                      <a:pPr lvl="0" indent="0" marL="0">
                        <a:buNone/>
                      </a:pPr>
                      <a:r>
                        <a:rPr/>
                        <a:t>why the wiggles appear, 37</a:t>
                      </a:r>
                    </a:p>
                  </a:txBody>
                </a:tc>
                <a:tc>
                  <a:txBody>
                    <a:bodyPr/>
                    <a:lstStyle/>
                    <a:p>
                      <a:pPr lvl="0" indent="0" marL="0">
                        <a:buNone/>
                      </a:pPr>
                      <a:r>
                        <a:rPr/>
                        <a:t>the fitted coefficients → largest 3,097,038,010 at degree 12</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flexibility goes wrong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Largest coefficient, degree 2: </a:t>
            </a:r>
            <a:r>
              <a:rPr b="1"/>
              <a:t>411</a:t>
            </a:r>
          </a:p>
          <a:p>
            <a:pPr lvl="0" indent="0" marL="0">
              <a:buNone/>
            </a:pPr>
            <a:r>
              <a:rPr/>
              <a:t>Largest coefficient, degree 12: </a:t>
            </a:r>
            <a:r>
              <a:rPr b="1"/>
              <a:t>3,097,038,010</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Charge for size</a:t>
            </a:r>
          </a:p>
        </p:txBody>
      </p:sp>
      <p:pic>
        <p:nvPicPr>
          <p:cNvPr descr="eq_9b7318ca49.png" id="0" name="Picture 1"/>
          <p:cNvPicPr>
            <a:picLocks noGrp="1" noChangeAspect="1"/>
          </p:cNvPicPr>
          <p:nvPr/>
        </p:nvPicPr>
        <p:blipFill>
          <a:blip r:embed="rId3"/>
          <a:stretch>
            <a:fillRect/>
          </a:stretch>
        </p:blipFill>
        <p:spPr bwMode="auto">
          <a:xfrm>
            <a:off x="457205" y="2401690"/>
            <a:ext cx="8229590" cy="888999"/>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rules that are not optional</a:t>
            </a:r>
          </a:p>
        </p:txBody>
      </p:sp>
      <p:sp>
        <p:nvSpPr>
          <p:cNvPr id="3" name="Content Placeholder 2"/>
          <p:cNvSpPr>
            <a:spLocks noGrp="1"/>
          </p:cNvSpPr>
          <p:nvPr>
            <p:ph idx="1"/>
          </p:nvPr>
        </p:nvSpPr>
        <p:spPr>
          <a:xfrm>
            <a:off x="457200" y="1200151"/>
            <a:ext cx="8229600" cy="3394472"/>
          </a:xfrm>
        </p:spPr>
        <p:txBody>
          <a:bodyPr/>
          <a:lstStyle/>
          <a:p>
            <a:pPr lvl="0"/>
            <a:r>
              <a:rPr/>
              <a:t>The </a:t>
            </a:r>
            <a:r>
              <a:rPr b="1"/>
              <a:t>intercept is never penalised</a:t>
            </a:r>
            <a:r>
              <a:rPr/>
              <a:t>: it is not a claim about any feature</a:t>
            </a:r>
          </a:p>
          <a:p>
            <a:pPr lvl="0"/>
            <a:r>
              <a:rPr/>
              <a:t>Features </a:t>
            </a:r>
            <a:r>
              <a:rPr b="1"/>
              <a:t>must be scaled first</a:t>
            </a:r>
            <a:r>
              <a:rPr/>
              <a:t>, or the penalty is arbitrary</a:t>
            </a:r>
          </a:p>
          <a:p>
            <a:pPr lvl="0"/>
            <a:r>
              <a:rPr/>
              <a:t>In code: </a:t>
            </a:r>
            <a:r>
              <a:rPr>
                <a:latin typeface="Courier"/>
              </a:rPr>
              <a:t>make_pipeline(StandardScaler(), Ridge(alpha=0.01))</a:t>
            </a:r>
            <a:r>
              <a:rPr/>
              <a:t>; scikit-learn calls λ </a:t>
            </a:r>
            <a:r>
              <a:rPr>
                <a:latin typeface="Courier"/>
              </a:rPr>
              <a:t>alpha</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 penalty buys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Model</a:t>
                      </a:r>
                    </a:p>
                  </a:txBody>
                  <a:tcPr/>
                </a:tc>
                <a:tc>
                  <a:txBody>
                    <a:bodyPr/>
                    <a:lstStyle/>
                    <a:p>
                      <a:pPr lvl="0" indent="0" marL="0">
                        <a:buNone/>
                      </a:pPr>
                      <a:r>
                        <a:rPr/>
                        <a:t>Train RMSE</a:t>
                      </a:r>
                    </a:p>
                  </a:txBody>
                  <a:tcPr/>
                </a:tc>
                <a:tc>
                  <a:txBody>
                    <a:bodyPr/>
                    <a:lstStyle/>
                    <a:p>
                      <a:pPr lvl="0" indent="0" marL="0">
                        <a:buNone/>
                      </a:pPr>
                      <a:r>
                        <a:rPr/>
                        <a:t>Test RMSE</a:t>
                      </a:r>
                    </a:p>
                  </a:txBody>
                  <a:tcPr/>
                </a:tc>
                <a:tc>
                  <a:txBody>
                    <a:bodyPr/>
                    <a:lstStyle/>
                    <a:p>
                      <a:pPr lvl="0" indent="0" marL="0">
                        <a:buNone/>
                      </a:pPr>
                      <a:r>
                        <a:rPr/>
                        <a:t>max |w|</a:t>
                      </a:r>
                    </a:p>
                  </a:txBody>
                  <a:tcPr/>
                </a:tc>
              </a:tr>
              <a:tr h="0">
                <a:tc>
                  <a:txBody>
                    <a:bodyPr/>
                    <a:lstStyle/>
                    <a:p>
                      <a:pPr lvl="0" indent="0" marL="0">
                        <a:buNone/>
                      </a:pPr>
                      <a:r>
                        <a:rPr/>
                        <a:t>none</a:t>
                      </a:r>
                    </a:p>
                  </a:txBody>
                </a:tc>
                <a:tc>
                  <a:txBody>
                    <a:bodyPr/>
                    <a:lstStyle/>
                    <a:p>
                      <a:pPr lvl="0" indent="0" marL="0">
                        <a:buNone/>
                      </a:pPr>
                      <a:r>
                        <a:rPr/>
                        <a:t>13.6</a:t>
                      </a:r>
                    </a:p>
                  </a:txBody>
                </a:tc>
                <a:tc>
                  <a:txBody>
                    <a:bodyPr/>
                    <a:lstStyle/>
                    <a:p>
                      <a:pPr lvl="0" indent="0" marL="0">
                        <a:buNone/>
                      </a:pPr>
                      <a:r>
                        <a:rPr/>
                        <a:t>24,655.7</a:t>
                      </a:r>
                    </a:p>
                  </a:txBody>
                </a:tc>
                <a:tc>
                  <a:txBody>
                    <a:bodyPr/>
                    <a:lstStyle/>
                    <a:p>
                      <a:pPr lvl="0" indent="0" marL="0">
                        <a:buNone/>
                      </a:pPr>
                      <a:r>
                        <a:rPr/>
                        <a:t>3,097,038,010</a:t>
                      </a:r>
                    </a:p>
                  </a:txBody>
                </a:tc>
              </a:tr>
              <a:tr h="0">
                <a:tc>
                  <a:txBody>
                    <a:bodyPr/>
                    <a:lstStyle/>
                    <a:p>
                      <a:pPr lvl="0" indent="0" marL="0">
                        <a:buNone/>
                      </a:pPr>
                      <a:r>
                        <a:rPr/>
                        <a:t>λ = 0.01</a:t>
                      </a:r>
                    </a:p>
                  </a:txBody>
                </a:tc>
                <a:tc>
                  <a:txBody>
                    <a:bodyPr/>
                    <a:lstStyle/>
                    <a:p>
                      <a:pPr lvl="0" indent="0" marL="0">
                        <a:buNone/>
                      </a:pPr>
                      <a:r>
                        <a:rPr/>
                        <a:t>18.0</a:t>
                      </a:r>
                    </a:p>
                  </a:txBody>
                </a:tc>
                <a:tc>
                  <a:txBody>
                    <a:bodyPr/>
                    <a:lstStyle/>
                    <a:p>
                      <a:pPr lvl="0" indent="0" marL="0">
                        <a:buNone/>
                      </a:pPr>
                      <a:r>
                        <a:rPr b="1"/>
                        <a:t>22.8</a:t>
                      </a:r>
                    </a:p>
                  </a:txBody>
                </a:tc>
                <a:tc>
                  <a:txBody>
                    <a:bodyPr/>
                    <a:lstStyle/>
                    <a:p>
                      <a:pPr lvl="0" indent="0" marL="0">
                        <a:buNone/>
                      </a:pPr>
                      <a:r>
                        <a:rPr/>
                        <a:t>365</a:t>
                      </a:r>
                    </a:p>
                  </a:txBody>
                </a:tc>
              </a:tr>
              <a:tr h="0">
                <a:tc>
                  <a:txBody>
                    <a:bodyPr/>
                    <a:lstStyle/>
                    <a:p>
                      <a:pPr lvl="0" indent="0" marL="0">
                        <a:buNone/>
                      </a:pPr>
                      <a:r>
                        <a:rPr/>
                        <a:t>λ = 1</a:t>
                      </a:r>
                    </a:p>
                  </a:txBody>
                </a:tc>
                <a:tc>
                  <a:txBody>
                    <a:bodyPr/>
                    <a:lstStyle/>
                    <a:p>
                      <a:pPr lvl="0" indent="0" marL="0">
                        <a:buNone/>
                      </a:pPr>
                      <a:r>
                        <a:rPr/>
                        <a:t>44.5</a:t>
                      </a:r>
                    </a:p>
                  </a:txBody>
                </a:tc>
                <a:tc>
                  <a:txBody>
                    <a:bodyPr/>
                    <a:lstStyle/>
                    <a:p>
                      <a:pPr lvl="0" indent="0" marL="0">
                        <a:buNone/>
                      </a:pPr>
                      <a:r>
                        <a:rPr/>
                        <a:t>105.2</a:t>
                      </a:r>
                    </a:p>
                  </a:txBody>
                </a:tc>
                <a:tc>
                  <a:txBody>
                    <a:bodyPr/>
                    <a:lstStyle/>
                    <a:p>
                      <a:pPr lvl="0" indent="0" marL="0">
                        <a:buNone/>
                      </a:pPr>
                      <a:r>
                        <a:rPr/>
                        <a:t>156</a:t>
                      </a:r>
                    </a:p>
                  </a:txBody>
                </a:tc>
              </a:tr>
              <a:tr h="0">
                <a:tc>
                  <a:txBody>
                    <a:bodyPr/>
                    <a:lstStyle/>
                    <a:p>
                      <a:pPr lvl="0" indent="0" marL="0">
                        <a:buNone/>
                      </a:pPr>
                      <a:r>
                        <a:rPr/>
                        <a:t>λ = 100</a:t>
                      </a:r>
                    </a:p>
                  </a:txBody>
                </a:tc>
                <a:tc>
                  <a:txBody>
                    <a:bodyPr/>
                    <a:lstStyle/>
                    <a:p>
                      <a:pPr lvl="0" indent="0" marL="0">
                        <a:buNone/>
                      </a:pPr>
                      <a:r>
                        <a:rPr/>
                        <a:t>96.0</a:t>
                      </a:r>
                    </a:p>
                  </a:txBody>
                </a:tc>
                <a:tc>
                  <a:txBody>
                    <a:bodyPr/>
                    <a:lstStyle/>
                    <a:p>
                      <a:pPr lvl="0" indent="0" marL="0">
                        <a:buNone/>
                      </a:pPr>
                      <a:r>
                        <a:rPr/>
                        <a:t>227.6</a:t>
                      </a:r>
                    </a:p>
                  </a:txBody>
                </a:tc>
                <a:tc>
                  <a:txBody>
                    <a:bodyPr/>
                    <a:lstStyle/>
                    <a:p>
                      <a:pPr lvl="0" indent="0" marL="0">
                        <a:buNone/>
                      </a:pPr>
                      <a:r>
                        <a:rPr/>
                        <a:t>6</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unpenalised fit leaves the picture</a:t>
            </a:r>
          </a:p>
        </p:txBody>
      </p:sp>
      <p:pic>
        <p:nvPicPr>
          <p:cNvPr descr="ridge_degrees.png" id="0" name="Picture 1"/>
          <p:cNvPicPr>
            <a:picLocks noGrp="1" noChangeAspect="1"/>
          </p:cNvPicPr>
          <p:nvPr/>
        </p:nvPicPr>
        <p:blipFill>
          <a:blip r:embed="rId3"/>
          <a:stretch>
            <a:fillRect/>
          </a:stretch>
        </p:blipFill>
        <p:spPr bwMode="auto">
          <a:xfrm>
            <a:off x="457200" y="1703189"/>
            <a:ext cx="8229600" cy="22860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Too flexible, too rigid</a:t>
            </a:r>
          </a:p>
        </p:txBody>
      </p:sp>
      <p:pic>
        <p:nvPicPr>
          <p:cNvPr descr="alpha_trade_off.png" id="0" name="Picture 1"/>
          <p:cNvPicPr>
            <a:picLocks noGrp="1" noChangeAspect="1"/>
          </p:cNvPicPr>
          <p:nvPr/>
        </p:nvPicPr>
        <p:blipFill>
          <a:blip r:embed="rId3"/>
          <a:stretch>
            <a:fillRect/>
          </a:stretch>
        </p:blipFill>
        <p:spPr bwMode="auto">
          <a:xfrm>
            <a:off x="1557905" y="1166099"/>
            <a:ext cx="6028189" cy="3360181"/>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Ridge has an exact solution too</a:t>
            </a:r>
          </a:p>
        </p:txBody>
      </p:sp>
      <p:pic>
        <p:nvPicPr>
          <p:cNvPr descr="eq_33ff54cfd2.png" id="0" name="Picture 1"/>
          <p:cNvPicPr>
            <a:picLocks noGrp="1" noChangeAspect="1"/>
          </p:cNvPicPr>
          <p:nvPr/>
        </p:nvPicPr>
        <p:blipFill>
          <a:blip r:embed="rId3"/>
          <a:stretch>
            <a:fillRect/>
          </a:stretch>
        </p:blipFill>
        <p:spPr bwMode="auto">
          <a:xfrm>
            <a:off x="808254" y="2393146"/>
            <a:ext cx="7527492" cy="906087"/>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that one change fixes it</a:t>
            </a:r>
          </a:p>
        </p:txBody>
      </p:sp>
      <p:sp>
        <p:nvSpPr>
          <p:cNvPr id="3" name="Content Placeholder 2"/>
          <p:cNvSpPr>
            <a:spLocks noGrp="1"/>
          </p:cNvSpPr>
          <p:nvPr>
            <p:ph idx="1"/>
          </p:nvPr>
        </p:nvSpPr>
        <p:spPr>
          <a:xfrm>
            <a:off x="457200" y="1200151"/>
            <a:ext cx="8229600" cy="3394472"/>
          </a:xfrm>
        </p:spPr>
        <p:txBody>
          <a:bodyPr/>
          <a:lstStyle/>
          <a:p>
            <a:pPr lvl="0"/>
            <a:r>
              <a:rPr/>
              <a:t>Least squares fails when a direction costs nothing: the valley is flat</a:t>
            </a:r>
          </a:p>
          <a:p>
            <a:pPr lvl="0"/>
            <a:r>
              <a:rPr/>
              <a:t>The penalty makes </a:t>
            </a:r>
            <a:r>
              <a:rPr b="1"/>
              <a:t>every</a:t>
            </a:r>
            <a:r>
              <a:rPr/>
              <a:t> direction cost something</a:t>
            </a:r>
          </a:p>
          <a:p>
            <a:pPr lvl="0"/>
            <a:r>
              <a:rPr/>
              <a:t>Every eigenvalue of XᵀX shifts up by λ, so none of them can be zero</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picture behind Ridge vs Lasso</a:t>
            </a:r>
          </a:p>
        </p:txBody>
      </p:sp>
      <p:pic>
        <p:nvPicPr>
          <p:cNvPr descr="ridge_lasso_geometry.png" id="0" name="Picture 1"/>
          <p:cNvPicPr>
            <a:picLocks noGrp="1" noChangeAspect="1"/>
          </p:cNvPicPr>
          <p:nvPr/>
        </p:nvPicPr>
        <p:blipFill>
          <a:blip r:embed="rId3"/>
          <a:stretch>
            <a:fillRect/>
          </a:stretch>
        </p:blipFill>
        <p:spPr bwMode="auto">
          <a:xfrm>
            <a:off x="1325084" y="1166099"/>
            <a:ext cx="6493832" cy="3360181"/>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Ridge shrinks, Lasso selects</a:t>
            </a:r>
          </a:p>
        </p:txBody>
      </p:sp>
      <p:pic>
        <p:nvPicPr>
          <p:cNvPr descr="regularisation_paths.png" id="0" name="Picture 1"/>
          <p:cNvPicPr>
            <a:picLocks noGrp="1" noChangeAspect="1"/>
          </p:cNvPicPr>
          <p:nvPr/>
        </p:nvPicPr>
        <p:blipFill>
          <a:blip r:embed="rId3"/>
          <a:stretch>
            <a:fillRect/>
          </a:stretch>
        </p:blipFill>
        <p:spPr bwMode="auto">
          <a:xfrm>
            <a:off x="457200" y="1512689"/>
            <a:ext cx="8229600" cy="26670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order Lasso drops features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λ</a:t>
                      </a:r>
                    </a:p>
                  </a:txBody>
                  <a:tcPr/>
                </a:tc>
                <a:tc>
                  <a:txBody>
                    <a:bodyPr/>
                    <a:lstStyle/>
                    <a:p>
                      <a:pPr lvl="0" indent="0" marL="0">
                        <a:buNone/>
                      </a:pPr>
                      <a:r>
                        <a:rPr/>
                        <a:t>Features kept</a:t>
                      </a:r>
                    </a:p>
                  </a:txBody>
                  <a:tcPr/>
                </a:tc>
              </a:tr>
              <a:tr h="0">
                <a:tc>
                  <a:txBody>
                    <a:bodyPr/>
                    <a:lstStyle/>
                    <a:p>
                      <a:pPr lvl="0" indent="0" marL="0">
                        <a:buNone/>
                      </a:pPr>
                      <a:r>
                        <a:rPr/>
                        <a:t>1,000</a:t>
                      </a:r>
                    </a:p>
                  </a:txBody>
                </a:tc>
                <a:tc>
                  <a:txBody>
                    <a:bodyPr/>
                    <a:lstStyle/>
                    <a:p>
                      <a:pPr lvl="0" indent="0" marL="0">
                        <a:buNone/>
                      </a:pPr>
                      <a:r>
                        <a:rPr/>
                        <a:t>all six</a:t>
                      </a:r>
                    </a:p>
                  </a:txBody>
                </a:tc>
              </a:tr>
              <a:tr h="0">
                <a:tc>
                  <a:txBody>
                    <a:bodyPr/>
                    <a:lstStyle/>
                    <a:p>
                      <a:pPr lvl="0" indent="0" marL="0">
                        <a:buNone/>
                      </a:pPr>
                      <a:r>
                        <a:rPr/>
                        <a:t>10,000</a:t>
                      </a:r>
                    </a:p>
                  </a:txBody>
                </a:tc>
                <a:tc>
                  <a:txBody>
                    <a:bodyPr/>
                    <a:lstStyle/>
                    <a:p>
                      <a:pPr lvl="0" indent="0" marL="0">
                        <a:buNone/>
                      </a:pPr>
                      <a:r>
                        <a:rPr/>
                        <a:t>five: </a:t>
                      </a:r>
                      <a:r>
                        <a:rPr>
                          <a:latin typeface="Courier"/>
                        </a:rPr>
                        <a:t>garage</a:t>
                      </a:r>
                      <a:r>
                        <a:rPr/>
                        <a:t> dropped</a:t>
                      </a:r>
                    </a:p>
                  </a:txBody>
                </a:tc>
              </a:tr>
              <a:tr h="0">
                <a:tc>
                  <a:txBody>
                    <a:bodyPr/>
                    <a:lstStyle/>
                    <a:p>
                      <a:pPr lvl="0" indent="0" marL="0">
                        <a:buNone/>
                      </a:pPr>
                      <a:r>
                        <a:rPr/>
                        <a:t>20,000</a:t>
                      </a:r>
                    </a:p>
                  </a:txBody>
                </a:tc>
                <a:tc>
                  <a:txBody>
                    <a:bodyPr/>
                    <a:lstStyle/>
                    <a:p>
                      <a:pPr lvl="0" indent="0" marL="0">
                        <a:buNone/>
                      </a:pPr>
                      <a:r>
                        <a:rPr/>
                        <a:t>three: </a:t>
                      </a:r>
                      <a:r>
                        <a:rPr>
                          <a:latin typeface="Courier"/>
                        </a:rPr>
                        <a:t>area_sqm</a:t>
                      </a:r>
                      <a:r>
                        <a:rPr/>
                        <a:t>, </a:t>
                      </a:r>
                      <a:r>
                        <a:rPr>
                          <a:latin typeface="Courier"/>
                        </a:rPr>
                        <a:t>bedrooms</a:t>
                      </a:r>
                      <a:r>
                        <a:rPr/>
                        <a:t>, </a:t>
                      </a:r>
                      <a:r>
                        <a:rPr>
                          <a:latin typeface="Courier"/>
                        </a:rPr>
                        <a:t>bathrooms</a:t>
                      </a:r>
                    </a:p>
                  </a:txBody>
                </a:tc>
              </a:tr>
              <a:tr h="0">
                <a:tc>
                  <a:txBody>
                    <a:bodyPr/>
                    <a:lstStyle/>
                    <a:p>
                      <a:pPr lvl="0" indent="0" marL="0">
                        <a:buNone/>
                      </a:pPr>
                      <a:r>
                        <a:rPr/>
                        <a:t>40,000</a:t>
                      </a:r>
                    </a:p>
                  </a:txBody>
                </a:tc>
                <a:tc>
                  <a:txBody>
                    <a:bodyPr/>
                    <a:lstStyle/>
                    <a:p>
                      <a:pPr lvl="0" indent="0" marL="0">
                        <a:buNone/>
                      </a:pPr>
                      <a:r>
                        <a:rPr/>
                        <a:t>one: </a:t>
                      </a:r>
                      <a:r>
                        <a:rPr>
                          <a:latin typeface="Courier"/>
                        </a:rPr>
                        <a:t>area_sqm</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case Ridge was invented for</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area_sqm</a:t>
            </a:r>
            <a:r>
              <a:rPr/>
              <a:t> and </a:t>
            </a:r>
            <a:r>
              <a:rPr>
                <a:latin typeface="Courier"/>
              </a:rPr>
              <a:t>area_sqft</a:t>
            </a:r>
            <a:r>
              <a:rPr/>
              <a:t>: the same measurement, two units.</a:t>
            </a:r>
          </a:p>
          <a:p>
            <a:pPr lvl="0" indent="0" marL="0">
              <a:buNone/>
            </a:pPr>
            <a:r>
              <a:rPr/>
              <a:t>Correlation: </a:t>
            </a:r>
            <a:r>
              <a:rPr b="1"/>
              <a:t>0.999999</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coefficients are noise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Split</a:t>
                      </a:r>
                    </a:p>
                  </a:txBody>
                  <a:tcPr/>
                </a:tc>
                <a:tc>
                  <a:txBody>
                    <a:bodyPr/>
                    <a:lstStyle/>
                    <a:p>
                      <a:pPr lvl="0" indent="0" marL="0">
                        <a:buNone/>
                      </a:pPr>
                      <a:r>
                        <a:rPr/>
                        <a:t>area_sqm</a:t>
                      </a:r>
                    </a:p>
                  </a:txBody>
                  <a:tcPr/>
                </a:tc>
                <a:tc>
                  <a:txBody>
                    <a:bodyPr/>
                    <a:lstStyle/>
                    <a:p>
                      <a:pPr lvl="0" indent="0" marL="0">
                        <a:buNone/>
                      </a:pPr>
                      <a:r>
                        <a:rPr/>
                        <a:t>area_sqft</a:t>
                      </a:r>
                    </a:p>
                  </a:txBody>
                  <a:tcPr/>
                </a:tc>
              </a:tr>
              <a:tr h="0">
                <a:tc>
                  <a:txBody>
                    <a:bodyPr/>
                    <a:lstStyle/>
                    <a:p>
                      <a:pPr lvl="0" indent="0" marL="0">
                        <a:buNone/>
                      </a:pPr>
                      <a:r>
                        <a:rPr/>
                        <a:t>0</a:t>
                      </a:r>
                    </a:p>
                  </a:txBody>
                </a:tc>
                <a:tc>
                  <a:txBody>
                    <a:bodyPr/>
                    <a:lstStyle/>
                    <a:p>
                      <a:pPr lvl="0" indent="0" marL="0">
                        <a:buNone/>
                      </a:pPr>
                      <a:r>
                        <a:rPr/>
                        <a:t>9,261</a:t>
                      </a:r>
                    </a:p>
                  </a:txBody>
                </a:tc>
                <a:tc>
                  <a:txBody>
                    <a:bodyPr/>
                    <a:lstStyle/>
                    <a:p>
                      <a:pPr lvl="0" indent="0" marL="0">
                        <a:buNone/>
                      </a:pPr>
                      <a:r>
                        <a:rPr/>
                        <a:t>−640</a:t>
                      </a:r>
                    </a:p>
                  </a:txBody>
                </a:tc>
              </a:tr>
              <a:tr h="0">
                <a:tc>
                  <a:txBody>
                    <a:bodyPr/>
                    <a:lstStyle/>
                    <a:p>
                      <a:pPr lvl="0" indent="0" marL="0">
                        <a:buNone/>
                      </a:pPr>
                      <a:r>
                        <a:rPr/>
                        <a:t>1</a:t>
                      </a:r>
                    </a:p>
                  </a:txBody>
                </a:tc>
                <a:tc>
                  <a:txBody>
                    <a:bodyPr/>
                    <a:lstStyle/>
                    <a:p>
                      <a:pPr lvl="0" indent="0" marL="0">
                        <a:buNone/>
                      </a:pPr>
                      <a:r>
                        <a:rPr/>
                        <a:t>14,535</a:t>
                      </a:r>
                    </a:p>
                  </a:txBody>
                </a:tc>
                <a:tc>
                  <a:txBody>
                    <a:bodyPr/>
                    <a:lstStyle/>
                    <a:p>
                      <a:pPr lvl="0" indent="0" marL="0">
                        <a:buNone/>
                      </a:pPr>
                      <a:r>
                        <a:rPr/>
                        <a:t>−1,127</a:t>
                      </a:r>
                    </a:p>
                  </a:txBody>
                </a:tc>
              </a:tr>
              <a:tr h="0">
                <a:tc>
                  <a:txBody>
                    <a:bodyPr/>
                    <a:lstStyle/>
                    <a:p>
                      <a:pPr lvl="0" indent="0" marL="0">
                        <a:buNone/>
                      </a:pPr>
                      <a:r>
                        <a:rPr/>
                        <a:t>2</a:t>
                      </a:r>
                    </a:p>
                  </a:txBody>
                </a:tc>
                <a:tc>
                  <a:txBody>
                    <a:bodyPr/>
                    <a:lstStyle/>
                    <a:p>
                      <a:pPr lvl="0" indent="0" marL="0">
                        <a:buNone/>
                      </a:pPr>
                      <a:r>
                        <a:rPr/>
                        <a:t>45,307</a:t>
                      </a:r>
                    </a:p>
                  </a:txBody>
                </a:tc>
                <a:tc>
                  <a:txBody>
                    <a:bodyPr/>
                    <a:lstStyle/>
                    <a:p>
                      <a:pPr lvl="0" indent="0" marL="0">
                        <a:buNone/>
                      </a:pPr>
                      <a:r>
                        <a:rPr/>
                        <a:t>−3,989</a:t>
                      </a:r>
                    </a:p>
                  </a:txBody>
                </a:tc>
              </a:tr>
              <a:tr h="0">
                <a:tc>
                  <a:txBody>
                    <a:bodyPr/>
                    <a:lstStyle/>
                    <a:p>
                      <a:pPr lvl="0" indent="0" marL="0">
                        <a:buNone/>
                      </a:pPr>
                      <a:r>
                        <a:rPr/>
                        <a:t>3</a:t>
                      </a:r>
                    </a:p>
                  </a:txBody>
                </a:tc>
                <a:tc>
                  <a:txBody>
                    <a:bodyPr/>
                    <a:lstStyle/>
                    <a:p>
                      <a:pPr lvl="0" indent="0" marL="0">
                        <a:buNone/>
                      </a:pPr>
                      <a:r>
                        <a:rPr/>
                        <a:t>39,061</a:t>
                      </a:r>
                    </a:p>
                  </a:txBody>
                </a:tc>
                <a:tc>
                  <a:txBody>
                    <a:bodyPr/>
                    <a:lstStyle/>
                    <a:p>
                      <a:pPr lvl="0" indent="0" marL="0">
                        <a:buNone/>
                      </a:pPr>
                      <a:r>
                        <a:rPr/>
                        <a:t>−3,402</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 coefficient actually says</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The change in the prediction for a one-unit change in that feature, </a:t>
            </a:r>
            <a:r>
              <a:rPr b="1"/>
              <a:t>with every other feature held fixed</a:t>
            </a:r>
            <a:r>
              <a:rPr/>
              <a: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When can you trust a coefficient?</a:t>
            </a:r>
          </a:p>
        </p:txBody>
      </p:sp>
      <p:pic>
        <p:nvPicPr>
          <p:cNvPr descr="coefficient_trust.png" id="0" name="Picture 1"/>
          <p:cNvPicPr>
            <a:picLocks noGrp="1" noChangeAspect="1"/>
          </p:cNvPicPr>
          <p:nvPr/>
        </p:nvPicPr>
        <p:blipFill>
          <a:blip r:embed="rId3"/>
          <a:stretch>
            <a:fillRect/>
          </a:stretch>
        </p:blipFill>
        <p:spPr bwMode="auto">
          <a:xfrm>
            <a:off x="1633415" y="1166099"/>
            <a:ext cx="5877170" cy="3360181"/>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Ridge on the degree-12 fit, 38-42</a:t>
                      </a:r>
                    </a:p>
                  </a:txBody>
                </a:tc>
                <a:tc>
                  <a:txBody>
                    <a:bodyPr/>
                    <a:lstStyle/>
                    <a:p>
                      <a:pPr lvl="0" indent="0" marL="0">
                        <a:buNone/>
                      </a:pPr>
                      <a:r>
                        <a:rPr>
                          <a:latin typeface="Courier"/>
                        </a:rPr>
                        <a:t>Ridge(alpha=0.01)</a:t>
                      </a:r>
                      <a:r>
                        <a:rPr/>
                        <a:t> after </a:t>
                      </a:r>
                      <a:r>
                        <a:rPr>
                          <a:latin typeface="Courier"/>
                        </a:rPr>
                        <a:t>PolynomialFeatures</a:t>
                      </a:r>
                      <a:r>
                        <a:rPr/>
                        <a:t> and </a:t>
                      </a:r>
                      <a:r>
                        <a:rPr>
                          <a:latin typeface="Courier"/>
                        </a:rPr>
                        <a:t>StandardScaler</a:t>
                      </a:r>
                      <a:r>
                        <a:rPr/>
                        <a:t> → largest coefficient 365</a:t>
                      </a:r>
                    </a:p>
                  </a:txBody>
                </a:tc>
              </a:tr>
              <a:tr h="0">
                <a:tc>
                  <a:txBody>
                    <a:bodyPr/>
                    <a:lstStyle/>
                    <a:p>
                      <a:pPr lvl="0" indent="0" marL="0">
                        <a:buNone/>
                      </a:pPr>
                      <a:r>
                        <a:rPr/>
                        <a:t>regularisation paths, 45-47</a:t>
                      </a:r>
                    </a:p>
                  </a:txBody>
                </a:tc>
                <a:tc>
                  <a:txBody>
                    <a:bodyPr/>
                    <a:lstStyle/>
                    <a:p>
                      <a:pPr lvl="0" indent="0" marL="0">
                        <a:buNone/>
                      </a:pPr>
                      <a:r>
                        <a:rPr>
                          <a:latin typeface="Courier"/>
                        </a:rPr>
                        <a:t>make_pipeline(StandardScaler(), Ridge(alpha=...))</a:t>
                      </a:r>
                      <a:r>
                        <a:rPr/>
                        <a:t>, the same with </a:t>
                      </a:r>
                      <a:r>
                        <a:rPr>
                          <a:latin typeface="Courier"/>
                        </a:rPr>
                        <a:t>Lasso</a:t>
                      </a:r>
                      <a:r>
                        <a:rPr/>
                        <a:t> → only area left at 40,000</a:t>
                      </a:r>
                    </a:p>
                  </a:txBody>
                </a:tc>
              </a:tr>
              <a:tr h="0">
                <a:tc>
                  <a:txBody>
                    <a:bodyPr/>
                    <a:lstStyle/>
                    <a:p>
                      <a:pPr lvl="0" indent="0" marL="0">
                        <a:buNone/>
                      </a:pPr>
                      <a:r>
                        <a:rPr/>
                        <a:t>the collinear case, 48-49</a:t>
                      </a:r>
                    </a:p>
                  </a:txBody>
                </a:tc>
                <a:tc>
                  <a:txBody>
                    <a:bodyPr/>
                    <a:lstStyle/>
                    <a:p>
                      <a:pPr lvl="0" indent="0" marL="0">
                        <a:buNone/>
                      </a:pPr>
                      <a:r>
                        <a:rPr>
                          <a:latin typeface="Courier"/>
                        </a:rPr>
                        <a:t>LinearRegression</a:t>
                      </a:r>
                      <a:r>
                        <a:rPr/>
                        <a:t> against </a:t>
                      </a:r>
                      <a:r>
                        <a:rPr>
                          <a:latin typeface="Courier"/>
                        </a:rPr>
                        <a:t>Ridge(alpha=10)</a:t>
                      </a:r>
                      <a:r>
                        <a:rPr/>
                        <a:t> on four splits → 9,261 to 45,307, then about 40,000</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we did today</a:t>
            </a:r>
          </a:p>
        </p:txBody>
      </p:sp>
      <p:sp>
        <p:nvSpPr>
          <p:cNvPr id="3" name="Content Placeholder 2"/>
          <p:cNvSpPr>
            <a:spLocks noGrp="1"/>
          </p:cNvSpPr>
          <p:nvPr>
            <p:ph idx="1"/>
          </p:nvPr>
        </p:nvSpPr>
        <p:spPr>
          <a:xfrm>
            <a:off x="457200" y="1200151"/>
            <a:ext cx="8229600" cy="3394472"/>
          </a:xfrm>
        </p:spPr>
        <p:txBody>
          <a:bodyPr/>
          <a:lstStyle/>
          <a:p>
            <a:pPr lvl="0"/>
            <a:r>
              <a:rPr/>
              <a:t>A model that claims a fixed amount per unit</a:t>
            </a:r>
          </a:p>
          <a:p>
            <a:pPr lvl="0"/>
            <a:r>
              <a:rPr/>
              <a:t>An exact solution (a projection), and when it fails</a:t>
            </a:r>
          </a:p>
          <a:p>
            <a:pPr lvl="0"/>
            <a:r>
              <a:rPr/>
              <a:t>An iterative one: walk downhill, mind your stride</a:t>
            </a:r>
          </a:p>
          <a:p>
            <a:pPr lvl="0"/>
            <a:r>
              <a:rPr/>
              <a:t>Flexibility helps until it does not</a:t>
            </a:r>
          </a:p>
          <a:p>
            <a:pPr lvl="0"/>
            <a:r>
              <a:rPr/>
              <a:t>Charging for size buys generalisation, and readable coefficients</a:t>
            </a:r>
          </a:p>
          <a:p>
            <a:pPr lvl="0"/>
            <a:r>
              <a:rPr b="1"/>
              <a:t>365</a:t>
            </a:r>
            <a:r>
              <a:rPr/>
              <a:t> against billions: what a penalty of 0.01 costs, and buys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 we discuss it on Friday 23 October</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Exercises/03_regression.md</a:t>
            </a:r>
          </a:p>
          <a:p>
            <a:pPr lvl="0" indent="0" marL="0">
              <a:buNone/>
            </a:pPr>
            <a:r>
              <a:rPr/>
              <a:t>Fit, regularise, and </a:t>
            </a:r>
            <a:r>
              <a:rPr b="1"/>
              <a:t>explain which coefficients you believe</a:t>
            </a:r>
            <a:r>
              <a:rPr/>
              <a:t>.</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Regression</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16 October 2026</vt:lpwstr>
  </property>
  <property fmtid="{D5CDD505-2E9C-101B-9397-08002B2CF9AE}" pid="3" name="subtitle">
    <vt:lpwstr>Technologies for Artificial Intelligence</vt:lpwstr>
  </property>
</Properties>
</file>