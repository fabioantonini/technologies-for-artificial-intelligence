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w star and b star are the values of the slope and the intercept at which the cost J is smallest. The star marks “the best values”; it is a label, not an operation.</a:t>
            </a:r>
          </a:p>
          <a:p>
            <a:pPr lvl="0" indent="0" marL="0">
              <a:buNone/>
            </a:pPr>
          </a:p>
          <a:p>
            <a:pPr lvl="0" indent="0" marL="0">
              <a:buNone/>
            </a:pPr>
            <a:r>
              <a:rPr/>
              <a:t>arg min is lesson 1’s notation, met there as f-hat equals the arg min of the training error. It returns where the minimum is reached, not the minimum itself: here, a pair of numbers (w, b), not a cost. That distinction is worth a sentence, because the minimum of J is a number nobody needs - what the lesson wants is the coefficients that achieve it.</a:t>
            </a:r>
          </a:p>
          <a:p>
            <a:pPr lvl="0" indent="0" marL="0">
              <a:buNone/>
            </a:pPr>
          </a:p>
          <a:p>
            <a:pPr lvl="0" indent="0" marL="0">
              <a:buNone/>
            </a:pPr>
            <a:r>
              <a:rPr/>
              <a:t>This line is the whole of “fitting”. Everything else in the first half of the lesson is a way of computing it: exactly, with the normal equation on slides 15-18, or step by step, with gradient descent on slides 21-25. The next slide shows J as a surface over (w, b), and the pair this formula asks for is the lowest point of that surface.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 The gold star is the previous slide’s (w</a:t>
            </a:r>
            <a:r>
              <a:rPr i="1"/>
              <a:t>, b</a:t>
            </a:r>
            <a:r>
              <a:rPr/>
              <a:t>): the notebook computes the cost at every point of a grid and keeps the lowest, a slope of 2,790 and an intercept of -52,000. The normal equation, two slides on, leads to the exact answer, 2,785 and -51,025, within one grid step of the star.</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40: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is finding where J is smallest</a:t>
            </a:r>
          </a:p>
        </p:txBody>
      </p:sp>
      <p:pic>
        <p:nvPicPr>
          <p:cNvPr descr="eq_dc62389775.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8239"/>
            <a:ext cx="8229600" cy="2755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15-18</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21-25</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50-51</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28-29</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30-32</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33-35</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37</a:t>
                      </a:r>
                    </a:p>
                  </a:txBody>
                </a:tc>
                <a:tc>
                  <a:txBody>
                    <a:bodyPr/>
                    <a:lstStyle/>
                    <a:p>
                      <a:pPr lvl="0" indent="0" marL="0">
                        <a:buNone/>
                      </a:pPr>
                      <a:r>
                        <a:rPr/>
                        <a:t>the fitted coefficients → largest 3,097,038,010 at degree 12</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38-42</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45-47</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48-49</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