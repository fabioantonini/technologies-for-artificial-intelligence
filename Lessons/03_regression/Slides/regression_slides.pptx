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2 and say one sentence about what you saw, if you have looked.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three points is nothing, and 6% here is luck as much as method. Notebook 1 does the same on 450 houses and gets 2,410. The point is not the accuracy, it is that the formula is arithmetic you could do by hand.</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 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16, monotonically, never once suggesting anything is wrong. Test error bottoms out at degree 3 and then climbs: 118 at degree 9, 182 at degree 12.</a:t>
            </a:r>
          </a:p>
          <a:p>
            <a:pPr lvl="0" indent="0" marL="0">
              <a:buNone/>
            </a:pPr>
          </a:p>
          <a:p>
            <a:pPr lvl="0" indent="0" marL="0">
              <a:buNone/>
            </a:pPr>
            <a:r>
              <a:rPr/>
              <a:t>So the model that fits the training data best is ten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247,514 down to 365, from a penalty of one hundredth. And the test error falls from 182 to 23, which is the noise floor — an eightfold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was due today</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47359" y="1166099"/>
            <a:ext cx="544928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 mean squared error</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23548" y="1166099"/>
            <a:ext cx="509690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 X</a:t>
                      </a:r>
                    </a:p>
                  </a:txBody>
                </a:tc>
                <a:tc>
                  <a:txBody>
                    <a:bodyPr/>
                    <a:lstStyle/>
                    <a:p>
                      <a:pPr lvl="0" indent="0" marL="0">
                        <a:buNone/>
                      </a:pPr>
                      <a:r>
                        <a:rPr/>
                        <a:t>rows (3, 400) and (400, 60,800)</a:t>
                      </a:r>
                    </a:p>
                  </a:txBody>
                </a:tc>
              </a:tr>
              <a:tr h="0">
                <a:tc>
                  <a:txBody>
                    <a:bodyPr/>
                    <a:lstStyle/>
                    <a:p>
                      <a:pPr lvl="0" indent="0" marL="0">
                        <a:buNone/>
                      </a:pPr>
                      <a:r>
                        <a:rPr/>
                        <a:t>Xᵀ y</a:t>
                      </a:r>
                    </a:p>
                  </a:txBody>
                </a:tc>
                <a:tc>
                  <a:txBody>
                    <a:bodyPr/>
                    <a:lstStyle/>
                    <a:p>
                      <a:pPr lvl="0" indent="0" marL="0">
                        <a:buNone/>
                      </a:pPr>
                      <a:r>
                        <a:rPr/>
                        <a:t>(1,100 , 165,600)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 the truth is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 X —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 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55539"/>
            <a:ext cx="82296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59264" y="1166099"/>
            <a:ext cx="562547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3639"/>
            <a:ext cx="8229600" cy="27051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16.5</a:t>
                      </a:r>
                    </a:p>
                  </a:txBody>
                </a:tc>
                <a:tc>
                  <a:txBody>
                    <a:bodyPr/>
                    <a:lstStyle/>
                    <a:p>
                      <a:pPr lvl="0" indent="0" marL="0">
                        <a:buNone/>
                      </a:pPr>
                      <a:r>
                        <a:rPr/>
                        <a:t>118.2</a:t>
                      </a:r>
                    </a:p>
                  </a:txBody>
                </a:tc>
              </a:tr>
              <a:tr h="0">
                <a:tc>
                  <a:txBody>
                    <a:bodyPr/>
                    <a:lstStyle/>
                    <a:p>
                      <a:pPr lvl="0" indent="0" marL="0">
                        <a:buNone/>
                      </a:pPr>
                      <a:r>
                        <a:rPr/>
                        <a:t>12</a:t>
                      </a:r>
                    </a:p>
                  </a:txBody>
                </a:tc>
                <a:tc>
                  <a:txBody>
                    <a:bodyPr/>
                    <a:lstStyle/>
                    <a:p>
                      <a:pPr lvl="0" indent="0" marL="0">
                        <a:buNone/>
                      </a:pPr>
                      <a:r>
                        <a:rPr/>
                        <a:t>16.3</a:t>
                      </a:r>
                    </a:p>
                  </a:txBody>
                </a:tc>
                <a:tc>
                  <a:txBody>
                    <a:bodyPr/>
                    <a:lstStyle/>
                    <a:p>
                      <a:pPr lvl="0" indent="0" marL="0">
                        <a:buNone/>
                      </a:pPr>
                      <a:r>
                        <a:rPr/>
                        <a:t>182.0</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77462" y="1166099"/>
            <a:ext cx="5789075"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247,514</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16.3</a:t>
                      </a:r>
                    </a:p>
                  </a:txBody>
                </a:tc>
                <a:tc>
                  <a:txBody>
                    <a:bodyPr/>
                    <a:lstStyle/>
                    <a:p>
                      <a:pPr lvl="0" indent="0" marL="0">
                        <a:buNone/>
                      </a:pPr>
                      <a:r>
                        <a:rPr/>
                        <a:t>182.0</a:t>
                      </a:r>
                    </a:p>
                  </a:txBody>
                </a:tc>
                <a:tc>
                  <a:txBody>
                    <a:bodyPr/>
                    <a:lstStyle/>
                    <a:p>
                      <a:pPr lvl="0" indent="0" marL="0">
                        <a:buNone/>
                      </a:pPr>
                      <a:r>
                        <a:rPr/>
                        <a:t>247,514</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70490" y="1166099"/>
            <a:ext cx="6003019"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457200" y="2274689"/>
            <a:ext cx="8229600" cy="1143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18791" y="1166099"/>
            <a:ext cx="650641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06339"/>
            <a:ext cx="8229600" cy="26797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 a projection — and when it fails</a:t>
            </a:r>
          </a:p>
          <a:p>
            <a:pPr lvl="0"/>
            <a:r>
              <a:rPr/>
              <a:t>An iterative one: walk downhill, mind your stride</a:t>
            </a:r>
          </a:p>
          <a:p>
            <a:pPr lvl="0"/>
            <a:r>
              <a:rPr/>
              <a:t>Flexibility helps until it does not</a:t>
            </a:r>
          </a:p>
          <a:p>
            <a:pPr lvl="0"/>
            <a:r>
              <a:rPr/>
              <a:t>Charging for size buys generalisation, and readable coefficients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 Regression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