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w star and b star are the values of the slope and the intercept at which the cost J is smallest. The star marks “the best values”; it is a label, not an operation.</a:t>
            </a:r>
          </a:p>
          <a:p>
            <a:pPr lvl="0" indent="0" marL="0">
              <a:buNone/>
            </a:pPr>
          </a:p>
          <a:p>
            <a:pPr lvl="0" indent="0" marL="0">
              <a:buNone/>
            </a:pPr>
            <a:r>
              <a:rPr/>
              <a:t>arg min is lesson 1’s notation, met there as f-hat equals the arg min of the training error. It returns where the minimum is reached, not the minimum itself: here, a pair of numbers (w, b), not a cost. That distinction is worth a sentence, because the minimum of J is a number nobody needs - what the lesson wants is the coefficients that achieve it.</a:t>
            </a:r>
          </a:p>
          <a:p>
            <a:pPr lvl="0" indent="0" marL="0">
              <a:buNone/>
            </a:pPr>
          </a:p>
          <a:p>
            <a:pPr lvl="0" indent="0" marL="0">
              <a:buNone/>
            </a:pPr>
            <a:r>
              <a:rPr/>
              <a:t>This line is the whole of “fitting”. Everything else in the first half of the lesson is a way of computing it: exactly, with the normal equation on slides 15-19, or step by step, with gradient descent on slides 22-27. The next slide shows J as a surface over (w, b), and the pair this formula asks for is the lowest point of that surface.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 The gold star is the previous slide’s (w</a:t>
            </a:r>
            <a:r>
              <a:rPr i="1"/>
              <a:t>, b</a:t>
            </a:r>
            <a:r>
              <a:rPr/>
              <a:t>): the notebook computes the cost at every point of a grid and keeps the lowest, a slope of 2,790 and an intercept of -52,000. The normal equation, three slides on, leads to the exact answer, 2,785 and -51,025, within one grid step of the star.</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pieces of notation, and the next slide is unreadable without them.</a:t>
            </a:r>
          </a:p>
          <a:p>
            <a:pPr lvl="0" indent="0" marL="0">
              <a:buNone/>
            </a:pPr>
          </a:p>
          <a:p>
            <a:pPr lvl="0" indent="0" marL="0">
              <a:buNone/>
            </a:pPr>
            <a:r>
              <a:rPr/>
              <a:t>Theta is a column vector: b on top, then w1 down to wn. It is the course’s symbol for all the parameters together, intercept included. Write it on the board as a column - b, w1, dots, wn - because that is how it multiplies.</a:t>
            </a:r>
          </a:p>
          <a:p>
            <a:pPr lvl="0" indent="0" marL="0">
              <a:buNone/>
            </a:pPr>
          </a:p>
          <a:p>
            <a:pPr lvl="0" indent="0" marL="0">
              <a:buNone/>
            </a:pPr>
            <a:r>
              <a:rPr/>
              <a:t>X is the table of features with one extra column of 1s in front. Ask the room why the 1s are there before you say it: multiply a row of X by theta, and the 1 picks up b while each feature picks up its own w. So one row times theta is exactly the linear model of slide 6, b + w1 x1 + … + wn xn, and X times theta is that prediction for every house at once.</a:t>
            </a:r>
          </a:p>
          <a:p>
            <a:pPr lvl="0" indent="0" marL="0">
              <a:buNone/>
            </a:pPr>
          </a:p>
          <a:p>
            <a:pPr lvl="0" indent="0" marL="0">
              <a:buNone/>
            </a:pPr>
            <a:r>
              <a:rPr/>
              <a:t>With the three houses of the slide after next: X has rows (1, 80), (1, 120), (1, 200), and theta is (b, w).</a:t>
            </a:r>
          </a:p>
          <a:p>
            <a:pPr lvl="0" indent="0" marL="0">
              <a:buNone/>
            </a:pPr>
          </a:p>
          <a:p>
            <a:pPr lvl="0" indent="0" marL="0">
              <a:buNone/>
            </a:pPr>
            <a:r>
              <a:rPr/>
              <a:t>Handout section 3.1 sets this up before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Where the curvatures come from, in one sentence: the second derivative of the cost is the matrix XᵀX divided by m, and its eigenvalues are the curvatures of the bowl along its steepest and shallowest directions. Warn about the square: np.linalg.cond(X) gives 654 on the raw housing data, which is the square root of κ. Read as κ itself, it would understate the stretch more than six hundred times.</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 The handout checks that by running gradient descent to within 0.1% of the exact solution: 2.9 million iterations on the raw features, 56 on the standardised ones.</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parameters, so two slopes to feel in the fog: how fast J rises as w grows, and how fast it rises as b grows. Both come from differentiating the mean squared error; handout section 4.1 does it in two lines. Write the error of house i as e(i) = y-hat(i) - y(i), and both gradients are averages of errors.</a:t>
            </a:r>
          </a:p>
          <a:p>
            <a:pPr lvl="0" indent="0" marL="0">
              <a:buNone/>
            </a:pPr>
          </a:p>
          <a:p>
            <a:pPr lvl="0" indent="0" marL="0">
              <a:buNone/>
            </a:pPr>
            <a:r>
              <a:rPr/>
              <a:t>Read the first one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intercept’s gradient, on the right, has no x in it - every example gets an equal vote there, as if b were the coefficient of a feature that is always 1.</a:t>
            </a:r>
          </a:p>
          <a:p>
            <a:pPr lvl="0" indent="0" marL="0">
              <a:buNone/>
            </a:pPr>
          </a:p>
          <a:p>
            <a:pPr lvl="0" indent="0" marL="0">
              <a:buNone/>
            </a:pPr>
            <a:r>
              <a:rPr/>
              <a:t>With several features there is one gradient like the first for each w_j, with x_j in place of x. The next slide puts the two gradients to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loop the fog picture describes, written as the five things the computer does, in order. Walk it once with the room before the numbers on the next slide.</a:t>
            </a:r>
          </a:p>
          <a:p>
            <a:pPr lvl="0" indent="0" marL="0">
              <a:buNone/>
            </a:pPr>
          </a:p>
          <a:p>
            <a:pPr lvl="0" indent="0" marL="0">
              <a:buNone/>
            </a:pPr>
            <a:r>
              <a:rPr/>
              <a:t>Step 1 uses whatever w and b the previous round left; the very first round starts from a guess, here w = 0 and b = 0. Steps 2 and 3 turn the predictions into the two gradients. Step 4 moves BOTH parameters at once, each against its own gradient, by the same learning rate alpha - and both updates use the gradients computed from the old values, before either has moved.</a:t>
            </a:r>
          </a:p>
          <a:p>
            <a:pPr lvl="0" indent="0" marL="0">
              <a:buNone/>
            </a:pPr>
          </a:p>
          <a:p>
            <a:pPr lvl="0" indent="0" marL="0">
              <a:buNone/>
            </a:pPr>
            <a:r>
              <a:rPr/>
              <a:t>Step 5 is the part that makes it iterative, and the part students most often miss: after the update the model is a different line, so every prediction changes, so every error changes, so the gradients have to be computed again from scratch. Nothing from the previous round is reused except w and b themselves. The loop stops after a fixed number of rounds, or when the cost stops falling.</a:t>
            </a:r>
          </a:p>
          <a:p>
            <a:pPr lvl="0" indent="0" marL="0">
              <a:buNone/>
            </a:pPr>
          </a:p>
          <a:p>
            <a:pPr lvl="0" indent="0" marL="0">
              <a:buNone/>
            </a:pPr>
            <a:r>
              <a:rPr/>
              <a:t>In compact form, with theta holding b and w, steps 3 and 4 are the handout’s theta &lt;- theta - alpha times the gradient of J. In notebook 1 the loop is the </a:t>
            </a:r>
            <a:r>
              <a:rPr>
                <a:latin typeface="Courier"/>
              </a:rPr>
              <a:t>gradient_descent</a:t>
            </a:r>
            <a:r>
              <a:rPr/>
              <a:t> function, and its body is these steps line for line: error = (w * x + b) - y, then grad_w = (error * x).mean() and grad_b = error.mean(), then the two updates. Notebook 1 runs it 4,000 times.</a:t>
            </a:r>
          </a:p>
          <a:p>
            <a:pPr lvl="0" indent="0" marL="0">
              <a:buNone/>
            </a:pPr>
          </a:p>
          <a:p>
            <a:pPr lvl="0" indent="0" marL="0">
              <a:buNone/>
            </a:pPr>
            <a:r>
              <a:rPr/>
              <a:t>The next slide is one pass through steps 1 to 4, on two houses.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steps 1 to 4 of the previous slide, done once. 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42: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is finding where J is smallest</a:t>
            </a:r>
          </a:p>
        </p:txBody>
      </p:sp>
      <p:pic>
        <p:nvPicPr>
          <p:cNvPr descr="eq_dc62389775.png" id="0" name="Picture 1"/>
          <p:cNvPicPr>
            <a:picLocks noGrp="1" noChangeAspect="1"/>
          </p:cNvPicPr>
          <p:nvPr/>
        </p:nvPicPr>
        <p:blipFill>
          <a:blip r:embed="rId3"/>
          <a:stretch>
            <a:fillRect/>
          </a:stretch>
        </p:blipFill>
        <p:spPr bwMode="auto">
          <a:xfrm>
            <a:off x="457200" y="2223889"/>
            <a:ext cx="8229600" cy="1244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θ and X: all parameters, all houses</a:t>
            </a:r>
          </a:p>
        </p:txBody>
      </p:sp>
      <p:sp>
        <p:nvSpPr>
          <p:cNvPr id="3" name="Content Placeholder 2"/>
          <p:cNvSpPr>
            <a:spLocks noGrp="1"/>
          </p:cNvSpPr>
          <p:nvPr>
            <p:ph idx="1"/>
          </p:nvPr>
        </p:nvSpPr>
        <p:spPr>
          <a:xfrm>
            <a:off x="457200" y="1200151"/>
            <a:ext cx="8229600" cy="3394472"/>
          </a:xfrm>
        </p:spPr>
        <p:txBody>
          <a:bodyPr/>
          <a:lstStyle/>
          <a:p>
            <a:pPr lvl="0"/>
            <a:r>
              <a:rPr/>
              <a:t>θ = (b, w₁, …, wₙ)ᵀ: every parameter in one column, the intercept first</a:t>
            </a:r>
          </a:p>
          <a:p>
            <a:pPr lvl="0"/>
            <a:r>
              <a:rPr/>
              <a:t>X: one row per house; a column of 1s, then one column per feature</a:t>
            </a:r>
          </a:p>
          <a:p>
            <a:pPr lvl="0"/>
            <a:r>
              <a:rPr/>
              <a:t>So Xθ gives b + w₁x₁ + … + wₙxₙ for every house at once: all m predictions in one product</a:t>
            </a:r>
          </a:p>
          <a:p>
            <a:pPr lvl="0"/>
            <a:r>
              <a:rPr/>
              <a:t>The cost becomes J(θ), and the next slide solves for θ</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 The curvatures are the eigenvalues of XᵀX, so κ = (</a:t>
            </a:r>
            <a:r>
              <a:rPr>
                <a:latin typeface="Courier"/>
              </a:rPr>
              <a:t>np.linalg.cond(X)</a:t>
            </a:r>
            <a:r>
              <a:rPr/>
              <a:t>)².</a:t>
            </a:r>
          </a:p>
          <a:p>
            <a:pPr lvl="0"/>
            <a:r>
              <a:rPr/>
              <a:t>Housing features as recorded: </a:t>
            </a:r>
            <a:r>
              <a:rPr b="1"/>
              <a:t>428,000</a:t>
            </a:r>
          </a:p>
          <a:p>
            <a:pPr lvl="0"/>
            <a:r>
              <a:rPr/>
              <a:t>The same features, standardised: </a:t>
            </a:r>
            <a:r>
              <a:rPr b="1"/>
              <a:t>11.4</a:t>
            </a:r>
          </a:p>
          <a:p>
            <a:pPr lvl="0"/>
            <a:r>
              <a:rPr/>
              <a:t>Add </a:t>
            </a:r>
            <a:r>
              <a:rPr>
                <a:latin typeface="Courier"/>
              </a:rPr>
              <a:t>area_sqft</a:t>
            </a:r>
            <a:r>
              <a:rPr/>
              <a:t> beside </a:t>
            </a:r>
            <a:r>
              <a:rPr>
                <a:latin typeface="Courier"/>
              </a:rPr>
              <a:t>area_sqm</a:t>
            </a:r>
            <a:r>
              <a:rPr/>
              <a:t>: </a:t>
            </a:r>
            <a:r>
              <a:rPr b="1"/>
              <a:t>5.2 million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gradients: one for w, one for b</a:t>
            </a:r>
          </a:p>
        </p:txBody>
      </p:sp>
      <p:pic>
        <p:nvPicPr>
          <p:cNvPr descr="eq_934188232f.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iteration, then the next</a:t>
            </a:r>
          </a:p>
        </p:txBody>
      </p:sp>
      <p:sp>
        <p:nvSpPr>
          <p:cNvPr id="3" name="Content Placeholder 2"/>
          <p:cNvSpPr>
            <a:spLocks noGrp="1"/>
          </p:cNvSpPr>
          <p:nvPr>
            <p:ph idx="1"/>
          </p:nvPr>
        </p:nvSpPr>
        <p:spPr>
          <a:xfrm>
            <a:off x="457200" y="1200151"/>
            <a:ext cx="8229600" cy="3394472"/>
          </a:xfrm>
        </p:spPr>
        <p:txBody>
          <a:bodyPr/>
          <a:lstStyle/>
          <a:p>
            <a:pPr lvl="0" indent="-342900" marL="342900">
              <a:buAutoNum type="arabicPeriod"/>
            </a:pPr>
            <a:r>
              <a:rPr/>
              <a:t>Predict with the current w and b: ŷ⁽ⁱ⁾ = w·x⁽ⁱ⁾ + b</a:t>
            </a:r>
          </a:p>
          <a:p>
            <a:pPr lvl="0" indent="-342900" marL="342900">
              <a:buAutoNum type="arabicPeriod"/>
            </a:pPr>
            <a:r>
              <a:rPr/>
              <a:t>Measure every error: e⁽ⁱ⁾ = ŷ⁽ⁱ⁾ − y⁽ⁱ⁾</a:t>
            </a:r>
          </a:p>
          <a:p>
            <a:pPr lvl="0" indent="-342900" marL="342900">
              <a:buAutoNum type="arabicPeriod"/>
            </a:pPr>
            <a:r>
              <a:rPr/>
              <a:t>Average them into the two gradients of the previous slide</a:t>
            </a:r>
          </a:p>
          <a:p>
            <a:pPr lvl="0" indent="-342900" marL="342900">
              <a:buAutoNum type="arabicPeriod"/>
            </a:pPr>
            <a:r>
              <a:rPr/>
              <a:t>Step both parameters: w ← w − α·∂J/∂w and b ← b − α·∂J/∂b</a:t>
            </a:r>
          </a:p>
          <a:p>
            <a:pPr lvl="0" indent="-342900" marL="342900">
              <a:buAutoNum type="arabicPeriod"/>
            </a:pPr>
            <a:r>
              <a:rPr/>
              <a:t>Back to 1: new w and b give new predictions, so new errors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8239"/>
            <a:ext cx="8229600" cy="2755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15-19</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22-27</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52-53</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30-31</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32-34</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35-37</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39</a:t>
                      </a:r>
                    </a:p>
                  </a:txBody>
                </a:tc>
                <a:tc>
                  <a:txBody>
                    <a:bodyPr/>
                    <a:lstStyle/>
                    <a:p>
                      <a:pPr lvl="0" indent="0" marL="0">
                        <a:buNone/>
                      </a:pPr>
                      <a:r>
                        <a:rPr/>
                        <a:t>the fitted coefficients → largest 3,097,038,010 at degree 12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40-44</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47-49</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50-51</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