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 ask two or three people what they built, and name the recurring mistake if it came up. The recurring mistake to name, if it appeared: fitting the scaler or the imputer before splitting.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that this is the first lesson where we fit something,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the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attack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outlier work is a prerequisite for this lesson, not a preliminary.</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shrug at the outlier - which is what robust regression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Also mention the second derivative is X transpose X, which is positive semi-definite,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and it is sharper than it looks: three points is nothing, and the 6% is luck. Run the SAME one-feature fit on 450 houses and you get 2,785 - sixteen percent high, further from the truth, with 150 times the data. More rows cannot fix it, because nothing is broken: asked what a square metre is worth when area is all you are told, the honest answer includes the bedrooms and bathrooms that come with it. All six features give 2,421.</a:t>
            </a:r>
          </a:p>
          <a:p>
            <a:pPr lvl="0" indent="0" marL="0">
              <a:buNone/>
            </a:pPr>
          </a:p>
          <a:p>
            <a:pPr lvl="0" indent="0" marL="0">
              <a:buNone/>
            </a:pPr>
            <a:r>
              <a:rPr/>
              <a:t>So the point is not the accuracy. It is that the formula is arithmetic you could do by hand - and that what a coefficient means depends on what else is in the model, which is section 7.</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answer was garbage every time.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it is the most transferable idea in the first half of the lesson.</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payoff, which lands twice. For the exact solution, a stretched valley is what makes the inverse enormous and the answer unstable. For gradient descent - next section -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gradients are negative - the model predicts zero for everything, so every prediction is far too low - and both parameters therefore increase. So far, so unremarkable.</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Areas are around 140, and the intercept’s “feature” is always 1, so the slope’s gradient is roughly 140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iteration. It drops off a cliff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folklore. Lesson 2 derived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Let them drive.</a:t>
            </a:r>
          </a:p>
          <a:p>
            <a:pPr lvl="0" indent="0" marL="0">
              <a:buNone/>
            </a:pPr>
          </a:p>
          <a:p>
            <a:pPr lvl="0" indent="0" marL="0">
              <a:buNone/>
            </a:pPr>
            <a:r>
              <a:rPr/>
              <a:t>The two moments worth pausing on together. First, the agreement between their four-line normal equation and scikit-learn to twelve decimal places - it lands better than any assurance from the front.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which is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113 down to 14, monotonically, never once suggesting anything is wrong. Test error bottoms out at degree 3 and then climbs: 590 at degree 9, and 24,656 at degree 12.</a:t>
            </a:r>
          </a:p>
          <a:p>
            <a:pPr lvl="0" indent="0" marL="0">
              <a:buNone/>
            </a:pPr>
          </a:p>
          <a:p>
            <a:pPr lvl="0" indent="0" marL="0">
              <a:buNone/>
            </a:pPr>
            <a:r>
              <a:rPr/>
              <a:t>So the model that fits the training data best is more than a thousand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 a thousandfold improvement bought with one number.</a:t>
            </a:r>
          </a:p>
          <a:p>
            <a:pPr lvl="0" indent="0" marL="0">
              <a:buNone/>
            </a:pPr>
          </a:p>
          <a:p>
            <a:pPr lvl="0" indent="0" marL="0">
              <a:buNone/>
            </a:pPr>
            <a:r>
              <a:rPr/>
              <a:t>Now the training column, which is the honest part: it gets WORSE at every step. 13.6, 18, 45, 96. That is the trade being made deliberately - a worse fit on the data we have, in exchange for a better fit on data we do not.</a:t>
            </a:r>
          </a:p>
          <a:p>
            <a:pPr lvl="0" indent="0" marL="0">
              <a:buNone/>
            </a:pPr>
          </a:p>
          <a:p>
            <a:pPr lvl="0" indent="0" marL="0">
              <a:buNone/>
            </a:pPr>
            <a:r>
              <a:rPr/>
              <a:t>And it stops paying. The test error rises from 22.8 at lambda 0.01, to 105 at lambda 1, to 228 at lambda 100 - a tenfold loss against the best penalty,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column of that table, drawn. Give the room a moment on the left panel before saying anything.</a:t>
            </a:r>
          </a:p>
          <a:p>
            <a:pPr lvl="0" indent="0" marL="0">
              <a:buNone/>
            </a:pPr>
          </a:p>
          <a:p>
            <a:pPr lvl="0" indent="0" marL="0">
              <a:buNone/>
            </a:pPr>
            <a:r>
              <a:rPr/>
              <a:t>Point at the vertical scale. The unpenalised curve goes off the top and off the bottom between the training points, and it only comes back where a point is sitting there to pull it. That is what a coefficient of three billion looks like from the outside.</a:t>
            </a:r>
          </a:p>
          <a:p>
            <a:pPr lvl="0" indent="0" marL="0">
              <a:buNone/>
            </a:pPr>
          </a:p>
          <a:p>
            <a:pPr lvl="0" indent="0" marL="0">
              <a:buNone/>
            </a:pPr>
            <a:r>
              <a:rPr/>
              <a:t>Middle panel, lambda one hundredth: on top of the true curve, the dashed line. You cannot separate them by eye.</a:t>
            </a:r>
          </a:p>
          <a:p>
            <a:pPr lvl="0" indent="0" marL="0">
              <a:buNone/>
            </a:pPr>
          </a:p>
          <a:p>
            <a:pPr lvl="0" indent="0" marL="0">
              <a:buNone/>
            </a:pPr>
            <a:r>
              <a:rPr/>
              <a:t>Right panel, lambda one hundred: a nearly flat line. It misses the curve completely - but look at how it misses. It is wrong by a few hundred kilowatt hours, on a plot where the left panel is wrong by thousands.</a:t>
            </a:r>
          </a:p>
          <a:p>
            <a:pPr lvl="0" indent="0" marL="0">
              <a:buNone/>
            </a:pPr>
          </a:p>
          <a:p>
            <a:pPr lvl="0" indent="0" marL="0">
              <a:buNone/>
            </a:pPr>
            <a:r>
              <a:rPr/>
              <a:t>That is the asymmetry to take away, and the table hides it: too much penalty is a mild failure, too little is a catastrophic one. If you have to err, err towards more penalty. Handout section 6.4.</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gives it the treatment it deserves along with the machinery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the floor tilted.</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 the corner is exactly what produces the zeros.</a:t>
            </a:r>
          </a:p>
          <a:p>
            <a:pPr lvl="0" indent="0" marL="0">
              <a:buNone/>
            </a:pPr>
          </a:p>
          <a:p>
            <a:pPr lvl="0" indent="0" marL="0">
              <a:buNone/>
            </a:pPr>
            <a:r>
              <a:rPr/>
              <a:t>Handout section 6.2 derives it in three lines.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per euro of coefficient spent.</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four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most transferable slide of the lesson.</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The collinear section is the one to make sure everyone reaches - it is the argument they will use in their own projects when a stakeholder asks what the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before the break: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that is one of the exam derivations.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with the deadline. It uses a new dataset - bike sharing demand - so the exploration is theirs to do.</a:t>
            </a:r>
          </a:p>
          <a:p>
            <a:pPr lvl="0" indent="0" marL="0">
              <a:buNone/>
            </a:pPr>
          </a:p>
          <a:p>
            <a:pPr lvl="0" indent="0" marL="0">
              <a:buNone/>
            </a:pPr>
            <a:r>
              <a:rPr/>
              <a:t>Flag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no marks for accuracy.</a:t>
            </a:r>
          </a:p>
          <a:p>
            <a:pPr lvl="0" indent="0" marL="0">
              <a:buNone/>
            </a:pPr>
          </a:p>
          <a:p>
            <a:pPr lvl="0" indent="0" marL="0">
              <a:buNone/>
            </a:pPr>
            <a:r>
              <a:rPr/>
              <a:t>Also remind them the project topic must be confirmed by lesson 4 - next week.</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which we discuss now</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no corner at zero</a:t>
            </a:r>
          </a:p>
          <a:p>
            <a:pPr lvl="0"/>
            <a:r>
              <a:rPr b="1"/>
              <a:t>Punishes one large error more</a:t>
            </a:r>
            <a:r>
              <a:rPr/>
              <a:t> than several small ones</a:t>
            </a:r>
          </a:p>
          <a:p>
            <a:pPr lvl="0"/>
            <a:r>
              <a:rPr/>
              <a:t>Under Gaussian noise, it </a:t>
            </a:r>
            <a:r>
              <a:rPr b="1"/>
              <a:t>is</a:t>
            </a:r>
            <a:r>
              <a:rPr/>
              <a:t> maximum likelihood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38139"/>
            <a:ext cx="8229600" cy="181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1545483" y="2393146"/>
            <a:ext cx="6053034" cy="906087"/>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XᵀX</a:t>
                      </a:r>
                    </a:p>
                  </a:txBody>
                </a:tc>
                <a:tc>
                  <a:txBody>
                    <a:bodyPr/>
                    <a:lstStyle/>
                    <a:p>
                      <a:pPr lvl="0" indent="0" marL="0">
                        <a:buNone/>
                      </a:pPr>
                      <a:r>
                        <a:rPr/>
                        <a:t>rows (3, 400) and (400, 60,800)</a:t>
                      </a:r>
                    </a:p>
                  </a:txBody>
                </a:tc>
              </a:tr>
              <a:tr h="0">
                <a:tc>
                  <a:txBody>
                    <a:bodyPr/>
                    <a:lstStyle/>
                    <a:p>
                      <a:pPr lvl="0" indent="0" marL="0">
                        <a:buNone/>
                      </a:pPr>
                      <a:r>
                        <a:rPr/>
                        <a:t>Xᵀy</a:t>
                      </a:r>
                    </a:p>
                  </a:txBody>
                </a:tc>
                <a:tc>
                  <a:txBody>
                    <a:bodyPr/>
                    <a:lstStyle/>
                    <a:p>
                      <a:pPr lvl="0" indent="0" marL="0">
                        <a:buNone/>
                      </a:pPr>
                      <a:r>
                        <a:rPr/>
                        <a:t>(1,100, 165,600)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XᵀX, never negative in any direction</a:t>
            </a:r>
          </a:p>
          <a:p>
            <a:pPr lvl="0"/>
            <a:r>
              <a:rPr/>
              <a:t>So the cost is </a:t>
            </a:r>
            <a:r>
              <a:rPr b="1"/>
              <a:t>convex</a:t>
            </a:r>
            <a:r>
              <a:rPr/>
              <a:t>: one bottom, no local traps</a:t>
            </a:r>
          </a:p>
          <a:p>
            <a:pPr lvl="0"/>
            <a:r>
              <a:rPr/>
              <a:t>Any stationary point is </a:t>
            </a:r>
            <a:r>
              <a:rPr i="1"/>
              <a:t>the</a:t>
            </a:r>
            <a:r>
              <a:rPr/>
              <a:t> answer, not </a:t>
            </a:r>
            <a:r>
              <a:rPr i="1"/>
              <a:t>an</a:t>
            </a:r>
            <a:r>
              <a:rPr/>
              <a:t> answer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compares the steepest direction with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57239"/>
            <a:ext cx="8229600" cy="977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from w = 0 and b = 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model, the cost, the exact solution, the iterative one: from scratch.</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1377260" y="2382755"/>
            <a:ext cx="6389479" cy="92686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a:t>
                      </a:r>
                    </a:p>
                  </a:txBody>
                  <a:tcPr/>
                </a:tc>
                <a:tc>
                  <a:txBody>
                    <a:bodyPr/>
                    <a:lstStyle/>
                    <a:p>
                      <a:pPr lvl="0" indent="0" marL="0">
                        <a:buNone/>
                      </a:pPr>
                      <a:r>
                        <a:rPr/>
                        <a:t>Test RMSE</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Fit the curve, push the degree up, and watch the test error turn.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a:t>
                      </a:r>
                    </a:p>
                  </a:txBody>
                  <a:tcPr/>
                </a:tc>
                <a:tc>
                  <a:txBody>
                    <a:bodyPr/>
                    <a:lstStyle/>
                    <a:p>
                      <a:pPr lvl="0" indent="0" marL="0">
                        <a:buNone/>
                      </a:pPr>
                      <a:r>
                        <a:rPr/>
                        <a:t>Test</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unpenalised fit leaves the picture</a:t>
            </a:r>
          </a:p>
        </p:txBody>
      </p:sp>
      <p:pic>
        <p:nvPicPr>
          <p:cNvPr descr="ridge_degrees.png" id="0" name="Picture 1"/>
          <p:cNvPicPr>
            <a:picLocks noGrp="1" noChangeAspect="1"/>
          </p:cNvPicPr>
          <p:nvPr/>
        </p:nvPicPr>
        <p:blipFill>
          <a:blip r:embed="rId3"/>
          <a:stretch>
            <a:fillRect/>
          </a:stretch>
        </p:blipFill>
        <p:spPr bwMode="auto">
          <a:xfrm>
            <a:off x="457200" y="1703189"/>
            <a:ext cx="8229600" cy="22860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808254" y="2393146"/>
            <a:ext cx="7527492" cy="906087"/>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shifts up by λ, so none of them can be zero</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Ridge on the disaster, the regularisation paths, the collinear case.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