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2 and say one sentence about what you saw, if you have looked. The recurring mistake to name, if it appeared: fitting the scaler or the imputer before splitting.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that this is the first lesson where we fit something,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the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attack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outlier work is a prerequisite for this lesson, not a preliminary.</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shrug at the outlier - which is what robust regression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Also mention the second derivative is X transpose X, which is positive semi-definite,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 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answer was garbage every time.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most transferable idea in the first half of the lesson.</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payoff, which lands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drops off a cliff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folklore. Lesson 2 derived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Let them drive.</a:t>
            </a:r>
          </a:p>
          <a:p>
            <a:pPr lvl="0" indent="0" marL="0">
              <a:buNone/>
            </a:pPr>
          </a:p>
          <a:p>
            <a:pPr lvl="0" indent="0" marL="0">
              <a:buNone/>
            </a:pPr>
            <a:r>
              <a:rPr/>
              <a:t>The two moments worth pausing on together. First, the agreement between their four-line normal equation and scikit-learn to twelve decimal places - it lands better than any assurance from the front.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which is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14, monotonically, never once suggesting anything is wrong. Test error bottoms out at degree 3 and then climbs: 590 at degree 9, and 24,656 at degree 12.</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 a thousandfold improvement bought with one number.</a:t>
            </a:r>
          </a:p>
          <a:p>
            <a:pPr lvl="0" indent="0" marL="0">
              <a:buNone/>
            </a:pPr>
          </a:p>
          <a:p>
            <a:pPr lvl="0" indent="0" marL="0">
              <a:buNone/>
            </a:pPr>
            <a:r>
              <a:rPr/>
              <a:t>Now the training column, which is the honest part: it gets WORSE at every step. 16, 18, 45, 96. That is the trade being made deliberately - a worse fit on the data we have, in exchange for a better fit on data we do not.</a:t>
            </a:r>
          </a:p>
          <a:p>
            <a:pPr lvl="0" indent="0" marL="0">
              <a:buNone/>
            </a:pPr>
          </a:p>
          <a:p>
            <a:pPr lvl="0" indent="0" marL="0">
              <a:buNone/>
            </a:pPr>
            <a:r>
              <a:rPr/>
              <a:t>And it stops paying. At lambda 100 the test error is 228, worse than no penalty at all,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gives it the treatment it deserves along with the machinery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per euro of coefficient spent.</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most transferable slide of the lesson.</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The collinear section is the one to make sure everyone reaches - it is the argument they will use in their own projects when a stakeholder asks what the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before the break: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that is one of the exam derivations.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with the deadline. It uses a new dataset - bike sharing demand - so the exploration is theirs to do.</a:t>
            </a:r>
          </a:p>
          <a:p>
            <a:pPr lvl="0" indent="0" marL="0">
              <a:buNone/>
            </a:pPr>
          </a:p>
          <a:p>
            <a:pPr lvl="0" indent="0" marL="0">
              <a:buNone/>
            </a:pPr>
            <a:r>
              <a:rPr/>
              <a:t>Flag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no marks for accuracy.</a:t>
            </a:r>
          </a:p>
          <a:p>
            <a:pPr lvl="0" indent="0" marL="0">
              <a:buNone/>
            </a:pPr>
          </a:p>
          <a:p>
            <a:pPr lvl="0" indent="0" marL="0">
              <a:buNone/>
            </a:pPr>
            <a:r>
              <a:rPr/>
              <a:t>Also remind them the project topic must be confirmed by lesson 4 - next week.</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was due today</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00039"/>
            <a:ext cx="8229600" cy="1892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457200" y="2128639"/>
            <a:ext cx="8229600" cy="14351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Xᵀ X</a:t>
                      </a:r>
                    </a:p>
                  </a:txBody>
                </a:tc>
                <a:tc>
                  <a:txBody>
                    <a:bodyPr/>
                    <a:lstStyle/>
                    <a:p>
                      <a:pPr lvl="0" indent="0" marL="0">
                        <a:buNone/>
                      </a:pPr>
                      <a:r>
                        <a:rPr/>
                        <a:t>rows (3, 400) and (400, 60,800)</a:t>
                      </a:r>
                    </a:p>
                  </a:txBody>
                </a:tc>
              </a:tr>
              <a:tr h="0">
                <a:tc>
                  <a:txBody>
                    <a:bodyPr/>
                    <a:lstStyle/>
                    <a:p>
                      <a:pPr lvl="0" indent="0" marL="0">
                        <a:buNone/>
                      </a:pPr>
                      <a:r>
                        <a:rPr/>
                        <a:t>Xᵀ y</a:t>
                      </a:r>
                    </a:p>
                  </a:txBody>
                </a:tc>
                <a:tc>
                  <a:txBody>
                    <a:bodyPr/>
                    <a:lstStyle/>
                    <a:p>
                      <a:pPr lvl="0" indent="0" marL="0">
                        <a:buNone/>
                      </a:pPr>
                      <a:r>
                        <a:rPr/>
                        <a:t>(1,100 , 165,600)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 X, never negative in any direction</a:t>
            </a:r>
          </a:p>
          <a:p>
            <a:pPr lvl="0"/>
            <a:r>
              <a:rPr/>
              <a:t>So the cost is </a:t>
            </a:r>
            <a:r>
              <a:rPr b="1"/>
              <a:t>convex</a:t>
            </a:r>
            <a:r>
              <a:rPr/>
              <a:t>: one bottom, no local traps</a:t>
            </a:r>
          </a:p>
          <a:p>
            <a:pPr lvl="0"/>
            <a:r>
              <a:rPr/>
              <a:t>Any stationary point is </a:t>
            </a:r>
            <a:r>
              <a:rPr i="1"/>
              <a:t>the</a:t>
            </a:r>
            <a:r>
              <a:rPr/>
              <a:t> answer, not </a:t>
            </a:r>
            <a:r>
              <a:rPr i="1"/>
              <a:t>an</a:t>
            </a:r>
            <a:r>
              <a:rPr/>
              <a:t> answer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compares the steepest direction with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12789"/>
            <a:ext cx="8229600" cy="1066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from w = 0 and b = 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model, the cost, the exact solution, the iterative one: from scratch.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457200" y="2166739"/>
            <a:ext cx="8229600" cy="1358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Fit the curve, push the degree up, and watch the test error turn.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0" y="2376289"/>
            <a:ext cx="8229599" cy="9398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457200" y="2274689"/>
            <a:ext cx="8229600" cy="1143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shifts up by λ, so none of them can be zero</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Ridge on the disaster, the regularisation paths, the collinear case.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