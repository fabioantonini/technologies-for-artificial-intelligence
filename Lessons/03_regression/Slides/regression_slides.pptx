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 ask two or three people what they built, and name the recurring mistake if it came up.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1’s habit, applied to regression for the first time. A classifier gets a majority-class baseline before it is allowed to speak; a regression gets the mean.</a:t>
            </a:r>
          </a:p>
          <a:p>
            <a:pPr lvl="0" indent="0" marL="0">
              <a:buNone/>
            </a:pPr>
          </a:p>
          <a:p>
            <a:pPr lvl="0" indent="0" marL="0">
              <a:buNone/>
            </a:pPr>
            <a:r>
              <a:rPr/>
              <a:t>Read the two root mean squared error (RMSE) numbers aloud before the ratio: 96,440 euros against 20,341. Then say that R-squared is nothing more than that comparison written as one number - one minus the model’s squared error over the mean’s - so 0 means you matched the mean, 1 means perfect, and negative means worse than the mean, which does happen on a test set.</a:t>
            </a:r>
          </a:p>
          <a:p>
            <a:pPr lvl="0" indent="0" marL="0">
              <a:buNone/>
            </a:pPr>
          </a:p>
          <a:p>
            <a:pPr lvl="0" indent="0" marL="0">
              <a:buNone/>
            </a:pPr>
            <a:r>
              <a:rPr/>
              <a:t>The last bullet is the caution that keeps them out of trouble, and the handout measures it: keep this exact model and score it on the 55 test houses whose price is within half a standard deviation of the mean - a street where the houses resemble each other. R-squared falls from 0.956 to 0.448 while the RMSE IMPROVES, 20,341 euros to 18,661, because predicting the mean is a good strategy when every house is worth about the same.</a:t>
            </a:r>
          </a:p>
          <a:p>
            <a:pPr lvl="0" indent="0" marL="0">
              <a:buNone/>
            </a:pPr>
          </a:p>
          <a:p>
            <a:pPr lvl="0" indent="0" marL="0">
              <a:buNone/>
            </a:pPr>
            <a:r>
              <a:rPr/>
              <a:t>So R-squared compares a model against the mean OF THE DATASET IT WAS MEASURED ON, and cannot compare two models measured on different data. Handout section 2.4.</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14, monotonically, never once suggesting anything is wrong. Test error bottoms out at degree 3 and then climbs: 590 at degree 9, and 24,656 at degree 12.</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 a thousandfold improvement bought with one number.</a:t>
            </a:r>
          </a:p>
          <a:p>
            <a:pPr lvl="0" indent="0" marL="0">
              <a:buNone/>
            </a:pPr>
          </a:p>
          <a:p>
            <a:pPr lvl="0" indent="0" marL="0">
              <a:buNone/>
            </a:pPr>
            <a:r>
              <a:rPr/>
              <a:t>Now the training column, which is the honest part: it gets WORSE at every step. 13.6, 18, 45, 96. That is the trade being made deliberately - a worse fit on the data we have, in exchange for a better fit on data we do not.</a:t>
            </a:r>
          </a:p>
          <a:p>
            <a:pPr lvl="0" indent="0" marL="0">
              <a:buNone/>
            </a:pPr>
          </a:p>
          <a:p>
            <a:pPr lvl="0" indent="0" marL="0">
              <a:buNone/>
            </a:pPr>
            <a:r>
              <a:rPr/>
              <a:t>And it stops paying. The test error rises from 22.8 at lambda 0.01, to 105 at lambda 1, to 228 at lambda 100 - a tenfold loss against the best penalty,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column of that table, drawn. Give the room a moment on the left panel before saying anything.</a:t>
            </a:r>
          </a:p>
          <a:p>
            <a:pPr lvl="0" indent="0" marL="0">
              <a:buNone/>
            </a:pPr>
          </a:p>
          <a:p>
            <a:pPr lvl="0" indent="0" marL="0">
              <a:buNone/>
            </a:pPr>
            <a:r>
              <a:rPr/>
              <a:t>Point at the vertical scale. The unpenalised curve goes off the top and off the bottom between the training points, and it only comes back where a point is sitting there to pull it. That is what a coefficient of three billion looks like from the outside.</a:t>
            </a:r>
          </a:p>
          <a:p>
            <a:pPr lvl="0" indent="0" marL="0">
              <a:buNone/>
            </a:pPr>
          </a:p>
          <a:p>
            <a:pPr lvl="0" indent="0" marL="0">
              <a:buNone/>
            </a:pPr>
            <a:r>
              <a:rPr/>
              <a:t>Middle panel, lambda one hundredth: on top of the true curve, the dashed line. You cannot separate them by eye.</a:t>
            </a:r>
          </a:p>
          <a:p>
            <a:pPr lvl="0" indent="0" marL="0">
              <a:buNone/>
            </a:pPr>
          </a:p>
          <a:p>
            <a:pPr lvl="0" indent="0" marL="0">
              <a:buNone/>
            </a:pPr>
            <a:r>
              <a:rPr/>
              <a:t>Right panel, lambda one hundred: a nearly flat line. It misses the curve completely - but look at how it misses. It is wrong by a few hundred kilowatt hours, on a plot where the left panel is wrong by thousands.</a:t>
            </a:r>
          </a:p>
          <a:p>
            <a:pPr lvl="0" indent="0" marL="0">
              <a:buNone/>
            </a:pPr>
          </a:p>
          <a:p>
            <a:pPr lvl="0" indent="0" marL="0">
              <a:buNone/>
            </a:pPr>
            <a:r>
              <a:rPr/>
              <a:t>That is the asymmetry to take away, and the table hides it: too much penalty is a mild failure, too little is a catastrophic one. If you have to err, err towards more penalty. 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before the break: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when it is discussed.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 at the exam or anywhere else.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which we discuss now</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38139"/>
            <a:ext cx="8229600" cy="181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cost needs something to be compared against</a:t>
            </a:r>
          </a:p>
        </p:txBody>
      </p:sp>
      <p:sp>
        <p:nvSpPr>
          <p:cNvPr id="3" name="Content Placeholder 2"/>
          <p:cNvSpPr>
            <a:spLocks noGrp="1"/>
          </p:cNvSpPr>
          <p:nvPr>
            <p:ph idx="1"/>
          </p:nvPr>
        </p:nvSpPr>
        <p:spPr>
          <a:xfrm>
            <a:off x="457200" y="1200151"/>
            <a:ext cx="8229600" cy="3394472"/>
          </a:xfrm>
        </p:spPr>
        <p:txBody>
          <a:bodyPr/>
          <a:lstStyle/>
          <a:p>
            <a:pPr lvl="0"/>
            <a:r>
              <a:rPr/>
              <a:t>Trivial answer for a regression: </a:t>
            </a:r>
            <a:r>
              <a:rPr b="1"/>
              <a:t>always predict the mean</a:t>
            </a:r>
          </a:p>
          <a:p>
            <a:pPr lvl="0"/>
            <a:r>
              <a:rPr/>
              <a:t>On the 150 test houses: root mean squared error (RMSE) </a:t>
            </a:r>
            <a:r>
              <a:rPr b="1"/>
              <a:t>96,440 €</a:t>
            </a:r>
            <a:r>
              <a:rPr/>
              <a:t>, against the model’s </a:t>
            </a:r>
            <a:r>
              <a:rPr b="1"/>
              <a:t>20,341 €</a:t>
            </a:r>
          </a:p>
          <a:p>
            <a:pPr lvl="0"/>
            <a:r>
              <a:rPr b="1"/>
              <a:t>R² = 0.956</a:t>
            </a:r>
            <a:r>
              <a:rPr/>
              <a:t> — the same comparison as one ratio, 0 is the mean, 1 is perfect</a:t>
            </a:r>
          </a:p>
          <a:p>
            <a:pPr lvl="0"/>
            <a:r>
              <a:rPr/>
              <a:t>Quote the euros too: R² is divided by </a:t>
            </a:r>
            <a:r>
              <a:rPr i="1"/>
              <a:t>this</a:t>
            </a:r>
            <a:r>
              <a:rPr/>
              <a:t> test set’s variance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1545483" y="2393146"/>
            <a:ext cx="6053034" cy="906087"/>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from scratch.</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1377260" y="2382755"/>
            <a:ext cx="6389479" cy="926869"/>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unpenalised fit leaves the picture</a:t>
            </a:r>
          </a:p>
        </p:txBody>
      </p:sp>
      <p:pic>
        <p:nvPicPr>
          <p:cNvPr descr="ridge_degrees.png" id="0" name="Picture 1"/>
          <p:cNvPicPr>
            <a:picLocks noGrp="1" noChangeAspect="1"/>
          </p:cNvPicPr>
          <p:nvPr/>
        </p:nvPicPr>
        <p:blipFill>
          <a:blip r:embed="rId3"/>
          <a:stretch>
            <a:fillRect/>
          </a:stretch>
        </p:blipFill>
        <p:spPr bwMode="auto">
          <a:xfrm>
            <a:off x="457200" y="1703189"/>
            <a:ext cx="8229600" cy="2286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808254" y="2393146"/>
            <a:ext cx="7527492" cy="906087"/>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23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