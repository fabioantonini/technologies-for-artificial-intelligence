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exercise 5. The marks were for the diagnosis, not for the final figure, so say one sentence about what the class found and one about what it missed.</a:t>
            </a:r>
          </a:p>
          <a:p>
            <a:pPr lvl="0" indent="0" marL="0">
              <a:buNone/>
            </a:pPr>
          </a:p>
          <a:p>
            <a:pPr lvl="0" indent="0" marL="0">
              <a:buNone/>
            </a:pPr>
            <a:r>
              <a:rPr/>
              <a:t>There was more than one problem planted. Ask out loud how many people found the second one, and how many stopped after the first — stopping after the first is the realistic failure, because once a score drops from excellent to plausible the pressure to keep looking disappears.</a:t>
            </a:r>
          </a:p>
          <a:p>
            <a:pPr lvl="0" indent="0" marL="0">
              <a:buNone/>
            </a:pPr>
          </a:p>
          <a:p>
            <a:pPr lvl="0" indent="0" marL="0">
              <a:buNone/>
            </a:pPr>
            <a:r>
              <a:rPr/>
              <a:t>Then the sentence that links last week to today: everything from now on is evaluated with the apparatus you built in lesson 5. Today adds three model families, and each of them offers new ways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and one framing sentence that is worth saying deliberately.</a:t>
            </a:r>
          </a:p>
          <a:p>
            <a:pPr lvl="0" indent="0" marL="0">
              <a:buNone/>
            </a:pPr>
          </a:p>
          <a:p>
            <a:pPr lvl="0" indent="0" marL="0">
              <a:buNone/>
            </a:pPr>
            <a:r>
              <a:rPr/>
              <a:t>Lessons 3 and 4 built linear models and spent most of their effort on fitting them honestly. Lesson 5 built the apparatus for telling whether a model works. None of that told them WHICH MODEL TO REACH FOR. This is the first lesson that offers a choice, and the choosing is the content.</a:t>
            </a:r>
          </a:p>
          <a:p>
            <a:pPr lvl="0" indent="0" marL="0">
              <a:buNone/>
            </a:pPr>
          </a:p>
          <a:p>
            <a:pPr lvl="0" indent="0" marL="0">
              <a:buNone/>
            </a:pPr>
            <a:r>
              <a:rPr/>
              <a:t>Stress that these are not three ways of doing the same thing. They attack classification from three unrelated directions: one makes no assumptions and does no fitting at all, one makes an assumption that is usually false and wins anyway, one changes the criterion and then changes the space. The differences between them are the point, not the accuracy figures.</a:t>
            </a:r>
          </a:p>
          <a:p>
            <a:pPr lvl="0" indent="0" marL="0">
              <a:buNone/>
            </a:pPr>
          </a:p>
          <a:p>
            <a:pPr lvl="0" indent="0" marL="0">
              <a:buNone/>
            </a:pPr>
            <a:r>
              <a:rPr/>
              <a:t>Handout section 1 sets this out in a paragraph each.</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fact first, before showing the picture, and let them predict what it implies. A pump has a design operating envelope. It can fail by running too slow just as easily as by running too hot.</a:t>
            </a:r>
          </a:p>
          <a:p>
            <a:pPr lvl="0" indent="0" marL="0">
              <a:buNone/>
            </a:pPr>
          </a:p>
          <a:p>
            <a:pPr lvl="0" indent="0" marL="0">
              <a:buNone/>
            </a:pPr>
            <a:r>
              <a:rPr/>
              <a:t>Ask the room what that does to the shape of the two classes before you advance. Somebody will get it: healthy in the middle, faulty all around.</a:t>
            </a:r>
          </a:p>
          <a:p>
            <a:pPr lvl="0" indent="0" marL="0">
              <a:buNone/>
            </a:pPr>
          </a:p>
          <a:p>
            <a:pPr lvl="0" indent="0" marL="0">
              <a:buNone/>
            </a:pPr>
            <a:r>
              <a:rPr/>
              <a:t>The 4% flipped labels are lesson 5’s noise floor arriving in a classification problem. No model here can exceed roughly </a:t>
            </a:r>
            <a:r>
              <a:rPr b="1"/>
              <a:t>0.96</a:t>
            </a:r>
            <a:r>
              <a:rPr/>
              <a:t>, and that is the number every score today should be compared against — not against 1.000, and not against each other in isolation.</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before saying anything. Then ask for a straight line that separates these two classes, and let them try.</a:t>
            </a:r>
          </a:p>
          <a:p>
            <a:pPr lvl="0" indent="0" marL="0">
              <a:buNone/>
            </a:pPr>
          </a:p>
          <a:p>
            <a:pPr lvl="0" indent="0" marL="0">
              <a:buNone/>
            </a:pPr>
            <a:r>
              <a:rPr/>
              <a:t>The healthy pumps form a disc around the design point; the faulty ones form the annulus around them. There is no line. Not a badly chosen line — no line at all, because the class you want to isolate is completely surrounded.</a:t>
            </a:r>
          </a:p>
          <a:p>
            <a:pPr lvl="0" indent="0" marL="0">
              <a:buNone/>
            </a:pPr>
          </a:p>
          <a:p>
            <a:pPr lvl="0" indent="0" marL="0">
              <a:buNone/>
            </a:pPr>
            <a:r>
              <a:rPr/>
              <a:t>Worth naming what is unusual here, since most textbook pictures are blobs side by side: the geometry comes from the physics, not from an attempt to be awkward. Any “within tolerance versus out of tolerance” problem has this shape, and that covers a large fraction of industrial classification.</a:t>
            </a:r>
          </a:p>
          <a:p>
            <a:pPr lvl="0" indent="0" marL="0">
              <a:buNone/>
            </a:pPr>
          </a:p>
          <a:p>
            <a:pPr lvl="0" indent="0" marL="0">
              <a:buNone/>
            </a:pPr>
            <a:r>
              <a:rPr/>
              <a:t>The scattered wrong-coloured points inside each region are the 4% flipped labels. Point at two of them now — they come back at k =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rows and let the equality sit there.</a:t>
            </a:r>
          </a:p>
          <a:p>
            <a:pPr lvl="0" indent="0" marL="0">
              <a:buNone/>
            </a:pPr>
          </a:p>
          <a:p>
            <a:pPr lvl="0" indent="0" marL="0">
              <a:buNone/>
            </a:pPr>
            <a:r>
              <a:rPr/>
              <a:t>The thing to say clearly, because it is easy to under-read: logistic regression has not been narrowly beaten by the baseline. It has learned NOTHING AT ALL. It predicts “faulty” for every pump, because with a straight boundary that is genuinely the best answer available to it.</a:t>
            </a:r>
          </a:p>
          <a:p>
            <a:pPr lvl="0" indent="0" marL="0">
              <a:buNone/>
            </a:pPr>
          </a:p>
          <a:p>
            <a:pPr lvl="0" indent="0" marL="0">
              <a:buNone/>
            </a:pPr>
            <a:r>
              <a:rPr/>
              <a:t>Then point at the standard deviation, which is the real tell: </a:t>
            </a:r>
            <a:r>
              <a:rPr b="1"/>
              <a:t>± 0.000</a:t>
            </a:r>
            <a:r>
              <a:rPr/>
              <a:t>. A model that gives everything the same answer is perfectly consistent across folds. Give them that as a diagnostic to keep — a suspiciously stable cross-validation score often means a model that is not using its input.</a:t>
            </a:r>
          </a:p>
          <a:p>
            <a:pPr lvl="0" indent="0" marL="0">
              <a:buNone/>
            </a:pPr>
          </a:p>
          <a:p>
            <a:pPr lvl="0" indent="0" marL="0">
              <a:buNone/>
            </a:pPr>
            <a:r>
              <a:rPr/>
              <a:t>Connect back to lesson 5’s habit: quote the baseline first, always. Without the 0.613 in the row above, 0.613 looks like a mediocre result rather than an absent one.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method is one sentence, and it is worth pausing on how strange that is after three weeks of optimisation. There is no cost function, no gradient, no parameters. Nothing is estimated.</a:t>
            </a:r>
          </a:p>
          <a:p>
            <a:pPr lvl="0" indent="0" marL="0">
              <a:buNone/>
            </a:pPr>
          </a:p>
          <a:p>
            <a:pPr lvl="0" indent="0" marL="0">
              <a:buNone/>
            </a:pPr>
            <a:r>
              <a:rPr/>
              <a:t>Ask the room what could possibly go wrong with a method that makes no assumptions. The answer is the next fifteen minutes: making no assumptions means having no way to ignore anything, and that turns out to be expensive.</a:t>
            </a:r>
          </a:p>
          <a:p>
            <a:pPr lvl="0" indent="0" marL="0">
              <a:buNone/>
            </a:pPr>
          </a:p>
          <a:p>
            <a:pPr lvl="0" indent="0" marL="0">
              <a:buNone/>
            </a:pPr>
            <a:r>
              <a:rPr/>
              <a:t>Two decisions hide inside that sentence — what “closest” means, and what k is — and both are consequential. Take them in that order.</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Euclidean distance, almost always. Do not dwell on the formula; dwell on what it implies, which is the next slide.</a:t>
            </a:r>
          </a:p>
          <a:p>
            <a:pPr lvl="0" indent="0" marL="0">
              <a:buNone/>
            </a:pPr>
          </a:p>
          <a:p>
            <a:pPr lvl="0" indent="0" marL="0">
              <a:buNone/>
            </a:pPr>
            <a:r>
              <a:rPr/>
              <a:t>The observation that matters: every feature contributes to that sum through its own units. There is nothing in the expression that knows Hz from bar. The method has no other channel through which the data reaches it — no coefficients, no weights, no notion that one column might matter more than another.</a:t>
            </a:r>
          </a:p>
          <a:p>
            <a:pPr lvl="0" indent="0" marL="0">
              <a:buNone/>
            </a:pPr>
          </a:p>
          <a:p>
            <a:pPr lvl="0" indent="0" marL="0">
              <a:buNone/>
            </a:pPr>
            <a:r>
              <a:rPr/>
              <a:t>Say that plainly: for k-NN, the distance IS the model. Anything that distorts the distance distorts everything.</a:t>
            </a:r>
          </a:p>
          <a:p>
            <a:pPr lvl="0" indent="0" marL="0">
              <a:buNone/>
            </a:pPr>
          </a:p>
          <a:p>
            <a:pPr lvl="0" indent="0" marL="0">
              <a:buNone/>
            </a:pPr>
            <a:r>
              <a:rPr/>
              <a:t>Handout section 2.1 has it with the scaling argument attached.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where lesson 2 stops being hygiene and starts being the difference between a working model and a broken one.</a:t>
            </a:r>
          </a:p>
          <a:p>
            <a:pPr lvl="0" indent="0" marL="0">
              <a:buNone/>
            </a:pPr>
          </a:p>
          <a:p>
            <a:pPr lvl="0" indent="0" marL="0">
              <a:buNone/>
            </a:pPr>
            <a:r>
              <a:rPr/>
              <a:t>Work the arithmetic out loud. Two pumps differing by 10 Hz and 0 bar are 10 apart. Two differing by 0 Hz and 1 bar are 1 apart. So the algorithm considers the second pair ten times more similar — for no reason other than the units somebody chose when the sensors were installed.</a:t>
            </a:r>
          </a:p>
          <a:p>
            <a:pPr lvl="0" indent="0" marL="0">
              <a:buNone/>
            </a:pPr>
          </a:p>
          <a:p>
            <a:pPr lvl="0" indent="0" marL="0">
              <a:buNone/>
            </a:pPr>
            <a:r>
              <a:rPr/>
              <a:t>The consequence: without standardisation, vibration picks every neighbour by itself and pressure is decorative. Change the pressure sensor to millibar and the model’s answers change. That should feel unacceptable, and it is.</a:t>
            </a:r>
          </a:p>
          <a:p>
            <a:pPr lvl="0" indent="0" marL="0">
              <a:buNone/>
            </a:pPr>
          </a:p>
          <a:p>
            <a:pPr lvl="0" indent="0" marL="0">
              <a:buNone/>
            </a:pPr>
            <a:r>
              <a:rPr/>
              <a:t>Practical instruction: k-NN goes in a Pipeline with StandardScaler, always, and the scaler is fitted inside the fold — which is last week’s lesson, not a new one.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5 decomposed error into bias and variance and had to build 300 parallel universes to show it. Here you watch the same trade-off by turning one integer, and that is why this slide is worth more time than its size suggests.</a:t>
            </a:r>
          </a:p>
          <a:p>
            <a:pPr lvl="0" indent="0" marL="0">
              <a:buNone/>
            </a:pPr>
          </a:p>
          <a:p>
            <a:pPr lvl="0" indent="0" marL="0">
              <a:buNone/>
            </a:pPr>
            <a:r>
              <a:rPr/>
              <a:t>The k = 1 claim is the one to make them prove to themselves. Ask why the training accuracy is exactly 1.000 at k = 1, and wait. The answer is that every training point is its own nearest neighbour, at distance zero. So it votes for itself and wins.</a:t>
            </a:r>
          </a:p>
          <a:p>
            <a:pPr lvl="0" indent="0" marL="0">
              <a:buNone/>
            </a:pPr>
          </a:p>
          <a:p>
            <a:pPr lvl="0" indent="0" marL="0">
              <a:buNone/>
            </a:pPr>
            <a:r>
              <a:rPr/>
              <a:t>That is the purest illustration in the whole course of lesson 5’s point: a training score can be perfect and measure absolutely nothing. Not approximately nothing — nothing, by construction, independent of the data.</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first row, then the last, then the middle.</a:t>
            </a:r>
          </a:p>
          <a:p>
            <a:pPr lvl="0" indent="0" marL="0">
              <a:buNone/>
            </a:pPr>
          </a:p>
          <a:p>
            <a:pPr lvl="0" indent="0" marL="0">
              <a:buNone/>
            </a:pPr>
            <a:r>
              <a:rPr/>
              <a:t>Row one: training 1.000, honest 0.912. The gap is the whole of lesson 5 in two numbers on one line.</a:t>
            </a:r>
          </a:p>
          <a:p>
            <a:pPr lvl="0" indent="0" marL="0">
              <a:buNone/>
            </a:pPr>
          </a:p>
          <a:p>
            <a:pPr lvl="0" indent="0" marL="0">
              <a:buNone/>
            </a:pPr>
            <a:r>
              <a:rPr/>
              <a:t>The best value is k = 5, at 0.944 — wide enough to average out the flipped labels, narrow enough to still follow the boundary. Note that it is not dramatically better than 15 or 51: the choice of k is forgiving over a wide range, which is worth saying because they will otherwise grid-search it to death.</a:t>
            </a:r>
          </a:p>
          <a:p>
            <a:pPr lvl="0" indent="0" marL="0">
              <a:buNone/>
            </a:pPr>
          </a:p>
          <a:p>
            <a:pPr lvl="0" indent="0" marL="0">
              <a:buNone/>
            </a:pPr>
            <a:r>
              <a:rPr/>
              <a:t>The last row is the interesting failure. At k = 401 the training score has collapsed too, which distinguishes it from overfitting: this model is bad everywhere, not just on data it has not seen. That is what bias looks like.</a:t>
            </a:r>
          </a:p>
          <a:p>
            <a:pPr lvl="0" indent="0" marL="0">
              <a:buNone/>
            </a:pPr>
          </a:p>
          <a:p>
            <a:pPr lvl="0" indent="0" marL="0">
              <a:buNone/>
            </a:pPr>
            <a:r>
              <a:rPr/>
              <a:t>Compare 0.944 against the ceiling of 0.96, not against 1.000.</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left edge first. The training curve starts at exactly 1.000 and falls; that is the k = 1 identity, drawn.</a:t>
            </a:r>
          </a:p>
          <a:p>
            <a:pPr lvl="0" indent="0" marL="0">
              <a:buNone/>
            </a:pPr>
          </a:p>
          <a:p>
            <a:pPr lvl="0" indent="0" marL="0">
              <a:buNone/>
            </a:pPr>
            <a:r>
              <a:rPr/>
              <a:t>Then the two horizontal lines, which are the honest frame for reading any score in this lesson: the noise ceiling at 0.96, which nothing can exceed, and the majority baseline at 0.613, which everything should.</a:t>
            </a:r>
          </a:p>
          <a:p>
            <a:pPr lvl="0" indent="0" marL="0">
              <a:buNone/>
            </a:pPr>
          </a:p>
          <a:p>
            <a:pPr lvl="0" indent="0" marL="0">
              <a:buNone/>
            </a:pPr>
            <a:r>
              <a:rPr/>
              <a:t>The gap between the two curves is variance, and watch it close as k grows. Where they meet and then both fall together, you have run out of variance and started buying bias. The minimum of the honest curve sits just before that.</a:t>
            </a:r>
          </a:p>
          <a:p>
            <a:pPr lvl="0" indent="0" marL="0">
              <a:buNone/>
            </a:pPr>
          </a:p>
          <a:p>
            <a:pPr lvl="0" indent="0" marL="0">
              <a:buNone/>
            </a:pPr>
            <a:r>
              <a:rPr/>
              <a:t>Ask them which end of this plot they would have picked by looking at the training curve alone. The answer is the far left, which is the worst honest model on the plot bar one.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panels, and each says something different.</a:t>
            </a:r>
          </a:p>
          <a:p>
            <a:pPr lvl="0" indent="0" marL="0">
              <a:buNone/>
            </a:pPr>
          </a:p>
          <a:p>
            <a:pPr lvl="0" indent="0" marL="0">
              <a:buNone/>
            </a:pPr>
            <a:r>
              <a:rPr/>
              <a:t>k = 1: the boundary is ragged, with islands around individual points. Those islands are the mislabelled 4% — the model has carved out a small territory for each one. That is variance made visible.</a:t>
            </a:r>
          </a:p>
          <a:p>
            <a:pPr lvl="0" indent="0" marL="0">
              <a:buNone/>
            </a:pPr>
          </a:p>
          <a:p>
            <a:pPr lvl="0" indent="0" marL="0">
              <a:buNone/>
            </a:pPr>
            <a:r>
              <a:rPr/>
              <a:t>k = 15: a clean disc, close to the envelope that actually generated the data. This is roughly the truth.</a:t>
            </a:r>
          </a:p>
          <a:p>
            <a:pPr lvl="0" indent="0" marL="0">
              <a:buNone/>
            </a:pPr>
          </a:p>
          <a:p>
            <a:pPr lvl="0" indent="0" marL="0">
              <a:buNone/>
            </a:pPr>
            <a:r>
              <a:rPr/>
              <a:t>k = 401 is the one worth the time, because it does not do what people expect. It has not collapsed to a single class. The boundary has INFLATED past the true envelope and now swallows faulty pumps. With 401 votes taken over a large neighbourhood, the majority class wins in regions where it should not. The model has stopped following the boundary and started averaging over it.</a:t>
            </a:r>
          </a:p>
          <a:p>
            <a:pPr lvl="0" indent="0" marL="0">
              <a:buNone/>
            </a:pPr>
          </a:p>
          <a:p>
            <a:pPr lvl="0" indent="0" marL="0">
              <a:buNone/>
            </a:pPr>
            <a:r>
              <a:rPr/>
              <a:t>Handout section 2.2 carries the same three panels.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cost is engineering. For 1,200 pumps it is nothing. For ten million rows answering a thousand queries a second it is the entire problem, and it is why approximate nearest-neighbour indexes are a small industry. Mention that the scikit-learn default uses a k-d tree or ball tree, which helps in low dimensions and stops helping in high ones — for reasons that are the next segment.</a:t>
            </a:r>
          </a:p>
          <a:p>
            <a:pPr lvl="0" indent="0" marL="0">
              <a:buNone/>
            </a:pPr>
          </a:p>
          <a:p>
            <a:pPr lvl="0" indent="0" marL="0">
              <a:buNone/>
            </a:pPr>
            <a:r>
              <a:rPr/>
              <a:t>The second cost is easy to miss and matters more often. Every other model in this course compresses its training data into parameters and then throws the data away. k-NN cannot: to make a prediction it must hold the training set.</a:t>
            </a:r>
          </a:p>
          <a:p>
            <a:pPr lvl="0" indent="0" marL="0">
              <a:buNone/>
            </a:pPr>
          </a:p>
          <a:p>
            <a:pPr lvl="0" indent="0" marL="0">
              <a:buNone/>
            </a:pPr>
            <a:r>
              <a:rPr/>
              <a:t>Spell out what that means when the training set is medical records or customer transactions. Shipping the model means shipping the data — to a phone, to a customer’s server, to a third party. That is a legal question before it is a technical one. This lesson’s Resources document and lesson 2’s cover it.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carefully before showing the result, because the whole force of it depends on them believing that nothing was taken away.</a:t>
            </a:r>
          </a:p>
          <a:p>
            <a:pPr lvl="0" indent="0" marL="0">
              <a:buNone/>
            </a:pPr>
          </a:p>
          <a:p>
            <a:pPr lvl="0" indent="0" marL="0">
              <a:buNone/>
            </a:pPr>
            <a:r>
              <a:rPr/>
              <a:t>Say it twice if necessary: the signal is still there. Both original columns are present, unmodified, and still sufficient to solve the problem perfectly. We are adding columns that contain nothing — no relationship to the label, no relationship to each other.</a:t>
            </a:r>
          </a:p>
          <a:p>
            <a:pPr lvl="0" indent="0" marL="0">
              <a:buNone/>
            </a:pPr>
          </a:p>
          <a:p>
            <a:pPr lvl="0" indent="0" marL="0">
              <a:buNone/>
            </a:pPr>
            <a:r>
              <a:rPr/>
              <a:t>Ask for a prediction before you advance. Most of the room will say performance degrades gently, or not at all, because the useful information is intact. That instinct is exactly right for a linear model and exactly wrong here, and the next slide is why.</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stop at the fourth row.</a:t>
            </a:r>
          </a:p>
          <a:p>
            <a:pPr lvl="0" indent="0" marL="0">
              <a:buNone/>
            </a:pPr>
          </a:p>
          <a:p>
            <a:pPr lvl="0" indent="0" marL="0">
              <a:buNone/>
            </a:pPr>
            <a:r>
              <a:rPr/>
              <a:t>At 52 columns — that is 2 real and 50 empty — k-NN is BELOW the majority baseline. A model that ignored the data entirely and always answered “faulty” would now do better than a model that looked at it.</a:t>
            </a:r>
          </a:p>
          <a:p>
            <a:pPr lvl="0" indent="0" marL="0">
              <a:buNone/>
            </a:pPr>
          </a:p>
          <a:p>
            <a:pPr lvl="0" indent="0" marL="0">
              <a:buNone/>
            </a:pPr>
            <a:r>
              <a:rPr/>
              <a:t>Let that be uncomfortable before explaining. Nothing was removed. Fifty columns of nothing were added, and they destroyed a method that a moment ago was near the noise ceiling.</a:t>
            </a:r>
          </a:p>
          <a:p>
            <a:pPr lvl="0" indent="0" marL="0">
              <a:buNone/>
            </a:pPr>
          </a:p>
          <a:p>
            <a:pPr lvl="0" indent="0" marL="0">
              <a:buNone/>
            </a:pPr>
            <a:r>
              <a:rPr/>
              <a:t>Point out that the damage is already serious at 12 columns: 0.938 down to 0.762 for ten empty columns. Twelve features is not a large table. Nobody would look at a twelve-column dataset and think “high-dimensional”.</a:t>
            </a:r>
          </a:p>
          <a:p>
            <a:pPr lvl="0" indent="0" marL="0">
              <a:buNone/>
            </a:pPr>
          </a:p>
          <a:p>
            <a:pPr lvl="0" indent="0" marL="0">
              <a:buNone/>
            </a:pPr>
            <a:r>
              <a:rPr/>
              <a:t>The mechanism is on the next three slides, and it is geometry, not statistics.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picture in words before any number appears.</a:t>
            </a:r>
          </a:p>
          <a:p>
            <a:pPr lvl="0" indent="0" marL="0">
              <a:buNone/>
            </a:pPr>
          </a:p>
          <a:p>
            <a:pPr lvl="0" indent="0" marL="0">
              <a:buNone/>
            </a:pPr>
            <a:r>
              <a:rPr/>
              <a:t>In two dimensions, the nearest point is genuinely near and the farthest is genuinely far. That difference is the entire basis on which k-NN operates: it assumes that “the five nearest” is a meaningfully different set from “five chosen at random”.</a:t>
            </a:r>
          </a:p>
          <a:p>
            <a:pPr lvl="0" indent="0" marL="0">
              <a:buNone/>
            </a:pPr>
          </a:p>
          <a:p>
            <a:pPr lvl="0" indent="0" marL="0">
              <a:buNone/>
            </a:pPr>
            <a:r>
              <a:rPr/>
              <a:t>Now add dimensions. Every new coordinate contributes its own squared difference to every pairwise distance. Those contributions are independent draws from the same distribution, so by the law of large numbers their average concentrates, and every distance converges on the same value.</a:t>
            </a:r>
          </a:p>
          <a:p>
            <a:pPr lvl="0" indent="0" marL="0">
              <a:buNone/>
            </a:pPr>
          </a:p>
          <a:p>
            <a:pPr lvl="0" indent="0" marL="0">
              <a:buNone/>
            </a:pPr>
            <a:r>
              <a:rPr/>
              <a:t>Say explicitly that this has nothing to do with k-NN, or with machine learning at all. It is a fact about high-dimensional Euclidean space. k-NN is simply the first method we have met that depends on it.</a:t>
            </a:r>
          </a:p>
          <a:p>
            <a:pPr lvl="0" indent="0" marL="0">
              <a:buNone/>
            </a:pPr>
          </a:p>
          <a:p>
            <a:pPr lvl="0" indent="0" marL="0">
              <a:buNone/>
            </a:pPr>
            <a:r>
              <a:rPr/>
              <a:t>Handout section 3.2 does it properly.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ratio of the nearest distance to the farthest, plotted against dimension. It climbs towards 1, and 1 is the point at which every point is the same distance from every other point.</a:t>
            </a:r>
          </a:p>
          <a:p>
            <a:pPr lvl="0" indent="0" marL="0">
              <a:buNone/>
            </a:pPr>
          </a:p>
          <a:p>
            <a:pPr lvl="0" indent="0" marL="0">
              <a:buNone/>
            </a:pPr>
            <a:r>
              <a:rPr/>
              <a:t>The shape is the thing to notice: the damage is done early. Most of the rise happens in the first fifty dimensions, well below anything anyone would call high-dimensional. By the time you are worrying about a thousand features it is long over.</a:t>
            </a:r>
          </a:p>
          <a:p>
            <a:pPr lvl="0" indent="0" marL="0">
              <a:buNone/>
            </a:pPr>
          </a:p>
          <a:p>
            <a:pPr lvl="0" indent="0" marL="0">
              <a:buNone/>
            </a:pPr>
            <a:r>
              <a:rPr/>
              <a:t>Connect it back to the previous table so nobody treats this as a separate curiosity. The reason 52 columns took k-NN below the baseline is drawn on this plot: at that width, “nearest” has already stopped meaning much.</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curve as numbers, because these are the ones worth carrying out of the room.</a:t>
            </a:r>
          </a:p>
          <a:p>
            <a:pPr lvl="0" indent="0" marL="0">
              <a:buNone/>
            </a:pPr>
          </a:p>
          <a:p>
            <a:pPr lvl="0" indent="0" marL="0">
              <a:buNone/>
            </a:pPr>
            <a:r>
              <a:rPr/>
              <a:t>Start at the top. In two dimensions the nearest point is about 2% as far away as the farthest. “Nearest” is a strong claim there — it picks out something genuinely special.</a:t>
            </a:r>
          </a:p>
          <a:p>
            <a:pPr lvl="0" indent="0" marL="0">
              <a:buNone/>
            </a:pPr>
          </a:p>
          <a:p>
            <a:pPr lvl="0" indent="0" marL="0">
              <a:buNone/>
            </a:pPr>
            <a:r>
              <a:rPr/>
              <a:t>Then walk down. By ten dimensions it is a quarter. By fifty it is more than half.</a:t>
            </a:r>
          </a:p>
          <a:p>
            <a:pPr lvl="0" indent="0" marL="0">
              <a:buNone/>
            </a:pPr>
          </a:p>
          <a:p>
            <a:pPr lvl="0" indent="0" marL="0">
              <a:buNone/>
            </a:pPr>
            <a:r>
              <a:rPr/>
              <a:t>Give them the ten-dimension row as the practical warning, because it is the one that applies to their work: at a size that feels completely ordinary, the nearest neighbour is already a quarter of the way to being an arbitrary point.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today, so slow down and say it twice.</a:t>
            </a:r>
          </a:p>
          <a:p>
            <a:pPr lvl="0" indent="0" marL="0">
              <a:buNone/>
            </a:pPr>
          </a:p>
          <a:p>
            <a:pPr lvl="0" indent="0" marL="0">
              <a:buNone/>
            </a:pPr>
            <a:r>
              <a:rPr/>
              <a:t>Seventy per cent. The closest point in your entire dataset is seven tenths of the way to the furthest one. There is almost nothing left of the idea of a neighbourhood.</a:t>
            </a:r>
          </a:p>
          <a:p>
            <a:pPr lvl="0" indent="0" marL="0">
              <a:buNone/>
            </a:pPr>
          </a:p>
          <a:p>
            <a:pPr lvl="0" indent="0" marL="0">
              <a:buNone/>
            </a:pPr>
            <a:r>
              <a:rPr/>
              <a:t>And then the sentence that makes it operational: if the nearest five points are barely nearer than five chosen at random, a majority vote among them is barely different from a majority vote among five random labels — which is the base rate, which is exactly what the 52-column row showed.</a:t>
            </a:r>
          </a:p>
          <a:p>
            <a:pPr lvl="0" indent="0" marL="0">
              <a:buNone/>
            </a:pPr>
          </a:p>
          <a:p>
            <a:pPr lvl="0" indent="0" marL="0">
              <a:buNone/>
            </a:pPr>
            <a:r>
              <a:rPr/>
              <a:t>Ask them to write the number down. Derivations fade; this one tends not to. It comes back at the close.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overstatement before it forms, because “the curse of dimensionality” gets remembered as “high dimensions are bad” and that is not the claim.</a:t>
            </a:r>
          </a:p>
          <a:p>
            <a:pPr lvl="0" indent="0" marL="0">
              <a:buNone/>
            </a:pPr>
          </a:p>
          <a:p>
            <a:pPr lvl="0" indent="0" marL="0">
              <a:buNone/>
            </a:pPr>
            <a:r>
              <a:rPr/>
              <a:t>Neural networks work happily in thousands of dimensions. So do linear models with regularisation. What breaks is specifically the family of methods whose mechanism is a distance, because a quantity that no longer varies can no longer discriminate. Name the three that appear in this course: k-NN today, k-means in lesson 8, and the RBF kernel later this afternoon — which is why the RBF SVM also degraded in that table, though more slowly.</a:t>
            </a:r>
          </a:p>
          <a:p>
            <a:pPr lvl="0" indent="0" marL="0">
              <a:buNone/>
            </a:pPr>
          </a:p>
          <a:p>
            <a:pPr lvl="0" indent="0" marL="0">
              <a:buNone/>
            </a:pPr>
            <a:r>
              <a:rPr b="1"/>
              <a:t>Now the predictable mistake, and defend the instinct first.</a:t>
            </a:r>
            <a:r>
              <a:rPr/>
              <a:t> Adding features because they might help is good practice with a linear model: an irrelevant feature earns a coefficient near zero and costs you almost nothing. That reasoning is sound, and it is what they have been taught for three lessons. With k-NN the same feature costs you a dimension in the distance, and dimensions are what the method is made of. The habit is right; transferring it one lesson later does real damage. Say that the fix is to select features BEFORE the distance, inside the pipeline — which is last week’s rule again.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Twenty-two minutes.</a:t>
            </a:r>
          </a:p>
          <a:p>
            <a:pPr lvl="0" indent="0" marL="0">
              <a:buNone/>
            </a:pPr>
          </a:p>
          <a:p>
            <a:pPr lvl="0" indent="0" marL="0">
              <a:buNone/>
            </a:pPr>
            <a:r>
              <a:rPr/>
              <a:t>Have them run the unscaled version first, before the Pipeline appears, so they watch the score drop and can attribute it to the units rather than to the method.</a:t>
            </a:r>
          </a:p>
          <a:p>
            <a:pPr lvl="0" indent="0" marL="0">
              <a:buNone/>
            </a:pPr>
          </a:p>
          <a:p>
            <a:pPr lvl="0" indent="0" marL="0">
              <a:buNone/>
            </a:pPr>
            <a:r>
              <a:rPr/>
              <a:t>The cell to protect if time runs short is the noise-column sweep. Let them add the columns themselves and watch the score cross the baseline — it changes behaviour in a way that reading the table does not.</a:t>
            </a:r>
          </a:p>
          <a:p>
            <a:pPr lvl="0" indent="0" marL="0">
              <a:buNone/>
            </a:pPr>
          </a:p>
          <a:p>
            <a:pPr lvl="0" indent="0" marL="0">
              <a:buNone/>
            </a:pPr>
            <a:r>
              <a:rPr/>
              <a:t>If somebody finishes early, the interesting extension is to ask what happens with 50 noise columns and 12,000 rows instead of 1,200. The curse is partly a sample-size problem, and more data does push it back — just far more slowly than anyone expects.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is two more model families, so they need to come back awake.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strategy in words before the symbols appear. We want a quantity we cannot estimate directly. Bayes’ rule trades it for quantities we might be able to estimate. That is the whole move.</a:t>
            </a:r>
          </a:p>
          <a:p>
            <a:pPr lvl="0" indent="0" marL="0">
              <a:buNone/>
            </a:pPr>
          </a:p>
          <a:p>
            <a:pPr lvl="0" indent="0" marL="0">
              <a:buNone/>
            </a:pPr>
            <a:r>
              <a:rPr/>
              <a:t>Walk the right-hand side once. The prior is the class frequency — a count, no difficulty. The denominator is the same number for every class, so it cannot change which class wins, and it can be dropped entirely.</a:t>
            </a:r>
          </a:p>
          <a:p>
            <a:pPr lvl="0" indent="0" marL="0">
              <a:buNone/>
            </a:pPr>
          </a:p>
          <a:p>
            <a:pPr lvl="0" indent="0" marL="0">
              <a:buNone/>
            </a:pPr>
            <a:r>
              <a:rPr/>
              <a:t>That leaves one term, and it carries all the trouble: how likely is THIS combination of readings, among pumps of this class. With two features that is a two-dimensional density and we could estimate it from 1,200 rows. With twenty features it is a twenty-dimensional density, and no quantity of data populates a twenty-dimensional space.</a:t>
            </a:r>
          </a:p>
          <a:p>
            <a:pPr lvl="0" indent="0" marL="0">
              <a:buNone/>
            </a:pPr>
          </a:p>
          <a:p>
            <a:pPr lvl="0" indent="0" marL="0">
              <a:buNone/>
            </a:pPr>
            <a:r>
              <a:rPr/>
              <a:t>Point out that this is the curse again, arriving from a completely different direction — density estimation rather than distance.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what we want: the probability of the class given this pump’s readings. Right, what the data can supply: how often pumps of that class produce readings like these, times how common the class is.</a:t>
            </a:r>
          </a:p>
          <a:p>
            <a:pPr lvl="0" indent="0" marL="0">
              <a:buNone/>
            </a:pPr>
          </a:p>
          <a:p>
            <a:pPr lvl="0" indent="0" marL="0">
              <a:buNone/>
            </a:pPr>
            <a:r>
              <a:rPr/>
              <a:t>Point at the denominator and say it out loud once: it does not depend on c, so it is the same number for healthy and for faulty. We are choosing the larger of two quantities, and dividing both by the same thing changes nothing. It can be dropped, and scikit-learn drops it.</a:t>
            </a:r>
          </a:p>
          <a:p>
            <a:pPr lvl="0" indent="0" marL="0">
              <a:buNone/>
            </a:pPr>
          </a:p>
          <a:p>
            <a:pPr lvl="0" indent="0" marL="0">
              <a:buNone/>
            </a:pPr>
            <a:r>
              <a:rPr/>
              <a:t>What remains is the numerator, and only the first factor is hard. Handout section 3.1 works the same rule through with counts if anyone wants it in numbers rather than symbols.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assumption, stated in one line, and everything follows from it.</a:t>
            </a:r>
          </a:p>
          <a:p>
            <a:pPr lvl="0" indent="0" marL="0">
              <a:buNone/>
            </a:pPr>
          </a:p>
          <a:p>
            <a:pPr lvl="0" indent="0" marL="0">
              <a:buNone/>
            </a:pPr>
            <a:r>
              <a:rPr/>
              <a:t>Emphasise the words “given the class”. This is not a claim that the features are independent — it is a claim that whatever dependence they have is entirely explained by which class they belong to. Those are different claims and the distinction matters in about ten minutes, when we measure it.</a:t>
            </a:r>
          </a:p>
          <a:p>
            <a:pPr lvl="0" indent="0" marL="0">
              <a:buNone/>
            </a:pPr>
          </a:p>
          <a:p>
            <a:pPr lvl="0" indent="0" marL="0">
              <a:buNone/>
            </a:pPr>
            <a:r>
              <a:rPr/>
              <a:t>What it buys: one n-dimensional estimation problem becomes n one-dimensional ones. A one-dimensional density needs very little data. Training becomes a single pass computing a mean and a variance per feature per class — there is no iteration, no optimisation, nothing to converge.</a:t>
            </a:r>
          </a:p>
          <a:p>
            <a:pPr lvl="0" indent="0" marL="0">
              <a:buNone/>
            </a:pPr>
          </a:p>
          <a:p>
            <a:pPr lvl="0" indent="0" marL="0">
              <a:buNone/>
            </a:pPr>
            <a:r>
              <a:rPr/>
              <a:t>Mention that in practice this is computed as a sum of logarithms, for the same underflow reason as lesson 4’s log-likelihood: a product of several hundred small probabilities is exactly zero in floating point. Handout section 4.2 has the log form.</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naive assumption, written down. One n-dimensional density on the left; n one-dimensional densities on the right.</a:t>
            </a:r>
          </a:p>
          <a:p>
            <a:pPr lvl="0" indent="0" marL="0">
              <a:buNone/>
            </a:pPr>
          </a:p>
          <a:p>
            <a:pPr lvl="0" indent="0" marL="0">
              <a:buNone/>
            </a:pPr>
            <a:r>
              <a:rPr/>
              <a:t>Why that matters is a counting argument, and it is worth making concrete. To estimate the left-hand side directly you would need enough pumps to fill an n-dimensional space — the curse of dimensionality from an hour ago, arriving in a new disguise. To estimate the right-hand side you need enough pumps to fit n separate histograms, which is a completely different demand.</a:t>
            </a:r>
          </a:p>
          <a:p>
            <a:pPr lvl="0" indent="0" marL="0">
              <a:buNone/>
            </a:pPr>
          </a:p>
          <a:p>
            <a:pPr lvl="0" indent="0" marL="0">
              <a:buNone/>
            </a:pPr>
            <a:r>
              <a:rPr/>
              <a:t>That is the whole bargain: an assumption that is usually false, traded for an estimation problem that is actually solvable. Notebook 02 measures what the assumption costs when it fails.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matter, and students tend to hear only one of them.</a:t>
            </a:r>
          </a:p>
          <a:p>
            <a:pPr lvl="0" indent="0" marL="0">
              <a:buNone/>
            </a:pPr>
          </a:p>
          <a:p>
            <a:pPr lvl="0" indent="0" marL="0">
              <a:buNone/>
            </a:pPr>
            <a:r>
              <a:rPr/>
              <a:t>The bargain is real. Nothing else in this course trains in one pass, and nothing else tolerates ten thousand features on a few thousand rows.</a:t>
            </a:r>
          </a:p>
          <a:p>
            <a:pPr lvl="0" indent="0" marL="0">
              <a:buNone/>
            </a:pPr>
          </a:p>
          <a:p>
            <a:pPr lvl="0" indent="0" marL="0">
              <a:buNone/>
            </a:pPr>
            <a:r>
              <a:rPr/>
              <a:t>The assumption is false almost everywhere, and give concrete cases rather than a general warning. Two sensors on the same machine are both driven by the operating point, so of course they move together. In text, “New” and “York” co-occur far more than independence would allow. In medicine, symptoms of the same disease arrive in clusters.</a:t>
            </a:r>
          </a:p>
          <a:p>
            <a:pPr lvl="0" indent="0" marL="0">
              <a:buNone/>
            </a:pPr>
          </a:p>
          <a:p>
            <a:pPr lvl="0" indent="0" marL="0">
              <a:buNone/>
            </a:pPr>
            <a:r>
              <a:rPr/>
              <a:t>Then the framing that makes the rest of this segment worth doing, and put it as a question to the room: given that the assumption is essentially always false, why does anybody use this? The answer is that the assumption being false and the CLASSIFIER being wrong are different things. Argmax only needs the ordering right, not the probabilities. Handout section 4.2 closes on exactly this.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point behind k-NN, and an enormous distance ahead of the linear model — from a method that assumes something false and trains in a single pass over the data.</a:t>
            </a:r>
          </a:p>
          <a:p>
            <a:pPr lvl="0" indent="0" marL="0">
              <a:buNone/>
            </a:pPr>
          </a:p>
          <a:p>
            <a:pPr lvl="0" indent="0" marL="0">
              <a:buNone/>
            </a:pPr>
            <a:r>
              <a:rPr/>
              <a:t>Resist the temptation to stop here, because a score alone tells you nothing about when it will hold. Ask the room the useful question instead: WHY did that work? If the assumption is false, what happened?</a:t>
            </a:r>
          </a:p>
          <a:p>
            <a:pPr lvl="0" indent="0" marL="0">
              <a:buNone/>
            </a:pPr>
          </a:p>
          <a:p>
            <a:pPr lvl="0" indent="0" marL="0">
              <a:buNone/>
            </a:pPr>
            <a:r>
              <a:rPr/>
              <a:t>Then be explicit that we are about to check, rather than speculate. This is the habit worth transferring: when a model does better than you expected, find out which of your assumptions was accidentally satisfied. That tells you whether the result will survive on the next dataset.</a:t>
            </a:r>
          </a:p>
          <a:p>
            <a:pPr lvl="0" indent="0" marL="0">
              <a:buNone/>
            </a:pPr>
          </a:p>
          <a:p>
            <a:pPr lvl="0" indent="0" marL="0">
              <a:buNone/>
            </a:pPr>
            <a:r>
              <a:rPr/>
              <a:t>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Measured directly, and remember the assumption concerns independence GIVEN THE CLASS — so the second and third rows are the ones that count, not the first.</a:t>
            </a:r>
          </a:p>
          <a:p>
            <a:pPr lvl="0" indent="0" marL="0">
              <a:buNone/>
            </a:pPr>
          </a:p>
          <a:p>
            <a:pPr lvl="0" indent="0" marL="0">
              <a:buNone/>
            </a:pPr>
            <a:r>
              <a:rPr/>
              <a:t>Within each class the two readings are essentially uncorrelated: −0.006 among healthy pumps is as close to zero as a sample of this size will ever produce. The assumption is not approximately satisfied here; it is satisfied.</a:t>
            </a:r>
          </a:p>
          <a:p>
            <a:pPr lvl="0" indent="0" marL="0">
              <a:buNone/>
            </a:pPr>
          </a:p>
          <a:p>
            <a:pPr lvl="0" indent="0" marL="0">
              <a:buNone/>
            </a:pPr>
            <a:r>
              <a:rPr/>
              <a:t>Say why that is more useful than the 0.933. A score tells you what happened once. Knowing WHY it happened tells you when to expect it again — and it gives them a check they can run in two lines before trusting Naive Bayes on anything.</a:t>
            </a:r>
          </a:p>
          <a:p>
            <a:pPr lvl="0" indent="0" marL="0">
              <a:buNone/>
            </a:pPr>
          </a:p>
          <a:p>
            <a:pPr lvl="0" indent="0" marL="0">
              <a:buNone/>
            </a:pPr>
            <a:r>
              <a:rPr/>
              <a:t>The obvious caution, since somebody will raise it: zero correlation is not independence. Correlation only detects linear dependence. For Gaussian Naive Bayes with Gaussian-ish features it is the right check; in general it is necessary and not sufficient.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Change one thing about the problem and watch the method fall apart. Describe the physics before the geometry, because the rule is completely reasonable engineering.</a:t>
            </a:r>
          </a:p>
          <a:p>
            <a:pPr lvl="0" indent="0" marL="0">
              <a:buNone/>
            </a:pPr>
          </a:p>
          <a:p>
            <a:pPr lvl="0" indent="0" marL="0">
              <a:buNone/>
            </a:pPr>
            <a:r>
              <a:rPr/>
              <a:t>High demand and high delivery: fine, that is the machine working hard. Low and low: fine, that is idle. High demand with low delivery, or the reverse: something is wrong between them. Exactly one high means faulty.</a:t>
            </a:r>
          </a:p>
          <a:p>
            <a:pPr lvl="0" indent="0" marL="0">
              <a:buNone/>
            </a:pPr>
          </a:p>
          <a:p>
            <a:pPr lvl="0" indent="0" marL="0">
              <a:buNone/>
            </a:pPr>
            <a:r>
              <a:rPr/>
              <a:t>Ask them, before the picture, what each sensor tells you ON ITS OWN under that rule. Give it a moment. The answer is: nothing at all. Every value of sensor A appears in both classes about equally often, because whether it means “faulty” depends entirely on sensor B.</a:t>
            </a:r>
          </a:p>
          <a:p>
            <a:pPr lvl="0" indent="0" marL="0">
              <a:buNone/>
            </a:pPr>
          </a:p>
          <a:p>
            <a:pPr lvl="0" indent="0" marL="0">
              <a:buNone/>
            </a:pPr>
            <a:r>
              <a:rPr/>
              <a:t>That is what an interaction is, and it is precisely the structure the independence assumption is unable to represent.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two sensors together. Four clean groups, and a perfectly learnable rule — any method that can draw a non-linear boundary will find it.</a:t>
            </a:r>
          </a:p>
          <a:p>
            <a:pPr lvl="0" indent="0" marL="0">
              <a:buNone/>
            </a:pPr>
          </a:p>
          <a:p>
            <a:pPr lvl="0" indent="0" marL="0">
              <a:buNone/>
            </a:pPr>
            <a:r>
              <a:rPr/>
              <a:t>Middle and right: each sensor on its own, which is ALL Naive Bayes ever gets. The two class distributions sit almost exactly on top of one another.</a:t>
            </a:r>
          </a:p>
          <a:p>
            <a:pPr lvl="0" indent="0" marL="0">
              <a:buNone/>
            </a:pPr>
          </a:p>
          <a:p>
            <a:pPr lvl="0" indent="0" marL="0">
              <a:buNone/>
            </a:pPr>
            <a:r>
              <a:rPr/>
              <a:t>That is the slide in one sentence: the information is real, it is entirely in the relationship between the columns, and factorising the density throws that relationship away before the model ever sees it.</a:t>
            </a:r>
          </a:p>
          <a:p>
            <a:pPr lvl="0" indent="0" marL="0">
              <a:buNone/>
            </a:pPr>
          </a:p>
          <a:p>
            <a:pPr lvl="0" indent="0" marL="0">
              <a:buNone/>
            </a:pPr>
            <a:r>
              <a:rPr/>
              <a:t>Worth saying that no amount of data repairs this. It is not an estimation problem — with a million rows the marginals still overlap. The model cannot represent what is being asked of it.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things to draw out, and the second is the more interesting.</a:t>
            </a:r>
          </a:p>
          <a:p>
            <a:pPr lvl="0" indent="0" marL="0">
              <a:buNone/>
            </a:pPr>
          </a:p>
          <a:p>
            <a:pPr lvl="0" indent="0" marL="0">
              <a:buNone/>
            </a:pPr>
            <a:r>
              <a:rPr/>
              <a:t>First: k-NN and the RBF SVM are at 0.967 and 0.972 on this data. The problem is not hard. It is only hard for a model that looks at one feature at a time.</a:t>
            </a:r>
          </a:p>
          <a:p>
            <a:pPr lvl="0" indent="0" marL="0">
              <a:buNone/>
            </a:pPr>
          </a:p>
          <a:p>
            <a:pPr lvl="0" indent="0" marL="0">
              <a:buNone/>
            </a:pPr>
            <a:r>
              <a:rPr/>
              <a:t>Second, and take the time: 0.404 is BELOW CHANCE. Below the majority baseline of 0.523, and below what you would get by flipping a coin. Ask how that is even possible — a model with no information should surely sit at 50%.</a:t>
            </a:r>
          </a:p>
          <a:p>
            <a:pPr lvl="0" indent="0" marL="0">
              <a:buNone/>
            </a:pPr>
          </a:p>
          <a:p>
            <a:pPr lvl="0" indent="0" marL="0">
              <a:buNone/>
            </a:pPr>
            <a:r>
              <a:rPr/>
              <a:t>The explanation is worth having in full. The class means on each sensor differ by about 0.17, against a spread near 1, purely as an artefact of a finite sample. That accident is the ONLY per-feature evidence available. Naive Bayes has nothing else to multiply, so it follows it — and in this sample it points the wrong way.</a:t>
            </a:r>
          </a:p>
          <a:p>
            <a:pPr lvl="0" indent="0" marL="0">
              <a:buNone/>
            </a:pPr>
          </a:p>
          <a:p>
            <a:pPr lvl="0" indent="0" marL="0">
              <a:buNone/>
            </a:pPr>
            <a:r>
              <a:rPr/>
              <a:t>The sentence to land: a model with no signal does not sit politely at 50%. It follows whatever spurious structure it can find, with complete confidence.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numbers, four thousandths apart. The model is exactly as confident when it is wrong as when it is right, which means </a:t>
            </a:r>
            <a:r>
              <a:rPr>
                <a:latin typeface="Courier"/>
              </a:rPr>
              <a:t>predict_proba</a:t>
            </a:r>
            <a:r>
              <a:rPr/>
              <a:t> carries no usable information about reliability here.</a:t>
            </a:r>
          </a:p>
          <a:p>
            <a:pPr lvl="0" indent="0" marL="0">
              <a:buNone/>
            </a:pPr>
          </a:p>
          <a:p>
            <a:pPr lvl="0" indent="0" marL="0">
              <a:buNone/>
            </a:pPr>
            <a:r>
              <a:rPr/>
              <a:t>The more common complaint runs in the opposite direction, so give it too: when features ARE correlated, multiplying their probabilities counts the same evidence repeatedly. Ten correlated words in a document are treated as ten independent pieces of evidence, and the posterior saturates. Naive Bayes is famous for reporting 0.999 on problems it gets wrong a fifth of the time.</a:t>
            </a:r>
          </a:p>
          <a:p>
            <a:pPr lvl="0" indent="0" marL="0">
              <a:buNone/>
            </a:pPr>
          </a:p>
          <a:p>
            <a:pPr lvl="0" indent="0" marL="0">
              <a:buNone/>
            </a:pPr>
            <a:r>
              <a:rPr/>
              <a:t>Then lesson 5’s distinction, which this is the textbook case of: ranking and calibration are different properties. A model can order examples usefully and still report numbers that mean nothing.</a:t>
            </a:r>
          </a:p>
          <a:p>
            <a:pPr lvl="0" indent="0" marL="0">
              <a:buNone/>
            </a:pPr>
          </a:p>
          <a:p>
            <a:pPr lvl="0" indent="0" marL="0">
              <a:buNone/>
            </a:pPr>
            <a:r>
              <a:rPr/>
              <a:t>The practical consequence, and it is concrete: do not use Naive Bayes anywhere a calibrated probability enters a decision — including lesson 4’s cost calculation in section 7.2, where the threshold depends on the probability being real.</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Eighteen minutes.</a:t>
            </a:r>
          </a:p>
          <a:p>
            <a:pPr lvl="0" indent="0" marL="0">
              <a:buNone/>
            </a:pPr>
          </a:p>
          <a:p>
            <a:pPr lvl="0" indent="0" marL="0">
              <a:buNone/>
            </a:pPr>
            <a:r>
              <a:rPr/>
              <a:t>The cell to protect is the one that prints 0.404 next to the 0.523 baseline. Let them see a below-chance score appear from correct code on solvable data before any explanation arrives.</a:t>
            </a:r>
          </a:p>
          <a:p>
            <a:pPr lvl="0" indent="0" marL="0">
              <a:buNone/>
            </a:pPr>
          </a:p>
          <a:p>
            <a:pPr lvl="0" indent="0" marL="0">
              <a:buNone/>
            </a:pPr>
            <a:r>
              <a:rPr/>
              <a:t>Have them compute the within-class correlations themselves on both datasets. Two lines, and it is the diagnostic they should carry: measure the assumption, do not assume it.</a:t>
            </a:r>
          </a:p>
          <a:p>
            <a:pPr lvl="0" indent="0" marL="0">
              <a:buNone/>
            </a:pPr>
          </a:p>
          <a:p>
            <a:pPr lvl="0" indent="0" marL="0">
              <a:buNone/>
            </a:pPr>
            <a:r>
              <a:rPr/>
              <a:t>If time allows, the interesting exercise is to hand Naive Bayes the product of the two sensors as a third column and watch it recover. That is the whole story of feature engineering versus model choice in one cell.</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problem rather than the solution. Draw two well-separated blobs on the board and ask for the boundary. Somebody will draw a line. Ask whether another line would have been equally good, and keep asking until the room sees that there are infinitely many, all with identical training error.</a:t>
            </a:r>
          </a:p>
          <a:p>
            <a:pPr lvl="0" indent="0" marL="0">
              <a:buNone/>
            </a:pPr>
          </a:p>
          <a:p>
            <a:pPr lvl="0" indent="0" marL="0">
              <a:buNone/>
            </a:pPr>
            <a:r>
              <a:rPr/>
              <a:t>So the error cannot decide. Something else has to. Logistic regression breaks the tie with log loss — a perfectly respectable answer, and one answer among several. The SVM breaks it differently: take the boundary with the most room around it.</a:t>
            </a:r>
          </a:p>
          <a:p>
            <a:pPr lvl="0" indent="0" marL="0">
              <a:buNone/>
            </a:pPr>
          </a:p>
          <a:p>
            <a:pPr lvl="0" indent="0" marL="0">
              <a:buNone/>
            </a:pPr>
            <a:r>
              <a:rPr/>
              <a:t>The intuition, and this is the sentence to say slowly: maximising the distance to the closest points chooses the boundary that tolerates the most movement in the data before it changes its mind. That is a statement about GENERALISATION, not about fit — which is unusual, because almost everything else in this course optimises fit and controls generalisation indirectly.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solid line is the boundary, the dashed lines are the edges of the slab, and the circled points are the support vectors touching it.</a:t>
            </a:r>
          </a:p>
          <a:p>
            <a:pPr lvl="0" indent="0" marL="0">
              <a:buNone/>
            </a:pPr>
          </a:p>
          <a:p>
            <a:pPr lvl="0" indent="0" marL="0">
              <a:buNone/>
            </a:pPr>
            <a:r>
              <a:rPr/>
              <a:t>The number to say out loud: of eighty points, THREE determine the answer. Move any of the other seventy-seven — anywhere, as far as you like, as long as they stay outside the slab — and the boundary does not shift by a millimetre.</a:t>
            </a:r>
          </a:p>
          <a:p>
            <a:pPr lvl="0" indent="0" marL="0">
              <a:buNone/>
            </a:pPr>
          </a:p>
          <a:p>
            <a:pPr lvl="0" indent="0" marL="0">
              <a:buNone/>
            </a:pPr>
            <a:r>
              <a:rPr/>
              <a:t>That is where the name comes from, and it is a genuinely different idea from anything so far. Every linear model in lessons 3 and 4 used every row: each one contributed to the gradient in proportion to its error. Here most of the data is irrelevant once the fit is done.</a:t>
            </a:r>
          </a:p>
          <a:p>
            <a:pPr lvl="0" indent="0" marL="0">
              <a:buNone/>
            </a:pPr>
          </a:p>
          <a:p>
            <a:pPr lvl="0" indent="0" marL="0">
              <a:buNone/>
            </a:pPr>
            <a:r>
              <a:rPr/>
              <a:t>Two consequences worth naming. The model is small — you store the support vectors, not the dataset, which is the contrast with k-NN. And it is sensitive in a specific way: an outlier near the boundary matters enormously, while an outlier far from it matters not at all.</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derive this. State what each piece is doing and move on — handout section 5.2 has the derivation, including why maximising the margin is the same as minimising the norm of w.</a:t>
            </a:r>
          </a:p>
          <a:p>
            <a:pPr lvl="0" indent="0" marL="0">
              <a:buNone/>
            </a:pPr>
          </a:p>
          <a:p>
            <a:pPr lvl="0" indent="0" marL="0">
              <a:buNone/>
            </a:pPr>
            <a:r>
              <a:rPr/>
              <a:t>The first term wants a wide slab. The second term wants few violations. C sets the exchange rate between them, and that is the entire content of the expression.</a:t>
            </a:r>
          </a:p>
          <a:p>
            <a:pPr lvl="0" indent="0" marL="0">
              <a:buNone/>
            </a:pPr>
          </a:p>
          <a:p>
            <a:pPr lvl="0" indent="0" marL="0">
              <a:buNone/>
            </a:pPr>
            <a:r>
              <a:rPr/>
              <a:t>The point worth stressing is why the soft margin is not a patch or a convenience. With even one mislabelled point inside the other class, the strict problem is INFEASIBLE — there is no solution, not a bad one. Real data always contains such points. So the soft margin is the only version anyone ever runs; the hard-margin problem is a teaching device.</a:t>
            </a:r>
          </a:p>
          <a:p>
            <a:pPr lvl="0" indent="0" marL="0">
              <a:buNone/>
            </a:pPr>
          </a:p>
          <a:p>
            <a:pPr lvl="0" indent="0" marL="0">
              <a:buNone/>
            </a:pPr>
            <a:r>
              <a:rPr/>
              <a:t>If someone asks about the half in front of the norm: it is there to make the derivative tidy, exactly as in lesson 3’s cost function.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Third appearance of the same idea, and say so — that repetition is the point. Lesson 3 had λ, this morning had k, now C. Every model has one knob that trades fitting this data against surviving the next, and recognising it in an unfamiliar model is worth more than memorising three names.</a:t>
            </a:r>
          </a:p>
          <a:p>
            <a:pPr lvl="0" indent="0" marL="0">
              <a:buNone/>
            </a:pPr>
          </a:p>
          <a:p>
            <a:pPr lvl="0" indent="0" marL="0">
              <a:buNone/>
            </a:pPr>
            <a:r>
              <a:rPr/>
              <a:t>Then the direction, which catches people out constantly and is worth writing on the board. Large λ means MORE regularisation. Large C means LESS. They run opposite ways, and scikit-learn’s </a:t>
            </a:r>
            <a:r>
              <a:rPr>
                <a:latin typeface="Courier"/>
              </a:rPr>
              <a:t>C</a:t>
            </a:r>
            <a:r>
              <a:rPr/>
              <a:t> parameter in </a:t>
            </a:r>
            <a:r>
              <a:rPr>
                <a:latin typeface="Courier"/>
              </a:rPr>
              <a:t>LogisticRegression</a:t>
            </a:r>
            <a:r>
              <a:rPr/>
              <a:t> has the same inverted convention — it is the reciprocal of the penalty there too.</a:t>
            </a:r>
          </a:p>
          <a:p>
            <a:pPr lvl="0" indent="0" marL="0">
              <a:buNone/>
            </a:pPr>
          </a:p>
          <a:p>
            <a:pPr lvl="0" indent="0" marL="0">
              <a:buNone/>
            </a:pPr>
            <a:r>
              <a:rPr/>
              <a:t>Ask them which way they would expect C to run before you tell them. Most guess wrong, and having guessed wrong once is what makes it stick.</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linear kernel scores 0.613 — the base rate, exactly as logistic regression did this morning, with the same zero variance across folds.</a:t>
            </a:r>
          </a:p>
          <a:p>
            <a:pPr lvl="0" indent="0" marL="0">
              <a:buNone/>
            </a:pPr>
          </a:p>
          <a:p>
            <a:pPr lvl="0" indent="0" marL="0">
              <a:buNone/>
            </a:pPr>
            <a:r>
              <a:rPr/>
              <a:t>Make the point explicitly, because it is the one students most often get backwards: the margin criterion is a better way of CHOOSING among straight lines. It does not give you anything other than a straight line. When no straight line works, choosing the best one optimally still gets you nothing. A better criterion cannot rescue an inadequate hypothesis class.</a:t>
            </a:r>
          </a:p>
          <a:p>
            <a:pPr lvl="0" indent="0" marL="0">
              <a:buNone/>
            </a:pPr>
          </a:p>
          <a:p>
            <a:pPr lvl="0" indent="0" marL="0">
              <a:buNone/>
            </a:pPr>
            <a:r>
              <a:rPr/>
              <a:t>Then the RBF row, which is the same algorithm with one argument changed, at 0.947 — the best number in the whole lesson, and within a hair of the 0.96 ceiling.</a:t>
            </a:r>
          </a:p>
          <a:p>
            <a:pPr lvl="0" indent="0" marL="0">
              <a:buNone/>
            </a:pPr>
          </a:p>
          <a:p>
            <a:pPr lvl="0" indent="0" marL="0">
              <a:buNone/>
            </a:pPr>
            <a:r>
              <a:rPr/>
              <a:t>The support-vector column says the same thing in a second language, and that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what 79% actually means geometrically. A support vector is a point on the margin or inside it. If 79% of your data is in that position, there is no region of empty space between the classes at all — the model has been forced to place a boundary through a crowd.</a:t>
            </a:r>
          </a:p>
          <a:p>
            <a:pPr lvl="0" indent="0" marL="0">
              <a:buNone/>
            </a:pPr>
          </a:p>
          <a:p>
            <a:pPr lvl="0" indent="0" marL="0">
              <a:buNone/>
            </a:pPr>
            <a:r>
              <a:rPr/>
              <a:t>Contrast with 23%, where the model found genuine room and only the points near the edge matter.</a:t>
            </a:r>
          </a:p>
          <a:p>
            <a:pPr lvl="0" indent="0" marL="0">
              <a:buNone/>
            </a:pPr>
          </a:p>
          <a:p>
            <a:pPr lvl="0" indent="0" marL="0">
              <a:buNone/>
            </a:pPr>
            <a:r>
              <a:rPr/>
              <a:t>Give them the diagnostic to keep, since it costs nothing: after fitting an SVM, look at </a:t>
            </a:r>
            <a:r>
              <a:rPr>
                <a:latin typeface="Courier"/>
              </a:rPr>
              <a:t>len(model.support_)</a:t>
            </a:r>
            <a:r>
              <a:rPr/>
              <a:t> over the number of training rows. High means the model is struggling to find room, which usually means the kernel is wrong for the geometry. It is a warning available BEFORE you cross-validate anything.</a:t>
            </a:r>
          </a:p>
          <a:p>
            <a:pPr lvl="0" indent="0" marL="0">
              <a:buNone/>
            </a:pPr>
          </a:p>
          <a:p>
            <a:pPr lvl="0" indent="0" marL="0">
              <a:buNone/>
            </a:pPr>
            <a:r>
              <a:rPr/>
              <a:t>Worth adding that it also predicts prediction cost — every support vector is one kernel evaluation per query, so a model needing 79% of the data has thrown away most of the speed advantage over k-NN.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Build the picture in words first and let them see it before the figure appears. Take the scatter plot from the start of the lesson, lift each point off the page by its distance from the centre, and look from the side.</a:t>
            </a:r>
          </a:p>
          <a:p>
            <a:pPr lvl="0" indent="0" marL="0">
              <a:buNone/>
            </a:pPr>
          </a:p>
          <a:p>
            <a:pPr lvl="0" indent="0" marL="0">
              <a:buNone/>
            </a:pPr>
            <a:r>
              <a:rPr/>
              <a:t>Then the sentence that reframes the whole afternoon: the classes were never inseparable. Separability is not a property of the data — it is a property of the data AND the coordinates you happen to have measured it in.</a:t>
            </a:r>
          </a:p>
          <a:p>
            <a:pPr lvl="0" indent="0" marL="0">
              <a:buNone/>
            </a:pPr>
          </a:p>
          <a:p>
            <a:pPr lvl="0" indent="0" marL="0">
              <a:buNone/>
            </a:pPr>
            <a:r>
              <a:rPr/>
              <a:t>Ask what is unsatisfying about what we just did, and wait for it. We chose that lift by already knowing the answer. We knew the fault mode was radial. In any real problem you do not, and inventing the right coordinate is the hard part — which is exactly the difficulty the kernel trick removes.</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1,200 pumps twice: on the left in the plane where they were measured, on the right lifted by their distance from the design point. The gold plane does what no line could.</a:t>
            </a:r>
          </a:p>
          <a:p>
            <a:pPr lvl="0" indent="0" marL="0">
              <a:buNone/>
            </a:pPr>
          </a:p>
          <a:p>
            <a:pPr lvl="0" indent="0" marL="0">
              <a:buNone/>
            </a:pPr>
            <a:r>
              <a:rPr/>
              <a:t>Have them look at the right panel and confirm for themselves that a flat horizontal cut separates the colours cleanly. Nothing was added — no new measurement, no extra sensor. The third coordinate is computed from the two they already had.</a:t>
            </a:r>
          </a:p>
          <a:p>
            <a:pPr lvl="0" indent="0" marL="0">
              <a:buNone/>
            </a:pPr>
          </a:p>
          <a:p>
            <a:pPr lvl="0" indent="0" marL="0">
              <a:buNone/>
            </a:pPr>
            <a:r>
              <a:rPr/>
              <a:t>Then set up the objection that the next slide answers. This worked because the lift was three-dimensional and we could guess it. The spaces that work in general are enormous — the useful ones are sometimes infinite-dimensional — and computing the coordinates of every point in such a space is impossible.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in one sentence: the SVM never needs the coordinates, only the angles and lengths between points, and those can be obtained without ever going there.</a:t>
            </a:r>
          </a:p>
          <a:p>
            <a:pPr lvl="0" indent="0" marL="0">
              <a:buNone/>
            </a:pPr>
          </a:p>
          <a:p>
            <a:pPr lvl="0" indent="0" marL="0">
              <a:buNone/>
            </a:pPr>
            <a:r>
              <a:rPr/>
              <a:t>Do not prove it — handout section 5.4 shows where the inner products come from in the dual formulation. The claim to state and let land is that a function of two ordinary two-dimensional vectors returns their inner product in a space of infinite dimension, at the cost of one exponential.</a:t>
            </a:r>
          </a:p>
          <a:p>
            <a:pPr lvl="0" indent="0" marL="0">
              <a:buNone/>
            </a:pPr>
          </a:p>
          <a:p>
            <a:pPr lvl="0" indent="0" marL="0">
              <a:buNone/>
            </a:pPr>
            <a:r>
              <a:rPr/>
              <a:t>And close the loop from the previous slide: we chose the lift in the picture by knowing the answer. The RBF kernel does something equivalent without being told, which is exactly why it works on problems where nobody could guess the right coordinates.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line, and it is the whole of what scikit-learn does when you leave </a:t>
            </a:r>
            <a:r>
              <a:rPr>
                <a:latin typeface="Courier"/>
              </a:rPr>
              <a:t>kernel</a:t>
            </a:r>
            <a:r>
              <a:rPr/>
              <a:t> at its default.</a:t>
            </a:r>
          </a:p>
          <a:p>
            <a:pPr lvl="0" indent="0" marL="0">
              <a:buNone/>
            </a:pPr>
          </a:p>
          <a:p>
            <a:pPr lvl="0" indent="0" marL="0">
              <a:buNone/>
            </a:pPr>
            <a:r>
              <a:rPr/>
              <a:t>Read it aloud as a similarity rather than as a formula: the closer two points are, the nearer the exponent is to zero and the nearer the kernel is to one; far apart, it falls away to nothing. That is all an RBF kernel says — how much does this point look like that one.</a:t>
            </a:r>
          </a:p>
          <a:p>
            <a:pPr lvl="0" indent="0" marL="0">
              <a:buNone/>
            </a:pPr>
          </a:p>
          <a:p>
            <a:pPr lvl="0" indent="0" marL="0">
              <a:buNone/>
            </a:pPr>
            <a:r>
              <a:rPr/>
              <a:t>Now say what γ means, because the next two slides turn on it: it sets how far a single training point’s influence reaches. Small γ, wide reach, smooth boundary. Large γ, each point influences only its immediate neighbourhood — and a boundary that can afford an island around every mislabelled pump.</a:t>
            </a:r>
          </a:p>
          <a:p>
            <a:pPr lvl="0" indent="0" marL="0">
              <a:buNone/>
            </a:pPr>
          </a:p>
          <a:p>
            <a:pPr lvl="0" indent="0" marL="0">
              <a:buNone/>
            </a:pPr>
            <a:r>
              <a:rPr/>
              <a:t>Worth naming the cost, since this is an engineering course: one exponential per pair of points, so the kernel matrix is m × m. That is why support vector machines are a poor fit above a hundred thousand rows, and it is a property of the method rather than of the implementation.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exactly as lesson 5 taught, and let the last row do the work.</a:t>
            </a:r>
          </a:p>
          <a:p>
            <a:pPr lvl="0" indent="0" marL="0">
              <a:buNone/>
            </a:pPr>
          </a:p>
          <a:p>
            <a:pPr lvl="0" indent="0" marL="0">
              <a:buNone/>
            </a:pPr>
            <a:r>
              <a:rPr/>
              <a:t>The bottom row has the best training score on the slide — 0.995, nearly perfect — and the worst honest one. That is the signature of overfitting, and here it is not inferred from theory but measured on the same data by two different procedures.</a:t>
            </a:r>
          </a:p>
          <a:p>
            <a:pPr lvl="0" indent="0" marL="0">
              <a:buNone/>
            </a:pPr>
          </a:p>
          <a:p>
            <a:pPr lvl="0" indent="0" marL="0">
              <a:buNone/>
            </a:pPr>
            <a:r>
              <a:rPr b="1"/>
              <a:t>Now the second predictable mistake, and defend the instinct.</a:t>
            </a:r>
            <a:r>
              <a:rPr/>
              <a:t> Choosing between these three on the training score selects the WORST model, with complete confidence and a very impressive number to report. And the instinct behind it is not stupid: a higher score on the data you have is, in every other part of engineering, evidence of a better system. Fitting the data well is what we spent lessons 3 and 4 doing. What breaks the analogy is that a flexible model can fit data it has already been shown without learning anything transferable.</a:t>
            </a:r>
          </a:p>
          <a:p>
            <a:pPr lvl="0" indent="0" marL="0">
              <a:buNone/>
            </a:pPr>
          </a:p>
          <a:p>
            <a:pPr lvl="0" indent="0" marL="0">
              <a:buNone/>
            </a:pPr>
            <a:r>
              <a:rPr/>
              <a:t>The reason this table is on the slide rather than in the handout is that the next slide shows the same three settings as pictures — so the failure is visible as well as measurable, which is rare.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settings, with training and cross-validated scores in each title. Read them together.</a:t>
            </a:r>
          </a:p>
          <a:p>
            <a:pPr lvl="0" indent="0" marL="0">
              <a:buNone/>
            </a:pPr>
          </a:p>
          <a:p>
            <a:pPr lvl="0" indent="0" marL="0">
              <a:buNone/>
            </a:pPr>
            <a:r>
              <a:rPr/>
              <a:t>Left, γ = 0.1: a smooth boundary, slightly too smooth, and the two scores agree. Middle, γ = 1: close to the true envelope, and the best honest score.</a:t>
            </a:r>
          </a:p>
          <a:p>
            <a:pPr lvl="0" indent="0" marL="0">
              <a:buNone/>
            </a:pPr>
          </a:p>
          <a:p>
            <a:pPr lvl="0" indent="0" marL="0">
              <a:buNone/>
            </a:pPr>
            <a:r>
              <a:rPr/>
              <a:t>Right is the one to sit on. The boundary has broken into bubbles — small islands around individual points, including the mislabelled ones. That is what a 0.995 training score looks like from the outside: the model has drawn a private territory around each flipped label so that it can get it right.</a:t>
            </a:r>
          </a:p>
          <a:p>
            <a:pPr lvl="0" indent="0" marL="0">
              <a:buNone/>
            </a:pPr>
          </a:p>
          <a:p>
            <a:pPr lvl="0" indent="0" marL="0">
              <a:buNone/>
            </a:pPr>
            <a:r>
              <a:rPr/>
              <a:t>Ask them what happens to a new pump landing in the gap between two bubbles. That is the 0.902.</a:t>
            </a:r>
          </a:p>
          <a:p>
            <a:pPr lvl="0" indent="0" marL="0">
              <a:buNone/>
            </a:pPr>
          </a:p>
          <a:p>
            <a:pPr lvl="0" indent="0" marL="0">
              <a:buNone/>
            </a:pPr>
            <a:r>
              <a:rPr/>
              <a:t>The reason this slide matters more than the table: they have seen overfitting as a curve on a plot since lesson 5. Here it is a shape in the input space, and the shape is obviously wrong in a way no number is. When you can plot the boundary, plot it.</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Eighteen minutes.</a:t>
            </a:r>
          </a:p>
          <a:p>
            <a:pPr lvl="0" indent="0" marL="0">
              <a:buNone/>
            </a:pPr>
          </a:p>
          <a:p>
            <a:pPr lvl="0" indent="0" marL="0">
              <a:buNone/>
            </a:pPr>
            <a:r>
              <a:rPr/>
              <a:t>The cell to protect is the γ sweep with the boundary drawn at each setting. Let them turn γ up themselves and watch the bubbles form — it is the most direct experience of overfitting available in this course.</a:t>
            </a:r>
          </a:p>
          <a:p>
            <a:pPr lvl="0" indent="0" marL="0">
              <a:buNone/>
            </a:pPr>
          </a:p>
          <a:p>
            <a:pPr lvl="0" indent="0" marL="0">
              <a:buNone/>
            </a:pPr>
            <a:r>
              <a:rPr/>
              <a:t>Have them print the support-vector fraction for the linear and RBF kernels side by side. Two numbers, and it makes the diagnostic real rather than a claim on a slide.</a:t>
            </a:r>
          </a:p>
          <a:p>
            <a:pPr lvl="0" indent="0" marL="0">
              <a:buNone/>
            </a:pPr>
          </a:p>
          <a:p>
            <a:pPr lvl="0" indent="0" marL="0">
              <a:buNone/>
            </a:pPr>
            <a:r>
              <a:rPr/>
              <a:t>If time runs short, skip the C sweep and set it as reading: the table is in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the lesson on the same 1,200 pumps, cross-validated the same way.</a:t>
            </a:r>
          </a:p>
          <a:p>
            <a:pPr lvl="0" indent="0" marL="0">
              <a:buNone/>
            </a:pPr>
          </a:p>
          <a:p>
            <a:pPr lvl="0" indent="0" marL="0">
              <a:buNone/>
            </a:pPr>
            <a:r>
              <a:rPr/>
              <a:t>Read the top three rows together: all exactly 0.613, and all three are linear. Then the bottom three, all near the ceiling, reached by three completely unrelated routes — remembering the neighbourhood, assuming independence, bending the space. There is no single idea shared between them.</a:t>
            </a:r>
          </a:p>
          <a:p>
            <a:pPr lvl="0" indent="0" marL="0">
              <a:buNone/>
            </a:pPr>
          </a:p>
          <a:p>
            <a:pPr lvl="0" indent="0" marL="0">
              <a:buNone/>
            </a:pPr>
            <a:r>
              <a:rPr/>
              <a:t>Then the number that is the lesson: the gap between best and worst is </a:t>
            </a:r>
            <a:r>
              <a:rPr b="1"/>
              <a:t>0.334</a:t>
            </a:r>
            <a:r>
              <a:rPr/>
              <a:t>. Larger than any difference this course has shown between a good model and a carefully tuned one — lesson 5’s entire hyperparameter search moved things by a few hundredths.</a:t>
            </a:r>
          </a:p>
          <a:p>
            <a:pPr lvl="0" indent="0" marL="0">
              <a:buNone/>
            </a:pPr>
          </a:p>
          <a:p>
            <a:pPr lvl="0" indent="0" marL="0">
              <a:buNone/>
            </a:pPr>
            <a:r>
              <a:rPr/>
              <a:t>Say the conclusion plainly, and it is the practical takeaway of the whole lesson: choosing the right family matters far more than tuning the wrong one. Nobody in the top three rows could have tuned their way out. And the way to tell which family you need is to look at the data first, which is what lesson 2 was for.</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Work down it and attach today’s evidence to each row, so it is remembered as a set of conclusions rather than as advice.</a:t>
            </a:r>
          </a:p>
          <a:p>
            <a:pPr lvl="0" indent="0" marL="0">
              <a:buNone/>
            </a:pPr>
          </a:p>
          <a:p>
            <a:pPr lvl="0" indent="0" marL="0">
              <a:buNone/>
            </a:pPr>
            <a:r>
              <a:rPr/>
              <a:t>Row two deserves a sentence on its own, because it is the one that sounds wrong after the last hour. Text classification is the canonical case: tens of thousands of word-count features, an assumption that is transparently false, and a method that works anyway — because being roughly right in ten thousand dimensions beats being unable to estimate anything at all. Also mention Naive Bayes as a baseline: it trains in one pass, so if your tuned model does not beat it you have learned something quickly and cheaply.</a:t>
            </a:r>
          </a:p>
          <a:p>
            <a:pPr lvl="0" indent="0" marL="0">
              <a:buNone/>
            </a:pPr>
          </a:p>
          <a:p>
            <a:pPr lvl="0" indent="0" marL="0">
              <a:buNone/>
            </a:pPr>
            <a:r>
              <a:rPr/>
              <a:t>One row that did not fit and should be said out loud: when you need to explain the decision to the person affected, none of today’s three will do it. A support vector machine in a lifted space has no explanation a customer would accept. Lesson 3’s Resources document covers why that is sometimes a legal requirement rather than a preference.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the second segment with, and say it one more time: seventy per cent. In a hundred dimensions the nearest point in the entire dataset is seven tenths of the way to the farthest, and every method built on distance is operating on a quantity that has stopped varying.</a:t>
            </a:r>
          </a:p>
          <a:p>
            <a:pPr lvl="0" indent="0" marL="0">
              <a:buNone/>
            </a:pPr>
          </a:p>
          <a:p>
            <a:pPr lvl="0" indent="0" marL="0">
              <a:buNone/>
            </a:pPr>
            <a:r>
              <a:rPr/>
              <a:t>If they remember one habit from today, make it the diagnostic pair: before reaching for a model, look at the shape of the data; after fitting one, check whether the assumption it depends on is actually satisfied on your data. Two lines of code gave us the −0.006 that explained the 0.933.</a:t>
            </a:r>
          </a:p>
          <a:p>
            <a:pPr lvl="0" indent="0" marL="0">
              <a:buNone/>
            </a:pPr>
          </a:p>
          <a:p>
            <a:pPr lvl="0" indent="0" marL="0">
              <a:buNone/>
            </a:pPr>
            <a:r>
              <a:rPr/>
              <a:t>And the correction to the instinct that this lesson exists to install: more features is not free. It is nearly free for a linear model and it is expensive for anything built on a distance.</a:t>
            </a:r>
          </a:p>
          <a:p>
            <a:pPr lvl="0" indent="0" marL="0">
              <a:buNone/>
            </a:pPr>
          </a:p>
          <a:p>
            <a:pPr lvl="0" indent="0" marL="0">
              <a:buNone/>
            </a:pPr>
            <a:r>
              <a:rPr/>
              <a:t>Handout section 7 lists all of this with the section numbers.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next Friday, 6 November.</a:t>
            </a:r>
          </a:p>
          <a:p>
            <a:pPr lvl="0" indent="0" marL="0">
              <a:buNone/>
            </a:pPr>
          </a:p>
          <a:p>
            <a:pPr lvl="0" indent="0" marL="0">
              <a:buNone/>
            </a:pPr>
            <a:r>
              <a:rPr/>
              <a:t>The marks are for the reasoning, not for the accuracy. A well-argued choice that scores slightly worse beats a lucky winner with no justification — and the argument has to reference the data, in the way that the −0.006 justified Naive Bayes on the pumps this afternoon.</a:t>
            </a:r>
          </a:p>
          <a:p>
            <a:pPr lvl="0" indent="0" marL="0">
              <a:buNone/>
            </a:pPr>
          </a:p>
          <a:p>
            <a:pPr lvl="0" indent="0" marL="0">
              <a:buNone/>
            </a:pPr>
            <a:r>
              <a:rPr/>
              <a:t>Remind them that everything must be cross-validated and reported with a spread, in the format lesson 5 set. Scaling goes inside the pipeline; that will be checked.</a:t>
            </a:r>
          </a:p>
          <a:p>
            <a:pPr lvl="0" indent="0" marL="0">
              <a:buNone/>
            </a:pPr>
          </a:p>
          <a:p>
            <a:pPr lvl="0" indent="0" marL="0">
              <a:buNone/>
            </a:pPr>
            <a:r>
              <a:rPr/>
              <a:t>Next week: decision trees and ensembles. A fourth family, with a different answer again to the same question — how do you draw a boundary that is not a line.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7.xml"/><Relationship Id="rId3" Type="http://schemas.openxmlformats.org/officeDocument/2006/relationships/image" Target="../media/image1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1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6 — k-NN, Naive Bayes and Support Vector Machines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30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5 was due today</a:t>
            </a:r>
          </a:p>
          <a:p>
            <a:pPr lvl="0"/>
            <a:r>
              <a:rPr/>
              <a:t>The score that was too good — and what the honest number cost you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lesson that offers a choice</a:t>
            </a:r>
          </a:p>
        </p:txBody>
      </p:sp>
      <p:sp>
        <p:nvSpPr>
          <p:cNvPr id="3" name="Content Placeholder 2"/>
          <p:cNvSpPr>
            <a:spLocks noGrp="1"/>
          </p:cNvSpPr>
          <p:nvPr>
            <p:ph idx="1"/>
          </p:nvPr>
        </p:nvSpPr>
        <p:spPr>
          <a:xfrm>
            <a:off x="457200" y="1200151"/>
            <a:ext cx="8229600" cy="3394472"/>
          </a:xfrm>
        </p:spPr>
        <p:txBody>
          <a:bodyPr/>
          <a:lstStyle/>
          <a:p>
            <a:pPr lvl="0"/>
            <a:r>
              <a:rPr b="1"/>
              <a:t>k-nearest neighbours (k-NN)</a:t>
            </a:r>
            <a:r>
              <a:rPr/>
              <a:t> — remember, and vote</a:t>
            </a:r>
          </a:p>
          <a:p>
            <a:pPr lvl="0"/>
            <a:r>
              <a:rPr/>
              <a:t>The </a:t>
            </a:r>
            <a:r>
              <a:rPr b="1"/>
              <a:t>curse of dimensionality</a:t>
            </a:r>
            <a:r>
              <a:rPr/>
              <a:t>: the bill for that</a:t>
            </a:r>
          </a:p>
          <a:p>
            <a:pPr lvl="0"/>
            <a:r>
              <a:rPr b="1"/>
              <a:t>Naive Bayes</a:t>
            </a:r>
            <a:r>
              <a:rPr/>
              <a:t> — one strong assumption, bought cheap</a:t>
            </a:r>
          </a:p>
          <a:p>
            <a:pPr lvl="0"/>
            <a:r>
              <a:rPr b="1"/>
              <a:t>Support vector machines (SVM)</a:t>
            </a:r>
            <a:r>
              <a:rPr/>
              <a:t> — margins, and kernels</a:t>
            </a:r>
          </a:p>
          <a:p>
            <a:pPr lvl="0"/>
            <a:r>
              <a:rPr/>
              <a:t>Which family to reach for, and why that beats tuning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pumps, two readings each</a:t>
            </a:r>
          </a:p>
        </p:txBody>
      </p:sp>
      <p:sp>
        <p:nvSpPr>
          <p:cNvPr id="3" name="Content Placeholder 2"/>
          <p:cNvSpPr>
            <a:spLocks noGrp="1"/>
          </p:cNvSpPr>
          <p:nvPr>
            <p:ph idx="1"/>
          </p:nvPr>
        </p:nvSpPr>
        <p:spPr>
          <a:xfrm>
            <a:off x="457200" y="1200151"/>
            <a:ext cx="8229600" cy="3394472"/>
          </a:xfrm>
        </p:spPr>
        <p:txBody>
          <a:bodyPr/>
          <a:lstStyle/>
          <a:p>
            <a:pPr lvl="0"/>
            <a:r>
              <a:rPr/>
              <a:t>Vibration in Hz, pressure in bar</a:t>
            </a:r>
          </a:p>
          <a:p>
            <a:pPr lvl="0"/>
            <a:r>
              <a:rPr/>
              <a:t>A pump is faulty when its readings fall </a:t>
            </a:r>
            <a:r>
              <a:rPr b="1"/>
              <a:t>outside the design envelope</a:t>
            </a:r>
            <a:r>
              <a:rPr/>
              <a:t> — too low as readily as too high</a:t>
            </a:r>
          </a:p>
          <a:p>
            <a:pPr lvl="0"/>
            <a:r>
              <a:rPr b="1"/>
              <a:t>61.3%</a:t>
            </a:r>
            <a:r>
              <a:rPr/>
              <a:t> faulty; 4% of the labels are deliberately flipped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 of the problem</a:t>
            </a:r>
          </a:p>
        </p:txBody>
      </p:sp>
      <p:pic>
        <p:nvPicPr>
          <p:cNvPr descr="pump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straight boundary costs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b="1"/>
                        <a:t>0.613 ± 0.000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k-nearest neighbours: the whole algorithm</a:t>
            </a:r>
          </a:p>
        </p:txBody>
      </p:sp>
      <p:sp>
        <p:nvSpPr>
          <p:cNvPr id="3" name="Content Placeholder 2"/>
          <p:cNvSpPr>
            <a:spLocks noGrp="1"/>
          </p:cNvSpPr>
          <p:nvPr>
            <p:ph idx="1"/>
          </p:nvPr>
        </p:nvSpPr>
        <p:spPr>
          <a:xfrm>
            <a:off x="457200" y="1200151"/>
            <a:ext cx="8229600" cy="3394472"/>
          </a:xfrm>
        </p:spPr>
        <p:txBody>
          <a:bodyPr/>
          <a:lstStyle/>
          <a:p>
            <a:pPr lvl="0"/>
            <a:r>
              <a:rPr/>
              <a:t>To classify a new point, find the </a:t>
            </a:r>
            <a:r>
              <a:rPr b="1"/>
              <a:t>k closest</a:t>
            </a:r>
            <a:r>
              <a:rPr/>
              <a:t> training points and take the majority vote</a:t>
            </a:r>
          </a:p>
          <a:p>
            <a:pPr lvl="0"/>
            <a:r>
              <a:rPr/>
              <a:t>There is no training step: “fitting” means </a:t>
            </a:r>
            <a:r>
              <a:rPr b="1"/>
              <a:t>storing the data</a:t>
            </a:r>
          </a:p>
          <a:p>
            <a:pPr lvl="0"/>
            <a:r>
              <a:rPr/>
              <a:t>Called a </a:t>
            </a:r>
            <a:r>
              <a:rPr b="1"/>
              <a:t>lazy learner</a:t>
            </a:r>
            <a:r>
              <a:rPr/>
              <a:t> — an unusually honest name for an algorithm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Distance is all it has</a:t>
            </a:r>
          </a:p>
        </p:txBody>
      </p:sp>
      <p:pic>
        <p:nvPicPr>
          <p:cNvPr descr="eq_7bac60d965.png" id="0" name="Picture 1"/>
          <p:cNvPicPr>
            <a:picLocks noGrp="1" noChangeAspect="1"/>
          </p:cNvPicPr>
          <p:nvPr/>
        </p:nvPicPr>
        <p:blipFill>
          <a:blip r:embed="rId3"/>
          <a:stretch>
            <a:fillRect/>
          </a:stretch>
        </p:blipFill>
        <p:spPr bwMode="auto">
          <a:xfrm>
            <a:off x="457200" y="1677789"/>
            <a:ext cx="8229600" cy="23368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Scale first, or vibration decides everything</a:t>
            </a:r>
          </a:p>
        </p:txBody>
      </p:sp>
      <p:sp>
        <p:nvSpPr>
          <p:cNvPr id="3" name="Content Placeholder 2"/>
          <p:cNvSpPr>
            <a:spLocks noGrp="1"/>
          </p:cNvSpPr>
          <p:nvPr>
            <p:ph idx="1"/>
          </p:nvPr>
        </p:nvSpPr>
        <p:spPr>
          <a:xfrm>
            <a:off x="457200" y="1200151"/>
            <a:ext cx="8229600" cy="3394472"/>
          </a:xfrm>
        </p:spPr>
        <p:txBody>
          <a:bodyPr/>
          <a:lstStyle/>
          <a:p>
            <a:pPr lvl="0"/>
            <a:r>
              <a:rPr/>
              <a:t>Vibration runs over </a:t>
            </a:r>
            <a:r>
              <a:rPr b="1"/>
              <a:t>tens of Hz</a:t>
            </a:r>
            <a:r>
              <a:rPr/>
              <a:t>; pressure over </a:t>
            </a:r>
            <a:r>
              <a:rPr b="1"/>
              <a:t>a couple of bar</a:t>
            </a:r>
          </a:p>
          <a:p>
            <a:pPr lvl="0"/>
            <a:r>
              <a:rPr/>
              <a:t>Unscaled, a one-bar pressure difference is invisible beside a ten-Hz one</a:t>
            </a:r>
          </a:p>
          <a:p>
            <a:pPr lvl="0"/>
            <a:r>
              <a:rPr/>
              <a:t>Lesson 2’s scaling argument, arriving with </a:t>
            </a:r>
            <a:r>
              <a:rPr b="1"/>
              <a:t>immediate consequences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 is the bias-variance dial, made visible</a:t>
            </a:r>
          </a:p>
        </p:txBody>
      </p:sp>
      <p:sp>
        <p:nvSpPr>
          <p:cNvPr id="3" name="Content Placeholder 2"/>
          <p:cNvSpPr>
            <a:spLocks noGrp="1"/>
          </p:cNvSpPr>
          <p:nvPr>
            <p:ph idx="1"/>
          </p:nvPr>
        </p:nvSpPr>
        <p:spPr>
          <a:xfrm>
            <a:off x="457200" y="1200151"/>
            <a:ext cx="8229600" cy="3394472"/>
          </a:xfrm>
        </p:spPr>
        <p:txBody>
          <a:bodyPr/>
          <a:lstStyle/>
          <a:p>
            <a:pPr lvl="0"/>
            <a:r>
              <a:rPr b="1"/>
              <a:t>Small k</a:t>
            </a:r>
            <a:r>
              <a:rPr/>
              <a:t> — the boundary follows every point, mislabelled ones included. Low bias, high variance</a:t>
            </a:r>
          </a:p>
          <a:p>
            <a:pPr lvl="0"/>
            <a:r>
              <a:rPr b="1"/>
              <a:t>Large k</a:t>
            </a:r>
            <a:r>
              <a:rPr/>
              <a:t> — the vote is taken over a wide neighbourhood, and eventually stops following real structure. High bias, low variance</a:t>
            </a:r>
          </a:p>
          <a:p>
            <a:pPr lvl="0"/>
            <a:r>
              <a:rPr/>
              <a:t>At k = 1 the training accuracy is </a:t>
            </a:r>
            <a:r>
              <a:rPr b="1"/>
              <a:t>exactly 1.000</a:t>
            </a:r>
            <a:r>
              <a:rPr/>
              <a:t>. Always, on any dataset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the pumps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k</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1</a:t>
                      </a:r>
                    </a:p>
                  </a:txBody>
                </a:tc>
                <a:tc>
                  <a:txBody>
                    <a:bodyPr/>
                    <a:lstStyle/>
                    <a:p>
                      <a:pPr lvl="0" indent="0" marL="0">
                        <a:buNone/>
                      </a:pPr>
                      <a:r>
                        <a:rPr b="1"/>
                        <a:t>1.000</a:t>
                      </a:r>
                    </a:p>
                  </a:txBody>
                </a:tc>
                <a:tc>
                  <a:txBody>
                    <a:bodyPr/>
                    <a:lstStyle/>
                    <a:p>
                      <a:pPr lvl="0" indent="0" marL="0">
                        <a:buNone/>
                      </a:pPr>
                      <a:r>
                        <a:rPr/>
                        <a:t>0.912</a:t>
                      </a:r>
                    </a:p>
                  </a:txBody>
                </a:tc>
              </a:tr>
              <a:tr h="0">
                <a:tc>
                  <a:txBody>
                    <a:bodyPr/>
                    <a:lstStyle/>
                    <a:p>
                      <a:pPr lvl="0" indent="0" marL="0">
                        <a:buNone/>
                      </a:pPr>
                      <a:r>
                        <a:rPr/>
                        <a:t>5</a:t>
                      </a:r>
                    </a:p>
                  </a:txBody>
                </a:tc>
                <a:tc>
                  <a:txBody>
                    <a:bodyPr/>
                    <a:lstStyle/>
                    <a:p>
                      <a:pPr lvl="0" indent="0" marL="0">
                        <a:buNone/>
                      </a:pPr>
                      <a:r>
                        <a:rPr/>
                        <a:t>0.953</a:t>
                      </a:r>
                    </a:p>
                  </a:txBody>
                </a:tc>
                <a:tc>
                  <a:txBody>
                    <a:bodyPr/>
                    <a:lstStyle/>
                    <a:p>
                      <a:pPr lvl="0" indent="0" marL="0">
                        <a:buNone/>
                      </a:pPr>
                      <a:r>
                        <a:rPr b="1"/>
                        <a:t>0.944</a:t>
                      </a:r>
                    </a:p>
                  </a:txBody>
                </a:tc>
              </a:tr>
              <a:tr h="0">
                <a:tc>
                  <a:txBody>
                    <a:bodyPr/>
                    <a:lstStyle/>
                    <a:p>
                      <a:pPr lvl="0" indent="0" marL="0">
                        <a:buNone/>
                      </a:pPr>
                      <a:r>
                        <a:rPr/>
                        <a:t>15</a:t>
                      </a:r>
                    </a:p>
                  </a:txBody>
                </a:tc>
                <a:tc>
                  <a:txBody>
                    <a:bodyPr/>
                    <a:lstStyle/>
                    <a:p>
                      <a:pPr lvl="0" indent="0" marL="0">
                        <a:buNone/>
                      </a:pPr>
                      <a:r>
                        <a:rPr/>
                        <a:t>0.948</a:t>
                      </a:r>
                    </a:p>
                  </a:txBody>
                </a:tc>
                <a:tc>
                  <a:txBody>
                    <a:bodyPr/>
                    <a:lstStyle/>
                    <a:p>
                      <a:pPr lvl="0" indent="0" marL="0">
                        <a:buNone/>
                      </a:pPr>
                      <a:r>
                        <a:rPr/>
                        <a:t>0.938</a:t>
                      </a:r>
                    </a:p>
                  </a:txBody>
                </a:tc>
              </a:tr>
              <a:tr h="0">
                <a:tc>
                  <a:txBody>
                    <a:bodyPr/>
                    <a:lstStyle/>
                    <a:p>
                      <a:pPr lvl="0" indent="0" marL="0">
                        <a:buNone/>
                      </a:pPr>
                      <a:r>
                        <a:rPr/>
                        <a:t>51</a:t>
                      </a:r>
                    </a:p>
                  </a:txBody>
                </a:tc>
                <a:tc>
                  <a:txBody>
                    <a:bodyPr/>
                    <a:lstStyle/>
                    <a:p>
                      <a:pPr lvl="0" indent="0" marL="0">
                        <a:buNone/>
                      </a:pPr>
                      <a:r>
                        <a:rPr/>
                        <a:t>0.940</a:t>
                      </a:r>
                    </a:p>
                  </a:txBody>
                </a:tc>
                <a:tc>
                  <a:txBody>
                    <a:bodyPr/>
                    <a:lstStyle/>
                    <a:p>
                      <a:pPr lvl="0" indent="0" marL="0">
                        <a:buNone/>
                      </a:pPr>
                      <a:r>
                        <a:rPr/>
                        <a:t>0.933</a:t>
                      </a:r>
                    </a:p>
                  </a:txBody>
                </a:tc>
              </a:tr>
              <a:tr h="0">
                <a:tc>
                  <a:txBody>
                    <a:bodyPr/>
                    <a:lstStyle/>
                    <a:p>
                      <a:pPr lvl="0" indent="0" marL="0">
                        <a:buNone/>
                      </a:pPr>
                      <a:r>
                        <a:rPr/>
                        <a:t>401</a:t>
                      </a:r>
                    </a:p>
                  </a:txBody>
                </a:tc>
                <a:tc>
                  <a:txBody>
                    <a:bodyPr/>
                    <a:lstStyle/>
                    <a:p>
                      <a:pPr lvl="0" indent="0" marL="0">
                        <a:buNone/>
                      </a:pPr>
                      <a:r>
                        <a:rPr/>
                        <a:t>0.828</a:t>
                      </a:r>
                    </a:p>
                  </a:txBody>
                </a:tc>
                <a:tc>
                  <a:txBody>
                    <a:bodyPr/>
                    <a:lstStyle/>
                    <a:p>
                      <a:pPr lvl="0" indent="0" marL="0">
                        <a:buNone/>
                      </a:pPr>
                      <a:r>
                        <a:rPr/>
                        <a:t>0.708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curves, and the two lines that bound them</a:t>
            </a:r>
          </a:p>
        </p:txBody>
      </p:sp>
      <p:pic>
        <p:nvPicPr>
          <p:cNvPr descr="knn_choosing_k.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data at three values of k</a:t>
            </a:r>
          </a:p>
        </p:txBody>
      </p:sp>
      <p:pic>
        <p:nvPicPr>
          <p:cNvPr descr="knn_boundari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k-NN costs</a:t>
            </a:r>
          </a:p>
        </p:txBody>
      </p:sp>
      <p:sp>
        <p:nvSpPr>
          <p:cNvPr id="3" name="Content Placeholder 2"/>
          <p:cNvSpPr>
            <a:spLocks noGrp="1"/>
          </p:cNvSpPr>
          <p:nvPr>
            <p:ph idx="1"/>
          </p:nvPr>
        </p:nvSpPr>
        <p:spPr>
          <a:xfrm>
            <a:off x="457200" y="1200151"/>
            <a:ext cx="8229600" cy="3394472"/>
          </a:xfrm>
        </p:spPr>
        <p:txBody>
          <a:bodyPr/>
          <a:lstStyle/>
          <a:p>
            <a:pPr lvl="0"/>
            <a:r>
              <a:rPr/>
              <a:t>No training time at all — you pay at </a:t>
            </a:r>
            <a:r>
              <a:rPr b="1"/>
              <a:t>every prediction</a:t>
            </a:r>
            <a:r>
              <a:rPr/>
              <a:t> instead</a:t>
            </a:r>
          </a:p>
          <a:p>
            <a:pPr lvl="0"/>
            <a:r>
              <a:rPr/>
              <a:t>A naive implementation compares the query against </a:t>
            </a:r>
            <a:r>
              <a:rPr b="1"/>
              <a:t>every</a:t>
            </a:r>
            <a:r>
              <a:rPr/>
              <a:t> training row: </a:t>
            </a:r>
            <a:r>
              <a:rPr>
                <a:latin typeface="Courier"/>
              </a:rPr>
              <a:t>O(mn)</a:t>
            </a:r>
            <a:r>
              <a:rPr/>
              <a:t> for m rows and n features</a:t>
            </a:r>
          </a:p>
          <a:p>
            <a:pPr lvl="0"/>
            <a:r>
              <a:rPr b="1"/>
              <a:t>The model is the dataset.</a:t>
            </a:r>
            <a:r>
              <a:rPr/>
              <a:t> You cannot ship one without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price: add columns of nothing</a:t>
            </a:r>
          </a:p>
        </p:txBody>
      </p:sp>
      <p:sp>
        <p:nvSpPr>
          <p:cNvPr id="3" name="Content Placeholder 2"/>
          <p:cNvSpPr>
            <a:spLocks noGrp="1"/>
          </p:cNvSpPr>
          <p:nvPr>
            <p:ph idx="1"/>
          </p:nvPr>
        </p:nvSpPr>
        <p:spPr>
          <a:xfrm>
            <a:off x="457200" y="1200151"/>
            <a:ext cx="8229600" cy="3394472"/>
          </a:xfrm>
        </p:spPr>
        <p:txBody>
          <a:bodyPr/>
          <a:lstStyle/>
          <a:p>
            <a:pPr lvl="0"/>
            <a:r>
              <a:rPr/>
              <a:t>Extra columns of </a:t>
            </a:r>
            <a:r>
              <a:rPr b="1"/>
              <a:t>pure noise</a:t>
            </a:r>
            <a:r>
              <a:rPr/>
              <a:t>, drawn from a normal distribution</a:t>
            </a:r>
          </a:p>
          <a:p>
            <a:pPr lvl="0"/>
            <a:r>
              <a:rPr/>
              <a:t>The two real readings are </a:t>
            </a:r>
            <a:r>
              <a:rPr b="1"/>
              <a:t>untouched</a:t>
            </a:r>
            <a:r>
              <a:rPr/>
              <a:t> — the problem is exactly as solvable</a:t>
            </a:r>
          </a:p>
          <a:p>
            <a:pPr lvl="0"/>
            <a:r>
              <a:rPr/>
              <a:t>Only the number of columns changes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signal never left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Total columns</a:t>
                      </a:r>
                    </a:p>
                  </a:txBody>
                  <a:tcPr/>
                </a:tc>
                <a:tc>
                  <a:txBody>
                    <a:bodyPr/>
                    <a:lstStyle/>
                    <a:p>
                      <a:pPr lvl="0" indent="0" marL="0">
                        <a:buNone/>
                      </a:pPr>
                      <a:r>
                        <a:rPr/>
                        <a:t>Accuracy</a:t>
                      </a:r>
                    </a:p>
                  </a:txBody>
                  <a:tcPr/>
                </a:tc>
                <a:tc>
                  <a:txBody>
                    <a:bodyPr/>
                    <a:lstStyle/>
                    <a:p>
                      <a:pPr lvl="0" indent="0" marL="0">
                        <a:buNone/>
                      </a:pPr>
                      <a:r>
                        <a:rPr/>
                        <a:t>Above baseline</a:t>
                      </a:r>
                    </a:p>
                  </a:txBody>
                  <a:tcPr/>
                </a:tc>
              </a:tr>
              <a:tr h="0">
                <a:tc>
                  <a:txBody>
                    <a:bodyPr/>
                    <a:lstStyle/>
                    <a:p>
                      <a:pPr lvl="0" indent="0" marL="0">
                        <a:buNone/>
                      </a:pPr>
                      <a:r>
                        <a:rPr/>
                        <a:t>2</a:t>
                      </a:r>
                    </a:p>
                  </a:txBody>
                </a:tc>
                <a:tc>
                  <a:txBody>
                    <a:bodyPr/>
                    <a:lstStyle/>
                    <a:p>
                      <a:pPr lvl="0" indent="0" marL="0">
                        <a:buNone/>
                      </a:pPr>
                      <a:r>
                        <a:rPr/>
                        <a:t>0.938</a:t>
                      </a:r>
                    </a:p>
                  </a:txBody>
                </a:tc>
                <a:tc>
                  <a:txBody>
                    <a:bodyPr/>
                    <a:lstStyle/>
                    <a:p>
                      <a:pPr lvl="0" indent="0" marL="0">
                        <a:buNone/>
                      </a:pPr>
                      <a:r>
                        <a:rPr/>
                        <a:t>+0.325</a:t>
                      </a:r>
                    </a:p>
                  </a:txBody>
                </a:tc>
              </a:tr>
              <a:tr h="0">
                <a:tc>
                  <a:txBody>
                    <a:bodyPr/>
                    <a:lstStyle/>
                    <a:p>
                      <a:pPr lvl="0" indent="0" marL="0">
                        <a:buNone/>
                      </a:pPr>
                      <a:r>
                        <a:rPr/>
                        <a:t>12</a:t>
                      </a:r>
                    </a:p>
                  </a:txBody>
                </a:tc>
                <a:tc>
                  <a:txBody>
                    <a:bodyPr/>
                    <a:lstStyle/>
                    <a:p>
                      <a:pPr lvl="0" indent="0" marL="0">
                        <a:buNone/>
                      </a:pPr>
                      <a:r>
                        <a:rPr/>
                        <a:t>0.762</a:t>
                      </a:r>
                    </a:p>
                  </a:txBody>
                </a:tc>
                <a:tc>
                  <a:txBody>
                    <a:bodyPr/>
                    <a:lstStyle/>
                    <a:p>
                      <a:pPr lvl="0" indent="0" marL="0">
                        <a:buNone/>
                      </a:pPr>
                      <a:r>
                        <a:rPr/>
                        <a:t>+0.149</a:t>
                      </a:r>
                    </a:p>
                  </a:txBody>
                </a:tc>
              </a:tr>
              <a:tr h="0">
                <a:tc>
                  <a:txBody>
                    <a:bodyPr/>
                    <a:lstStyle/>
                    <a:p>
                      <a:pPr lvl="0" indent="0" marL="0">
                        <a:buNone/>
                      </a:pPr>
                      <a:r>
                        <a:rPr/>
                        <a:t>27</a:t>
                      </a:r>
                    </a:p>
                  </a:txBody>
                </a:tc>
                <a:tc>
                  <a:txBody>
                    <a:bodyPr/>
                    <a:lstStyle/>
                    <a:p>
                      <a:pPr lvl="0" indent="0" marL="0">
                        <a:buNone/>
                      </a:pPr>
                      <a:r>
                        <a:rPr/>
                        <a:t>0.662</a:t>
                      </a:r>
                    </a:p>
                  </a:txBody>
                </a:tc>
                <a:tc>
                  <a:txBody>
                    <a:bodyPr/>
                    <a:lstStyle/>
                    <a:p>
                      <a:pPr lvl="0" indent="0" marL="0">
                        <a:buNone/>
                      </a:pPr>
                      <a:r>
                        <a:rPr/>
                        <a:t>+0.049</a:t>
                      </a:r>
                    </a:p>
                  </a:txBody>
                </a:tc>
              </a:tr>
              <a:tr h="0">
                <a:tc>
                  <a:txBody>
                    <a:bodyPr/>
                    <a:lstStyle/>
                    <a:p>
                      <a:pPr lvl="0" indent="0" marL="0">
                        <a:buNone/>
                      </a:pPr>
                      <a:r>
                        <a:rPr/>
                        <a:t>52</a:t>
                      </a:r>
                    </a:p>
                  </a:txBody>
                </a:tc>
                <a:tc>
                  <a:txBody>
                    <a:bodyPr/>
                    <a:lstStyle/>
                    <a:p>
                      <a:pPr lvl="0" indent="0" marL="0">
                        <a:buNone/>
                      </a:pPr>
                      <a:r>
                        <a:rPr/>
                        <a:t>0.602</a:t>
                      </a:r>
                    </a:p>
                  </a:txBody>
                </a:tc>
                <a:tc>
                  <a:txBody>
                    <a:bodyPr/>
                    <a:lstStyle/>
                    <a:p>
                      <a:pPr lvl="0" indent="0" marL="0">
                        <a:buNone/>
                      </a:pPr>
                      <a:r>
                        <a:rPr b="1"/>
                        <a:t>−0.011</a:t>
                      </a:r>
                    </a:p>
                  </a:txBody>
                </a:tc>
              </a:tr>
              <a:tr h="0">
                <a:tc>
                  <a:txBody>
                    <a:bodyPr/>
                    <a:lstStyle/>
                    <a:p>
                      <a:pPr lvl="0" indent="0" marL="0">
                        <a:buNone/>
                      </a:pPr>
                      <a:r>
                        <a:rPr/>
                        <a:t>102</a:t>
                      </a:r>
                    </a:p>
                  </a:txBody>
                </a:tc>
                <a:tc>
                  <a:txBody>
                    <a:bodyPr/>
                    <a:lstStyle/>
                    <a:p>
                      <a:pPr lvl="0" indent="0" marL="0">
                        <a:buNone/>
                      </a:pPr>
                      <a:r>
                        <a:rPr/>
                        <a:t>0.578</a:t>
                      </a:r>
                    </a:p>
                  </a:txBody>
                </a:tc>
                <a:tc>
                  <a:txBody>
                    <a:bodyPr/>
                    <a:lstStyle/>
                    <a:p>
                      <a:pPr lvl="0" indent="0" marL="0">
                        <a:buNone/>
                      </a:pPr>
                      <a:r>
                        <a:rPr/>
                        <a:t>−0.035</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distances stop varying</a:t>
            </a:r>
          </a:p>
        </p:txBody>
      </p:sp>
      <p:sp>
        <p:nvSpPr>
          <p:cNvPr id="3" name="Content Placeholder 2"/>
          <p:cNvSpPr>
            <a:spLocks noGrp="1"/>
          </p:cNvSpPr>
          <p:nvPr>
            <p:ph idx="1"/>
          </p:nvPr>
        </p:nvSpPr>
        <p:spPr>
          <a:xfrm>
            <a:off x="457200" y="1200151"/>
            <a:ext cx="8229600" cy="3394472"/>
          </a:xfrm>
        </p:spPr>
        <p:txBody>
          <a:bodyPr/>
          <a:lstStyle/>
          <a:p>
            <a:pPr lvl="0"/>
            <a:r>
              <a:rPr/>
              <a:t>Scatter points in a cube, pick one, measure its </a:t>
            </a:r>
            <a:r>
              <a:rPr b="1"/>
              <a:t>nearest</a:t>
            </a:r>
            <a:r>
              <a:rPr/>
              <a:t> and its </a:t>
            </a:r>
            <a:r>
              <a:rPr b="1"/>
              <a:t>farthest</a:t>
            </a:r>
            <a:r>
              <a:rPr/>
              <a:t> neighbour</a:t>
            </a:r>
          </a:p>
          <a:p>
            <a:pPr lvl="0"/>
            <a:r>
              <a:rPr/>
              <a:t>In two dimensions those are very different numbers — which is what makes “nearest” a meaningful word</a:t>
            </a:r>
          </a:p>
          <a:p>
            <a:pPr lvl="0"/>
            <a:r>
              <a:rPr/>
              <a:t>Each new dimension adds its own squared difference, and the contributions </a:t>
            </a:r>
            <a:r>
              <a:rPr b="1"/>
              <a:t>average 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nearest point stops being near</a:t>
            </a:r>
          </a:p>
        </p:txBody>
      </p:sp>
      <p:pic>
        <p:nvPicPr>
          <p:cNvPr descr="distance_concentration.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Nearest divided by farthest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Dimensions</a:t>
                      </a:r>
                    </a:p>
                  </a:txBody>
                  <a:tcPr/>
                </a:tc>
                <a:tc>
                  <a:txBody>
                    <a:bodyPr/>
                    <a:lstStyle/>
                    <a:p>
                      <a:pPr lvl="0" indent="0" marL="0">
                        <a:buNone/>
                      </a:pPr>
                      <a:r>
                        <a:rPr/>
                        <a:t>nearest ÷ farthest</a:t>
                      </a:r>
                    </a:p>
                  </a:txBody>
                  <a:tcPr/>
                </a:tc>
              </a:tr>
              <a:tr h="0">
                <a:tc>
                  <a:txBody>
                    <a:bodyPr/>
                    <a:lstStyle/>
                    <a:p>
                      <a:pPr lvl="0" indent="0" marL="0">
                        <a:buNone/>
                      </a:pPr>
                      <a:r>
                        <a:rPr/>
                        <a:t>2</a:t>
                      </a:r>
                    </a:p>
                  </a:txBody>
                </a:tc>
                <a:tc>
                  <a:txBody>
                    <a:bodyPr/>
                    <a:lstStyle/>
                    <a:p>
                      <a:pPr lvl="0" indent="0" marL="0">
                        <a:buNone/>
                      </a:pPr>
                      <a:r>
                        <a:rPr/>
                        <a:t>0.016</a:t>
                      </a:r>
                    </a:p>
                  </a:txBody>
                </a:tc>
              </a:tr>
              <a:tr h="0">
                <a:tc>
                  <a:txBody>
                    <a:bodyPr/>
                    <a:lstStyle/>
                    <a:p>
                      <a:pPr lvl="0" indent="0" marL="0">
                        <a:buNone/>
                      </a:pPr>
                      <a:r>
                        <a:rPr/>
                        <a:t>10</a:t>
                      </a:r>
                    </a:p>
                  </a:txBody>
                </a:tc>
                <a:tc>
                  <a:txBody>
                    <a:bodyPr/>
                    <a:lstStyle/>
                    <a:p>
                      <a:pPr lvl="0" indent="0" marL="0">
                        <a:buNone/>
                      </a:pPr>
                      <a:r>
                        <a:rPr/>
                        <a:t>0.263</a:t>
                      </a:r>
                    </a:p>
                  </a:txBody>
                </a:tc>
              </a:tr>
              <a:tr h="0">
                <a:tc>
                  <a:txBody>
                    <a:bodyPr/>
                    <a:lstStyle/>
                    <a:p>
                      <a:pPr lvl="0" indent="0" marL="0">
                        <a:buNone/>
                      </a:pPr>
                      <a:r>
                        <a:rPr/>
                        <a:t>50</a:t>
                      </a:r>
                    </a:p>
                  </a:txBody>
                </a:tc>
                <a:tc>
                  <a:txBody>
                    <a:bodyPr/>
                    <a:lstStyle/>
                    <a:p>
                      <a:pPr lvl="0" indent="0" marL="0">
                        <a:buNone/>
                      </a:pPr>
                      <a:r>
                        <a:rPr/>
                        <a:t>0.592</a:t>
                      </a:r>
                    </a:p>
                  </a:txBody>
                </a:tc>
              </a:tr>
              <a:tr h="0">
                <a:tc>
                  <a:txBody>
                    <a:bodyPr/>
                    <a:lstStyle/>
                    <a:p>
                      <a:pPr lvl="0" indent="0" marL="0">
                        <a:buNone/>
                      </a:pPr>
                      <a:r>
                        <a:rPr/>
                        <a:t>100</a:t>
                      </a:r>
                    </a:p>
                  </a:txBody>
                </a:tc>
                <a:tc>
                  <a:txBody>
                    <a:bodyPr/>
                    <a:lstStyle/>
                    <a:p>
                      <a:pPr lvl="0" indent="0" marL="0">
                        <a:buNone/>
                      </a:pPr>
                      <a:r>
                        <a:rPr b="1"/>
                        <a:t>0.701</a:t>
                      </a:r>
                    </a:p>
                  </a:txBody>
                </a:tc>
              </a:tr>
              <a:tr h="0">
                <a:tc>
                  <a:txBody>
                    <a:bodyPr/>
                    <a:lstStyle/>
                    <a:p>
                      <a:pPr lvl="0" indent="0" marL="0">
                        <a:buNone/>
                      </a:pPr>
                      <a:r>
                        <a:rPr/>
                        <a:t>500</a:t>
                      </a:r>
                    </a:p>
                  </a:txBody>
                </a:tc>
                <a:tc>
                  <a:txBody>
                    <a:bodyPr/>
                    <a:lstStyle/>
                    <a:p>
                      <a:pPr lvl="0" indent="0" marL="0">
                        <a:buNone/>
                      </a:pPr>
                      <a:r>
                        <a:rPr/>
                        <a:t>0.855</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 100 dimensions the nearest point is 70% as far as the farthest</a:t>
            </a:r>
          </a:p>
        </p:txBody>
      </p:sp>
      <p:sp>
        <p:nvSpPr>
          <p:cNvPr id="3" name="Content Placeholder 2"/>
          <p:cNvSpPr>
            <a:spLocks noGrp="1"/>
          </p:cNvSpPr>
          <p:nvPr>
            <p:ph idx="1"/>
          </p:nvPr>
        </p:nvSpPr>
        <p:spPr>
          <a:xfrm>
            <a:off x="457200" y="1200151"/>
            <a:ext cx="8229600" cy="3394472"/>
          </a:xfrm>
        </p:spPr>
        <p:txBody>
          <a:bodyPr/>
          <a:lstStyle/>
          <a:p>
            <a:pPr lvl="0"/>
            <a:r>
              <a:rPr/>
              <a:t>In </a:t>
            </a:r>
            <a:r>
              <a:rPr b="1"/>
              <a:t>two</a:t>
            </a:r>
            <a:r>
              <a:rPr/>
              <a:t> dimensions it is </a:t>
            </a:r>
            <a:r>
              <a:rPr b="1"/>
              <a:t>2%</a:t>
            </a:r>
            <a:r>
              <a:rPr/>
              <a:t> — “nearest” picks out something special</a:t>
            </a:r>
          </a:p>
          <a:p>
            <a:pPr lvl="0"/>
            <a:r>
              <a:rPr/>
              <a:t>In </a:t>
            </a:r>
            <a:r>
              <a:rPr b="1"/>
              <a:t>one hundred</a:t>
            </a:r>
            <a:r>
              <a:rPr/>
              <a:t> it is </a:t>
            </a:r>
            <a:r>
              <a:rPr b="1"/>
              <a:t>70%</a:t>
            </a:r>
            <a:r>
              <a:rPr/>
              <a:t> — the nearest point is barely nearer than a random one</a:t>
            </a:r>
          </a:p>
          <a:p>
            <a:pPr lvl="0"/>
            <a:r>
              <a:rPr/>
              <a:t>A vote among “the five nearest” becomes a vote among five taken at random</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curse is, and is not</a:t>
            </a:r>
          </a:p>
        </p:txBody>
      </p:sp>
      <p:sp>
        <p:nvSpPr>
          <p:cNvPr id="3" name="Content Placeholder 2"/>
          <p:cNvSpPr>
            <a:spLocks noGrp="1"/>
          </p:cNvSpPr>
          <p:nvPr>
            <p:ph idx="1"/>
          </p:nvPr>
        </p:nvSpPr>
        <p:spPr>
          <a:xfrm>
            <a:off x="457200" y="1200151"/>
            <a:ext cx="8229600" cy="3394472"/>
          </a:xfrm>
        </p:spPr>
        <p:txBody>
          <a:bodyPr/>
          <a:lstStyle/>
          <a:p>
            <a:pPr lvl="0"/>
            <a:r>
              <a:rPr b="1"/>
              <a:t>Not</a:t>
            </a:r>
            <a:r>
              <a:rPr/>
              <a:t> that high-dimensional problems are unlearnable — lesson 9’s networks work in thousands of dimensions</a:t>
            </a:r>
          </a:p>
          <a:p>
            <a:pPr lvl="0"/>
            <a:r>
              <a:rPr/>
              <a:t>That </a:t>
            </a:r>
            <a:r>
              <a:rPr b="1"/>
              <a:t>methods built on distance lose their footing</a:t>
            </a:r>
            <a:r>
              <a:rPr/>
              <a:t>, because the quantity they depend on stops varying</a:t>
            </a:r>
          </a:p>
          <a:p>
            <a:pPr lvl="0"/>
            <a:r>
              <a:rPr/>
              <a:t>k-NN, k-means (lesson 8), and radial basis function (RBF) kernels — all of them</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k-NN on the pumps, choosing k, and the curse measured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Naive Bayes: turn the question around</a:t>
            </a:r>
          </a:p>
        </p:txBody>
      </p:sp>
      <p:sp>
        <p:nvSpPr>
          <p:cNvPr id="3" name="Content Placeholder 2"/>
          <p:cNvSpPr>
            <a:spLocks noGrp="1"/>
          </p:cNvSpPr>
          <p:nvPr>
            <p:ph idx="1"/>
          </p:nvPr>
        </p:nvSpPr>
        <p:spPr>
          <a:xfrm>
            <a:off x="457200" y="1200151"/>
            <a:ext cx="8229600" cy="3394472"/>
          </a:xfrm>
        </p:spPr>
        <p:txBody>
          <a:bodyPr/>
          <a:lstStyle/>
          <a:p>
            <a:pPr lvl="0"/>
            <a:r>
              <a:rPr/>
              <a:t>We want the probability of the class </a:t>
            </a:r>
            <a:r>
              <a:rPr b="1"/>
              <a:t>given</a:t>
            </a:r>
            <a:r>
              <a:rPr/>
              <a:t> the readings</a:t>
            </a:r>
          </a:p>
          <a:p>
            <a:pPr lvl="0"/>
            <a:r>
              <a:rPr/>
              <a:t>The prior is a count; the denominator is identical across classes and cancels</a:t>
            </a:r>
          </a:p>
          <a:p>
            <a:pPr lvl="0"/>
            <a:r>
              <a:rPr/>
              <a:t>Everything hard sits in one term: the probability of </a:t>
            </a:r>
            <a:r>
              <a:rPr b="1"/>
              <a:t>this exact combination of readings</a:t>
            </a:r>
            <a:r>
              <a:rPr/>
              <a:t> among examples of that class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Bayes’ rule, applied to a class</a:t>
            </a:r>
          </a:p>
        </p:txBody>
      </p:sp>
      <p:pic>
        <p:nvPicPr>
          <p:cNvPr descr="eq_fa22d51d8d.png" id="0" name="Picture 1"/>
          <p:cNvPicPr>
            <a:picLocks noGrp="1" noChangeAspect="1"/>
          </p:cNvPicPr>
          <p:nvPr/>
        </p:nvPicPr>
        <p:blipFill>
          <a:blip r:embed="rId3"/>
          <a:stretch>
            <a:fillRect/>
          </a:stretch>
        </p:blipFill>
        <p:spPr bwMode="auto">
          <a:xfrm>
            <a:off x="457200" y="2281039"/>
            <a:ext cx="8229600" cy="1130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assumption: independent, given the class</a:t>
            </a:r>
          </a:p>
        </p:txBody>
      </p:sp>
      <p:sp>
        <p:nvSpPr>
          <p:cNvPr id="3" name="Content Placeholder 2"/>
          <p:cNvSpPr>
            <a:spLocks noGrp="1"/>
          </p:cNvSpPr>
          <p:nvPr>
            <p:ph idx="1"/>
          </p:nvPr>
        </p:nvSpPr>
        <p:spPr>
          <a:xfrm>
            <a:off x="457200" y="1200151"/>
            <a:ext cx="8229600" cy="3394472"/>
          </a:xfrm>
        </p:spPr>
        <p:txBody>
          <a:bodyPr/>
          <a:lstStyle/>
          <a:p>
            <a:pPr lvl="0"/>
            <a:r>
              <a:rPr b="1"/>
              <a:t>Given the class, the features are independent of one another</a:t>
            </a:r>
          </a:p>
          <a:p>
            <a:pPr lvl="0"/>
            <a:r>
              <a:rPr/>
              <a:t>The joint density then factorises into n one-dimensional densities</a:t>
            </a:r>
          </a:p>
          <a:p>
            <a:pPr lvl="0"/>
            <a:r>
              <a:rPr/>
              <a:t>Each factor is estimated from the rows of that class alone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factorisation the assumption buys</a:t>
            </a:r>
          </a:p>
        </p:txBody>
      </p:sp>
      <p:pic>
        <p:nvPicPr>
          <p:cNvPr descr="eq_9c5369810c.png" id="0" name="Picture 1"/>
          <p:cNvPicPr>
            <a:picLocks noGrp="1" noChangeAspect="1"/>
          </p:cNvPicPr>
          <p:nvPr/>
        </p:nvPicPr>
        <p:blipFill>
          <a:blip r:embed="rId3"/>
          <a:stretch>
            <a:fillRect/>
          </a:stretch>
        </p:blipFill>
        <p:spPr bwMode="auto">
          <a:xfrm>
            <a:off x="457200" y="1925439"/>
            <a:ext cx="8229600" cy="18415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wonderful bargain, and almost never true</a:t>
            </a:r>
          </a:p>
        </p:txBody>
      </p:sp>
      <p:sp>
        <p:nvSpPr>
          <p:cNvPr id="3" name="Content Placeholder 2"/>
          <p:cNvSpPr>
            <a:spLocks noGrp="1"/>
          </p:cNvSpPr>
          <p:nvPr>
            <p:ph idx="1"/>
          </p:nvPr>
        </p:nvSpPr>
        <p:spPr>
          <a:xfrm>
            <a:off x="457200" y="1200151"/>
            <a:ext cx="8229600" cy="3394472"/>
          </a:xfrm>
        </p:spPr>
        <p:txBody>
          <a:bodyPr/>
          <a:lstStyle/>
          <a:p>
            <a:pPr lvl="0"/>
            <a:r>
              <a:rPr/>
              <a:t>Training is </a:t>
            </a:r>
            <a:r>
              <a:rPr b="1"/>
              <a:t>a single pass</a:t>
            </a:r>
            <a:r>
              <a:rPr/>
              <a:t>; adding features costs almost nothing</a:t>
            </a:r>
          </a:p>
          <a:p>
            <a:pPr lvl="0"/>
            <a:r>
              <a:rPr/>
              <a:t>But vibration and pressure are both driven by the operating point</a:t>
            </a:r>
          </a:p>
          <a:p>
            <a:pPr lvl="0"/>
            <a:r>
              <a:rPr/>
              <a:t>“New” is not independent of “York” given the topic. Symptoms co-occur</a:t>
            </a:r>
          </a:p>
          <a:p>
            <a:pPr lvl="0"/>
            <a:r>
              <a:rPr/>
              <a:t>So the question is not whether it holds — it is </a:t>
            </a:r>
            <a:r>
              <a:rPr b="1"/>
              <a:t>when being wrong about it costs you nothing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pumps, it scores 0.933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0.613</a:t>
                      </a:r>
                    </a:p>
                  </a:txBody>
                </a:tc>
              </a:tr>
              <a:tr h="0">
                <a:tc>
                  <a:txBody>
                    <a:bodyPr/>
                    <a:lstStyle/>
                    <a:p>
                      <a:pPr lvl="0" indent="0" marL="0">
                        <a:buNone/>
                      </a:pPr>
                      <a:r>
                        <a:rPr b="1"/>
                        <a:t>Gaussian Naive Bayes</a:t>
                      </a:r>
                    </a:p>
                  </a:txBody>
                </a:tc>
                <a:tc>
                  <a:txBody>
                    <a:bodyPr/>
                    <a:lstStyle/>
                    <a:p>
                      <a:pPr lvl="0" indent="0" marL="0">
                        <a:buNone/>
                      </a:pPr>
                      <a:r>
                        <a:rPr b="1"/>
                        <a:t>0.933</a:t>
                      </a:r>
                    </a:p>
                  </a:txBody>
                </a:tc>
              </a:tr>
              <a:tr h="0">
                <a:tc>
                  <a:txBody>
                    <a:bodyPr/>
                    <a:lstStyle/>
                    <a:p>
                      <a:pPr lvl="0" indent="0" marL="0">
                        <a:buNone/>
                      </a:pPr>
                      <a:r>
                        <a:rPr/>
                        <a:t>k-NN, k = 5</a:t>
                      </a:r>
                    </a:p>
                  </a:txBody>
                </a:tc>
                <a:tc>
                  <a:txBody>
                    <a:bodyPr/>
                    <a:lstStyle/>
                    <a:p>
                      <a:pPr lvl="0" indent="0" marL="0">
                        <a:buNone/>
                      </a:pPr>
                      <a:r>
                        <a:rPr/>
                        <a:t>0.944</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Because here the assumption is true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Correlation between the two readings</a:t>
                      </a:r>
                    </a:p>
                  </a:txBody>
                  <a:tcPr/>
                </a:tc>
                <a:tc>
                  <a:txBody>
                    <a:bodyPr/>
                    <a:lstStyle/>
                    <a:p>
                      <a:pPr lvl="0" indent="0" marL="0">
                        <a:buNone/>
                      </a:pPr>
                      <a:r>
                        <a:rPr/>
                        <a:t>Value</a:t>
                      </a:r>
                    </a:p>
                  </a:txBody>
                  <a:tcPr/>
                </a:tc>
              </a:tr>
              <a:tr h="0">
                <a:tc>
                  <a:txBody>
                    <a:bodyPr/>
                    <a:lstStyle/>
                    <a:p>
                      <a:pPr lvl="0" indent="0" marL="0">
                        <a:buNone/>
                      </a:pPr>
                      <a:r>
                        <a:rPr/>
                        <a:t>overall</a:t>
                      </a:r>
                    </a:p>
                  </a:txBody>
                </a:tc>
                <a:tc>
                  <a:txBody>
                    <a:bodyPr/>
                    <a:lstStyle/>
                    <a:p>
                      <a:pPr lvl="0" indent="0" marL="0">
                        <a:buNone/>
                      </a:pPr>
                      <a:r>
                        <a:rPr/>
                        <a:t>−0.046</a:t>
                      </a:r>
                    </a:p>
                  </a:txBody>
                </a:tc>
              </a:tr>
              <a:tr h="0">
                <a:tc>
                  <a:txBody>
                    <a:bodyPr/>
                    <a:lstStyle/>
                    <a:p>
                      <a:pPr lvl="0" indent="0" marL="0">
                        <a:buNone/>
                      </a:pPr>
                      <a:r>
                        <a:rPr/>
                        <a:t>within healthy pumps</a:t>
                      </a:r>
                    </a:p>
                  </a:txBody>
                </a:tc>
                <a:tc>
                  <a:txBody>
                    <a:bodyPr/>
                    <a:lstStyle/>
                    <a:p>
                      <a:pPr lvl="0" indent="0" marL="0">
                        <a:buNone/>
                      </a:pPr>
                      <a:r>
                        <a:rPr b="1"/>
                        <a:t>−0.006</a:t>
                      </a:r>
                    </a:p>
                  </a:txBody>
                </a:tc>
              </a:tr>
              <a:tr h="0">
                <a:tc>
                  <a:txBody>
                    <a:bodyPr/>
                    <a:lstStyle/>
                    <a:p>
                      <a:pPr lvl="0" indent="0" marL="0">
                        <a:buNone/>
                      </a:pPr>
                      <a:r>
                        <a:rPr/>
                        <a:t>within faulty pumps</a:t>
                      </a:r>
                    </a:p>
                  </a:txBody>
                </a:tc>
                <a:tc>
                  <a:txBody>
                    <a:bodyPr/>
                    <a:lstStyle/>
                    <a:p>
                      <a:pPr lvl="0" indent="0" marL="0">
                        <a:buNone/>
                      </a:pPr>
                      <a:r>
                        <a:rPr b="1"/>
                        <a:t>−0.049</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away: when the signal is an interaction</a:t>
            </a:r>
          </a:p>
        </p:txBody>
      </p:sp>
      <p:sp>
        <p:nvSpPr>
          <p:cNvPr id="3" name="Content Placeholder 2"/>
          <p:cNvSpPr>
            <a:spLocks noGrp="1"/>
          </p:cNvSpPr>
          <p:nvPr>
            <p:ph idx="1"/>
          </p:nvPr>
        </p:nvSpPr>
        <p:spPr>
          <a:xfrm>
            <a:off x="457200" y="1200151"/>
            <a:ext cx="8229600" cy="3394472"/>
          </a:xfrm>
        </p:spPr>
        <p:txBody>
          <a:bodyPr/>
          <a:lstStyle/>
          <a:p>
            <a:pPr lvl="0"/>
            <a:r>
              <a:rPr/>
              <a:t>A second pair of sensors on the same fleet</a:t>
            </a:r>
          </a:p>
          <a:p>
            <a:pPr lvl="0"/>
            <a:r>
              <a:rPr/>
              <a:t>Faulty when </a:t>
            </a:r>
            <a:r>
              <a:rPr b="1"/>
              <a:t>exactly one</a:t>
            </a:r>
            <a:r>
              <a:rPr/>
              <a:t> of the two readings is high</a:t>
            </a:r>
          </a:p>
          <a:p>
            <a:pPr lvl="0"/>
            <a:r>
              <a:rPr/>
              <a:t>Both high is the designed high-load mode; both low is idle; one without the other is a mismatch between demand and delivery</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Naive Bayes gets to see</a:t>
            </a:r>
          </a:p>
        </p:txBody>
      </p:sp>
      <p:pic>
        <p:nvPicPr>
          <p:cNvPr descr="interaction_marginals.png" id="0" name="Picture 1"/>
          <p:cNvPicPr>
            <a:picLocks noGrp="1" noChangeAspect="1"/>
          </p:cNvPicPr>
          <p:nvPr/>
        </p:nvPicPr>
        <p:blipFill>
          <a:blip r:embed="rId3"/>
          <a:stretch>
            <a:fillRect/>
          </a:stretch>
        </p:blipFill>
        <p:spPr bwMode="auto">
          <a:xfrm>
            <a:off x="457200" y="1607939"/>
            <a:ext cx="8229600" cy="24765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0.404 — below the baseline, and below chance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0.523</a:t>
                      </a:r>
                    </a:p>
                  </a:txBody>
                </a:tc>
              </a:tr>
              <a:tr h="0">
                <a:tc>
                  <a:txBody>
                    <a:bodyPr/>
                    <a:lstStyle/>
                    <a:p>
                      <a:pPr lvl="0" indent="0" marL="0">
                        <a:buNone/>
                      </a:pPr>
                      <a:r>
                        <a:rPr b="1"/>
                        <a:t>Gaussian Naive Bayes</a:t>
                      </a:r>
                    </a:p>
                  </a:txBody>
                </a:tc>
                <a:tc>
                  <a:txBody>
                    <a:bodyPr/>
                    <a:lstStyle/>
                    <a:p>
                      <a:pPr lvl="0" indent="0" marL="0">
                        <a:buNone/>
                      </a:pPr>
                      <a:r>
                        <a:rPr b="1"/>
                        <a:t>0.404</a:t>
                      </a:r>
                    </a:p>
                  </a:txBody>
                </a:tc>
              </a:tr>
              <a:tr h="0">
                <a:tc>
                  <a:txBody>
                    <a:bodyPr/>
                    <a:lstStyle/>
                    <a:p>
                      <a:pPr lvl="0" indent="0" marL="0">
                        <a:buNone/>
                      </a:pPr>
                      <a:r>
                        <a:rPr/>
                        <a:t>Logistic regression</a:t>
                      </a:r>
                    </a:p>
                  </a:txBody>
                </a:tc>
                <a:tc>
                  <a:txBody>
                    <a:bodyPr/>
                    <a:lstStyle/>
                    <a:p>
                      <a:pPr lvl="0" indent="0" marL="0">
                        <a:buNone/>
                      </a:pPr>
                      <a:r>
                        <a:rPr/>
                        <a:t>0.393</a:t>
                      </a:r>
                    </a:p>
                  </a:txBody>
                </a:tc>
              </a:tr>
              <a:tr h="0">
                <a:tc>
                  <a:txBody>
                    <a:bodyPr/>
                    <a:lstStyle/>
                    <a:p>
                      <a:pPr lvl="0" indent="0" marL="0">
                        <a:buNone/>
                      </a:pPr>
                      <a:r>
                        <a:rPr/>
                        <a:t>SVM, linear kernel</a:t>
                      </a:r>
                    </a:p>
                  </a:txBody>
                </a:tc>
                <a:tc>
                  <a:txBody>
                    <a:bodyPr/>
                    <a:lstStyle/>
                    <a:p>
                      <a:pPr lvl="0" indent="0" marL="0">
                        <a:buNone/>
                      </a:pPr>
                      <a:r>
                        <a:rPr/>
                        <a:t>0.606</a:t>
                      </a:r>
                    </a:p>
                  </a:txBody>
                </a:tc>
              </a:tr>
              <a:tr h="0">
                <a:tc>
                  <a:txBody>
                    <a:bodyPr/>
                    <a:lstStyle/>
                    <a:p>
                      <a:pPr lvl="0" indent="0" marL="0">
                        <a:buNone/>
                      </a:pPr>
                      <a:r>
                        <a:rPr/>
                        <a:t>k-NN, k = 5</a:t>
                      </a:r>
                    </a:p>
                  </a:txBody>
                </a:tc>
                <a:tc>
                  <a:txBody>
                    <a:bodyPr/>
                    <a:lstStyle/>
                    <a:p>
                      <a:pPr lvl="0" indent="0" marL="0">
                        <a:buNone/>
                      </a:pPr>
                      <a:r>
                        <a:rPr/>
                        <a:t>0.967</a:t>
                      </a:r>
                    </a:p>
                  </a:txBody>
                </a:tc>
              </a:tr>
              <a:tr h="0">
                <a:tc>
                  <a:txBody>
                    <a:bodyPr/>
                    <a:lstStyle/>
                    <a:p>
                      <a:pPr lvl="0" indent="0" marL="0">
                        <a:buNone/>
                      </a:pPr>
                      <a:r>
                        <a:rPr/>
                        <a:t>SVM, RBF kernel</a:t>
                      </a:r>
                    </a:p>
                  </a:txBody>
                </a:tc>
                <a:tc>
                  <a:txBody>
                    <a:bodyPr/>
                    <a:lstStyle/>
                    <a:p>
                      <a:pPr lvl="0" indent="0" marL="0">
                        <a:buNone/>
                      </a:pPr>
                      <a:r>
                        <a:rPr/>
                        <a:t>0.972</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Its probabilities are not probabilities</a:t>
            </a:r>
          </a:p>
        </p:txBody>
      </p:sp>
      <p:sp>
        <p:nvSpPr>
          <p:cNvPr id="3" name="Content Placeholder 2"/>
          <p:cNvSpPr>
            <a:spLocks noGrp="1"/>
          </p:cNvSpPr>
          <p:nvPr>
            <p:ph idx="1"/>
          </p:nvPr>
        </p:nvSpPr>
        <p:spPr>
          <a:xfrm>
            <a:off x="457200" y="1200151"/>
            <a:ext cx="8229600" cy="3394472"/>
          </a:xfrm>
        </p:spPr>
        <p:txBody>
          <a:bodyPr/>
          <a:lstStyle/>
          <a:p>
            <a:pPr lvl="0"/>
            <a:r>
              <a:rPr/>
              <a:t>Mean confidence when </a:t>
            </a:r>
            <a:r>
              <a:rPr b="1"/>
              <a:t>correct: 0.567</a:t>
            </a:r>
            <a:r>
              <a:rPr/>
              <a:t>. When </a:t>
            </a:r>
            <a:r>
              <a:rPr b="1"/>
              <a:t>wrong: 0.555</a:t>
            </a:r>
          </a:p>
          <a:p>
            <a:pPr lvl="0"/>
            <a:r>
              <a:rPr/>
              <a:t>It cannot tell the difference between the two situations</a:t>
            </a:r>
          </a:p>
          <a:p>
            <a:pPr lvl="0"/>
            <a:r>
              <a:rPr/>
              <a:t>With correlated features it fails the other way — 0.999 reported, with an accuracy nothing like that</a:t>
            </a:r>
          </a:p>
          <a:p>
            <a:pPr lvl="0"/>
            <a:r>
              <a:rPr b="1"/>
              <a:t>The ranking may be useful while the probabilities are not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Where the assumption holds, and one step away where it does not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margin: a criterion that is not the error</a:t>
            </a:r>
          </a:p>
        </p:txBody>
      </p:sp>
      <p:sp>
        <p:nvSpPr>
          <p:cNvPr id="3" name="Content Placeholder 2"/>
          <p:cNvSpPr>
            <a:spLocks noGrp="1"/>
          </p:cNvSpPr>
          <p:nvPr>
            <p:ph idx="1"/>
          </p:nvPr>
        </p:nvSpPr>
        <p:spPr>
          <a:xfrm>
            <a:off x="457200" y="1200151"/>
            <a:ext cx="8229600" cy="3394472"/>
          </a:xfrm>
        </p:spPr>
        <p:txBody>
          <a:bodyPr/>
          <a:lstStyle/>
          <a:p>
            <a:pPr lvl="0"/>
            <a:r>
              <a:rPr/>
              <a:t>On separable data there are </a:t>
            </a:r>
            <a:r>
              <a:rPr b="1"/>
              <a:t>infinitely many</a:t>
            </a:r>
            <a:r>
              <a:rPr/>
              <a:t> separating lines, and every one has </a:t>
            </a:r>
            <a:r>
              <a:rPr b="1"/>
              <a:t>zero training error</a:t>
            </a:r>
          </a:p>
          <a:p>
            <a:pPr lvl="0"/>
            <a:r>
              <a:rPr/>
              <a:t>Minimising the error therefore cannot choose between them</a:t>
            </a:r>
          </a:p>
          <a:p>
            <a:pPr lvl="0"/>
            <a:r>
              <a:rPr/>
              <a:t>The SVM picks the widest </a:t>
            </a:r>
            <a:r>
              <a:rPr b="1"/>
              <a:t>slab</a:t>
            </a:r>
            <a:r>
              <a:rPr/>
              <a:t>: push it out until it touches the nearest point of each class</a:t>
            </a:r>
          </a:p>
          <a:p>
            <a:pPr lvl="0"/>
            <a:r>
              <a:rPr/>
              <a:t>A boundary passing close to a point is one small perturbation from getting it wrong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points decide everything</a:t>
            </a:r>
          </a:p>
        </p:txBody>
      </p:sp>
      <p:pic>
        <p:nvPicPr>
          <p:cNvPr descr="svm_margin.png" id="0" name="Picture 1"/>
          <p:cNvPicPr>
            <a:picLocks noGrp="1" noChangeAspect="1"/>
          </p:cNvPicPr>
          <p:nvPr/>
        </p:nvPicPr>
        <p:blipFill>
          <a:blip r:embed="rId3"/>
          <a:stretch>
            <a:fillRect/>
          </a:stretch>
        </p:blipFill>
        <p:spPr bwMode="auto">
          <a:xfrm>
            <a:off x="2363342" y="1166099"/>
            <a:ext cx="4417316"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Not separable? Charge for the violations</a:t>
            </a:r>
          </a:p>
        </p:txBody>
      </p:sp>
      <p:sp>
        <p:nvSpPr>
          <p:cNvPr id="4" name="Text Placeholder 3"/>
          <p:cNvSpPr>
            <a:spLocks noGrp="1"/>
          </p:cNvSpPr>
          <p:nvPr>
            <p:ph idx="2" sz="half" type="body"/>
          </p:nvPr>
        </p:nvSpPr>
        <p:spPr>
          <a:xfrm>
            <a:off x="457200" y="1183005"/>
            <a:ext cx="8229600" cy="2185987"/>
          </a:xfrm>
        </p:spPr>
        <p:txBody>
          <a:bodyPr/>
          <a:lstStyle/>
          <a:p>
            <a:pPr lvl="0"/>
            <a:r>
              <a:rPr/>
              <a:t>Our labels are 4% flipped, so the strict problem has </a:t>
            </a:r>
            <a:r>
              <a:rPr b="1"/>
              <a:t>no solution at all</a:t>
            </a:r>
          </a:p>
          <a:p>
            <a:pPr lvl="0"/>
            <a:r>
              <a:rPr/>
              <a:t>Let each point violate the margin by ξᵢ, and charge C for every unit of it</a:t>
            </a:r>
          </a:p>
          <a:p>
            <a:pPr lvl="0"/>
            <a:r>
              <a:rPr/>
              <a:t>The constraint says: be on the correct side, or pay</a:t>
            </a:r>
          </a:p>
        </p:txBody>
      </p:sp>
      <p:pic>
        <p:nvPicPr>
          <p:cNvPr descr="eq_d7392721ca.png" id="0" name="Picture 1"/>
          <p:cNvPicPr>
            <a:picLocks noGrp="1" noChangeAspect="1"/>
          </p:cNvPicPr>
          <p:nvPr/>
        </p:nvPicPr>
        <p:blipFill>
          <a:blip r:embed="rId3"/>
          <a:stretch>
            <a:fillRect/>
          </a:stretch>
        </p:blipFill>
        <p:spPr bwMode="auto">
          <a:xfrm>
            <a:off x="457202" y="3579402"/>
            <a:ext cx="8229596" cy="839337"/>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 is the price of a training error</a:t>
            </a:r>
          </a:p>
        </p:txBody>
      </p:sp>
      <p:sp>
        <p:nvSpPr>
          <p:cNvPr id="3" name="Content Placeholder 2"/>
          <p:cNvSpPr>
            <a:spLocks noGrp="1"/>
          </p:cNvSpPr>
          <p:nvPr>
            <p:ph idx="1"/>
          </p:nvPr>
        </p:nvSpPr>
        <p:spPr>
          <a:xfrm>
            <a:off x="457200" y="1200151"/>
            <a:ext cx="8229600" cy="3394472"/>
          </a:xfrm>
        </p:spPr>
        <p:txBody>
          <a:bodyPr/>
          <a:lstStyle/>
          <a:p>
            <a:pPr lvl="0"/>
            <a:r>
              <a:rPr b="1"/>
              <a:t>Large C</a:t>
            </a:r>
            <a:r>
              <a:rPr/>
              <a:t> — violations are expensive, so the model contorts to classify everything. Narrow margin, low bias, high variance</a:t>
            </a:r>
          </a:p>
          <a:p>
            <a:pPr lvl="0"/>
            <a:r>
              <a:rPr b="1"/>
              <a:t>Small C</a:t>
            </a:r>
            <a:r>
              <a:rPr/>
              <a:t> — a wider, calmer boundary, at the cost of some errors</a:t>
            </a:r>
          </a:p>
          <a:p>
            <a:pPr lvl="0"/>
            <a:r>
              <a:rPr/>
              <a:t>The same dial as k in k-NN and λ in lesson 3, in a third costume</a:t>
            </a:r>
          </a:p>
          <a:p>
            <a:pPr lvl="0"/>
            <a:r>
              <a:rPr/>
              <a:t>Note the direction: </a:t>
            </a:r>
            <a:r>
              <a:rPr b="1"/>
              <a:t>large C means less regularisation</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straight line is still a straight line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Support vectors</a:t>
                      </a:r>
                    </a:p>
                  </a:txBody>
                  <a:tcPr/>
                </a:tc>
              </a:tr>
              <a:tr h="0">
                <a:tc>
                  <a:txBody>
                    <a:bodyPr/>
                    <a:lstStyle/>
                    <a:p>
                      <a:pPr lvl="0" indent="0" marL="0">
                        <a:buNone/>
                      </a:pPr>
                      <a:r>
                        <a:rPr/>
                        <a:t>SVM, linear kernel</a:t>
                      </a:r>
                    </a:p>
                  </a:txBody>
                </a:tc>
                <a:tc>
                  <a:txBody>
                    <a:bodyPr/>
                    <a:lstStyle/>
                    <a:p>
                      <a:pPr lvl="0" indent="0" marL="0">
                        <a:buNone/>
                      </a:pPr>
                      <a:r>
                        <a:rPr b="1"/>
                        <a:t>0.613 ± 0.000</a:t>
                      </a:r>
                    </a:p>
                  </a:txBody>
                </a:tc>
                <a:tc>
                  <a:txBody>
                    <a:bodyPr/>
                    <a:lstStyle/>
                    <a:p>
                      <a:pPr lvl="0" indent="0" marL="0">
                        <a:buNone/>
                      </a:pPr>
                      <a:r>
                        <a:rPr/>
                        <a:t>947 of 1,200 (</a:t>
                      </a:r>
                      <a:r>
                        <a:rPr b="1"/>
                        <a:t>79%</a:t>
                      </a:r>
                      <a:r>
                        <a:rPr/>
                        <a:t>)</a:t>
                      </a:r>
                    </a:p>
                  </a:txBody>
                </a:tc>
              </a:tr>
              <a:tr h="0">
                <a:tc>
                  <a:txBody>
                    <a:bodyPr/>
                    <a:lstStyle/>
                    <a:p>
                      <a:pPr lvl="0" indent="0" marL="0">
                        <a:buNone/>
                      </a:pPr>
                      <a:r>
                        <a:rPr/>
                        <a:t>SVM, RBF kernel</a:t>
                      </a:r>
                    </a:p>
                  </a:txBody>
                </a:tc>
                <a:tc>
                  <a:txBody>
                    <a:bodyPr/>
                    <a:lstStyle/>
                    <a:p>
                      <a:pPr lvl="0" indent="0" marL="0">
                        <a:buNone/>
                      </a:pPr>
                      <a:r>
                        <a:rPr/>
                        <a:t>0.947 ± 0.005</a:t>
                      </a:r>
                    </a:p>
                  </a:txBody>
                </a:tc>
                <a:tc>
                  <a:txBody>
                    <a:bodyPr/>
                    <a:lstStyle/>
                    <a:p>
                      <a:pPr lvl="0" indent="0" marL="0">
                        <a:buNone/>
                      </a:pPr>
                      <a:r>
                        <a:rPr/>
                        <a:t>278 of 1,200 (23%)</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high support-vector fraction is a free warning</a:t>
            </a:r>
          </a:p>
        </p:txBody>
      </p:sp>
      <p:sp>
        <p:nvSpPr>
          <p:cNvPr id="3" name="Content Placeholder 2"/>
          <p:cNvSpPr>
            <a:spLocks noGrp="1"/>
          </p:cNvSpPr>
          <p:nvPr>
            <p:ph idx="1"/>
          </p:nvPr>
        </p:nvSpPr>
        <p:spPr>
          <a:xfrm>
            <a:off x="457200" y="1200151"/>
            <a:ext cx="8229600" cy="3394472"/>
          </a:xfrm>
        </p:spPr>
        <p:txBody>
          <a:bodyPr/>
          <a:lstStyle/>
          <a:p>
            <a:pPr lvl="0"/>
            <a:r>
              <a:rPr/>
              <a:t>The linear model needs </a:t>
            </a:r>
            <a:r>
              <a:rPr b="1"/>
              <a:t>79%</a:t>
            </a:r>
            <a:r>
              <a:rPr/>
              <a:t> of the training set to define its boundary</a:t>
            </a:r>
          </a:p>
          <a:p>
            <a:pPr lvl="0"/>
            <a:r>
              <a:rPr/>
              <a:t>The RBF model needs </a:t>
            </a:r>
            <a:r>
              <a:rPr b="1"/>
              <a:t>23%</a:t>
            </a:r>
          </a:p>
          <a:p>
            <a:pPr lvl="0"/>
            <a:r>
              <a:rPr/>
              <a:t>Almost every point sits on or inside the margin — there is no slab that separates anything</a:t>
            </a:r>
          </a:p>
          <a:p>
            <a:pPr lvl="0"/>
            <a:r>
              <a:rPr/>
              <a:t>The count falls out of </a:t>
            </a:r>
            <a:r>
              <a:rPr>
                <a:latin typeface="Courier"/>
              </a:rPr>
              <a:t>fit</a:t>
            </a:r>
            <a:r>
              <a:rPr/>
              <a:t> at no cost, and you should look at it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they needed different coordinates</a:t>
            </a:r>
          </a:p>
        </p:txBody>
      </p:sp>
      <p:sp>
        <p:nvSpPr>
          <p:cNvPr id="3" name="Content Placeholder 2"/>
          <p:cNvSpPr>
            <a:spLocks noGrp="1"/>
          </p:cNvSpPr>
          <p:nvPr>
            <p:ph idx="1"/>
          </p:nvPr>
        </p:nvSpPr>
        <p:spPr>
          <a:xfrm>
            <a:off x="457200" y="1200151"/>
            <a:ext cx="8229600" cy="3394472"/>
          </a:xfrm>
        </p:spPr>
        <p:txBody>
          <a:bodyPr/>
          <a:lstStyle/>
          <a:p>
            <a:pPr lvl="0"/>
            <a:r>
              <a:rPr/>
              <a:t>Healthy pumps in a disc, faulty ones around it — no line works </a:t>
            </a:r>
            <a:r>
              <a:rPr b="1"/>
              <a:t>in the plane</a:t>
            </a:r>
          </a:p>
          <a:p>
            <a:pPr lvl="0"/>
            <a:r>
              <a:rPr/>
              <a:t>Add a third coordinate: the </a:t>
            </a:r>
            <a:r>
              <a:rPr b="1"/>
              <a:t>distance from the design point</a:t>
            </a:r>
          </a:p>
          <a:p>
            <a:pPr lvl="0"/>
            <a:r>
              <a:rPr/>
              <a:t>Healthy pumps rise a little, faulty ones a lot, and a flat plane separates them perfectly</a:t>
            </a:r>
          </a:p>
          <a:p>
            <a:pPr lvl="0"/>
            <a:r>
              <a:rPr/>
              <a:t>The classes were always separable. They were measured in the wrong coordinates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pumps, lifted</a:t>
            </a:r>
          </a:p>
        </p:txBody>
      </p:sp>
      <p:pic>
        <p:nvPicPr>
          <p:cNvPr descr="kernel_lift.png" id="0" name="Picture 1"/>
          <p:cNvPicPr>
            <a:picLocks noGrp="1" noChangeAspect="1"/>
          </p:cNvPicPr>
          <p:nvPr/>
        </p:nvPicPr>
        <p:blipFill>
          <a:blip r:embed="rId3"/>
          <a:stretch>
            <a:fillRect/>
          </a:stretch>
        </p:blipFill>
        <p:spPr bwMode="auto">
          <a:xfrm>
            <a:off x="1048215" y="1166099"/>
            <a:ext cx="7047570"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the map is never computed</a:t>
            </a:r>
          </a:p>
        </p:txBody>
      </p:sp>
      <p:sp>
        <p:nvSpPr>
          <p:cNvPr id="3" name="Content Placeholder 2"/>
          <p:cNvSpPr>
            <a:spLocks noGrp="1"/>
          </p:cNvSpPr>
          <p:nvPr>
            <p:ph idx="1"/>
          </p:nvPr>
        </p:nvSpPr>
        <p:spPr>
          <a:xfrm>
            <a:off x="457200" y="1200151"/>
            <a:ext cx="8229600" cy="3394472"/>
          </a:xfrm>
        </p:spPr>
        <p:txBody>
          <a:bodyPr/>
          <a:lstStyle/>
          <a:p>
            <a:pPr lvl="0"/>
            <a:r>
              <a:rPr/>
              <a:t>The solution depends on the data </a:t>
            </a:r>
            <a:r>
              <a:rPr b="1"/>
              <a:t>only through inner products</a:t>
            </a:r>
            <a:r>
              <a:rPr/>
              <a:t> between pairs of points</a:t>
            </a:r>
          </a:p>
          <a:p>
            <a:pPr lvl="0"/>
            <a:r>
              <a:rPr/>
              <a:t>So we need a function returning the inner product </a:t>
            </a:r>
            <a:r>
              <a:rPr b="1"/>
              <a:t>in the new space</a:t>
            </a:r>
            <a:r>
              <a:rPr/>
              <a:t>, while computing only with the original one</a:t>
            </a:r>
          </a:p>
          <a:p>
            <a:pPr lvl="0"/>
            <a:r>
              <a:rPr/>
              <a:t>The radial basis function is scikit-learn’s default: one exponential per pair, for an </a:t>
            </a:r>
            <a:r>
              <a:rPr b="1"/>
              <a:t>infinite-dimensional</a:t>
            </a:r>
            <a:r>
              <a:rPr/>
              <a:t> space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radial basis function, written out</a:t>
            </a:r>
          </a:p>
        </p:txBody>
      </p:sp>
      <p:pic>
        <p:nvPicPr>
          <p:cNvPr descr="eq_f6b1392351.png" id="0" name="Picture 1"/>
          <p:cNvPicPr>
            <a:picLocks noGrp="1" noChangeAspect="1"/>
          </p:cNvPicPr>
          <p:nvPr/>
        </p:nvPicPr>
        <p:blipFill>
          <a:blip r:embed="rId3"/>
          <a:stretch>
            <a:fillRect/>
          </a:stretch>
        </p:blipFill>
        <p:spPr bwMode="auto">
          <a:xfrm>
            <a:off x="457200" y="2382639"/>
            <a:ext cx="8229600" cy="9271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highest training score, the lowest honest one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Setting</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γ = 0.1, C = 1</a:t>
                      </a:r>
                    </a:p>
                  </a:txBody>
                </a:tc>
                <a:tc>
                  <a:txBody>
                    <a:bodyPr/>
                    <a:lstStyle/>
                    <a:p>
                      <a:pPr lvl="0" indent="0" marL="0">
                        <a:buNone/>
                      </a:pPr>
                      <a:r>
                        <a:rPr/>
                        <a:t>0.936</a:t>
                      </a:r>
                    </a:p>
                  </a:txBody>
                </a:tc>
                <a:tc>
                  <a:txBody>
                    <a:bodyPr/>
                    <a:lstStyle/>
                    <a:p>
                      <a:pPr lvl="0" indent="0" marL="0">
                        <a:buNone/>
                      </a:pPr>
                      <a:r>
                        <a:rPr/>
                        <a:t>0.929</a:t>
                      </a:r>
                    </a:p>
                  </a:txBody>
                </a:tc>
              </a:tr>
              <a:tr h="0">
                <a:tc>
                  <a:txBody>
                    <a:bodyPr/>
                    <a:lstStyle/>
                    <a:p>
                      <a:pPr lvl="0" indent="0" marL="0">
                        <a:buNone/>
                      </a:pPr>
                      <a:r>
                        <a:rPr/>
                        <a:t>γ = 1, C = 1</a:t>
                      </a:r>
                    </a:p>
                  </a:txBody>
                </a:tc>
                <a:tc>
                  <a:txBody>
                    <a:bodyPr/>
                    <a:lstStyle/>
                    <a:p>
                      <a:pPr lvl="0" indent="0" marL="0">
                        <a:buNone/>
                      </a:pPr>
                      <a:r>
                        <a:rPr/>
                        <a:t>0.950</a:t>
                      </a:r>
                    </a:p>
                  </a:txBody>
                </a:tc>
                <a:tc>
                  <a:txBody>
                    <a:bodyPr/>
                    <a:lstStyle/>
                    <a:p>
                      <a:pPr lvl="0" indent="0" marL="0">
                        <a:buNone/>
                      </a:pPr>
                      <a:r>
                        <a:rPr b="1"/>
                        <a:t>0.944</a:t>
                      </a:r>
                    </a:p>
                  </a:txBody>
                </a:tc>
              </a:tr>
              <a:tr h="0">
                <a:tc>
                  <a:txBody>
                    <a:bodyPr/>
                    <a:lstStyle/>
                    <a:p>
                      <a:pPr lvl="0" indent="0" marL="0">
                        <a:buNone/>
                      </a:pPr>
                      <a:r>
                        <a:rPr/>
                        <a:t>γ = 50, C = 1000</a:t>
                      </a:r>
                    </a:p>
                  </a:txBody>
                </a:tc>
                <a:tc>
                  <a:txBody>
                    <a:bodyPr/>
                    <a:lstStyle/>
                    <a:p>
                      <a:pPr lvl="0" indent="0" marL="0">
                        <a:buNone/>
                      </a:pPr>
                      <a:r>
                        <a:rPr b="1"/>
                        <a:t>0.995</a:t>
                      </a:r>
                    </a:p>
                  </a:txBody>
                </a:tc>
                <a:tc>
                  <a:txBody>
                    <a:bodyPr/>
                    <a:lstStyle/>
                    <a:p>
                      <a:pPr lvl="0" indent="0" marL="0">
                        <a:buNone/>
                      </a:pPr>
                      <a:r>
                        <a:rPr/>
                        <a:t>0.902</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Overfitting you can see</a:t>
            </a:r>
          </a:p>
        </p:txBody>
      </p:sp>
      <p:pic>
        <p:nvPicPr>
          <p:cNvPr descr="svm_gamma_c.png" id="0" name="Picture 1"/>
          <p:cNvPicPr>
            <a:picLocks noGrp="1" noChangeAspect="1"/>
          </p:cNvPicPr>
          <p:nvPr/>
        </p:nvPicPr>
        <p:blipFill>
          <a:blip r:embed="rId3"/>
          <a:stretch>
            <a:fillRect/>
          </a:stretch>
        </p:blipFill>
        <p:spPr bwMode="auto">
          <a:xfrm>
            <a:off x="457200" y="1550789"/>
            <a:ext cx="8229599" cy="25908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Margins, support vectors, and what γ does to the boundary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compared, on identical data</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a:t>0.613</a:t>
                      </a:r>
                    </a:p>
                  </a:txBody>
                </a:tc>
              </a:tr>
              <a:tr h="0">
                <a:tc>
                  <a:txBody>
                    <a:bodyPr/>
                    <a:lstStyle/>
                    <a:p>
                      <a:pPr lvl="0" indent="0" marL="0">
                        <a:buNone/>
                      </a:pPr>
                      <a:r>
                        <a:rPr/>
                        <a:t>SVM, linear kernel</a:t>
                      </a:r>
                    </a:p>
                  </a:txBody>
                </a:tc>
                <a:tc>
                  <a:txBody>
                    <a:bodyPr/>
                    <a:lstStyle/>
                    <a:p>
                      <a:pPr lvl="0" indent="0" marL="0">
                        <a:buNone/>
                      </a:pPr>
                      <a:r>
                        <a:rPr/>
                        <a:t>0.613</a:t>
                      </a:r>
                    </a:p>
                  </a:txBody>
                </a:tc>
              </a:tr>
              <a:tr h="0">
                <a:tc>
                  <a:txBody>
                    <a:bodyPr/>
                    <a:lstStyle/>
                    <a:p>
                      <a:pPr lvl="0" indent="0" marL="0">
                        <a:buNone/>
                      </a:pPr>
                      <a:r>
                        <a:rPr/>
                        <a:t>Gaussian Naive Bayes</a:t>
                      </a:r>
                    </a:p>
                  </a:txBody>
                </a:tc>
                <a:tc>
                  <a:txBody>
                    <a:bodyPr/>
                    <a:lstStyle/>
                    <a:p>
                      <a:pPr lvl="0" indent="0" marL="0">
                        <a:buNone/>
                      </a:pPr>
                      <a:r>
                        <a:rPr/>
                        <a:t>0.933</a:t>
                      </a:r>
                    </a:p>
                  </a:txBody>
                </a:tc>
              </a:tr>
              <a:tr h="0">
                <a:tc>
                  <a:txBody>
                    <a:bodyPr/>
                    <a:lstStyle/>
                    <a:p>
                      <a:pPr lvl="0" indent="0" marL="0">
                        <a:buNone/>
                      </a:pPr>
                      <a:r>
                        <a:rPr/>
                        <a:t>k-NN, k = 5</a:t>
                      </a:r>
                    </a:p>
                  </a:txBody>
                </a:tc>
                <a:tc>
                  <a:txBody>
                    <a:bodyPr/>
                    <a:lstStyle/>
                    <a:p>
                      <a:pPr lvl="0" indent="0" marL="0">
                        <a:buNone/>
                      </a:pPr>
                      <a:r>
                        <a:rPr/>
                        <a:t>0.944</a:t>
                      </a:r>
                    </a:p>
                  </a:txBody>
                </a:tc>
              </a:tr>
              <a:tr h="0">
                <a:tc>
                  <a:txBody>
                    <a:bodyPr/>
                    <a:lstStyle/>
                    <a:p>
                      <a:pPr lvl="0" indent="0" marL="0">
                        <a:buNone/>
                      </a:pPr>
                      <a:r>
                        <a:rPr/>
                        <a:t>SVM, RBF kernel</a:t>
                      </a:r>
                    </a:p>
                  </a:txBody>
                </a:tc>
                <a:tc>
                  <a:txBody>
                    <a:bodyPr/>
                    <a:lstStyle/>
                    <a:p>
                      <a:pPr lvl="0" indent="0" marL="0">
                        <a:buNone/>
                      </a:pPr>
                      <a:r>
                        <a:rPr b="1"/>
                        <a:t>0.947</a:t>
                      </a:r>
                    </a:p>
                  </a:txBody>
                </a:tc>
              </a:tr>
              <a:tr h="0">
                <a:tc>
                  <a:txBody>
                    <a:bodyPr/>
                    <a:lstStyle/>
                    <a:p>
                      <a:pPr lvl="0" indent="0" marL="0">
                        <a:buNone/>
                      </a:pPr>
                      <a:r>
                        <a:rPr i="1"/>
                        <a:t>noise ceiling</a:t>
                      </a:r>
                    </a:p>
                  </a:txBody>
                </a:tc>
                <a:tc>
                  <a:txBody>
                    <a:bodyPr/>
                    <a:lstStyle/>
                    <a:p>
                      <a:pPr lvl="0" indent="0" marL="0">
                        <a:buNone/>
                      </a:pPr>
                      <a:r>
                        <a:rPr i="1"/>
                        <a:t>≈ 0.96</a:t>
                      </a:r>
                    </a:p>
                  </a:txBody>
                </a:tc>
              </a:tr>
            </a:tbl>
          </a:graphicData>
        </a:graphic>
      </p:graphicFrame>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Few features, plenty of data, odd-shaped boundary</a:t>
                      </a:r>
                    </a:p>
                  </a:txBody>
                </a:tc>
                <a:tc>
                  <a:txBody>
                    <a:bodyPr/>
                    <a:lstStyle/>
                    <a:p>
                      <a:pPr lvl="0" indent="0" marL="0">
                        <a:buNone/>
                      </a:pPr>
                      <a:r>
                        <a:rPr/>
                        <a:t>k-NN, or an RBF SVM</a:t>
                      </a:r>
                    </a:p>
                  </a:txBody>
                </a:tc>
              </a:tr>
              <a:tr h="0">
                <a:tc>
                  <a:txBody>
                    <a:bodyPr/>
                    <a:lstStyle/>
                    <a:p>
                      <a:pPr lvl="0" indent="0" marL="0">
                        <a:buNone/>
                      </a:pPr>
                      <a:r>
                        <a:rPr/>
                        <a:t>Very many features, little data</a:t>
                      </a:r>
                    </a:p>
                  </a:txBody>
                </a:tc>
                <a:tc>
                  <a:txBody>
                    <a:bodyPr/>
                    <a:lstStyle/>
                    <a:p>
                      <a:pPr lvl="0" indent="0" marL="0">
                        <a:buNone/>
                      </a:pPr>
                      <a:r>
                        <a:rPr/>
                        <a:t>Naive Bayes</a:t>
                      </a:r>
                    </a:p>
                  </a:txBody>
                </a:tc>
              </a:tr>
              <a:tr h="0">
                <a:tc>
                  <a:txBody>
                    <a:bodyPr/>
                    <a:lstStyle/>
                    <a:p>
                      <a:pPr lvl="0" indent="0" marL="0">
                        <a:buNone/>
                      </a:pPr>
                      <a:r>
                        <a:rPr/>
                        <a:t>Need a calibrated probability</a:t>
                      </a:r>
                    </a:p>
                  </a:txBody>
                </a:tc>
                <a:tc>
                  <a:txBody>
                    <a:bodyPr/>
                    <a:lstStyle/>
                    <a:p>
                      <a:pPr lvl="0" indent="0" marL="0">
                        <a:buNone/>
                      </a:pPr>
                      <a:r>
                        <a:rPr b="1"/>
                        <a:t>Not</a:t>
                      </a:r>
                      <a:r>
                        <a:rPr/>
                        <a:t> Naive Bayes</a:t>
                      </a:r>
                    </a:p>
                  </a:txBody>
                </a:tc>
              </a:tr>
              <a:tr h="0">
                <a:tc>
                  <a:txBody>
                    <a:bodyPr/>
                    <a:lstStyle/>
                    <a:p>
                      <a:pPr lvl="0" indent="0" marL="0">
                        <a:buNone/>
                      </a:pPr>
                      <a:r>
                        <a:rPr/>
                        <a:t>Model must be small, or fast at prediction</a:t>
                      </a:r>
                    </a:p>
                  </a:txBody>
                </a:tc>
                <a:tc>
                  <a:txBody>
                    <a:bodyPr/>
                    <a:lstStyle/>
                    <a:p>
                      <a:pPr lvl="0" indent="0" marL="0">
                        <a:buNone/>
                      </a:pPr>
                      <a:r>
                        <a:rPr/>
                        <a:t>SVM, not k-NN</a:t>
                      </a:r>
                    </a:p>
                  </a:txBody>
                </a:tc>
              </a:tr>
              <a:tr h="0">
                <a:tc>
                  <a:txBody>
                    <a:bodyPr/>
                    <a:lstStyle/>
                    <a:p>
                      <a:pPr lvl="0" indent="0" marL="0">
                        <a:buNone/>
                      </a:pPr>
                      <a:r>
                        <a:rPr/>
                        <a:t>The signal is an interaction between features</a:t>
                      </a:r>
                    </a:p>
                  </a:txBody>
                </a:tc>
                <a:tc>
                  <a:txBody>
                    <a:bodyPr/>
                    <a:lstStyle/>
                    <a:p>
                      <a:pPr lvl="0" indent="0" marL="0">
                        <a:buNone/>
                      </a:pPr>
                      <a:r>
                        <a:rPr/>
                        <a:t>k-NN or a kernel</a:t>
                      </a:r>
                    </a:p>
                  </a:txBody>
                </a:tc>
              </a:tr>
            </a:tbl>
          </a:graphicData>
        </a:graphic>
      </p:graphicFrame>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No line separates the pumps</a:t>
            </a:r>
            <a:r>
              <a:rPr/>
              <a:t>: 0.613, the base rate</a:t>
            </a:r>
          </a:p>
          <a:p>
            <a:pPr lvl="0"/>
            <a:r>
              <a:rPr b="1"/>
              <a:t>k is the bias-variance dial</a:t>
            </a:r>
            <a:r>
              <a:rPr/>
              <a:t>, made visible</a:t>
            </a:r>
          </a:p>
          <a:p>
            <a:pPr lvl="0"/>
            <a:r>
              <a:rPr b="1"/>
              <a:t>In 100 dimensions the nearest point is 70% as far as the farthest</a:t>
            </a:r>
          </a:p>
          <a:p>
            <a:pPr lvl="0"/>
            <a:r>
              <a:rPr b="1"/>
              <a:t>Naive Bayes</a:t>
            </a:r>
            <a:r>
              <a:rPr/>
              <a:t>: 0.933 where independence holds, </a:t>
            </a:r>
            <a:r>
              <a:rPr b="1"/>
              <a:t>0.404</a:t>
            </a:r>
            <a:r>
              <a:rPr/>
              <a:t> where it does not</a:t>
            </a:r>
          </a:p>
          <a:p>
            <a:pPr lvl="0"/>
            <a:r>
              <a:rPr b="1"/>
              <a:t>Choosing the family beats tuning the wrong one</a:t>
            </a:r>
            <a:r>
              <a:rPr/>
              <a:t>: 0.613 to 0.947</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6</a:t>
            </a:r>
            <a:r>
              <a:rPr/>
              <a:t>, due </a:t>
            </a:r>
            <a:r>
              <a:rPr b="1"/>
              <a:t>Friday 6 November 2026</a:t>
            </a:r>
          </a:p>
          <a:p>
            <a:pPr lvl="0"/>
            <a:r>
              <a:rPr/>
              <a:t>A dataset, three families, and a defence of which one you chose</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 k-NN, Naive Bayes and Support Vector Machines</dc:title>
  <dc:creator>Fabio Antonini —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30 October 2026</vt:lpwstr>
  </property>
  <property fmtid="{D5CDD505-2E9C-101B-9397-08002B2CF9AE}" pid="3" name="subtitle">
    <vt:lpwstr>Technologies for Artificial Intelligence</vt:lpwstr>
  </property>
</Properties>
</file>