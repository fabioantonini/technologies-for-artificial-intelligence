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5. The marks were for the diagnosis, not for the final figure, so say one sentence about what the class found and one about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any number appears.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which of your assumptions was accidentally satisfied.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Measured directly, and remember the assumption concerns independence GIVEN THE CLASS - so the second and third rows are the ones that count, not the first.</a:t>
            </a:r>
          </a:p>
          <a:p>
            <a:pPr lvl="0" indent="0" marL="0">
              <a:buNone/>
            </a:pPr>
          </a:p>
          <a:p>
            <a:pPr lvl="0" indent="0" marL="0">
              <a:buNone/>
            </a:pPr>
            <a:r>
              <a:rPr/>
              <a:t>Within each class the two readings are essentially uncorrelated: −0.006 among healthy pumps is as close to zero as a sample of this size will ever produce. The assumption is not approximately satisfied here; it is satisfied.</a:t>
            </a:r>
          </a:p>
          <a:p>
            <a:pPr lvl="0" indent="0" marL="0">
              <a:buNone/>
            </a:pPr>
          </a:p>
          <a:p>
            <a:pPr lvl="0" indent="0" marL="0">
              <a:buNone/>
            </a:pPr>
            <a:r>
              <a:rPr/>
              <a:t>Say why that is more useful than the 0.933. A score tells you what happened once. Knowing WHY it happened tells you when to expect it again - and it gives them a check they can run in two lines before trusting Naive Bayes on anything.</a:t>
            </a:r>
          </a:p>
          <a:p>
            <a:pPr lvl="0" indent="0" marL="0">
              <a:buNone/>
            </a:pPr>
          </a:p>
          <a:p>
            <a:pPr lvl="0" indent="0" marL="0">
              <a:buNone/>
            </a:pPr>
            <a:r>
              <a:rPr/>
              <a:t>The obvious caution, since somebody will raise it: zero correlation is not independence. Correlation only detects linear dependence. For Gaussian Naive Bayes with Gaussian-ish features it is the right check; in general it is necessary and not sufficient.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Middle and right: each sensor on its own, which is ALL Naive Bayes ever gets. The two class distributions sit almost exactly on top of one another.</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ARE correlated, multiplying their probabilities counts the same evidence repeatedly.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Eighteen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Have them compute the within-class correlations themselves on both datasets. Two lines, and it is the diagnostic they should carry: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a:t>
            </a:r>
          </a:p>
          <a:p>
            <a:pPr lvl="0" indent="0" marL="0">
              <a:buNone/>
            </a:pPr>
          </a:p>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Eighteen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Two lines of code gave us the −0.006 that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next Friday, 6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−0.006 justified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 Id="rId3" Type="http://schemas.openxmlformats.org/officeDocument/2006/relationships/image" Target="../media/image1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was due today</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677789"/>
            <a:ext cx="8229600" cy="2336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0" y="1925439"/>
            <a:ext cx="8229600" cy="1841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Because here the assumption is true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Correlation between the two readings</a:t>
                      </a:r>
                    </a:p>
                  </a:txBody>
                  <a:tcPr/>
                </a:tc>
                <a:tc>
                  <a:txBody>
                    <a:bodyPr/>
                    <a:lstStyle/>
                    <a:p>
                      <a:pPr lvl="0" indent="0" marL="0">
                        <a:buNone/>
                      </a:pPr>
                      <a:r>
                        <a:rPr/>
                        <a:t>Value</a:t>
                      </a:r>
                    </a:p>
                  </a:txBody>
                  <a:tcPr/>
                </a:tc>
              </a:tr>
              <a:tr h="0">
                <a:tc>
                  <a:txBody>
                    <a:bodyPr/>
                    <a:lstStyle/>
                    <a:p>
                      <a:pPr lvl="0" indent="0" marL="0">
                        <a:buNone/>
                      </a:pPr>
                      <a:r>
                        <a:rPr/>
                        <a:t>overall</a:t>
                      </a:r>
                    </a:p>
                  </a:txBody>
                </a:tc>
                <a:tc>
                  <a:txBody>
                    <a:bodyPr/>
                    <a:lstStyle/>
                    <a:p>
                      <a:pPr lvl="0" indent="0" marL="0">
                        <a:buNone/>
                      </a:pPr>
                      <a:r>
                        <a:rPr/>
                        <a:t>−0.046</a:t>
                      </a:r>
                    </a:p>
                  </a:txBody>
                </a:tc>
              </a:tr>
              <a:tr h="0">
                <a:tc>
                  <a:txBody>
                    <a:bodyPr/>
                    <a:lstStyle/>
                    <a:p>
                      <a:pPr lvl="0" indent="0" marL="0">
                        <a:buNone/>
                      </a:pPr>
                      <a:r>
                        <a:rPr/>
                        <a:t>within healthy pumps</a:t>
                      </a:r>
                    </a:p>
                  </a:txBody>
                </a:tc>
                <a:tc>
                  <a:txBody>
                    <a:bodyPr/>
                    <a:lstStyle/>
                    <a:p>
                      <a:pPr lvl="0" indent="0" marL="0">
                        <a:buNone/>
                      </a:pPr>
                      <a:r>
                        <a:rPr b="1"/>
                        <a:t>−0.006</a:t>
                      </a:r>
                    </a:p>
                  </a:txBody>
                </a:tc>
              </a:tr>
              <a:tr h="0">
                <a:tc>
                  <a:txBody>
                    <a:bodyPr/>
                    <a:lstStyle/>
                    <a:p>
                      <a:pPr lvl="0" indent="0" marL="0">
                        <a:buNone/>
                      </a:pPr>
                      <a:r>
                        <a:rPr/>
                        <a:t>within faulty pumps</a:t>
                      </a:r>
                    </a:p>
                  </a:txBody>
                </a:tc>
                <a:tc>
                  <a:txBody>
                    <a:bodyPr/>
                    <a:lstStyle/>
                    <a:p>
                      <a:pPr lvl="0" indent="0" marL="0">
                        <a:buNone/>
                      </a:pPr>
                      <a:r>
                        <a:rPr b="1"/>
                        <a:t>−0.049</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607939"/>
            <a:ext cx="8229600" cy="2476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correlated features it fails the other way: 0.999 reported, with an accuracy nothing like that</a:t>
            </a:r>
          </a:p>
          <a:p>
            <a:pPr lvl="0"/>
            <a:r>
              <a:rPr b="1"/>
              <a:t>The ranking may be useful while the probabilities are not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the assumption holds, and one step away where it does not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Not separable? Charge for the violations</a:t>
            </a:r>
          </a:p>
        </p:txBody>
      </p:sp>
      <p:sp>
        <p:nvSpPr>
          <p:cNvPr id="4" name="Text Placeholder 3"/>
          <p:cNvSpPr>
            <a:spLocks noGrp="1"/>
          </p:cNvSpPr>
          <p:nvPr>
            <p:ph idx="2" sz="half" type="body"/>
          </p:nvPr>
        </p:nvSpPr>
        <p:spPr>
          <a:xfrm>
            <a:off x="457200" y="1183005"/>
            <a:ext cx="8229600" cy="2185987"/>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The constraint says: be on the correct side, or pay</a:t>
            </a:r>
          </a:p>
        </p:txBody>
      </p:sp>
      <p:pic>
        <p:nvPicPr>
          <p:cNvPr descr="eq_d7392721ca.png" id="0" name="Picture 1"/>
          <p:cNvPicPr>
            <a:picLocks noGrp="1" noChangeAspect="1"/>
          </p:cNvPicPr>
          <p:nvPr/>
        </p:nvPicPr>
        <p:blipFill>
          <a:blip r:embed="rId3"/>
          <a:stretch>
            <a:fillRect/>
          </a:stretch>
        </p:blipFill>
        <p:spPr bwMode="auto">
          <a:xfrm>
            <a:off x="457202" y="3579402"/>
            <a:ext cx="8229596" cy="839337"/>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382639"/>
            <a:ext cx="8229600" cy="927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due </a:t>
            </a:r>
            <a:r>
              <a:rPr b="1"/>
              <a:t>Friday 6 November 2026</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