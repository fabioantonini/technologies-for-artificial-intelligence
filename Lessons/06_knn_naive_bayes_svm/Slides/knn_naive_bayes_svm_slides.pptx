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exercise 5. The marks were for the diagnosis, not for the final figure, so say one sentence about what the class found and one about what it missed.</a:t>
            </a:r>
          </a:p>
          <a:p>
            <a:pPr lvl="0" indent="0" marL="0">
              <a:buNone/>
            </a:pPr>
          </a:p>
          <a:p>
            <a:pPr lvl="0" indent="0" marL="0">
              <a:buNone/>
            </a:pPr>
            <a:r>
              <a:rPr/>
              <a:t>There was more than one problem planted. Ask out loud how many people found the second one, and how many stopped after the first — stopping after the first is the realistic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apparatus you built in lesson 5. Today adds three model families, and each of them offers new ways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and one framing sentence that is worth saying deliberately.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MODEL TO REACH FOR. This is the first lesson that offers a choice, and the choosing is the content.</a:t>
            </a:r>
          </a:p>
          <a:p>
            <a:pPr lvl="0" indent="0" marL="0">
              <a:buNone/>
            </a:pPr>
          </a:p>
          <a:p>
            <a:pPr lvl="0" indent="0" marL="0">
              <a:buNone/>
            </a:pPr>
            <a:r>
              <a:rPr/>
              <a:t>Stress that these are not three ways of doing the same thing. They attack classification from three unrelated directions: one makes no assumptions and does no fitting at all, one makes an assumption that is usually false and wins anyway, one changes the criterion and then changes the space.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are lesson 5’s noise floor arriving in a classification problem.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the annulus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geometry comes from the physics, not from an attempt to be awkward.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at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real tell: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0.613 looks like a mediocre result rather than an absent one.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The answer is the next fifteen minutes: making no assumptions means having no way to ignore anything, and that turns out to be expensive.</a:t>
            </a:r>
          </a:p>
          <a:p>
            <a:pPr lvl="0" indent="0" marL="0">
              <a:buNone/>
            </a:pPr>
          </a:p>
          <a:p>
            <a:pPr lvl="0" indent="0" marL="0">
              <a:buNone/>
            </a:pPr>
            <a:r>
              <a:rPr/>
              <a:t>Two decisions hide inside that sentence — what “closest” means, and what k is — and both are consequential.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The method has no other channel through which the data reaches it — no coefficients, no weights, no notion that one column might matter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where lesson 2 stops being hygiene and starts being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picks every neighbour by itself and pressure is decorative.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inside the fold — which is last week’s lesson, not a new one.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decomposed error into bias and variance and had to build 300 parallel universes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measure absolutely nothing. Not approximately nothing — nothing, by construction, independent of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gap is the whole of lesson 5 in two numbers on one line.</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they will otherwise grid-search it to death.</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bias looks like.</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The gap between the two curves is variance, and watch it close as k grows. Where they meet and then both fall together, you have run out of variance and started buying bias. The minimum of the honest curve sits just before that.</a:t>
            </a:r>
          </a:p>
          <a:p>
            <a:pPr lvl="0" indent="0" marL="0">
              <a:buNone/>
            </a:pPr>
          </a:p>
          <a:p>
            <a:pPr lvl="0" indent="0" marL="0">
              <a:buNone/>
            </a:pPr>
            <a:r>
              <a:rPr/>
              <a:t>Ask them which end of this plot they would have picked by looking at the training curve alone. The answer is the far left, which is the worst honest model on the plot bar one.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 This is roughly the truth.</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With 401 votes taken over a large neighbourhood, the majority class wins in regions where it should not. The model has stopped following the boundary and started averaging over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approximate nearest-neighbour indexes are a small industry. Mention that the scikit-learn default uses a k-d tree or ball tree,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mechanism is on the next three slides, and it is geometry, not statistics.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any number appears.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average concentrates, and every distance converges on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does it properly.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it is long over.</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this afternoon — which is why the RBF SVM also degraded in that table, though more slowly.</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select features BEFORE the distance, inside the pipeline — which is last week’s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The cell to protect if time runs short is the noise-column sweep. Let them add the columns themselves and watch the score cross the baseline — it changes behaviour in a way that reading the table does not.</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is the whole move.</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again, arriving from a completely different direction — density estimation rather than distance.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in about ten minutes,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underflow reason as lesson 4’s log-likelihood: a product of several hundred small probabilities is exactly zero in floating point.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an hour ago, arriving in a new disguise.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nothing else tolerates ten thousand features on a few thousand rows.</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Argmax only needs the ordering right, not the probabilities.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which of your assumptions was accidentally satisfied.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Measured directly, and remember the assumption concerns independence GIVEN THE CLASS — so the second and third rows are the ones that count, not the first.</a:t>
            </a:r>
          </a:p>
          <a:p>
            <a:pPr lvl="0" indent="0" marL="0">
              <a:buNone/>
            </a:pPr>
          </a:p>
          <a:p>
            <a:pPr lvl="0" indent="0" marL="0">
              <a:buNone/>
            </a:pPr>
            <a:r>
              <a:rPr/>
              <a:t>Within each class the two readings are essentially uncorrelated: −0.006 among healthy pumps is as close to zero as a sample of this size will ever produce. The assumption is not approximately satisfied here; it is satisfied.</a:t>
            </a:r>
          </a:p>
          <a:p>
            <a:pPr lvl="0" indent="0" marL="0">
              <a:buNone/>
            </a:pPr>
          </a:p>
          <a:p>
            <a:pPr lvl="0" indent="0" marL="0">
              <a:buNone/>
            </a:pPr>
            <a:r>
              <a:rPr/>
              <a:t>Say why that is more useful than the 0.933. A score tells you what happened once. Knowing WHY it happened tells you when to expect it again — and it gives them a check they can run in two lines before trusting Naive Bayes on anything.</a:t>
            </a:r>
          </a:p>
          <a:p>
            <a:pPr lvl="0" indent="0" marL="0">
              <a:buNone/>
            </a:pPr>
          </a:p>
          <a:p>
            <a:pPr lvl="0" indent="0" marL="0">
              <a:buNone/>
            </a:pPr>
            <a:r>
              <a:rPr/>
              <a:t>The obvious caution, since somebody will raise it: zero correlation is not independence. Correlation only detects linear dependence. For Gaussian Naive Bayes with Gaussian-ish features it is the right check; in general it is necessary and not sufficient.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fall apart.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Middle and right: each sensor on its own, which is ALL Naive Bayes ever gets. The two class distributions sit almost exactly on top of one another.</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purely as an artefact of a finite sample.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spurious structure it can find, with complete confidence.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ARE correlated, multiplying their probabilities counts the same evidence repeatedly. Ten correlated words in a document are treated as ten independent pieces of evidence, and the posterior saturates. Naive Bayes is famous for reporting 0.999 on problems it gets wrong a fifth of the time.</a:t>
            </a:r>
          </a:p>
          <a:p>
            <a:pPr lvl="0" indent="0" marL="0">
              <a:buNone/>
            </a:pPr>
          </a:p>
          <a:p>
            <a:pPr lvl="0" indent="0" marL="0">
              <a:buNone/>
            </a:pPr>
            <a:r>
              <a:rPr/>
              <a:t>Then lesson 5’s distinction, which this is the textbook case of: ranking and calibration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Eighteen minutes.</a:t>
            </a:r>
          </a:p>
          <a:p>
            <a:pPr lvl="0" indent="0" marL="0">
              <a:buNone/>
            </a:pPr>
          </a:p>
          <a:p>
            <a:pPr lvl="0" indent="0" marL="0">
              <a:buNone/>
            </a:pPr>
            <a:r>
              <a:rPr/>
              <a:t>The cell to protect is the one that prints 0.404 next to the 0.523 baseline. Let them see a below-chance score appear from correct code on solvable data before any explanation arrives.</a:t>
            </a:r>
          </a:p>
          <a:p>
            <a:pPr lvl="0" indent="0" marL="0">
              <a:buNone/>
            </a:pPr>
          </a:p>
          <a:p>
            <a:pPr lvl="0" indent="0" marL="0">
              <a:buNone/>
            </a:pPr>
            <a:r>
              <a:rPr/>
              <a:t>Have them compute the within-class correlations themselves on both datasets. Two lines, and it is the diagnostic they should carry: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optimises fit and controls generalisation indirectly.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a:t>
            </a:r>
          </a:p>
          <a:p>
            <a:pPr lvl="0" indent="0" marL="0">
              <a:buNone/>
            </a:pPr>
          </a:p>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hard-margin problem is a teaching device.</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this morning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this morning,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number in the whole lesson, and within a hair of the 0.96 ceiling.</a:t>
            </a:r>
          </a:p>
          <a:p>
            <a:pPr lvl="0" indent="0" marL="0">
              <a:buNone/>
            </a:pPr>
          </a:p>
          <a:p>
            <a:pPr lvl="0" indent="0" marL="0">
              <a:buNone/>
            </a:pPr>
            <a:r>
              <a:rPr/>
              <a:t>The support-vector column says the same thing in a second language,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is wrong for the geometry.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afternoon: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angles and lengths between points, and those can be obtained without ever going there.</a:t>
            </a:r>
          </a:p>
          <a:p>
            <a:pPr lvl="0" indent="0" marL="0">
              <a:buNone/>
            </a:pPr>
          </a:p>
          <a:p>
            <a:pPr lvl="0" indent="0" marL="0">
              <a:buNone/>
            </a:pPr>
            <a:r>
              <a:rPr/>
              <a:t>Do not prove it — handout section 5.4 shows where the inner products come from in the dual formulation. The claim to state and let land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Right is the one to sit on.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That is the 0.902.</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Eighteen minutes.</a:t>
            </a:r>
          </a:p>
          <a:p>
            <a:pPr lvl="0" indent="0" marL="0">
              <a:buNone/>
            </a:pPr>
          </a:p>
          <a:p>
            <a:pPr lvl="0" indent="0" marL="0">
              <a:buNone/>
            </a:pPr>
            <a:r>
              <a:rPr/>
              <a:t>The cell to protect is the γ sweep with the boundary drawn at each setting. Let them turn γ up themselves and watch the bubbles form — it is the most direct experience of overfitting available in this course.</a:t>
            </a:r>
          </a:p>
          <a:p>
            <a:pPr lvl="0" indent="0" marL="0">
              <a:buNone/>
            </a:pPr>
          </a:p>
          <a:p>
            <a:pPr lvl="0" indent="0" marL="0">
              <a:buNone/>
            </a:pPr>
            <a:r>
              <a:rPr/>
              <a:t>Have them print the support-vector fraction for the linear and RBF kernels side by side. Two numbers, and it makes the diagnostic real rather than a claim on a slide.</a:t>
            </a:r>
          </a:p>
          <a:p>
            <a:pPr lvl="0" indent="0" marL="0">
              <a:buNone/>
            </a:pPr>
          </a:p>
          <a:p>
            <a:pPr lvl="0" indent="0" marL="0">
              <a:buNone/>
            </a:pPr>
            <a:r>
              <a:rPr/>
              <a:t>If time runs short, skip the C sweep and set it as reading: the table is in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Larger than any difference this course has shown between a good model and a carefully tuned one — lesson 5’s entire hyperparameter search moved things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Two lines of code gave us the −0.006 that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next Friday, 6 November.</a:t>
            </a:r>
          </a:p>
          <a:p>
            <a:pPr lvl="0" indent="0" marL="0">
              <a:buNone/>
            </a:pPr>
          </a:p>
          <a:p>
            <a:pPr lvl="0" indent="0" marL="0">
              <a:buNone/>
            </a:pPr>
            <a:r>
              <a:rPr/>
              <a:t>The marks are for the reasoning, not for the accuracy. A well-argued choice that scores slightly worse beats a lucky winner with no justification — and the argument has to reference the data, in the way that the −0.006 justified Naive Bayes on the pumps this afternoon.</a:t>
            </a:r>
          </a:p>
          <a:p>
            <a:pPr lvl="0" indent="0" marL="0">
              <a:buNone/>
            </a:pPr>
          </a:p>
          <a:p>
            <a:pPr lvl="0" indent="0" marL="0">
              <a:buNone/>
            </a:pPr>
            <a:r>
              <a:rPr/>
              <a:t>Remind them that everything must be cross-validated and reported with a spread, in the format lesson 5 set. Scaling goes inside the pipeline; that will be checked.</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7.xml"/><Relationship Id="rId3" Type="http://schemas.openxmlformats.org/officeDocument/2006/relationships/image" Target="../media/image1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1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was due today</a:t>
            </a:r>
          </a:p>
          <a:p>
            <a:pPr lvl="0"/>
            <a:r>
              <a:rPr/>
              <a:t>The score that was too good —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 remember everything, and vote</a:t>
            </a:r>
          </a:p>
          <a:p>
            <a:pPr lvl="0"/>
            <a:r>
              <a:rPr/>
              <a:t>The </a:t>
            </a:r>
            <a:r>
              <a:rPr b="1"/>
              <a:t>curse of dimensionality</a:t>
            </a:r>
            <a:r>
              <a:rPr/>
              <a:t>, which is the bill for that</a:t>
            </a:r>
          </a:p>
          <a:p>
            <a:pPr lvl="0"/>
            <a:r>
              <a:rPr b="1"/>
              <a:t>Naive Bayes</a:t>
            </a:r>
            <a:r>
              <a:rPr/>
              <a:t> — one very strong assumption, bought very cheaply</a:t>
            </a:r>
          </a:p>
          <a:p>
            <a:pPr lvl="0"/>
            <a:r>
              <a:rPr b="1"/>
              <a:t>Support vector machines (SVM)</a:t>
            </a:r>
            <a:r>
              <a:rPr/>
              <a:t> — margins, and changing coordinates</a:t>
            </a:r>
          </a:p>
          <a:p>
            <a:pPr lvl="0"/>
            <a:r>
              <a:rPr/>
              <a:t>Which family to reach for, and why that matters more than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 an unusually honest name for an algorithm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677789"/>
            <a:ext cx="8229600" cy="23368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 the boundary follows every point, mislabelled ones included. Low bias, high variance</a:t>
            </a:r>
          </a:p>
          <a:p>
            <a:pPr lvl="0"/>
            <a:r>
              <a:rPr b="1"/>
              <a:t>Large k</a:t>
            </a:r>
            <a:r>
              <a:rPr/>
              <a:t> — the vote is taken over a wide neighbourhood, and eventually stops following real structure. High bias, low variance</a:t>
            </a:r>
          </a:p>
          <a:p>
            <a:pPr lvl="0"/>
            <a:r>
              <a:rPr/>
              <a:t>At k = 1 the training accuracy is </a:t>
            </a:r>
            <a:r>
              <a:rPr b="1"/>
              <a:t>exactly 1.000</a:t>
            </a:r>
            <a:r>
              <a:rPr/>
              <a:t>. Always, on any dataset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 “nearest” picks out something special</a:t>
            </a:r>
          </a:p>
          <a:p>
            <a:pPr lvl="0"/>
            <a:r>
              <a:rPr/>
              <a:t>In </a:t>
            </a:r>
            <a:r>
              <a:rPr b="1"/>
              <a:t>one hundred</a:t>
            </a:r>
            <a:r>
              <a:rPr/>
              <a:t> it is </a:t>
            </a:r>
            <a:r>
              <a:rPr b="1"/>
              <a:t>70%</a:t>
            </a:r>
            <a:r>
              <a:rPr/>
              <a:t> —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 lesson 9’s networks work in thousands of dimensions</a:t>
            </a:r>
          </a:p>
          <a:p>
            <a:pPr lvl="0"/>
            <a:r>
              <a:rPr/>
              <a:t>That </a:t>
            </a:r>
            <a:r>
              <a:rPr b="1"/>
              <a:t>methods built on distance lose their footing</a:t>
            </a:r>
            <a:r>
              <a:rPr/>
              <a:t>, because the quantity they depend on stops varying</a:t>
            </a:r>
          </a:p>
          <a:p>
            <a:pPr lvl="0"/>
            <a:r>
              <a:rPr/>
              <a:t>k-NN, k-means (lesson 8), and radial basis function (RBF) kernels — all of them</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k-NN on the pumps, choosing k, and the curse measured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is a count; the denominator is identical across classes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0" y="1925439"/>
            <a:ext cx="8229600" cy="18415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 it is </a:t>
            </a:r>
            <a:r>
              <a:rPr b="1"/>
              <a:t>when being wrong about it costs you nothing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Because here the assumption is true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Correlation between the two readings</a:t>
                      </a:r>
                    </a:p>
                  </a:txBody>
                  <a:tcPr/>
                </a:tc>
                <a:tc>
                  <a:txBody>
                    <a:bodyPr/>
                    <a:lstStyle/>
                    <a:p>
                      <a:pPr lvl="0" indent="0" marL="0">
                        <a:buNone/>
                      </a:pPr>
                      <a:r>
                        <a:rPr/>
                        <a:t>Value</a:t>
                      </a:r>
                    </a:p>
                  </a:txBody>
                  <a:tcPr/>
                </a:tc>
              </a:tr>
              <a:tr h="0">
                <a:tc>
                  <a:txBody>
                    <a:bodyPr/>
                    <a:lstStyle/>
                    <a:p>
                      <a:pPr lvl="0" indent="0" marL="0">
                        <a:buNone/>
                      </a:pPr>
                      <a:r>
                        <a:rPr/>
                        <a:t>overall</a:t>
                      </a:r>
                    </a:p>
                  </a:txBody>
                </a:tc>
                <a:tc>
                  <a:txBody>
                    <a:bodyPr/>
                    <a:lstStyle/>
                    <a:p>
                      <a:pPr lvl="0" indent="0" marL="0">
                        <a:buNone/>
                      </a:pPr>
                      <a:r>
                        <a:rPr/>
                        <a:t>−0.046</a:t>
                      </a:r>
                    </a:p>
                  </a:txBody>
                </a:tc>
              </a:tr>
              <a:tr h="0">
                <a:tc>
                  <a:txBody>
                    <a:bodyPr/>
                    <a:lstStyle/>
                    <a:p>
                      <a:pPr lvl="0" indent="0" marL="0">
                        <a:buNone/>
                      </a:pPr>
                      <a:r>
                        <a:rPr/>
                        <a:t>within healthy pumps</a:t>
                      </a:r>
                    </a:p>
                  </a:txBody>
                </a:tc>
                <a:tc>
                  <a:txBody>
                    <a:bodyPr/>
                    <a:lstStyle/>
                    <a:p>
                      <a:pPr lvl="0" indent="0" marL="0">
                        <a:buNone/>
                      </a:pPr>
                      <a:r>
                        <a:rPr b="1"/>
                        <a:t>−0.006</a:t>
                      </a:r>
                    </a:p>
                  </a:txBody>
                </a:tc>
              </a:tr>
              <a:tr h="0">
                <a:tc>
                  <a:txBody>
                    <a:bodyPr/>
                    <a:lstStyle/>
                    <a:p>
                      <a:pPr lvl="0" indent="0" marL="0">
                        <a:buNone/>
                      </a:pPr>
                      <a:r>
                        <a:rPr/>
                        <a:t>within faulty pumps</a:t>
                      </a:r>
                    </a:p>
                  </a:txBody>
                </a:tc>
                <a:tc>
                  <a:txBody>
                    <a:bodyPr/>
                    <a:lstStyle/>
                    <a:p>
                      <a:pPr lvl="0" indent="0" marL="0">
                        <a:buNone/>
                      </a:pPr>
                      <a:r>
                        <a:rPr b="1"/>
                        <a:t>−0.049</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607939"/>
            <a:ext cx="8229600" cy="24765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 below the baseline, and below chance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Mean confidence when </a:t>
            </a:r>
            <a:r>
              <a:rPr b="1"/>
              <a:t>correct: 0.567</a:t>
            </a:r>
            <a:r>
              <a:rPr/>
              <a:t>. When </a:t>
            </a:r>
            <a:r>
              <a:rPr b="1"/>
              <a:t>wrong: 0.555</a:t>
            </a:r>
          </a:p>
          <a:p>
            <a:pPr lvl="0"/>
            <a:r>
              <a:rPr/>
              <a:t>It cannot tell the difference between the two situations</a:t>
            </a:r>
          </a:p>
          <a:p>
            <a:pPr lvl="0"/>
            <a:r>
              <a:rPr/>
              <a:t>With correlated features it fails the other way — 0.999 reported, with an accuracy nothing like that</a:t>
            </a:r>
          </a:p>
          <a:p>
            <a:pPr lvl="0"/>
            <a:r>
              <a:rPr b="1"/>
              <a:t>The ranking may be useful while the probabilities are not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Where the assumption holds, and one step away where it does not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Not separable? Charge for the violations</a:t>
            </a:r>
          </a:p>
        </p:txBody>
      </p:sp>
      <p:sp>
        <p:nvSpPr>
          <p:cNvPr id="4" name="Text Placeholder 3"/>
          <p:cNvSpPr>
            <a:spLocks noGrp="1"/>
          </p:cNvSpPr>
          <p:nvPr>
            <p:ph idx="2" sz="half" type="body"/>
          </p:nvPr>
        </p:nvSpPr>
        <p:spPr>
          <a:xfrm>
            <a:off x="457200" y="1183005"/>
            <a:ext cx="8229600" cy="2185987"/>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The constraint says: be on the correct side, or pay</a:t>
            </a:r>
          </a:p>
        </p:txBody>
      </p:sp>
      <p:pic>
        <p:nvPicPr>
          <p:cNvPr descr="eq_d7392721ca.png" id="0" name="Picture 1"/>
          <p:cNvPicPr>
            <a:picLocks noGrp="1" noChangeAspect="1"/>
          </p:cNvPicPr>
          <p:nvPr/>
        </p:nvPicPr>
        <p:blipFill>
          <a:blip r:embed="rId3"/>
          <a:stretch>
            <a:fillRect/>
          </a:stretch>
        </p:blipFill>
        <p:spPr bwMode="auto">
          <a:xfrm>
            <a:off x="457202" y="3579402"/>
            <a:ext cx="8229596" cy="839337"/>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 violations are expensive, so the model contorts to classify everything. Narrow margin, low bias, high variance</a:t>
            </a:r>
          </a:p>
          <a:p>
            <a:pPr lvl="0"/>
            <a:r>
              <a:rPr b="1"/>
              <a:t>Small C</a:t>
            </a:r>
            <a:r>
              <a:rPr/>
              <a:t> — a wider, calmer boundary, at the cost of some errors</a:t>
            </a:r>
          </a:p>
          <a:p>
            <a:pPr lvl="0"/>
            <a:r>
              <a:rPr/>
              <a:t>The same dial as k in k-NN and λ in lesson 3, in a third costume</a:t>
            </a:r>
          </a:p>
          <a:p>
            <a:pPr lvl="0"/>
            <a:r>
              <a:rPr/>
              <a:t>Note the direction: </a:t>
            </a:r>
            <a:r>
              <a:rPr b="1"/>
              <a:t>large C means less regularisation</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needs </a:t>
            </a:r>
            <a:r>
              <a:rPr b="1"/>
              <a:t>79%</a:t>
            </a:r>
            <a:r>
              <a:rPr/>
              <a:t> of the training set to define its boundary</a:t>
            </a:r>
          </a:p>
          <a:p>
            <a:pPr lvl="0"/>
            <a:r>
              <a:rPr/>
              <a:t>The RBF model needs </a:t>
            </a:r>
            <a:r>
              <a:rPr b="1"/>
              <a:t>23%</a:t>
            </a:r>
          </a:p>
          <a:p>
            <a:pPr lvl="0"/>
            <a:r>
              <a:rPr/>
              <a:t>Almost every point sits on or inside the margin — there is no slab that separates anything</a:t>
            </a:r>
          </a:p>
          <a:p>
            <a:pPr lvl="0"/>
            <a:r>
              <a:rPr/>
              <a:t>The count falls out of </a:t>
            </a:r>
            <a:r>
              <a:rPr>
                <a:latin typeface="Courier"/>
              </a:rPr>
              <a:t>fit</a:t>
            </a:r>
            <a:r>
              <a:rPr/>
              <a:t> at no cost, and you should look at it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382639"/>
            <a:ext cx="8229600" cy="9271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Margins, support vectors, and what γ does to the boundary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straight line separates the pumps</a:t>
            </a:r>
            <a:r>
              <a:rPr/>
              <a:t> — both linear models score exactly 0.613, with zero variance across folds</a:t>
            </a:r>
          </a:p>
          <a:p>
            <a:pPr lvl="0"/>
            <a:r>
              <a:rPr b="1"/>
              <a:t>k is the bias-variance dial</a:t>
            </a:r>
            <a:r>
              <a:rPr/>
              <a:t>, and training accuracy at k = 1 is 1.000 and means nothing</a:t>
            </a:r>
          </a:p>
          <a:p>
            <a:pPr lvl="0"/>
            <a:r>
              <a:rPr b="1"/>
              <a:t>In 100 dimensions the nearest point is 70% as far away as the farthest</a:t>
            </a:r>
          </a:p>
          <a:p>
            <a:pPr lvl="0"/>
            <a:r>
              <a:rPr b="1"/>
              <a:t>Naive Bayes assumes independence given the class</a:t>
            </a:r>
            <a:r>
              <a:rPr/>
              <a:t> — 0.933 where it holds, </a:t>
            </a:r>
            <a:r>
              <a:rPr b="1"/>
              <a:t>0.404</a:t>
            </a:r>
            <a:r>
              <a:rPr/>
              <a:t> where the signal is an interaction</a:t>
            </a:r>
          </a:p>
          <a:p>
            <a:pPr lvl="0"/>
            <a:r>
              <a:rPr b="1"/>
              <a:t>Choosing the family beats tuning the wrong one</a:t>
            </a:r>
            <a:r>
              <a:rPr/>
              <a:t>: 0.613 to 0.947</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due </a:t>
            </a:r>
            <a:r>
              <a:rPr b="1"/>
              <a:t>Friday 6 November 2026</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 k-NN, Naive Bayes and Support Vector Machines</dc:title>
  <dc:creator>Fabio Antonini —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