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package/2006/relationships/metadata/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7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notesMaster" Target="notesMasters/notesMaster1.xml"/><Relationship Id="rId72" Type="http://schemas.openxmlformats.org/officeDocument/2006/relationships/presProps" Target="presProps.xml"/><Relationship Id="rId73" Type="http://schemas.openxmlformats.org/officeDocument/2006/relationships/viewProps" Target="viewProps.xml"/><Relationship Id="rId74" Type="http://schemas.openxmlformats.org/officeDocument/2006/relationships/theme" Target="theme/theme1.xml"/><Relationship Id="rId7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Nothing is collected. What matters is how each student found the problems, not the final score, so ask the room what they found and listen for what they missed.</a:t>
            </a:r>
          </a:p>
          <a:p>
            <a:pPr lvl="0" indent="0" marL="0">
              <a:buNone/>
            </a:pPr>
          </a:p>
          <a:p>
            <a:pPr lvl="0" indent="0" marL="0">
              <a:buNone/>
            </a:pPr>
            <a:r>
              <a:rPr/>
              <a:t>The exercise hid more than one problem on purpose. Ask out loud how many people found the second one, and how many stopped after the first - stopping after the first is the common failure, because once a score drops from excellent to plausible the pressure to keep looking disappears.</a:t>
            </a:r>
          </a:p>
          <a:p>
            <a:pPr lvl="0" indent="0" marL="0">
              <a:buNone/>
            </a:pPr>
          </a:p>
          <a:p>
            <a:pPr lvl="0" indent="0" marL="0">
              <a:buNone/>
            </a:pPr>
            <a:r>
              <a:rPr/>
              <a:t>Then the sentence that links last week to today: everything from now on is evaluated with the tools built in lesson 5: cross-validation, baselines, training scores read against validation scores. Today adds three families of models, and each of them can produce a result that looks right and is not, in a way of its own.</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agenda, and one sentence about the whole lesson that is worth saying slowly.</a:t>
            </a:r>
          </a:p>
          <a:p>
            <a:pPr lvl="0" indent="0" marL="0">
              <a:buNone/>
            </a:pPr>
          </a:p>
          <a:p>
            <a:pPr lvl="0" indent="0" marL="0">
              <a:buNone/>
            </a:pPr>
            <a:r>
              <a:rPr/>
              <a:t>Lessons 3 and 4 built linear models and spent most of their effort on fitting them honestly. Lesson 5 built the apparatus for telling whether a model works. None of that told them WHICH KIND OF MODEL TO USE. This is the first lesson that offers a choice, and learning how to choose is what the lesson is about.</a:t>
            </a:r>
          </a:p>
          <a:p>
            <a:pPr lvl="0" indent="0" marL="0">
              <a:buNone/>
            </a:pPr>
          </a:p>
          <a:p>
            <a:pPr lvl="0" indent="0" marL="0">
              <a:buNone/>
            </a:pPr>
            <a:r>
              <a:rPr/>
              <a:t>Stress that these are not three ways of doing the same thing. They attack classification from three unrelated directions: k-NN makes no assumptions and does no fitting at all; Naive Bayes makes an assumption that is usually false and works well anyway; the SVM changes the criterion for choosing a boundary, and then changes the coordinates the data is described in. The differences between them are the point, not the accuracy figures.</a:t>
            </a:r>
          </a:p>
          <a:p>
            <a:pPr lvl="0" indent="0" marL="0">
              <a:buNone/>
            </a:pPr>
          </a:p>
          <a:p>
            <a:pPr lvl="0" indent="0" marL="0">
              <a:buNone/>
            </a:pPr>
            <a:r>
              <a:rPr/>
              <a:t>Handout section 1 sets this out in a paragraph each.</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Describe the physical fact first, before showing the picture, and let them predict what it implies. A pump has a design operating envelope. It can fail by running too slow just as easily as by running too hot.</a:t>
            </a:r>
          </a:p>
          <a:p>
            <a:pPr lvl="0" indent="0" marL="0">
              <a:buNone/>
            </a:pPr>
          </a:p>
          <a:p>
            <a:pPr lvl="0" indent="0" marL="0">
              <a:buNone/>
            </a:pPr>
            <a:r>
              <a:rPr/>
              <a:t>Ask the room what that does to the shape of the two classes before you advance. Somebody will get it: healthy in the middle, faulty all around.</a:t>
            </a:r>
          </a:p>
          <a:p>
            <a:pPr lvl="0" indent="0" marL="0">
              <a:buNone/>
            </a:pPr>
          </a:p>
          <a:p>
            <a:pPr lvl="0" indent="0" marL="0">
              <a:buNone/>
            </a:pPr>
            <a:r>
              <a:rPr/>
              <a:t>The 4% flipped labels play the part of lesson 5’s irreducible noise: a model that learned the true rule perfectly would still get those pumps wrong. So no model here can exceed roughly </a:t>
            </a:r>
            <a:r>
              <a:rPr b="1"/>
              <a:t>0.96</a:t>
            </a:r>
            <a:r>
              <a:rPr/>
              <a:t>, and that is the number every score today should be compared against - not against 1.000, and not against each other in isolation.</a:t>
            </a:r>
          </a:p>
          <a:p>
            <a:pPr lvl="0" indent="0" marL="0">
              <a:buNone/>
            </a:pPr>
          </a:p>
          <a:p>
            <a:pPr lvl="0" indent="0" marL="0">
              <a:buNone/>
            </a:pPr>
            <a:r>
              <a:rPr/>
              <a:t>Handout section 1.1.</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Give them a moment before saying anything. Then ask for a straight line that separates these two classes, and let them try.</a:t>
            </a:r>
          </a:p>
          <a:p>
            <a:pPr lvl="0" indent="0" marL="0">
              <a:buNone/>
            </a:pPr>
          </a:p>
          <a:p>
            <a:pPr lvl="0" indent="0" marL="0">
              <a:buNone/>
            </a:pPr>
            <a:r>
              <a:rPr/>
              <a:t>The healthy pumps form a disc around the design point; the faulty ones form a ring around them. There is no line. Not a badly chosen line - no line at all, because the class you want to isolate is completely surrounded.</a:t>
            </a:r>
          </a:p>
          <a:p>
            <a:pPr lvl="0" indent="0" marL="0">
              <a:buNone/>
            </a:pPr>
          </a:p>
          <a:p>
            <a:pPr lvl="0" indent="0" marL="0">
              <a:buNone/>
            </a:pPr>
            <a:r>
              <a:rPr/>
              <a:t>Worth naming what is unusual here, since most textbook pictures are blobs side by side: the shape comes from how pumps fail, not from a wish to make the problem hard. Any “within tolerance versus out of tolerance” problem has this shape, and that covers a large fraction of industrial classification.</a:t>
            </a:r>
          </a:p>
          <a:p>
            <a:pPr lvl="0" indent="0" marL="0">
              <a:buNone/>
            </a:pPr>
          </a:p>
          <a:p>
            <a:pPr lvl="0" indent="0" marL="0">
              <a:buNone/>
            </a:pPr>
            <a:r>
              <a:rPr/>
              <a:t>The scattered wrong-coloured points inside each region are the 4% flipped labels. Point at two of them now - they come back when k-NN uses a single neighbour, k = 1.</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Read the two rows and let the equality sit there.</a:t>
            </a:r>
          </a:p>
          <a:p>
            <a:pPr lvl="0" indent="0" marL="0">
              <a:buNone/>
            </a:pPr>
          </a:p>
          <a:p>
            <a:pPr lvl="0" indent="0" marL="0">
              <a:buNone/>
            </a:pPr>
            <a:r>
              <a:rPr/>
              <a:t>The thing to say clearly, because it is easy to under-read: logistic regression has not been narrowly beaten by the baseline. It has learned NOTHING AT ALL. It predicts “faulty” for every pump, because with a straight boundary that is genuinely the best answer available to it.</a:t>
            </a:r>
          </a:p>
          <a:p>
            <a:pPr lvl="0" indent="0" marL="0">
              <a:buNone/>
            </a:pPr>
          </a:p>
          <a:p>
            <a:pPr lvl="0" indent="0" marL="0">
              <a:buNone/>
            </a:pPr>
            <a:r>
              <a:rPr/>
              <a:t>Then point at the standard deviation, which is the clearest sign: </a:t>
            </a:r>
            <a:r>
              <a:rPr b="1"/>
              <a:t>± 0.000</a:t>
            </a:r>
            <a:r>
              <a:rPr/>
              <a:t>. A model that gives everything the same answer is perfectly consistent across folds. Give them that as a diagnostic to keep - a suspiciously stable cross-validation score often means a model that is not using its input.</a:t>
            </a:r>
          </a:p>
          <a:p>
            <a:pPr lvl="0" indent="0" marL="0">
              <a:buNone/>
            </a:pPr>
          </a:p>
          <a:p>
            <a:pPr lvl="0" indent="0" marL="0">
              <a:buNone/>
            </a:pPr>
            <a:r>
              <a:rPr/>
              <a:t>Connect back to lesson 5’s habit: quote the baseline first, always. Without the 0.613 in the row above, the model’s 0.613 would look like a mediocre result rather than what it is: no learning at all.</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whole method is one sentence, and it is worth pausing on how strange that is after three weeks of optimisation. There is no cost function, no gradient, no parameters. Nothing is estimated.</a:t>
            </a:r>
          </a:p>
          <a:p>
            <a:pPr lvl="0" indent="0" marL="0">
              <a:buNone/>
            </a:pPr>
          </a:p>
          <a:p>
            <a:pPr lvl="0" indent="0" marL="0">
              <a:buNone/>
            </a:pPr>
            <a:r>
              <a:rPr/>
              <a:t>Ask the room what could possibly go wrong with a method that makes no assumptions. Slides 15 to 21 answer it: a method with no assumptions has no way to ignore a useless column, and that turns out to be expensive.</a:t>
            </a:r>
          </a:p>
          <a:p>
            <a:pPr lvl="0" indent="0" marL="0">
              <a:buNone/>
            </a:pPr>
          </a:p>
          <a:p>
            <a:pPr lvl="0" indent="0" marL="0">
              <a:buNone/>
            </a:pPr>
            <a:r>
              <a:rPr/>
              <a:t>The sentence hides two decisions - what “closest” means, and how many neighbours k to use - and both change the result. Take them in that order.</a:t>
            </a:r>
          </a:p>
          <a:p>
            <a:pPr lvl="0" indent="0" marL="0">
              <a:buNone/>
            </a:pPr>
          </a:p>
          <a:p>
            <a:pPr lvl="0" indent="0" marL="0">
              <a:buNone/>
            </a:pPr>
            <a:r>
              <a:rPr/>
              <a:t>Handout section 2.1.</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Euclidean distance, almost always. Do not dwell on the formula; dwell on what it implies, which is the next slide.</a:t>
            </a:r>
          </a:p>
          <a:p>
            <a:pPr lvl="0" indent="0" marL="0">
              <a:buNone/>
            </a:pPr>
          </a:p>
          <a:p>
            <a:pPr lvl="0" indent="0" marL="0">
              <a:buNone/>
            </a:pPr>
            <a:r>
              <a:rPr/>
              <a:t>The observation that matters: every feature contributes to that sum through its own units. There is nothing in the expression that knows Hz from bar. Distance is the only way the data reaches the method: there are no coefficients, no weights, nothing that could say one column matters more than another.</a:t>
            </a:r>
          </a:p>
          <a:p>
            <a:pPr lvl="0" indent="0" marL="0">
              <a:buNone/>
            </a:pPr>
          </a:p>
          <a:p>
            <a:pPr lvl="0" indent="0" marL="0">
              <a:buNone/>
            </a:pPr>
            <a:r>
              <a:rPr/>
              <a:t>Say that plainly: for k-NN, the distance IS the model. Anything that distorts the distance distorts everything.</a:t>
            </a:r>
          </a:p>
          <a:p>
            <a:pPr lvl="0" indent="0" marL="0">
              <a:buNone/>
            </a:pPr>
          </a:p>
          <a:p>
            <a:pPr lvl="0" indent="0" marL="0">
              <a:buNone/>
            </a:pPr>
            <a:r>
              <a:rPr/>
              <a:t>Handout section 2.1 has it with the scaling argument attached.</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 lesson 2 scaling looked like good housekeeping; here it is the difference between a working model and a broken one.</a:t>
            </a:r>
          </a:p>
          <a:p>
            <a:pPr lvl="0" indent="0" marL="0">
              <a:buNone/>
            </a:pPr>
          </a:p>
          <a:p>
            <a:pPr lvl="0" indent="0" marL="0">
              <a:buNone/>
            </a:pPr>
            <a:r>
              <a:rPr/>
              <a:t>Work the arithmetic out loud. Two pumps differing by 10 Hz and 0 bar are 10 apart. Two differing by 0 Hz and 1 bar are 1 apart. So the algorithm considers the second pair ten times more similar - for no reason other than the units somebody chose when the sensors were installed.</a:t>
            </a:r>
          </a:p>
          <a:p>
            <a:pPr lvl="0" indent="0" marL="0">
              <a:buNone/>
            </a:pPr>
          </a:p>
          <a:p>
            <a:pPr lvl="0" indent="0" marL="0">
              <a:buNone/>
            </a:pPr>
            <a:r>
              <a:rPr/>
              <a:t>The consequence: without standardisation, vibration alone decides which pumps are neighbours, and pressure has almost no effect. Change the pressure sensor to millibar and the model’s answers change. That should feel unacceptable, and it is.</a:t>
            </a:r>
          </a:p>
          <a:p>
            <a:pPr lvl="0" indent="0" marL="0">
              <a:buNone/>
            </a:pPr>
          </a:p>
          <a:p>
            <a:pPr lvl="0" indent="0" marL="0">
              <a:buNone/>
            </a:pPr>
            <a:r>
              <a:rPr/>
              <a:t>Practical instruction: k-NN goes in a Pipeline with StandardScaler, always, and the scaler is fitted on the training part of each fold only, as lesson 5 required.</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Lesson 5 split the error into bias and variance, and had to train the model on 300 different training sets to show it. Here you watch the same trade-off by turning one integer, and that is why this slide is worth more time than its size suggests.</a:t>
            </a:r>
          </a:p>
          <a:p>
            <a:pPr lvl="0" indent="0" marL="0">
              <a:buNone/>
            </a:pPr>
          </a:p>
          <a:p>
            <a:pPr lvl="0" indent="0" marL="0">
              <a:buNone/>
            </a:pPr>
            <a:r>
              <a:rPr/>
              <a:t>The k = 1 claim is the one to make them prove to themselves. Ask why the training accuracy is exactly 1.000 at k = 1, and wait. The answer is that every training point is its own nearest neighbour, at distance zero. So it votes for itself and wins.</a:t>
            </a:r>
          </a:p>
          <a:p>
            <a:pPr lvl="0" indent="0" marL="0">
              <a:buNone/>
            </a:pPr>
          </a:p>
          <a:p>
            <a:pPr lvl="0" indent="0" marL="0">
              <a:buNone/>
            </a:pPr>
            <a:r>
              <a:rPr/>
              <a:t>That is the purest illustration in the whole course of lesson 5’s point: a training score can be perfect and say nothing about how the model does on new data. Here the perfect score is guaranteed by how k = 1 works, whatever the data.</a:t>
            </a:r>
          </a:p>
          <a:p>
            <a:pPr lvl="0" indent="0" marL="0">
              <a:buNone/>
            </a:pPr>
          </a:p>
          <a:p>
            <a:pPr lvl="0" indent="0" marL="0">
              <a:buNone/>
            </a:pPr>
            <a:r>
              <a:rPr/>
              <a:t>Handout section 2.2.</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Read the first row, then the last, then the middle.</a:t>
            </a:r>
          </a:p>
          <a:p>
            <a:pPr lvl="0" indent="0" marL="0">
              <a:buNone/>
            </a:pPr>
          </a:p>
          <a:p>
            <a:pPr lvl="0" indent="0" marL="0">
              <a:buNone/>
            </a:pPr>
            <a:r>
              <a:rPr/>
              <a:t>Row one: training 1.000, honest 0.912. The difference between them is lesson 5’s warning about training scores, in a single row.</a:t>
            </a:r>
          </a:p>
          <a:p>
            <a:pPr lvl="0" indent="0" marL="0">
              <a:buNone/>
            </a:pPr>
          </a:p>
          <a:p>
            <a:pPr lvl="0" indent="0" marL="0">
              <a:buNone/>
            </a:pPr>
            <a:r>
              <a:rPr/>
              <a:t>The best value is k = 5, at 0.944 - wide enough to average out the flipped labels, narrow enough to still follow the boundary. Note that it is not dramatically better than 15 or 51: the choice of k is forgiving over a wide range, which is worth saying because otherwise they will spend a long search on a choice that hardly matters.</a:t>
            </a:r>
          </a:p>
          <a:p>
            <a:pPr lvl="0" indent="0" marL="0">
              <a:buNone/>
            </a:pPr>
          </a:p>
          <a:p>
            <a:pPr lvl="0" indent="0" marL="0">
              <a:buNone/>
            </a:pPr>
            <a:r>
              <a:rPr/>
              <a:t>The last row is the interesting failure. At k = 401 the training score has collapsed too, which distinguishes it from overfitting: this model is bad everywhere, not just on data it has not seen. That is what high bias looks like: a model too simple to follow the data.</a:t>
            </a:r>
          </a:p>
          <a:p>
            <a:pPr lvl="0" indent="0" marL="0">
              <a:buNone/>
            </a:pPr>
          </a:p>
          <a:p>
            <a:pPr lvl="0" indent="0" marL="0">
              <a:buNone/>
            </a:pPr>
            <a:r>
              <a:rPr/>
              <a:t>Compare 0.944 against the ceiling of 0.96, not against 1.000.</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Point at the left edge first. The training curve starts at exactly 1.000 and falls; that is the k = 1 identity, drawn.</a:t>
            </a:r>
          </a:p>
          <a:p>
            <a:pPr lvl="0" indent="0" marL="0">
              <a:buNone/>
            </a:pPr>
          </a:p>
          <a:p>
            <a:pPr lvl="0" indent="0" marL="0">
              <a:buNone/>
            </a:pPr>
            <a:r>
              <a:rPr/>
              <a:t>Then the two horizontal lines, which are the honest frame for reading any score in this lesson: the noise ceiling at 0.96, which nothing can exceed, and the majority baseline at 0.613, which everything should.</a:t>
            </a:r>
          </a:p>
          <a:p>
            <a:pPr lvl="0" indent="0" marL="0">
              <a:buNone/>
            </a:pPr>
          </a:p>
          <a:p>
            <a:pPr lvl="0" indent="0" marL="0">
              <a:buNone/>
            </a:pPr>
            <a:r>
              <a:rPr/>
              <a:t>A large gap between the two curves is a symptom of high variance; watch it close as k grows. Where the curves meet and then fall together, the variance is gone and bias has taken over: the model has become too smooth. The minimum of the honest curve sits just before that.</a:t>
            </a:r>
          </a:p>
          <a:p>
            <a:pPr lvl="0" indent="0" marL="0">
              <a:buNone/>
            </a:pPr>
          </a:p>
          <a:p>
            <a:pPr lvl="0" indent="0" marL="0">
              <a:buNone/>
            </a:pPr>
            <a:r>
              <a:rPr/>
              <a:t>Ask them which end of this plot they would have picked by looking at the training curve alone. The answer is the far left, k = 1, one of the worst models on the plot by its cross-validated score.</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Three panels, and each says something different.</a:t>
            </a:r>
          </a:p>
          <a:p>
            <a:pPr lvl="0" indent="0" marL="0">
              <a:buNone/>
            </a:pPr>
          </a:p>
          <a:p>
            <a:pPr lvl="0" indent="0" marL="0">
              <a:buNone/>
            </a:pPr>
            <a:r>
              <a:rPr/>
              <a:t>k = 1: the boundary is ragged, with islands around individual points. Those islands are the mislabelled 4% - the model has carved out a small territory for each one. That is variance made visible.</a:t>
            </a:r>
          </a:p>
          <a:p>
            <a:pPr lvl="0" indent="0" marL="0">
              <a:buNone/>
            </a:pPr>
          </a:p>
          <a:p>
            <a:pPr lvl="0" indent="0" marL="0">
              <a:buNone/>
            </a:pPr>
            <a:r>
              <a:rPr/>
              <a:t>k = 15: a clean disc, close to the envelope that actually generated the data.</a:t>
            </a:r>
          </a:p>
          <a:p>
            <a:pPr lvl="0" indent="0" marL="0">
              <a:buNone/>
            </a:pPr>
          </a:p>
          <a:p>
            <a:pPr lvl="0" indent="0" marL="0">
              <a:buNone/>
            </a:pPr>
            <a:r>
              <a:rPr/>
              <a:t>k = 401 is the one worth the time, because it does not do what people expect. It has not collapsed to a single class. The boundary has INFLATED past the true envelope and now swallows faulty pumps. Why it grows rather than shrinks: with 401 votes, a pump just outside the envelope counts nearly the whole healthy disc among its neighbours - the healthy pumps are packed tightly in the middle - while the faulty pumps are spread thinly round the ring. So the healthy votes win outside the envelope too. The model no longer follows the boundary; it averages the votes across it.</a:t>
            </a:r>
          </a:p>
          <a:p>
            <a:pPr lvl="0" indent="0" marL="0">
              <a:buNone/>
            </a:pPr>
          </a:p>
          <a:p>
            <a:pPr lvl="0" indent="0" marL="0">
              <a:buNone/>
            </a:pPr>
            <a:r>
              <a:rPr/>
              <a:t>Handout section 2.2 carries the same three panels.</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first cost is engineering. For 1,200 pumps it is nothing. For ten million rows answering a thousand queries a second it is the entire problem, and it is why there is a whole family of software for finding approximate nearest neighbours quickly. Mention that scikit-learn by default uses a k-d tree or a ball tree (data structures that avoid comparing the query with every row), which helps in low dimensions and stops helping in high ones - for reasons that are the next segment.</a:t>
            </a:r>
          </a:p>
          <a:p>
            <a:pPr lvl="0" indent="0" marL="0">
              <a:buNone/>
            </a:pPr>
          </a:p>
          <a:p>
            <a:pPr lvl="0" indent="0" marL="0">
              <a:buNone/>
            </a:pPr>
            <a:r>
              <a:rPr/>
              <a:t>The second cost is easy to miss and matters more often. Every other model in this course compresses its training data into parameters and then throws the data away. k-NN cannot: to make a prediction it must hold the training set.</a:t>
            </a:r>
          </a:p>
          <a:p>
            <a:pPr lvl="0" indent="0" marL="0">
              <a:buNone/>
            </a:pPr>
          </a:p>
          <a:p>
            <a:pPr lvl="0" indent="0" marL="0">
              <a:buNone/>
            </a:pPr>
            <a:r>
              <a:rPr/>
              <a:t>Spell out what that means when the training set is medical records or customer transactions. Shipping the model means shipping the data - to a phone, to a customer’s server, to a third party. That is a legal question before it is a technical one. This lesson’s Resources document and lesson 2’s cover it.</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Set the experiment up carefully before showing the result, because the whole force of it depends on them believing that nothing was taken away.</a:t>
            </a:r>
          </a:p>
          <a:p>
            <a:pPr lvl="0" indent="0" marL="0">
              <a:buNone/>
            </a:pPr>
          </a:p>
          <a:p>
            <a:pPr lvl="0" indent="0" marL="0">
              <a:buNone/>
            </a:pPr>
            <a:r>
              <a:rPr/>
              <a:t>Say it twice if necessary: the signal is still there. Both original columns are present, unmodified, and still sufficient to solve the problem perfectly. We are adding columns that contain nothing - no relationship to the label, no relationship to each other.</a:t>
            </a:r>
          </a:p>
          <a:p>
            <a:pPr lvl="0" indent="0" marL="0">
              <a:buNone/>
            </a:pPr>
          </a:p>
          <a:p>
            <a:pPr lvl="0" indent="0" marL="0">
              <a:buNone/>
            </a:pPr>
            <a:r>
              <a:rPr/>
              <a:t>Ask for a prediction before you advance. Most of the room will say performance degrades gently, or not at all, because the useful information is intact. That instinct is exactly right for a linear model and exactly wrong here, and the next slide is why.</a:t>
            </a:r>
          </a:p>
          <a:p>
            <a:pPr lvl="0" indent="0" marL="0">
              <a:buNone/>
            </a:pPr>
          </a:p>
          <a:p>
            <a:pPr lvl="0" indent="0" marL="0">
              <a:buNone/>
            </a:pPr>
            <a:r>
              <a:rPr/>
              <a:t>Handout section 3.1.</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Read down the last column, slowly, and stop at the fourth row.</a:t>
            </a:r>
          </a:p>
          <a:p>
            <a:pPr lvl="0" indent="0" marL="0">
              <a:buNone/>
            </a:pPr>
          </a:p>
          <a:p>
            <a:pPr lvl="0" indent="0" marL="0">
              <a:buNone/>
            </a:pPr>
            <a:r>
              <a:rPr/>
              <a:t>At 52 columns - that is 2 real and 50 empty - k-NN is BELOW the majority baseline. A model that ignored the data entirely and always answered “faulty” would now do better than a model that looked at it.</a:t>
            </a:r>
          </a:p>
          <a:p>
            <a:pPr lvl="0" indent="0" marL="0">
              <a:buNone/>
            </a:pPr>
          </a:p>
          <a:p>
            <a:pPr lvl="0" indent="0" marL="0">
              <a:buNone/>
            </a:pPr>
            <a:r>
              <a:rPr/>
              <a:t>Let that be uncomfortable before explaining. Nothing was removed. Fifty columns of nothing were added, and they destroyed a method that a moment ago was near the noise ceiling.</a:t>
            </a:r>
          </a:p>
          <a:p>
            <a:pPr lvl="0" indent="0" marL="0">
              <a:buNone/>
            </a:pPr>
          </a:p>
          <a:p>
            <a:pPr lvl="0" indent="0" marL="0">
              <a:buNone/>
            </a:pPr>
            <a:r>
              <a:rPr/>
              <a:t>Point out that the damage is already serious at 12 columns: 0.938 down to 0.762 for ten empty columns. Twelve features is not a large table. Nobody would look at a twelve-column dataset and think “high-dimensional”.</a:t>
            </a:r>
          </a:p>
          <a:p>
            <a:pPr lvl="0" indent="0" marL="0">
              <a:buNone/>
            </a:pPr>
          </a:p>
          <a:p>
            <a:pPr lvl="0" indent="0" marL="0">
              <a:buNone/>
            </a:pPr>
            <a:r>
              <a:rPr/>
              <a:t>The reason is on the next slides, and it is a property of distances in many dimensions, not of this dataset.</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Give the picture in words before showing it - the figure is on the next slide, and it lands better once they have pictured it themselves.</a:t>
            </a:r>
          </a:p>
          <a:p>
            <a:pPr lvl="0" indent="0" marL="0">
              <a:buNone/>
            </a:pPr>
          </a:p>
          <a:p>
            <a:pPr lvl="0" indent="0" marL="0">
              <a:buNone/>
            </a:pPr>
            <a:r>
              <a:rPr/>
              <a:t>In two dimensions, the nearest point is genuinely near and the farthest is genuinely far. That difference is the entire basis on which k-NN operates: it assumes that “the five nearest” is a meaningfully different set from “five chosen at random”.</a:t>
            </a:r>
          </a:p>
          <a:p>
            <a:pPr lvl="0" indent="0" marL="0">
              <a:buNone/>
            </a:pPr>
          </a:p>
          <a:p>
            <a:pPr lvl="0" indent="0" marL="0">
              <a:buNone/>
            </a:pPr>
            <a:r>
              <a:rPr/>
              <a:t>Now add dimensions. Every new coordinate contributes its own squared difference to every pairwise distance. Those contributions are independent draws from the same distribution, so by the law of large numbers their sum grows while its spread, relative to its size, shrinks: every distance ends up close to the same value.</a:t>
            </a:r>
          </a:p>
          <a:p>
            <a:pPr lvl="0" indent="0" marL="0">
              <a:buNone/>
            </a:pPr>
          </a:p>
          <a:p>
            <a:pPr lvl="0" indent="0" marL="0">
              <a:buNone/>
            </a:pPr>
            <a:r>
              <a:rPr/>
              <a:t>Say explicitly that this has nothing to do with k-NN, or with machine learning at all. It is a fact about high-dimensional Euclidean space. k-NN is simply the first method we have met that depends on it.</a:t>
            </a:r>
          </a:p>
          <a:p>
            <a:pPr lvl="0" indent="0" marL="0">
              <a:buNone/>
            </a:pPr>
          </a:p>
          <a:p>
            <a:pPr lvl="0" indent="0" marL="0">
              <a:buNone/>
            </a:pPr>
            <a:r>
              <a:rPr/>
              <a:t>Handout section 3.2 has the derivation.</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ratio of the nearest distance to the farthest, plotted against dimension. It climbs towards 1, and 1 is the point at which every point is the same distance from every other point.</a:t>
            </a:r>
          </a:p>
          <a:p>
            <a:pPr lvl="0" indent="0" marL="0">
              <a:buNone/>
            </a:pPr>
          </a:p>
          <a:p>
            <a:pPr lvl="0" indent="0" marL="0">
              <a:buNone/>
            </a:pPr>
            <a:r>
              <a:rPr/>
              <a:t>The shape is the thing to notice: the damage is done early. Most of the rise happens in the first fifty dimensions, well below anything anyone would call high-dimensional. By the time you are worrying about a thousand features, most of the damage has already happened.</a:t>
            </a:r>
          </a:p>
          <a:p>
            <a:pPr lvl="0" indent="0" marL="0">
              <a:buNone/>
            </a:pPr>
          </a:p>
          <a:p>
            <a:pPr lvl="0" indent="0" marL="0">
              <a:buNone/>
            </a:pPr>
            <a:r>
              <a:rPr/>
              <a:t>Connect it back to the previous table so nobody treats this as a separate curiosity. The reason 52 columns took k-NN below the baseline is drawn on this plot: at that width, “nearest” has already stopped meaning much.</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same curve as numbers, because these are the ones worth carrying out of the room.</a:t>
            </a:r>
          </a:p>
          <a:p>
            <a:pPr lvl="0" indent="0" marL="0">
              <a:buNone/>
            </a:pPr>
          </a:p>
          <a:p>
            <a:pPr lvl="0" indent="0" marL="0">
              <a:buNone/>
            </a:pPr>
            <a:r>
              <a:rPr/>
              <a:t>Start at the top. In two dimensions the nearest point is about 2% as far away as the farthest. “Nearest” is a strong claim there - it picks out something genuinely special.</a:t>
            </a:r>
          </a:p>
          <a:p>
            <a:pPr lvl="0" indent="0" marL="0">
              <a:buNone/>
            </a:pPr>
          </a:p>
          <a:p>
            <a:pPr lvl="0" indent="0" marL="0">
              <a:buNone/>
            </a:pPr>
            <a:r>
              <a:rPr/>
              <a:t>Then walk down. By ten dimensions it is a quarter. By fifty it is more than half.</a:t>
            </a:r>
          </a:p>
          <a:p>
            <a:pPr lvl="0" indent="0" marL="0">
              <a:buNone/>
            </a:pPr>
          </a:p>
          <a:p>
            <a:pPr lvl="0" indent="0" marL="0">
              <a:buNone/>
            </a:pPr>
            <a:r>
              <a:rPr/>
              <a:t>Give them the ten-dimension row as the practical warning, because it is the one that applies to their work: at a size that feels completely ordinary, the nearest neighbour is already a quarter of the way to being an arbitrary point.</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number to carry out of today, so slow down and say it twice.</a:t>
            </a:r>
          </a:p>
          <a:p>
            <a:pPr lvl="0" indent="0" marL="0">
              <a:buNone/>
            </a:pPr>
          </a:p>
          <a:p>
            <a:pPr lvl="0" indent="0" marL="0">
              <a:buNone/>
            </a:pPr>
            <a:r>
              <a:rPr/>
              <a:t>Seventy per cent. The closest point in your entire dataset is seven tenths of the way to the furthest one. There is almost nothing left of the idea of a neighbourhood.</a:t>
            </a:r>
          </a:p>
          <a:p>
            <a:pPr lvl="0" indent="0" marL="0">
              <a:buNone/>
            </a:pPr>
          </a:p>
          <a:p>
            <a:pPr lvl="0" indent="0" marL="0">
              <a:buNone/>
            </a:pPr>
            <a:r>
              <a:rPr/>
              <a:t>And then the sentence that makes it operational: if the nearest five points are barely nearer than five chosen at random, a majority vote among them is barely different from a majority vote among five random labels - which is the base rate, which is exactly what the 52-column row showed.</a:t>
            </a:r>
          </a:p>
          <a:p>
            <a:pPr lvl="0" indent="0" marL="0">
              <a:buNone/>
            </a:pPr>
          </a:p>
          <a:p>
            <a:pPr lvl="0" indent="0" marL="0">
              <a:buNone/>
            </a:pPr>
            <a:r>
              <a:rPr/>
              <a:t>Ask them to write the number down. Derivations fade; this one tends not to. It comes back at the close.</a:t>
            </a:r>
          </a:p>
          <a:p>
            <a:pPr lvl="0" indent="0" marL="0">
              <a:buNone/>
            </a:pPr>
          </a:p>
          <a:p>
            <a:pPr lvl="0" indent="0" marL="0">
              <a:buNone/>
            </a:pPr>
            <a:r>
              <a:rPr/>
              <a:t>Handout section 3.2.</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Correct the overstatement before it forms, because “the curse of dimensionality” gets remembered as “high dimensions are bad” and that is not the claim.</a:t>
            </a:r>
          </a:p>
          <a:p>
            <a:pPr lvl="0" indent="0" marL="0">
              <a:buNone/>
            </a:pPr>
          </a:p>
          <a:p>
            <a:pPr lvl="0" indent="0" marL="0">
              <a:buNone/>
            </a:pPr>
            <a:r>
              <a:rPr/>
              <a:t>Neural networks work happily in thousands of dimensions. So do linear models with regularisation. What breaks is specifically the family of methods whose mechanism is a distance, because a quantity that no longer varies can no longer discriminate. Name the three that appear in this course: k-NN today, k-means in lesson 8, and the RBF kernel later today, which measures similarity through the same Euclidean distance.</a:t>
            </a:r>
          </a:p>
          <a:p>
            <a:pPr lvl="0" indent="0" marL="0">
              <a:buNone/>
            </a:pPr>
          </a:p>
          <a:p>
            <a:pPr lvl="0" indent="0" marL="0">
              <a:buNone/>
            </a:pPr>
            <a:r>
              <a:rPr b="1"/>
              <a:t>Now the predictable mistake, and defend the instinct first.</a:t>
            </a:r>
            <a:r>
              <a:rPr/>
              <a:t> Adding features because they might help is good practice with a linear model: an irrelevant feature earns a coefficient near zero and costs you almost nothing. That reasoning is sound, and it is what they have been taught for three lessons. With k-NN the same feature costs you a dimension in the distance, and dimensions are what the method is made of. The habit is right; transferring it one lesson later does real damage. Say that the fix is to choose the features before any distance is computed, as a step inside the pipeline, so that the choice is made on the training part of each fold only - lesson 5’s rule again.</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k-NN on the pumps, choosing k, and the curse of dimensionality measured. Run notebook 01. Twenty-two minutes.</a:t>
            </a:r>
          </a:p>
          <a:p>
            <a:pPr lvl="0" indent="0" marL="0">
              <a:buNone/>
            </a:pPr>
          </a:p>
          <a:p>
            <a:pPr lvl="0" indent="0" marL="0">
              <a:buNone/>
            </a:pPr>
            <a:r>
              <a:rPr/>
              <a:t>Have them run the unscaled version first, before the pipeline appears, so they watch the score drop and can attribute it to the units rather than to the method.</a:t>
            </a:r>
          </a:p>
          <a:p>
            <a:pPr lvl="0" indent="0" marL="0">
              <a:buNone/>
            </a:pPr>
          </a:p>
          <a:p>
            <a:pPr lvl="0" indent="0" marL="0">
              <a:buNone/>
            </a:pPr>
            <a:r>
              <a:rPr/>
              <a:t>If time runs short, do not skip the noise-column sweep. Let them add the columns themselves and watch the score cross the baseline - seeing it happen convinces more than reading the table.</a:t>
            </a:r>
          </a:p>
          <a:p>
            <a:pPr lvl="0" indent="0" marL="0">
              <a:buNone/>
            </a:pPr>
          </a:p>
          <a:p>
            <a:pPr lvl="0" indent="0" marL="0">
              <a:buNone/>
            </a:pPr>
            <a:r>
              <a:rPr/>
              <a:t>If somebody finishes early, the interesting extension is to ask what happens with 50 noise columns and 12,000 rows instead of 1,200. The curse is partly a sample-size problem, and more data does push it back - just far more slowly than anyone expects.</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Twelve minutes. The second half is two more model families, so they need to come back awake.</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the strategy in words before the symbols appear. We want a quantity we cannot estimate directly. Bayes’ rule trades it for quantities we might be able to estimate. That exchange is the whole idea.</a:t>
            </a:r>
          </a:p>
          <a:p>
            <a:pPr lvl="0" indent="0" marL="0">
              <a:buNone/>
            </a:pPr>
          </a:p>
          <a:p>
            <a:pPr lvl="0" indent="0" marL="0">
              <a:buNone/>
            </a:pPr>
            <a:r>
              <a:rPr/>
              <a:t>Walk the right-hand side once. The prior is the class frequency - a count, no difficulty. The denominator is the same number for every class, so it cannot change which class wins, and it can be dropped entirely.</a:t>
            </a:r>
          </a:p>
          <a:p>
            <a:pPr lvl="0" indent="0" marL="0">
              <a:buNone/>
            </a:pPr>
          </a:p>
          <a:p>
            <a:pPr lvl="0" indent="0" marL="0">
              <a:buNone/>
            </a:pPr>
            <a:r>
              <a:rPr/>
              <a:t>That leaves one term, and it carries all the trouble: how likely is THIS combination of readings, among pumps of this class. With two features that is a two-dimensional density and we could estimate it from 1,200 rows. With twenty features it is a twenty-dimensional density, and no quantity of data populates a twenty-dimensional space.</a:t>
            </a:r>
          </a:p>
          <a:p>
            <a:pPr lvl="0" indent="0" marL="0">
              <a:buNone/>
            </a:pPr>
          </a:p>
          <a:p>
            <a:pPr lvl="0" indent="0" marL="0">
              <a:buNone/>
            </a:pPr>
            <a:r>
              <a:rPr/>
              <a:t>Point out that this is the curse of dimensionality again, from a different direction: before the break it broke distances, here it breaks the estimation of a density. Handout section 4.1.</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Left, what we want: the probability of the class given this pump’s readings. Right, what the data can supply: how often pumps of that class produce readings like these, times how common the class is.</a:t>
            </a:r>
          </a:p>
          <a:p>
            <a:pPr lvl="0" indent="0" marL="0">
              <a:buNone/>
            </a:pPr>
          </a:p>
          <a:p>
            <a:pPr lvl="0" indent="0" marL="0">
              <a:buNone/>
            </a:pPr>
            <a:r>
              <a:rPr/>
              <a:t>Point at the denominator and say it out loud once: it does not depend on c, so it is the same number for healthy and for faulty. We are choosing the larger of two quantities, and dividing both by the same thing changes nothing. It can be dropped, and scikit-learn drops it.</a:t>
            </a:r>
          </a:p>
          <a:p>
            <a:pPr lvl="0" indent="0" marL="0">
              <a:buNone/>
            </a:pPr>
          </a:p>
          <a:p>
            <a:pPr lvl="0" indent="0" marL="0">
              <a:buNone/>
            </a:pPr>
            <a:r>
              <a:rPr/>
              <a:t>What remains is the numerator, and only the first factor is hard. Handout section 3.1 works the same rule through with counts if anyone wants it in numbers rather than symbols.</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classifier, before any assumption: score each class by the numerator and pick the largest. The denominator has gone because it is the same for every class.</a:t>
            </a:r>
          </a:p>
          <a:p>
            <a:pPr lvl="0" indent="0" marL="0">
              <a:buNone/>
            </a:pPr>
          </a:p>
          <a:p>
            <a:pPr lvl="0" indent="0" marL="0">
              <a:buNone/>
            </a:pPr>
            <a:r>
              <a:rPr/>
              <a:t>Expect someone to object that the number is then no longer a probability. The instinct is sound - a term has been thrown away - and the answer is that it is recoverable. The denominator is the sum of the numerators over the classes, so dividing each score by the sum of the scores gives the probability back exactly. That is what predict_proba does, in logarithms. Dropping it does not make the probabilities less reliable. Where Naive Bayes’s probabilities do go wrong is inside the numerator, because of the assumption, and slide 43 shows it.</a:t>
            </a:r>
          </a:p>
          <a:p>
            <a:pPr lvl="0" indent="0" marL="0">
              <a:buNone/>
            </a:pPr>
          </a:p>
          <a:p>
            <a:pPr lvl="0" indent="0" marL="0">
              <a:buNone/>
            </a:pPr>
            <a:r>
              <a:rPr/>
              <a:t>Then point at the first factor: this is where all the difficulty now sits, and the next slide is the assumption that makes it estimable. Handout section 4.1 carries a worked example with the pumps’ priors.</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One assumption, stated in one line, and everything follows from it.</a:t>
            </a:r>
          </a:p>
          <a:p>
            <a:pPr lvl="0" indent="0" marL="0">
              <a:buNone/>
            </a:pPr>
          </a:p>
          <a:p>
            <a:pPr lvl="0" indent="0" marL="0">
              <a:buNone/>
            </a:pPr>
            <a:r>
              <a:rPr/>
              <a:t>Emphasise the words “given the class”. This is not a claim that the features are independent - it is a claim that whatever dependence they have is entirely explained by which class they belong to. Those are different claims and the distinction matters on slide 38, when we measure it.</a:t>
            </a:r>
          </a:p>
          <a:p>
            <a:pPr lvl="0" indent="0" marL="0">
              <a:buNone/>
            </a:pPr>
          </a:p>
          <a:p>
            <a:pPr lvl="0" indent="0" marL="0">
              <a:buNone/>
            </a:pPr>
            <a:r>
              <a:rPr/>
              <a:t>What it buys: one n-dimensional estimation problem becomes n one-dimensional ones. A one-dimensional density needs very little data. Training becomes a single pass computing a mean and a variance per feature per class - there is no iteration, no optimisation, nothing to converge.</a:t>
            </a:r>
          </a:p>
          <a:p>
            <a:pPr lvl="0" indent="0" marL="0">
              <a:buNone/>
            </a:pPr>
          </a:p>
          <a:p>
            <a:pPr lvl="0" indent="0" marL="0">
              <a:buNone/>
            </a:pPr>
            <a:r>
              <a:rPr/>
              <a:t>Mention that in practice this is computed as a sum of logarithms, for the same reason lesson 4 used the log-likelihood: a product of several hundred small probabilities is too small for the computer to store, and becomes exactly zero (this is called underflow). Handout section 4.2 has the log form.</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naive assumption, written down. One n-dimensional density on the left; n one-dimensional densities on the right.</a:t>
            </a:r>
          </a:p>
          <a:p>
            <a:pPr lvl="0" indent="0" marL="0">
              <a:buNone/>
            </a:pPr>
          </a:p>
          <a:p>
            <a:pPr lvl="0" indent="0" marL="0">
              <a:buNone/>
            </a:pPr>
            <a:r>
              <a:rPr/>
              <a:t>Why that matters is a counting argument, and it is worth making concrete. To estimate the left-hand side directly you would need enough pumps to fill an n-dimensional space - the curse of dimensionality from before the break, in a new form. To estimate the right-hand side you need enough pumps to fit n separate histograms, which is a completely different demand.</a:t>
            </a:r>
          </a:p>
          <a:p>
            <a:pPr lvl="0" indent="0" marL="0">
              <a:buNone/>
            </a:pPr>
          </a:p>
          <a:p>
            <a:pPr lvl="0" indent="0" marL="0">
              <a:buNone/>
            </a:pPr>
            <a:r>
              <a:rPr/>
              <a:t>That is the whole bargain: an assumption that is usually false, traded for an estimation problem that is actually solvable. Notebook 02 measures what the assumption costs when it fails.</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factorisation leaves one choice open: what shape each one-dimensional density has. “Gaussian” answers it. Every feature, in every class, gets its own bell curve with its own centre mu and its own width sigma.</a:t>
            </a:r>
          </a:p>
          <a:p>
            <a:pPr lvl="0" indent="0" marL="0">
              <a:buNone/>
            </a:pPr>
          </a:p>
          <a:p>
            <a:pPr lvl="0" indent="0" marL="0">
              <a:buNone/>
            </a:pPr>
            <a:r>
              <a:rPr/>
              <a:t>So say plainly what training is, because students expect an optimisation and there is none. Training computes three kinds of average: the class priors, and a mean and a variance per feature per class. One pass over the data. No gradient descent, no learning rate, no iterations, nothing to converge.</a:t>
            </a:r>
          </a:p>
          <a:p>
            <a:pPr lvl="0" indent="0" marL="0">
              <a:buNone/>
            </a:pPr>
          </a:p>
          <a:p>
            <a:pPr lvl="0" indent="0" marL="0">
              <a:buNone/>
            </a:pPr>
            <a:r>
              <a:rPr/>
              <a:t>Ask the room how many numbers that is for the pumps - two features, two classes. Let them count: two priors, four means, four variances. Ten. The next slide shows all ten. Handout section 4.2.</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Let them read the means first and find the surprise themselves: the two classes have the same centre, to a few hundredths of a hertz. What differs is the width. Healthy pumps are a narrow bell around the design point, faulty ones a wide bell - the disc and the ring, one feature at a time.</a:t>
            </a:r>
          </a:p>
          <a:p>
            <a:pPr lvl="0" indent="0" marL="0">
              <a:buNone/>
            </a:pPr>
          </a:p>
          <a:p>
            <a:pPr lvl="0" indent="0" marL="0">
              <a:buNone/>
            </a:pPr>
            <a:r>
              <a:rPr/>
              <a:t>This explains the result they are about to see. A linear model separates classes by putting a boundary between their means, and here there is nothing between the means to find, so logistic regression will sit at the baseline. Naive Bayes compares widths.</a:t>
            </a:r>
          </a:p>
          <a:p>
            <a:pPr lvl="0" indent="0" marL="0">
              <a:buNone/>
            </a:pPr>
          </a:p>
          <a:p>
            <a:pPr lvl="0" indent="0" marL="0">
              <a:buNone/>
            </a:pPr>
            <a:r>
              <a:rPr/>
              <a:t>One pump makes it concrete. At 48 Hz and 5.6 bar, 6 Hz off the design point, that is three and a half healthy standard deviations but barely more than one faulty one. The vibration term decides it: P(faulty) = 0.981. At the design point itself, 42 Hz and 5.6 bar, P(healthy) = 0.820. The next slide draws it.</a:t>
            </a:r>
          </a:p>
          <a:p>
            <a:pPr lvl="0" indent="0" marL="0">
              <a:buNone/>
            </a:pPr>
          </a:p>
          <a:p>
            <a:pPr lvl="0" indent="0" marL="0">
              <a:buNone/>
            </a:pPr>
            <a:r>
              <a:rPr/>
              <a:t>If someone spots in the handout that one log-density is positive, that is the moment to say a density is not a probability: it is a probability per unit of pressure, and a bell with a standard deviation of 0.219 bar has to peak at about 1.82 for its total area to be 1. Handout section 4.2 works the pump through term by term.</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previous slide’s numbers, drawn. Left, vibration: both bells are centred on 42 Hz, and the only difference is width. Follow the dashed line at 48 Hz up. The narrow healthy bell has fallen almost to nothing there - 6 Hz is three and a half of its standard deviations - while the wide faulty bell, for which 6 Hz is barely more than one, is still well up: 86 times higher.</a:t>
            </a:r>
          </a:p>
          <a:p>
            <a:pPr lvl="0" indent="0" marL="0">
              <a:buNone/>
            </a:pPr>
          </a:p>
          <a:p>
            <a:pPr lvl="0" indent="0" marL="0">
              <a:buNone/>
            </a:pPr>
            <a:r>
              <a:rPr/>
              <a:t>Then the other dashed line, at 42 Hz, the design point: there the narrow bell is on top, and that pump comes out healthy, 0.820.</a:t>
            </a:r>
          </a:p>
          <a:p>
            <a:pPr lvl="0" indent="0" marL="0">
              <a:buNone/>
            </a:pPr>
          </a:p>
          <a:p>
            <a:pPr lvl="0" indent="0" marL="0">
              <a:buNone/>
            </a:pPr>
            <a:r>
              <a:rPr/>
              <a:t>Right, pressure: 5.6 bar is central for both classes, so this reading barely discriminates - and the narrow healthy bell peaks at about 1.82, which is why its log-density comes out positive on the next slide. A density is not a probability.</a:t>
            </a:r>
          </a:p>
          <a:p>
            <a:pPr lvl="0" indent="0" marL="0">
              <a:buNone/>
            </a:pPr>
          </a:p>
          <a:p>
            <a:pPr lvl="0" indent="0" marL="0">
              <a:buNone/>
            </a:pPr>
            <a:r>
              <a:rPr/>
              <a:t>The next slide puts these heights, as logarithms, in a table.</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Inside the bracket on the left is the classifier as slides 26 and 28 built it: prior times one density per reading, the class with the largest product winning. The equation says its log is a sum, and the title says why that is allowed: ln is increasing, so the class with the largest product is also the class with the largest log. The logs are natural logs - base e - which matters on slide 34, when we undo them with e. Say why nobody computes the left-hand side directly. With hundreds of features the product is hundreds of small numbers multiplied together, and it becomes too small to store, exactly zero in floating point (underflow) - 0.5 to the power 300 is already 5 times 10 to the minus 91, and real likelihoods are far smaller than 0.5. Every class then scores zero and nothing can be compared.</a:t>
            </a:r>
          </a:p>
          <a:p>
            <a:pPr lvl="0" indent="0" marL="0">
              <a:buNone/>
            </a:pPr>
          </a:p>
          <a:p>
            <a:pPr lvl="0" indent="0" marL="0">
              <a:buNone/>
            </a:pPr>
            <a:r>
              <a:rPr/>
              <a:t>Two facts fix it. The logarithm is increasing, so whichever class has the larger product also has the larger log: the arg max does not change. And the log of a product is the sum of the logs. So: add one log per reading to the log prior, and compare the sums. This is lesson 4’s log-likelihood, for the same reason.</a:t>
            </a:r>
          </a:p>
          <a:p>
            <a:pPr lvl="0" indent="0" marL="0">
              <a:buNone/>
            </a:pPr>
          </a:p>
          <a:p>
            <a:pPr lvl="0" indent="0" marL="0">
              <a:buNone/>
            </a:pPr>
            <a:r>
              <a:rPr/>
              <a:t>Show it on the 48 Hz pump before the table, so the table is not a surprise. Healthy: 0.3875 times 0.000433 times 1.818 = 0.000305; in logs, −0.948 − 7.745 + 0.598 = −8.095, and e^(−8.095) is the same 0.000305. Faulty: 0.6125 times 0.0374 times 0.692 = 0.01585; in logs, −4.144. The next slide is exactly those numbers. Handout section 4.2.</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table is the whole of prediction (inference), and it is worth saying how little computation it needs. Read each class as two rows. The value row is the product form: the prior from slide 30, and the height of that class’s bell at each reading - the dots on slide 31 - each density conditional on the class. Multiply across and you get the score. The ln row is the same numbers logged, and the sum across is the log score. The last column is the point of the previous slide: e^(−8.095) is 0.000305, so the sum of logs and the product carry the same information. Compare the totals: that is the prediction. No training row is consulted - only the ten stored numbers - which is the exact opposite of k-NN, where prediction is the whole cost.</a:t>
            </a:r>
          </a:p>
          <a:p>
            <a:pPr lvl="0" indent="0" marL="0">
              <a:buNone/>
            </a:pPr>
          </a:p>
          <a:p>
            <a:pPr lvl="0" indent="0" marL="0">
              <a:buNone/>
            </a:pPr>
            <a:r>
              <a:rPr/>
              <a:t>Walk the pump across. Vibration decides it: 48 Hz is 6 Hz from the centre, three and a half standard deviations for the narrow healthy bell, so its log density is −7.745; for the wide faulty bell it is barely more than one, −3.286. Pressure is at the centre, so it favours the narrow bell slightly - and its healthy log density is positive, +0.598, because a density is not a probability and a narrow bell peaks above 1.</a:t>
            </a:r>
          </a:p>
          <a:p>
            <a:pPr lvl="0" indent="0" marL="0">
              <a:buNone/>
            </a:pPr>
          </a:p>
          <a:p>
            <a:pPr lvl="0" indent="0" marL="0">
              <a:buNone/>
            </a:pPr>
            <a:r>
              <a:rPr/>
              <a:t>Faulty has the larger total, so faulty is the prediction. How the two totals become the 0.981 of slide 30 is the next slide. Handout section 4.2 lists the four steps.</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Three steps, one row each, and both classes side by side so they can see the two probabilities come out of the same arithmetic.</a:t>
            </a:r>
          </a:p>
          <a:p>
            <a:pPr lvl="0" indent="0" marL="0">
              <a:buNone/>
            </a:pPr>
          </a:p>
          <a:p>
            <a:pPr lvl="0" indent="0" marL="0">
              <a:buNone/>
            </a:pPr>
            <a:r>
              <a:rPr/>
              <a:t>Row 1 is the table they just read. Row 2 undoes the logarithm: e to the total gives back the Bayes numerator, prior times the two densities - the product from two slides ago, 0.3875 times 0.000433 times 1.818 = 0.000305 for healthy, and 0.01585 for faulty. These are the unnormalised scores of slide 26.</a:t>
            </a:r>
          </a:p>
          <a:p>
            <a:pPr lvl="0" indent="0" marL="0">
              <a:buNone/>
            </a:pPr>
          </a:p>
          <a:p>
            <a:pPr lvl="0" indent="0" marL="0">
              <a:buNone/>
            </a:pPr>
            <a:r>
              <a:rPr/>
              <a:t>Row 3 is slide 26’s normalisation, now with numbers. Why the sum of the two scores is P(x): by the law of total probability a pump’s readings arise either from a healthy pump or from a faulty one, so P(x) = P(healthy) P(x | healthy) + P(faulty) P(x | faulty) - the two scores added. It is the denominator of slide 25’s Bayes’ rule, the one we dropped to choose the class. Dividing each score by it gives probabilities that add to one: 0.000305 / 0.01616 = 0.019 for healthy, 0.01585 / 0.01616 = 0.981 for faulty. Ask them to check the two add to one before moving on.</a:t>
            </a:r>
          </a:p>
          <a:p>
            <a:pPr lvl="0" indent="0" marL="0">
              <a:buNone/>
            </a:pPr>
          </a:p>
          <a:p>
            <a:pPr lvl="0" indent="0" marL="0">
              <a:buNone/>
            </a:pPr>
            <a:r>
              <a:rPr/>
              <a:t>The next slide shows the same numbers computed from the gap alone, and why that is the form software uses. Handout section 4.2.</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Same result as the previous slide, reached without ever computing the two scores. Walk the first bullet slowly: dividing the numerator and the denominator of 0.01585 / (0.01585 + 0.000305) by 0.01585 leaves the fraction unchanged and turns it into 1 / (1 + 0.000305 / 0.01585).</a:t>
            </a:r>
          </a:p>
          <a:p>
            <a:pPr lvl="0" indent="0" marL="0">
              <a:buNone/>
            </a:pPr>
          </a:p>
          <a:p>
            <a:pPr lvl="0" indent="0" marL="0">
              <a:buNone/>
            </a:pPr>
            <a:r>
              <a:rPr/>
              <a:t>The second bullet is where the gap appears. The two scores are e to their totals, and a ratio of exponentials is an exponential of the difference, e^a / e^b = e^(a - b). So the ratio of the scores is e^(−8.095 + 4.144) = e^(−3.951) = 0.0192. Neither total matters on its own - only how far apart they are.</a:t>
            </a:r>
          </a:p>
          <a:p>
            <a:pPr lvl="0" indent="0" marL="0">
              <a:buNone/>
            </a:pPr>
          </a:p>
          <a:p>
            <a:pPr lvl="0" indent="0" marL="0">
              <a:buNone/>
            </a:pPr>
            <a:r>
              <a:rPr/>
              <a:t>Why software uses this form, and it is the answer to “why the gap”: with two features the scores are ordinary numbers and the previous slide works fine. With hundreds of features the totals reach −800, e^(−800) is exactly zero in floating point, and the direct fraction becomes 0/0. The gap stays an ordinary number, so the probability can always be computed.</a:t>
            </a:r>
          </a:p>
          <a:p>
            <a:pPr lvl="0" indent="0" marL="0">
              <a:buNone/>
            </a:pPr>
          </a:p>
          <a:p>
            <a:pPr lvl="0" indent="0" marL="0">
              <a:buNone/>
            </a:pPr>
            <a:r>
              <a:rPr/>
              <a:t>Then the reading that makes it intuitive. The gap is the log-odds, the logarithm of how many times more likely faulty is than healthy: e^3.951 is about 52, so faulty is 52 times as likely as healthy. Odds of 52 to 1 split the probability 52/53 = 0.981 and 1/53 = 0.019, the way anyone would for a bet. 1 / (1 + e^(−Δ)) is lesson 4’s sigmoid - odds over odds plus one, rewritten. Handout section 4.2, “From log scores to a probability”.</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Both halves matter, and students tend to hear only one of them.</a:t>
            </a:r>
          </a:p>
          <a:p>
            <a:pPr lvl="0" indent="0" marL="0">
              <a:buNone/>
            </a:pPr>
          </a:p>
          <a:p>
            <a:pPr lvl="0" indent="0" marL="0">
              <a:buNone/>
            </a:pPr>
            <a:r>
              <a:rPr/>
              <a:t>The bargain is real. Nothing else in this course trains in one pass, and few methods tolerate ten thousand features on a few thousand rows as cheaply.</a:t>
            </a:r>
          </a:p>
          <a:p>
            <a:pPr lvl="0" indent="0" marL="0">
              <a:buNone/>
            </a:pPr>
          </a:p>
          <a:p>
            <a:pPr lvl="0" indent="0" marL="0">
              <a:buNone/>
            </a:pPr>
            <a:r>
              <a:rPr/>
              <a:t>The assumption is false almost everywhere, and give concrete cases rather than a general warning. Two sensors on the same machine are both driven by the operating point, so of course they move together. In text, “New” and “York” co-occur far more than independence would allow. In medicine, symptoms of the same disease arrive in clusters.</a:t>
            </a:r>
          </a:p>
          <a:p>
            <a:pPr lvl="0" indent="0" marL="0">
              <a:buNone/>
            </a:pPr>
          </a:p>
          <a:p>
            <a:pPr lvl="0" indent="0" marL="0">
              <a:buNone/>
            </a:pPr>
            <a:r>
              <a:rPr/>
              <a:t>Then the framing that makes the rest of this segment worth doing, and put it as a question to the room: given that the assumption is essentially always false, why does anybody use this? The answer is that the assumption being false and the CLASSIFIER being wrong are different things. To choose a class, the model only needs the right class to get the highest score, not the probabilities to be right. Handout section 4.2 closes on exactly this.</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point behind k-NN, and an enormous distance ahead of the linear model - from a method that assumes something false and trains in a single pass over the data.</a:t>
            </a:r>
          </a:p>
          <a:p>
            <a:pPr lvl="0" indent="0" marL="0">
              <a:buNone/>
            </a:pPr>
          </a:p>
          <a:p>
            <a:pPr lvl="0" indent="0" marL="0">
              <a:buNone/>
            </a:pPr>
            <a:r>
              <a:rPr/>
              <a:t>Resist the temptation to stop here, because a score alone tells you nothing about when it will hold. Ask the room the useful question instead: WHY did that work? If the assumption is false, what happened?</a:t>
            </a:r>
          </a:p>
          <a:p>
            <a:pPr lvl="0" indent="0" marL="0">
              <a:buNone/>
            </a:pPr>
          </a:p>
          <a:p>
            <a:pPr lvl="0" indent="0" marL="0">
              <a:buNone/>
            </a:pPr>
            <a:r>
              <a:rPr/>
              <a:t>Then be explicit that we are about to check, rather than speculate. This is the habit worth transferring: when a model does better than you expected, find out whether it worked because its assumption held or despite it failing. That tells you whether the result will survive on the next dataset.</a:t>
            </a:r>
          </a:p>
          <a:p>
            <a:pPr lvl="0" indent="0" marL="0">
              <a:buNone/>
            </a:pPr>
          </a:p>
          <a:p>
            <a:pPr lvl="0" indent="0" marL="0">
              <a:buNone/>
            </a:pPr>
            <a:r>
              <a:rPr/>
              <a:t>Handout section 4.3.</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Show the middle column first and let the room draw the conclusion everyone draws: within each class the readings are uncorrelated, so the assumption holds. It is the natural check, and for bell-shaped data it would settle it.</a:t>
            </a:r>
          </a:p>
          <a:p>
            <a:pPr lvl="0" indent="0" marL="0">
              <a:buNone/>
            </a:pPr>
          </a:p>
          <a:p>
            <a:pPr lvl="0" indent="0" marL="0">
              <a:buNone/>
            </a:pPr>
            <a:r>
              <a:rPr/>
              <a:t>If someone asks why the square and not the cube - and someone should - the answer is symmetry. The dependence is about how far from the centre, not which side, so the transformation must map far-left and far-right alike: an even function. The square does (−2 and +2 both give 4); the cube is odd, keeps the sign, and its correlation among the faulty pumps is −0.022, as blind as the raw readings. The absolute value works too, −0.454. The square is the natural pick because the disc and the ring are defined by z1² + z2², and it is the coordinate the kernel lift will use later. Handout section 4.3.</a:t>
            </a:r>
          </a:p>
          <a:p>
            <a:pPr lvl="0" indent="0" marL="0">
              <a:buNone/>
            </a:pPr>
          </a:p>
          <a:p>
            <a:pPr lvl="0" indent="0" marL="0">
              <a:buNone/>
            </a:pPr>
            <a:r>
              <a:rPr/>
              <a:t>Then show why that conclusion is wrong. Correlation only sees straight-line dependence. Healthy pumps fill a disc and faulty ones a ring; on a ring, a pump far out in vibration must be central in pressure. That dependence is symmetric, so the straight-line summary averages it to zero. Square each reading’s distance from the design point and it appears: −0.420 among the faulty pumps. Or say it as a spread. Take the faulty pumps whose vibration is most extreme - the fifth of them furthest from the centre, more than 6.2 Hz away - and their pressure has a standard deviation of 0.37 bar; for the other faulty pumps it is 0.62 bar. Same average pressure, very different spread, so knowing the vibration tells you something about the pressure. Put the distinction on the board in two lines: uncorrelated, yes; independent, no. Naive Bayes assumes the second. The assumption is false.</a:t>
            </a:r>
          </a:p>
          <a:p>
            <a:pPr lvl="0" indent="0" marL="0">
              <a:buNone/>
            </a:pPr>
          </a:p>
          <a:p>
            <a:pPr lvl="0" indent="0" marL="0">
              <a:buNone/>
            </a:pPr>
            <a:r>
              <a:rPr/>
              <a:t>Someone will then ask why we used it at all. Answer it directly: nobody checks the assumption before fitting. It is a simplification accepted in exchange for a model of ten numbers, and the model is judged, like any other, by its validation score. That score asks for less than the assumption does. To classify correctly, the right class only has to get the higher score - the sign of the gap between the two log scores - and the densities do not have to be right. Naive Bayes can be optimal in that sense with independence badly violated (Domingos and Pazzani, 1997).</a:t>
            </a:r>
          </a:p>
          <a:p>
            <a:pPr lvl="0" indent="0" marL="0">
              <a:buNone/>
            </a:pPr>
          </a:p>
          <a:p>
            <a:pPr lvl="0" indent="0" marL="0">
              <a:buNone/>
            </a:pPr>
            <a:r>
              <a:rPr/>
              <a:t>So why 0.933? Because the densities are wrong but the boundary they imply is right. With both classes centred on the same point, comparing a narrow bell with a wide one gives an axis-aligned ellipse, and the true envelope is an axis-aligned ellipse. The fitted model’s edge sits at about 3.17 Hz by 0.41 bar against a true 3.5 by 0.45 - the same shape, about a tenth smaller. A false assumption is cheap when it leaves the boundary the right shape. The next slide is the case where it does not. Handout section 4.3.</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previous slide’s argument, drawn. Dots are the pumps; the solid black ellipse is where the fitted Naive Bayes model changes its mind; the dashed gold one is the envelope the data was generated from.</a:t>
            </a:r>
          </a:p>
          <a:p>
            <a:pPr lvl="0" indent="0" marL="0">
              <a:buNone/>
            </a:pPr>
          </a:p>
          <a:p>
            <a:pPr lvl="0" indent="0" marL="0">
              <a:buNone/>
            </a:pPr>
            <a:r>
              <a:rPr/>
              <a:t>Let them compare the two shapes before saying anything: same orientation, same proportions, the model’s about a tenth smaller - 3.17 Hz by 0.41 bar against 3.5 by 0.45. The assumption is false, the densities it multiplies are wrong, and the boundary they imply is nearly right. That is why 0.933 sits so close to k-NN’s 0.944. Handout section 4.3.</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Change one thing about the problem and watch the method fail. Describe the physics before the geometry, because the rule is completely reasonable engineering.</a:t>
            </a:r>
          </a:p>
          <a:p>
            <a:pPr lvl="0" indent="0" marL="0">
              <a:buNone/>
            </a:pPr>
          </a:p>
          <a:p>
            <a:pPr lvl="0" indent="0" marL="0">
              <a:buNone/>
            </a:pPr>
            <a:r>
              <a:rPr/>
              <a:t>High demand and high delivery: fine, that is the machine working hard. Low and low: fine, that is idle. High demand with low delivery, or the reverse: something is wrong between them. Exactly one high means faulty.</a:t>
            </a:r>
          </a:p>
          <a:p>
            <a:pPr lvl="0" indent="0" marL="0">
              <a:buNone/>
            </a:pPr>
          </a:p>
          <a:p>
            <a:pPr lvl="0" indent="0" marL="0">
              <a:buNone/>
            </a:pPr>
            <a:r>
              <a:rPr/>
              <a:t>Ask them, before the picture, what each sensor tells you ON ITS OWN under that rule. Give it a moment. The answer is: nothing at all. Every value of sensor A appears in both classes about equally often, because whether it means “faulty” depends entirely on sensor B.</a:t>
            </a:r>
          </a:p>
          <a:p>
            <a:pPr lvl="0" indent="0" marL="0">
              <a:buNone/>
            </a:pPr>
          </a:p>
          <a:p>
            <a:pPr lvl="0" indent="0" marL="0">
              <a:buNone/>
            </a:pPr>
            <a:r>
              <a:rPr/>
              <a:t>That is what an interaction is, and it is precisely the structure the independence assumption is unable to represent. Handout section 4.4.</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Left panel: the two sensors together. Four clean groups, and a perfectly learnable rule - any method that can draw a non-linear boundary will find it.</a:t>
            </a:r>
          </a:p>
          <a:p>
            <a:pPr lvl="0" indent="0" marL="0">
              <a:buNone/>
            </a:pPr>
          </a:p>
          <a:p>
            <a:pPr lvl="0" indent="0" marL="0">
              <a:buNone/>
            </a:pPr>
            <a:r>
              <a:rPr/>
              <a:t>Colours first, because someone will ask: teal is healthy, rust is faulty, everywhere. In the left panel each class owns two opposite quadrants - healthy has both sensors high or both low, faulty one high and one low.</a:t>
            </a:r>
          </a:p>
          <a:p>
            <a:pPr lvl="0" indent="0" marL="0">
              <a:buNone/>
            </a:pPr>
          </a:p>
          <a:p>
            <a:pPr lvl="0" indent="0" marL="0">
              <a:buNone/>
            </a:pPr>
            <a:r>
              <a:rPr/>
              <a:t>Middle and right: each sensor on its own, which is ALL Naive Bayes ever gets. Solid outlines are the data. Each sensor is either low or high, so each outline has two humps - and healthy and faulty have the SAME two humps, because each class is about half low and half high on each sensor alone.</a:t>
            </a:r>
          </a:p>
          <a:p>
            <a:pPr lvl="0" indent="0" marL="0">
              <a:buNone/>
            </a:pPr>
          </a:p>
          <a:p>
            <a:pPr lvl="0" indent="0" marL="0">
              <a:buNone/>
            </a:pPr>
            <a:r>
              <a:rPr/>
              <a:t>The dashed curves are what the model fits: one bell per sensor per class. A single bell cannot follow two humps, so it sits in the valley between them, and the two classes’ bells almost coincide - centre near 0, sd about 1.1 for both. Contrast the pumps a few slides ago: bells with a shared centre but widths of 1.695 against 4.636 Hz, and the widths carried the class. Here nothing does.</a:t>
            </a:r>
          </a:p>
          <a:p>
            <a:pPr lvl="0" indent="0" marL="0">
              <a:buNone/>
            </a:pPr>
          </a:p>
          <a:p>
            <a:pPr lvl="0" indent="0" marL="0">
              <a:buNone/>
            </a:pPr>
            <a:r>
              <a:rPr/>
              <a:t>That is the slide in one sentence: the information is real, it is entirely in the relationship between the columns, and factorising the density throws that relationship away before the model ever sees it.</a:t>
            </a:r>
          </a:p>
          <a:p>
            <a:pPr lvl="0" indent="0" marL="0">
              <a:buNone/>
            </a:pPr>
          </a:p>
          <a:p>
            <a:pPr lvl="0" indent="0" marL="0">
              <a:buNone/>
            </a:pPr>
            <a:r>
              <a:rPr/>
              <a:t>Worth saying that no amount of data repairs this. It is not an estimation problem - with a million rows the marginals still overlap. The model cannot represent what is being asked of it.</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Two things to draw out, and the second is the more interesting.</a:t>
            </a:r>
          </a:p>
          <a:p>
            <a:pPr lvl="0" indent="0" marL="0">
              <a:buNone/>
            </a:pPr>
          </a:p>
          <a:p>
            <a:pPr lvl="0" indent="0" marL="0">
              <a:buNone/>
            </a:pPr>
            <a:r>
              <a:rPr/>
              <a:t>First: k-NN and the RBF SVM are at 0.967 and 0.972 on this data. The problem is not hard. It is only hard for a model that looks at one feature at a time.</a:t>
            </a:r>
          </a:p>
          <a:p>
            <a:pPr lvl="0" indent="0" marL="0">
              <a:buNone/>
            </a:pPr>
          </a:p>
          <a:p>
            <a:pPr lvl="0" indent="0" marL="0">
              <a:buNone/>
            </a:pPr>
            <a:r>
              <a:rPr/>
              <a:t>Second, and take the time: 0.404 is BELOW CHANCE. Below the majority baseline of 0.523, and below what you would get by flipping a coin. Ask how that is even possible - a model with no information should surely sit at 50%.</a:t>
            </a:r>
          </a:p>
          <a:p>
            <a:pPr lvl="0" indent="0" marL="0">
              <a:buNone/>
            </a:pPr>
          </a:p>
          <a:p>
            <a:pPr lvl="0" indent="0" marL="0">
              <a:buNone/>
            </a:pPr>
            <a:r>
              <a:rPr/>
              <a:t>The explanation is worth having in full. The class means on each sensor differ by about 0.17, against a spread near 1, only by chance, because the sample is finite. That accident is the ONLY per-feature evidence available. Naive Bayes has nothing else to multiply, so it follows it - and in this sample it points the wrong way.</a:t>
            </a:r>
          </a:p>
          <a:p>
            <a:pPr lvl="0" indent="0" marL="0">
              <a:buNone/>
            </a:pPr>
          </a:p>
          <a:p>
            <a:pPr lvl="0" indent="0" marL="0">
              <a:buNone/>
            </a:pPr>
            <a:r>
              <a:rPr/>
              <a:t>The sentence to land: a model with no signal does not sit politely at 50%. It follows whatever accidental structure it can find in the sample. It is not even confident about it, which is the next slide.</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Two numbers, four thousandths apart. The model is exactly as confident when it is wrong as when it is right, which means </a:t>
            </a:r>
            <a:r>
              <a:rPr>
                <a:latin typeface="Courier"/>
              </a:rPr>
              <a:t>predict_proba</a:t>
            </a:r>
            <a:r>
              <a:rPr/>
              <a:t> carries no usable information about reliability here.</a:t>
            </a:r>
          </a:p>
          <a:p>
            <a:pPr lvl="0" indent="0" marL="0">
              <a:buNone/>
            </a:pPr>
          </a:p>
          <a:p>
            <a:pPr lvl="0" indent="0" marL="0">
              <a:buNone/>
            </a:pPr>
            <a:r>
              <a:rPr/>
              <a:t>The more common complaint runs in the opposite direction, so give it too: when features carry the SAME evidence about the class - near-copies of one another - multiplying their probabilities counts it repeatedly. Be precise here, because they have just seen two kinds of dependence that are not this: the pumps’ ring and the XOR sensors. Ten correlated words in a document are treated as ten independent pieces of evidence, and the probability is pushed all the way to 0 or 1. Naive Bayes is famous for reporting 0.999 on problems it gets wrong a fifth of the time.</a:t>
            </a:r>
          </a:p>
          <a:p>
            <a:pPr lvl="0" indent="0" marL="0">
              <a:buNone/>
            </a:pPr>
          </a:p>
          <a:p>
            <a:pPr lvl="0" indent="0" marL="0">
              <a:buNone/>
            </a:pPr>
            <a:r>
              <a:rPr/>
              <a:t>Then lesson 4’s distinction (its slide 39), which this is the textbook case of: ranking and calibration - whether a reported 0.7 comes true 70% of the time - are different properties. A model can order examples usefully and still report numbers that mean nothing.</a:t>
            </a:r>
          </a:p>
          <a:p>
            <a:pPr lvl="0" indent="0" marL="0">
              <a:buNone/>
            </a:pPr>
          </a:p>
          <a:p>
            <a:pPr lvl="0" indent="0" marL="0">
              <a:buNone/>
            </a:pPr>
            <a:r>
              <a:rPr/>
              <a:t>The practical consequence, and it is concrete: do not use Naive Bayes anywhere a calibrated probability enters a decision - including lesson 4’s cost calculation in its handout section 7.2, where the threshold depends on the probability being real.</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Where breaking the assumption is cheap, and one step away where it is fatal. Run notebook 02. Sixteen minutes.</a:t>
            </a:r>
          </a:p>
          <a:p>
            <a:pPr lvl="0" indent="0" marL="0">
              <a:buNone/>
            </a:pPr>
          </a:p>
          <a:p>
            <a:pPr lvl="0" indent="0" marL="0">
              <a:buNone/>
            </a:pPr>
            <a:r>
              <a:rPr/>
              <a:t>If time runs short, keep the cell that prints 0.404 next to the 0.523 baseline. Let them see a below-chance score appear from correct code on solvable data before any explanation arrives.</a:t>
            </a:r>
          </a:p>
          <a:p>
            <a:pPr lvl="0" indent="0" marL="0">
              <a:buNone/>
            </a:pPr>
          </a:p>
          <a:p>
            <a:pPr lvl="0" indent="0" marL="0">
              <a:buNone/>
            </a:pPr>
            <a:r>
              <a:rPr/>
              <a:t>The notebook prints the within-class correlations on both datasets. Before that cell runs, ask them to predict the signs for the interacting sensors: it is the diagnostic they should carry - measure the assumption, do not assume it.</a:t>
            </a:r>
          </a:p>
          <a:p>
            <a:pPr lvl="0" indent="0" marL="0">
              <a:buNone/>
            </a:pPr>
          </a:p>
          <a:p>
            <a:pPr lvl="0" indent="0" marL="0">
              <a:buNone/>
            </a:pPr>
            <a:r>
              <a:rPr/>
              <a:t>If time allows, the interesting exercise is to hand Naive Bayes the product of the two sensors as a third column and watch it recover. That is the whole story of feature engineering versus model choice in one cell.</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Start with the problem rather than the solution. Draw two well-separated blobs on the board and ask for the boundary. Somebody will draw a line. Ask whether another line would have been equally good, and keep asking until the room sees that there are infinitely many, all with identical training error.</a:t>
            </a:r>
          </a:p>
          <a:p>
            <a:pPr lvl="0" indent="0" marL="0">
              <a:buNone/>
            </a:pPr>
          </a:p>
          <a:p>
            <a:pPr lvl="0" indent="0" marL="0">
              <a:buNone/>
            </a:pPr>
            <a:r>
              <a:rPr/>
              <a:t>So the error cannot decide. Something else has to. Logistic regression breaks the tie with log loss - a perfectly respectable answer, and one answer among several. The SVM breaks it differently: take the boundary with the most room around it.</a:t>
            </a:r>
          </a:p>
          <a:p>
            <a:pPr lvl="0" indent="0" marL="0">
              <a:buNone/>
            </a:pPr>
          </a:p>
          <a:p>
            <a:pPr lvl="0" indent="0" marL="0">
              <a:buNone/>
            </a:pPr>
            <a:r>
              <a:rPr/>
              <a:t>The intuition, and this is the sentence to say slowly: maximising the distance to the closest points chooses the boundary that tolerates the most movement in the data before it changes its mind. That is a statement about GENERALISATION, not about fit - which is unusual, because almost everything else in this course fits the training data as well as possible and protects generalisation only indirectly, through a penalty or a validation score.</a:t>
            </a:r>
          </a:p>
          <a:p>
            <a:pPr lvl="0" indent="0" marL="0">
              <a:buNone/>
            </a:pPr>
          </a:p>
          <a:p>
            <a:pPr lvl="0" indent="0" marL="0">
              <a:buNone/>
            </a:pPr>
            <a:r>
              <a:rPr/>
              <a:t>Handout section 5.1.</a:t>
            </a:r>
          </a:p>
        </p:txBody>
      </p:sp>
      <p:sp>
        <p:nvSpPr>
          <p:cNvPr id="4" name="Slide Number Placeholder 3"/>
          <p:cNvSpPr>
            <a:spLocks noGrp="1"/>
          </p:cNvSpPr>
          <p:nvPr>
            <p:ph type="sldNum" sz="quarter" idx="10"/>
          </p:nvPr>
        </p:nvSpPr>
        <p:spPr/>
        <p:txBody>
          <a:bodyPr/>
          <a:lstStyle/>
          <a:p>
            <a:fld id="{18BDFEC3-8487-43E8-A154-7C12CBC1FFF2}" type="slidenum">
              <a:rPr lang="en-US"/>
              <a:t>45</a:t>
            </a:fld>
            <a:endParaRPr lang="en-US"/>
          </a:p>
        </p:txBody>
      </p:sp>
    </p:spTree>
  </p:cSld>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solid line is the boundary, the dashed lines are the edges of the slab, and the circled points are the support vectors touching it.</a:t>
            </a:r>
          </a:p>
          <a:p>
            <a:pPr lvl="0" indent="0" marL="0">
              <a:buNone/>
            </a:pPr>
          </a:p>
          <a:p>
            <a:pPr lvl="0" indent="0" marL="0">
              <a:buNone/>
            </a:pPr>
            <a:r>
              <a:rPr/>
              <a:t>The number to say out loud: of eighty points, THREE determine the answer. Move any of the other seventy-seven - anywhere, as far as you like, as long as they stay outside the slab - and the boundary does not shift by a millimetre.</a:t>
            </a:r>
          </a:p>
          <a:p>
            <a:pPr lvl="0" indent="0" marL="0">
              <a:buNone/>
            </a:pPr>
          </a:p>
          <a:p>
            <a:pPr lvl="0" indent="0" marL="0">
              <a:buNone/>
            </a:pPr>
            <a:r>
              <a:rPr/>
              <a:t>That is where the name comes from, and it is a genuinely different idea from anything so far. Every linear model in lessons 3 and 4 used every row: each one contributed to the gradient in proportion to its error. Here most of the data is irrelevant once the fit is done.</a:t>
            </a:r>
          </a:p>
          <a:p>
            <a:pPr lvl="0" indent="0" marL="0">
              <a:buNone/>
            </a:pPr>
          </a:p>
          <a:p>
            <a:pPr lvl="0" indent="0" marL="0">
              <a:buNone/>
            </a:pPr>
            <a:r>
              <a:rPr/>
              <a:t>Two consequences worth naming. The model is small - you store the support vectors, not the dataset, which is the contrast with k-NN. And it is sensitive in a specific way: an outlier near the boundary matters enormously, while an outlier far from it matters not at all.</a:t>
            </a:r>
          </a:p>
        </p:txBody>
      </p:sp>
      <p:sp>
        <p:nvSpPr>
          <p:cNvPr id="4" name="Slide Number Placeholder 3"/>
          <p:cNvSpPr>
            <a:spLocks noGrp="1"/>
          </p:cNvSpPr>
          <p:nvPr>
            <p:ph type="sldNum" sz="quarter" idx="10"/>
          </p:nvPr>
        </p:nvSpPr>
        <p:spPr/>
        <p:txBody>
          <a:bodyPr/>
          <a:lstStyle/>
          <a:p>
            <a:fld id="{18BDFEC3-8487-43E8-A154-7C12CBC1FFF2}" type="slidenum">
              <a:rPr lang="en-US"/>
              <a:t>46</a:t>
            </a:fld>
            <a:endParaRPr lang="en-US"/>
          </a:p>
        </p:txBody>
      </p:sp>
    </p:spTree>
  </p:cSld>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point worth stressing is why the soft margin is not a patch or a convenience. With even one mislabelled point inside the other class, the strict problem is INFEASIBLE - there is no solution, not a bad one. Real data always contains such points. So the soft margin is the only version anyone ever runs; the strict (hard-margin) version is only a teaching device.</a:t>
            </a:r>
          </a:p>
          <a:p>
            <a:pPr lvl="0" indent="0" marL="0">
              <a:buNone/>
            </a:pPr>
          </a:p>
          <a:p>
            <a:pPr lvl="0" indent="0" marL="0">
              <a:buNone/>
            </a:pPr>
            <a:r>
              <a:rPr/>
              <a:t>Our own labels are flipped at 4%, deliberately, so this is not a hypothetical for this dataset: the hard-margin problem on these pumps has no answer.</a:t>
            </a:r>
          </a:p>
          <a:p>
            <a:pPr lvl="0" indent="0" marL="0">
              <a:buNone/>
            </a:pPr>
          </a:p>
          <a:p>
            <a:pPr lvl="0" indent="0" marL="0">
              <a:buNone/>
            </a:pPr>
            <a:r>
              <a:rPr/>
              <a:t>Then read the three cases of the slack aloud, because they come back twice: in the weights the training produces, and in who gets a vote at prediction. Put it next to lesson 4’s log loss: that one shrinks for a well-classified point but never reaches zero, so every row keeps pulling. The hinge reaches zero, and a point with zero loss drops out of the answer entirely.</a:t>
            </a:r>
          </a:p>
          <a:p>
            <a:pPr lvl="0" indent="0" marL="0">
              <a:buNone/>
            </a:pPr>
          </a:p>
          <a:p>
            <a:pPr lvl="0" indent="0" marL="0">
              <a:buNone/>
            </a:pPr>
            <a:r>
              <a:rPr/>
              <a:t>The next slide puts it in symbols. Handout section 5.2 has the derivation.</a:t>
            </a:r>
          </a:p>
        </p:txBody>
      </p:sp>
      <p:sp>
        <p:nvSpPr>
          <p:cNvPr id="4" name="Slide Number Placeholder 3"/>
          <p:cNvSpPr>
            <a:spLocks noGrp="1"/>
          </p:cNvSpPr>
          <p:nvPr>
            <p:ph type="sldNum" sz="quarter" idx="10"/>
          </p:nvPr>
        </p:nvSpPr>
        <p:spPr/>
        <p:txBody>
          <a:bodyPr/>
          <a:lstStyle/>
          <a:p>
            <a:fld id="{18BDFEC3-8487-43E8-A154-7C12CBC1FFF2}" type="slidenum">
              <a:rPr lang="en-US"/>
              <a:t>47</a:t>
            </a:fld>
            <a:endParaRPr lang="en-US"/>
          </a:p>
        </p:txBody>
      </p:sp>
    </p:spTree>
  </p:cSld>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What each point pays, against its margin y times f(x): large and positive when it is safely on its own side, negative on the wrong side.</a:t>
            </a:r>
          </a:p>
          <a:p>
            <a:pPr lvl="0" indent="0" marL="0">
              <a:buNone/>
            </a:pPr>
          </a:p>
          <a:p>
            <a:pPr lvl="0" indent="0" marL="0">
              <a:buNone/>
            </a:pPr>
            <a:r>
              <a:rPr/>
              <a:t>Walk the three zones left to right. Wrong side: both losses are large. Inside the slab: the hinge still charges, falling in a straight line. Right of 1, outside the slab: the hinge is exactly zero, and the log loss from lesson 4 is still charging - 0.127 at a margin of 2, 0.049 at 3.</a:t>
            </a:r>
          </a:p>
          <a:p>
            <a:pPr lvl="0" indent="0" marL="0">
              <a:buNone/>
            </a:pPr>
          </a:p>
          <a:p>
            <a:pPr lvl="0" indent="0" marL="0">
              <a:buNone/>
            </a:pPr>
            <a:r>
              <a:rPr/>
              <a:t>The sentence to land: a point with zero loss stops pulling on the answer. That is where support vectors come from - and why logistic regression never has any. Handout section 5.2.</a:t>
            </a:r>
          </a:p>
        </p:txBody>
      </p:sp>
      <p:sp>
        <p:nvSpPr>
          <p:cNvPr id="4" name="Slide Number Placeholder 3"/>
          <p:cNvSpPr>
            <a:spLocks noGrp="1"/>
          </p:cNvSpPr>
          <p:nvPr>
            <p:ph type="sldNum" sz="quarter" idx="10"/>
          </p:nvPr>
        </p:nvSpPr>
        <p:spPr/>
        <p:txBody>
          <a:bodyPr/>
          <a:lstStyle/>
          <a:p>
            <a:fld id="{18BDFEC3-8487-43E8-A154-7C12CBC1FFF2}" type="slidenum">
              <a:rPr lang="en-US"/>
              <a:t>48</a:t>
            </a:fld>
            <a:endParaRPr lang="en-US"/>
          </a:p>
        </p:txBody>
      </p:sp>
    </p:spTree>
  </p:cSld>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constraint is not on the slide - with it the line became too wide to read - so state it: subject to y_i(w’x_i + b) &gt;= 1 - xi_i, every point on the right side of the slab by a margin, or paying xi_i for the shortfall. Handout section 5.2 writes it out.</a:t>
            </a:r>
          </a:p>
          <a:p>
            <a:pPr lvl="0" indent="0" marL="0">
              <a:buNone/>
            </a:pPr>
          </a:p>
          <a:p>
            <a:pPr lvl="0" indent="0" marL="0">
              <a:buNone/>
            </a:pPr>
            <a:r>
              <a:rPr/>
              <a:t>Do not derive this. State what each piece is doing and move on - handout section 5.2 has the derivation, including why maximising the margin is the same as minimising the norm of w.</a:t>
            </a:r>
          </a:p>
          <a:p>
            <a:pPr lvl="0" indent="0" marL="0">
              <a:buNone/>
            </a:pPr>
          </a:p>
          <a:p>
            <a:pPr lvl="0" indent="0" marL="0">
              <a:buNone/>
            </a:pPr>
            <a:r>
              <a:rPr/>
              <a:t>The first term wants a wide slab. The second term wants few violations. C sets the exchange rate between them, and that is the entire content of the expression. Read it out in those words rather than reading the symbols.</a:t>
            </a:r>
          </a:p>
          <a:p>
            <a:pPr lvl="0" indent="0" marL="0">
              <a:buNone/>
            </a:pPr>
          </a:p>
          <a:p>
            <a:pPr lvl="0" indent="0" marL="0">
              <a:buNone/>
            </a:pPr>
            <a:r>
              <a:rPr/>
              <a:t>If someone asks about the half in front of the norm: it is there to make the derivative tidy, exactly as in lesson 3’s cost function.</a:t>
            </a:r>
          </a:p>
        </p:txBody>
      </p:sp>
      <p:sp>
        <p:nvSpPr>
          <p:cNvPr id="4" name="Slide Number Placeholder 3"/>
          <p:cNvSpPr>
            <a:spLocks noGrp="1"/>
          </p:cNvSpPr>
          <p:nvPr>
            <p:ph type="sldNum" sz="quarter" idx="10"/>
          </p:nvPr>
        </p:nvSpPr>
        <p:spPr/>
        <p:txBody>
          <a:bodyPr/>
          <a:lstStyle/>
          <a:p>
            <a:fld id="{18BDFEC3-8487-43E8-A154-7C12CBC1FFF2}" type="slidenum">
              <a:rPr lang="en-US"/>
              <a:t>49</a:t>
            </a:fld>
            <a:endParaRPr lang="en-US"/>
          </a:p>
        </p:txBody>
      </p:sp>
    </p:spTree>
  </p:cSld>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Third appearance of the same idea, and say so - that repetition is the point. Lesson 3 had λ, the first half of today had k, now C. Every model has one knob that trades fitting this data against surviving the next, and recognising it in an unfamiliar model is worth more than memorising three names.</a:t>
            </a:r>
          </a:p>
          <a:p>
            <a:pPr lvl="0" indent="0" marL="0">
              <a:buNone/>
            </a:pPr>
          </a:p>
          <a:p>
            <a:pPr lvl="0" indent="0" marL="0">
              <a:buNone/>
            </a:pPr>
            <a:r>
              <a:rPr/>
              <a:t>Then the direction, which catches people out constantly and is worth writing on the board. Large λ means MORE regularisation. Large C means LESS. They run opposite ways, and scikit-learn’s </a:t>
            </a:r>
            <a:r>
              <a:rPr>
                <a:latin typeface="Courier"/>
              </a:rPr>
              <a:t>C</a:t>
            </a:r>
            <a:r>
              <a:rPr/>
              <a:t> parameter in </a:t>
            </a:r>
            <a:r>
              <a:rPr>
                <a:latin typeface="Courier"/>
              </a:rPr>
              <a:t>LogisticRegression</a:t>
            </a:r>
            <a:r>
              <a:rPr/>
              <a:t> has the same inverted convention - it is the reciprocal of the penalty there too.</a:t>
            </a:r>
          </a:p>
          <a:p>
            <a:pPr lvl="0" indent="0" marL="0">
              <a:buNone/>
            </a:pPr>
          </a:p>
          <a:p>
            <a:pPr lvl="0" indent="0" marL="0">
              <a:buNone/>
            </a:pPr>
            <a:r>
              <a:rPr/>
              <a:t>Ask them which way they would expect C to run before you tell them. Most guess wrong, and having guessed wrong once is what makes it stick.</a:t>
            </a:r>
          </a:p>
          <a:p>
            <a:pPr lvl="0" indent="0" marL="0">
              <a:buNone/>
            </a:pPr>
          </a:p>
          <a:p>
            <a:pPr lvl="0" indent="0" marL="0">
              <a:buNone/>
            </a:pPr>
            <a:r>
              <a:rPr/>
              <a:t>Be precise about what a large C does to the boundary. With a linear kernel the boundary and the two edges of the slab stay three parallel straight lines: a larger C can only make the slab narrower, or shift and rotate it, to classify more training points. It never bends it. With the RBF kernel the boundary can also bend around individual points, and slide 64 shows how far that goes when C and gamma are both large.</a:t>
            </a:r>
          </a:p>
        </p:txBody>
      </p:sp>
      <p:sp>
        <p:nvSpPr>
          <p:cNvPr id="4" name="Slide Number Placeholder 3"/>
          <p:cNvSpPr>
            <a:spLocks noGrp="1"/>
          </p:cNvSpPr>
          <p:nvPr>
            <p:ph type="sldNum" sz="quarter" idx="10"/>
          </p:nvPr>
        </p:nvSpPr>
        <p:spPr/>
        <p:txBody>
          <a:bodyPr/>
          <a:lstStyle/>
          <a:p>
            <a:fld id="{18BDFEC3-8487-43E8-A154-7C12CBC1FFF2}" type="slidenum">
              <a:rPr lang="en-US"/>
              <a:t>50</a:t>
            </a:fld>
            <a:endParaRPr lang="en-US"/>
          </a:p>
        </p:txBody>
      </p:sp>
    </p:spTree>
  </p:cSld>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linear kernel scores 0.613 - the base rate, exactly as logistic regression did on slide 6, with the same zero variance across folds.</a:t>
            </a:r>
          </a:p>
          <a:p>
            <a:pPr lvl="0" indent="0" marL="0">
              <a:buNone/>
            </a:pPr>
          </a:p>
          <a:p>
            <a:pPr lvl="0" indent="0" marL="0">
              <a:buNone/>
            </a:pPr>
            <a:r>
              <a:rPr/>
              <a:t>Make the point explicitly, because it is the one students most often get backwards: the margin criterion is a better way of CHOOSING among straight lines. It does not give you anything other than a straight line. When no straight line works, choosing the best one optimally still gets you nothing. A better criterion cannot rescue an inadequate hypothesis class.</a:t>
            </a:r>
          </a:p>
          <a:p>
            <a:pPr lvl="0" indent="0" marL="0">
              <a:buNone/>
            </a:pPr>
          </a:p>
          <a:p>
            <a:pPr lvl="0" indent="0" marL="0">
              <a:buNone/>
            </a:pPr>
            <a:r>
              <a:rPr/>
              <a:t>Then the RBF row, which is the same algorithm with one argument changed, at 0.947 - the best score on the pumps in the whole lesson, and close to the 0.96 ceiling.</a:t>
            </a:r>
          </a:p>
          <a:p>
            <a:pPr lvl="0" indent="0" marL="0">
              <a:buNone/>
            </a:pPr>
          </a:p>
          <a:p>
            <a:pPr lvl="0" indent="0" marL="0">
              <a:buNone/>
            </a:pPr>
            <a:r>
              <a:rPr/>
              <a:t>The support-vector column says the same thing in a different way, and that is the next slide.</a:t>
            </a:r>
          </a:p>
        </p:txBody>
      </p:sp>
      <p:sp>
        <p:nvSpPr>
          <p:cNvPr id="4" name="Slide Number Placeholder 3"/>
          <p:cNvSpPr>
            <a:spLocks noGrp="1"/>
          </p:cNvSpPr>
          <p:nvPr>
            <p:ph type="sldNum" sz="quarter" idx="10"/>
          </p:nvPr>
        </p:nvSpPr>
        <p:spPr/>
        <p:txBody>
          <a:bodyPr/>
          <a:lstStyle/>
          <a:p>
            <a:fld id="{18BDFEC3-8487-43E8-A154-7C12CBC1FFF2}" type="slidenum">
              <a:rPr lang="en-US"/>
              <a:t>51</a:t>
            </a:fld>
            <a:endParaRPr lang="en-US"/>
          </a:p>
        </p:txBody>
      </p:sp>
    </p:spTree>
  </p:cSld>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Explain what 79% actually means geometrically. A support vector is a point on the margin or inside it. If 79% of your data is in that position, there is no region of empty space between the classes at all - the model has been forced to place a boundary through a crowd.</a:t>
            </a:r>
          </a:p>
          <a:p>
            <a:pPr lvl="0" indent="0" marL="0">
              <a:buNone/>
            </a:pPr>
          </a:p>
          <a:p>
            <a:pPr lvl="0" indent="0" marL="0">
              <a:buNone/>
            </a:pPr>
            <a:r>
              <a:rPr/>
              <a:t>Contrast with 23%, where the model found genuine room and only the points near the edge matter.</a:t>
            </a:r>
          </a:p>
          <a:p>
            <a:pPr lvl="0" indent="0" marL="0">
              <a:buNone/>
            </a:pPr>
          </a:p>
          <a:p>
            <a:pPr lvl="0" indent="0" marL="0">
              <a:buNone/>
            </a:pPr>
            <a:r>
              <a:rPr/>
              <a:t>Give them the diagnostic to keep, since it costs nothing: after fitting an SVM, look at </a:t>
            </a:r>
            <a:r>
              <a:rPr>
                <a:latin typeface="Courier"/>
              </a:rPr>
              <a:t>len(model.support_)</a:t>
            </a:r>
            <a:r>
              <a:rPr/>
              <a:t> over the number of training rows. High means the model is struggling to find room, which usually means the kernel cannot draw the shape the classes need. It is a warning available BEFORE you cross-validate anything.</a:t>
            </a:r>
          </a:p>
          <a:p>
            <a:pPr lvl="0" indent="0" marL="0">
              <a:buNone/>
            </a:pPr>
          </a:p>
          <a:p>
            <a:pPr lvl="0" indent="0" marL="0">
              <a:buNone/>
            </a:pPr>
            <a:r>
              <a:rPr/>
              <a:t>Worth adding that it also predicts prediction cost - every support vector is one kernel evaluation per query, so a model needing 79% of the data has thrown away most of the speed advantage over k-NN.</a:t>
            </a:r>
          </a:p>
        </p:txBody>
      </p:sp>
      <p:sp>
        <p:nvSpPr>
          <p:cNvPr id="4" name="Slide Number Placeholder 3"/>
          <p:cNvSpPr>
            <a:spLocks noGrp="1"/>
          </p:cNvSpPr>
          <p:nvPr>
            <p:ph type="sldNum" sz="quarter" idx="10"/>
          </p:nvPr>
        </p:nvSpPr>
        <p:spPr/>
        <p:txBody>
          <a:bodyPr/>
          <a:lstStyle/>
          <a:p>
            <a:fld id="{18BDFEC3-8487-43E8-A154-7C12CBC1FFF2}" type="slidenum">
              <a:rPr lang="en-US"/>
              <a:t>52</a:t>
            </a:fld>
            <a:endParaRPr lang="en-US"/>
          </a:p>
        </p:txBody>
      </p:sp>
    </p:spTree>
  </p:cSld>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Build the picture in words first and let them see it before the figure appears. Take the scatter plot from the start of the lesson, lift each point off the page by its distance from the centre, and look from the side.</a:t>
            </a:r>
          </a:p>
          <a:p>
            <a:pPr lvl="0" indent="0" marL="0">
              <a:buNone/>
            </a:pPr>
          </a:p>
          <a:p>
            <a:pPr lvl="0" indent="0" marL="0">
              <a:buNone/>
            </a:pPr>
            <a:r>
              <a:rPr/>
              <a:t>Then the sentence that reframes the whole lesson: the classes were never inseparable. Separability is not a property of the data - it is a property of the data AND the coordinates you happen to have measured it in.</a:t>
            </a:r>
          </a:p>
          <a:p>
            <a:pPr lvl="0" indent="0" marL="0">
              <a:buNone/>
            </a:pPr>
          </a:p>
          <a:p>
            <a:pPr lvl="0" indent="0" marL="0">
              <a:buNone/>
            </a:pPr>
            <a:r>
              <a:rPr/>
              <a:t>Ask what is unsatisfying about what we just did, and wait for it. We chose that lift by already knowing the answer. We knew the fault mode was radial. In any real problem you do not, and inventing the right coordinate is the hard part - which is exactly the difficulty the kernel trick removes.</a:t>
            </a:r>
          </a:p>
          <a:p>
            <a:pPr lvl="0" indent="0" marL="0">
              <a:buNone/>
            </a:pPr>
          </a:p>
          <a:p>
            <a:pPr lvl="0" indent="0" marL="0">
              <a:buNone/>
            </a:pPr>
            <a:r>
              <a:rPr/>
              <a:t>Handout section 5.4.</a:t>
            </a:r>
          </a:p>
        </p:txBody>
      </p:sp>
      <p:sp>
        <p:nvSpPr>
          <p:cNvPr id="4" name="Slide Number Placeholder 3"/>
          <p:cNvSpPr>
            <a:spLocks noGrp="1"/>
          </p:cNvSpPr>
          <p:nvPr>
            <p:ph type="sldNum" sz="quarter" idx="10"/>
          </p:nvPr>
        </p:nvSpPr>
        <p:spPr/>
        <p:txBody>
          <a:bodyPr/>
          <a:lstStyle/>
          <a:p>
            <a:fld id="{18BDFEC3-8487-43E8-A154-7C12CBC1FFF2}" type="slidenum">
              <a:rPr lang="en-US"/>
              <a:t>53</a:t>
            </a:fld>
            <a:endParaRPr lang="en-US"/>
          </a:p>
        </p:txBody>
      </p:sp>
    </p:spTree>
  </p:cSld>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same 1,200 pumps twice: on the left in the plane where they were measured, on the right lifted by their distance from the design point. The gold plane does what no line could.</a:t>
            </a:r>
          </a:p>
          <a:p>
            <a:pPr lvl="0" indent="0" marL="0">
              <a:buNone/>
            </a:pPr>
          </a:p>
          <a:p>
            <a:pPr lvl="0" indent="0" marL="0">
              <a:buNone/>
            </a:pPr>
            <a:r>
              <a:rPr/>
              <a:t>Have them look at the right panel and confirm for themselves that a flat horizontal cut separates the colours cleanly. Nothing was added - no new measurement, no extra sensor. The third coordinate is computed from the two they already had.</a:t>
            </a:r>
          </a:p>
          <a:p>
            <a:pPr lvl="0" indent="0" marL="0">
              <a:buNone/>
            </a:pPr>
          </a:p>
          <a:p>
            <a:pPr lvl="0" indent="0" marL="0">
              <a:buNone/>
            </a:pPr>
            <a:r>
              <a:rPr/>
              <a:t>Then set up the objection that the next slide answers. This worked because the lift was three-dimensional and we could guess it. The spaces that work in general are enormous - the useful ones are sometimes infinite-dimensional - and computing the coordinates of every point in such a space is impossible.</a:t>
            </a:r>
          </a:p>
        </p:txBody>
      </p:sp>
      <p:sp>
        <p:nvSpPr>
          <p:cNvPr id="4" name="Slide Number Placeholder 3"/>
          <p:cNvSpPr>
            <a:spLocks noGrp="1"/>
          </p:cNvSpPr>
          <p:nvPr>
            <p:ph type="sldNum" sz="quarter" idx="10"/>
          </p:nvPr>
        </p:nvSpPr>
        <p:spPr/>
        <p:txBody>
          <a:bodyPr/>
          <a:lstStyle/>
          <a:p>
            <a:fld id="{18BDFEC3-8487-43E8-A154-7C12CBC1FFF2}" type="slidenum">
              <a:rPr lang="en-US"/>
              <a:t>54</a:t>
            </a:fld>
            <a:endParaRPr lang="en-US"/>
          </a:p>
        </p:txBody>
      </p:sp>
    </p:spTree>
  </p:cSld>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trick in one sentence: the SVM never needs the coordinates, only the inner products between points, which carry their lengths and the angles between them, and those can be obtained without ever going there.</a:t>
            </a:r>
          </a:p>
          <a:p>
            <a:pPr lvl="0" indent="0" marL="0">
              <a:buNone/>
            </a:pPr>
          </a:p>
          <a:p>
            <a:pPr lvl="0" indent="0" marL="0">
              <a:buNone/>
            </a:pPr>
            <a:r>
              <a:rPr/>
              <a:t>Do not prove it here - the next slide gives the one line that makes this claim true, and handout section 5.4 has the full three-fact argument behind that line. The claim to state and let land now is that a function of two ordinary two-dimensional vectors returns their inner product in a space of infinite dimension, at the cost of one exponential.</a:t>
            </a:r>
          </a:p>
          <a:p>
            <a:pPr lvl="0" indent="0" marL="0">
              <a:buNone/>
            </a:pPr>
          </a:p>
          <a:p>
            <a:pPr lvl="0" indent="0" marL="0">
              <a:buNone/>
            </a:pPr>
            <a:r>
              <a:rPr/>
              <a:t>And close the loop from the previous slide: we chose the lift in the picture by knowing the answer. The RBF kernel does something equivalent without being told, which is exactly why it works on problems where nobody could guess the right coordinates.</a:t>
            </a:r>
          </a:p>
        </p:txBody>
      </p:sp>
      <p:sp>
        <p:nvSpPr>
          <p:cNvPr id="4" name="Slide Number Placeholder 3"/>
          <p:cNvSpPr>
            <a:spLocks noGrp="1"/>
          </p:cNvSpPr>
          <p:nvPr>
            <p:ph type="sldNum" sz="quarter" idx="10"/>
          </p:nvPr>
        </p:nvSpPr>
        <p:spPr/>
        <p:txBody>
          <a:bodyPr/>
          <a:lstStyle/>
          <a:p>
            <a:fld id="{18BDFEC3-8487-43E8-A154-7C12CBC1FFF2}" type="slidenum">
              <a:rPr lang="en-US"/>
              <a:t>55</a:t>
            </a:fld>
            <a:endParaRPr lang="en-US"/>
          </a:p>
        </p:txBody>
      </p:sp>
    </p:spTree>
  </p:cSld>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rewriting the previous slide’s claim depends on, and it is worth giving before the trick, not after - it is called the </a:t>
            </a:r>
            <a:r>
              <a:rPr b="1"/>
              <a:t>dual formulation</a:t>
            </a:r>
            <a:r>
              <a:rPr/>
              <a:t>, and that phrase from the handout is otherwise just a name with nothing behind it.</a:t>
            </a:r>
          </a:p>
          <a:p>
            <a:pPr lvl="0" indent="0" marL="0">
              <a:buNone/>
            </a:pPr>
          </a:p>
          <a:p>
            <a:pPr lvl="0" indent="0" marL="0">
              <a:buNone/>
            </a:pPr>
            <a:r>
              <a:rPr/>
              <a:t>Say it in one sentence first: instead of solving for w directly, the optimisation turns out to hand back w as a weighted sum of the training points themselves, one weight aᵢ per pump. The picture: the boundary is a tent held up by the points pressing against it, and aᵢ is how hard pump i presses. A pump comfortably on its own side of the slab presses on nothing, so its weight is exactly zero. Only the pumps on or inside the slab - the support vectors of slide 46 and handout section 5.1 - get a positive weight, which is where that 79% against 23% came from.</a:t>
            </a:r>
          </a:p>
          <a:p>
            <a:pPr lvl="0" indent="0" marL="0">
              <a:buNone/>
            </a:pPr>
          </a:p>
          <a:p>
            <a:pPr lvl="0" indent="0" marL="0">
              <a:buNone/>
            </a:pPr>
            <a:r>
              <a:rPr/>
              <a:t>Now the payoff, and this is the sentence that makes the next slide make sense. Substitute this w back into the boundary, wᵀx + b, and every xᵢ is still there, but only ever multiplied against another point: xᵢ · xⱼ in training, xᵢ · x in prediction. Nowhere does a coordinate appear on its own. That is the whole reason a kernel is enough - a function that returns that one number, the inner product in the lifted space, is all either computation ever asks for.</a:t>
            </a:r>
          </a:p>
          <a:p>
            <a:pPr lvl="0" indent="0" marL="0">
              <a:buNone/>
            </a:pPr>
          </a:p>
          <a:p>
            <a:pPr lvl="0" indent="0" marL="0">
              <a:buNone/>
            </a:pPr>
            <a:r>
              <a:rPr/>
              <a:t>Do not derive aᵢ here - the three-fact argument, from the constrained optimisation to this formula, is handout section 5.4.</a:t>
            </a:r>
          </a:p>
        </p:txBody>
      </p:sp>
      <p:sp>
        <p:nvSpPr>
          <p:cNvPr id="4" name="Slide Number Placeholder 3"/>
          <p:cNvSpPr>
            <a:spLocks noGrp="1"/>
          </p:cNvSpPr>
          <p:nvPr>
            <p:ph type="sldNum" sz="quarter" idx="10"/>
          </p:nvPr>
        </p:nvSpPr>
        <p:spPr/>
        <p:txBody>
          <a:bodyPr/>
          <a:lstStyle/>
          <a:p>
            <a:fld id="{18BDFEC3-8487-43E8-A154-7C12CBC1FFF2}" type="slidenum">
              <a:rPr lang="en-US"/>
              <a:t>56</a:t>
            </a:fld>
            <a:endParaRPr lang="en-US"/>
          </a:p>
        </p:txBody>
      </p:sp>
    </p:spTree>
  </p:cSld>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Make the trick concrete before the famous formula. The lift here lists every product of two coordinates: phi(x) = (x1², √2·x1·x2, x2²). Two points, a = (1, 2) and b = (3, 1).</a:t>
            </a:r>
          </a:p>
          <a:p>
            <a:pPr lvl="0" indent="0" marL="0">
              <a:buNone/>
            </a:pPr>
          </a:p>
          <a:p>
            <a:pPr lvl="0" indent="0" marL="0">
              <a:buNone/>
            </a:pPr>
            <a:r>
              <a:rPr/>
              <a:t>First row: lift both into three dimensions and take the ordinary inner product - 9 + 12 + 4 = 25. Second row: never lift, take the inner product in the plane, 5, and square it - 25. Same number. The second route never left two dimensions, so the function (a · b)² IS the inner product in the lifted space. That is all a kernel is.</a:t>
            </a:r>
          </a:p>
          <a:p>
            <a:pPr lvl="0" indent="0" marL="0">
              <a:buNone/>
            </a:pPr>
          </a:p>
          <a:p>
            <a:pPr lvl="0" indent="0" marL="0">
              <a:buNone/>
            </a:pPr>
            <a:r>
              <a:rPr/>
              <a:t>Then connect it to the figure they just saw: the lifted space contains x1² and x2², and their sum is the squared distance from the centre - the coordinate we chose by hand. A flat plane there is a circle down here. The kernel found the lift we had to guess. Handout section 5.4.</a:t>
            </a:r>
          </a:p>
        </p:txBody>
      </p:sp>
      <p:sp>
        <p:nvSpPr>
          <p:cNvPr id="4" name="Slide Number Placeholder 3"/>
          <p:cNvSpPr>
            <a:spLocks noGrp="1"/>
          </p:cNvSpPr>
          <p:nvPr>
            <p:ph type="sldNum" sz="quarter" idx="10"/>
          </p:nvPr>
        </p:nvSpPr>
        <p:spPr/>
        <p:txBody>
          <a:bodyPr/>
          <a:lstStyle/>
          <a:p>
            <a:fld id="{18BDFEC3-8487-43E8-A154-7C12CBC1FFF2}" type="slidenum">
              <a:rPr lang="en-US"/>
              <a:t>57</a:t>
            </a:fld>
            <a:endParaRPr lang="en-US"/>
          </a:p>
        </p:txBody>
      </p:sp>
    </p:spTree>
  </p:cSld>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One line, and it is the whole of what scikit-learn does when you leave </a:t>
            </a:r>
            <a:r>
              <a:rPr>
                <a:latin typeface="Courier"/>
              </a:rPr>
              <a:t>kernel</a:t>
            </a:r>
            <a:r>
              <a:rPr/>
              <a:t> at its default.</a:t>
            </a:r>
          </a:p>
          <a:p>
            <a:pPr lvl="0" indent="0" marL="0">
              <a:buNone/>
            </a:pPr>
          </a:p>
          <a:p>
            <a:pPr lvl="0" indent="0" marL="0">
              <a:buNone/>
            </a:pPr>
            <a:r>
              <a:rPr/>
              <a:t>Read it aloud as a similarity rather than as a formula: the closer two points are, the nearer the exponent is to zero and the nearer the kernel is to one; far apart, it falls away to nothing. That is all an RBF kernel says - how much does this point look like that one.</a:t>
            </a:r>
          </a:p>
          <a:p>
            <a:pPr lvl="0" indent="0" marL="0">
              <a:buNone/>
            </a:pPr>
          </a:p>
          <a:p>
            <a:pPr lvl="0" indent="0" marL="0">
              <a:buNone/>
            </a:pPr>
            <a:r>
              <a:rPr/>
              <a:t>Now say what γ means, because the next two slides turn on it: it sets how far a single training point’s influence reaches. Small γ, wide reach, smooth boundary. Large γ, each point influences only its immediate neighbourhood - and a boundary that can afford an island around every mislabelled pump.</a:t>
            </a:r>
          </a:p>
          <a:p>
            <a:pPr lvl="0" indent="0" marL="0">
              <a:buNone/>
            </a:pPr>
          </a:p>
          <a:p>
            <a:pPr lvl="0" indent="0" marL="0">
              <a:buNone/>
            </a:pPr>
            <a:r>
              <a:rPr/>
              <a:t>A number to anchor it: the similarity halves at a distance of sqrt(ln 2 / γ). For scikit-learn’s default on the standardised pumps, γ = 0.5, that is about 1.2 standard deviations.</a:t>
            </a:r>
          </a:p>
          <a:p>
            <a:pPr lvl="0" indent="0" marL="0">
              <a:buNone/>
            </a:pPr>
          </a:p>
          <a:p>
            <a:pPr lvl="0" indent="0" marL="0">
              <a:buNone/>
            </a:pPr>
            <a:r>
              <a:rPr/>
              <a:t>Worth naming the cost, since this is an engineering course: one exponential per pair of points, so the kernel matrix is m × m. That is why support vector machines are a poor fit above a hundred thousand rows, and it is a property of the method rather than of the implementation.</a:t>
            </a:r>
          </a:p>
        </p:txBody>
      </p:sp>
      <p:sp>
        <p:nvSpPr>
          <p:cNvPr id="4" name="Slide Number Placeholder 3"/>
          <p:cNvSpPr>
            <a:spLocks noGrp="1"/>
          </p:cNvSpPr>
          <p:nvPr>
            <p:ph type="sldNum" sz="quarter" idx="10"/>
          </p:nvPr>
        </p:nvSpPr>
        <p:spPr/>
        <p:txBody>
          <a:bodyPr/>
          <a:lstStyle/>
          <a:p>
            <a:fld id="{18BDFEC3-8487-43E8-A154-7C12CBC1FFF2}" type="slidenum">
              <a:rPr lang="en-US"/>
              <a:t>58</a:t>
            </a:fld>
            <a:endParaRPr lang="en-US"/>
          </a:p>
        </p:txBody>
      </p:sp>
    </p:spTree>
  </p:cSld>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what “fit” does, because after lesson 3 they will expect gradient descent. It is not. The SVM solves the dual with the kernel substituted in: one weight per training point, found by a solver that picks two weights at a time - two, because the weights times the labels must sum to zero, so one cannot move alone - sets them to their best values with the rest fixed, and repeats until nothing improves. Convex, so there is one answer and it is found every time.</a:t>
            </a:r>
          </a:p>
          <a:p>
            <a:pPr lvl="0" indent="0" marL="0">
              <a:buNone/>
            </a:pPr>
          </a:p>
          <a:p>
            <a:pPr lvl="0" indent="0" marL="0">
              <a:buNone/>
            </a:pPr>
            <a:r>
              <a:rPr/>
              <a:t>Make explicit a distinction the earlier slides left open. The objective being solved here only ever evaluates K(x_i, x_j) between pairs of training pumps - the kernel matrix, m by m. The new pump, the one this model will eventually classify, appears nowhere in training. K(x_i, x), with x standing for any pump, is the prediction formula on the next slide: same function, but its second argument is now the pump being classified rather than another training point.</a:t>
            </a:r>
          </a:p>
          <a:p>
            <a:pPr lvl="0" indent="0" marL="0">
              <a:buNone/>
            </a:pPr>
          </a:p>
          <a:p>
            <a:pPr lvl="0" indent="0" marL="0">
              <a:buNone/>
            </a:pPr>
            <a:r>
              <a:rPr/>
              <a:t>Then the counts, which match the three cases of the slack from earlier. Weight zero: the 922 pumps safely on their own side, which the model now forgets. Weight at the ceiling C: the 268 inside the slab or on the wrong side - with C = 1 that weight is exactly 1, so each of them simply votes with its label. Between: the 10 sitting exactly on the edge.</a:t>
            </a:r>
          </a:p>
          <a:p>
            <a:pPr lvl="0" indent="0" marL="0">
              <a:buNone/>
            </a:pPr>
          </a:p>
          <a:p>
            <a:pPr lvl="0" indent="0" marL="0">
              <a:buNone/>
            </a:pPr>
            <a:r>
              <a:rPr/>
              <a:t>The model you ship is 278 points and their weights. Handout section 5.5.</a:t>
            </a:r>
          </a:p>
        </p:txBody>
      </p:sp>
      <p:sp>
        <p:nvSpPr>
          <p:cNvPr id="4" name="Slide Number Placeholder 3"/>
          <p:cNvSpPr>
            <a:spLocks noGrp="1"/>
          </p:cNvSpPr>
          <p:nvPr>
            <p:ph type="sldNum" sz="quarter" idx="10"/>
          </p:nvPr>
        </p:nvSpPr>
        <p:spPr/>
        <p:txBody>
          <a:bodyPr/>
          <a:lstStyle/>
          <a:p>
            <a:fld id="{18BDFEC3-8487-43E8-A154-7C12CBC1FFF2}" type="slidenum">
              <a:rPr lang="en-US"/>
              <a:t>59</a:t>
            </a:fld>
            <a:endParaRPr lang="en-US"/>
          </a:p>
        </p:txBody>
      </p:sp>
    </p:spTree>
  </p:cSld>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Inference is a vote, in four steps. Standardise the pump with the training scaler. Compute its RBF similarity to each of the 278 support vectors. Add up weight times label times similarity - label +1 for faulty, -1 for healthy - and add b. Read the sign. Nothing else goes in: the total is exactly what decision_function returns.</a:t>
            </a:r>
          </a:p>
          <a:p>
            <a:pPr lvl="0" indent="0" marL="0">
              <a:buNone/>
            </a:pPr>
          </a:p>
          <a:p>
            <a:pPr lvl="0" indent="0" marL="0">
              <a:buNone/>
            </a:pPr>
            <a:r>
              <a:rPr/>
              <a:t>The same pump Naive Bayes called faulty at 0.981, reached by a completely different route.</a:t>
            </a:r>
          </a:p>
          <a:p>
            <a:pPr lvl="0" indent="0" marL="0">
              <a:buNone/>
            </a:pPr>
          </a:p>
          <a:p>
            <a:pPr lvl="0" indent="0" marL="0">
              <a:buNone/>
            </a:pPr>
            <a:r>
              <a:rPr/>
              <a:t>The point to make: the neighbourhood decides. The 56 support vectors within about 1.2 standard deviations contribute a net +1.141 towards faulty; the other 222 only -0.363. But not one neighbour - the five nearest disagree, because pumps just outside the envelope are faulty and some just inside carry flipped labels. So the SVM is k-NN again, with a smooth similarity instead of a hard k, only the support vectors voting, and learned weights. And the output is a score, not a probability. Handout section 5.5.</a:t>
            </a:r>
          </a:p>
        </p:txBody>
      </p:sp>
      <p:sp>
        <p:nvSpPr>
          <p:cNvPr id="4" name="Slide Number Placeholder 3"/>
          <p:cNvSpPr>
            <a:spLocks noGrp="1"/>
          </p:cNvSpPr>
          <p:nvPr>
            <p:ph type="sldNum" sz="quarter" idx="10"/>
          </p:nvPr>
        </p:nvSpPr>
        <p:spPr/>
        <p:txBody>
          <a:bodyPr/>
          <a:lstStyle/>
          <a:p>
            <a:fld id="{18BDFEC3-8487-43E8-A154-7C12CBC1FFF2}" type="slidenum">
              <a:rPr lang="en-US"/>
              <a:t>60</a:t>
            </a:fld>
            <a:endParaRPr lang="en-US"/>
          </a:p>
        </p:txBody>
      </p:sp>
    </p:spTree>
  </p:cSld>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table on the previous slide, drawn. Every support vector is sized and shaded by its similarity to the pump, the gold star at 48 Hz and 5.6 bar; the dashed ellipse is where similarity falls to one half, about 1.2 standard deviations; the black line is the SVM’s boundary.</a:t>
            </a:r>
          </a:p>
          <a:p>
            <a:pPr lvl="0" indent="0" marL="0">
              <a:buNone/>
            </a:pPr>
          </a:p>
          <a:p>
            <a:pPr lvl="0" indent="0" marL="0">
              <a:buNone/>
            </a:pPr>
            <a:r>
              <a:rPr/>
              <a:t>Point out where the weight is: the 56 support vectors inside the dashed ellipse carry most of it, the ones across the disc have faded out. Then point at the star’s immediate neighbours - teal and rust together, boundary pumps and flipped labels. That is why the five nearest nearly cancel, and why it is the neighbourhood’s balance, not one neighbour, that makes it faulty. Handout section 5.5.</a:t>
            </a:r>
          </a:p>
        </p:txBody>
      </p:sp>
      <p:sp>
        <p:nvSpPr>
          <p:cNvPr id="4" name="Slide Number Placeholder 3"/>
          <p:cNvSpPr>
            <a:spLocks noGrp="1"/>
          </p:cNvSpPr>
          <p:nvPr>
            <p:ph type="sldNum" sz="quarter" idx="10"/>
          </p:nvPr>
        </p:nvSpPr>
        <p:spPr/>
        <p:txBody>
          <a:bodyPr/>
          <a:lstStyle/>
          <a:p>
            <a:fld id="{18BDFEC3-8487-43E8-A154-7C12CBC1FFF2}" type="slidenum">
              <a:rPr lang="en-US"/>
              <a:t>61</a:t>
            </a:fld>
            <a:endParaRPr lang="en-US"/>
          </a:p>
        </p:txBody>
      </p:sp>
    </p:spTree>
  </p:cSld>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Read the two columns against each other, exactly as lesson 5 taught, and let the last row do the work.</a:t>
            </a:r>
          </a:p>
          <a:p>
            <a:pPr lvl="0" indent="0" marL="0">
              <a:buNone/>
            </a:pPr>
          </a:p>
          <a:p>
            <a:pPr lvl="0" indent="0" marL="0">
              <a:buNone/>
            </a:pPr>
            <a:r>
              <a:rPr/>
              <a:t>The bottom row has the best training score on the slide - 0.995, nearly perfect - and the worst honest one. That is the signature of overfitting, and here it is not inferred from theory but measured on the same data by two different procedures.</a:t>
            </a:r>
          </a:p>
          <a:p>
            <a:pPr lvl="0" indent="0" marL="0">
              <a:buNone/>
            </a:pPr>
          </a:p>
          <a:p>
            <a:pPr lvl="0" indent="0" marL="0">
              <a:buNone/>
            </a:pPr>
            <a:r>
              <a:rPr b="1"/>
              <a:t>Now the second predictable mistake, and defend the instinct.</a:t>
            </a:r>
            <a:r>
              <a:rPr/>
              <a:t> Choosing between these three on the training score selects the WORST model, with complete confidence and a very impressive number to report. And the instinct behind it is not stupid: a higher score on the data you have is, in every other part of engineering, evidence of a better system. Fitting the data well is what we spent lessons 3 and 4 doing. What breaks the analogy is that a flexible model can fit data it has already been shown without learning anything transferable.</a:t>
            </a:r>
          </a:p>
          <a:p>
            <a:pPr lvl="0" indent="0" marL="0">
              <a:buNone/>
            </a:pPr>
          </a:p>
          <a:p>
            <a:pPr lvl="0" indent="0" marL="0">
              <a:buNone/>
            </a:pPr>
            <a:r>
              <a:rPr/>
              <a:t>The reason this table is on the slide rather than in the handout is that the next slide shows the same three settings as pictures - so the failure is visible as well as measurable, which is rare.</a:t>
            </a:r>
          </a:p>
        </p:txBody>
      </p:sp>
      <p:sp>
        <p:nvSpPr>
          <p:cNvPr id="4" name="Slide Number Placeholder 3"/>
          <p:cNvSpPr>
            <a:spLocks noGrp="1"/>
          </p:cNvSpPr>
          <p:nvPr>
            <p:ph type="sldNum" sz="quarter" idx="10"/>
          </p:nvPr>
        </p:nvSpPr>
        <p:spPr/>
        <p:txBody>
          <a:bodyPr/>
          <a:lstStyle/>
          <a:p>
            <a:fld id="{18BDFEC3-8487-43E8-A154-7C12CBC1FFF2}" type="slidenum">
              <a:rPr lang="en-US"/>
              <a:t>62</a:t>
            </a:fld>
            <a:endParaRPr lang="en-US"/>
          </a:p>
        </p:txBody>
      </p:sp>
    </p:spTree>
  </p:cSld>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Gamma as a distance rather than a symbol. Each curve is the RBF similarity against the distance between two pumps; where it crosses the dotted line is the distance at which a support vector’s vote has halved: 2.63 standard deviations at gamma 0.1, 1.18 at the default 0.5, 0.83 at 1, and 0.12 at 50.</a:t>
            </a:r>
          </a:p>
          <a:p>
            <a:pPr lvl="0" indent="0" marL="0">
              <a:buNone/>
            </a:pPr>
          </a:p>
          <a:p>
            <a:pPr lvl="0" indent="0" marL="0">
              <a:buNone/>
            </a:pPr>
            <a:r>
              <a:rPr/>
              <a:t>Ask them to predict the next slide from this one: at gamma 50 a point speaks only for a neighbourhood a tenth of a standard deviation wide. What will the boundary look like? Islands. Handout section 5.6.</a:t>
            </a:r>
          </a:p>
        </p:txBody>
      </p:sp>
      <p:sp>
        <p:nvSpPr>
          <p:cNvPr id="4" name="Slide Number Placeholder 3"/>
          <p:cNvSpPr>
            <a:spLocks noGrp="1"/>
          </p:cNvSpPr>
          <p:nvPr>
            <p:ph type="sldNum" sz="quarter" idx="10"/>
          </p:nvPr>
        </p:nvSpPr>
        <p:spPr/>
        <p:txBody>
          <a:bodyPr/>
          <a:lstStyle/>
          <a:p>
            <a:fld id="{18BDFEC3-8487-43E8-A154-7C12CBC1FFF2}" type="slidenum">
              <a:rPr lang="en-US"/>
              <a:t>63</a:t>
            </a:fld>
            <a:endParaRPr lang="en-US"/>
          </a:p>
        </p:txBody>
      </p:sp>
    </p:spTree>
  </p:cSld>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Three settings, with training and cross-validated scores in each title. Read them together.</a:t>
            </a:r>
          </a:p>
          <a:p>
            <a:pPr lvl="0" indent="0" marL="0">
              <a:buNone/>
            </a:pPr>
          </a:p>
          <a:p>
            <a:pPr lvl="0" indent="0" marL="0">
              <a:buNone/>
            </a:pPr>
            <a:r>
              <a:rPr/>
              <a:t>Left, γ = 0.1: a smooth boundary, slightly too smooth, and the two scores agree. Middle, γ = 1: close to the true envelope, and the best honest score.</a:t>
            </a:r>
          </a:p>
          <a:p>
            <a:pPr lvl="0" indent="0" marL="0">
              <a:buNone/>
            </a:pPr>
          </a:p>
          <a:p>
            <a:pPr lvl="0" indent="0" marL="0">
              <a:buNone/>
            </a:pPr>
            <a:r>
              <a:rPr/>
              <a:t>Spend time on the right panel. The boundary has broken into bubbles - small islands around individual points, including the mislabelled ones. That is what a 0.995 training score looks like from the outside: the model has drawn a private territory around each flipped label so that it can get it right.</a:t>
            </a:r>
          </a:p>
          <a:p>
            <a:pPr lvl="0" indent="0" marL="0">
              <a:buNone/>
            </a:pPr>
          </a:p>
          <a:p>
            <a:pPr lvl="0" indent="0" marL="0">
              <a:buNone/>
            </a:pPr>
            <a:r>
              <a:rPr/>
              <a:t>Ask them what happens to a new pump landing in the gap between two bubbles: it is judged by whichever stray point happens to be nearest, and that is where the 0.902 comes from.</a:t>
            </a:r>
          </a:p>
          <a:p>
            <a:pPr lvl="0" indent="0" marL="0">
              <a:buNone/>
            </a:pPr>
          </a:p>
          <a:p>
            <a:pPr lvl="0" indent="0" marL="0">
              <a:buNone/>
            </a:pPr>
            <a:r>
              <a:rPr/>
              <a:t>The reason this slide matters more than the table: they have seen overfitting as a curve on a plot since lesson 5. Here it is a shape in the input space, and the shape is obviously wrong in a way no number is. When you can plot the boundary, plot it.</a:t>
            </a:r>
          </a:p>
        </p:txBody>
      </p:sp>
      <p:sp>
        <p:nvSpPr>
          <p:cNvPr id="4" name="Slide Number Placeholder 3"/>
          <p:cNvSpPr>
            <a:spLocks noGrp="1"/>
          </p:cNvSpPr>
          <p:nvPr>
            <p:ph type="sldNum" sz="quarter" idx="10"/>
          </p:nvPr>
        </p:nvSpPr>
        <p:spPr/>
        <p:txBody>
          <a:bodyPr/>
          <a:lstStyle/>
          <a:p>
            <a:fld id="{18BDFEC3-8487-43E8-A154-7C12CBC1FFF2}" type="slidenum">
              <a:rPr lang="en-US"/>
              <a:t>64</a:t>
            </a:fld>
            <a:endParaRPr lang="en-US"/>
          </a:p>
        </p:txBody>
      </p:sp>
    </p:spTree>
  </p:cSld>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Margins, support vectors, and what γ does to the boundary. Run notebook 03. Sixteen minutes.</a:t>
            </a:r>
          </a:p>
          <a:p>
            <a:pPr lvl="0" indent="0" marL="0">
              <a:buNone/>
            </a:pPr>
          </a:p>
          <a:p>
            <a:pPr lvl="0" indent="0" marL="0">
              <a:buNone/>
            </a:pPr>
            <a:r>
              <a:rPr/>
              <a:t>If time runs short, keep the γ sweep with the boundary drawn at each setting, and skip the C sweep instead, setting it as reading (the table is in handout section 5.6). Let them turn γ up themselves and watch the bubbles form - it is the most direct experience of overfitting available in this course.</a:t>
            </a:r>
          </a:p>
          <a:p>
            <a:pPr lvl="0" indent="0" marL="0">
              <a:buNone/>
            </a:pPr>
          </a:p>
          <a:p>
            <a:pPr lvl="0" indent="0" marL="0">
              <a:buNone/>
            </a:pPr>
            <a:r>
              <a:rPr/>
              <a:t>Have them print the fraction of support vectors for the linear and RBF kernels side by side. Two numbers, and it makes the diagnostic real rather than a claim on a slide.</a:t>
            </a:r>
          </a:p>
        </p:txBody>
      </p:sp>
      <p:sp>
        <p:nvSpPr>
          <p:cNvPr id="4" name="Slide Number Placeholder 3"/>
          <p:cNvSpPr>
            <a:spLocks noGrp="1"/>
          </p:cNvSpPr>
          <p:nvPr>
            <p:ph type="sldNum" sz="quarter" idx="10"/>
          </p:nvPr>
        </p:nvSpPr>
        <p:spPr/>
        <p:txBody>
          <a:bodyPr/>
          <a:lstStyle/>
          <a:p>
            <a:fld id="{18BDFEC3-8487-43E8-A154-7C12CBC1FFF2}" type="slidenum">
              <a:rPr lang="en-US"/>
              <a:t>65</a:t>
            </a:fld>
            <a:endParaRPr lang="en-US"/>
          </a:p>
        </p:txBody>
      </p:sp>
    </p:spTree>
  </p:cSld>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Everything in the lesson on the same 1,200 pumps, cross-validated the same way.</a:t>
            </a:r>
          </a:p>
          <a:p>
            <a:pPr lvl="0" indent="0" marL="0">
              <a:buNone/>
            </a:pPr>
          </a:p>
          <a:p>
            <a:pPr lvl="0" indent="0" marL="0">
              <a:buNone/>
            </a:pPr>
            <a:r>
              <a:rPr/>
              <a:t>Read the top three rows together: all exactly 0.613, and all three are linear. Then the bottom three, all near the ceiling, reached by three completely unrelated routes - remembering the neighbourhood, assuming independence, bending the space. There is no single idea shared between them.</a:t>
            </a:r>
          </a:p>
          <a:p>
            <a:pPr lvl="0" indent="0" marL="0">
              <a:buNone/>
            </a:pPr>
          </a:p>
          <a:p>
            <a:pPr lvl="0" indent="0" marL="0">
              <a:buNone/>
            </a:pPr>
            <a:r>
              <a:rPr/>
              <a:t>Then the number that is the lesson: the gap between best and worst is </a:t>
            </a:r>
            <a:r>
              <a:rPr b="1"/>
              <a:t>0.334</a:t>
            </a:r>
            <a:r>
              <a:rPr/>
              <a:t>. That is larger than anything tuning has bought in this course - lesson 5’s whole hyperparameter search moved scores by a few hundredths.</a:t>
            </a:r>
          </a:p>
          <a:p>
            <a:pPr lvl="0" indent="0" marL="0">
              <a:buNone/>
            </a:pPr>
          </a:p>
          <a:p>
            <a:pPr lvl="0" indent="0" marL="0">
              <a:buNone/>
            </a:pPr>
            <a:r>
              <a:rPr/>
              <a:t>Say the conclusion plainly, and it is the practical takeaway of the whole lesson: choosing the right family matters far more than tuning the wrong one. Nobody in the top three rows could have tuned their way out. And the way to tell which family you need is to look at the data first, which is what lesson 2 was for.</a:t>
            </a:r>
          </a:p>
        </p:txBody>
      </p:sp>
      <p:sp>
        <p:nvSpPr>
          <p:cNvPr id="4" name="Slide Number Placeholder 3"/>
          <p:cNvSpPr>
            <a:spLocks noGrp="1"/>
          </p:cNvSpPr>
          <p:nvPr>
            <p:ph type="sldNum" sz="quarter" idx="10"/>
          </p:nvPr>
        </p:nvSpPr>
        <p:spPr/>
        <p:txBody>
          <a:bodyPr/>
          <a:lstStyle/>
          <a:p>
            <a:fld id="{18BDFEC3-8487-43E8-A154-7C12CBC1FFF2}" type="slidenum">
              <a:rPr lang="en-US"/>
              <a:t>66</a:t>
            </a:fld>
            <a:endParaRPr lang="en-US"/>
          </a:p>
        </p:txBody>
      </p:sp>
    </p:spTree>
  </p:cSld>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table to photograph. Work down it and attach today’s evidence to each row, so it is remembered as a set of conclusions rather than as advice.</a:t>
            </a:r>
          </a:p>
          <a:p>
            <a:pPr lvl="0" indent="0" marL="0">
              <a:buNone/>
            </a:pPr>
          </a:p>
          <a:p>
            <a:pPr lvl="0" indent="0" marL="0">
              <a:buNone/>
            </a:pPr>
            <a:r>
              <a:rPr/>
              <a:t>Row two deserves a sentence on its own, because it is the one that sounds wrong after the last hour. Text classification is the canonical case: tens of thousands of word-count features, an assumption that is transparently false, and a method that works anyway - because being roughly right in ten thousand dimensions beats being unable to estimate anything at all. Also mention Naive Bayes as a baseline: it trains in one pass, so if your tuned model does not beat it you have learned something quickly and cheaply.</a:t>
            </a:r>
          </a:p>
          <a:p>
            <a:pPr lvl="0" indent="0" marL="0">
              <a:buNone/>
            </a:pPr>
          </a:p>
          <a:p>
            <a:pPr lvl="0" indent="0" marL="0">
              <a:buNone/>
            </a:pPr>
            <a:r>
              <a:rPr/>
              <a:t>One row that did not fit and should be said out loud: when you need to explain the decision to the person affected, none of today’s three will do it. A support vector machine in a lifted space has no explanation a customer would accept. Lesson 3’s Resources document covers why that is sometimes a legal requirement rather than a preference.</a:t>
            </a:r>
          </a:p>
        </p:txBody>
      </p:sp>
      <p:sp>
        <p:nvSpPr>
          <p:cNvPr id="4" name="Slide Number Placeholder 3"/>
          <p:cNvSpPr>
            <a:spLocks noGrp="1"/>
          </p:cNvSpPr>
          <p:nvPr>
            <p:ph type="sldNum" sz="quarter" idx="10"/>
          </p:nvPr>
        </p:nvSpPr>
        <p:spPr/>
        <p:txBody>
          <a:bodyPr/>
          <a:lstStyle/>
          <a:p>
            <a:fld id="{18BDFEC3-8487-43E8-A154-7C12CBC1FFF2}" type="slidenum">
              <a:rPr lang="en-US"/>
              <a:t>67</a:t>
            </a:fld>
            <a:endParaRPr lang="en-US"/>
          </a:p>
        </p:txBody>
      </p:sp>
    </p:spTree>
  </p:cSld>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Close on the number they opened the second segment with, and say it one more time: seventy per cent. In a hundred dimensions the nearest point in the entire dataset is seven tenths of the way to the farthest, and every method built on distance is operating on a quantity that has stopped varying.</a:t>
            </a:r>
          </a:p>
          <a:p>
            <a:pPr lvl="0" indent="0" marL="0">
              <a:buNone/>
            </a:pPr>
          </a:p>
          <a:p>
            <a:pPr lvl="0" indent="0" marL="0">
              <a:buNone/>
            </a:pPr>
            <a:r>
              <a:rPr/>
              <a:t>If they remember one habit from today, make it the diagnostic pair: before reaching for a model, look at the shape of the data; after fitting one, check whether the assumption it depends on is actually satisfied on your data - and check it properly. The −0.006 said yes; the squared distances said no; and the ellipse the model drew explained the 0.933.</a:t>
            </a:r>
          </a:p>
          <a:p>
            <a:pPr lvl="0" indent="0" marL="0">
              <a:buNone/>
            </a:pPr>
          </a:p>
          <a:p>
            <a:pPr lvl="0" indent="0" marL="0">
              <a:buNone/>
            </a:pPr>
            <a:r>
              <a:rPr/>
              <a:t>And the correction to the instinct that this lesson exists to install: more features is not free. It is nearly free for a linear model and it is expensive for anything built on a distance.</a:t>
            </a:r>
          </a:p>
          <a:p>
            <a:pPr lvl="0" indent="0" marL="0">
              <a:buNone/>
            </a:pPr>
          </a:p>
          <a:p>
            <a:pPr lvl="0" indent="0" marL="0">
              <a:buNone/>
            </a:pPr>
            <a:r>
              <a:rPr/>
              <a:t>Handout section 7 lists all of this with the section numbers.</a:t>
            </a:r>
          </a:p>
        </p:txBody>
      </p:sp>
      <p:sp>
        <p:nvSpPr>
          <p:cNvPr id="4" name="Slide Number Placeholder 3"/>
          <p:cNvSpPr>
            <a:spLocks noGrp="1"/>
          </p:cNvSpPr>
          <p:nvPr>
            <p:ph type="sldNum" sz="quarter" idx="10"/>
          </p:nvPr>
        </p:nvSpPr>
        <p:spPr/>
        <p:txBody>
          <a:bodyPr/>
          <a:lstStyle/>
          <a:p>
            <a:fld id="{18BDFEC3-8487-43E8-A154-7C12CBC1FFF2}" type="slidenum">
              <a:rPr lang="en-US"/>
              <a:t>68</a:t>
            </a:fld>
            <a:endParaRPr lang="en-US"/>
          </a:p>
        </p:txBody>
      </p:sp>
    </p:spTree>
  </p:cSld>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Set it explicitly and say out loud when it comes back: the first ten minutes of next Friday, 13 November.</a:t>
            </a:r>
          </a:p>
          <a:p>
            <a:pPr lvl="0" indent="0" marL="0">
              <a:buNone/>
            </a:pPr>
          </a:p>
          <a:p>
            <a:pPr lvl="0" indent="0" marL="0">
              <a:buNone/>
            </a:pPr>
            <a:r>
              <a:rPr/>
              <a:t>If this exercise is drawn at the exam, what counts is the reasoning, not the accuracy. A well-argued choice that scores slightly worse beats a lucky winner with no justification - and the argument has to reference the data, in the way that the squared distances and the fitted ellipse explained Naive Bayes on the pumps today.</a:t>
            </a:r>
          </a:p>
          <a:p>
            <a:pPr lvl="0" indent="0" marL="0">
              <a:buNone/>
            </a:pPr>
          </a:p>
          <a:p>
            <a:pPr lvl="0" indent="0" marL="0">
              <a:buNone/>
            </a:pPr>
            <a:r>
              <a:rPr/>
              <a:t>Remind them that everything must be cross-validated and reported with a spread, in the format lesson 5 set. Scaling goes inside the pipeline; at the exam that is one of the first things looked at.</a:t>
            </a:r>
          </a:p>
          <a:p>
            <a:pPr lvl="0" indent="0" marL="0">
              <a:buNone/>
            </a:pPr>
          </a:p>
          <a:p>
            <a:pPr lvl="0" indent="0" marL="0">
              <a:buNone/>
            </a:pPr>
            <a:r>
              <a:rPr/>
              <a:t>Next week: decision trees and ensembles. A fourth family, with a different answer again to the same question - how do you draw a boundary that is not a line.</a:t>
            </a:r>
          </a:p>
        </p:txBody>
      </p:sp>
      <p:sp>
        <p:nvSpPr>
          <p:cNvPr id="4" name="Slide Number Placeholder 3"/>
          <p:cNvSpPr>
            <a:spLocks noGrp="1"/>
          </p:cNvSpPr>
          <p:nvPr>
            <p:ph type="sldNum" sz="quarter" idx="10"/>
          </p:nvPr>
        </p:nvSpPr>
        <p:spPr/>
        <p:txBody>
          <a:bodyPr/>
          <a:lstStyle/>
          <a:p>
            <a:fld id="{18BDFEC3-8487-43E8-A154-7C12CBC1FFF2}" type="slidenum">
              <a:rPr lang="en-US"/>
              <a:t>69</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pic>
        <p:nvPicPr>
          <p:cNvPr id="7" name="Logo 7" descr="univaq_logo.png"/>
          <p:cNvPicPr>
            <a:picLocks noChangeAspect="1"/>
          </p:cNvPicPr>
          <p:nvPr/>
        </p:nvPicPr>
        <p:blipFill>
          <a:blip r:embed="rId2"/>
          <a:stretch>
            <a:fillRect/>
          </a:stretch>
        </p:blipFill>
        <p:spPr>
          <a:xfrm>
            <a:off x="3383280" y="282892"/>
            <a:ext cx="2377440" cy="1037097"/>
          </a:xfrm>
          <a:prstGeom prst="rect">
            <a:avLst/>
          </a:prstGeom>
        </p:spPr>
      </p:pic>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740"/>
            <a:ext cx="8229600" cy="874395"/>
          </a:xfrm>
        </p:spPr>
        <p:txBody>
          <a:bodyPr anchor="b"/>
          <a:lstStyle>
            <a:lvl1pPr algn="l">
              <a:defRPr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234440"/>
            <a:ext cx="8229600" cy="822960"/>
          </a:xfrm>
        </p:spPr>
        <p:txBody>
          <a:bodyPr/>
          <a:lstStyle>
            <a:lvl1pPr marL="0" indent="0">
              <a:buNone/>
              <a:defRPr/>
            </a:lvl1pPr>
            <a:lvl2pPr marL="342900" indent="0">
              <a:buNone/>
              <a:defRPr/>
            </a:lvl2pPr>
            <a:lvl3pPr marL="685800" indent="0">
              <a:buNone/>
              <a:defRPr/>
            </a:lvl3pPr>
            <a:lvl4pPr marL="1028700" indent="0">
              <a:buNone/>
              <a:defRPr/>
            </a:lvl4pPr>
            <a:lvl5pPr marL="1371600" indent="0">
              <a:buNone/>
              <a:defRPr/>
            </a:lvl5pPr>
            <a:lvl6pPr marL="1714500" indent="0">
              <a:buNone/>
              <a:defRPr/>
            </a:lvl6pPr>
            <a:lvl7pPr marL="2057400" indent="0">
              <a:buNone/>
              <a:defRPr/>
            </a:lvl7pPr>
            <a:lvl8pPr marL="2400300" indent="0">
              <a:buNone/>
              <a:defRPr/>
            </a:lvl8pPr>
            <a:lvl9pPr marL="2743200" indent="0">
              <a:buNone/>
              <a:defRPr/>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740"/>
            <a:ext cx="8229600" cy="874395"/>
          </a:xfrm>
        </p:spPr>
        <p:txBody>
          <a:bodyPr anchor="b"/>
          <a:lstStyle>
            <a:lvl1pPr algn="l">
              <a:defRPr b="1"/>
            </a:lvl1pPr>
          </a:lstStyle>
          <a:p>
            <a:r>
              <a:rPr lang="en-US"/>
              <a:t>Click to edit Master title style</a:t>
            </a:r>
          </a:p>
        </p:txBody>
      </p:sp>
      <p:sp>
        <p:nvSpPr>
          <p:cNvPr id="3" name="Picture Placeholder 2"/>
          <p:cNvSpPr>
            <a:spLocks noGrp="1"/>
          </p:cNvSpPr>
          <p:nvPr>
            <p:ph type="pic" idx="1"/>
          </p:nvPr>
        </p:nvSpPr>
        <p:spPr>
          <a:xfrm>
            <a:off x="457200" y="1234440"/>
            <a:ext cx="8229600" cy="822960"/>
          </a:xfrm>
        </p:spPr>
        <p:txBody>
          <a:bodyPr/>
          <a:lstStyle>
            <a:lvl1pPr marL="0" indent="0">
              <a:buNone/>
              <a:defRPr/>
            </a:lvl1pPr>
            <a:lvl2pPr marL="342900" indent="0">
              <a:buNone/>
              <a:defRPr/>
            </a:lvl2pPr>
            <a:lvl3pPr marL="685800" indent="0">
              <a:buNone/>
              <a:defRPr/>
            </a:lvl3pPr>
            <a:lvl4pPr marL="1028700" indent="0">
              <a:buNone/>
              <a:defRPr/>
            </a:lvl4pPr>
            <a:lvl5pPr marL="1371600" indent="0">
              <a:buNone/>
              <a:defRPr/>
            </a:lvl5pPr>
            <a:lvl6pPr marL="1714500" indent="0">
              <a:buNone/>
              <a:defRPr/>
            </a:lvl6pPr>
            <a:lvl7pPr marL="2057400" indent="0">
              <a:buNone/>
              <a:defRPr/>
            </a:lvl7pPr>
            <a:lvl8pPr marL="2400300" indent="0">
              <a:buNone/>
              <a:defRPr/>
            </a:lvl8pPr>
            <a:lvl9pPr marL="2743200" indent="0">
              <a:buNone/>
              <a:defRPr/>
            </a:lvl9pPr>
          </a:lstStyle>
          <a:p>
            <a:endParaRPr lang="en-US"/>
          </a:p>
        </p:txBody>
      </p:sp>
      <p:sp>
        <p:nvSpPr>
          <p:cNvPr id="4" name="Text Placeholder 3"/>
          <p:cNvSpPr>
            <a:spLocks noGrp="1"/>
          </p:cNvSpPr>
          <p:nvPr>
            <p:ph type="body" sz="half" idx="2"/>
          </p:nvPr>
        </p:nvSpPr>
        <p:spPr>
          <a:xfrm>
            <a:off x="457200" y="1234440"/>
            <a:ext cx="8229600" cy="822960"/>
          </a:xfrm>
        </p:spPr>
        <p:txBody>
          <a:bodyPr/>
          <a:lstStyle>
            <a:lvl1pPr marL="0" indent="0">
              <a:buNone/>
              <a:defRPr/>
            </a:lvl1pPr>
            <a:lvl2pPr marL="342900" indent="0">
              <a:buNone/>
              <a:defRPr/>
            </a:lvl2pPr>
            <a:lvl3pPr marL="685800" indent="0">
              <a:buNone/>
              <a:defRPr/>
            </a:lvl3pPr>
            <a:lvl4pPr marL="1028700" indent="0">
              <a:buNone/>
              <a:defRPr/>
            </a:lvl4pPr>
            <a:lvl5pPr marL="1371600" indent="0">
              <a:buNone/>
              <a:defRPr/>
            </a:lvl5pPr>
            <a:lvl6pPr marL="1714500" indent="0">
              <a:buNone/>
              <a:defRPr/>
            </a:lvl6pPr>
            <a:lvl7pPr marL="2057400" indent="0">
              <a:buNone/>
              <a:defRPr/>
            </a:lvl7pPr>
            <a:lvl8pPr marL="2400300" indent="0">
              <a:buNone/>
              <a:defRPr/>
            </a:lvl8pPr>
            <a:lvl9pPr marL="2743200" indent="0">
              <a:buNone/>
              <a:defRPr/>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pic>
        <p:nvPicPr>
          <p:cNvPr descr="univaq_logo.png" id="7" name="Logo 7"/>
          <p:cNvPicPr>
            <a:picLocks noChangeAspect="1"/>
          </p:cNvPicPr>
          <p:nvPr/>
        </p:nvPicPr>
        <p:blipFill>
          <a:blip r:embed="rId13"/>
          <a:stretch>
            <a:fillRect/>
          </a:stretch>
        </p:blipFill>
        <p:spPr>
          <a:xfrm>
            <a:off x="7836408" y="4530478"/>
            <a:ext cx="1051560" cy="458716"/>
          </a:xfrm>
          <a:prstGeom prst="rect">
            <a:avLst/>
          </a:prstGeom>
        </p:spPr>
      </p:pic>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1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1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1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1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1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2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2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2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2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Lesson 6: k-NN, Naive Bayes and Support Vector Machines</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Technologies for Artificial Intelligence</a:t>
            </a:r>
            <a:br/>
            <a:br/>
            <a:r>
              <a:rPr/>
              <a:t>Fabio Antonini, Università degli Studi dell’Aquila</a:t>
            </a:r>
          </a:p>
        </p:txBody>
      </p:sp>
      <p:sp>
        <p:nvSpPr>
          <p:cNvPr id="4" name="Date Placeholder 3"/>
          <p:cNvSpPr>
            <a:spLocks noGrp="1"/>
          </p:cNvSpPr>
          <p:nvPr>
            <p:ph idx="10" sz="half" type="dt"/>
          </p:nvPr>
        </p:nvSpPr>
        <p:spPr>
          <a:xfrm>
            <a:off x="457200" y="4767263"/>
            <a:ext cx="2133600" cy="273844"/>
          </a:xfrm>
        </p:spPr>
        <p:txBody>
          <a:bodyPr/>
          <a:lstStyle/>
          <a:p>
            <a:pPr lvl="0" indent="0" marL="0">
              <a:buNone/>
            </a:pPr>
            <a:r>
              <a:rPr/>
              <a:t>6 November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Before we start</a:t>
            </a:r>
          </a:p>
        </p:txBody>
      </p:sp>
      <p:sp>
        <p:nvSpPr>
          <p:cNvPr id="3" name="Content Placeholder 2"/>
          <p:cNvSpPr>
            <a:spLocks noGrp="1"/>
          </p:cNvSpPr>
          <p:nvPr>
            <p:ph idx="1"/>
          </p:nvPr>
        </p:nvSpPr>
        <p:spPr>
          <a:xfrm>
            <a:off x="457200" y="1200151"/>
            <a:ext cx="8229600" cy="3394472"/>
          </a:xfrm>
        </p:spPr>
        <p:txBody>
          <a:bodyPr/>
          <a:lstStyle/>
          <a:p>
            <a:pPr lvl="0"/>
            <a:r>
              <a:rPr/>
              <a:t>Exercise 5, which we discuss now</a:t>
            </a:r>
          </a:p>
          <a:p>
            <a:pPr lvl="0"/>
            <a:r>
              <a:rPr/>
              <a:t>The score that was too good, and what the honest number cost you</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Today: the first lesson that offers a choice</a:t>
            </a:r>
          </a:p>
        </p:txBody>
      </p:sp>
      <p:sp>
        <p:nvSpPr>
          <p:cNvPr id="3" name="Content Placeholder 2"/>
          <p:cNvSpPr>
            <a:spLocks noGrp="1"/>
          </p:cNvSpPr>
          <p:nvPr>
            <p:ph idx="1"/>
          </p:nvPr>
        </p:nvSpPr>
        <p:spPr>
          <a:xfrm>
            <a:off x="457200" y="1200151"/>
            <a:ext cx="8229600" cy="3394472"/>
          </a:xfrm>
        </p:spPr>
        <p:txBody>
          <a:bodyPr/>
          <a:lstStyle/>
          <a:p>
            <a:pPr lvl="0"/>
            <a:r>
              <a:rPr b="1"/>
              <a:t>k-nearest neighbours (k-NN)</a:t>
            </a:r>
            <a:r>
              <a:rPr/>
              <a:t>, and the </a:t>
            </a:r>
            <a:r>
              <a:rPr b="1"/>
              <a:t>curse of dimensionality</a:t>
            </a:r>
            <a:r>
              <a:rPr/>
              <a:t> that limits it</a:t>
            </a:r>
          </a:p>
          <a:p>
            <a:pPr lvl="0"/>
            <a:r>
              <a:rPr b="1"/>
              <a:t>Naive Bayes</a:t>
            </a:r>
            <a:r>
              <a:rPr/>
              <a:t>: one strong assumption, a cheap model</a:t>
            </a:r>
          </a:p>
          <a:p>
            <a:pPr lvl="0"/>
            <a:r>
              <a:rPr b="1"/>
              <a:t>Support vector machines (SVM)</a:t>
            </a:r>
            <a:r>
              <a:rPr/>
              <a:t>: margins and kernels</a:t>
            </a:r>
          </a:p>
          <a:p>
            <a:pPr lvl="0"/>
            <a:r>
              <a:rPr/>
              <a:t>Which family to choose, and why that beats tuning</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1,200 pumps, two readings each</a:t>
            </a:r>
          </a:p>
        </p:txBody>
      </p:sp>
      <p:sp>
        <p:nvSpPr>
          <p:cNvPr id="3" name="Content Placeholder 2"/>
          <p:cNvSpPr>
            <a:spLocks noGrp="1"/>
          </p:cNvSpPr>
          <p:nvPr>
            <p:ph idx="1"/>
          </p:nvPr>
        </p:nvSpPr>
        <p:spPr>
          <a:xfrm>
            <a:off x="457200" y="1200151"/>
            <a:ext cx="8229600" cy="3394472"/>
          </a:xfrm>
        </p:spPr>
        <p:txBody>
          <a:bodyPr/>
          <a:lstStyle/>
          <a:p>
            <a:pPr lvl="0"/>
            <a:r>
              <a:rPr/>
              <a:t>Vibration in Hz, pressure in bar</a:t>
            </a:r>
          </a:p>
          <a:p>
            <a:pPr lvl="0"/>
            <a:r>
              <a:rPr/>
              <a:t>A pump is faulty when its readings fall </a:t>
            </a:r>
            <a:r>
              <a:rPr b="1"/>
              <a:t>outside the design envelope</a:t>
            </a:r>
            <a:r>
              <a:rPr/>
              <a:t> (the range it was built to run in), too low as readily as too high</a:t>
            </a:r>
          </a:p>
          <a:p>
            <a:pPr lvl="0"/>
            <a:r>
              <a:rPr b="1"/>
              <a:t>61.3%</a:t>
            </a:r>
            <a:r>
              <a:rPr/>
              <a:t> faulty; 4% of the labels are deliberately flipped</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shape of the problem</a:t>
            </a:r>
          </a:p>
        </p:txBody>
      </p:sp>
      <p:pic>
        <p:nvPicPr>
          <p:cNvPr descr="pump_scatter.png" id="0" name="Picture 1"/>
          <p:cNvPicPr>
            <a:picLocks noGrp="1" noChangeAspect="1"/>
          </p:cNvPicPr>
          <p:nvPr/>
        </p:nvPicPr>
        <p:blipFill>
          <a:blip r:embed="rId3"/>
          <a:stretch>
            <a:fillRect/>
          </a:stretch>
        </p:blipFill>
        <p:spPr bwMode="auto">
          <a:xfrm>
            <a:off x="2445144" y="1166099"/>
            <a:ext cx="4253712" cy="3360181"/>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What a straight boundary costs</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Model</a:t>
                      </a:r>
                    </a:p>
                  </a:txBody>
                  <a:tcPr/>
                </a:tc>
                <a:tc>
                  <a:txBody>
                    <a:bodyPr/>
                    <a:lstStyle/>
                    <a:p>
                      <a:pPr lvl="0" indent="0" marL="0">
                        <a:buNone/>
                      </a:pPr>
                      <a:r>
                        <a:rPr/>
                        <a:t>Cross-validated accuracy</a:t>
                      </a:r>
                    </a:p>
                  </a:txBody>
                  <a:tcPr/>
                </a:tc>
              </a:tr>
              <a:tr h="0">
                <a:tc>
                  <a:txBody>
                    <a:bodyPr/>
                    <a:lstStyle/>
                    <a:p>
                      <a:pPr lvl="0" indent="0" marL="0">
                        <a:buNone/>
                      </a:pPr>
                      <a:r>
                        <a:rPr/>
                        <a:t>Always predict the majority class</a:t>
                      </a:r>
                    </a:p>
                  </a:txBody>
                </a:tc>
                <a:tc>
                  <a:txBody>
                    <a:bodyPr/>
                    <a:lstStyle/>
                    <a:p>
                      <a:pPr lvl="0" indent="0" marL="0">
                        <a:buNone/>
                      </a:pPr>
                      <a:r>
                        <a:rPr/>
                        <a:t>0.613</a:t>
                      </a:r>
                    </a:p>
                  </a:txBody>
                </a:tc>
              </a:tr>
              <a:tr h="0">
                <a:tc>
                  <a:txBody>
                    <a:bodyPr/>
                    <a:lstStyle/>
                    <a:p>
                      <a:pPr lvl="0" indent="0" marL="0">
                        <a:buNone/>
                      </a:pPr>
                      <a:r>
                        <a:rPr/>
                        <a:t>Logistic regression (lesson 4)</a:t>
                      </a:r>
                    </a:p>
                  </a:txBody>
                </a:tc>
                <a:tc>
                  <a:txBody>
                    <a:bodyPr/>
                    <a:lstStyle/>
                    <a:p>
                      <a:pPr lvl="0" indent="0" marL="0">
                        <a:buNone/>
                      </a:pPr>
                      <a:r>
                        <a:rPr b="1"/>
                        <a:t>0.613 ± 0.000</a:t>
                      </a: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k-nearest neighbours: the whole algorithm</a:t>
            </a:r>
          </a:p>
        </p:txBody>
      </p:sp>
      <p:sp>
        <p:nvSpPr>
          <p:cNvPr id="3" name="Content Placeholder 2"/>
          <p:cNvSpPr>
            <a:spLocks noGrp="1"/>
          </p:cNvSpPr>
          <p:nvPr>
            <p:ph idx="1"/>
          </p:nvPr>
        </p:nvSpPr>
        <p:spPr>
          <a:xfrm>
            <a:off x="457200" y="1200151"/>
            <a:ext cx="8229600" cy="3394472"/>
          </a:xfrm>
        </p:spPr>
        <p:txBody>
          <a:bodyPr/>
          <a:lstStyle/>
          <a:p>
            <a:pPr lvl="0"/>
            <a:r>
              <a:rPr/>
              <a:t>To classify a new point, find the </a:t>
            </a:r>
            <a:r>
              <a:rPr b="1"/>
              <a:t>k closest</a:t>
            </a:r>
            <a:r>
              <a:rPr/>
              <a:t> training points and take the majority vote</a:t>
            </a:r>
          </a:p>
          <a:p>
            <a:pPr lvl="0"/>
            <a:r>
              <a:rPr/>
              <a:t>There is no training step: “fitting” means </a:t>
            </a:r>
            <a:r>
              <a:rPr b="1"/>
              <a:t>storing the data</a:t>
            </a:r>
          </a:p>
          <a:p>
            <a:pPr lvl="0"/>
            <a:r>
              <a:rPr/>
              <a:t>Called a </a:t>
            </a:r>
            <a:r>
              <a:rPr b="1"/>
              <a:t>lazy learner</a:t>
            </a:r>
            <a:r>
              <a:rPr/>
              <a:t>: an unusually honest name for an algorithm</a:t>
            </a:r>
          </a:p>
          <a:p>
            <a:pPr lvl="0"/>
            <a:r>
              <a:rPr/>
              <a:t>In code: </a:t>
            </a:r>
            <a:r>
              <a:rPr>
                <a:latin typeface="Courier"/>
              </a:rPr>
              <a:t>KNeighborsClassifier(n_neighbors=5)</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Distance is all it has</a:t>
            </a:r>
          </a:p>
        </p:txBody>
      </p:sp>
      <p:pic>
        <p:nvPicPr>
          <p:cNvPr descr="eq_7bac60d965.png" id="0" name="Picture 1"/>
          <p:cNvPicPr>
            <a:picLocks noGrp="1" noChangeAspect="1"/>
          </p:cNvPicPr>
          <p:nvPr/>
        </p:nvPicPr>
        <p:blipFill>
          <a:blip r:embed="rId3"/>
          <a:stretch>
            <a:fillRect/>
          </a:stretch>
        </p:blipFill>
        <p:spPr bwMode="auto">
          <a:xfrm>
            <a:off x="457200" y="1715889"/>
            <a:ext cx="8229600" cy="22606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Scale first, or vibration decides everything</a:t>
            </a:r>
          </a:p>
        </p:txBody>
      </p:sp>
      <p:sp>
        <p:nvSpPr>
          <p:cNvPr id="3" name="Content Placeholder 2"/>
          <p:cNvSpPr>
            <a:spLocks noGrp="1"/>
          </p:cNvSpPr>
          <p:nvPr>
            <p:ph idx="1"/>
          </p:nvPr>
        </p:nvSpPr>
        <p:spPr>
          <a:xfrm>
            <a:off x="457200" y="1200151"/>
            <a:ext cx="8229600" cy="3394472"/>
          </a:xfrm>
        </p:spPr>
        <p:txBody>
          <a:bodyPr/>
          <a:lstStyle/>
          <a:p>
            <a:pPr lvl="0"/>
            <a:r>
              <a:rPr/>
              <a:t>Vibration runs over </a:t>
            </a:r>
            <a:r>
              <a:rPr b="1"/>
              <a:t>tens of Hz</a:t>
            </a:r>
            <a:r>
              <a:rPr/>
              <a:t>; pressure over </a:t>
            </a:r>
            <a:r>
              <a:rPr b="1"/>
              <a:t>a couple of bar</a:t>
            </a:r>
          </a:p>
          <a:p>
            <a:pPr lvl="0"/>
            <a:r>
              <a:rPr/>
              <a:t>Unscaled, a one-bar pressure difference is invisible beside a ten-Hz one</a:t>
            </a:r>
          </a:p>
          <a:p>
            <a:pPr lvl="0"/>
            <a:r>
              <a:rPr/>
              <a:t>Lesson 2’s scaling argument, arriving with </a:t>
            </a:r>
            <a:r>
              <a:rPr b="1"/>
              <a:t>immediate consequences</a:t>
            </a:r>
          </a:p>
          <a:p>
            <a:pPr lvl="0"/>
            <a:r>
              <a:rPr/>
              <a:t>In code: </a:t>
            </a:r>
            <a:r>
              <a:rPr>
                <a:latin typeface="Courier"/>
              </a:rPr>
              <a:t>make_pipeline(StandardScaler(), KNeighborsClassifier(5))</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k is the bias-variance dial, made visible</a:t>
            </a:r>
          </a:p>
        </p:txBody>
      </p:sp>
      <p:sp>
        <p:nvSpPr>
          <p:cNvPr id="3" name="Content Placeholder 2"/>
          <p:cNvSpPr>
            <a:spLocks noGrp="1"/>
          </p:cNvSpPr>
          <p:nvPr>
            <p:ph idx="1"/>
          </p:nvPr>
        </p:nvSpPr>
        <p:spPr>
          <a:xfrm>
            <a:off x="457200" y="1200151"/>
            <a:ext cx="8229600" cy="3394472"/>
          </a:xfrm>
        </p:spPr>
        <p:txBody>
          <a:bodyPr/>
          <a:lstStyle/>
          <a:p>
            <a:pPr lvl="0"/>
            <a:r>
              <a:rPr b="1"/>
              <a:t>Small k</a:t>
            </a:r>
            <a:r>
              <a:rPr/>
              <a:t>: the boundary follows every point, mislabelled ones included. Low bias, high variance</a:t>
            </a:r>
          </a:p>
          <a:p>
            <a:pPr lvl="0"/>
            <a:r>
              <a:rPr b="1"/>
              <a:t>Large k</a:t>
            </a:r>
            <a:r>
              <a:rPr/>
              <a:t>: the vote is taken over a wide neighbourhood, and eventually stops following real structure. High bias, low variance</a:t>
            </a:r>
          </a:p>
          <a:p>
            <a:pPr lvl="0"/>
            <a:r>
              <a:rPr/>
              <a:t>At k = 1 the training accuracy is </a:t>
            </a:r>
            <a:r>
              <a:rPr b="1"/>
              <a:t>exactly 1.000</a:t>
            </a:r>
            <a:r>
              <a:rPr/>
              <a:t>, unless two identical points carry different labels</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Measured on the pumps</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k</a:t>
                      </a:r>
                    </a:p>
                  </a:txBody>
                  <a:tcPr/>
                </a:tc>
                <a:tc>
                  <a:txBody>
                    <a:bodyPr/>
                    <a:lstStyle/>
                    <a:p>
                      <a:pPr lvl="0" indent="0" marL="0">
                        <a:buNone/>
                      </a:pPr>
                      <a:r>
                        <a:rPr/>
                        <a:t>Training</a:t>
                      </a:r>
                    </a:p>
                  </a:txBody>
                  <a:tcPr/>
                </a:tc>
                <a:tc>
                  <a:txBody>
                    <a:bodyPr/>
                    <a:lstStyle/>
                    <a:p>
                      <a:pPr lvl="0" indent="0" marL="0">
                        <a:buNone/>
                      </a:pPr>
                      <a:r>
                        <a:rPr/>
                        <a:t>Cross-validated</a:t>
                      </a:r>
                    </a:p>
                  </a:txBody>
                  <a:tcPr/>
                </a:tc>
              </a:tr>
              <a:tr h="0">
                <a:tc>
                  <a:txBody>
                    <a:bodyPr/>
                    <a:lstStyle/>
                    <a:p>
                      <a:pPr lvl="0" indent="0" marL="0">
                        <a:buNone/>
                      </a:pPr>
                      <a:r>
                        <a:rPr/>
                        <a:t>1</a:t>
                      </a:r>
                    </a:p>
                  </a:txBody>
                </a:tc>
                <a:tc>
                  <a:txBody>
                    <a:bodyPr/>
                    <a:lstStyle/>
                    <a:p>
                      <a:pPr lvl="0" indent="0" marL="0">
                        <a:buNone/>
                      </a:pPr>
                      <a:r>
                        <a:rPr b="1"/>
                        <a:t>1.000</a:t>
                      </a:r>
                    </a:p>
                  </a:txBody>
                </a:tc>
                <a:tc>
                  <a:txBody>
                    <a:bodyPr/>
                    <a:lstStyle/>
                    <a:p>
                      <a:pPr lvl="0" indent="0" marL="0">
                        <a:buNone/>
                      </a:pPr>
                      <a:r>
                        <a:rPr/>
                        <a:t>0.912</a:t>
                      </a:r>
                    </a:p>
                  </a:txBody>
                </a:tc>
              </a:tr>
              <a:tr h="0">
                <a:tc>
                  <a:txBody>
                    <a:bodyPr/>
                    <a:lstStyle/>
                    <a:p>
                      <a:pPr lvl="0" indent="0" marL="0">
                        <a:buNone/>
                      </a:pPr>
                      <a:r>
                        <a:rPr/>
                        <a:t>5</a:t>
                      </a:r>
                    </a:p>
                  </a:txBody>
                </a:tc>
                <a:tc>
                  <a:txBody>
                    <a:bodyPr/>
                    <a:lstStyle/>
                    <a:p>
                      <a:pPr lvl="0" indent="0" marL="0">
                        <a:buNone/>
                      </a:pPr>
                      <a:r>
                        <a:rPr/>
                        <a:t>0.953</a:t>
                      </a:r>
                    </a:p>
                  </a:txBody>
                </a:tc>
                <a:tc>
                  <a:txBody>
                    <a:bodyPr/>
                    <a:lstStyle/>
                    <a:p>
                      <a:pPr lvl="0" indent="0" marL="0">
                        <a:buNone/>
                      </a:pPr>
                      <a:r>
                        <a:rPr b="1"/>
                        <a:t>0.944</a:t>
                      </a:r>
                    </a:p>
                  </a:txBody>
                </a:tc>
              </a:tr>
              <a:tr h="0">
                <a:tc>
                  <a:txBody>
                    <a:bodyPr/>
                    <a:lstStyle/>
                    <a:p>
                      <a:pPr lvl="0" indent="0" marL="0">
                        <a:buNone/>
                      </a:pPr>
                      <a:r>
                        <a:rPr/>
                        <a:t>15</a:t>
                      </a:r>
                    </a:p>
                  </a:txBody>
                </a:tc>
                <a:tc>
                  <a:txBody>
                    <a:bodyPr/>
                    <a:lstStyle/>
                    <a:p>
                      <a:pPr lvl="0" indent="0" marL="0">
                        <a:buNone/>
                      </a:pPr>
                      <a:r>
                        <a:rPr/>
                        <a:t>0.948</a:t>
                      </a:r>
                    </a:p>
                  </a:txBody>
                </a:tc>
                <a:tc>
                  <a:txBody>
                    <a:bodyPr/>
                    <a:lstStyle/>
                    <a:p>
                      <a:pPr lvl="0" indent="0" marL="0">
                        <a:buNone/>
                      </a:pPr>
                      <a:r>
                        <a:rPr/>
                        <a:t>0.938</a:t>
                      </a:r>
                    </a:p>
                  </a:txBody>
                </a:tc>
              </a:tr>
              <a:tr h="0">
                <a:tc>
                  <a:txBody>
                    <a:bodyPr/>
                    <a:lstStyle/>
                    <a:p>
                      <a:pPr lvl="0" indent="0" marL="0">
                        <a:buNone/>
                      </a:pPr>
                      <a:r>
                        <a:rPr/>
                        <a:t>51</a:t>
                      </a:r>
                    </a:p>
                  </a:txBody>
                </a:tc>
                <a:tc>
                  <a:txBody>
                    <a:bodyPr/>
                    <a:lstStyle/>
                    <a:p>
                      <a:pPr lvl="0" indent="0" marL="0">
                        <a:buNone/>
                      </a:pPr>
                      <a:r>
                        <a:rPr/>
                        <a:t>0.940</a:t>
                      </a:r>
                    </a:p>
                  </a:txBody>
                </a:tc>
                <a:tc>
                  <a:txBody>
                    <a:bodyPr/>
                    <a:lstStyle/>
                    <a:p>
                      <a:pPr lvl="0" indent="0" marL="0">
                        <a:buNone/>
                      </a:pPr>
                      <a:r>
                        <a:rPr/>
                        <a:t>0.933</a:t>
                      </a:r>
                    </a:p>
                  </a:txBody>
                </a:tc>
              </a:tr>
              <a:tr h="0">
                <a:tc>
                  <a:txBody>
                    <a:bodyPr/>
                    <a:lstStyle/>
                    <a:p>
                      <a:pPr lvl="0" indent="0" marL="0">
                        <a:buNone/>
                      </a:pPr>
                      <a:r>
                        <a:rPr/>
                        <a:t>401</a:t>
                      </a:r>
                    </a:p>
                  </a:txBody>
                </a:tc>
                <a:tc>
                  <a:txBody>
                    <a:bodyPr/>
                    <a:lstStyle/>
                    <a:p>
                      <a:pPr lvl="0" indent="0" marL="0">
                        <a:buNone/>
                      </a:pPr>
                      <a:r>
                        <a:rPr/>
                        <a:t>0.828</a:t>
                      </a:r>
                    </a:p>
                  </a:txBody>
                </a:tc>
                <a:tc>
                  <a:txBody>
                    <a:bodyPr/>
                    <a:lstStyle/>
                    <a:p>
                      <a:pPr lvl="0" indent="0" marL="0">
                        <a:buNone/>
                      </a:pPr>
                      <a:r>
                        <a:rPr/>
                        <a:t>0.708</a:t>
                      </a:r>
                    </a:p>
                  </a:txBody>
                </a:tc>
              </a:tr>
            </a:tbl>
          </a:graphicData>
        </a:graphic>
      </p:graphicFrame>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two curves, and the two lines that bound them</a:t>
            </a:r>
          </a:p>
        </p:txBody>
      </p:sp>
      <p:pic>
        <p:nvPicPr>
          <p:cNvPr descr="knn_choosing_k.png" id="0" name="Picture 1"/>
          <p:cNvPicPr>
            <a:picLocks noGrp="1" noChangeAspect="1"/>
          </p:cNvPicPr>
          <p:nvPr/>
        </p:nvPicPr>
        <p:blipFill>
          <a:blip r:embed="rId3"/>
          <a:stretch>
            <a:fillRect/>
          </a:stretch>
        </p:blipFill>
        <p:spPr bwMode="auto">
          <a:xfrm>
            <a:off x="1620830" y="1166099"/>
            <a:ext cx="5902340" cy="3360181"/>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same data at three values of k</a:t>
            </a:r>
          </a:p>
        </p:txBody>
      </p:sp>
      <p:pic>
        <p:nvPicPr>
          <p:cNvPr descr="knn_boundaries.png" id="0" name="Picture 1"/>
          <p:cNvPicPr>
            <a:picLocks noGrp="1" noChangeAspect="1"/>
          </p:cNvPicPr>
          <p:nvPr/>
        </p:nvPicPr>
        <p:blipFill>
          <a:blip r:embed="rId3"/>
          <a:stretch>
            <a:fillRect/>
          </a:stretch>
        </p:blipFill>
        <p:spPr bwMode="auto">
          <a:xfrm>
            <a:off x="457200" y="1544439"/>
            <a:ext cx="8229600" cy="26035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What k-NN costs</a:t>
            </a:r>
          </a:p>
        </p:txBody>
      </p:sp>
      <p:sp>
        <p:nvSpPr>
          <p:cNvPr id="3" name="Content Placeholder 2"/>
          <p:cNvSpPr>
            <a:spLocks noGrp="1"/>
          </p:cNvSpPr>
          <p:nvPr>
            <p:ph idx="1"/>
          </p:nvPr>
        </p:nvSpPr>
        <p:spPr>
          <a:xfrm>
            <a:off x="457200" y="1200151"/>
            <a:ext cx="8229600" cy="3394472"/>
          </a:xfrm>
        </p:spPr>
        <p:txBody>
          <a:bodyPr/>
          <a:lstStyle/>
          <a:p>
            <a:pPr lvl="0"/>
            <a:r>
              <a:rPr/>
              <a:t>No training time at all: you pay at </a:t>
            </a:r>
            <a:r>
              <a:rPr b="1"/>
              <a:t>every prediction</a:t>
            </a:r>
            <a:r>
              <a:rPr/>
              <a:t> instead</a:t>
            </a:r>
          </a:p>
          <a:p>
            <a:pPr lvl="0"/>
            <a:r>
              <a:rPr/>
              <a:t>A naive implementation compares the query against </a:t>
            </a:r>
            <a:r>
              <a:rPr b="1"/>
              <a:t>every</a:t>
            </a:r>
            <a:r>
              <a:rPr/>
              <a:t> training row: </a:t>
            </a:r>
            <a:r>
              <a:rPr>
                <a:latin typeface="Courier"/>
              </a:rPr>
              <a:t>O(mn)</a:t>
            </a:r>
            <a:r>
              <a:rPr/>
              <a:t> for m rows and n features</a:t>
            </a:r>
          </a:p>
          <a:p>
            <a:pPr lvl="0"/>
            <a:r>
              <a:rPr b="1"/>
              <a:t>The model is the dataset.</a:t>
            </a:r>
            <a:r>
              <a:rPr/>
              <a:t> You cannot ship one without the other</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Now the price: add columns of nothing</a:t>
            </a:r>
          </a:p>
        </p:txBody>
      </p:sp>
      <p:sp>
        <p:nvSpPr>
          <p:cNvPr id="3" name="Content Placeholder 2"/>
          <p:cNvSpPr>
            <a:spLocks noGrp="1"/>
          </p:cNvSpPr>
          <p:nvPr>
            <p:ph idx="1"/>
          </p:nvPr>
        </p:nvSpPr>
        <p:spPr>
          <a:xfrm>
            <a:off x="457200" y="1200151"/>
            <a:ext cx="8229600" cy="3394472"/>
          </a:xfrm>
        </p:spPr>
        <p:txBody>
          <a:bodyPr/>
          <a:lstStyle/>
          <a:p>
            <a:pPr lvl="0"/>
            <a:r>
              <a:rPr/>
              <a:t>Extra columns of </a:t>
            </a:r>
            <a:r>
              <a:rPr b="1"/>
              <a:t>pure noise</a:t>
            </a:r>
            <a:r>
              <a:rPr/>
              <a:t>, drawn from a normal distribution</a:t>
            </a:r>
          </a:p>
          <a:p>
            <a:pPr lvl="0"/>
            <a:r>
              <a:rPr/>
              <a:t>The two real readings are </a:t>
            </a:r>
            <a:r>
              <a:rPr b="1"/>
              <a:t>untouched</a:t>
            </a:r>
            <a:r>
              <a:rPr/>
              <a:t>: the problem is exactly as solvable</a:t>
            </a:r>
          </a:p>
          <a:p>
            <a:pPr lvl="0"/>
            <a:r>
              <a:rPr/>
              <a:t>Only the number of columns changes</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signal never left</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Total columns</a:t>
                      </a:r>
                    </a:p>
                  </a:txBody>
                  <a:tcPr/>
                </a:tc>
                <a:tc>
                  <a:txBody>
                    <a:bodyPr/>
                    <a:lstStyle/>
                    <a:p>
                      <a:pPr lvl="0" indent="0" marL="0">
                        <a:buNone/>
                      </a:pPr>
                      <a:r>
                        <a:rPr/>
                        <a:t>Accuracy</a:t>
                      </a:r>
                    </a:p>
                  </a:txBody>
                  <a:tcPr/>
                </a:tc>
                <a:tc>
                  <a:txBody>
                    <a:bodyPr/>
                    <a:lstStyle/>
                    <a:p>
                      <a:pPr lvl="0" indent="0" marL="0">
                        <a:buNone/>
                      </a:pPr>
                      <a:r>
                        <a:rPr/>
                        <a:t>Above baseline</a:t>
                      </a:r>
                    </a:p>
                  </a:txBody>
                  <a:tcPr/>
                </a:tc>
              </a:tr>
              <a:tr h="0">
                <a:tc>
                  <a:txBody>
                    <a:bodyPr/>
                    <a:lstStyle/>
                    <a:p>
                      <a:pPr lvl="0" indent="0" marL="0">
                        <a:buNone/>
                      </a:pPr>
                      <a:r>
                        <a:rPr/>
                        <a:t>2</a:t>
                      </a:r>
                    </a:p>
                  </a:txBody>
                </a:tc>
                <a:tc>
                  <a:txBody>
                    <a:bodyPr/>
                    <a:lstStyle/>
                    <a:p>
                      <a:pPr lvl="0" indent="0" marL="0">
                        <a:buNone/>
                      </a:pPr>
                      <a:r>
                        <a:rPr/>
                        <a:t>0.938</a:t>
                      </a:r>
                    </a:p>
                  </a:txBody>
                </a:tc>
                <a:tc>
                  <a:txBody>
                    <a:bodyPr/>
                    <a:lstStyle/>
                    <a:p>
                      <a:pPr lvl="0" indent="0" marL="0">
                        <a:buNone/>
                      </a:pPr>
                      <a:r>
                        <a:rPr/>
                        <a:t>+0.325</a:t>
                      </a:r>
                    </a:p>
                  </a:txBody>
                </a:tc>
              </a:tr>
              <a:tr h="0">
                <a:tc>
                  <a:txBody>
                    <a:bodyPr/>
                    <a:lstStyle/>
                    <a:p>
                      <a:pPr lvl="0" indent="0" marL="0">
                        <a:buNone/>
                      </a:pPr>
                      <a:r>
                        <a:rPr/>
                        <a:t>12</a:t>
                      </a:r>
                    </a:p>
                  </a:txBody>
                </a:tc>
                <a:tc>
                  <a:txBody>
                    <a:bodyPr/>
                    <a:lstStyle/>
                    <a:p>
                      <a:pPr lvl="0" indent="0" marL="0">
                        <a:buNone/>
                      </a:pPr>
                      <a:r>
                        <a:rPr/>
                        <a:t>0.762</a:t>
                      </a:r>
                    </a:p>
                  </a:txBody>
                </a:tc>
                <a:tc>
                  <a:txBody>
                    <a:bodyPr/>
                    <a:lstStyle/>
                    <a:p>
                      <a:pPr lvl="0" indent="0" marL="0">
                        <a:buNone/>
                      </a:pPr>
                      <a:r>
                        <a:rPr/>
                        <a:t>+0.149</a:t>
                      </a:r>
                    </a:p>
                  </a:txBody>
                </a:tc>
              </a:tr>
              <a:tr h="0">
                <a:tc>
                  <a:txBody>
                    <a:bodyPr/>
                    <a:lstStyle/>
                    <a:p>
                      <a:pPr lvl="0" indent="0" marL="0">
                        <a:buNone/>
                      </a:pPr>
                      <a:r>
                        <a:rPr/>
                        <a:t>27</a:t>
                      </a:r>
                    </a:p>
                  </a:txBody>
                </a:tc>
                <a:tc>
                  <a:txBody>
                    <a:bodyPr/>
                    <a:lstStyle/>
                    <a:p>
                      <a:pPr lvl="0" indent="0" marL="0">
                        <a:buNone/>
                      </a:pPr>
                      <a:r>
                        <a:rPr/>
                        <a:t>0.662</a:t>
                      </a:r>
                    </a:p>
                  </a:txBody>
                </a:tc>
                <a:tc>
                  <a:txBody>
                    <a:bodyPr/>
                    <a:lstStyle/>
                    <a:p>
                      <a:pPr lvl="0" indent="0" marL="0">
                        <a:buNone/>
                      </a:pPr>
                      <a:r>
                        <a:rPr/>
                        <a:t>+0.049</a:t>
                      </a:r>
                    </a:p>
                  </a:txBody>
                </a:tc>
              </a:tr>
              <a:tr h="0">
                <a:tc>
                  <a:txBody>
                    <a:bodyPr/>
                    <a:lstStyle/>
                    <a:p>
                      <a:pPr lvl="0" indent="0" marL="0">
                        <a:buNone/>
                      </a:pPr>
                      <a:r>
                        <a:rPr/>
                        <a:t>52</a:t>
                      </a:r>
                    </a:p>
                  </a:txBody>
                </a:tc>
                <a:tc>
                  <a:txBody>
                    <a:bodyPr/>
                    <a:lstStyle/>
                    <a:p>
                      <a:pPr lvl="0" indent="0" marL="0">
                        <a:buNone/>
                      </a:pPr>
                      <a:r>
                        <a:rPr/>
                        <a:t>0.602</a:t>
                      </a:r>
                    </a:p>
                  </a:txBody>
                </a:tc>
                <a:tc>
                  <a:txBody>
                    <a:bodyPr/>
                    <a:lstStyle/>
                    <a:p>
                      <a:pPr lvl="0" indent="0" marL="0">
                        <a:buNone/>
                      </a:pPr>
                      <a:r>
                        <a:rPr b="1"/>
                        <a:t>−0.011</a:t>
                      </a:r>
                    </a:p>
                  </a:txBody>
                </a:tc>
              </a:tr>
              <a:tr h="0">
                <a:tc>
                  <a:txBody>
                    <a:bodyPr/>
                    <a:lstStyle/>
                    <a:p>
                      <a:pPr lvl="0" indent="0" marL="0">
                        <a:buNone/>
                      </a:pPr>
                      <a:r>
                        <a:rPr/>
                        <a:t>102</a:t>
                      </a:r>
                    </a:p>
                  </a:txBody>
                </a:tc>
                <a:tc>
                  <a:txBody>
                    <a:bodyPr/>
                    <a:lstStyle/>
                    <a:p>
                      <a:pPr lvl="0" indent="0" marL="0">
                        <a:buNone/>
                      </a:pPr>
                      <a:r>
                        <a:rPr/>
                        <a:t>0.578</a:t>
                      </a:r>
                    </a:p>
                  </a:txBody>
                </a:tc>
                <a:tc>
                  <a:txBody>
                    <a:bodyPr/>
                    <a:lstStyle/>
                    <a:p>
                      <a:pPr lvl="0" indent="0" marL="0">
                        <a:buNone/>
                      </a:pPr>
                      <a:r>
                        <a:rPr/>
                        <a:t>−0.035</a:t>
                      </a:r>
                    </a:p>
                  </a:txBody>
                </a:tc>
              </a:tr>
            </a:tbl>
          </a:graphicData>
        </a:graphic>
      </p:graphicFrame>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Why: distances stop varying</a:t>
            </a:r>
          </a:p>
        </p:txBody>
      </p:sp>
      <p:sp>
        <p:nvSpPr>
          <p:cNvPr id="3" name="Content Placeholder 2"/>
          <p:cNvSpPr>
            <a:spLocks noGrp="1"/>
          </p:cNvSpPr>
          <p:nvPr>
            <p:ph idx="1"/>
          </p:nvPr>
        </p:nvSpPr>
        <p:spPr>
          <a:xfrm>
            <a:off x="457200" y="1200151"/>
            <a:ext cx="8229600" cy="3394472"/>
          </a:xfrm>
        </p:spPr>
        <p:txBody>
          <a:bodyPr/>
          <a:lstStyle/>
          <a:p>
            <a:pPr lvl="0"/>
            <a:r>
              <a:rPr/>
              <a:t>Scatter points in a cube, pick one, measure its </a:t>
            </a:r>
            <a:r>
              <a:rPr b="1"/>
              <a:t>nearest</a:t>
            </a:r>
            <a:r>
              <a:rPr/>
              <a:t> and its </a:t>
            </a:r>
            <a:r>
              <a:rPr b="1"/>
              <a:t>farthest</a:t>
            </a:r>
            <a:r>
              <a:rPr/>
              <a:t> neighbour</a:t>
            </a:r>
          </a:p>
          <a:p>
            <a:pPr lvl="0"/>
            <a:r>
              <a:rPr/>
              <a:t>In two dimensions those are very different numbers, which is what makes “nearest” a meaningful word</a:t>
            </a:r>
          </a:p>
          <a:p>
            <a:pPr lvl="0"/>
            <a:r>
              <a:rPr/>
              <a:t>Each new dimension adds its own squared difference, and the contributions </a:t>
            </a:r>
            <a:r>
              <a:rPr b="1"/>
              <a:t>average out</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nearest point stops being near</a:t>
            </a:r>
          </a:p>
        </p:txBody>
      </p:sp>
      <p:pic>
        <p:nvPicPr>
          <p:cNvPr descr="distance_concentration.png" id="0" name="Picture 1"/>
          <p:cNvPicPr>
            <a:picLocks noGrp="1" noChangeAspect="1"/>
          </p:cNvPicPr>
          <p:nvPr/>
        </p:nvPicPr>
        <p:blipFill>
          <a:blip r:embed="rId3"/>
          <a:stretch>
            <a:fillRect/>
          </a:stretch>
        </p:blipFill>
        <p:spPr bwMode="auto">
          <a:xfrm>
            <a:off x="1696339" y="1166099"/>
            <a:ext cx="5751321" cy="3360181"/>
          </a:xfrm>
          <a:prstGeom prst="rect">
            <a:avLst/>
          </a:prstGeom>
          <a:noFill/>
          <a:ln w="9525">
            <a:noFill/>
            <a:headEnd/>
            <a:tailEnd/>
          </a:ln>
        </p:spPr>
      </p:pic>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Nearest divided by farthest</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Dimensions</a:t>
                      </a:r>
                    </a:p>
                  </a:txBody>
                  <a:tcPr/>
                </a:tc>
                <a:tc>
                  <a:txBody>
                    <a:bodyPr/>
                    <a:lstStyle/>
                    <a:p>
                      <a:pPr lvl="0" indent="0" marL="0">
                        <a:buNone/>
                      </a:pPr>
                      <a:r>
                        <a:rPr/>
                        <a:t>nearest ÷ farthest</a:t>
                      </a:r>
                    </a:p>
                  </a:txBody>
                  <a:tcPr/>
                </a:tc>
              </a:tr>
              <a:tr h="0">
                <a:tc>
                  <a:txBody>
                    <a:bodyPr/>
                    <a:lstStyle/>
                    <a:p>
                      <a:pPr lvl="0" indent="0" marL="0">
                        <a:buNone/>
                      </a:pPr>
                      <a:r>
                        <a:rPr/>
                        <a:t>2</a:t>
                      </a:r>
                    </a:p>
                  </a:txBody>
                </a:tc>
                <a:tc>
                  <a:txBody>
                    <a:bodyPr/>
                    <a:lstStyle/>
                    <a:p>
                      <a:pPr lvl="0" indent="0" marL="0">
                        <a:buNone/>
                      </a:pPr>
                      <a:r>
                        <a:rPr/>
                        <a:t>0.016</a:t>
                      </a:r>
                    </a:p>
                  </a:txBody>
                </a:tc>
              </a:tr>
              <a:tr h="0">
                <a:tc>
                  <a:txBody>
                    <a:bodyPr/>
                    <a:lstStyle/>
                    <a:p>
                      <a:pPr lvl="0" indent="0" marL="0">
                        <a:buNone/>
                      </a:pPr>
                      <a:r>
                        <a:rPr/>
                        <a:t>10</a:t>
                      </a:r>
                    </a:p>
                  </a:txBody>
                </a:tc>
                <a:tc>
                  <a:txBody>
                    <a:bodyPr/>
                    <a:lstStyle/>
                    <a:p>
                      <a:pPr lvl="0" indent="0" marL="0">
                        <a:buNone/>
                      </a:pPr>
                      <a:r>
                        <a:rPr/>
                        <a:t>0.263</a:t>
                      </a:r>
                    </a:p>
                  </a:txBody>
                </a:tc>
              </a:tr>
              <a:tr h="0">
                <a:tc>
                  <a:txBody>
                    <a:bodyPr/>
                    <a:lstStyle/>
                    <a:p>
                      <a:pPr lvl="0" indent="0" marL="0">
                        <a:buNone/>
                      </a:pPr>
                      <a:r>
                        <a:rPr/>
                        <a:t>50</a:t>
                      </a:r>
                    </a:p>
                  </a:txBody>
                </a:tc>
                <a:tc>
                  <a:txBody>
                    <a:bodyPr/>
                    <a:lstStyle/>
                    <a:p>
                      <a:pPr lvl="0" indent="0" marL="0">
                        <a:buNone/>
                      </a:pPr>
                      <a:r>
                        <a:rPr/>
                        <a:t>0.592</a:t>
                      </a:r>
                    </a:p>
                  </a:txBody>
                </a:tc>
              </a:tr>
              <a:tr h="0">
                <a:tc>
                  <a:txBody>
                    <a:bodyPr/>
                    <a:lstStyle/>
                    <a:p>
                      <a:pPr lvl="0" indent="0" marL="0">
                        <a:buNone/>
                      </a:pPr>
                      <a:r>
                        <a:rPr/>
                        <a:t>100</a:t>
                      </a:r>
                    </a:p>
                  </a:txBody>
                </a:tc>
                <a:tc>
                  <a:txBody>
                    <a:bodyPr/>
                    <a:lstStyle/>
                    <a:p>
                      <a:pPr lvl="0" indent="0" marL="0">
                        <a:buNone/>
                      </a:pPr>
                      <a:r>
                        <a:rPr b="1"/>
                        <a:t>0.701</a:t>
                      </a:r>
                    </a:p>
                  </a:txBody>
                </a:tc>
              </a:tr>
              <a:tr h="0">
                <a:tc>
                  <a:txBody>
                    <a:bodyPr/>
                    <a:lstStyle/>
                    <a:p>
                      <a:pPr lvl="0" indent="0" marL="0">
                        <a:buNone/>
                      </a:pPr>
                      <a:r>
                        <a:rPr/>
                        <a:t>500</a:t>
                      </a:r>
                    </a:p>
                  </a:txBody>
                </a:tc>
                <a:tc>
                  <a:txBody>
                    <a:bodyPr/>
                    <a:lstStyle/>
                    <a:p>
                      <a:pPr lvl="0" indent="0" marL="0">
                        <a:buNone/>
                      </a:pPr>
                      <a:r>
                        <a:rPr/>
                        <a:t>0.855</a:t>
                      </a:r>
                    </a:p>
                  </a:txBody>
                </a:tc>
              </a:tr>
            </a:tbl>
          </a:graphicData>
        </a:graphic>
      </p:graphicFrame>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In 100 dimensions the nearest point is 70% as far as the farthest</a:t>
            </a:r>
          </a:p>
        </p:txBody>
      </p:sp>
      <p:sp>
        <p:nvSpPr>
          <p:cNvPr id="3" name="Content Placeholder 2"/>
          <p:cNvSpPr>
            <a:spLocks noGrp="1"/>
          </p:cNvSpPr>
          <p:nvPr>
            <p:ph idx="1"/>
          </p:nvPr>
        </p:nvSpPr>
        <p:spPr>
          <a:xfrm>
            <a:off x="457200" y="1200151"/>
            <a:ext cx="8229600" cy="3394472"/>
          </a:xfrm>
        </p:spPr>
        <p:txBody>
          <a:bodyPr/>
          <a:lstStyle/>
          <a:p>
            <a:pPr lvl="0"/>
            <a:r>
              <a:rPr/>
              <a:t>In </a:t>
            </a:r>
            <a:r>
              <a:rPr b="1"/>
              <a:t>two</a:t>
            </a:r>
            <a:r>
              <a:rPr/>
              <a:t> dimensions it is </a:t>
            </a:r>
            <a:r>
              <a:rPr b="1"/>
              <a:t>2%</a:t>
            </a:r>
            <a:r>
              <a:rPr/>
              <a:t>: “nearest” picks out something special</a:t>
            </a:r>
          </a:p>
          <a:p>
            <a:pPr lvl="0"/>
            <a:r>
              <a:rPr/>
              <a:t>In </a:t>
            </a:r>
            <a:r>
              <a:rPr b="1"/>
              <a:t>one hundred</a:t>
            </a:r>
            <a:r>
              <a:rPr/>
              <a:t> it is </a:t>
            </a:r>
            <a:r>
              <a:rPr b="1"/>
              <a:t>70%</a:t>
            </a:r>
            <a:r>
              <a:rPr/>
              <a:t>: the nearest point is barely nearer than a random one</a:t>
            </a:r>
          </a:p>
          <a:p>
            <a:pPr lvl="0"/>
            <a:r>
              <a:rPr/>
              <a:t>A vote among “the five nearest” becomes a vote among five taken at random</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What the curse is, and is not</a:t>
            </a:r>
          </a:p>
        </p:txBody>
      </p:sp>
      <p:sp>
        <p:nvSpPr>
          <p:cNvPr id="3" name="Content Placeholder 2"/>
          <p:cNvSpPr>
            <a:spLocks noGrp="1"/>
          </p:cNvSpPr>
          <p:nvPr>
            <p:ph idx="1"/>
          </p:nvPr>
        </p:nvSpPr>
        <p:spPr>
          <a:xfrm>
            <a:off x="457200" y="1200151"/>
            <a:ext cx="8229600" cy="3394472"/>
          </a:xfrm>
        </p:spPr>
        <p:txBody>
          <a:bodyPr/>
          <a:lstStyle/>
          <a:p>
            <a:pPr lvl="0"/>
            <a:r>
              <a:rPr b="1"/>
              <a:t>Not</a:t>
            </a:r>
            <a:r>
              <a:rPr/>
              <a:t> that high-dimensional problems are unlearnable: lesson 9’s networks work in thousands of dimensions</a:t>
            </a:r>
          </a:p>
          <a:p>
            <a:pPr lvl="0"/>
            <a:r>
              <a:rPr/>
              <a:t>That </a:t>
            </a:r>
            <a:r>
              <a:rPr b="1"/>
              <a:t>methods built on distance lose their footing</a:t>
            </a:r>
            <a:r>
              <a:rPr/>
              <a:t>, because the quantity they depend on stops varying</a:t>
            </a:r>
          </a:p>
          <a:p>
            <a:pPr lvl="0"/>
            <a:r>
              <a:rPr/>
              <a:t>k-NN, k-means (lesson 8), and the radial basis function (RBF) kernel of support vector machines, later today</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Notebook 1, live</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section, and its slides</a:t>
                      </a:r>
                    </a:p>
                  </a:txBody>
                  <a:tcPr/>
                </a:tc>
                <a:tc>
                  <a:txBody>
                    <a:bodyPr/>
                    <a:lstStyle/>
                    <a:p>
                      <a:pPr lvl="0" indent="0" marL="0">
                        <a:buNone/>
                      </a:pPr>
                      <a:r>
                        <a:rPr/>
                        <a:t>you call (→ the number to come back with)</a:t>
                      </a:r>
                    </a:p>
                  </a:txBody>
                  <a:tcPr/>
                </a:tc>
              </a:tr>
              <a:tr h="0">
                <a:tc>
                  <a:txBody>
                    <a:bodyPr/>
                    <a:lstStyle/>
                    <a:p>
                      <a:pPr lvl="0" indent="0" marL="0">
                        <a:buNone/>
                      </a:pPr>
                      <a:r>
                        <a:rPr/>
                        <a:t>the straight line, 4-6</a:t>
                      </a:r>
                    </a:p>
                  </a:txBody>
                </a:tc>
                <a:tc>
                  <a:txBody>
                    <a:bodyPr/>
                    <a:lstStyle/>
                    <a:p>
                      <a:pPr lvl="0" indent="0" marL="0">
                        <a:buNone/>
                      </a:pPr>
                      <a:r>
                        <a:rPr>
                          <a:latin typeface="Courier"/>
                        </a:rPr>
                        <a:t>LogisticRegression</a:t>
                      </a:r>
                      <a:r>
                        <a:rPr/>
                        <a:t> scored by </a:t>
                      </a:r>
                      <a:r>
                        <a:rPr>
                          <a:latin typeface="Courier"/>
                        </a:rPr>
                        <a:t>cross_val_score</a:t>
                      </a:r>
                      <a:r>
                        <a:rPr/>
                        <a:t> over </a:t>
                      </a:r>
                      <a:r>
                        <a:rPr>
                          <a:latin typeface="Courier"/>
                        </a:rPr>
                        <a:t>StratifiedKFold</a:t>
                      </a:r>
                      <a:r>
                        <a:rPr/>
                        <a:t> folds → 0.613</a:t>
                      </a:r>
                    </a:p>
                  </a:txBody>
                </a:tc>
              </a:tr>
              <a:tr h="0">
                <a:tc>
                  <a:txBody>
                    <a:bodyPr/>
                    <a:lstStyle/>
                    <a:p>
                      <a:pPr lvl="0" indent="0" marL="0">
                        <a:buNone/>
                      </a:pPr>
                      <a:r>
                        <a:rPr/>
                        <a:t>k-NN, scaled first, 7-9</a:t>
                      </a:r>
                    </a:p>
                  </a:txBody>
                </a:tc>
                <a:tc>
                  <a:txBody>
                    <a:bodyPr/>
                    <a:lstStyle/>
                    <a:p>
                      <a:pPr lvl="0" indent="0" marL="0">
                        <a:buNone/>
                      </a:pPr>
                      <a:r>
                        <a:rPr>
                          <a:latin typeface="Courier"/>
                        </a:rPr>
                        <a:t>make_pipeline(StandardScaler(), KNeighborsClassifier(k))</a:t>
                      </a:r>
                    </a:p>
                  </a:txBody>
                </a:tc>
              </a:tr>
              <a:tr h="0">
                <a:tc>
                  <a:txBody>
                    <a:bodyPr/>
                    <a:lstStyle/>
                    <a:p>
                      <a:pPr lvl="0" indent="0" marL="0">
                        <a:buNone/>
                      </a:pPr>
                      <a:r>
                        <a:rPr/>
                        <a:t>choosing k, 10-13</a:t>
                      </a:r>
                    </a:p>
                  </a:txBody>
                </a:tc>
                <a:tc>
                  <a:txBody>
                    <a:bodyPr/>
                    <a:lstStyle/>
                    <a:p>
                      <a:pPr lvl="0" indent="0" marL="0">
                        <a:buNone/>
                      </a:pPr>
                      <a:r>
                        <a:rPr>
                          <a:latin typeface="Courier"/>
                        </a:rPr>
                        <a:t>cross_val_score</a:t>
                      </a:r>
                      <a:r>
                        <a:rPr/>
                        <a:t> for each k → 0.944 at k = 5</a:t>
                      </a:r>
                    </a:p>
                  </a:txBody>
                </a:tc>
              </a:tr>
              <a:tr h="0">
                <a:tc>
                  <a:txBody>
                    <a:bodyPr/>
                    <a:lstStyle/>
                    <a:p>
                      <a:pPr lvl="0" indent="0" marL="0">
                        <a:buNone/>
                      </a:pPr>
                      <a:r>
                        <a:rPr/>
                        <a:t>columns of noise, 15-16</a:t>
                      </a:r>
                    </a:p>
                  </a:txBody>
                </a:tc>
                <a:tc>
                  <a:txBody>
                    <a:bodyPr/>
                    <a:lstStyle/>
                    <a:p>
                      <a:pPr lvl="0" indent="0" marL="0">
                        <a:buNone/>
                      </a:pPr>
                      <a:r>
                        <a:rPr/>
                        <a:t>the same pipeline on </a:t>
                      </a:r>
                      <a:r>
                        <a:rPr>
                          <a:latin typeface="Courier"/>
                        </a:rPr>
                        <a:t>load_with_noise(d)</a:t>
                      </a:r>
                      <a:r>
                        <a:rPr/>
                        <a:t> → 0.602 at 52 columns</a:t>
                      </a:r>
                    </a:p>
                  </a:txBody>
                </a:tc>
              </a:tr>
              <a:tr h="0">
                <a:tc>
                  <a:txBody>
                    <a:bodyPr/>
                    <a:lstStyle/>
                    <a:p>
                      <a:pPr lvl="0" indent="0" marL="0">
                        <a:buNone/>
                      </a:pPr>
                      <a:r>
                        <a:rPr/>
                        <a:t>distances stop varying, 17-20</a:t>
                      </a:r>
                    </a:p>
                  </a:txBody>
                </a:tc>
                <a:tc>
                  <a:txBody>
                    <a:bodyPr/>
                    <a:lstStyle/>
                    <a:p>
                      <a:pPr lvl="0" indent="0" marL="0">
                        <a:buNone/>
                      </a:pPr>
                      <a:r>
                        <a:rPr/>
                        <a:t>NumPy only: nearest ÷ farthest → 0.701 in 100 dimensions</a:t>
                      </a:r>
                    </a:p>
                  </a:txBody>
                </a:tc>
              </a:tr>
            </a:tbl>
          </a:graphicData>
        </a:graphic>
      </p:graphicFrame>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Break</a:t>
            </a:r>
          </a:p>
        </p:txBody>
      </p:sp>
      <p:sp>
        <p:nvSpPr>
          <p:cNvPr id="3" name="Content Placeholder 2"/>
          <p:cNvSpPr>
            <a:spLocks noGrp="1"/>
          </p:cNvSpPr>
          <p:nvPr>
            <p:ph idx="1"/>
          </p:nvPr>
        </p:nvSpPr>
        <p:spPr>
          <a:xfrm>
            <a:off x="457200" y="1200151"/>
            <a:ext cx="8229600" cy="3394472"/>
          </a:xfrm>
        </p:spPr>
        <p:txBody>
          <a:bodyPr/>
          <a:lstStyle/>
          <a:p>
            <a:pPr lvl="0"/>
            <a:r>
              <a:rPr/>
              <a:t>Twelve minutes</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Naive Bayes: turn the question around</a:t>
            </a:r>
          </a:p>
        </p:txBody>
      </p:sp>
      <p:sp>
        <p:nvSpPr>
          <p:cNvPr id="3" name="Content Placeholder 2"/>
          <p:cNvSpPr>
            <a:spLocks noGrp="1"/>
          </p:cNvSpPr>
          <p:nvPr>
            <p:ph idx="1"/>
          </p:nvPr>
        </p:nvSpPr>
        <p:spPr>
          <a:xfrm>
            <a:off x="457200" y="1200151"/>
            <a:ext cx="8229600" cy="3394472"/>
          </a:xfrm>
        </p:spPr>
        <p:txBody>
          <a:bodyPr/>
          <a:lstStyle/>
          <a:p>
            <a:pPr lvl="0"/>
            <a:r>
              <a:rPr/>
              <a:t>We want the probability of the class </a:t>
            </a:r>
            <a:r>
              <a:rPr b="1"/>
              <a:t>given</a:t>
            </a:r>
            <a:r>
              <a:rPr/>
              <a:t> the readings</a:t>
            </a:r>
          </a:p>
          <a:p>
            <a:pPr lvl="0"/>
            <a:r>
              <a:rPr/>
              <a:t>The prior P(y = c) is the class’s share of the data; the denominator is the same for every class and cancels</a:t>
            </a:r>
          </a:p>
          <a:p>
            <a:pPr lvl="0"/>
            <a:r>
              <a:rPr/>
              <a:t>Everything hard sits in one term: the probability of </a:t>
            </a:r>
            <a:r>
              <a:rPr b="1"/>
              <a:t>this exact combination of readings</a:t>
            </a:r>
            <a:r>
              <a:rPr/>
              <a:t> among examples of that class</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Bayes’ rule, applied to a class</a:t>
            </a:r>
          </a:p>
        </p:txBody>
      </p:sp>
      <p:pic>
        <p:nvPicPr>
          <p:cNvPr descr="eq_fa22d51d8d.png" id="0" name="Picture 1"/>
          <p:cNvPicPr>
            <a:picLocks noGrp="1" noChangeAspect="1"/>
          </p:cNvPicPr>
          <p:nvPr/>
        </p:nvPicPr>
        <p:blipFill>
          <a:blip r:embed="rId3"/>
          <a:stretch>
            <a:fillRect/>
          </a:stretch>
        </p:blipFill>
        <p:spPr bwMode="auto">
          <a:xfrm>
            <a:off x="457200" y="2281039"/>
            <a:ext cx="8229600" cy="1130300"/>
          </a:xfrm>
          <a:prstGeom prst="rect">
            <a:avLst/>
          </a:prstGeom>
          <a:noFill/>
          <a:ln w="9525">
            <a:noFill/>
            <a:headEnd/>
            <a:tailEnd/>
          </a:ln>
        </p:spPr>
      </p:pic>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decision drops the denominator</a:t>
            </a:r>
          </a:p>
        </p:txBody>
      </p:sp>
      <p:pic>
        <p:nvPicPr>
          <p:cNvPr descr="eq_1286136c78.png" id="0" name="Picture 1"/>
          <p:cNvPicPr>
            <a:picLocks noGrp="1" noChangeAspect="1"/>
          </p:cNvPicPr>
          <p:nvPr/>
        </p:nvPicPr>
        <p:blipFill>
          <a:blip r:embed="rId3"/>
          <a:stretch>
            <a:fillRect/>
          </a:stretch>
        </p:blipFill>
        <p:spPr bwMode="auto">
          <a:xfrm>
            <a:off x="457200" y="2509639"/>
            <a:ext cx="8229600" cy="673100"/>
          </a:xfrm>
          <a:prstGeom prst="rect">
            <a:avLst/>
          </a:prstGeom>
          <a:noFill/>
          <a:ln w="9525">
            <a:noFill/>
            <a:headEnd/>
            <a:tailEnd/>
          </a:ln>
        </p:spPr>
      </p:pic>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assumption: independent, given the class</a:t>
            </a:r>
          </a:p>
        </p:txBody>
      </p:sp>
      <p:sp>
        <p:nvSpPr>
          <p:cNvPr id="3" name="Content Placeholder 2"/>
          <p:cNvSpPr>
            <a:spLocks noGrp="1"/>
          </p:cNvSpPr>
          <p:nvPr>
            <p:ph idx="1"/>
          </p:nvPr>
        </p:nvSpPr>
        <p:spPr>
          <a:xfrm>
            <a:off x="457200" y="1200151"/>
            <a:ext cx="8229600" cy="3394472"/>
          </a:xfrm>
        </p:spPr>
        <p:txBody>
          <a:bodyPr/>
          <a:lstStyle/>
          <a:p>
            <a:pPr lvl="0"/>
            <a:r>
              <a:rPr b="1"/>
              <a:t>Given the class, the features are independent of one another</a:t>
            </a:r>
          </a:p>
          <a:p>
            <a:pPr lvl="0"/>
            <a:r>
              <a:rPr/>
              <a:t>The joint density then factorises into n one-dimensional densities</a:t>
            </a:r>
          </a:p>
          <a:p>
            <a:pPr lvl="0"/>
            <a:r>
              <a:rPr/>
              <a:t>Each factor is estimated from the rows of that class alone</a:t>
            </a:r>
          </a:p>
          <a:p>
            <a:pPr lvl="0"/>
            <a:r>
              <a:rPr/>
              <a:t>In code: </a:t>
            </a:r>
            <a:r>
              <a:rPr>
                <a:latin typeface="Courier"/>
              </a:rPr>
              <a:t>GaussianNB()</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factorisation the assumption buys</a:t>
            </a:r>
          </a:p>
        </p:txBody>
      </p:sp>
      <p:pic>
        <p:nvPicPr>
          <p:cNvPr descr="eq_9c5369810c.png" id="0" name="Picture 1"/>
          <p:cNvPicPr>
            <a:picLocks noGrp="1" noChangeAspect="1"/>
          </p:cNvPicPr>
          <p:nvPr/>
        </p:nvPicPr>
        <p:blipFill>
          <a:blip r:embed="rId3"/>
          <a:stretch>
            <a:fillRect/>
          </a:stretch>
        </p:blipFill>
        <p:spPr bwMode="auto">
          <a:xfrm>
            <a:off x="457202" y="1957190"/>
            <a:ext cx="8229595" cy="1777999"/>
          </a:xfrm>
          <a:prstGeom prst="rect">
            <a:avLst/>
          </a:prstGeom>
          <a:noFill/>
          <a:ln w="9525">
            <a:noFill/>
            <a:headEnd/>
            <a:tailEnd/>
          </a:ln>
        </p:spPr>
      </p:pic>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Gaussian: each factor is a bell curve</a:t>
            </a:r>
          </a:p>
        </p:txBody>
      </p:sp>
      <p:pic>
        <p:nvPicPr>
          <p:cNvPr descr="eq_13eb83da37.png" id="0" name="Picture 1"/>
          <p:cNvPicPr>
            <a:picLocks noGrp="1" noChangeAspect="1"/>
          </p:cNvPicPr>
          <p:nvPr/>
        </p:nvPicPr>
        <p:blipFill>
          <a:blip r:embed="rId3"/>
          <a:stretch>
            <a:fillRect/>
          </a:stretch>
        </p:blipFill>
        <p:spPr bwMode="auto">
          <a:xfrm>
            <a:off x="457200" y="2211189"/>
            <a:ext cx="8229600" cy="1270000"/>
          </a:xfrm>
          <a:prstGeom prst="rect">
            <a:avLst/>
          </a:prstGeom>
          <a:noFill/>
          <a:ln w="9525">
            <a:noFill/>
            <a:headEnd/>
            <a:tailEnd/>
          </a:ln>
        </p:spPr>
      </p:pic>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Ten numbers, and the widths decide</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1371600"/>
                <a:gridCol w="1371600"/>
                <a:gridCol w="1371600"/>
                <a:gridCol w="1371600"/>
                <a:gridCol w="1371600"/>
                <a:gridCol w="1371600"/>
              </a:tblGrid>
              <a:tr h="0">
                <a:tc>
                  <a:txBody>
                    <a:bodyPr/>
                    <a:lstStyle/>
                    <a:p>
                      <a:pPr lvl="0" indent="0" marL="0">
                        <a:buNone/>
                      </a:pPr>
                      <a:r>
                        <a:rPr/>
                        <a:t>Class</a:t>
                      </a:r>
                    </a:p>
                  </a:txBody>
                  <a:tcPr/>
                </a:tc>
                <a:tc>
                  <a:txBody>
                    <a:bodyPr/>
                    <a:lstStyle/>
                    <a:p>
                      <a:pPr lvl="0" indent="0" marL="0">
                        <a:buNone/>
                      </a:pPr>
                      <a:r>
                        <a:rPr/>
                        <a:t>Prior</a:t>
                      </a:r>
                    </a:p>
                  </a:txBody>
                  <a:tcPr/>
                </a:tc>
                <a:tc>
                  <a:txBody>
                    <a:bodyPr/>
                    <a:lstStyle/>
                    <a:p>
                      <a:pPr lvl="0" indent="0" marL="0">
                        <a:buNone/>
                      </a:pPr>
                      <a:r>
                        <a:rPr/>
                        <a:t>Vibration mean</a:t>
                      </a:r>
                    </a:p>
                  </a:txBody>
                  <a:tcPr/>
                </a:tc>
                <a:tc>
                  <a:txBody>
                    <a:bodyPr/>
                    <a:lstStyle/>
                    <a:p>
                      <a:pPr lvl="0" indent="0" marL="0">
                        <a:buNone/>
                      </a:pPr>
                      <a:r>
                        <a:rPr/>
                        <a:t>Vibration sd</a:t>
                      </a:r>
                    </a:p>
                  </a:txBody>
                  <a:tcPr/>
                </a:tc>
                <a:tc>
                  <a:txBody>
                    <a:bodyPr/>
                    <a:lstStyle/>
                    <a:p>
                      <a:pPr lvl="0" indent="0" marL="0">
                        <a:buNone/>
                      </a:pPr>
                      <a:r>
                        <a:rPr/>
                        <a:t>Pressure mean</a:t>
                      </a:r>
                    </a:p>
                  </a:txBody>
                  <a:tcPr/>
                </a:tc>
                <a:tc>
                  <a:txBody>
                    <a:bodyPr/>
                    <a:lstStyle/>
                    <a:p>
                      <a:pPr lvl="0" indent="0" marL="0">
                        <a:buNone/>
                      </a:pPr>
                      <a:r>
                        <a:rPr/>
                        <a:t>Pressure sd</a:t>
                      </a:r>
                    </a:p>
                  </a:txBody>
                  <a:tcPr/>
                </a:tc>
              </a:tr>
              <a:tr h="0">
                <a:tc>
                  <a:txBody>
                    <a:bodyPr/>
                    <a:lstStyle/>
                    <a:p>
                      <a:pPr lvl="0" indent="0" marL="0">
                        <a:buNone/>
                      </a:pPr>
                      <a:r>
                        <a:rPr/>
                        <a:t>Healthy</a:t>
                      </a:r>
                    </a:p>
                  </a:txBody>
                </a:tc>
                <a:tc>
                  <a:txBody>
                    <a:bodyPr/>
                    <a:lstStyle/>
                    <a:p>
                      <a:pPr lvl="0" indent="0" marL="0">
                        <a:buNone/>
                      </a:pPr>
                      <a:r>
                        <a:rPr/>
                        <a:t>0.3875</a:t>
                      </a:r>
                    </a:p>
                  </a:txBody>
                </a:tc>
                <a:tc>
                  <a:txBody>
                    <a:bodyPr/>
                    <a:lstStyle/>
                    <a:p>
                      <a:pPr lvl="0" indent="0" marL="0">
                        <a:buNone/>
                      </a:pPr>
                      <a:r>
                        <a:rPr/>
                        <a:t>41.986 Hz</a:t>
                      </a:r>
                    </a:p>
                  </a:txBody>
                </a:tc>
                <a:tc>
                  <a:txBody>
                    <a:bodyPr/>
                    <a:lstStyle/>
                    <a:p>
                      <a:pPr lvl="0" indent="0" marL="0">
                        <a:buNone/>
                      </a:pPr>
                      <a:r>
                        <a:rPr b="1"/>
                        <a:t>1.695</a:t>
                      </a:r>
                    </a:p>
                  </a:txBody>
                </a:tc>
                <a:tc>
                  <a:txBody>
                    <a:bodyPr/>
                    <a:lstStyle/>
                    <a:p>
                      <a:pPr lvl="0" indent="0" marL="0">
                        <a:buNone/>
                      </a:pPr>
                      <a:r>
                        <a:rPr/>
                        <a:t>5.617 bar</a:t>
                      </a:r>
                    </a:p>
                  </a:txBody>
                </a:tc>
                <a:tc>
                  <a:txBody>
                    <a:bodyPr/>
                    <a:lstStyle/>
                    <a:p>
                      <a:pPr lvl="0" indent="0" marL="0">
                        <a:buNone/>
                      </a:pPr>
                      <a:r>
                        <a:rPr b="1"/>
                        <a:t>0.219</a:t>
                      </a:r>
                    </a:p>
                  </a:txBody>
                </a:tc>
              </a:tr>
              <a:tr h="0">
                <a:tc>
                  <a:txBody>
                    <a:bodyPr/>
                    <a:lstStyle/>
                    <a:p>
                      <a:pPr lvl="0" indent="0" marL="0">
                        <a:buNone/>
                      </a:pPr>
                      <a:r>
                        <a:rPr/>
                        <a:t>Faulty</a:t>
                      </a:r>
                    </a:p>
                  </a:txBody>
                </a:tc>
                <a:tc>
                  <a:txBody>
                    <a:bodyPr/>
                    <a:lstStyle/>
                    <a:p>
                      <a:pPr lvl="0" indent="0" marL="0">
                        <a:buNone/>
                      </a:pPr>
                      <a:r>
                        <a:rPr/>
                        <a:t>0.6125</a:t>
                      </a:r>
                    </a:p>
                  </a:txBody>
                </a:tc>
                <a:tc>
                  <a:txBody>
                    <a:bodyPr/>
                    <a:lstStyle/>
                    <a:p>
                      <a:pPr lvl="0" indent="0" marL="0">
                        <a:buNone/>
                      </a:pPr>
                      <a:r>
                        <a:rPr/>
                        <a:t>42.015 Hz</a:t>
                      </a:r>
                    </a:p>
                  </a:txBody>
                </a:tc>
                <a:tc>
                  <a:txBody>
                    <a:bodyPr/>
                    <a:lstStyle/>
                    <a:p>
                      <a:pPr lvl="0" indent="0" marL="0">
                        <a:buNone/>
                      </a:pPr>
                      <a:r>
                        <a:rPr b="1"/>
                        <a:t>4.636</a:t>
                      </a:r>
                    </a:p>
                  </a:txBody>
                </a:tc>
                <a:tc>
                  <a:txBody>
                    <a:bodyPr/>
                    <a:lstStyle/>
                    <a:p>
                      <a:pPr lvl="0" indent="0" marL="0">
                        <a:buNone/>
                      </a:pPr>
                      <a:r>
                        <a:rPr/>
                        <a:t>5.616 bar</a:t>
                      </a:r>
                    </a:p>
                  </a:txBody>
                </a:tc>
                <a:tc>
                  <a:txBody>
                    <a:bodyPr/>
                    <a:lstStyle/>
                    <a:p>
                      <a:pPr lvl="0" indent="0" marL="0">
                        <a:buNone/>
                      </a:pPr>
                      <a:r>
                        <a:rPr b="1"/>
                        <a:t>0.576</a:t>
                      </a:r>
                    </a:p>
                  </a:txBody>
                </a:tc>
              </a:tr>
            </a:tbl>
          </a:graphicData>
        </a:graphic>
      </p:graphicFrame>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48 Hz: one bell is 86 times the other</a:t>
            </a:r>
          </a:p>
        </p:txBody>
      </p:sp>
      <p:pic>
        <p:nvPicPr>
          <p:cNvPr descr="nb_bells_one_pump.png" id="0" name="Picture 1"/>
          <p:cNvPicPr>
            <a:picLocks noGrp="1" noChangeAspect="1"/>
          </p:cNvPicPr>
          <p:nvPr/>
        </p:nvPicPr>
        <p:blipFill>
          <a:blip r:embed="rId3"/>
          <a:stretch>
            <a:fillRect/>
          </a:stretch>
        </p:blipFill>
        <p:spPr bwMode="auto">
          <a:xfrm>
            <a:off x="457200" y="1480939"/>
            <a:ext cx="8229600" cy="2730500"/>
          </a:xfrm>
          <a:prstGeom prst="rect">
            <a:avLst/>
          </a:prstGeom>
          <a:noFill/>
          <a:ln w="9525">
            <a:noFill/>
            <a:headEnd/>
            <a:tailEnd/>
          </a:ln>
        </p:spPr>
      </p:pic>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Add the natural logs: same winner</a:t>
            </a:r>
          </a:p>
        </p:txBody>
      </p:sp>
      <p:pic>
        <p:nvPicPr>
          <p:cNvPr descr="eq_bcbcc80b6d.png" id="0" name="Picture 1"/>
          <p:cNvPicPr>
            <a:picLocks noGrp="1" noChangeAspect="1"/>
          </p:cNvPicPr>
          <p:nvPr/>
        </p:nvPicPr>
        <p:blipFill>
          <a:blip r:embed="rId3"/>
          <a:stretch>
            <a:fillRect/>
          </a:stretch>
        </p:blipFill>
        <p:spPr bwMode="auto">
          <a:xfrm>
            <a:off x="457200" y="2490589"/>
            <a:ext cx="8229600" cy="711200"/>
          </a:xfrm>
          <a:prstGeom prst="rect">
            <a:avLst/>
          </a:prstGeom>
          <a:noFill/>
          <a:ln w="9525">
            <a:noFill/>
            <a:headEnd/>
            <a:tailEnd/>
          </a:ln>
        </p:spPr>
      </p:pic>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48 Hz, 5.6 bar: scores and their logs</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1371600"/>
                <a:gridCol w="1371600"/>
                <a:gridCol w="1371600"/>
                <a:gridCol w="1371600"/>
                <a:gridCol w="1371600"/>
                <a:gridCol w="1371600"/>
              </a:tblGrid>
              <a:tr h="0">
                <a:tc>
                  <a:txBody>
                    <a:bodyPr/>
                    <a:lstStyle/>
                    <a:p>
                      <a:pPr lvl="0" indent="0" marL="0">
                        <a:buNone/>
                      </a:pPr>
                      <a:r>
                        <a:rPr/>
                        <a:t>Class</a:t>
                      </a:r>
                    </a:p>
                  </a:txBody>
                  <a:tcPr/>
                </a:tc>
                <a:tc>
                  <a:txBody>
                    <a:bodyPr/>
                    <a:lstStyle/>
                    <a:p>
                      <a:endParaRPr/>
                    </a:p>
                  </a:txBody>
                  <a:tcPr/>
                </a:tc>
                <a:tc>
                  <a:txBody>
                    <a:bodyPr/>
                    <a:lstStyle/>
                    <a:p>
                      <a:pPr lvl="0" indent="0" marL="0">
                        <a:buNone/>
                      </a:pPr>
                      <a:r>
                        <a:rPr/>
                        <a:t>Prior</a:t>
                      </a:r>
                    </a:p>
                  </a:txBody>
                  <a:tcPr/>
                </a:tc>
                <a:tc>
                  <a:txBody>
                    <a:bodyPr/>
                    <a:lstStyle/>
                    <a:p>
                      <a:pPr lvl="0" indent="0" marL="0">
                        <a:buNone/>
                      </a:pPr>
                      <a:r>
                        <a:rPr/>
                        <a:t>Vibration density</a:t>
                      </a:r>
                    </a:p>
                  </a:txBody>
                  <a:tcPr/>
                </a:tc>
                <a:tc>
                  <a:txBody>
                    <a:bodyPr/>
                    <a:lstStyle/>
                    <a:p>
                      <a:pPr lvl="0" indent="0" marL="0">
                        <a:buNone/>
                      </a:pPr>
                      <a:r>
                        <a:rPr/>
                        <a:t>Pressure density</a:t>
                      </a:r>
                    </a:p>
                  </a:txBody>
                  <a:tcPr/>
                </a:tc>
                <a:tc>
                  <a:txBody>
                    <a:bodyPr/>
                    <a:lstStyle/>
                    <a:p>
                      <a:pPr lvl="0" indent="0" marL="0">
                        <a:buNone/>
                      </a:pPr>
                      <a:r>
                        <a:rPr/>
                        <a:t>Product, or sum of logs</a:t>
                      </a:r>
                    </a:p>
                  </a:txBody>
                  <a:tcPr/>
                </a:tc>
              </a:tr>
              <a:tr h="0">
                <a:tc>
                  <a:txBody>
                    <a:bodyPr/>
                    <a:lstStyle/>
                    <a:p>
                      <a:pPr lvl="0" indent="0" marL="0">
                        <a:buNone/>
                      </a:pPr>
                      <a:r>
                        <a:rPr/>
                        <a:t>Healthy</a:t>
                      </a:r>
                    </a:p>
                  </a:txBody>
                </a:tc>
                <a:tc>
                  <a:txBody>
                    <a:bodyPr/>
                    <a:lstStyle/>
                    <a:p>
                      <a:pPr lvl="0" indent="0" marL="0">
                        <a:buNone/>
                      </a:pPr>
                      <a:r>
                        <a:rPr/>
                        <a:t>value</a:t>
                      </a:r>
                    </a:p>
                  </a:txBody>
                </a:tc>
                <a:tc>
                  <a:txBody>
                    <a:bodyPr/>
                    <a:lstStyle/>
                    <a:p>
                      <a:pPr lvl="0" indent="0" marL="0">
                        <a:buNone/>
                      </a:pPr>
                      <a:r>
                        <a:rPr/>
                        <a:t>0.3875</a:t>
                      </a:r>
                    </a:p>
                  </a:txBody>
                </a:tc>
                <a:tc>
                  <a:txBody>
                    <a:bodyPr/>
                    <a:lstStyle/>
                    <a:p>
                      <a:pPr lvl="0" indent="0" marL="0">
                        <a:buNone/>
                      </a:pPr>
                      <a:r>
                        <a:rPr/>
                        <a:t>0.000433</a:t>
                      </a:r>
                    </a:p>
                  </a:txBody>
                </a:tc>
                <a:tc>
                  <a:txBody>
                    <a:bodyPr/>
                    <a:lstStyle/>
                    <a:p>
                      <a:pPr lvl="0" indent="0" marL="0">
                        <a:buNone/>
                      </a:pPr>
                      <a:r>
                        <a:rPr/>
                        <a:t>1.818</a:t>
                      </a:r>
                    </a:p>
                  </a:txBody>
                </a:tc>
                <a:tc>
                  <a:txBody>
                    <a:bodyPr/>
                    <a:lstStyle/>
                    <a:p>
                      <a:pPr lvl="0" indent="0" marL="0">
                        <a:buNone/>
                      </a:pPr>
                      <a:r>
                        <a:rPr/>
                        <a:t>0.000305</a:t>
                      </a:r>
                    </a:p>
                  </a:txBody>
                </a:tc>
              </a:tr>
              <a:tr h="0">
                <a:tc>
                  <a:txBody>
                    <a:bodyPr/>
                    <a:lstStyle/>
                    <a:p>
                      <a:pPr lvl="0" indent="0" marL="0">
                        <a:buNone/>
                      </a:pPr>
                      <a:r>
                        <a:rPr/>
                        <a:t>Healthy</a:t>
                      </a:r>
                    </a:p>
                  </a:txBody>
                </a:tc>
                <a:tc>
                  <a:txBody>
                    <a:bodyPr/>
                    <a:lstStyle/>
                    <a:p>
                      <a:pPr lvl="0" indent="0" marL="0">
                        <a:buNone/>
                      </a:pPr>
                      <a:r>
                        <a:rPr/>
                        <a:t>ln</a:t>
                      </a:r>
                    </a:p>
                  </a:txBody>
                </a:tc>
                <a:tc>
                  <a:txBody>
                    <a:bodyPr/>
                    <a:lstStyle/>
                    <a:p>
                      <a:pPr lvl="0" indent="0" marL="0">
                        <a:buNone/>
                      </a:pPr>
                      <a:r>
                        <a:rPr/>
                        <a:t>−0.948</a:t>
                      </a:r>
                    </a:p>
                  </a:txBody>
                </a:tc>
                <a:tc>
                  <a:txBody>
                    <a:bodyPr/>
                    <a:lstStyle/>
                    <a:p>
                      <a:pPr lvl="0" indent="0" marL="0">
                        <a:buNone/>
                      </a:pPr>
                      <a:r>
                        <a:rPr/>
                        <a:t>−7.745</a:t>
                      </a:r>
                    </a:p>
                  </a:txBody>
                </a:tc>
                <a:tc>
                  <a:txBody>
                    <a:bodyPr/>
                    <a:lstStyle/>
                    <a:p>
                      <a:pPr lvl="0" indent="0" marL="0">
                        <a:buNone/>
                      </a:pPr>
                      <a:r>
                        <a:rPr/>
                        <a:t>+0.598</a:t>
                      </a:r>
                    </a:p>
                  </a:txBody>
                </a:tc>
                <a:tc>
                  <a:txBody>
                    <a:bodyPr/>
                    <a:lstStyle/>
                    <a:p>
                      <a:pPr lvl="0" indent="0" marL="0">
                        <a:buNone/>
                      </a:pPr>
                      <a:r>
                        <a:rPr/>
                        <a:t>−8.095</a:t>
                      </a:r>
                    </a:p>
                  </a:txBody>
                </a:tc>
              </a:tr>
              <a:tr h="0">
                <a:tc>
                  <a:txBody>
                    <a:bodyPr/>
                    <a:lstStyle/>
                    <a:p>
                      <a:pPr lvl="0" indent="0" marL="0">
                        <a:buNone/>
                      </a:pPr>
                      <a:r>
                        <a:rPr/>
                        <a:t>Faulty</a:t>
                      </a:r>
                    </a:p>
                  </a:txBody>
                </a:tc>
                <a:tc>
                  <a:txBody>
                    <a:bodyPr/>
                    <a:lstStyle/>
                    <a:p>
                      <a:pPr lvl="0" indent="0" marL="0">
                        <a:buNone/>
                      </a:pPr>
                      <a:r>
                        <a:rPr/>
                        <a:t>value</a:t>
                      </a:r>
                    </a:p>
                  </a:txBody>
                </a:tc>
                <a:tc>
                  <a:txBody>
                    <a:bodyPr/>
                    <a:lstStyle/>
                    <a:p>
                      <a:pPr lvl="0" indent="0" marL="0">
                        <a:buNone/>
                      </a:pPr>
                      <a:r>
                        <a:rPr/>
                        <a:t>0.6125</a:t>
                      </a:r>
                    </a:p>
                  </a:txBody>
                </a:tc>
                <a:tc>
                  <a:txBody>
                    <a:bodyPr/>
                    <a:lstStyle/>
                    <a:p>
                      <a:pPr lvl="0" indent="0" marL="0">
                        <a:buNone/>
                      </a:pPr>
                      <a:r>
                        <a:rPr/>
                        <a:t>0.0374</a:t>
                      </a:r>
                    </a:p>
                  </a:txBody>
                </a:tc>
                <a:tc>
                  <a:txBody>
                    <a:bodyPr/>
                    <a:lstStyle/>
                    <a:p>
                      <a:pPr lvl="0" indent="0" marL="0">
                        <a:buNone/>
                      </a:pPr>
                      <a:r>
                        <a:rPr/>
                        <a:t>0.692</a:t>
                      </a:r>
                    </a:p>
                  </a:txBody>
                </a:tc>
                <a:tc>
                  <a:txBody>
                    <a:bodyPr/>
                    <a:lstStyle/>
                    <a:p>
                      <a:pPr lvl="0" indent="0" marL="0">
                        <a:buNone/>
                      </a:pPr>
                      <a:r>
                        <a:rPr/>
                        <a:t>0.01585</a:t>
                      </a:r>
                    </a:p>
                  </a:txBody>
                </a:tc>
              </a:tr>
              <a:tr h="0">
                <a:tc>
                  <a:txBody>
                    <a:bodyPr/>
                    <a:lstStyle/>
                    <a:p>
                      <a:pPr lvl="0" indent="0" marL="0">
                        <a:buNone/>
                      </a:pPr>
                      <a:r>
                        <a:rPr/>
                        <a:t>Faulty</a:t>
                      </a:r>
                    </a:p>
                  </a:txBody>
                </a:tc>
                <a:tc>
                  <a:txBody>
                    <a:bodyPr/>
                    <a:lstStyle/>
                    <a:p>
                      <a:pPr lvl="0" indent="0" marL="0">
                        <a:buNone/>
                      </a:pPr>
                      <a:r>
                        <a:rPr/>
                        <a:t>ln</a:t>
                      </a:r>
                    </a:p>
                  </a:txBody>
                </a:tc>
                <a:tc>
                  <a:txBody>
                    <a:bodyPr/>
                    <a:lstStyle/>
                    <a:p>
                      <a:pPr lvl="0" indent="0" marL="0">
                        <a:buNone/>
                      </a:pPr>
                      <a:r>
                        <a:rPr/>
                        <a:t>−0.490</a:t>
                      </a:r>
                    </a:p>
                  </a:txBody>
                </a:tc>
                <a:tc>
                  <a:txBody>
                    <a:bodyPr/>
                    <a:lstStyle/>
                    <a:p>
                      <a:pPr lvl="0" indent="0" marL="0">
                        <a:buNone/>
                      </a:pPr>
                      <a:r>
                        <a:rPr/>
                        <a:t>−3.286</a:t>
                      </a:r>
                    </a:p>
                  </a:txBody>
                </a:tc>
                <a:tc>
                  <a:txBody>
                    <a:bodyPr/>
                    <a:lstStyle/>
                    <a:p>
                      <a:pPr lvl="0" indent="0" marL="0">
                        <a:buNone/>
                      </a:pPr>
                      <a:r>
                        <a:rPr/>
                        <a:t>−0.368</a:t>
                      </a:r>
                    </a:p>
                  </a:txBody>
                </a:tc>
                <a:tc>
                  <a:txBody>
                    <a:bodyPr/>
                    <a:lstStyle/>
                    <a:p>
                      <a:pPr lvl="0" indent="0" marL="0">
                        <a:buNone/>
                      </a:pPr>
                      <a:r>
                        <a:rPr b="1"/>
                        <a:t>−4.144</a:t>
                      </a:r>
                    </a:p>
                  </a:txBody>
                </a:tc>
              </a:tr>
            </a:tbl>
          </a:graphicData>
        </a:graphic>
      </p:graphicFrame>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From the two totals to probabilities</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Step</a:t>
                      </a:r>
                    </a:p>
                  </a:txBody>
                  <a:tcPr/>
                </a:tc>
                <a:tc>
                  <a:txBody>
                    <a:bodyPr/>
                    <a:lstStyle/>
                    <a:p>
                      <a:pPr lvl="0" indent="0" marL="0">
                        <a:buNone/>
                      </a:pPr>
                      <a:r>
                        <a:rPr/>
                        <a:t>Healthy</a:t>
                      </a:r>
                    </a:p>
                  </a:txBody>
                  <a:tcPr/>
                </a:tc>
                <a:tc>
                  <a:txBody>
                    <a:bodyPr/>
                    <a:lstStyle/>
                    <a:p>
                      <a:pPr lvl="0" indent="0" marL="0">
                        <a:buNone/>
                      </a:pPr>
                      <a:r>
                        <a:rPr/>
                        <a:t>Faulty</a:t>
                      </a:r>
                    </a:p>
                  </a:txBody>
                  <a:tcPr/>
                </a:tc>
              </a:tr>
              <a:tr h="0">
                <a:tc>
                  <a:txBody>
                    <a:bodyPr/>
                    <a:lstStyle/>
                    <a:p>
                      <a:pPr lvl="0" indent="0" marL="0">
                        <a:buNone/>
                      </a:pPr>
                      <a:r>
                        <a:rPr/>
                        <a:t>1. Log total, previous slide</a:t>
                      </a:r>
                    </a:p>
                  </a:txBody>
                </a:tc>
                <a:tc>
                  <a:txBody>
                    <a:bodyPr/>
                    <a:lstStyle/>
                    <a:p>
                      <a:pPr lvl="0" indent="0" marL="0">
                        <a:buNone/>
                      </a:pPr>
                      <a:r>
                        <a:rPr/>
                        <a:t>−8.095</a:t>
                      </a:r>
                    </a:p>
                  </a:txBody>
                </a:tc>
                <a:tc>
                  <a:txBody>
                    <a:bodyPr/>
                    <a:lstStyle/>
                    <a:p>
                      <a:pPr lvl="0" indent="0" marL="0">
                        <a:buNone/>
                      </a:pPr>
                      <a:r>
                        <a:rPr/>
                        <a:t>−4.144</a:t>
                      </a:r>
                    </a:p>
                  </a:txBody>
                </a:tc>
              </a:tr>
              <a:tr h="0">
                <a:tc>
                  <a:txBody>
                    <a:bodyPr/>
                    <a:lstStyle/>
                    <a:p>
                      <a:pPr lvl="0" indent="0" marL="0">
                        <a:buNone/>
                      </a:pPr>
                      <a:r>
                        <a:rPr/>
                        <a:t>2. Undo the log: e^total = prior × densities</a:t>
                      </a:r>
                    </a:p>
                  </a:txBody>
                </a:tc>
                <a:tc>
                  <a:txBody>
                    <a:bodyPr/>
                    <a:lstStyle/>
                    <a:p>
                      <a:pPr lvl="0" indent="0" marL="0">
                        <a:buNone/>
                      </a:pPr>
                      <a:r>
                        <a:rPr/>
                        <a:t>0.000305</a:t>
                      </a:r>
                    </a:p>
                  </a:txBody>
                </a:tc>
                <a:tc>
                  <a:txBody>
                    <a:bodyPr/>
                    <a:lstStyle/>
                    <a:p>
                      <a:pPr lvl="0" indent="0" marL="0">
                        <a:buNone/>
                      </a:pPr>
                      <a:r>
                        <a:rPr/>
                        <a:t>0.01585</a:t>
                      </a:r>
                    </a:p>
                  </a:txBody>
                </a:tc>
              </a:tr>
              <a:tr h="0">
                <a:tc>
                  <a:txBody>
                    <a:bodyPr/>
                    <a:lstStyle/>
                    <a:p>
                      <a:pPr lvl="0" indent="0" marL="0">
                        <a:buNone/>
                      </a:pPr>
                      <a:r>
                        <a:rPr/>
                        <a:t>3. Divide by their sum: 0.01616 = P(x), by total probability</a:t>
                      </a:r>
                    </a:p>
                  </a:txBody>
                </a:tc>
                <a:tc>
                  <a:txBody>
                    <a:bodyPr/>
                    <a:lstStyle/>
                    <a:p>
                      <a:pPr lvl="0" indent="0" marL="0">
                        <a:buNone/>
                      </a:pPr>
                      <a:r>
                        <a:rPr b="1"/>
                        <a:t>0.019</a:t>
                      </a:r>
                    </a:p>
                  </a:txBody>
                </a:tc>
                <a:tc>
                  <a:txBody>
                    <a:bodyPr/>
                    <a:lstStyle/>
                    <a:p>
                      <a:pPr lvl="0" indent="0" marL="0">
                        <a:buNone/>
                      </a:pPr>
                      <a:r>
                        <a:rPr b="1"/>
                        <a:t>0.981</a:t>
                      </a:r>
                    </a:p>
                  </a:txBody>
                </a:tc>
              </a:tr>
            </a:tbl>
          </a:graphicData>
        </a:graphic>
      </p:graphicFrame>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Why the gap is enough</a:t>
            </a:r>
          </a:p>
        </p:txBody>
      </p:sp>
      <p:sp>
        <p:nvSpPr>
          <p:cNvPr id="3" name="Content Placeholder 2"/>
          <p:cNvSpPr>
            <a:spLocks noGrp="1"/>
          </p:cNvSpPr>
          <p:nvPr>
            <p:ph idx="1"/>
          </p:nvPr>
        </p:nvSpPr>
        <p:spPr>
          <a:xfrm>
            <a:off x="457200" y="1200151"/>
            <a:ext cx="8229600" cy="3394472"/>
          </a:xfrm>
        </p:spPr>
        <p:txBody>
          <a:bodyPr/>
          <a:lstStyle/>
          <a:p>
            <a:pPr lvl="0"/>
            <a:r>
              <a:rPr/>
              <a:t>Divide by the faulty score: 1 / (1 + healthy score ÷ faulty score)</a:t>
            </a:r>
          </a:p>
          <a:p>
            <a:pPr lvl="0"/>
            <a:r>
              <a:rPr/>
              <a:t>e^a ÷ e^b = e^(a − b), so the ratio is e^(−3.951) = 0.0192</a:t>
            </a:r>
          </a:p>
          <a:p>
            <a:pPr lvl="0"/>
            <a:r>
              <a:rPr/>
              <a:t>P(faulty) = 1 / 1.0192 = </a:t>
            </a:r>
            <a:r>
              <a:rPr b="1"/>
              <a:t>0.981</a:t>
            </a:r>
            <a:r>
              <a:rPr/>
              <a:t>; P(healthy) = 1 − 0.981 = </a:t>
            </a:r>
            <a:r>
              <a:rPr b="1"/>
              <a:t>0.019</a:t>
            </a:r>
          </a:p>
          <a:p>
            <a:pPr lvl="0"/>
            <a:r>
              <a:rPr/>
              <a:t>Odds: 0.01585 ÷ 0.000305 ≈ </a:t>
            </a:r>
            <a:r>
              <a:rPr b="1"/>
              <a:t>52 to 1</a:t>
            </a:r>
          </a:p>
          <a:p>
            <a:pPr lvl="0"/>
            <a:r>
              <a:rPr/>
              <a:t>With many features e^total rounds to 0 in the computer; the gap does not</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A wonderful bargain, and almost never true</a:t>
            </a:r>
          </a:p>
        </p:txBody>
      </p:sp>
      <p:sp>
        <p:nvSpPr>
          <p:cNvPr id="3" name="Content Placeholder 2"/>
          <p:cNvSpPr>
            <a:spLocks noGrp="1"/>
          </p:cNvSpPr>
          <p:nvPr>
            <p:ph idx="1"/>
          </p:nvPr>
        </p:nvSpPr>
        <p:spPr>
          <a:xfrm>
            <a:off x="457200" y="1200151"/>
            <a:ext cx="8229600" cy="3394472"/>
          </a:xfrm>
        </p:spPr>
        <p:txBody>
          <a:bodyPr/>
          <a:lstStyle/>
          <a:p>
            <a:pPr lvl="0"/>
            <a:r>
              <a:rPr/>
              <a:t>Training is </a:t>
            </a:r>
            <a:r>
              <a:rPr b="1"/>
              <a:t>a single pass</a:t>
            </a:r>
            <a:r>
              <a:rPr/>
              <a:t>; adding features costs almost nothing</a:t>
            </a:r>
          </a:p>
          <a:p>
            <a:pPr lvl="0"/>
            <a:r>
              <a:rPr/>
              <a:t>But vibration and pressure are both driven by the operating point</a:t>
            </a:r>
          </a:p>
          <a:p>
            <a:pPr lvl="0"/>
            <a:r>
              <a:rPr/>
              <a:t>“New” is not independent of “York” given the topic. Symptoms co-occur</a:t>
            </a:r>
          </a:p>
          <a:p>
            <a:pPr lvl="0"/>
            <a:r>
              <a:rPr/>
              <a:t>So the question is not whether it holds: it is </a:t>
            </a:r>
            <a:r>
              <a:rPr b="1"/>
              <a:t>when being wrong about it costs you nothing</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On the pumps, it scores 0.933</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Model</a:t>
                      </a:r>
                    </a:p>
                  </a:txBody>
                  <a:tcPr/>
                </a:tc>
                <a:tc>
                  <a:txBody>
                    <a:bodyPr/>
                    <a:lstStyle/>
                    <a:p>
                      <a:pPr lvl="0" indent="0" marL="0">
                        <a:buNone/>
                      </a:pPr>
                      <a:r>
                        <a:rPr/>
                        <a:t>Accuracy</a:t>
                      </a:r>
                    </a:p>
                  </a:txBody>
                  <a:tcPr/>
                </a:tc>
              </a:tr>
              <a:tr h="0">
                <a:tc>
                  <a:txBody>
                    <a:bodyPr/>
                    <a:lstStyle/>
                    <a:p>
                      <a:pPr lvl="0" indent="0" marL="0">
                        <a:buNone/>
                      </a:pPr>
                      <a:r>
                        <a:rPr/>
                        <a:t>Majority baseline</a:t>
                      </a:r>
                    </a:p>
                  </a:txBody>
                </a:tc>
                <a:tc>
                  <a:txBody>
                    <a:bodyPr/>
                    <a:lstStyle/>
                    <a:p>
                      <a:pPr lvl="0" indent="0" marL="0">
                        <a:buNone/>
                      </a:pPr>
                      <a:r>
                        <a:rPr/>
                        <a:t>0.613</a:t>
                      </a:r>
                    </a:p>
                  </a:txBody>
                </a:tc>
              </a:tr>
              <a:tr h="0">
                <a:tc>
                  <a:txBody>
                    <a:bodyPr/>
                    <a:lstStyle/>
                    <a:p>
                      <a:pPr lvl="0" indent="0" marL="0">
                        <a:buNone/>
                      </a:pPr>
                      <a:r>
                        <a:rPr/>
                        <a:t>Logistic regression</a:t>
                      </a:r>
                    </a:p>
                  </a:txBody>
                </a:tc>
                <a:tc>
                  <a:txBody>
                    <a:bodyPr/>
                    <a:lstStyle/>
                    <a:p>
                      <a:pPr lvl="0" indent="0" marL="0">
                        <a:buNone/>
                      </a:pPr>
                      <a:r>
                        <a:rPr/>
                        <a:t>0.613</a:t>
                      </a:r>
                    </a:p>
                  </a:txBody>
                </a:tc>
              </a:tr>
              <a:tr h="0">
                <a:tc>
                  <a:txBody>
                    <a:bodyPr/>
                    <a:lstStyle/>
                    <a:p>
                      <a:pPr lvl="0" indent="0" marL="0">
                        <a:buNone/>
                      </a:pPr>
                      <a:r>
                        <a:rPr b="1"/>
                        <a:t>Gaussian Naive Bayes</a:t>
                      </a:r>
                    </a:p>
                  </a:txBody>
                </a:tc>
                <a:tc>
                  <a:txBody>
                    <a:bodyPr/>
                    <a:lstStyle/>
                    <a:p>
                      <a:pPr lvl="0" indent="0" marL="0">
                        <a:buNone/>
                      </a:pPr>
                      <a:r>
                        <a:rPr b="1"/>
                        <a:t>0.933</a:t>
                      </a:r>
                    </a:p>
                  </a:txBody>
                </a:tc>
              </a:tr>
              <a:tr h="0">
                <a:tc>
                  <a:txBody>
                    <a:bodyPr/>
                    <a:lstStyle/>
                    <a:p>
                      <a:pPr lvl="0" indent="0" marL="0">
                        <a:buNone/>
                      </a:pPr>
                      <a:r>
                        <a:rPr/>
                        <a:t>k-NN, k = 5</a:t>
                      </a:r>
                    </a:p>
                  </a:txBody>
                </a:tc>
                <a:tc>
                  <a:txBody>
                    <a:bodyPr/>
                    <a:lstStyle/>
                    <a:p>
                      <a:pPr lvl="0" indent="0" marL="0">
                        <a:buNone/>
                      </a:pPr>
                      <a:r>
                        <a:rPr/>
                        <a:t>0.944</a:t>
                      </a:r>
                    </a:p>
                  </a:txBody>
                </a:tc>
              </a:tr>
            </a:tbl>
          </a:graphicData>
        </a:graphic>
      </p:graphicFrame>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Uncorrelated, but not independent</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Correlation, within the class</a:t>
                      </a:r>
                    </a:p>
                  </a:txBody>
                  <a:tcPr/>
                </a:tc>
                <a:tc>
                  <a:txBody>
                    <a:bodyPr/>
                    <a:lstStyle/>
                    <a:p>
                      <a:pPr lvl="0" indent="0" marL="0">
                        <a:buNone/>
                      </a:pPr>
                      <a:r>
                        <a:rPr/>
                        <a:t>vibration and pressure</a:t>
                      </a:r>
                    </a:p>
                  </a:txBody>
                  <a:tcPr/>
                </a:tc>
                <a:tc>
                  <a:txBody>
                    <a:bodyPr/>
                    <a:lstStyle/>
                    <a:p>
                      <a:pPr lvl="0" indent="0" marL="0">
                        <a:buNone/>
                      </a:pPr>
                      <a:r>
                        <a:rPr/>
                        <a:t>their squared distances from the design point</a:t>
                      </a:r>
                    </a:p>
                  </a:txBody>
                  <a:tcPr/>
                </a:tc>
              </a:tr>
              <a:tr h="0">
                <a:tc>
                  <a:txBody>
                    <a:bodyPr/>
                    <a:lstStyle/>
                    <a:p>
                      <a:pPr lvl="0" indent="0" marL="0">
                        <a:buNone/>
                      </a:pPr>
                      <a:r>
                        <a:rPr/>
                        <a:t>healthy pumps</a:t>
                      </a:r>
                    </a:p>
                  </a:txBody>
                </a:tc>
                <a:tc>
                  <a:txBody>
                    <a:bodyPr/>
                    <a:lstStyle/>
                    <a:p>
                      <a:pPr lvl="0" indent="0" marL="0">
                        <a:buNone/>
                      </a:pPr>
                      <a:r>
                        <a:rPr/>
                        <a:t>−0.006</a:t>
                      </a:r>
                    </a:p>
                  </a:txBody>
                </a:tc>
                <a:tc>
                  <a:txBody>
                    <a:bodyPr/>
                    <a:lstStyle/>
                    <a:p>
                      <a:pPr lvl="0" indent="0" marL="0">
                        <a:buNone/>
                      </a:pPr>
                      <a:r>
                        <a:rPr/>
                        <a:t>+0.168</a:t>
                      </a:r>
                    </a:p>
                  </a:txBody>
                </a:tc>
              </a:tr>
              <a:tr h="0">
                <a:tc>
                  <a:txBody>
                    <a:bodyPr/>
                    <a:lstStyle/>
                    <a:p>
                      <a:pPr lvl="0" indent="0" marL="0">
                        <a:buNone/>
                      </a:pPr>
                      <a:r>
                        <a:rPr/>
                        <a:t>faulty pumps</a:t>
                      </a:r>
                    </a:p>
                  </a:txBody>
                </a:tc>
                <a:tc>
                  <a:txBody>
                    <a:bodyPr/>
                    <a:lstStyle/>
                    <a:p>
                      <a:pPr lvl="0" indent="0" marL="0">
                        <a:buNone/>
                      </a:pPr>
                      <a:r>
                        <a:rPr/>
                        <a:t>−0.049</a:t>
                      </a:r>
                    </a:p>
                  </a:txBody>
                </a:tc>
                <a:tc>
                  <a:txBody>
                    <a:bodyPr/>
                    <a:lstStyle/>
                    <a:p>
                      <a:pPr lvl="0" indent="0" marL="0">
                        <a:buNone/>
                      </a:pPr>
                      <a:r>
                        <a:rPr b="1"/>
                        <a:t>−0.420</a:t>
                      </a:r>
                    </a:p>
                  </a:txBody>
                </a:tc>
              </a:tr>
            </a:tbl>
          </a:graphicData>
        </a:graphic>
      </p:graphicFrame>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Wrong densities, right boundary</a:t>
            </a:r>
          </a:p>
        </p:txBody>
      </p:sp>
      <p:pic>
        <p:nvPicPr>
          <p:cNvPr descr="nb_boundary_vs_envelope.png" id="0" name="Picture 1"/>
          <p:cNvPicPr>
            <a:picLocks noGrp="1" noChangeAspect="1"/>
          </p:cNvPicPr>
          <p:nvPr/>
        </p:nvPicPr>
        <p:blipFill>
          <a:blip r:embed="rId3"/>
          <a:stretch>
            <a:fillRect/>
          </a:stretch>
        </p:blipFill>
        <p:spPr bwMode="auto">
          <a:xfrm>
            <a:off x="2161983" y="1166099"/>
            <a:ext cx="4820034" cy="3360181"/>
          </a:xfrm>
          <a:prstGeom prst="rect">
            <a:avLst/>
          </a:prstGeom>
          <a:noFill/>
          <a:ln w="9525">
            <a:noFill/>
            <a:headEnd/>
            <a:tailEnd/>
          </a:ln>
        </p:spPr>
      </p:pic>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One step away: when the signal is an interaction</a:t>
            </a:r>
          </a:p>
        </p:txBody>
      </p:sp>
      <p:sp>
        <p:nvSpPr>
          <p:cNvPr id="3" name="Content Placeholder 2"/>
          <p:cNvSpPr>
            <a:spLocks noGrp="1"/>
          </p:cNvSpPr>
          <p:nvPr>
            <p:ph idx="1"/>
          </p:nvPr>
        </p:nvSpPr>
        <p:spPr>
          <a:xfrm>
            <a:off x="457200" y="1200151"/>
            <a:ext cx="8229600" cy="3394472"/>
          </a:xfrm>
        </p:spPr>
        <p:txBody>
          <a:bodyPr/>
          <a:lstStyle/>
          <a:p>
            <a:pPr lvl="0"/>
            <a:r>
              <a:rPr/>
              <a:t>A second pair of sensors on the same fleet</a:t>
            </a:r>
          </a:p>
          <a:p>
            <a:pPr lvl="0"/>
            <a:r>
              <a:rPr/>
              <a:t>Faulty when </a:t>
            </a:r>
            <a:r>
              <a:rPr b="1"/>
              <a:t>exactly one</a:t>
            </a:r>
            <a:r>
              <a:rPr/>
              <a:t> of the two readings is high</a:t>
            </a:r>
          </a:p>
          <a:p>
            <a:pPr lvl="0"/>
            <a:r>
              <a:rPr/>
              <a:t>Both high is the designed high-load mode; both low is idle; one without the other is a mismatch between demand and delivery</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What Naive Bayes gets to see</a:t>
            </a:r>
          </a:p>
        </p:txBody>
      </p:sp>
      <p:pic>
        <p:nvPicPr>
          <p:cNvPr descr="interaction_marginals.png" id="0" name="Picture 1"/>
          <p:cNvPicPr>
            <a:picLocks noGrp="1" noChangeAspect="1"/>
          </p:cNvPicPr>
          <p:nvPr/>
        </p:nvPicPr>
        <p:blipFill>
          <a:blip r:embed="rId3"/>
          <a:stretch>
            <a:fillRect/>
          </a:stretch>
        </p:blipFill>
        <p:spPr bwMode="auto">
          <a:xfrm>
            <a:off x="457200" y="1588889"/>
            <a:ext cx="8229600" cy="2514600"/>
          </a:xfrm>
          <a:prstGeom prst="rect">
            <a:avLst/>
          </a:prstGeom>
          <a:noFill/>
          <a:ln w="9525">
            <a:noFill/>
            <a:headEnd/>
            <a:tailEnd/>
          </a:ln>
        </p:spPr>
      </p:pic>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0.404: below the baseline, and below chance</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Model</a:t>
                      </a:r>
                    </a:p>
                  </a:txBody>
                  <a:tcPr/>
                </a:tc>
                <a:tc>
                  <a:txBody>
                    <a:bodyPr/>
                    <a:lstStyle/>
                    <a:p>
                      <a:pPr lvl="0" indent="0" marL="0">
                        <a:buNone/>
                      </a:pPr>
                      <a:r>
                        <a:rPr/>
                        <a:t>Accuracy</a:t>
                      </a:r>
                    </a:p>
                  </a:txBody>
                  <a:tcPr/>
                </a:tc>
              </a:tr>
              <a:tr h="0">
                <a:tc>
                  <a:txBody>
                    <a:bodyPr/>
                    <a:lstStyle/>
                    <a:p>
                      <a:pPr lvl="0" indent="0" marL="0">
                        <a:buNone/>
                      </a:pPr>
                      <a:r>
                        <a:rPr/>
                        <a:t>Majority baseline</a:t>
                      </a:r>
                    </a:p>
                  </a:txBody>
                </a:tc>
                <a:tc>
                  <a:txBody>
                    <a:bodyPr/>
                    <a:lstStyle/>
                    <a:p>
                      <a:pPr lvl="0" indent="0" marL="0">
                        <a:buNone/>
                      </a:pPr>
                      <a:r>
                        <a:rPr/>
                        <a:t>0.523</a:t>
                      </a:r>
                    </a:p>
                  </a:txBody>
                </a:tc>
              </a:tr>
              <a:tr h="0">
                <a:tc>
                  <a:txBody>
                    <a:bodyPr/>
                    <a:lstStyle/>
                    <a:p>
                      <a:pPr lvl="0" indent="0" marL="0">
                        <a:buNone/>
                      </a:pPr>
                      <a:r>
                        <a:rPr b="1"/>
                        <a:t>Gaussian Naive Bayes</a:t>
                      </a:r>
                    </a:p>
                  </a:txBody>
                </a:tc>
                <a:tc>
                  <a:txBody>
                    <a:bodyPr/>
                    <a:lstStyle/>
                    <a:p>
                      <a:pPr lvl="0" indent="0" marL="0">
                        <a:buNone/>
                      </a:pPr>
                      <a:r>
                        <a:rPr b="1"/>
                        <a:t>0.404</a:t>
                      </a:r>
                    </a:p>
                  </a:txBody>
                </a:tc>
              </a:tr>
              <a:tr h="0">
                <a:tc>
                  <a:txBody>
                    <a:bodyPr/>
                    <a:lstStyle/>
                    <a:p>
                      <a:pPr lvl="0" indent="0" marL="0">
                        <a:buNone/>
                      </a:pPr>
                      <a:r>
                        <a:rPr/>
                        <a:t>Logistic regression</a:t>
                      </a:r>
                    </a:p>
                  </a:txBody>
                </a:tc>
                <a:tc>
                  <a:txBody>
                    <a:bodyPr/>
                    <a:lstStyle/>
                    <a:p>
                      <a:pPr lvl="0" indent="0" marL="0">
                        <a:buNone/>
                      </a:pPr>
                      <a:r>
                        <a:rPr/>
                        <a:t>0.393</a:t>
                      </a:r>
                    </a:p>
                  </a:txBody>
                </a:tc>
              </a:tr>
              <a:tr h="0">
                <a:tc>
                  <a:txBody>
                    <a:bodyPr/>
                    <a:lstStyle/>
                    <a:p>
                      <a:pPr lvl="0" indent="0" marL="0">
                        <a:buNone/>
                      </a:pPr>
                      <a:r>
                        <a:rPr/>
                        <a:t>SVM, linear kernel</a:t>
                      </a:r>
                    </a:p>
                  </a:txBody>
                </a:tc>
                <a:tc>
                  <a:txBody>
                    <a:bodyPr/>
                    <a:lstStyle/>
                    <a:p>
                      <a:pPr lvl="0" indent="0" marL="0">
                        <a:buNone/>
                      </a:pPr>
                      <a:r>
                        <a:rPr/>
                        <a:t>0.606</a:t>
                      </a:r>
                    </a:p>
                  </a:txBody>
                </a:tc>
              </a:tr>
              <a:tr h="0">
                <a:tc>
                  <a:txBody>
                    <a:bodyPr/>
                    <a:lstStyle/>
                    <a:p>
                      <a:pPr lvl="0" indent="0" marL="0">
                        <a:buNone/>
                      </a:pPr>
                      <a:r>
                        <a:rPr/>
                        <a:t>k-NN, k = 5</a:t>
                      </a:r>
                    </a:p>
                  </a:txBody>
                </a:tc>
                <a:tc>
                  <a:txBody>
                    <a:bodyPr/>
                    <a:lstStyle/>
                    <a:p>
                      <a:pPr lvl="0" indent="0" marL="0">
                        <a:buNone/>
                      </a:pPr>
                      <a:r>
                        <a:rPr/>
                        <a:t>0.967</a:t>
                      </a:r>
                    </a:p>
                  </a:txBody>
                </a:tc>
              </a:tr>
              <a:tr h="0">
                <a:tc>
                  <a:txBody>
                    <a:bodyPr/>
                    <a:lstStyle/>
                    <a:p>
                      <a:pPr lvl="0" indent="0" marL="0">
                        <a:buNone/>
                      </a:pPr>
                      <a:r>
                        <a:rPr/>
                        <a:t>SVM, RBF kernel</a:t>
                      </a:r>
                    </a:p>
                  </a:txBody>
                </a:tc>
                <a:tc>
                  <a:txBody>
                    <a:bodyPr/>
                    <a:lstStyle/>
                    <a:p>
                      <a:pPr lvl="0" indent="0" marL="0">
                        <a:buNone/>
                      </a:pPr>
                      <a:r>
                        <a:rPr/>
                        <a:t>0.972</a:t>
                      </a:r>
                    </a:p>
                  </a:txBody>
                </a:tc>
              </a:tr>
            </a:tbl>
          </a:graphicData>
        </a:graphic>
      </p:graphicFrame>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Its probabilities are not probabilities</a:t>
            </a:r>
          </a:p>
        </p:txBody>
      </p:sp>
      <p:sp>
        <p:nvSpPr>
          <p:cNvPr id="3" name="Content Placeholder 2"/>
          <p:cNvSpPr>
            <a:spLocks noGrp="1"/>
          </p:cNvSpPr>
          <p:nvPr>
            <p:ph idx="1"/>
          </p:nvPr>
        </p:nvSpPr>
        <p:spPr>
          <a:xfrm>
            <a:off x="457200" y="1200151"/>
            <a:ext cx="8229600" cy="3394472"/>
          </a:xfrm>
        </p:spPr>
        <p:txBody>
          <a:bodyPr/>
          <a:lstStyle/>
          <a:p>
            <a:pPr lvl="0"/>
            <a:r>
              <a:rPr/>
              <a:t>Confidence, the probability given to the predicted class: </a:t>
            </a:r>
            <a:r>
              <a:rPr b="1"/>
              <a:t>0.567</a:t>
            </a:r>
            <a:r>
              <a:rPr/>
              <a:t> when correct, </a:t>
            </a:r>
            <a:r>
              <a:rPr b="1"/>
              <a:t>0.555</a:t>
            </a:r>
            <a:r>
              <a:rPr/>
              <a:t> when wrong</a:t>
            </a:r>
          </a:p>
          <a:p>
            <a:pPr lvl="0"/>
            <a:r>
              <a:rPr/>
              <a:t>It cannot tell the difference between the two situations</a:t>
            </a:r>
          </a:p>
          <a:p>
            <a:pPr lvl="0"/>
            <a:r>
              <a:rPr/>
              <a:t>With features that repeat each other it fails the other way: 0.999 reported, with an accuracy nothing like that</a:t>
            </a:r>
          </a:p>
          <a:p>
            <a:pPr lvl="0"/>
            <a:r>
              <a:rPr b="1"/>
              <a:t>The ranking may be useful while the probabilities are not</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Notebook 2, live</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section, and its slides</a:t>
                      </a:r>
                    </a:p>
                  </a:txBody>
                  <a:tcPr/>
                </a:tc>
                <a:tc>
                  <a:txBody>
                    <a:bodyPr/>
                    <a:lstStyle/>
                    <a:p>
                      <a:pPr lvl="0" indent="0" marL="0">
                        <a:buNone/>
                      </a:pPr>
                      <a:r>
                        <a:rPr/>
                        <a:t>you call (→ the number to come back with)</a:t>
                      </a:r>
                    </a:p>
                  </a:txBody>
                  <a:tcPr/>
                </a:tc>
              </a:tr>
              <a:tr h="0">
                <a:tc>
                  <a:txBody>
                    <a:bodyPr/>
                    <a:lstStyle/>
                    <a:p>
                      <a:pPr lvl="0" indent="0" marL="0">
                        <a:buNone/>
                      </a:pPr>
                      <a:r>
                        <a:rPr/>
                        <a:t>on the pumps, 37</a:t>
                      </a:r>
                    </a:p>
                  </a:txBody>
                </a:tc>
                <a:tc>
                  <a:txBody>
                    <a:bodyPr/>
                    <a:lstStyle/>
                    <a:p>
                      <a:pPr lvl="0" indent="0" marL="0">
                        <a:buNone/>
                      </a:pPr>
                      <a:r>
                        <a:rPr>
                          <a:latin typeface="Courier"/>
                        </a:rPr>
                        <a:t>GaussianNB</a:t>
                      </a:r>
                      <a:r>
                        <a:rPr/>
                        <a:t> beside </a:t>
                      </a:r>
                      <a:r>
                        <a:rPr>
                          <a:latin typeface="Courier"/>
                        </a:rPr>
                        <a:t>KNeighborsClassifier</a:t>
                      </a:r>
                      <a:r>
                        <a:rPr/>
                        <a:t> and </a:t>
                      </a:r>
                      <a:r>
                        <a:rPr>
                          <a:latin typeface="Courier"/>
                        </a:rPr>
                        <a:t>LogisticRegression</a:t>
                      </a:r>
                      <a:r>
                        <a:rPr/>
                        <a:t> → 0.933</a:t>
                      </a:r>
                    </a:p>
                  </a:txBody>
                </a:tc>
              </a:tr>
              <a:tr h="0">
                <a:tc>
                  <a:txBody>
                    <a:bodyPr/>
                    <a:lstStyle/>
                    <a:p>
                      <a:pPr lvl="0" indent="0" marL="0">
                        <a:buNone/>
                      </a:pPr>
                      <a:r>
                        <a:rPr/>
                        <a:t>what training computed, 29-35</a:t>
                      </a:r>
                    </a:p>
                  </a:txBody>
                </a:tc>
                <a:tc>
                  <a:txBody>
                    <a:bodyPr/>
                    <a:lstStyle/>
                    <a:p>
                      <a:pPr lvl="0" indent="0" marL="0">
                        <a:buNone/>
                      </a:pPr>
                      <a:r>
                        <a:rPr>
                          <a:latin typeface="Courier"/>
                        </a:rPr>
                        <a:t>.theta_</a:t>
                      </a:r>
                      <a:r>
                        <a:rPr/>
                        <a:t>, </a:t>
                      </a:r>
                      <a:r>
                        <a:rPr>
                          <a:latin typeface="Courier"/>
                        </a:rPr>
                        <a:t>.var_</a:t>
                      </a:r>
                      <a:r>
                        <a:rPr/>
                        <a:t>, </a:t>
                      </a:r>
                      <a:r>
                        <a:rPr>
                          <a:latin typeface="Courier"/>
                        </a:rPr>
                        <a:t>.class_prior_</a:t>
                      </a:r>
                      <a:r>
                        <a:rPr/>
                        <a:t>, </a:t>
                      </a:r>
                      <a:r>
                        <a:rPr>
                          <a:latin typeface="Courier"/>
                        </a:rPr>
                        <a:t>predict_proba</a:t>
                      </a:r>
                      <a:r>
                        <a:rPr/>
                        <a:t> → 0.981 at 48 Hz</a:t>
                      </a:r>
                    </a:p>
                  </a:txBody>
                </a:tc>
              </a:tr>
              <a:tr h="0">
                <a:tc>
                  <a:txBody>
                    <a:bodyPr/>
                    <a:lstStyle/>
                    <a:p>
                      <a:pPr lvl="0" indent="0" marL="0">
                        <a:buNone/>
                      </a:pPr>
                      <a:r>
                        <a:rPr/>
                        <a:t>checking the assumption, 38-39</a:t>
                      </a:r>
                    </a:p>
                  </a:txBody>
                </a:tc>
                <a:tc>
                  <a:txBody>
                    <a:bodyPr/>
                    <a:lstStyle/>
                    <a:p>
                      <a:pPr lvl="0" indent="0" marL="0">
                        <a:buNone/>
                      </a:pPr>
                      <a:r>
                        <a:rPr>
                          <a:latin typeface="Courier"/>
                        </a:rPr>
                        <a:t>X[y == c].corr()</a:t>
                      </a:r>
                      <a:r>
                        <a:rPr/>
                        <a:t>, within each class → −0.420</a:t>
                      </a:r>
                    </a:p>
                  </a:txBody>
                </a:tc>
              </a:tr>
              <a:tr h="0">
                <a:tc>
                  <a:txBody>
                    <a:bodyPr/>
                    <a:lstStyle/>
                    <a:p>
                      <a:pPr lvl="0" indent="0" marL="0">
                        <a:buNone/>
                      </a:pPr>
                      <a:r>
                        <a:rPr/>
                        <a:t>the interacting sensors, 40-42</a:t>
                      </a:r>
                    </a:p>
                  </a:txBody>
                </a:tc>
                <a:tc>
                  <a:txBody>
                    <a:bodyPr/>
                    <a:lstStyle/>
                    <a:p>
                      <a:pPr lvl="0" indent="0" marL="0">
                        <a:buNone/>
                      </a:pPr>
                      <a:r>
                        <a:rPr/>
                        <a:t>the same models, plus </a:t>
                      </a:r>
                      <a:r>
                        <a:rPr>
                          <a:latin typeface="Courier"/>
                        </a:rPr>
                        <a:t>SVC</a:t>
                      </a:r>
                      <a:r>
                        <a:rPr/>
                        <a:t> → 0.404</a:t>
                      </a:r>
                    </a:p>
                  </a:txBody>
                </a:tc>
              </a:tr>
              <a:tr h="0">
                <a:tc>
                  <a:txBody>
                    <a:bodyPr/>
                    <a:lstStyle/>
                    <a:p>
                      <a:pPr lvl="0" indent="0" marL="0">
                        <a:buNone/>
                      </a:pPr>
                      <a:r>
                        <a:rPr/>
                        <a:t>confidence, right and wrong, 43</a:t>
                      </a:r>
                    </a:p>
                  </a:txBody>
                </a:tc>
                <a:tc>
                  <a:txBody>
                    <a:bodyPr/>
                    <a:lstStyle/>
                    <a:p>
                      <a:pPr lvl="0" indent="0" marL="0">
                        <a:buNone/>
                      </a:pPr>
                      <a:r>
                        <a:rPr>
                          <a:latin typeface="Courier"/>
                        </a:rPr>
                        <a:t>train_test_split</a:t>
                      </a:r>
                      <a:r>
                        <a:rPr/>
                        <a:t>, then </a:t>
                      </a:r>
                      <a:r>
                        <a:rPr>
                          <a:latin typeface="Courier"/>
                        </a:rPr>
                        <a:t>predict_proba</a:t>
                      </a:r>
                      <a:r>
                        <a:rPr/>
                        <a:t> → 0.567 against 0.555</a:t>
                      </a:r>
                    </a:p>
                  </a:txBody>
                </a:tc>
              </a:tr>
            </a:tbl>
          </a:graphicData>
        </a:graphic>
      </p:graphicFrame>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margin: a criterion that is not the error</a:t>
            </a:r>
          </a:p>
        </p:txBody>
      </p:sp>
      <p:sp>
        <p:nvSpPr>
          <p:cNvPr id="3" name="Content Placeholder 2"/>
          <p:cNvSpPr>
            <a:spLocks noGrp="1"/>
          </p:cNvSpPr>
          <p:nvPr>
            <p:ph idx="1"/>
          </p:nvPr>
        </p:nvSpPr>
        <p:spPr>
          <a:xfrm>
            <a:off x="457200" y="1200151"/>
            <a:ext cx="8229600" cy="3394472"/>
          </a:xfrm>
        </p:spPr>
        <p:txBody>
          <a:bodyPr/>
          <a:lstStyle/>
          <a:p>
            <a:pPr lvl="0"/>
            <a:r>
              <a:rPr/>
              <a:t>On separable data there are </a:t>
            </a:r>
            <a:r>
              <a:rPr b="1"/>
              <a:t>infinitely many</a:t>
            </a:r>
            <a:r>
              <a:rPr/>
              <a:t> separating lines, and every one has </a:t>
            </a:r>
            <a:r>
              <a:rPr b="1"/>
              <a:t>zero training error</a:t>
            </a:r>
          </a:p>
          <a:p>
            <a:pPr lvl="0"/>
            <a:r>
              <a:rPr/>
              <a:t>Minimising the error therefore cannot choose between them</a:t>
            </a:r>
          </a:p>
          <a:p>
            <a:pPr lvl="0"/>
            <a:r>
              <a:rPr/>
              <a:t>The SVM picks the widest </a:t>
            </a:r>
            <a:r>
              <a:rPr b="1"/>
              <a:t>slab</a:t>
            </a:r>
            <a:r>
              <a:rPr/>
              <a:t>: push it out until it touches the nearest point of each class</a:t>
            </a:r>
          </a:p>
          <a:p>
            <a:pPr lvl="0"/>
            <a:r>
              <a:rPr/>
              <a:t>A boundary passing close to a point is one small perturbation from getting it wrong</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Three points decide everything</a:t>
            </a:r>
          </a:p>
        </p:txBody>
      </p:sp>
      <p:pic>
        <p:nvPicPr>
          <p:cNvPr descr="svm_margin.png" id="0" name="Picture 1"/>
          <p:cNvPicPr>
            <a:picLocks noGrp="1" noChangeAspect="1"/>
          </p:cNvPicPr>
          <p:nvPr/>
        </p:nvPicPr>
        <p:blipFill>
          <a:blip r:embed="rId3"/>
          <a:stretch>
            <a:fillRect/>
          </a:stretch>
        </p:blipFill>
        <p:spPr bwMode="auto">
          <a:xfrm>
            <a:off x="2363342" y="1166099"/>
            <a:ext cx="4417316" cy="3360181"/>
          </a:xfrm>
          <a:prstGeom prst="rect">
            <a:avLst/>
          </a:prstGeom>
          <a:noFill/>
          <a:ln w="9525">
            <a:noFill/>
            <a:headEnd/>
            <a:tailEnd/>
          </a:ln>
        </p:spPr>
      </p:pic>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Not separable? Charge for the violations</a:t>
            </a:r>
          </a:p>
        </p:txBody>
      </p:sp>
      <p:sp>
        <p:nvSpPr>
          <p:cNvPr id="3" name="Content Placeholder 2"/>
          <p:cNvSpPr>
            <a:spLocks noGrp="1"/>
          </p:cNvSpPr>
          <p:nvPr>
            <p:ph idx="1"/>
          </p:nvPr>
        </p:nvSpPr>
        <p:spPr>
          <a:xfrm>
            <a:off x="457200" y="1200151"/>
            <a:ext cx="8229600" cy="3394472"/>
          </a:xfrm>
        </p:spPr>
        <p:txBody>
          <a:bodyPr/>
          <a:lstStyle/>
          <a:p>
            <a:pPr lvl="0"/>
            <a:r>
              <a:rPr/>
              <a:t>Our labels are 4% flipped, so the strict problem has </a:t>
            </a:r>
            <a:r>
              <a:rPr b="1"/>
              <a:t>no solution at all</a:t>
            </a:r>
          </a:p>
          <a:p>
            <a:pPr lvl="0"/>
            <a:r>
              <a:rPr/>
              <a:t>Let each point violate the margin by ξᵢ, and charge C for every unit of it</a:t>
            </a:r>
          </a:p>
          <a:p>
            <a:pPr lvl="0"/>
            <a:r>
              <a:rPr/>
              <a:t>ξᵢ = 0 outside the slab, between 0 and 1 inside it, above 1 on the wrong side</a:t>
            </a:r>
          </a:p>
          <a:p>
            <a:pPr lvl="0"/>
            <a:r>
              <a:rPr/>
              <a:t>That is the </a:t>
            </a:r>
            <a:r>
              <a:rPr b="1"/>
              <a:t>hinge loss</a:t>
            </a:r>
            <a:r>
              <a:rPr/>
              <a:t>, max(0, 1 − y·f(x)) with labels ±1: zero for a point with room to spare</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hinge stops at zero</a:t>
            </a:r>
          </a:p>
        </p:txBody>
      </p:sp>
      <p:pic>
        <p:nvPicPr>
          <p:cNvPr descr="hinge_vs_log_loss.png" id="0" name="Picture 1"/>
          <p:cNvPicPr>
            <a:picLocks noGrp="1" noChangeAspect="1"/>
          </p:cNvPicPr>
          <p:nvPr/>
        </p:nvPicPr>
        <p:blipFill>
          <a:blip r:embed="rId3"/>
          <a:stretch>
            <a:fillRect/>
          </a:stretch>
        </p:blipFill>
        <p:spPr bwMode="auto">
          <a:xfrm>
            <a:off x="1488688" y="1166099"/>
            <a:ext cx="6166624" cy="3360181"/>
          </a:xfrm>
          <a:prstGeom prst="rect">
            <a:avLst/>
          </a:prstGeom>
          <a:noFill/>
          <a:ln w="9525">
            <a:noFill/>
            <a:headEnd/>
            <a:tailEnd/>
          </a:ln>
        </p:spPr>
      </p:pic>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A wide slab, minus what the violations cost</a:t>
            </a:r>
          </a:p>
        </p:txBody>
      </p:sp>
      <p:pic>
        <p:nvPicPr>
          <p:cNvPr descr="eq_1fab60605d.png" id="0" name="Picture 1"/>
          <p:cNvPicPr>
            <a:picLocks noGrp="1" noChangeAspect="1"/>
          </p:cNvPicPr>
          <p:nvPr/>
        </p:nvPicPr>
        <p:blipFill>
          <a:blip r:embed="rId3"/>
          <a:stretch>
            <a:fillRect/>
          </a:stretch>
        </p:blipFill>
        <p:spPr bwMode="auto">
          <a:xfrm>
            <a:off x="1280160" y="2068949"/>
            <a:ext cx="6583680" cy="1554480"/>
          </a:xfrm>
          <a:prstGeom prst="rect">
            <a:avLst/>
          </a:prstGeom>
          <a:noFill/>
          <a:ln w="9525">
            <a:noFill/>
            <a:headEnd/>
            <a:tailEnd/>
          </a:ln>
        </p:spPr>
      </p:pic>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C is the price of a training error</a:t>
            </a:r>
          </a:p>
        </p:txBody>
      </p:sp>
      <p:sp>
        <p:nvSpPr>
          <p:cNvPr id="3" name="Content Placeholder 2"/>
          <p:cNvSpPr>
            <a:spLocks noGrp="1"/>
          </p:cNvSpPr>
          <p:nvPr>
            <p:ph idx="1"/>
          </p:nvPr>
        </p:nvSpPr>
        <p:spPr>
          <a:xfrm>
            <a:off x="457200" y="1200151"/>
            <a:ext cx="8229600" cy="3394472"/>
          </a:xfrm>
        </p:spPr>
        <p:txBody>
          <a:bodyPr/>
          <a:lstStyle/>
          <a:p>
            <a:pPr lvl="0"/>
            <a:r>
              <a:rPr b="1"/>
              <a:t>Large C</a:t>
            </a:r>
            <a:r>
              <a:rPr/>
              <a:t>: violations are expensive, so the model accepts a narrower margin to classify more training points. Low bias, high variance</a:t>
            </a:r>
          </a:p>
          <a:p>
            <a:pPr lvl="0"/>
            <a:r>
              <a:rPr b="1"/>
              <a:t>Small C</a:t>
            </a:r>
            <a:r>
              <a:rPr/>
              <a:t>: a wider, calmer boundary, at the cost of some errors</a:t>
            </a:r>
          </a:p>
          <a:p>
            <a:pPr lvl="0"/>
            <a:r>
              <a:rPr/>
              <a:t>C plays the role that k played in k-NN and λ in lesson 3</a:t>
            </a:r>
          </a:p>
          <a:p>
            <a:pPr lvl="0"/>
            <a:r>
              <a:rPr/>
              <a:t>Note the direction: </a:t>
            </a:r>
            <a:r>
              <a:rPr b="1"/>
              <a:t>large C means less regularisation</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best straight line is still a straight line</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Model</a:t>
                      </a:r>
                    </a:p>
                  </a:txBody>
                  <a:tcPr/>
                </a:tc>
                <a:tc>
                  <a:txBody>
                    <a:bodyPr/>
                    <a:lstStyle/>
                    <a:p>
                      <a:pPr lvl="0" indent="0" marL="0">
                        <a:buNone/>
                      </a:pPr>
                      <a:r>
                        <a:rPr/>
                        <a:t>Accuracy</a:t>
                      </a:r>
                    </a:p>
                  </a:txBody>
                  <a:tcPr/>
                </a:tc>
                <a:tc>
                  <a:txBody>
                    <a:bodyPr/>
                    <a:lstStyle/>
                    <a:p>
                      <a:pPr lvl="0" indent="0" marL="0">
                        <a:buNone/>
                      </a:pPr>
                      <a:r>
                        <a:rPr/>
                        <a:t>Support vectors</a:t>
                      </a:r>
                    </a:p>
                  </a:txBody>
                  <a:tcPr/>
                </a:tc>
              </a:tr>
              <a:tr h="0">
                <a:tc>
                  <a:txBody>
                    <a:bodyPr/>
                    <a:lstStyle/>
                    <a:p>
                      <a:pPr lvl="0" indent="0" marL="0">
                        <a:buNone/>
                      </a:pPr>
                      <a:r>
                        <a:rPr/>
                        <a:t>SVM, linear kernel</a:t>
                      </a:r>
                    </a:p>
                  </a:txBody>
                </a:tc>
                <a:tc>
                  <a:txBody>
                    <a:bodyPr/>
                    <a:lstStyle/>
                    <a:p>
                      <a:pPr lvl="0" indent="0" marL="0">
                        <a:buNone/>
                      </a:pPr>
                      <a:r>
                        <a:rPr b="1"/>
                        <a:t>0.613 ± 0.000</a:t>
                      </a:r>
                    </a:p>
                  </a:txBody>
                </a:tc>
                <a:tc>
                  <a:txBody>
                    <a:bodyPr/>
                    <a:lstStyle/>
                    <a:p>
                      <a:pPr lvl="0" indent="0" marL="0">
                        <a:buNone/>
                      </a:pPr>
                      <a:r>
                        <a:rPr/>
                        <a:t>947 of 1,200 (</a:t>
                      </a:r>
                      <a:r>
                        <a:rPr b="1"/>
                        <a:t>79%</a:t>
                      </a:r>
                      <a:r>
                        <a:rPr/>
                        <a:t>)</a:t>
                      </a:r>
                    </a:p>
                  </a:txBody>
                </a:tc>
              </a:tr>
              <a:tr h="0">
                <a:tc>
                  <a:txBody>
                    <a:bodyPr/>
                    <a:lstStyle/>
                    <a:p>
                      <a:pPr lvl="0" indent="0" marL="0">
                        <a:buNone/>
                      </a:pPr>
                      <a:r>
                        <a:rPr/>
                        <a:t>SVM, RBF kernel</a:t>
                      </a:r>
                    </a:p>
                  </a:txBody>
                </a:tc>
                <a:tc>
                  <a:txBody>
                    <a:bodyPr/>
                    <a:lstStyle/>
                    <a:p>
                      <a:pPr lvl="0" indent="0" marL="0">
                        <a:buNone/>
                      </a:pPr>
                      <a:r>
                        <a:rPr/>
                        <a:t>0.947 ± 0.005</a:t>
                      </a:r>
                    </a:p>
                  </a:txBody>
                </a:tc>
                <a:tc>
                  <a:txBody>
                    <a:bodyPr/>
                    <a:lstStyle/>
                    <a:p>
                      <a:pPr lvl="0" indent="0" marL="0">
                        <a:buNone/>
                      </a:pPr>
                      <a:r>
                        <a:rPr/>
                        <a:t>278 of 1,200 (23%)</a:t>
                      </a:r>
                    </a:p>
                  </a:txBody>
                </a:tc>
              </a:tr>
            </a:tbl>
          </a:graphicData>
        </a:graphic>
      </p:graphicFrame>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A high support-vector fraction is a free warning</a:t>
            </a:r>
          </a:p>
        </p:txBody>
      </p:sp>
      <p:sp>
        <p:nvSpPr>
          <p:cNvPr id="3" name="Content Placeholder 2"/>
          <p:cNvSpPr>
            <a:spLocks noGrp="1"/>
          </p:cNvSpPr>
          <p:nvPr>
            <p:ph idx="1"/>
          </p:nvPr>
        </p:nvSpPr>
        <p:spPr>
          <a:xfrm>
            <a:off x="457200" y="1200151"/>
            <a:ext cx="8229600" cy="3394472"/>
          </a:xfrm>
        </p:spPr>
        <p:txBody>
          <a:bodyPr/>
          <a:lstStyle/>
          <a:p>
            <a:pPr lvl="0"/>
            <a:r>
              <a:rPr/>
              <a:t>The linear model, </a:t>
            </a:r>
            <a:r>
              <a:rPr>
                <a:latin typeface="Courier"/>
              </a:rPr>
              <a:t>SVC(kernel="linear")</a:t>
            </a:r>
            <a:r>
              <a:rPr/>
              <a:t>, needs </a:t>
            </a:r>
            <a:r>
              <a:rPr b="1"/>
              <a:t>79%</a:t>
            </a:r>
            <a:r>
              <a:rPr/>
              <a:t> of the training set</a:t>
            </a:r>
          </a:p>
          <a:p>
            <a:pPr lvl="0"/>
            <a:r>
              <a:rPr/>
              <a:t>The RBF model needs </a:t>
            </a:r>
            <a:r>
              <a:rPr b="1"/>
              <a:t>23%</a:t>
            </a:r>
          </a:p>
          <a:p>
            <a:pPr lvl="0"/>
            <a:r>
              <a:rPr/>
              <a:t>Almost every point sits on or inside the margin: there is no slab that separates anything</a:t>
            </a:r>
          </a:p>
          <a:p>
            <a:pPr lvl="0"/>
            <a:r>
              <a:rPr/>
              <a:t>The count comes free with </a:t>
            </a:r>
            <a:r>
              <a:rPr>
                <a:latin typeface="Courier"/>
              </a:rPr>
              <a:t>fit</a:t>
            </a:r>
            <a:r>
              <a:rPr/>
              <a:t>, as </a:t>
            </a:r>
            <a:r>
              <a:rPr>
                <a:latin typeface="Courier"/>
              </a:rPr>
              <a:t>len(model.support_)</a:t>
            </a:r>
            <a:r>
              <a:rPr/>
              <a:t>: look at it</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kernel trick: they needed different coordinates</a:t>
            </a:r>
          </a:p>
        </p:txBody>
      </p:sp>
      <p:sp>
        <p:nvSpPr>
          <p:cNvPr id="3" name="Content Placeholder 2"/>
          <p:cNvSpPr>
            <a:spLocks noGrp="1"/>
          </p:cNvSpPr>
          <p:nvPr>
            <p:ph idx="1"/>
          </p:nvPr>
        </p:nvSpPr>
        <p:spPr>
          <a:xfrm>
            <a:off x="457200" y="1200151"/>
            <a:ext cx="8229600" cy="3394472"/>
          </a:xfrm>
        </p:spPr>
        <p:txBody>
          <a:bodyPr/>
          <a:lstStyle/>
          <a:p>
            <a:pPr lvl="0"/>
            <a:r>
              <a:rPr/>
              <a:t>Healthy pumps in a disc, faulty ones around it: no line works </a:t>
            </a:r>
            <a:r>
              <a:rPr b="1"/>
              <a:t>in the plane</a:t>
            </a:r>
          </a:p>
          <a:p>
            <a:pPr lvl="0"/>
            <a:r>
              <a:rPr/>
              <a:t>Add a third coordinate: the </a:t>
            </a:r>
            <a:r>
              <a:rPr b="1"/>
              <a:t>distance from the design point</a:t>
            </a:r>
          </a:p>
          <a:p>
            <a:pPr lvl="0"/>
            <a:r>
              <a:rPr/>
              <a:t>Healthy pumps rise a little, faulty ones a lot, and a flat plane separates them perfectly</a:t>
            </a:r>
          </a:p>
          <a:p>
            <a:pPr lvl="0"/>
            <a:r>
              <a:rPr/>
              <a:t>The classes were always separable. They were measured in the wrong coordinates</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same pumps, lifted</a:t>
            </a:r>
          </a:p>
        </p:txBody>
      </p:sp>
      <p:pic>
        <p:nvPicPr>
          <p:cNvPr descr="kernel_lift.png" id="0" name="Picture 1"/>
          <p:cNvPicPr>
            <a:picLocks noGrp="1" noChangeAspect="1"/>
          </p:cNvPicPr>
          <p:nvPr/>
        </p:nvPicPr>
        <p:blipFill>
          <a:blip r:embed="rId3"/>
          <a:stretch>
            <a:fillRect/>
          </a:stretch>
        </p:blipFill>
        <p:spPr bwMode="auto">
          <a:xfrm>
            <a:off x="1048215" y="1166099"/>
            <a:ext cx="7047570" cy="3360181"/>
          </a:xfrm>
          <a:prstGeom prst="rect">
            <a:avLst/>
          </a:prstGeom>
          <a:noFill/>
          <a:ln w="9525">
            <a:noFill/>
            <a:headEnd/>
            <a:tailEnd/>
          </a:ln>
        </p:spPr>
      </p:pic>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And the map is never computed</a:t>
            </a:r>
          </a:p>
        </p:txBody>
      </p:sp>
      <p:sp>
        <p:nvSpPr>
          <p:cNvPr id="3" name="Content Placeholder 2"/>
          <p:cNvSpPr>
            <a:spLocks noGrp="1"/>
          </p:cNvSpPr>
          <p:nvPr>
            <p:ph idx="1"/>
          </p:nvPr>
        </p:nvSpPr>
        <p:spPr>
          <a:xfrm>
            <a:off x="457200" y="1200151"/>
            <a:ext cx="8229600" cy="3394472"/>
          </a:xfrm>
        </p:spPr>
        <p:txBody>
          <a:bodyPr/>
          <a:lstStyle/>
          <a:p>
            <a:pPr lvl="0"/>
            <a:r>
              <a:rPr/>
              <a:t>The solution depends on the data </a:t>
            </a:r>
            <a:r>
              <a:rPr b="1"/>
              <a:t>only through inner products</a:t>
            </a:r>
            <a:r>
              <a:rPr/>
              <a:t> between pairs of points</a:t>
            </a:r>
          </a:p>
          <a:p>
            <a:pPr lvl="0"/>
            <a:r>
              <a:rPr/>
              <a:t>So we need a function returning the inner product </a:t>
            </a:r>
            <a:r>
              <a:rPr b="1"/>
              <a:t>in the new space</a:t>
            </a:r>
            <a:r>
              <a:rPr/>
              <a:t>, while computing only with the original one</a:t>
            </a:r>
          </a:p>
          <a:p>
            <a:pPr lvl="0"/>
            <a:r>
              <a:rPr/>
              <a:t>The radial basis function is scikit-learn’s default: one exponential per pair, for an </a:t>
            </a:r>
            <a:r>
              <a:rPr b="1"/>
              <a:t>infinite-dimensional</a:t>
            </a:r>
            <a:r>
              <a:rPr/>
              <a:t> space</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boundary is a weighted vote of the pumps</a:t>
            </a:r>
          </a:p>
        </p:txBody>
      </p:sp>
      <p:pic>
        <p:nvPicPr>
          <p:cNvPr descr="eq_5ca15d7014.png" id="0" name="Picture 1"/>
          <p:cNvPicPr>
            <a:picLocks noGrp="1" noChangeAspect="1"/>
          </p:cNvPicPr>
          <p:nvPr/>
        </p:nvPicPr>
        <p:blipFill>
          <a:blip r:embed="rId3"/>
          <a:stretch>
            <a:fillRect/>
          </a:stretch>
        </p:blipFill>
        <p:spPr bwMode="auto">
          <a:xfrm>
            <a:off x="457200" y="1887339"/>
            <a:ext cx="8229599" cy="1917700"/>
          </a:xfrm>
          <a:prstGeom prst="rect">
            <a:avLst/>
          </a:prstGeom>
          <a:noFill/>
          <a:ln w="9525">
            <a:noFill/>
            <a:headEnd/>
            <a:tailEnd/>
          </a:ln>
        </p:spPr>
      </p:pic>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kernel trick by hand: 25 = 25</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Route</a:t>
                      </a:r>
                    </a:p>
                  </a:txBody>
                  <a:tcPr/>
                </a:tc>
                <a:tc>
                  <a:txBody>
                    <a:bodyPr/>
                    <a:lstStyle/>
                    <a:p>
                      <a:pPr lvl="0" indent="0" marL="0">
                        <a:buNone/>
                      </a:pPr>
                      <a:r>
                        <a:rPr/>
                        <a:t>Computation</a:t>
                      </a:r>
                    </a:p>
                  </a:txBody>
                  <a:tcPr/>
                </a:tc>
                <a:tc>
                  <a:txBody>
                    <a:bodyPr/>
                    <a:lstStyle/>
                    <a:p>
                      <a:pPr lvl="0" indent="0" marL="0">
                        <a:buNone/>
                      </a:pPr>
                      <a:r>
                        <a:rPr/>
                        <a:t>Result</a:t>
                      </a:r>
                    </a:p>
                  </a:txBody>
                  <a:tcPr/>
                </a:tc>
              </a:tr>
              <a:tr h="0">
                <a:tc>
                  <a:txBody>
                    <a:bodyPr/>
                    <a:lstStyle/>
                    <a:p>
                      <a:pPr lvl="0" indent="0" marL="0">
                        <a:buNone/>
                      </a:pPr>
                      <a:r>
                        <a:rPr/>
                        <a:t>Lift, then multiply</a:t>
                      </a:r>
                    </a:p>
                  </a:txBody>
                </a:tc>
                <a:tc>
                  <a:txBody>
                    <a:bodyPr/>
                    <a:lstStyle/>
                    <a:p>
                      <a:pPr lvl="0" indent="0" marL="0">
                        <a:buNone/>
                      </a:pPr>
                      <a:r>
                        <a:rPr/>
                        <a:t>(1, 2.83, 4) · (9, 4.24, 1) = 9 + 12 + 4</a:t>
                      </a:r>
                    </a:p>
                  </a:txBody>
                </a:tc>
                <a:tc>
                  <a:txBody>
                    <a:bodyPr/>
                    <a:lstStyle/>
                    <a:p>
                      <a:pPr lvl="0" indent="0" marL="0">
                        <a:buNone/>
                      </a:pPr>
                      <a:r>
                        <a:rPr b="1"/>
                        <a:t>25</a:t>
                      </a:r>
                    </a:p>
                  </a:txBody>
                </a:tc>
              </a:tr>
              <a:tr h="0">
                <a:tc>
                  <a:txBody>
                    <a:bodyPr/>
                    <a:lstStyle/>
                    <a:p>
                      <a:pPr lvl="0" indent="0" marL="0">
                        <a:buNone/>
                      </a:pPr>
                      <a:r>
                        <a:rPr/>
                        <a:t>Never lift</a:t>
                      </a:r>
                    </a:p>
                  </a:txBody>
                </a:tc>
                <a:tc>
                  <a:txBody>
                    <a:bodyPr/>
                    <a:lstStyle/>
                    <a:p>
                      <a:pPr lvl="0" indent="0" marL="0">
                        <a:buNone/>
                      </a:pPr>
                      <a:r>
                        <a:rPr/>
                        <a:t>((1, 2) · (3, 1))² = 5²</a:t>
                      </a:r>
                    </a:p>
                  </a:txBody>
                </a:tc>
                <a:tc>
                  <a:txBody>
                    <a:bodyPr/>
                    <a:lstStyle/>
                    <a:p>
                      <a:pPr lvl="0" indent="0" marL="0">
                        <a:buNone/>
                      </a:pPr>
                      <a:r>
                        <a:rPr b="1"/>
                        <a:t>25</a:t>
                      </a:r>
                    </a:p>
                  </a:txBody>
                </a:tc>
              </a:tr>
            </a:tbl>
          </a:graphicData>
        </a:graphic>
      </p:graphicFrame>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radial basis function, written out</a:t>
            </a:r>
          </a:p>
        </p:txBody>
      </p:sp>
      <p:pic>
        <p:nvPicPr>
          <p:cNvPr descr="eq_f6b1392351.png" id="0" name="Picture 1"/>
          <p:cNvPicPr>
            <a:picLocks noGrp="1" noChangeAspect="1"/>
          </p:cNvPicPr>
          <p:nvPr/>
        </p:nvPicPr>
        <p:blipFill>
          <a:blip r:embed="rId3"/>
          <a:stretch>
            <a:fillRect/>
          </a:stretch>
        </p:blipFill>
        <p:spPr bwMode="auto">
          <a:xfrm>
            <a:off x="457200" y="2433439"/>
            <a:ext cx="8229600" cy="825500"/>
          </a:xfrm>
          <a:prstGeom prst="rect">
            <a:avLst/>
          </a:prstGeom>
          <a:noFill/>
          <a:ln w="9525">
            <a:noFill/>
            <a:headEnd/>
            <a:tailEnd/>
          </a:ln>
        </p:spPr>
      </p:pic>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Training: one weight per pump</a:t>
            </a:r>
          </a:p>
        </p:txBody>
      </p:sp>
      <p:sp>
        <p:nvSpPr>
          <p:cNvPr id="3" name="Content Placeholder 2"/>
          <p:cNvSpPr>
            <a:spLocks noGrp="1"/>
          </p:cNvSpPr>
          <p:nvPr>
            <p:ph idx="1"/>
          </p:nvPr>
        </p:nvSpPr>
        <p:spPr>
          <a:xfrm>
            <a:off x="457200" y="1200151"/>
            <a:ext cx="8229600" cy="3394472"/>
          </a:xfrm>
        </p:spPr>
        <p:txBody>
          <a:bodyPr/>
          <a:lstStyle/>
          <a:p>
            <a:pPr lvl="0"/>
            <a:r>
              <a:rPr/>
              <a:t>Weights adjusted </a:t>
            </a:r>
            <a:r>
              <a:rPr b="1"/>
              <a:t>two at a time</a:t>
            </a:r>
            <a:r>
              <a:rPr/>
              <a:t>; no learning rate, same answer every run</a:t>
            </a:r>
          </a:p>
          <a:p>
            <a:pPr lvl="0"/>
            <a:r>
              <a:rPr b="1"/>
              <a:t>922</a:t>
            </a:r>
            <a:r>
              <a:rPr/>
              <a:t> pumps: weight 0, forgotten</a:t>
            </a:r>
          </a:p>
          <a:p>
            <a:pPr lvl="0"/>
            <a:r>
              <a:rPr b="1"/>
              <a:t>268</a:t>
            </a:r>
            <a:r>
              <a:rPr/>
              <a:t> at the ceiling C = 1, </a:t>
            </a:r>
            <a:r>
              <a:rPr b="1"/>
              <a:t>10</a:t>
            </a:r>
            <a:r>
              <a:rPr/>
              <a:t> on the edge: the 278 support vectors</a:t>
            </a:r>
          </a:p>
          <a:p>
            <a:pPr lvl="0"/>
            <a:r>
              <a:rPr/>
              <a:t>The model: 278 points, their weights, and b = +1.105</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SVM on 48 Hz, 5.6 bar: +1.883</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Term</a:t>
                      </a:r>
                    </a:p>
                  </a:txBody>
                  <a:tcPr/>
                </a:tc>
                <a:tc>
                  <a:txBody>
                    <a:bodyPr/>
                    <a:lstStyle/>
                    <a:p>
                      <a:pPr lvl="0" indent="0" marL="0">
                        <a:buNone/>
                      </a:pPr>
                      <a:r>
                        <a:rPr/>
                        <a:t>Value</a:t>
                      </a:r>
                    </a:p>
                  </a:txBody>
                  <a:tcPr/>
                </a:tc>
              </a:tr>
              <a:tr h="0">
                <a:tc>
                  <a:txBody>
                    <a:bodyPr/>
                    <a:lstStyle/>
                    <a:p>
                      <a:pPr lvl="0" indent="0" marL="0">
                        <a:buNone/>
                      </a:pPr>
                      <a:r>
                        <a:rPr/>
                        <a:t>votes from faulty support vectors</a:t>
                      </a:r>
                    </a:p>
                  </a:txBody>
                </a:tc>
                <a:tc>
                  <a:txBody>
                    <a:bodyPr/>
                    <a:lstStyle/>
                    <a:p>
                      <a:pPr lvl="0" indent="0" marL="0">
                        <a:buNone/>
                      </a:pPr>
                      <a:r>
                        <a:rPr/>
                        <a:t>+37.455</a:t>
                      </a:r>
                    </a:p>
                  </a:txBody>
                </a:tc>
              </a:tr>
              <a:tr h="0">
                <a:tc>
                  <a:txBody>
                    <a:bodyPr/>
                    <a:lstStyle/>
                    <a:p>
                      <a:pPr lvl="0" indent="0" marL="0">
                        <a:buNone/>
                      </a:pPr>
                      <a:r>
                        <a:rPr/>
                        <a:t>votes from healthy support vectors</a:t>
                      </a:r>
                    </a:p>
                  </a:txBody>
                </a:tc>
                <a:tc>
                  <a:txBody>
                    <a:bodyPr/>
                    <a:lstStyle/>
                    <a:p>
                      <a:pPr lvl="0" indent="0" marL="0">
                        <a:buNone/>
                      </a:pPr>
                      <a:r>
                        <a:rPr/>
                        <a:t>−36.677</a:t>
                      </a:r>
                    </a:p>
                  </a:txBody>
                </a:tc>
              </a:tr>
              <a:tr h="0">
                <a:tc>
                  <a:txBody>
                    <a:bodyPr/>
                    <a:lstStyle/>
                    <a:p>
                      <a:pPr lvl="0" indent="0" marL="0">
                        <a:buNone/>
                      </a:pPr>
                      <a:r>
                        <a:rPr/>
                        <a:t>intercept b</a:t>
                      </a:r>
                    </a:p>
                  </a:txBody>
                </a:tc>
                <a:tc>
                  <a:txBody>
                    <a:bodyPr/>
                    <a:lstStyle/>
                    <a:p>
                      <a:pPr lvl="0" indent="0" marL="0">
                        <a:buNone/>
                      </a:pPr>
                      <a:r>
                        <a:rPr/>
                        <a:t>+1.105</a:t>
                      </a:r>
                    </a:p>
                  </a:txBody>
                </a:tc>
              </a:tr>
              <a:tr h="0">
                <a:tc>
                  <a:txBody>
                    <a:bodyPr/>
                    <a:lstStyle/>
                    <a:p>
                      <a:pPr lvl="0" indent="0" marL="0">
                        <a:buNone/>
                      </a:pPr>
                      <a:r>
                        <a:rPr b="1"/>
                        <a:t>total</a:t>
                      </a:r>
                    </a:p>
                  </a:txBody>
                </a:tc>
                <a:tc>
                  <a:txBody>
                    <a:bodyPr/>
                    <a:lstStyle/>
                    <a:p>
                      <a:pPr lvl="0" indent="0" marL="0">
                        <a:buNone/>
                      </a:pPr>
                      <a:r>
                        <a:rPr b="1"/>
                        <a:t>+1.883</a:t>
                      </a:r>
                    </a:p>
                  </a:txBody>
                </a:tc>
              </a:tr>
            </a:tbl>
          </a:graphicData>
        </a:graphic>
      </p:graphicFrame>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One pump’s vote, drawn</a:t>
            </a:r>
          </a:p>
        </p:txBody>
      </p:sp>
      <p:pic>
        <p:nvPicPr>
          <p:cNvPr descr="svm_vote_one_pump.png" id="0" name="Picture 1"/>
          <p:cNvPicPr>
            <a:picLocks noGrp="1" noChangeAspect="1"/>
          </p:cNvPicPr>
          <p:nvPr/>
        </p:nvPicPr>
        <p:blipFill>
          <a:blip r:embed="rId3"/>
          <a:stretch>
            <a:fillRect/>
          </a:stretch>
        </p:blipFill>
        <p:spPr bwMode="auto">
          <a:xfrm>
            <a:off x="2193445" y="1166099"/>
            <a:ext cx="4757110" cy="3360181"/>
          </a:xfrm>
          <a:prstGeom prst="rect">
            <a:avLst/>
          </a:prstGeom>
          <a:noFill/>
          <a:ln w="9525">
            <a:noFill/>
            <a:headEnd/>
            <a:tailEnd/>
          </a:ln>
        </p:spPr>
      </p:pic>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highest training score, the lowest honest one</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Setting</a:t>
                      </a:r>
                    </a:p>
                  </a:txBody>
                  <a:tcPr/>
                </a:tc>
                <a:tc>
                  <a:txBody>
                    <a:bodyPr/>
                    <a:lstStyle/>
                    <a:p>
                      <a:pPr lvl="0" indent="0" marL="0">
                        <a:buNone/>
                      </a:pPr>
                      <a:r>
                        <a:rPr/>
                        <a:t>Training</a:t>
                      </a:r>
                    </a:p>
                  </a:txBody>
                  <a:tcPr/>
                </a:tc>
                <a:tc>
                  <a:txBody>
                    <a:bodyPr/>
                    <a:lstStyle/>
                    <a:p>
                      <a:pPr lvl="0" indent="0" marL="0">
                        <a:buNone/>
                      </a:pPr>
                      <a:r>
                        <a:rPr/>
                        <a:t>Cross-validated</a:t>
                      </a:r>
                    </a:p>
                  </a:txBody>
                  <a:tcPr/>
                </a:tc>
              </a:tr>
              <a:tr h="0">
                <a:tc>
                  <a:txBody>
                    <a:bodyPr/>
                    <a:lstStyle/>
                    <a:p>
                      <a:pPr lvl="0" indent="0" marL="0">
                        <a:buNone/>
                      </a:pPr>
                      <a:r>
                        <a:rPr/>
                        <a:t>γ = 0.1, C = 1</a:t>
                      </a:r>
                    </a:p>
                  </a:txBody>
                </a:tc>
                <a:tc>
                  <a:txBody>
                    <a:bodyPr/>
                    <a:lstStyle/>
                    <a:p>
                      <a:pPr lvl="0" indent="0" marL="0">
                        <a:buNone/>
                      </a:pPr>
                      <a:r>
                        <a:rPr/>
                        <a:t>0.936</a:t>
                      </a:r>
                    </a:p>
                  </a:txBody>
                </a:tc>
                <a:tc>
                  <a:txBody>
                    <a:bodyPr/>
                    <a:lstStyle/>
                    <a:p>
                      <a:pPr lvl="0" indent="0" marL="0">
                        <a:buNone/>
                      </a:pPr>
                      <a:r>
                        <a:rPr/>
                        <a:t>0.929</a:t>
                      </a:r>
                    </a:p>
                  </a:txBody>
                </a:tc>
              </a:tr>
              <a:tr h="0">
                <a:tc>
                  <a:txBody>
                    <a:bodyPr/>
                    <a:lstStyle/>
                    <a:p>
                      <a:pPr lvl="0" indent="0" marL="0">
                        <a:buNone/>
                      </a:pPr>
                      <a:r>
                        <a:rPr/>
                        <a:t>γ = 1, C = 1</a:t>
                      </a:r>
                    </a:p>
                  </a:txBody>
                </a:tc>
                <a:tc>
                  <a:txBody>
                    <a:bodyPr/>
                    <a:lstStyle/>
                    <a:p>
                      <a:pPr lvl="0" indent="0" marL="0">
                        <a:buNone/>
                      </a:pPr>
                      <a:r>
                        <a:rPr/>
                        <a:t>0.950</a:t>
                      </a:r>
                    </a:p>
                  </a:txBody>
                </a:tc>
                <a:tc>
                  <a:txBody>
                    <a:bodyPr/>
                    <a:lstStyle/>
                    <a:p>
                      <a:pPr lvl="0" indent="0" marL="0">
                        <a:buNone/>
                      </a:pPr>
                      <a:r>
                        <a:rPr b="1"/>
                        <a:t>0.944</a:t>
                      </a:r>
                    </a:p>
                  </a:txBody>
                </a:tc>
              </a:tr>
              <a:tr h="0">
                <a:tc>
                  <a:txBody>
                    <a:bodyPr/>
                    <a:lstStyle/>
                    <a:p>
                      <a:pPr lvl="0" indent="0" marL="0">
                        <a:buNone/>
                      </a:pPr>
                      <a:r>
                        <a:rPr/>
                        <a:t>γ = 50, C = 1000</a:t>
                      </a:r>
                    </a:p>
                  </a:txBody>
                </a:tc>
                <a:tc>
                  <a:txBody>
                    <a:bodyPr/>
                    <a:lstStyle/>
                    <a:p>
                      <a:pPr lvl="0" indent="0" marL="0">
                        <a:buNone/>
                      </a:pPr>
                      <a:r>
                        <a:rPr b="1"/>
                        <a:t>0.995</a:t>
                      </a:r>
                    </a:p>
                  </a:txBody>
                </a:tc>
                <a:tc>
                  <a:txBody>
                    <a:bodyPr/>
                    <a:lstStyle/>
                    <a:p>
                      <a:pPr lvl="0" indent="0" marL="0">
                        <a:buNone/>
                      </a:pPr>
                      <a:r>
                        <a:rPr/>
                        <a:t>0.902</a:t>
                      </a:r>
                    </a:p>
                  </a:txBody>
                </a:tc>
              </a:tr>
            </a:tbl>
          </a:graphicData>
        </a:graphic>
      </p:graphicFrame>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How far one vote reaches</a:t>
            </a:r>
          </a:p>
        </p:txBody>
      </p:sp>
      <p:pic>
        <p:nvPicPr>
          <p:cNvPr descr="rbf_reach.png" id="0" name="Picture 1"/>
          <p:cNvPicPr>
            <a:picLocks noGrp="1" noChangeAspect="1"/>
          </p:cNvPicPr>
          <p:nvPr/>
        </p:nvPicPr>
        <p:blipFill>
          <a:blip r:embed="rId3"/>
          <a:stretch>
            <a:fillRect/>
          </a:stretch>
        </p:blipFill>
        <p:spPr bwMode="auto">
          <a:xfrm>
            <a:off x="1419471" y="1166099"/>
            <a:ext cx="6305058" cy="3360181"/>
          </a:xfrm>
          <a:prstGeom prst="rect">
            <a:avLst/>
          </a:prstGeom>
          <a:noFill/>
          <a:ln w="9525">
            <a:noFill/>
            <a:headEnd/>
            <a:tailEnd/>
          </a:ln>
        </p:spPr>
      </p:pic>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Overfitting you can see</a:t>
            </a:r>
          </a:p>
        </p:txBody>
      </p:sp>
      <p:pic>
        <p:nvPicPr>
          <p:cNvPr descr="svm_gamma_c.png" id="0" name="Picture 1"/>
          <p:cNvPicPr>
            <a:picLocks noGrp="1" noChangeAspect="1"/>
          </p:cNvPicPr>
          <p:nvPr/>
        </p:nvPicPr>
        <p:blipFill>
          <a:blip r:embed="rId3"/>
          <a:stretch>
            <a:fillRect/>
          </a:stretch>
        </p:blipFill>
        <p:spPr bwMode="auto">
          <a:xfrm>
            <a:off x="457200" y="1550789"/>
            <a:ext cx="8229599" cy="2590800"/>
          </a:xfrm>
          <a:prstGeom prst="rect">
            <a:avLst/>
          </a:prstGeom>
          <a:noFill/>
          <a:ln w="9525">
            <a:noFill/>
            <a:headEnd/>
            <a:tailEnd/>
          </a:ln>
        </p:spPr>
      </p:pic>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Notebook 3, live</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section, and its slides</a:t>
                      </a:r>
                    </a:p>
                  </a:txBody>
                  <a:tcPr/>
                </a:tc>
                <a:tc>
                  <a:txBody>
                    <a:bodyPr/>
                    <a:lstStyle/>
                    <a:p>
                      <a:pPr lvl="0" indent="0" marL="0">
                        <a:buNone/>
                      </a:pPr>
                      <a:r>
                        <a:rPr/>
                        <a:t>you call (→ the number to come back with)</a:t>
                      </a:r>
                    </a:p>
                  </a:txBody>
                  <a:tcPr/>
                </a:tc>
              </a:tr>
              <a:tr h="0">
                <a:tc>
                  <a:txBody>
                    <a:bodyPr/>
                    <a:lstStyle/>
                    <a:p>
                      <a:pPr lvl="0" indent="0" marL="0">
                        <a:buNone/>
                      </a:pPr>
                      <a:r>
                        <a:rPr/>
                        <a:t>the widest slab, 45-48</a:t>
                      </a:r>
                    </a:p>
                  </a:txBody>
                </a:tc>
                <a:tc>
                  <a:txBody>
                    <a:bodyPr/>
                    <a:lstStyle/>
                    <a:p>
                      <a:pPr lvl="0" indent="0" marL="0">
                        <a:buNone/>
                      </a:pPr>
                      <a:r>
                        <a:rPr>
                          <a:latin typeface="Courier"/>
                        </a:rPr>
                        <a:t>SVC(kernel="linear")</a:t>
                      </a:r>
                      <a:r>
                        <a:rPr/>
                        <a:t>, </a:t>
                      </a:r>
                      <a:r>
                        <a:rPr>
                          <a:latin typeface="Courier"/>
                        </a:rPr>
                        <a:t>.n_support_</a:t>
                      </a:r>
                      <a:r>
                        <a:rPr/>
                        <a:t>, </a:t>
                      </a:r>
                      <a:r>
                        <a:rPr>
                          <a:latin typeface="Courier"/>
                        </a:rPr>
                        <a:t>decision_function</a:t>
                      </a:r>
                      <a:r>
                        <a:rPr/>
                        <a:t> → 3 of 80 points</a:t>
                      </a:r>
                    </a:p>
                  </a:txBody>
                </a:tc>
              </a:tr>
              <a:tr h="0">
                <a:tc>
                  <a:txBody>
                    <a:bodyPr/>
                    <a:lstStyle/>
                    <a:p>
                      <a:pPr lvl="0" indent="0" marL="0">
                        <a:buNone/>
                      </a:pPr>
                      <a:r>
                        <a:rPr/>
                        <a:t>a straight line still fails, 51-52</a:t>
                      </a:r>
                    </a:p>
                  </a:txBody>
                </a:tc>
                <a:tc>
                  <a:txBody>
                    <a:bodyPr/>
                    <a:lstStyle/>
                    <a:p>
                      <a:pPr lvl="0" indent="0" marL="0">
                        <a:buNone/>
                      </a:pPr>
                      <a:r>
                        <a:rPr>
                          <a:latin typeface="Courier"/>
                        </a:rPr>
                        <a:t>cross_val_score</a:t>
                      </a:r>
                      <a:r>
                        <a:rPr/>
                        <a:t>, linear against RBF kernel → 947 against 278 support vectors</a:t>
                      </a:r>
                    </a:p>
                  </a:txBody>
                </a:tc>
              </a:tr>
              <a:tr h="0">
                <a:tc>
                  <a:txBody>
                    <a:bodyPr/>
                    <a:lstStyle/>
                    <a:p>
                      <a:pPr lvl="0" indent="0" marL="0">
                        <a:buNone/>
                      </a:pPr>
                      <a:r>
                        <a:rPr/>
                        <a:t>the kernel trick, 53-58</a:t>
                      </a:r>
                    </a:p>
                  </a:txBody>
                </a:tc>
                <a:tc>
                  <a:txBody>
                    <a:bodyPr/>
                    <a:lstStyle/>
                    <a:p>
                      <a:pPr lvl="0" indent="0" marL="0">
                        <a:buNone/>
                      </a:pPr>
                      <a:r>
                        <a:rPr/>
                        <a:t>NumPy only: (a · b)² against the lifted product → 25 = 25</a:t>
                      </a:r>
                    </a:p>
                  </a:txBody>
                </a:tc>
              </a:tr>
              <a:tr h="0">
                <a:tc>
                  <a:txBody>
                    <a:bodyPr/>
                    <a:lstStyle/>
                    <a:p>
                      <a:pPr lvl="0" indent="0" marL="0">
                        <a:buNone/>
                      </a:pPr>
                      <a:r>
                        <a:rPr/>
                        <a:t>training and one prediction, 59-61</a:t>
                      </a:r>
                    </a:p>
                  </a:txBody>
                </a:tc>
                <a:tc>
                  <a:txBody>
                    <a:bodyPr/>
                    <a:lstStyle/>
                    <a:p>
                      <a:pPr lvl="0" indent="0" marL="0">
                        <a:buNone/>
                      </a:pPr>
                      <a:r>
                        <a:rPr>
                          <a:latin typeface="Courier"/>
                        </a:rPr>
                        <a:t>.support_</a:t>
                      </a:r>
                      <a:r>
                        <a:rPr/>
                        <a:t>, </a:t>
                      </a:r>
                      <a:r>
                        <a:rPr>
                          <a:latin typeface="Courier"/>
                        </a:rPr>
                        <a:t>.dual_coef_</a:t>
                      </a:r>
                      <a:r>
                        <a:rPr/>
                        <a:t>, </a:t>
                      </a:r>
                      <a:r>
                        <a:rPr>
                          <a:latin typeface="Courier"/>
                        </a:rPr>
                        <a:t>.intercept_</a:t>
                      </a:r>
                      <a:r>
                        <a:rPr/>
                        <a:t> → +1.883</a:t>
                      </a:r>
                    </a:p>
                  </a:txBody>
                </a:tc>
              </a:tr>
              <a:tr h="0">
                <a:tc>
                  <a:txBody>
                    <a:bodyPr/>
                    <a:lstStyle/>
                    <a:p>
                      <a:pPr lvl="0" indent="0" marL="0">
                        <a:buNone/>
                      </a:pPr>
                      <a:r>
                        <a:rPr/>
                        <a:t>gamma and C, 62-64</a:t>
                      </a:r>
                    </a:p>
                  </a:txBody>
                </a:tc>
                <a:tc>
                  <a:txBody>
                    <a:bodyPr/>
                    <a:lstStyle/>
                    <a:p>
                      <a:pPr lvl="0" indent="0" marL="0">
                        <a:buNone/>
                      </a:pPr>
                      <a:r>
                        <a:rPr>
                          <a:latin typeface="Courier"/>
                        </a:rPr>
                        <a:t>SVC(gamma=..., C=...)</a:t>
                      </a:r>
                      <a:r>
                        <a:rPr/>
                        <a:t> in the pipeline → 0.944 at γ = 1</a:t>
                      </a:r>
                    </a:p>
                  </a:txBody>
                </a:tc>
              </a:tr>
            </a:tbl>
          </a:graphicData>
        </a:graphic>
      </p:graphicFrame>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three compared, on identical data</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Model</a:t>
                      </a:r>
                    </a:p>
                  </a:txBody>
                  <a:tcPr/>
                </a:tc>
                <a:tc>
                  <a:txBody>
                    <a:bodyPr/>
                    <a:lstStyle/>
                    <a:p>
                      <a:pPr lvl="0" indent="0" marL="0">
                        <a:buNone/>
                      </a:pPr>
                      <a:r>
                        <a:rPr/>
                        <a:t>Accuracy</a:t>
                      </a:r>
                    </a:p>
                  </a:txBody>
                  <a:tcPr/>
                </a:tc>
              </a:tr>
              <a:tr h="0">
                <a:tc>
                  <a:txBody>
                    <a:bodyPr/>
                    <a:lstStyle/>
                    <a:p>
                      <a:pPr lvl="0" indent="0" marL="0">
                        <a:buNone/>
                      </a:pPr>
                      <a:r>
                        <a:rPr/>
                        <a:t>Majority baseline</a:t>
                      </a:r>
                    </a:p>
                  </a:txBody>
                </a:tc>
                <a:tc>
                  <a:txBody>
                    <a:bodyPr/>
                    <a:lstStyle/>
                    <a:p>
                      <a:pPr lvl="0" indent="0" marL="0">
                        <a:buNone/>
                      </a:pPr>
                      <a:r>
                        <a:rPr/>
                        <a:t>0.613</a:t>
                      </a:r>
                    </a:p>
                  </a:txBody>
                </a:tc>
              </a:tr>
              <a:tr h="0">
                <a:tc>
                  <a:txBody>
                    <a:bodyPr/>
                    <a:lstStyle/>
                    <a:p>
                      <a:pPr lvl="0" indent="0" marL="0">
                        <a:buNone/>
                      </a:pPr>
                      <a:r>
                        <a:rPr/>
                        <a:t>Logistic regression (lesson 4)</a:t>
                      </a:r>
                    </a:p>
                  </a:txBody>
                </a:tc>
                <a:tc>
                  <a:txBody>
                    <a:bodyPr/>
                    <a:lstStyle/>
                    <a:p>
                      <a:pPr lvl="0" indent="0" marL="0">
                        <a:buNone/>
                      </a:pPr>
                      <a:r>
                        <a:rPr/>
                        <a:t>0.613</a:t>
                      </a:r>
                    </a:p>
                  </a:txBody>
                </a:tc>
              </a:tr>
              <a:tr h="0">
                <a:tc>
                  <a:txBody>
                    <a:bodyPr/>
                    <a:lstStyle/>
                    <a:p>
                      <a:pPr lvl="0" indent="0" marL="0">
                        <a:buNone/>
                      </a:pPr>
                      <a:r>
                        <a:rPr/>
                        <a:t>SVM, linear kernel</a:t>
                      </a:r>
                    </a:p>
                  </a:txBody>
                </a:tc>
                <a:tc>
                  <a:txBody>
                    <a:bodyPr/>
                    <a:lstStyle/>
                    <a:p>
                      <a:pPr lvl="0" indent="0" marL="0">
                        <a:buNone/>
                      </a:pPr>
                      <a:r>
                        <a:rPr/>
                        <a:t>0.613</a:t>
                      </a:r>
                    </a:p>
                  </a:txBody>
                </a:tc>
              </a:tr>
              <a:tr h="0">
                <a:tc>
                  <a:txBody>
                    <a:bodyPr/>
                    <a:lstStyle/>
                    <a:p>
                      <a:pPr lvl="0" indent="0" marL="0">
                        <a:buNone/>
                      </a:pPr>
                      <a:r>
                        <a:rPr/>
                        <a:t>Gaussian Naive Bayes</a:t>
                      </a:r>
                    </a:p>
                  </a:txBody>
                </a:tc>
                <a:tc>
                  <a:txBody>
                    <a:bodyPr/>
                    <a:lstStyle/>
                    <a:p>
                      <a:pPr lvl="0" indent="0" marL="0">
                        <a:buNone/>
                      </a:pPr>
                      <a:r>
                        <a:rPr/>
                        <a:t>0.933</a:t>
                      </a:r>
                    </a:p>
                  </a:txBody>
                </a:tc>
              </a:tr>
              <a:tr h="0">
                <a:tc>
                  <a:txBody>
                    <a:bodyPr/>
                    <a:lstStyle/>
                    <a:p>
                      <a:pPr lvl="0" indent="0" marL="0">
                        <a:buNone/>
                      </a:pPr>
                      <a:r>
                        <a:rPr/>
                        <a:t>k-NN, k = 5</a:t>
                      </a:r>
                    </a:p>
                  </a:txBody>
                </a:tc>
                <a:tc>
                  <a:txBody>
                    <a:bodyPr/>
                    <a:lstStyle/>
                    <a:p>
                      <a:pPr lvl="0" indent="0" marL="0">
                        <a:buNone/>
                      </a:pPr>
                      <a:r>
                        <a:rPr/>
                        <a:t>0.944</a:t>
                      </a:r>
                    </a:p>
                  </a:txBody>
                </a:tc>
              </a:tr>
              <a:tr h="0">
                <a:tc>
                  <a:txBody>
                    <a:bodyPr/>
                    <a:lstStyle/>
                    <a:p>
                      <a:pPr lvl="0" indent="0" marL="0">
                        <a:buNone/>
                      </a:pPr>
                      <a:r>
                        <a:rPr/>
                        <a:t>SVM, RBF kernel</a:t>
                      </a:r>
                    </a:p>
                  </a:txBody>
                </a:tc>
                <a:tc>
                  <a:txBody>
                    <a:bodyPr/>
                    <a:lstStyle/>
                    <a:p>
                      <a:pPr lvl="0" indent="0" marL="0">
                        <a:buNone/>
                      </a:pPr>
                      <a:r>
                        <a:rPr b="1"/>
                        <a:t>0.947</a:t>
                      </a:r>
                    </a:p>
                  </a:txBody>
                </a:tc>
              </a:tr>
              <a:tr h="0">
                <a:tc>
                  <a:txBody>
                    <a:bodyPr/>
                    <a:lstStyle/>
                    <a:p>
                      <a:pPr lvl="0" indent="0" marL="0">
                        <a:buNone/>
                      </a:pPr>
                      <a:r>
                        <a:rPr i="1"/>
                        <a:t>noise ceiling</a:t>
                      </a:r>
                    </a:p>
                  </a:txBody>
                </a:tc>
                <a:tc>
                  <a:txBody>
                    <a:bodyPr/>
                    <a:lstStyle/>
                    <a:p>
                      <a:pPr lvl="0" indent="0" marL="0">
                        <a:buNone/>
                      </a:pPr>
                      <a:r>
                        <a:rPr i="1"/>
                        <a:t>≈ 0.96</a:t>
                      </a:r>
                    </a:p>
                  </a:txBody>
                </a:tc>
              </a:tr>
            </a:tbl>
          </a:graphicData>
        </a:graphic>
      </p:graphicFrame>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How to choose, in practice</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Situation</a:t>
                      </a:r>
                    </a:p>
                  </a:txBody>
                  <a:tcPr/>
                </a:tc>
                <a:tc>
                  <a:txBody>
                    <a:bodyPr/>
                    <a:lstStyle/>
                    <a:p>
                      <a:pPr lvl="0" indent="0" marL="0">
                        <a:buNone/>
                      </a:pPr>
                      <a:r>
                        <a:rPr/>
                        <a:t>Reach for</a:t>
                      </a:r>
                    </a:p>
                  </a:txBody>
                  <a:tcPr/>
                </a:tc>
              </a:tr>
              <a:tr h="0">
                <a:tc>
                  <a:txBody>
                    <a:bodyPr/>
                    <a:lstStyle/>
                    <a:p>
                      <a:pPr lvl="0" indent="0" marL="0">
                        <a:buNone/>
                      </a:pPr>
                      <a:r>
                        <a:rPr/>
                        <a:t>Few features, plenty of data, odd-shaped boundary</a:t>
                      </a:r>
                    </a:p>
                  </a:txBody>
                </a:tc>
                <a:tc>
                  <a:txBody>
                    <a:bodyPr/>
                    <a:lstStyle/>
                    <a:p>
                      <a:pPr lvl="0" indent="0" marL="0">
                        <a:buNone/>
                      </a:pPr>
                      <a:r>
                        <a:rPr/>
                        <a:t>k-NN, or an RBF SVM</a:t>
                      </a:r>
                    </a:p>
                  </a:txBody>
                </a:tc>
              </a:tr>
              <a:tr h="0">
                <a:tc>
                  <a:txBody>
                    <a:bodyPr/>
                    <a:lstStyle/>
                    <a:p>
                      <a:pPr lvl="0" indent="0" marL="0">
                        <a:buNone/>
                      </a:pPr>
                      <a:r>
                        <a:rPr/>
                        <a:t>Very many features, little data</a:t>
                      </a:r>
                    </a:p>
                  </a:txBody>
                </a:tc>
                <a:tc>
                  <a:txBody>
                    <a:bodyPr/>
                    <a:lstStyle/>
                    <a:p>
                      <a:pPr lvl="0" indent="0" marL="0">
                        <a:buNone/>
                      </a:pPr>
                      <a:r>
                        <a:rPr/>
                        <a:t>Naive Bayes</a:t>
                      </a:r>
                    </a:p>
                  </a:txBody>
                </a:tc>
              </a:tr>
              <a:tr h="0">
                <a:tc>
                  <a:txBody>
                    <a:bodyPr/>
                    <a:lstStyle/>
                    <a:p>
                      <a:pPr lvl="0" indent="0" marL="0">
                        <a:buNone/>
                      </a:pPr>
                      <a:r>
                        <a:rPr/>
                        <a:t>Need a calibrated probability</a:t>
                      </a:r>
                    </a:p>
                  </a:txBody>
                </a:tc>
                <a:tc>
                  <a:txBody>
                    <a:bodyPr/>
                    <a:lstStyle/>
                    <a:p>
                      <a:pPr lvl="0" indent="0" marL="0">
                        <a:buNone/>
                      </a:pPr>
                      <a:r>
                        <a:rPr b="1"/>
                        <a:t>Not</a:t>
                      </a:r>
                      <a:r>
                        <a:rPr/>
                        <a:t> Naive Bayes</a:t>
                      </a:r>
                    </a:p>
                  </a:txBody>
                </a:tc>
              </a:tr>
              <a:tr h="0">
                <a:tc>
                  <a:txBody>
                    <a:bodyPr/>
                    <a:lstStyle/>
                    <a:p>
                      <a:pPr lvl="0" indent="0" marL="0">
                        <a:buNone/>
                      </a:pPr>
                      <a:r>
                        <a:rPr/>
                        <a:t>Model must be small, or fast at prediction</a:t>
                      </a:r>
                    </a:p>
                  </a:txBody>
                </a:tc>
                <a:tc>
                  <a:txBody>
                    <a:bodyPr/>
                    <a:lstStyle/>
                    <a:p>
                      <a:pPr lvl="0" indent="0" marL="0">
                        <a:buNone/>
                      </a:pPr>
                      <a:r>
                        <a:rPr/>
                        <a:t>SVM, not k-NN</a:t>
                      </a:r>
                    </a:p>
                  </a:txBody>
                </a:tc>
              </a:tr>
              <a:tr h="0">
                <a:tc>
                  <a:txBody>
                    <a:bodyPr/>
                    <a:lstStyle/>
                    <a:p>
                      <a:pPr lvl="0" indent="0" marL="0">
                        <a:buNone/>
                      </a:pPr>
                      <a:r>
                        <a:rPr/>
                        <a:t>The signal is an interaction between features</a:t>
                      </a:r>
                    </a:p>
                  </a:txBody>
                </a:tc>
                <a:tc>
                  <a:txBody>
                    <a:bodyPr/>
                    <a:lstStyle/>
                    <a:p>
                      <a:pPr lvl="0" indent="0" marL="0">
                        <a:buNone/>
                      </a:pPr>
                      <a:r>
                        <a:rPr/>
                        <a:t>k-NN or a kernel</a:t>
                      </a:r>
                    </a:p>
                  </a:txBody>
                </a:tc>
              </a:tr>
            </a:tbl>
          </a:graphicData>
        </a:graphic>
      </p:graphicFrame>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What to take away</a:t>
            </a:r>
          </a:p>
        </p:txBody>
      </p:sp>
      <p:sp>
        <p:nvSpPr>
          <p:cNvPr id="3" name="Content Placeholder 2"/>
          <p:cNvSpPr>
            <a:spLocks noGrp="1"/>
          </p:cNvSpPr>
          <p:nvPr>
            <p:ph idx="1"/>
          </p:nvPr>
        </p:nvSpPr>
        <p:spPr>
          <a:xfrm>
            <a:off x="457200" y="1200151"/>
            <a:ext cx="8229600" cy="3394472"/>
          </a:xfrm>
        </p:spPr>
        <p:txBody>
          <a:bodyPr/>
          <a:lstStyle/>
          <a:p>
            <a:pPr lvl="0"/>
            <a:r>
              <a:rPr b="1"/>
              <a:t>No line separates the pumps</a:t>
            </a:r>
            <a:r>
              <a:rPr/>
              <a:t>: 0.613, the base rate</a:t>
            </a:r>
          </a:p>
          <a:p>
            <a:pPr lvl="0"/>
            <a:r>
              <a:rPr b="1"/>
              <a:t>k is the bias-variance dial</a:t>
            </a:r>
            <a:r>
              <a:rPr/>
              <a:t>, made visible</a:t>
            </a:r>
          </a:p>
          <a:p>
            <a:pPr lvl="0"/>
            <a:r>
              <a:rPr b="1"/>
              <a:t>In 100 dimensions the nearest point is 70% as far as the farthest</a:t>
            </a:r>
          </a:p>
          <a:p>
            <a:pPr lvl="0"/>
            <a:r>
              <a:rPr b="1"/>
              <a:t>Naive Bayes</a:t>
            </a:r>
            <a:r>
              <a:rPr/>
              <a:t>: 0.933 where its false assumption is cheap, </a:t>
            </a:r>
            <a:r>
              <a:rPr b="1"/>
              <a:t>0.404</a:t>
            </a:r>
            <a:r>
              <a:rPr/>
              <a:t> where not</a:t>
            </a:r>
          </a:p>
          <a:p>
            <a:pPr lvl="0"/>
            <a:r>
              <a:rPr b="1"/>
              <a:t>Choosing the family beats tuning the wrong one</a:t>
            </a:r>
            <a:r>
              <a:rPr/>
              <a:t>: 0.613 to 0.947</a:t>
            </a:r>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Homework</a:t>
            </a:r>
          </a:p>
        </p:txBody>
      </p:sp>
      <p:sp>
        <p:nvSpPr>
          <p:cNvPr id="3" name="Content Placeholder 2"/>
          <p:cNvSpPr>
            <a:spLocks noGrp="1"/>
          </p:cNvSpPr>
          <p:nvPr>
            <p:ph idx="1"/>
          </p:nvPr>
        </p:nvSpPr>
        <p:spPr>
          <a:xfrm>
            <a:off x="457200" y="1200151"/>
            <a:ext cx="8229600" cy="3394472"/>
          </a:xfrm>
        </p:spPr>
        <p:txBody>
          <a:bodyPr/>
          <a:lstStyle/>
          <a:p>
            <a:pPr lvl="0"/>
            <a:r>
              <a:rPr b="1"/>
              <a:t>Exercise 6</a:t>
            </a:r>
            <a:r>
              <a:rPr/>
              <a:t>, discussed at the start of </a:t>
            </a:r>
            <a:r>
              <a:rPr b="1"/>
              <a:t>Friday 13 November</a:t>
            </a:r>
          </a:p>
          <a:p>
            <a:pPr lvl="0"/>
            <a:r>
              <a:rPr/>
              <a:t>A dataset, three families, and a defence of which one you chose</a:t>
            </a:r>
          </a:p>
        </p:txBody>
      </p:sp>
    </p:spTree>
  </p:cSld>
</p:sld>
</file>

<file path=ppt/theme/theme1.xml><?xml version="1.0" encoding="utf-8"?>
<a:theme xmlns:a="http://schemas.openxmlformats.org/drawingml/2006/main" name="Office Theme">
  <a:themeElements>
    <a:clrScheme name="Office">
      <a:dk1>
        <a:sysClr val="windowText" lastClr="1A1A1A"/>
      </a:dk1>
      <a:lt1>
        <a:sysClr val="window" lastClr="FFFFFF"/>
      </a:lt1>
      <a:dk2>
        <a:srgbClr val="1F497D"/>
      </a:dk2>
      <a:lt2>
        <a:srgbClr val="EEECE1"/>
      </a:lt2>
      <a:accent1>
        <a:srgbClr val="1F4E79"/>
      </a:accent1>
      <a:accent2>
        <a:srgbClr val="2E7D8A"/>
      </a:accent2>
      <a:accent3>
        <a:srgbClr val="F0BE50"/>
      </a:accent3>
      <a:accent4>
        <a:srgbClr val="4A5568"/>
      </a:accent4>
      <a:accent5>
        <a:srgbClr val="9C4221"/>
      </a:accent5>
      <a:accent6>
        <a:srgbClr val="1A1A1A"/>
      </a:accent6>
      <a:hlink>
        <a:srgbClr val="0000FF"/>
      </a:hlink>
      <a:folHlink>
        <a:srgbClr val="800080"/>
      </a:folHlink>
    </a:clrScheme>
    <a:fontScheme name="Office">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1A1A1A"/>
      </a:dk1>
      <a:lt1>
        <a:sysClr val="window" lastClr="FFFFFF"/>
      </a:lt1>
      <a:dk2>
        <a:srgbClr val="44546A"/>
      </a:dk2>
      <a:lt2>
        <a:srgbClr val="E7E6E6"/>
      </a:lt2>
      <a:accent1>
        <a:srgbClr val="1F4E79"/>
      </a:accent1>
      <a:accent2>
        <a:srgbClr val="2E7D8A"/>
      </a:accent2>
      <a:accent3>
        <a:srgbClr val="F0BE50"/>
      </a:accent3>
      <a:accent4>
        <a:srgbClr val="4A5568"/>
      </a:accent4>
      <a:accent5>
        <a:srgbClr val="9C4221"/>
      </a:accent5>
      <a:accent6>
        <a:srgbClr val="1A1A1A"/>
      </a:accent6>
      <a:hlink>
        <a:srgbClr val="0563C1"/>
      </a:hlink>
      <a:folHlink>
        <a:srgbClr val="954F72"/>
      </a:folHlink>
    </a:clrScheme>
    <a:fontScheme name="Office">
      <a:majorFont>
        <a:latin typeface="Segoe UI Semibold"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6: k-NN, Naive Bayes and Support Vector Machines</dc:title>
  <dc:creator>Fabio Antonini, Università degli Studi dell’Aquila</dc:creator>
  <cp:keywords/>
  <dcterms:created xsi:type="dcterms:W3CDTF">1980-01-01T00:00:00Z</dcterms:created>
  <dcterms:modified xsi:type="dcterms:W3CDTF">1980-01-01T00:00:00Z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6 November 2026</vt:lpwstr>
  </property>
  <property fmtid="{D5CDD505-2E9C-101B-9397-08002B2CF9AE}" pid="3" name="subtitle">
    <vt:lpwstr>Technologies for Artificial Intelligence</vt:lpwstr>
  </property>
</Properties>
</file>