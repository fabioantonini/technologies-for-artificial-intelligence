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a bell with a standard deviation of 0.219 bar peaks at about 1.82.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Inside the bracket on the left is the classifier as slides 26 and 28 built it: prior times one density per reading, the class with the largest product winning. The equation says its log is a sum, and the title says why that is allowed: ln is increasing, so the class with the largest product is also the class with the largest log. The logs are natural logs - base e - which matters two slides on, when we undo them with e. Say why nobody computes the left-hand side directly. With hundreds of features the product is hundreds of small numbers multiplied together, and it underflows to exactly zero in floating point - 0.5 to the power 300 is already 5 times 10 to the minus 91, and real likelihoods are far smaller than 0.5. Every class then scores zero and nothing can be compared.</a:t>
            </a:r>
          </a:p>
          <a:p>
            <a:pPr lvl="0" indent="0" marL="0">
              <a:buNone/>
            </a:pPr>
          </a:p>
          <a:p>
            <a:pPr lvl="0" indent="0" marL="0">
              <a:buNone/>
            </a:pPr>
            <a:r>
              <a:rPr/>
              <a:t>Two facts fix it. The logarithm is increasing, so whichever class has the larger product also has the larger log: the arg max does not change. And the log of a product is the sum of the logs. So: add one log per reading to the log prior, and compare the sums. This is lesson 4’s log-likelihood, for the same reason.</a:t>
            </a:r>
          </a:p>
          <a:p>
            <a:pPr lvl="0" indent="0" marL="0">
              <a:buNone/>
            </a:pPr>
          </a:p>
          <a:p>
            <a:pPr lvl="0" indent="0" marL="0">
              <a:buNone/>
            </a:pPr>
            <a:r>
              <a:rPr/>
              <a:t>Show it on the 48 Hz pump before the table, so the table is not a surprise. Healthy: 0.3875 times 0.000433 times 1.818 = 0.000305; in logs, −0.948 − 7.745 + 0.598 = −8.095, and e^(−8.095) is the same 0.000305. Faulty: 0.6125 times 0.0374 times 0.692 = 0.01585; in logs, −4.144. The next slide is exactly those numbers.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Read each class as two rows. The value row is the product form: the prior from slide 30, and the height of that class’s bell at each reading - the dots on slide 31 - each density conditional on the class. Multiply across and you get the score. The ln row is the same numbers logged, and the sum across is the log score. The last column is the point of the previous slide: e^(−8.095) is 0.000305, so the sum of logs and the product carry the same information.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in the title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one row each, and both classes side by side so they can see the two probabilities come out of the same arithmetic.</a:t>
            </a:r>
          </a:p>
          <a:p>
            <a:pPr lvl="0" indent="0" marL="0">
              <a:buNone/>
            </a:pPr>
          </a:p>
          <a:p>
            <a:pPr lvl="0" indent="0" marL="0">
              <a:buNone/>
            </a:pPr>
            <a:r>
              <a:rPr/>
              <a:t>Row 1 is the table they just read. Row 2 undoes the logarithm: e to the total gives back the Bayes numerator, prior times the two densities - the product from two slides ago, 0.3875 times 0.000433 times 1.818 = 0.000305 for healthy, and 0.01585 for faulty. These are the unnormalised scores of slide 26.</a:t>
            </a:r>
          </a:p>
          <a:p>
            <a:pPr lvl="0" indent="0" marL="0">
              <a:buNone/>
            </a:pPr>
          </a:p>
          <a:p>
            <a:pPr lvl="0" indent="0" marL="0">
              <a:buNone/>
            </a:pPr>
            <a:r>
              <a:rPr/>
              <a:t>Row 3 is slide 26’s normalisation, now with numbers. Why the sum of the two scores is P(x): by the law of total probability a pump’s readings arise either from a healthy pump or from a faulty one, so P(x) = P(healthy) P(x | healthy) + P(faulty) P(x | faulty) - the two scores added. It is the denominator of slide 25’s Bayes’ rule, the one we dropped to choose the class. Dividing each score by it gives probabilities that add to one: 0.000305 / 0.01616 = 0.019 for healthy, 0.01585 / 0.01616 = 0.981 for faulty. Ask them to check the two add to one before moving on.</a:t>
            </a:r>
          </a:p>
          <a:p>
            <a:pPr lvl="0" indent="0" marL="0">
              <a:buNone/>
            </a:pPr>
          </a:p>
          <a:p>
            <a:pPr lvl="0" indent="0" marL="0">
              <a:buNone/>
            </a:pPr>
            <a:r>
              <a:rPr/>
              <a:t>The next slide shows the same numbers computed from the gap alone, and why that is the form software uses.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result as the previous slide, reached without ever computing the two scores. Walk the first bullet slowly: dividing the numerator and the denominator of 0.01585 / (0.01585 + 0.000305) by 0.01585 leaves the fraction unchanged and turns it into 1 / (1 + 0.000305 / 0.01585).</a:t>
            </a:r>
          </a:p>
          <a:p>
            <a:pPr lvl="0" indent="0" marL="0">
              <a:buNone/>
            </a:pPr>
          </a:p>
          <a:p>
            <a:pPr lvl="0" indent="0" marL="0">
              <a:buNone/>
            </a:pPr>
            <a:r>
              <a:rPr/>
              <a:t>The second bullet is where the gap appears. The two scores are e to their totals, and a ratio of exponentials is an exponential of the difference, e^a / e^b = e^(a - b). So the ratio of the scores is e^(−8.095 + 4.144) = e^(−3.951) = 0.0192. Neither total matters on its own - only how far apart they are.</a:t>
            </a:r>
          </a:p>
          <a:p>
            <a:pPr lvl="0" indent="0" marL="0">
              <a:buNone/>
            </a:pPr>
          </a:p>
          <a:p>
            <a:pPr lvl="0" indent="0" marL="0">
              <a:buNone/>
            </a:pPr>
            <a:r>
              <a:rPr/>
              <a:t>Why software uses this form, and it is the answer to “why the gap”: with two features the scores are ordinary numbers and the previous slide works fine. With hundreds of features the totals reach −800, e^(−800) is exactly zero in floating point, and the direct fraction becomes 0/0. The gap stays an ordinary number, so the probability can always be computed.</a:t>
            </a:r>
          </a:p>
          <a:p>
            <a:pPr lvl="0" indent="0" marL="0">
              <a:buNone/>
            </a:pPr>
          </a:p>
          <a:p>
            <a:pPr lvl="0" indent="0" marL="0">
              <a:buNone/>
            </a:pPr>
            <a:r>
              <a:rPr/>
              <a:t>Then the reading that makes it obvious. The gap is the log-odds: e^3.951 is about 52, so faulty is 52 times as likely as healthy. Odds of 52 to 1 split the probability 52/53 = 0.981 and 1/53 = 0.019, the way anyone would for a bet. 1 / (1 + e^(−Δ)) is lesson 4’s sigmoid - odds over odds plus one, rewritten.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the pressure of a faulty pump has a standard deviation of 0.784 when its vibration is extreme (the fifth furthest out, beyond 6.2 Hz from the centre) and 1.309 when it is not - 0.37 against 0.62 bar, same average, very different spread. Put the distinction on the board in two lines: uncorrelated, yes; independent, no. Naive Bayes assumes the second. The assumption is false.</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Sixteen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2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Add the natural logs: same winner</a:t>
            </a:r>
          </a:p>
        </p:txBody>
      </p:sp>
      <p:pic>
        <p:nvPicPr>
          <p:cNvPr descr="eq_bcbcc80b6d.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scores and their logs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endParaRPr/>
                    </a:p>
                  </a:txBody>
                  <a:tcPr/>
                </a:tc>
                <a:tc>
                  <a:txBody>
                    <a:bodyPr/>
                    <a:lstStyle/>
                    <a:p>
                      <a:pPr lvl="0" indent="0" marL="0">
                        <a:buNone/>
                      </a:pPr>
                      <a:r>
                        <a:rPr/>
                        <a:t>Prior</a:t>
                      </a:r>
                    </a:p>
                  </a:txBody>
                  <a:tcPr/>
                </a:tc>
                <a:tc>
                  <a:txBody>
                    <a:bodyPr/>
                    <a:lstStyle/>
                    <a:p>
                      <a:pPr lvl="0" indent="0" marL="0">
                        <a:buNone/>
                      </a:pPr>
                      <a:r>
                        <a:rPr/>
                        <a:t>Vibration density</a:t>
                      </a:r>
                    </a:p>
                  </a:txBody>
                  <a:tcPr/>
                </a:tc>
                <a:tc>
                  <a:txBody>
                    <a:bodyPr/>
                    <a:lstStyle/>
                    <a:p>
                      <a:pPr lvl="0" indent="0" marL="0">
                        <a:buNone/>
                      </a:pPr>
                      <a:r>
                        <a:rPr/>
                        <a:t>Pressure density</a:t>
                      </a:r>
                    </a:p>
                  </a:txBody>
                  <a:tcPr/>
                </a:tc>
                <a:tc>
                  <a:txBody>
                    <a:bodyPr/>
                    <a:lstStyle/>
                    <a:p>
                      <a:pPr lvl="0" indent="0" marL="0">
                        <a:buNone/>
                      </a:pPr>
                      <a:r>
                        <a:rPr/>
                        <a:t>Product, or sum of logs</a:t>
                      </a:r>
                    </a:p>
                  </a:txBody>
                  <a:tcPr/>
                </a:tc>
              </a:tr>
              <a:tr h="0">
                <a:tc>
                  <a:txBody>
                    <a:bodyPr/>
                    <a:lstStyle/>
                    <a:p>
                      <a:pPr lvl="0" indent="0" marL="0">
                        <a:buNone/>
                      </a:pPr>
                      <a:r>
                        <a:rPr/>
                        <a:t>Healthy</a:t>
                      </a:r>
                    </a:p>
                  </a:txBody>
                </a:tc>
                <a:tc>
                  <a:txBody>
                    <a:bodyPr/>
                    <a:lstStyle/>
                    <a:p>
                      <a:pPr lvl="0" indent="0" marL="0">
                        <a:buNone/>
                      </a:pPr>
                      <a:r>
                        <a:rPr/>
                        <a:t>value</a:t>
                      </a:r>
                    </a:p>
                  </a:txBody>
                </a:tc>
                <a:tc>
                  <a:txBody>
                    <a:bodyPr/>
                    <a:lstStyle/>
                    <a:p>
                      <a:pPr lvl="0" indent="0" marL="0">
                        <a:buNone/>
                      </a:pPr>
                      <a:r>
                        <a:rPr/>
                        <a:t>0.3875</a:t>
                      </a:r>
                    </a:p>
                  </a:txBody>
                </a:tc>
                <a:tc>
                  <a:txBody>
                    <a:bodyPr/>
                    <a:lstStyle/>
                    <a:p>
                      <a:pPr lvl="0" indent="0" marL="0">
                        <a:buNone/>
                      </a:pPr>
                      <a:r>
                        <a:rPr/>
                        <a:t>0.000433</a:t>
                      </a:r>
                    </a:p>
                  </a:txBody>
                </a:tc>
                <a:tc>
                  <a:txBody>
                    <a:bodyPr/>
                    <a:lstStyle/>
                    <a:p>
                      <a:pPr lvl="0" indent="0" marL="0">
                        <a:buNone/>
                      </a:pPr>
                      <a:r>
                        <a:rPr/>
                        <a:t>1.818</a:t>
                      </a:r>
                    </a:p>
                  </a:txBody>
                </a:tc>
                <a:tc>
                  <a:txBody>
                    <a:bodyPr/>
                    <a:lstStyle/>
                    <a:p>
                      <a:pPr lvl="0" indent="0" marL="0">
                        <a:buNone/>
                      </a:pPr>
                      <a:r>
                        <a:rPr/>
                        <a:t>0.000305</a:t>
                      </a:r>
                    </a:p>
                  </a:txBody>
                </a:tc>
              </a:tr>
              <a:tr h="0">
                <a:tc>
                  <a:txBody>
                    <a:bodyPr/>
                    <a:lstStyle/>
                    <a:p>
                      <a:pPr lvl="0" indent="0" marL="0">
                        <a:buNone/>
                      </a:pPr>
                      <a:r>
                        <a:rPr/>
                        <a:t>Healthy</a:t>
                      </a:r>
                    </a:p>
                  </a:txBody>
                </a:tc>
                <a:tc>
                  <a:txBody>
                    <a:bodyPr/>
                    <a:lstStyle/>
                    <a:p>
                      <a:pPr lvl="0" indent="0" marL="0">
                        <a:buNone/>
                      </a:pPr>
                      <a:r>
                        <a:rPr/>
                        <a:t>ln</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value</a:t>
                      </a:r>
                    </a:p>
                  </a:txBody>
                </a:tc>
                <a:tc>
                  <a:txBody>
                    <a:bodyPr/>
                    <a:lstStyle/>
                    <a:p>
                      <a:pPr lvl="0" indent="0" marL="0">
                        <a:buNone/>
                      </a:pPr>
                      <a:r>
                        <a:rPr/>
                        <a:t>0.6125</a:t>
                      </a:r>
                    </a:p>
                  </a:txBody>
                </a:tc>
                <a:tc>
                  <a:txBody>
                    <a:bodyPr/>
                    <a:lstStyle/>
                    <a:p>
                      <a:pPr lvl="0" indent="0" marL="0">
                        <a:buNone/>
                      </a:pPr>
                      <a:r>
                        <a:rPr/>
                        <a:t>0.0374</a:t>
                      </a:r>
                    </a:p>
                  </a:txBody>
                </a:tc>
                <a:tc>
                  <a:txBody>
                    <a:bodyPr/>
                    <a:lstStyle/>
                    <a:p>
                      <a:pPr lvl="0" indent="0" marL="0">
                        <a:buNone/>
                      </a:pPr>
                      <a:r>
                        <a:rPr/>
                        <a:t>0.692</a:t>
                      </a:r>
                    </a:p>
                  </a:txBody>
                </a:tc>
                <a:tc>
                  <a:txBody>
                    <a:bodyPr/>
                    <a:lstStyle/>
                    <a:p>
                      <a:pPr lvl="0" indent="0" marL="0">
                        <a:buNone/>
                      </a:pPr>
                      <a:r>
                        <a:rPr/>
                        <a:t>0.01585</a:t>
                      </a:r>
                    </a:p>
                  </a:txBody>
                </a:tc>
              </a:tr>
              <a:tr h="0">
                <a:tc>
                  <a:txBody>
                    <a:bodyPr/>
                    <a:lstStyle/>
                    <a:p>
                      <a:pPr lvl="0" indent="0" marL="0">
                        <a:buNone/>
                      </a:pPr>
                      <a:r>
                        <a:rPr/>
                        <a:t>Faulty</a:t>
                      </a:r>
                    </a:p>
                  </a:txBody>
                </a:tc>
                <a:tc>
                  <a:txBody>
                    <a:bodyPr/>
                    <a:lstStyle/>
                    <a:p>
                      <a:pPr lvl="0" indent="0" marL="0">
                        <a:buNone/>
                      </a:pPr>
                      <a:r>
                        <a:rPr/>
                        <a:t>ln</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probabilities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Step</a:t>
                      </a:r>
                    </a:p>
                  </a:txBody>
                  <a:tcPr/>
                </a:tc>
                <a:tc>
                  <a:txBody>
                    <a:bodyPr/>
                    <a:lstStyle/>
                    <a:p>
                      <a:pPr lvl="0" indent="0" marL="0">
                        <a:buNone/>
                      </a:pPr>
                      <a:r>
                        <a:rPr/>
                        <a:t>Healthy</a:t>
                      </a:r>
                    </a:p>
                  </a:txBody>
                  <a:tcPr/>
                </a:tc>
                <a:tc>
                  <a:txBody>
                    <a:bodyPr/>
                    <a:lstStyle/>
                    <a:p>
                      <a:pPr lvl="0" indent="0" marL="0">
                        <a:buNone/>
                      </a:pPr>
                      <a:r>
                        <a:rPr/>
                        <a:t>Faulty</a:t>
                      </a:r>
                    </a:p>
                  </a:txBody>
                  <a:tcPr/>
                </a:tc>
              </a:tr>
              <a:tr h="0">
                <a:tc>
                  <a:txBody>
                    <a:bodyPr/>
                    <a:lstStyle/>
                    <a:p>
                      <a:pPr lvl="0" indent="0" marL="0">
                        <a:buNone/>
                      </a:pPr>
                      <a:r>
                        <a:rPr/>
                        <a:t>1. Log total, previous slide</a:t>
                      </a:r>
                    </a:p>
                  </a:txBody>
                </a:tc>
                <a:tc>
                  <a:txBody>
                    <a:bodyPr/>
                    <a:lstStyle/>
                    <a:p>
                      <a:pPr lvl="0" indent="0" marL="0">
                        <a:buNone/>
                      </a:pPr>
                      <a:r>
                        <a:rPr/>
                        <a:t>−8.095</a:t>
                      </a:r>
                    </a:p>
                  </a:txBody>
                </a:tc>
                <a:tc>
                  <a:txBody>
                    <a:bodyPr/>
                    <a:lstStyle/>
                    <a:p>
                      <a:pPr lvl="0" indent="0" marL="0">
                        <a:buNone/>
                      </a:pPr>
                      <a:r>
                        <a:rPr/>
                        <a:t>−4.144</a:t>
                      </a:r>
                    </a:p>
                  </a:txBody>
                </a:tc>
              </a:tr>
              <a:tr h="0">
                <a:tc>
                  <a:txBody>
                    <a:bodyPr/>
                    <a:lstStyle/>
                    <a:p>
                      <a:pPr lvl="0" indent="0" marL="0">
                        <a:buNone/>
                      </a:pPr>
                      <a:r>
                        <a:rPr/>
                        <a:t>2. Undo the log: e^total = prior × densities</a:t>
                      </a:r>
                    </a:p>
                  </a:txBody>
                </a:tc>
                <a:tc>
                  <a:txBody>
                    <a:bodyPr/>
                    <a:lstStyle/>
                    <a:p>
                      <a:pPr lvl="0" indent="0" marL="0">
                        <a:buNone/>
                      </a:pPr>
                      <a:r>
                        <a:rPr/>
                        <a:t>0.000305</a:t>
                      </a:r>
                    </a:p>
                  </a:txBody>
                </a:tc>
                <a:tc>
                  <a:txBody>
                    <a:bodyPr/>
                    <a:lstStyle/>
                    <a:p>
                      <a:pPr lvl="0" indent="0" marL="0">
                        <a:buNone/>
                      </a:pPr>
                      <a:r>
                        <a:rPr/>
                        <a:t>0.01585</a:t>
                      </a:r>
                    </a:p>
                  </a:txBody>
                </a:tc>
              </a:tr>
              <a:tr h="0">
                <a:tc>
                  <a:txBody>
                    <a:bodyPr/>
                    <a:lstStyle/>
                    <a:p>
                      <a:pPr lvl="0" indent="0" marL="0">
                        <a:buNone/>
                      </a:pPr>
                      <a:r>
                        <a:rPr/>
                        <a:t>3. Divide by their sum: 0.01616 = P(x), by total probability</a:t>
                      </a:r>
                    </a:p>
                  </a:txBody>
                </a:tc>
                <a:tc>
                  <a:txBody>
                    <a:bodyPr/>
                    <a:lstStyle/>
                    <a:p>
                      <a:pPr lvl="0" indent="0" marL="0">
                        <a:buNone/>
                      </a:pPr>
                      <a:r>
                        <a:rPr b="1"/>
                        <a:t>0.019</a:t>
                      </a:r>
                    </a:p>
                  </a:txBody>
                </a:tc>
                <a:tc>
                  <a:txBody>
                    <a:bodyPr/>
                    <a:lstStyle/>
                    <a:p>
                      <a:pPr lvl="0" indent="0" marL="0">
                        <a:buNone/>
                      </a:pPr>
                      <a:r>
                        <a:rPr b="1"/>
                        <a:t>0.981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gap is enough</a:t>
            </a:r>
          </a:p>
        </p:txBody>
      </p:sp>
      <p:sp>
        <p:nvSpPr>
          <p:cNvPr id="3" name="Content Placeholder 2"/>
          <p:cNvSpPr>
            <a:spLocks noGrp="1"/>
          </p:cNvSpPr>
          <p:nvPr>
            <p:ph idx="1"/>
          </p:nvPr>
        </p:nvSpPr>
        <p:spPr>
          <a:xfrm>
            <a:off x="457200" y="1200151"/>
            <a:ext cx="8229600" cy="3394472"/>
          </a:xfrm>
        </p:spPr>
        <p:txBody>
          <a:bodyPr/>
          <a:lstStyle/>
          <a:p>
            <a:pPr lvl="0"/>
            <a:r>
              <a:rPr/>
              <a:t>Divide by the faulty score: 1 / (1 + healthy score ÷ faulty score)</a:t>
            </a:r>
          </a:p>
          <a:p>
            <a:pPr lvl="0"/>
            <a:r>
              <a:rPr/>
              <a:t>e^a ÷ e^b = e^(a − b), so the ratio is e^(−3.951) = 0.0192</a:t>
            </a:r>
          </a:p>
          <a:p>
            <a:pPr lvl="0"/>
            <a:r>
              <a:rPr/>
              <a:t>P(faulty) = 1 / 1.0192 = </a:t>
            </a:r>
            <a:r>
              <a:rPr b="1"/>
              <a:t>0.981</a:t>
            </a:r>
            <a:r>
              <a:rPr/>
              <a:t>; P(healthy) = 1 − 0.981 = </a:t>
            </a:r>
            <a:r>
              <a:rPr b="1"/>
              <a:t>0.019</a:t>
            </a:r>
          </a:p>
          <a:p>
            <a:pPr lvl="0"/>
            <a:r>
              <a:rPr/>
              <a:t>Odds: 0.01585 ÷ 0.000305 ≈ </a:t>
            </a:r>
            <a:r>
              <a:rPr b="1"/>
              <a:t>52 to 1</a:t>
            </a:r>
          </a:p>
          <a:p>
            <a:pPr lvl="0"/>
            <a:r>
              <a:rPr/>
              <a:t>With many features e^total = 0; the gap never underflows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Within class</a:t>
                      </a:r>
                    </a:p>
                  </a:txBody>
                  <a:tcPr/>
                </a:tc>
                <a:tc>
                  <a:txBody>
                    <a:bodyPr/>
                    <a:lstStyle/>
                    <a:p>
                      <a:pPr lvl="0" indent="0" marL="0">
                        <a:buNone/>
                      </a:pPr>
                      <a:r>
                        <a:rPr/>
                        <a:t>Readings</a:t>
                      </a:r>
                    </a:p>
                  </a:txBody>
                  <a:tcPr/>
                </a:tc>
                <a:tc>
                  <a:txBody>
                    <a:bodyPr/>
                    <a:lstStyle/>
                    <a:p>
                      <a:pPr lvl="0" indent="0" marL="0">
                        <a:buNone/>
                      </a:pPr>
                      <a:r>
                        <a:rPr/>
                        <a:t>Squared distances</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exactly zero for a point with room to spare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