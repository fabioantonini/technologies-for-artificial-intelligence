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What matters is how each student found the problems, not the final score, so ask the room what they found and listen for what they missed.</a:t>
            </a:r>
          </a:p>
          <a:p>
            <a:pPr lvl="0" indent="0" marL="0">
              <a:buNone/>
            </a:pPr>
          </a:p>
          <a:p>
            <a:pPr lvl="0" indent="0" marL="0">
              <a:buNone/>
            </a:pPr>
            <a:r>
              <a:rPr/>
              <a:t>The exercise hid more than one problem on purpose. Ask out loud how many people found the second one, and how many stopped after the first - stopping after the first is the common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tools built in lesson 5: cross-validation, baselines, training scores read against validation scores. Today adds three families of models, and each of them can produce a result that looks right and is not, in a way of its own.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and one sentence about the whole lesson that is worth saying slowly.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KIND OF MODEL TO USE. This is the first lesson that offers a choice, and learning how to choose is what the lesson is about.</a:t>
            </a:r>
          </a:p>
          <a:p>
            <a:pPr lvl="0" indent="0" marL="0">
              <a:buNone/>
            </a:pPr>
          </a:p>
          <a:p>
            <a:pPr lvl="0" indent="0" marL="0">
              <a:buNone/>
            </a:pPr>
            <a:r>
              <a:rPr/>
              <a:t>Stress that these are not three ways of doing the same thing. They attack classification from three unrelated directions: k-NN makes no assumptions and does no fitting at all; Naive Bayes makes an assumption that is usually false and works well anyway; the SVM changes the criterion for choosing a boundary, and then changes the coordinates the data is described in.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play the part of lesson 5’s irreducible noise: a model that learned the true rule perfectly would still get those pumps wrong. So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a ring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shape comes from how pumps fail, not from a wish to make the problem hard.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when k-NN uses a single neighbour,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clearest sign: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the model’s 0.613 would look like a mediocre result rather than what it is: no learning at all.</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Slides 15 to 21 answer it: a method with no assumptions has no way to ignore a useless column, and that turns out to be expensive.</a:t>
            </a:r>
          </a:p>
          <a:p>
            <a:pPr lvl="0" indent="0" marL="0">
              <a:buNone/>
            </a:pPr>
          </a:p>
          <a:p>
            <a:pPr lvl="0" indent="0" marL="0">
              <a:buNone/>
            </a:pPr>
            <a:r>
              <a:rPr/>
              <a:t>The sentence hides two decisions - what “closest” means, and how many neighbours k to use - and both change the result.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Distance is the only way the data reaches the method: there are no coefficients, no weights, nothing that could say one column matters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lesson 2 scaling looked like good housekeeping; here it is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alone decides which pumps are neighbours, and pressure has almost no effect.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on the training part of each fold only, as lesson 5 required.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split the error into bias and variance, and had to train the model on 300 different training sets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say nothing about how the model does on new data. Here the perfect score is guaranteed by how k = 1 works, whatever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difference between them is lesson 5’s warning about training scores, in a single row.</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otherwise they will spend a long search on a choice that hardly matters.</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high bias looks like: a model too simple to follow the data.</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A large gap between the two curves is a symptom of high variance; watch it close as k grows. Where the curves meet and then fall together, the variance is gone and bias has taken over: the model has become too smooth. The minimum of the honest curve sits just before that.</a:t>
            </a:r>
          </a:p>
          <a:p>
            <a:pPr lvl="0" indent="0" marL="0">
              <a:buNone/>
            </a:pPr>
          </a:p>
          <a:p>
            <a:pPr lvl="0" indent="0" marL="0">
              <a:buNone/>
            </a:pPr>
            <a:r>
              <a:rPr/>
              <a:t>Ask them which end of this plot they would have picked by looking at the training curve alone. The answer is the far left, k = 1, one of the worst models on the plot by its cross-validated score.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Why it grows rather than shrinks: with 401 votes, a pump just outside the envelope counts nearly the whole healthy disc among its neighbours - the healthy pumps are packed tightly in the middle - while the faulty pumps are spread thinly round the ring. So the healthy votes win outside the envelope too. The model no longer follows the boundary; it averages the votes across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there is a whole family of software for finding approximate nearest neighbours quickly. Mention that scikit-learn by default uses a k-d tree or a ball tree (data structures that avoid comparing the query with every row),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reason is on the next slides, and it is a property of distances in many dimensions, not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sum grows while its spread, relative to its size, shrinks: every distance ends up close to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most of the damage has already happened.</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today, which measures similarity through the same Euclidean distance.</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choose the features before any distance is computed, as a step inside the pipeline, so that the choice is made on the training part of each fold only - lesson 5’s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k-NN on the pumps, choosing k, and the curse of dimensionality measured. Run notebook 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If time runs short, do not skip the noise-column sweep. Let them add the columns themselves and watch the score cross the baseline - seeing it happen convinces more than reading the table.</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exchange is the whole idea.</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of dimensionality again, from a different direction: before the break it broke distances, here it breaks the estimation of a density.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does not make the probabilities less reliable. Where Naive Bayes’s probabilities do go wrong is inside the numerator, because of the assumption, and slide 43 shows it.</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on slide 38,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reason lesson 4 used the log-likelihood: a product of several hundred small probabilities is too small for the computer to store, and becomes exactly zero (this is called underflow).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before the break, in a new form.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it is a probability per unit of pressure, and a bell with a standard deviation of 0.219 bar has to peak at about 1.82 for its total area to be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on slide 34, when we undo them with e. Say why nobody computes the left-hand side directly. With hundreds of features the product is hundreds of small numbers multiplied together, and it becomes too small to store, exactly zero in floating point (underflow)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the whole of prediction (inference), and it is worth saying how little computation it needs.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of slide 30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intuitive. The gap is the log-odds, the logarithm of how many times more likely faulty is than healthy: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few methods tolerate ten thousand features on a few thousand rows as cheaply.</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To choose a class, the model only needs the right class to get the highest score, not the probabilities to be right.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show why that conclusion is wrong.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Take the faulty pumps whose vibration is most extreme - the fifth of them furthest from the centre, more than 6.2 Hz away - and their pressure has a standard deviation of 0.37 bar; for the other faulty pumps it is 0.62 bar. Same average pressure, very different spread, so knowing the vibration tells you something about the pressure.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accepted in exchange for a model of ten numbers, and the model is judged, like any other, by its validation score. That score asks for less than the assumption does. To classify correctly, the right class only has to get the higher score - the sign of the gap between the two log scores - and the densities do not have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about a tenth smaller.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fail.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only by chance, because the sample is finite.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accidental structure it can find in the sample. It is not even confident about it,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probability is pushed all the way to 0 or 1. Naive Bayes is famous for reporting 0.999 on problems it gets wrong a fifth of the time.</a:t>
            </a:r>
          </a:p>
          <a:p>
            <a:pPr lvl="0" indent="0" marL="0">
              <a:buNone/>
            </a:pPr>
          </a:p>
          <a:p>
            <a:pPr lvl="0" indent="0" marL="0">
              <a:buNone/>
            </a:pPr>
            <a:r>
              <a:rPr/>
              <a:t>Then lesson 4’s distinction (its slide 38), which this is the textbook case of: ranking and calibration - whether a reported 0.7 comes true 70% of the time -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its handout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Where breaking the assumption is cheap, and one step away where it is fatal. Run notebook 02. Sixteen minutes.</a:t>
            </a:r>
          </a:p>
          <a:p>
            <a:pPr lvl="0" indent="0" marL="0">
              <a:buNone/>
            </a:pPr>
          </a:p>
          <a:p>
            <a:pPr lvl="0" indent="0" marL="0">
              <a:buNone/>
            </a:pPr>
            <a:r>
              <a:rPr/>
              <a:t>If time runs short, keep the cell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fits the training data as well as possible and protects generalisation only indirectly, through a penalty or a validation score.</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strict (hard-margin) version is only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 with it the line became too wide to read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the first half of today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a:p>
            <a:pPr lvl="0" indent="0" marL="0">
              <a:buNone/>
            </a:pPr>
          </a:p>
          <a:p>
            <a:pPr lvl="0" indent="0" marL="0">
              <a:buNone/>
            </a:pPr>
            <a:r>
              <a:rPr/>
              <a:t>Be precise about what a large C does to the boundary. With a linear kernel the boundary and the two edges of the slab stay three parallel straight lines: a larger C can only make the slab narrower, or shift and rotate it, to classify more training points. It never bends it. With the RBF kernel the boundary can also bend around individual points, and slide 64 shows how far that goes when C and gamma are both large.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on slide 6,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score on the pumps in the whole lesson, and close to the 0.96 ceiling.</a:t>
            </a:r>
          </a:p>
          <a:p>
            <a:pPr lvl="0" indent="0" marL="0">
              <a:buNone/>
            </a:pPr>
          </a:p>
          <a:p>
            <a:pPr lvl="0" indent="0" marL="0">
              <a:buNone/>
            </a:pPr>
            <a:r>
              <a:rPr/>
              <a:t>The support-vector column says the same thing in a different way,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cannot draw the shape the classes need.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lesson: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inner products between points, which carry their lengths and the angles between them,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of slide 46 and handout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with the kernel substituted in: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Make explicit a distinction the earlier slides left open. The objective being solved here only ever evaluates K(x_i, x_j) between pairs of training pumps - the kernel matrix, m by m. The new pump, the one this model will eventually classify, appears nowhere in training. K(x_i, x), with x standing for any pump, is the prediction formula on the next slide: same function, but its second argument is now the pump being classified rather than another training point.</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Spend time on the right panel.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it is judged by whichever stray point happens to be nearest, and that is where the 0.902 comes from.</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Margins, support vectors, and what γ does to the boundary. Run notebook 03. Sixteen minutes.</a:t>
            </a:r>
          </a:p>
          <a:p>
            <a:pPr lvl="0" indent="0" marL="0">
              <a:buNone/>
            </a:pPr>
          </a:p>
          <a:p>
            <a:pPr lvl="0" indent="0" marL="0">
              <a:buNone/>
            </a:pPr>
            <a:r>
              <a:rPr/>
              <a:t>If time runs short, keep the γ sweep with the boundary drawn at each setting, and skip the C sweep instead, setting it as reading (the table is in handout section 5.6). Let them turn γ up themselves and watch the bubbles form - it is the most direct experience of overfitting available in this course.</a:t>
            </a:r>
          </a:p>
          <a:p>
            <a:pPr lvl="0" indent="0" marL="0">
              <a:buNone/>
            </a:pPr>
          </a:p>
          <a:p>
            <a:pPr lvl="0" indent="0" marL="0">
              <a:buNone/>
            </a:pPr>
            <a:r>
              <a:rPr/>
              <a:t>Have them print the fraction of support vectors for the linear and RBF kernels side by side. Two numbers, and it makes the diagnostic real rather than a claim on a slide.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That is larger than anything tuning has bought in this course - lesson 5’s whole hyperparameter search moved scores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If this exercise is drawn at the exam, what counts is the reasoning, not the accuracy. A well-argued choice that scores slightly worse beats a lucky winner with no justification - and the argument has to reference the data, in the way that the squared distances and the fitted ellipse explained Naive Bayes on the pumps today.</a:t>
            </a:r>
          </a:p>
          <a:p>
            <a:pPr lvl="0" indent="0" marL="0">
              <a:buNone/>
            </a:pPr>
          </a:p>
          <a:p>
            <a:pPr lvl="0" indent="0" marL="0">
              <a:buNone/>
            </a:pPr>
            <a:r>
              <a:rPr/>
              <a:t>Remind them that everything must be cross-validated and reported with a spread, in the format lesson 5 set. Scaling goes inside the pipeline; at the exam that is one of the first things looked at.</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and the </a:t>
            </a:r>
            <a:r>
              <a:rPr b="1"/>
              <a:t>curse of dimensionality</a:t>
            </a:r>
            <a:r>
              <a:rPr/>
              <a:t> that limits it</a:t>
            </a:r>
          </a:p>
          <a:p>
            <a:pPr lvl="0"/>
            <a:r>
              <a:rPr b="1"/>
              <a:t>Naive Bayes</a:t>
            </a:r>
            <a:r>
              <a:rPr/>
              <a:t>: one strong assumption, a cheap model</a:t>
            </a:r>
          </a:p>
          <a:p>
            <a:pPr lvl="0"/>
            <a:r>
              <a:rPr b="1"/>
              <a:t>Support vector machines (SVM)</a:t>
            </a:r>
            <a:r>
              <a:rPr/>
              <a:t>: margins and kernels</a:t>
            </a:r>
          </a:p>
          <a:p>
            <a:pPr lvl="0"/>
            <a:r>
              <a:rPr/>
              <a:t>Which family to choose,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(the range it was built to run in),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a:p>
            <a:pPr lvl="0"/>
            <a:r>
              <a:rPr/>
              <a:t>In code: </a:t>
            </a:r>
            <a:r>
              <a:rPr>
                <a:latin typeface="Courier"/>
              </a:rPr>
              <a:t>KNeighborsClassifier(n_neighbors=5)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a:p>
            <a:pPr lvl="0"/>
            <a:r>
              <a:rPr/>
              <a:t>In code: </a:t>
            </a:r>
            <a:r>
              <a:rPr>
                <a:latin typeface="Courier"/>
              </a:rPr>
              <a:t>make_pipeline(StandardScaler(), KNeighborsClassifier(5))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unless two identical points carry different labels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the radial basis function (RBF) kernel of support vector machines, later today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straight line, 4-6</a:t>
                      </a:r>
                    </a:p>
                  </a:txBody>
                </a:tc>
                <a:tc>
                  <a:txBody>
                    <a:bodyPr/>
                    <a:lstStyle/>
                    <a:p>
                      <a:pPr lvl="0" indent="0" marL="0">
                        <a:buNone/>
                      </a:pPr>
                      <a:r>
                        <a:rPr>
                          <a:latin typeface="Courier"/>
                        </a:rPr>
                        <a:t>LogisticRegression</a:t>
                      </a:r>
                      <a:r>
                        <a:rPr/>
                        <a:t> scored by </a:t>
                      </a:r>
                      <a:r>
                        <a:rPr>
                          <a:latin typeface="Courier"/>
                        </a:rPr>
                        <a:t>cross_val_score</a:t>
                      </a:r>
                      <a:r>
                        <a:rPr/>
                        <a:t> over </a:t>
                      </a:r>
                      <a:r>
                        <a:rPr>
                          <a:latin typeface="Courier"/>
                        </a:rPr>
                        <a:t>StratifiedKFold</a:t>
                      </a:r>
                      <a:r>
                        <a:rPr/>
                        <a:t> folds → 0.613</a:t>
                      </a:r>
                    </a:p>
                  </a:txBody>
                </a:tc>
              </a:tr>
              <a:tr h="0">
                <a:tc>
                  <a:txBody>
                    <a:bodyPr/>
                    <a:lstStyle/>
                    <a:p>
                      <a:pPr lvl="0" indent="0" marL="0">
                        <a:buNone/>
                      </a:pPr>
                      <a:r>
                        <a:rPr/>
                        <a:t>k-NN, scaled first, 7-9</a:t>
                      </a:r>
                    </a:p>
                  </a:txBody>
                </a:tc>
                <a:tc>
                  <a:txBody>
                    <a:bodyPr/>
                    <a:lstStyle/>
                    <a:p>
                      <a:pPr lvl="0" indent="0" marL="0">
                        <a:buNone/>
                      </a:pPr>
                      <a:r>
                        <a:rPr>
                          <a:latin typeface="Courier"/>
                        </a:rPr>
                        <a:t>make_pipeline(StandardScaler(), KNeighborsClassifier(k))</a:t>
                      </a:r>
                    </a:p>
                  </a:txBody>
                </a:tc>
              </a:tr>
              <a:tr h="0">
                <a:tc>
                  <a:txBody>
                    <a:bodyPr/>
                    <a:lstStyle/>
                    <a:p>
                      <a:pPr lvl="0" indent="0" marL="0">
                        <a:buNone/>
                      </a:pPr>
                      <a:r>
                        <a:rPr/>
                        <a:t>choosing k, 10-13</a:t>
                      </a:r>
                    </a:p>
                  </a:txBody>
                </a:tc>
                <a:tc>
                  <a:txBody>
                    <a:bodyPr/>
                    <a:lstStyle/>
                    <a:p>
                      <a:pPr lvl="0" indent="0" marL="0">
                        <a:buNone/>
                      </a:pPr>
                      <a:r>
                        <a:rPr>
                          <a:latin typeface="Courier"/>
                        </a:rPr>
                        <a:t>cross_val_score</a:t>
                      </a:r>
                      <a:r>
                        <a:rPr/>
                        <a:t> for each k → 0.944 at k = 5</a:t>
                      </a:r>
                    </a:p>
                  </a:txBody>
                </a:tc>
              </a:tr>
              <a:tr h="0">
                <a:tc>
                  <a:txBody>
                    <a:bodyPr/>
                    <a:lstStyle/>
                    <a:p>
                      <a:pPr lvl="0" indent="0" marL="0">
                        <a:buNone/>
                      </a:pPr>
                      <a:r>
                        <a:rPr/>
                        <a:t>columns of noise, 15-16</a:t>
                      </a:r>
                    </a:p>
                  </a:txBody>
                </a:tc>
                <a:tc>
                  <a:txBody>
                    <a:bodyPr/>
                    <a:lstStyle/>
                    <a:p>
                      <a:pPr lvl="0" indent="0" marL="0">
                        <a:buNone/>
                      </a:pPr>
                      <a:r>
                        <a:rPr/>
                        <a:t>the same pipeline on </a:t>
                      </a:r>
                      <a:r>
                        <a:rPr>
                          <a:latin typeface="Courier"/>
                        </a:rPr>
                        <a:t>load_with_noise(d)</a:t>
                      </a:r>
                      <a:r>
                        <a:rPr/>
                        <a:t> → 0.602 at 52 columns</a:t>
                      </a:r>
                    </a:p>
                  </a:txBody>
                </a:tc>
              </a:tr>
              <a:tr h="0">
                <a:tc>
                  <a:txBody>
                    <a:bodyPr/>
                    <a:lstStyle/>
                    <a:p>
                      <a:pPr lvl="0" indent="0" marL="0">
                        <a:buNone/>
                      </a:pPr>
                      <a:r>
                        <a:rPr/>
                        <a:t>distances stop varying, 17-20</a:t>
                      </a:r>
                    </a:p>
                  </a:txBody>
                </a:tc>
                <a:tc>
                  <a:txBody>
                    <a:bodyPr/>
                    <a:lstStyle/>
                    <a:p>
                      <a:pPr lvl="0" indent="0" marL="0">
                        <a:buNone/>
                      </a:pPr>
                      <a:r>
                        <a:rPr/>
                        <a:t>NumPy only: nearest ÷ farthest → 0.701 in 100 dimensions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P(y = c) is the class’s share of the data; the denominator is the same for every class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a:p>
            <a:pPr lvl="0"/>
            <a:r>
              <a:rPr/>
              <a:t>In code: </a:t>
            </a:r>
            <a:r>
              <a:rPr>
                <a:latin typeface="Courier"/>
              </a:rPr>
              <a:t>GaussianNB()</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rounds to 0 in the computer; the gap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Confidence, the probability given to the predicted class: </a:t>
            </a:r>
            <a:r>
              <a:rPr b="1"/>
              <a:t>0.567</a:t>
            </a:r>
            <a:r>
              <a:rPr/>
              <a:t> when correct, </a:t>
            </a:r>
            <a:r>
              <a:rPr b="1"/>
              <a:t>0.555</a:t>
            </a:r>
            <a:r>
              <a:rPr/>
              <a:t> when wrong</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 the pumps, 37</a:t>
                      </a:r>
                    </a:p>
                  </a:txBody>
                </a:tc>
                <a:tc>
                  <a:txBody>
                    <a:bodyPr/>
                    <a:lstStyle/>
                    <a:p>
                      <a:pPr lvl="0" indent="0" marL="0">
                        <a:buNone/>
                      </a:pPr>
                      <a:r>
                        <a:rPr>
                          <a:latin typeface="Courier"/>
                        </a:rPr>
                        <a:t>GaussianNB</a:t>
                      </a:r>
                      <a:r>
                        <a:rPr/>
                        <a:t> beside </a:t>
                      </a:r>
                      <a:r>
                        <a:rPr>
                          <a:latin typeface="Courier"/>
                        </a:rPr>
                        <a:t>KNeighborsClassifier</a:t>
                      </a:r>
                      <a:r>
                        <a:rPr/>
                        <a:t> and </a:t>
                      </a:r>
                      <a:r>
                        <a:rPr>
                          <a:latin typeface="Courier"/>
                        </a:rPr>
                        <a:t>LogisticRegression</a:t>
                      </a:r>
                      <a:r>
                        <a:rPr/>
                        <a:t> → 0.933</a:t>
                      </a:r>
                    </a:p>
                  </a:txBody>
                </a:tc>
              </a:tr>
              <a:tr h="0">
                <a:tc>
                  <a:txBody>
                    <a:bodyPr/>
                    <a:lstStyle/>
                    <a:p>
                      <a:pPr lvl="0" indent="0" marL="0">
                        <a:buNone/>
                      </a:pPr>
                      <a:r>
                        <a:rPr/>
                        <a:t>what training computed, 29-35</a:t>
                      </a:r>
                    </a:p>
                  </a:txBody>
                </a:tc>
                <a:tc>
                  <a:txBody>
                    <a:bodyPr/>
                    <a:lstStyle/>
                    <a:p>
                      <a:pPr lvl="0" indent="0" marL="0">
                        <a:buNone/>
                      </a:pPr>
                      <a:r>
                        <a:rPr>
                          <a:latin typeface="Courier"/>
                        </a:rPr>
                        <a:t>.theta_</a:t>
                      </a:r>
                      <a:r>
                        <a:rPr/>
                        <a:t>, </a:t>
                      </a:r>
                      <a:r>
                        <a:rPr>
                          <a:latin typeface="Courier"/>
                        </a:rPr>
                        <a:t>.var_</a:t>
                      </a:r>
                      <a:r>
                        <a:rPr/>
                        <a:t>, </a:t>
                      </a:r>
                      <a:r>
                        <a:rPr>
                          <a:latin typeface="Courier"/>
                        </a:rPr>
                        <a:t>.class_prior_</a:t>
                      </a:r>
                      <a:r>
                        <a:rPr/>
                        <a:t>, </a:t>
                      </a:r>
                      <a:r>
                        <a:rPr>
                          <a:latin typeface="Courier"/>
                        </a:rPr>
                        <a:t>predict_proba</a:t>
                      </a:r>
                      <a:r>
                        <a:rPr/>
                        <a:t> → 0.981 at 48 Hz</a:t>
                      </a:r>
                    </a:p>
                  </a:txBody>
                </a:tc>
              </a:tr>
              <a:tr h="0">
                <a:tc>
                  <a:txBody>
                    <a:bodyPr/>
                    <a:lstStyle/>
                    <a:p>
                      <a:pPr lvl="0" indent="0" marL="0">
                        <a:buNone/>
                      </a:pPr>
                      <a:r>
                        <a:rPr/>
                        <a:t>checking the assumption, 38-39</a:t>
                      </a:r>
                    </a:p>
                  </a:txBody>
                </a:tc>
                <a:tc>
                  <a:txBody>
                    <a:bodyPr/>
                    <a:lstStyle/>
                    <a:p>
                      <a:pPr lvl="0" indent="0" marL="0">
                        <a:buNone/>
                      </a:pPr>
                      <a:r>
                        <a:rPr>
                          <a:latin typeface="Courier"/>
                        </a:rPr>
                        <a:t>X[y == c].corr()</a:t>
                      </a:r>
                      <a:r>
                        <a:rPr/>
                        <a:t>, within each class → −0.420</a:t>
                      </a:r>
                    </a:p>
                  </a:txBody>
                </a:tc>
              </a:tr>
              <a:tr h="0">
                <a:tc>
                  <a:txBody>
                    <a:bodyPr/>
                    <a:lstStyle/>
                    <a:p>
                      <a:pPr lvl="0" indent="0" marL="0">
                        <a:buNone/>
                      </a:pPr>
                      <a:r>
                        <a:rPr/>
                        <a:t>the interacting sensors, 40-42</a:t>
                      </a:r>
                    </a:p>
                  </a:txBody>
                </a:tc>
                <a:tc>
                  <a:txBody>
                    <a:bodyPr/>
                    <a:lstStyle/>
                    <a:p>
                      <a:pPr lvl="0" indent="0" marL="0">
                        <a:buNone/>
                      </a:pPr>
                      <a:r>
                        <a:rPr/>
                        <a:t>the same models, plus </a:t>
                      </a:r>
                      <a:r>
                        <a:rPr>
                          <a:latin typeface="Courier"/>
                        </a:rPr>
                        <a:t>SVC</a:t>
                      </a:r>
                      <a:r>
                        <a:rPr/>
                        <a:t> → 0.404</a:t>
                      </a:r>
                    </a:p>
                  </a:txBody>
                </a:tc>
              </a:tr>
              <a:tr h="0">
                <a:tc>
                  <a:txBody>
                    <a:bodyPr/>
                    <a:lstStyle/>
                    <a:p>
                      <a:pPr lvl="0" indent="0" marL="0">
                        <a:buNone/>
                      </a:pPr>
                      <a:r>
                        <a:rPr/>
                        <a:t>confidence, right and wrong, 43</a:t>
                      </a:r>
                    </a:p>
                  </a:txBody>
                </a:tc>
                <a:tc>
                  <a:txBody>
                    <a:bodyPr/>
                    <a:lstStyle/>
                    <a:p>
                      <a:pPr lvl="0" indent="0" marL="0">
                        <a:buNone/>
                      </a:pPr>
                      <a:r>
                        <a:rPr>
                          <a:latin typeface="Courier"/>
                        </a:rPr>
                        <a:t>train_test_split</a:t>
                      </a:r>
                      <a:r>
                        <a:rPr/>
                        <a:t>, then </a:t>
                      </a:r>
                      <a:r>
                        <a:rPr>
                          <a:latin typeface="Courier"/>
                        </a:rPr>
                        <a:t>predict_proba</a:t>
                      </a:r>
                      <a:r>
                        <a:rPr/>
                        <a:t> → 0.567 against 0.555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max(0, 1 − y·f(x)) with labels ±1: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accepts a narrower margin to classify more training points. Low bias, high variance</a:t>
            </a:r>
          </a:p>
          <a:p>
            <a:pPr lvl="0"/>
            <a:r>
              <a:rPr b="1"/>
              <a:t>Small C</a:t>
            </a:r>
            <a:r>
              <a:rPr/>
              <a:t>: a wider, calmer boundary, at the cost of some errors</a:t>
            </a:r>
          </a:p>
          <a:p>
            <a:pPr lvl="0"/>
            <a:r>
              <a:rPr/>
              <a:t>C plays the role that k played in k-NN and λ in lesson 3</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a:t>
            </a:r>
            <a:r>
              <a:rPr>
                <a:latin typeface="Courier"/>
              </a:rPr>
              <a:t>SVC(kernel="linear")</a:t>
            </a:r>
            <a:r>
              <a:rPr/>
              <a:t>, needs </a:t>
            </a:r>
            <a:r>
              <a:rPr b="1"/>
              <a:t>79%</a:t>
            </a:r>
            <a:r>
              <a:rPr/>
              <a:t> of the training set</a:t>
            </a:r>
          </a:p>
          <a:p>
            <a:pPr lvl="0"/>
            <a:r>
              <a:rPr/>
              <a:t>The RBF model needs </a:t>
            </a:r>
            <a:r>
              <a:rPr b="1"/>
              <a:t>23%</a:t>
            </a:r>
          </a:p>
          <a:p>
            <a:pPr lvl="0"/>
            <a:r>
              <a:rPr/>
              <a:t>Almost every point sits on or inside the margin: there is no slab that separates anything</a:t>
            </a:r>
          </a:p>
          <a:p>
            <a:pPr lvl="0"/>
            <a:r>
              <a:rPr/>
              <a:t>The count comes free with </a:t>
            </a:r>
            <a:r>
              <a:rPr>
                <a:latin typeface="Courier"/>
              </a:rPr>
              <a:t>fit</a:t>
            </a:r>
            <a:r>
              <a:rPr/>
              <a:t>, as </a:t>
            </a:r>
            <a:r>
              <a:rPr>
                <a:latin typeface="Courier"/>
              </a:rPr>
              <a:t>len(model.support_)</a:t>
            </a:r>
            <a:r>
              <a:rPr/>
              <a:t>: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widest slab, 45-48</a:t>
                      </a:r>
                    </a:p>
                  </a:txBody>
                </a:tc>
                <a:tc>
                  <a:txBody>
                    <a:bodyPr/>
                    <a:lstStyle/>
                    <a:p>
                      <a:pPr lvl="0" indent="0" marL="0">
                        <a:buNone/>
                      </a:pPr>
                      <a:r>
                        <a:rPr>
                          <a:latin typeface="Courier"/>
                        </a:rPr>
                        <a:t>SVC(kernel="linear")</a:t>
                      </a:r>
                      <a:r>
                        <a:rPr/>
                        <a:t>, </a:t>
                      </a:r>
                      <a:r>
                        <a:rPr>
                          <a:latin typeface="Courier"/>
                        </a:rPr>
                        <a:t>.n_support_</a:t>
                      </a:r>
                      <a:r>
                        <a:rPr/>
                        <a:t>, </a:t>
                      </a:r>
                      <a:r>
                        <a:rPr>
                          <a:latin typeface="Courier"/>
                        </a:rPr>
                        <a:t>decision_function</a:t>
                      </a:r>
                      <a:r>
                        <a:rPr/>
                        <a:t> → 3 of 80 points</a:t>
                      </a:r>
                    </a:p>
                  </a:txBody>
                </a:tc>
              </a:tr>
              <a:tr h="0">
                <a:tc>
                  <a:txBody>
                    <a:bodyPr/>
                    <a:lstStyle/>
                    <a:p>
                      <a:pPr lvl="0" indent="0" marL="0">
                        <a:buNone/>
                      </a:pPr>
                      <a:r>
                        <a:rPr/>
                        <a:t>a straight line still fails, 51-52</a:t>
                      </a:r>
                    </a:p>
                  </a:txBody>
                </a:tc>
                <a:tc>
                  <a:txBody>
                    <a:bodyPr/>
                    <a:lstStyle/>
                    <a:p>
                      <a:pPr lvl="0" indent="0" marL="0">
                        <a:buNone/>
                      </a:pPr>
                      <a:r>
                        <a:rPr>
                          <a:latin typeface="Courier"/>
                        </a:rPr>
                        <a:t>cross_val_score</a:t>
                      </a:r>
                      <a:r>
                        <a:rPr/>
                        <a:t>, linear against RBF kernel → 947 against 278 support vectors</a:t>
                      </a:r>
                    </a:p>
                  </a:txBody>
                </a:tc>
              </a:tr>
              <a:tr h="0">
                <a:tc>
                  <a:txBody>
                    <a:bodyPr/>
                    <a:lstStyle/>
                    <a:p>
                      <a:pPr lvl="0" indent="0" marL="0">
                        <a:buNone/>
                      </a:pPr>
                      <a:r>
                        <a:rPr/>
                        <a:t>the kernel trick, 53-58</a:t>
                      </a:r>
                    </a:p>
                  </a:txBody>
                </a:tc>
                <a:tc>
                  <a:txBody>
                    <a:bodyPr/>
                    <a:lstStyle/>
                    <a:p>
                      <a:pPr lvl="0" indent="0" marL="0">
                        <a:buNone/>
                      </a:pPr>
                      <a:r>
                        <a:rPr/>
                        <a:t>NumPy only: (a · b)² against the lifted product → 25 = 25</a:t>
                      </a:r>
                    </a:p>
                  </a:txBody>
                </a:tc>
              </a:tr>
              <a:tr h="0">
                <a:tc>
                  <a:txBody>
                    <a:bodyPr/>
                    <a:lstStyle/>
                    <a:p>
                      <a:pPr lvl="0" indent="0" marL="0">
                        <a:buNone/>
                      </a:pPr>
                      <a:r>
                        <a:rPr/>
                        <a:t>training and one prediction, 59-61</a:t>
                      </a:r>
                    </a:p>
                  </a:txBody>
                </a:tc>
                <a:tc>
                  <a:txBody>
                    <a:bodyPr/>
                    <a:lstStyle/>
                    <a:p>
                      <a:pPr lvl="0" indent="0" marL="0">
                        <a:buNone/>
                      </a:pPr>
                      <a:r>
                        <a:rPr>
                          <a:latin typeface="Courier"/>
                        </a:rPr>
                        <a:t>.support_</a:t>
                      </a:r>
                      <a:r>
                        <a:rPr/>
                        <a:t>, </a:t>
                      </a:r>
                      <a:r>
                        <a:rPr>
                          <a:latin typeface="Courier"/>
                        </a:rPr>
                        <a:t>.dual_coef_</a:t>
                      </a:r>
                      <a:r>
                        <a:rPr/>
                        <a:t>, </a:t>
                      </a:r>
                      <a:r>
                        <a:rPr>
                          <a:latin typeface="Courier"/>
                        </a:rPr>
                        <a:t>.intercept_</a:t>
                      </a:r>
                      <a:r>
                        <a:rPr/>
                        <a:t> → +1.883</a:t>
                      </a:r>
                    </a:p>
                  </a:txBody>
                </a:tc>
              </a:tr>
              <a:tr h="0">
                <a:tc>
                  <a:txBody>
                    <a:bodyPr/>
                    <a:lstStyle/>
                    <a:p>
                      <a:pPr lvl="0" indent="0" marL="0">
                        <a:buNone/>
                      </a:pPr>
                      <a:r>
                        <a:rPr/>
                        <a:t>gamma and C, 62-64</a:t>
                      </a:r>
                    </a:p>
                  </a:txBody>
                </a:tc>
                <a:tc>
                  <a:txBody>
                    <a:bodyPr/>
                    <a:lstStyle/>
                    <a:p>
                      <a:pPr lvl="0" indent="0" marL="0">
                        <a:buNone/>
                      </a:pPr>
                      <a:r>
                        <a:rPr>
                          <a:latin typeface="Courier"/>
                        </a:rPr>
                        <a:t>SVC(gamma=..., C=...)</a:t>
                      </a:r>
                      <a:r>
                        <a:rPr/>
                        <a:t> in the pipeline → 0.944 at γ = 1</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its false assumption is cheap, </a:t>
            </a:r>
            <a:r>
              <a:rPr b="1"/>
              <a:t>0.404</a:t>
            </a:r>
            <a:r>
              <a:rPr/>
              <a:t> where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