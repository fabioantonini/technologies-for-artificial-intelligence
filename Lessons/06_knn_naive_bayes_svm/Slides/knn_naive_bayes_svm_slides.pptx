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What matters is the diagnosis, not the final figure, so ask the room what it found and listen for what it missed.</a:t>
            </a:r>
          </a:p>
          <a:p>
            <a:pPr lvl="0" indent="0" marL="0">
              <a:buNone/>
            </a:pPr>
          </a:p>
          <a:p>
            <a:pPr lvl="0" indent="0" marL="0">
              <a:buNone/>
            </a:pPr>
            <a:r>
              <a:rPr/>
              <a:t>There was more than one problem planted. Ask out loud how many people found the second one, and how many stopped after the first - stopping after the first is the realistic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apparatus you built in lesson 5. Today adds three model families, and each of them offers new ways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and one framing sentence that is worth saying deliberately.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MODEL TO REACH FOR. This is the first lesson that offers a choice, and the choosing is the content.</a:t>
            </a:r>
          </a:p>
          <a:p>
            <a:pPr lvl="0" indent="0" marL="0">
              <a:buNone/>
            </a:pPr>
          </a:p>
          <a:p>
            <a:pPr lvl="0" indent="0" marL="0">
              <a:buNone/>
            </a:pPr>
            <a:r>
              <a:rPr/>
              <a:t>Stress that these are not three ways of doing the same thing. They attack classification from three unrelated directions: one makes no assumptions and does no fitting at all, one makes an assumption that is usually false and wins anyway, one changes the criterion and then changes the space.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are lesson 5’s noise floor arriving in a classification problem.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the annulus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geometry comes from the physics, not from an attempt to be awkward.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at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real tell: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0.613 looks like a mediocre result rather than an absent one.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The answer is the next fifteen minutes: making no assumptions means having no way to ignore anything, and that turns out to be expensive.</a:t>
            </a:r>
          </a:p>
          <a:p>
            <a:pPr lvl="0" indent="0" marL="0">
              <a:buNone/>
            </a:pPr>
          </a:p>
          <a:p>
            <a:pPr lvl="0" indent="0" marL="0">
              <a:buNone/>
            </a:pPr>
            <a:r>
              <a:rPr/>
              <a:t>Two decisions hide inside that sentence - what “closest” means, and what k is - and both are consequential.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The method has no other channel through which the data reaches it - no coefficients, no weights, no notion that one column might matter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where lesson 2 stops being hygiene and starts being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picks every neighbour by itself and pressure is decorative.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inside the fold - which is last week’s lesson, not a new one.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decomposed error into bias and variance and had to build 300 parallel universes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measure absolutely nothing. Not approximately nothing - nothing, by construction, independent of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gap is the whole of lesson 5 in two numbers on one line.</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they will otherwise grid-search it to death.</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bias looks like.</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The gap between the two curves is variance, and watch it close as k grows. Where they meet and then both fall together, you have run out of variance and started buying bias. The minimum of the honest curve sits just before that.</a:t>
            </a:r>
          </a:p>
          <a:p>
            <a:pPr lvl="0" indent="0" marL="0">
              <a:buNone/>
            </a:pPr>
          </a:p>
          <a:p>
            <a:pPr lvl="0" indent="0" marL="0">
              <a:buNone/>
            </a:pPr>
            <a:r>
              <a:rPr/>
              <a:t>Ask them which end of this plot they would have picked by looking at the training curve alone. The answer is the far left, which is the worst honest model on the plot bar one.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 This is roughly the truth.</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With 401 votes taken over a large neighbourhood, the majority class wins in regions where it should not. The model has stopped following the boundary and started averaging over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approximate nearest-neighbour indexes are a small industry. Mention that the scikit-learn default uses a k-d tree or ball tree,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mechanism is on the next three slides, and it is geometry, not statistics.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showing it - the figure is on the next slide, and it lands better once they have pictured it themselves.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average concentrates, and every distance converges on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does it properly.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it is long over.</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this afternoon - which is why the RBF SVM also degraded in that table, though more slowly.</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select features BEFORE the distance, inside the pipeline - which is last week’s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The cell to protect if time runs short is the noise-column sweep. Let them add the columns themselves and watch the score cross the baseline - it changes behaviour in a way that reading the table does not.</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is the whole move.</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again, arriving from a completely different direction - density estimation rather than distance.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classifier, before any assumption: score each class by the numerator and pick the largest. The denominator has gone because it is the same for every class.</a:t>
            </a:r>
          </a:p>
          <a:p>
            <a:pPr lvl="0" indent="0" marL="0">
              <a:buNone/>
            </a:pPr>
          </a:p>
          <a:p>
            <a:pPr lvl="0" indent="0" marL="0">
              <a:buNone/>
            </a:pPr>
            <a:r>
              <a:rPr/>
              <a:t>Expect someone to object that the number is then no longer a probability. The instinct is sound - a term has been thrown away - and the answer is that it is recoverable. The denominator is the sum of the numerators over the classes, so dividing each score by the sum of the scores gives the probability back exactly. That is what predict_proba does, in logarithms. Dropping it costs nothing in calibration; where Naive Bayes does lose calibration is inside the numerator, and we will see that in a few slides.</a:t>
            </a:r>
          </a:p>
          <a:p>
            <a:pPr lvl="0" indent="0" marL="0">
              <a:buNone/>
            </a:pPr>
          </a:p>
          <a:p>
            <a:pPr lvl="0" indent="0" marL="0">
              <a:buNone/>
            </a:pPr>
            <a:r>
              <a:rPr/>
              <a:t>Then point at the first factor: this is where all the difficulty now sits, and the next slide is the assumption that makes it estimable. Handout section 4.1 carries a worked example with the pumps’ priors.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in about ten minutes,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underflow reason as lesson 4’s log-likelihood: a product of several hundred small probabilities is exactly zero in floating point.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an hour ago, arriving in a new disguise.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factorisation leaves one choice open: what shape each one-dimensional density has. “Gaussian” answers it. Every feature, in every class, gets its own bell curve with its own centre mu and its own width sigma.</a:t>
            </a:r>
          </a:p>
          <a:p>
            <a:pPr lvl="0" indent="0" marL="0">
              <a:buNone/>
            </a:pPr>
          </a:p>
          <a:p>
            <a:pPr lvl="0" indent="0" marL="0">
              <a:buNone/>
            </a:pPr>
            <a:r>
              <a:rPr/>
              <a:t>So say plainly what training is, because students expect an optimisation and there is none. Training computes three kinds of average: the class priors, and a mean and a variance per feature per class. One pass over the data. No gradient descent, no learning rate, no iterations, nothing to converge.</a:t>
            </a:r>
          </a:p>
          <a:p>
            <a:pPr lvl="0" indent="0" marL="0">
              <a:buNone/>
            </a:pPr>
          </a:p>
          <a:p>
            <a:pPr lvl="0" indent="0" marL="0">
              <a:buNone/>
            </a:pPr>
            <a:r>
              <a:rPr/>
              <a:t>Ask the room how many numbers that is for the pumps - two features, two classes. Let them count: two priors, four means, four variances. Ten. The next slide shows all ten.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them read the means first and find the surprise themselves: the two classes have the same centre, to a few hundredths of a hertz. What differs is the width. Healthy pumps are a narrow bell around the design point, faulty ones a wide bell - the disc and the ring, one feature at a time.</a:t>
            </a:r>
          </a:p>
          <a:p>
            <a:pPr lvl="0" indent="0" marL="0">
              <a:buNone/>
            </a:pPr>
          </a:p>
          <a:p>
            <a:pPr lvl="0" indent="0" marL="0">
              <a:buNone/>
            </a:pPr>
            <a:r>
              <a:rPr/>
              <a:t>This explains the result they are about to see. A linear model separates classes by putting a boundary between their means, and here there is nothing between the means to find, so logistic regression will sit at the baseline. Naive Bayes compares widths.</a:t>
            </a:r>
          </a:p>
          <a:p>
            <a:pPr lvl="0" indent="0" marL="0">
              <a:buNone/>
            </a:pPr>
          </a:p>
          <a:p>
            <a:pPr lvl="0" indent="0" marL="0">
              <a:buNone/>
            </a:pPr>
            <a:r>
              <a:rPr/>
              <a:t>One pump makes it concrete. At 48 Hz and 5.6 bar, 6 Hz off the design point, that is three and a half healthy standard deviations but barely more than one faulty one. The vibration term decides it: P(faulty) = 0.981. At the design point itself, 42 Hz and 5.6 bar, P(healthy) = 0.820.</a:t>
            </a:r>
          </a:p>
          <a:p>
            <a:pPr lvl="0" indent="0" marL="0">
              <a:buNone/>
            </a:pPr>
          </a:p>
          <a:p>
            <a:pPr lvl="0" indent="0" marL="0">
              <a:buNone/>
            </a:pPr>
            <a:r>
              <a:rPr/>
              <a:t>If someone spots in the handout that one log-density is positive, that is the moment to say a density is not a probability: a bell 0.22 bar wide peaks above 1. Handout section 4.2 works the pump through term by term.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inference, and it is worth saying how little it is. For each class, take the log prior and add one number per reading: the log of that class’s bell, evaluated at the reading. Compare the totals. That is the prediction. No training row is consulted - only the ten stored numbers - which is the exact opposite of k-NN, where prediction is the whole cost.</a:t>
            </a:r>
          </a:p>
          <a:p>
            <a:pPr lvl="0" indent="0" marL="0">
              <a:buNone/>
            </a:pPr>
          </a:p>
          <a:p>
            <a:pPr lvl="0" indent="0" marL="0">
              <a:buNone/>
            </a:pPr>
            <a:r>
              <a:rPr/>
              <a:t>Walk the pump across. Vibration decides it: 48 Hz is 6 Hz from the centre, three and a half standard deviations for the narrow healthy bell, so its log density is −7.745; for the wide faulty bell it is barely more than one, −3.286. Pressure is at the centre, so it favours the narrow bell slightly - and its healthy log density is positive, +0.598, because a density is not a probability and a narrow bell peaks above 1.</a:t>
            </a:r>
          </a:p>
          <a:p>
            <a:pPr lvl="0" indent="0" marL="0">
              <a:buNone/>
            </a:pPr>
          </a:p>
          <a:p>
            <a:pPr lvl="0" indent="0" marL="0">
              <a:buNone/>
            </a:pPr>
            <a:r>
              <a:rPr/>
              <a:t>Faulty has the larger total, so faulty is the prediction. The probability in the title is the normalisation from slide 26 in log form: the gap between the totals, 3.951, through the logistic function, 1 / (1 + e^(−3.951)) = 0.981. Handout section 4.2 lists the four steps.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nothing else tolerates ten thousand features on a few thousand rows.</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Argmax only needs the ordering right, not the probabilities.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whether it worked because its assumption held or despite it failing.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Show the middle column first and let the room draw the conclusion everyone draws: within each class the readings are uncorrelated, so the assumption holds. It is the natural check, and for bell-shaped data it would settle it.</a:t>
            </a:r>
          </a:p>
          <a:p>
            <a:pPr lvl="0" indent="0" marL="0">
              <a:buNone/>
            </a:pPr>
          </a:p>
          <a:p>
            <a:pPr lvl="0" indent="0" marL="0">
              <a:buNone/>
            </a:pPr>
            <a:r>
              <a:rPr/>
              <a:t>Then the trap. Correlation only sees straight-line dependence. Healthy pumps fill a disc and faulty ones a ring; on a ring, a pump far out in vibration must be central in pressure. That dependence is symmetric, so the straight-line summary averages it to zero. Square each reading’s distance from the design point and it appears: −0.420 among the faulty pumps. The assumption is false.</a:t>
            </a:r>
          </a:p>
          <a:p>
            <a:pPr lvl="0" indent="0" marL="0">
              <a:buNone/>
            </a:pPr>
          </a:p>
          <a:p>
            <a:pPr lvl="0" indent="0" marL="0">
              <a:buNone/>
            </a:pPr>
            <a:r>
              <a:rPr/>
              <a:t>So why 0.933? Because the densities are wrong but the boundary they imply is right. With both classes centred on the same point, comparing a narrow bell with a wide one gives an axis-aligned ellipse, and the true envelope is an axis-aligned ellipse. The fitted model’s edge sits at about 3.17 Hz by 0.41 bar against a true 3.5 by 0.45 - the same shape, a tenth small. A false assumption is cheap when it leaves the boundary the right shape. The next slide is the case where it does not.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fall apart.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Middle and right: each sensor on its own, which is ALL Naive Bayes ever gets. The two class distributions sit almost exactly on top of one another.</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purely as an artefact of a finite sample.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spurious structure it can find, with complete confidence.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ARE correlated, multiplying their probabilities counts the same evidence repeatedly. Ten correlated words in a document are treated as ten independent pieces of evidence, and the posterior saturates. Naive Bayes is famous for reporting 0.999 on problems it gets wrong a fifth of the time.</a:t>
            </a:r>
          </a:p>
          <a:p>
            <a:pPr lvl="0" indent="0" marL="0">
              <a:buNone/>
            </a:pPr>
          </a:p>
          <a:p>
            <a:pPr lvl="0" indent="0" marL="0">
              <a:buNone/>
            </a:pPr>
            <a:r>
              <a:rPr/>
              <a:t>Then lesson 5’s distinction, which this is the textbook case of: ranking and calibration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Sixteen minutes.</a:t>
            </a:r>
          </a:p>
          <a:p>
            <a:pPr lvl="0" indent="0" marL="0">
              <a:buNone/>
            </a:pPr>
          </a:p>
          <a:p>
            <a:pPr lvl="0" indent="0" marL="0">
              <a:buNone/>
            </a:pPr>
            <a:r>
              <a:rPr/>
              <a:t>The cell to protect is the one that prints 0.404 next to the 0.523 baseline. Let them see a below-chance score appear from correct code on solvable data before any explanation arrives.</a:t>
            </a:r>
          </a:p>
          <a:p>
            <a:pPr lvl="0" indent="0" marL="0">
              <a:buNone/>
            </a:pPr>
          </a:p>
          <a:p>
            <a:pPr lvl="0" indent="0" marL="0">
              <a:buNone/>
            </a:pPr>
            <a:r>
              <a:rPr/>
              <a:t>The notebook prints the within-class correlations on both datasets. Before that cell runs, ask them to predict the signs for the interacting sensors: it is the diagnostic they should carry -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optimises fit and controls generalisation indirectly.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hard-margin problem is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constraint is not on the slide any more - it made the line wide enough to land at 28pt - so state it: subject to y_i(w’x_i + b) &gt;= 1 - xi_i, every point on the right side of the slab by a margin, or paying xi_i for the shortfall. Handout section 5.2 writes it out.</a:t>
            </a:r>
          </a:p>
          <a:p>
            <a:pPr lvl="0" indent="0" marL="0">
              <a:buNone/>
            </a:pPr>
          </a:p>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this morning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this morning,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number in the whole lesson, and within a hair of the 0.96 ceiling.</a:t>
            </a:r>
          </a:p>
          <a:p>
            <a:pPr lvl="0" indent="0" marL="0">
              <a:buNone/>
            </a:pPr>
          </a:p>
          <a:p>
            <a:pPr lvl="0" indent="0" marL="0">
              <a:buNone/>
            </a:pPr>
            <a:r>
              <a:rPr/>
              <a:t>The support-vector column says the same thing in a second language,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is wrong for the geometry.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afternoon: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angles and lengths between points, and those can be obtained without ever going there.</a:t>
            </a:r>
          </a:p>
          <a:p>
            <a:pPr lvl="0" indent="0" marL="0">
              <a:buNone/>
            </a:pPr>
          </a:p>
          <a:p>
            <a:pPr lvl="0" indent="0" marL="0">
              <a:buNone/>
            </a:pPr>
            <a:r>
              <a:rPr/>
              <a:t>Do not prove it - handout section 5.4 shows where the inner products come from in the dual formulation. The claim to state and let land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Right is the one to sit on.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That is the 0.902.</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Eighteen minutes.</a:t>
            </a:r>
          </a:p>
          <a:p>
            <a:pPr lvl="0" indent="0" marL="0">
              <a:buNone/>
            </a:pPr>
          </a:p>
          <a:p>
            <a:pPr lvl="0" indent="0" marL="0">
              <a:buNone/>
            </a:pPr>
            <a:r>
              <a:rPr/>
              <a:t>The cell to protect is the γ sweep with the boundary drawn at each setting. Let them turn γ up themselves and watch the bubbles form - it is the most direct experience of overfitting available in this course.</a:t>
            </a:r>
          </a:p>
          <a:p>
            <a:pPr lvl="0" indent="0" marL="0">
              <a:buNone/>
            </a:pPr>
          </a:p>
          <a:p>
            <a:pPr lvl="0" indent="0" marL="0">
              <a:buNone/>
            </a:pPr>
            <a:r>
              <a:rPr/>
              <a:t>Have them print the support-vector fraction for the linear and RBF kernels side by side. Two numbers, and it makes the diagnostic real rather than a claim on a slide.</a:t>
            </a:r>
          </a:p>
          <a:p>
            <a:pPr lvl="0" indent="0" marL="0">
              <a:buNone/>
            </a:pPr>
          </a:p>
          <a:p>
            <a:pPr lvl="0" indent="0" marL="0">
              <a:buNone/>
            </a:pPr>
            <a:r>
              <a:rPr/>
              <a:t>If time runs short, skip the C sweep and set it as reading: the table is in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Larger than any difference this course has shown between a good model and a carefully tuned one - lesson 5’s entire hyperparameter search moved things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 and check it properly. The −0.006 said yes; the squared distances said no; and the ellipse the model drew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13 November.</a:t>
            </a:r>
          </a:p>
          <a:p>
            <a:pPr lvl="0" indent="0" marL="0">
              <a:buNone/>
            </a:pPr>
          </a:p>
          <a:p>
            <a:pPr lvl="0" indent="0" marL="0">
              <a:buNone/>
            </a:pPr>
            <a:r>
              <a:rPr/>
              <a:t>The marks are for the reasoning, not for the accuracy. A well-argued choice that scores slightly worse beats a lucky winner with no justification - and the argument has to reference the data, in the way that the squared distances and the fitted ellipse explained Naive Bayes on the pumps this afternoon.</a:t>
            </a:r>
          </a:p>
          <a:p>
            <a:pPr lvl="0" indent="0" marL="0">
              <a:buNone/>
            </a:pPr>
          </a:p>
          <a:p>
            <a:pPr lvl="0" indent="0" marL="0">
              <a:buNone/>
            </a:pPr>
            <a:r>
              <a:rPr/>
              <a:t>Remind them that everything must be cross-validated and reported with a spread, in the format lesson 5 set. Scaling goes inside the pipeline; that will be checked.</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which we discuss now</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remember, and vote</a:t>
            </a:r>
          </a:p>
          <a:p>
            <a:pPr lvl="0"/>
            <a:r>
              <a:rPr/>
              <a:t>The </a:t>
            </a:r>
            <a:r>
              <a:rPr b="1"/>
              <a:t>curse of dimensionality</a:t>
            </a:r>
            <a:r>
              <a:rPr/>
              <a:t>: the bill for that</a:t>
            </a:r>
          </a:p>
          <a:p>
            <a:pPr lvl="0"/>
            <a:r>
              <a:rPr b="1"/>
              <a:t>Naive Bayes</a:t>
            </a:r>
            <a:r>
              <a:rPr/>
              <a:t>: one strong assumption, bought cheap</a:t>
            </a:r>
          </a:p>
          <a:p>
            <a:pPr lvl="0"/>
            <a:r>
              <a:rPr b="1"/>
              <a:t>Support vector machines (SVM)</a:t>
            </a:r>
            <a:r>
              <a:rPr/>
              <a:t>: margins, and kernels</a:t>
            </a:r>
          </a:p>
          <a:p>
            <a:pPr lvl="0"/>
            <a:r>
              <a:rPr/>
              <a:t>Which family to reach for,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Always, on any dataset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radial basis function (RBF) kernels, all of them</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k-NN on the pumps, choosing k, and the curse measured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is a count; the denominator is identical across classes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drops the denominator</a:t>
            </a:r>
          </a:p>
        </p:txBody>
      </p:sp>
      <p:pic>
        <p:nvPicPr>
          <p:cNvPr descr="eq_1286136c78.png" id="0" name="Picture 1"/>
          <p:cNvPicPr>
            <a:picLocks noGrp="1" noChangeAspect="1"/>
          </p:cNvPicPr>
          <p:nvPr/>
        </p:nvPicPr>
        <p:blipFill>
          <a:blip r:embed="rId3"/>
          <a:stretch>
            <a:fillRect/>
          </a:stretch>
        </p:blipFill>
        <p:spPr bwMode="auto">
          <a:xfrm>
            <a:off x="457200" y="2509639"/>
            <a:ext cx="8229600" cy="6731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2" y="1957190"/>
            <a:ext cx="8229595" cy="1777999"/>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Gaussian: each factor is a bell curve</a:t>
            </a:r>
          </a:p>
        </p:txBody>
      </p:sp>
      <p:pic>
        <p:nvPicPr>
          <p:cNvPr descr="eq_13eb83da37.png" id="0" name="Picture 1"/>
          <p:cNvPicPr>
            <a:picLocks noGrp="1" noChangeAspect="1"/>
          </p:cNvPicPr>
          <p:nvPr/>
        </p:nvPicPr>
        <p:blipFill>
          <a:blip r:embed="rId3"/>
          <a:stretch>
            <a:fillRect/>
          </a:stretch>
        </p:blipFill>
        <p:spPr bwMode="auto">
          <a:xfrm>
            <a:off x="457200" y="2211189"/>
            <a:ext cx="8229600" cy="1270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numbers, and the widths decide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pPr lvl="0" indent="0" marL="0">
                        <a:buNone/>
                      </a:pPr>
                      <a:r>
                        <a:rPr/>
                        <a:t>Prior</a:t>
                      </a:r>
                    </a:p>
                  </a:txBody>
                  <a:tcPr/>
                </a:tc>
                <a:tc>
                  <a:txBody>
                    <a:bodyPr/>
                    <a:lstStyle/>
                    <a:p>
                      <a:pPr lvl="0" indent="0" marL="0">
                        <a:buNone/>
                      </a:pPr>
                      <a:r>
                        <a:rPr/>
                        <a:t>Vibration mean</a:t>
                      </a:r>
                    </a:p>
                  </a:txBody>
                  <a:tcPr/>
                </a:tc>
                <a:tc>
                  <a:txBody>
                    <a:bodyPr/>
                    <a:lstStyle/>
                    <a:p>
                      <a:pPr lvl="0" indent="0" marL="0">
                        <a:buNone/>
                      </a:pPr>
                      <a:r>
                        <a:rPr/>
                        <a:t>Vibration sd</a:t>
                      </a:r>
                    </a:p>
                  </a:txBody>
                  <a:tcPr/>
                </a:tc>
                <a:tc>
                  <a:txBody>
                    <a:bodyPr/>
                    <a:lstStyle/>
                    <a:p>
                      <a:pPr lvl="0" indent="0" marL="0">
                        <a:buNone/>
                      </a:pPr>
                      <a:r>
                        <a:rPr/>
                        <a:t>Pressure mean</a:t>
                      </a:r>
                    </a:p>
                  </a:txBody>
                  <a:tcPr/>
                </a:tc>
                <a:tc>
                  <a:txBody>
                    <a:bodyPr/>
                    <a:lstStyle/>
                    <a:p>
                      <a:pPr lvl="0" indent="0" marL="0">
                        <a:buNone/>
                      </a:pPr>
                      <a:r>
                        <a:rPr/>
                        <a:t>Pressure sd</a:t>
                      </a:r>
                    </a:p>
                  </a:txBody>
                  <a:tcPr/>
                </a:tc>
              </a:tr>
              <a:tr h="0">
                <a:tc>
                  <a:txBody>
                    <a:bodyPr/>
                    <a:lstStyle/>
                    <a:p>
                      <a:pPr lvl="0" indent="0" marL="0">
                        <a:buNone/>
                      </a:pPr>
                      <a:r>
                        <a:rPr/>
                        <a:t>Healthy</a:t>
                      </a:r>
                    </a:p>
                  </a:txBody>
                </a:tc>
                <a:tc>
                  <a:txBody>
                    <a:bodyPr/>
                    <a:lstStyle/>
                    <a:p>
                      <a:pPr lvl="0" indent="0" marL="0">
                        <a:buNone/>
                      </a:pPr>
                      <a:r>
                        <a:rPr/>
                        <a:t>0.3875</a:t>
                      </a:r>
                    </a:p>
                  </a:txBody>
                </a:tc>
                <a:tc>
                  <a:txBody>
                    <a:bodyPr/>
                    <a:lstStyle/>
                    <a:p>
                      <a:pPr lvl="0" indent="0" marL="0">
                        <a:buNone/>
                      </a:pPr>
                      <a:r>
                        <a:rPr/>
                        <a:t>41.986 Hz</a:t>
                      </a:r>
                    </a:p>
                  </a:txBody>
                </a:tc>
                <a:tc>
                  <a:txBody>
                    <a:bodyPr/>
                    <a:lstStyle/>
                    <a:p>
                      <a:pPr lvl="0" indent="0" marL="0">
                        <a:buNone/>
                      </a:pPr>
                      <a:r>
                        <a:rPr b="1"/>
                        <a:t>1.695</a:t>
                      </a:r>
                    </a:p>
                  </a:txBody>
                </a:tc>
                <a:tc>
                  <a:txBody>
                    <a:bodyPr/>
                    <a:lstStyle/>
                    <a:p>
                      <a:pPr lvl="0" indent="0" marL="0">
                        <a:buNone/>
                      </a:pPr>
                      <a:r>
                        <a:rPr/>
                        <a:t>5.617 bar</a:t>
                      </a:r>
                    </a:p>
                  </a:txBody>
                </a:tc>
                <a:tc>
                  <a:txBody>
                    <a:bodyPr/>
                    <a:lstStyle/>
                    <a:p>
                      <a:pPr lvl="0" indent="0" marL="0">
                        <a:buNone/>
                      </a:pPr>
                      <a:r>
                        <a:rPr b="1"/>
                        <a:t>0.219</a:t>
                      </a:r>
                    </a:p>
                  </a:txBody>
                </a:tc>
              </a:tr>
              <a:tr h="0">
                <a:tc>
                  <a:txBody>
                    <a:bodyPr/>
                    <a:lstStyle/>
                    <a:p>
                      <a:pPr lvl="0" indent="0" marL="0">
                        <a:buNone/>
                      </a:pPr>
                      <a:r>
                        <a:rPr/>
                        <a:t>Faulty</a:t>
                      </a:r>
                    </a:p>
                  </a:txBody>
                </a:tc>
                <a:tc>
                  <a:txBody>
                    <a:bodyPr/>
                    <a:lstStyle/>
                    <a:p>
                      <a:pPr lvl="0" indent="0" marL="0">
                        <a:buNone/>
                      </a:pPr>
                      <a:r>
                        <a:rPr/>
                        <a:t>0.6125</a:t>
                      </a:r>
                    </a:p>
                  </a:txBody>
                </a:tc>
                <a:tc>
                  <a:txBody>
                    <a:bodyPr/>
                    <a:lstStyle/>
                    <a:p>
                      <a:pPr lvl="0" indent="0" marL="0">
                        <a:buNone/>
                      </a:pPr>
                      <a:r>
                        <a:rPr/>
                        <a:t>42.015 Hz</a:t>
                      </a:r>
                    </a:p>
                  </a:txBody>
                </a:tc>
                <a:tc>
                  <a:txBody>
                    <a:bodyPr/>
                    <a:lstStyle/>
                    <a:p>
                      <a:pPr lvl="0" indent="0" marL="0">
                        <a:buNone/>
                      </a:pPr>
                      <a:r>
                        <a:rPr b="1"/>
                        <a:t>4.636</a:t>
                      </a:r>
                    </a:p>
                  </a:txBody>
                </a:tc>
                <a:tc>
                  <a:txBody>
                    <a:bodyPr/>
                    <a:lstStyle/>
                    <a:p>
                      <a:pPr lvl="0" indent="0" marL="0">
                        <a:buNone/>
                      </a:pPr>
                      <a:r>
                        <a:rPr/>
                        <a:t>5.616 bar</a:t>
                      </a:r>
                    </a:p>
                  </a:txBody>
                </a:tc>
                <a:tc>
                  <a:txBody>
                    <a:bodyPr/>
                    <a:lstStyle/>
                    <a:p>
                      <a:pPr lvl="0" indent="0" marL="0">
                        <a:buNone/>
                      </a:pPr>
                      <a:r>
                        <a:rPr b="1"/>
                        <a:t>0.576</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5.6 bar: faulty, 0.981</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Class</a:t>
                      </a:r>
                    </a:p>
                  </a:txBody>
                  <a:tcPr/>
                </a:tc>
                <a:tc>
                  <a:txBody>
                    <a:bodyPr/>
                    <a:lstStyle/>
                    <a:p>
                      <a:pPr lvl="0" indent="0" marL="0">
                        <a:buNone/>
                      </a:pPr>
                      <a:r>
                        <a:rPr/>
                        <a:t>log prior</a:t>
                      </a:r>
                    </a:p>
                  </a:txBody>
                  <a:tcPr/>
                </a:tc>
                <a:tc>
                  <a:txBody>
                    <a:bodyPr/>
                    <a:lstStyle/>
                    <a:p>
                      <a:pPr lvl="0" indent="0" marL="0">
                        <a:buNone/>
                      </a:pPr>
                      <a:r>
                        <a:rPr/>
                        <a:t>log P(vibration)</a:t>
                      </a:r>
                    </a:p>
                  </a:txBody>
                  <a:tcPr/>
                </a:tc>
                <a:tc>
                  <a:txBody>
                    <a:bodyPr/>
                    <a:lstStyle/>
                    <a:p>
                      <a:pPr lvl="0" indent="0" marL="0">
                        <a:buNone/>
                      </a:pPr>
                      <a:r>
                        <a:rPr/>
                        <a:t>log P(pressure)</a:t>
                      </a:r>
                    </a:p>
                  </a:txBody>
                  <a:tcPr/>
                </a:tc>
                <a:tc>
                  <a:txBody>
                    <a:bodyPr/>
                    <a:lstStyle/>
                    <a:p>
                      <a:pPr lvl="0" indent="0" marL="0">
                        <a:buNone/>
                      </a:pPr>
                      <a:r>
                        <a:rPr/>
                        <a:t>Total</a:t>
                      </a:r>
                    </a:p>
                  </a:txBody>
                  <a:tcPr/>
                </a:tc>
              </a:tr>
              <a:tr h="0">
                <a:tc>
                  <a:txBody>
                    <a:bodyPr/>
                    <a:lstStyle/>
                    <a:p>
                      <a:pPr lvl="0" indent="0" marL="0">
                        <a:buNone/>
                      </a:pPr>
                      <a:r>
                        <a:rPr/>
                        <a:t>Healthy</a:t>
                      </a:r>
                    </a:p>
                  </a:txBody>
                </a:tc>
                <a:tc>
                  <a:txBody>
                    <a:bodyPr/>
                    <a:lstStyle/>
                    <a:p>
                      <a:pPr lvl="0" indent="0" marL="0">
                        <a:buNone/>
                      </a:pPr>
                      <a:r>
                        <a:rPr/>
                        <a:t>−0.948</a:t>
                      </a:r>
                    </a:p>
                  </a:txBody>
                </a:tc>
                <a:tc>
                  <a:txBody>
                    <a:bodyPr/>
                    <a:lstStyle/>
                    <a:p>
                      <a:pPr lvl="0" indent="0" marL="0">
                        <a:buNone/>
                      </a:pPr>
                      <a:r>
                        <a:rPr/>
                        <a:t>−7.745</a:t>
                      </a:r>
                    </a:p>
                  </a:txBody>
                </a:tc>
                <a:tc>
                  <a:txBody>
                    <a:bodyPr/>
                    <a:lstStyle/>
                    <a:p>
                      <a:pPr lvl="0" indent="0" marL="0">
                        <a:buNone/>
                      </a:pPr>
                      <a:r>
                        <a:rPr/>
                        <a:t>+0.598</a:t>
                      </a:r>
                    </a:p>
                  </a:txBody>
                </a:tc>
                <a:tc>
                  <a:txBody>
                    <a:bodyPr/>
                    <a:lstStyle/>
                    <a:p>
                      <a:pPr lvl="0" indent="0" marL="0">
                        <a:buNone/>
                      </a:pPr>
                      <a:r>
                        <a:rPr/>
                        <a:t>−8.095</a:t>
                      </a:r>
                    </a:p>
                  </a:txBody>
                </a:tc>
              </a:tr>
              <a:tr h="0">
                <a:tc>
                  <a:txBody>
                    <a:bodyPr/>
                    <a:lstStyle/>
                    <a:p>
                      <a:pPr lvl="0" indent="0" marL="0">
                        <a:buNone/>
                      </a:pPr>
                      <a:r>
                        <a:rPr/>
                        <a:t>Faulty</a:t>
                      </a:r>
                    </a:p>
                  </a:txBody>
                </a:tc>
                <a:tc>
                  <a:txBody>
                    <a:bodyPr/>
                    <a:lstStyle/>
                    <a:p>
                      <a:pPr lvl="0" indent="0" marL="0">
                        <a:buNone/>
                      </a:pPr>
                      <a:r>
                        <a:rPr/>
                        <a:t>−0.490</a:t>
                      </a:r>
                    </a:p>
                  </a:txBody>
                </a:tc>
                <a:tc>
                  <a:txBody>
                    <a:bodyPr/>
                    <a:lstStyle/>
                    <a:p>
                      <a:pPr lvl="0" indent="0" marL="0">
                        <a:buNone/>
                      </a:pPr>
                      <a:r>
                        <a:rPr/>
                        <a:t>−3.286</a:t>
                      </a:r>
                    </a:p>
                  </a:txBody>
                </a:tc>
                <a:tc>
                  <a:txBody>
                    <a:bodyPr/>
                    <a:lstStyle/>
                    <a:p>
                      <a:pPr lvl="0" indent="0" marL="0">
                        <a:buNone/>
                      </a:pPr>
                      <a:r>
                        <a:rPr/>
                        <a:t>−0.368</a:t>
                      </a:r>
                    </a:p>
                  </a:txBody>
                </a:tc>
                <a:tc>
                  <a:txBody>
                    <a:bodyPr/>
                    <a:lstStyle/>
                    <a:p>
                      <a:pPr lvl="0" indent="0" marL="0">
                        <a:buNone/>
                      </a:pPr>
                      <a:r>
                        <a:rPr b="1"/>
                        <a:t>−4.144</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Uncorrelated, but not independent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Within class</a:t>
                      </a:r>
                    </a:p>
                  </a:txBody>
                  <a:tcPr/>
                </a:tc>
                <a:tc>
                  <a:txBody>
                    <a:bodyPr/>
                    <a:lstStyle/>
                    <a:p>
                      <a:pPr lvl="0" indent="0" marL="0">
                        <a:buNone/>
                      </a:pPr>
                      <a:r>
                        <a:rPr/>
                        <a:t>Readings</a:t>
                      </a:r>
                    </a:p>
                  </a:txBody>
                  <a:tcPr/>
                </a:tc>
                <a:tc>
                  <a:txBody>
                    <a:bodyPr/>
                    <a:lstStyle/>
                    <a:p>
                      <a:pPr lvl="0" indent="0" marL="0">
                        <a:buNone/>
                      </a:pPr>
                      <a:r>
                        <a:rPr/>
                        <a:t>Squared distances</a:t>
                      </a:r>
                    </a:p>
                  </a:txBody>
                  <a:tcPr/>
                </a:tc>
              </a:tr>
              <a:tr h="0">
                <a:tc>
                  <a:txBody>
                    <a:bodyPr/>
                    <a:lstStyle/>
                    <a:p>
                      <a:pPr lvl="0" indent="0" marL="0">
                        <a:buNone/>
                      </a:pPr>
                      <a:r>
                        <a:rPr/>
                        <a:t>healthy pumps</a:t>
                      </a:r>
                    </a:p>
                  </a:txBody>
                </a:tc>
                <a:tc>
                  <a:txBody>
                    <a:bodyPr/>
                    <a:lstStyle/>
                    <a:p>
                      <a:pPr lvl="0" indent="0" marL="0">
                        <a:buNone/>
                      </a:pPr>
                      <a:r>
                        <a:rPr/>
                        <a:t>−0.006</a:t>
                      </a:r>
                    </a:p>
                  </a:txBody>
                </a:tc>
                <a:tc>
                  <a:txBody>
                    <a:bodyPr/>
                    <a:lstStyle/>
                    <a:p>
                      <a:pPr lvl="0" indent="0" marL="0">
                        <a:buNone/>
                      </a:pPr>
                      <a:r>
                        <a:rPr/>
                        <a:t>+0.168</a:t>
                      </a:r>
                    </a:p>
                  </a:txBody>
                </a:tc>
              </a:tr>
              <a:tr h="0">
                <a:tc>
                  <a:txBody>
                    <a:bodyPr/>
                    <a:lstStyle/>
                    <a:p>
                      <a:pPr lvl="0" indent="0" marL="0">
                        <a:buNone/>
                      </a:pPr>
                      <a:r>
                        <a:rPr/>
                        <a:t>faulty pumps</a:t>
                      </a:r>
                    </a:p>
                  </a:txBody>
                </a:tc>
                <a:tc>
                  <a:txBody>
                    <a:bodyPr/>
                    <a:lstStyle/>
                    <a:p>
                      <a:pPr lvl="0" indent="0" marL="0">
                        <a:buNone/>
                      </a:pPr>
                      <a:r>
                        <a:rPr/>
                        <a:t>−0.049</a:t>
                      </a:r>
                    </a:p>
                  </a:txBody>
                </a:tc>
                <a:tc>
                  <a:txBody>
                    <a:bodyPr/>
                    <a:lstStyle/>
                    <a:p>
                      <a:pPr lvl="0" indent="0" marL="0">
                        <a:buNone/>
                      </a:pPr>
                      <a:r>
                        <a:rPr b="1"/>
                        <a:t>−0.420</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607939"/>
            <a:ext cx="8229600" cy="24765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Mean confidence when </a:t>
            </a:r>
            <a:r>
              <a:rPr b="1"/>
              <a:t>correct: 0.567</a:t>
            </a:r>
            <a:r>
              <a:rPr/>
              <a:t>. When </a:t>
            </a:r>
            <a:r>
              <a:rPr b="1"/>
              <a:t>wrong: 0.555</a:t>
            </a:r>
          </a:p>
          <a:p>
            <a:pPr lvl="0"/>
            <a:r>
              <a:rPr/>
              <a:t>It cannot tell the difference between the two situations</a:t>
            </a:r>
          </a:p>
          <a:p>
            <a:pPr lvl="0"/>
            <a:r>
              <a:rPr/>
              <a:t>With correlated features it fails the other way: 0.999 reported, with an accuracy nothing like that</a:t>
            </a:r>
          </a:p>
          <a:p>
            <a:pPr lvl="0"/>
            <a:r>
              <a:rPr b="1"/>
              <a:t>The ranking may be useful while the probabilities are not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Where breaking the assumption is cheap, and one step away where it is fatal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The constraint says: be on the correct side, or pay</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1fab60605d.png" id="0" name="Picture 1"/>
          <p:cNvPicPr>
            <a:picLocks noGrp="1" noChangeAspect="1"/>
          </p:cNvPicPr>
          <p:nvPr/>
        </p:nvPicPr>
        <p:blipFill>
          <a:blip r:embed="rId3"/>
          <a:stretch>
            <a:fillRect/>
          </a:stretch>
        </p:blipFill>
        <p:spPr bwMode="auto">
          <a:xfrm>
            <a:off x="1280160" y="2068949"/>
            <a:ext cx="6583680" cy="155448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contorts to classify everything. Narrow margin, low bias, high variance</a:t>
            </a:r>
          </a:p>
          <a:p>
            <a:pPr lvl="0"/>
            <a:r>
              <a:rPr b="1"/>
              <a:t>Small C</a:t>
            </a:r>
            <a:r>
              <a:rPr/>
              <a:t>: a wider, calmer boundary, at the cost of some errors</a:t>
            </a:r>
          </a:p>
          <a:p>
            <a:pPr lvl="0"/>
            <a:r>
              <a:rPr/>
              <a:t>The same dial as k in k-NN and λ in lesson 3, in a third costume</a:t>
            </a:r>
          </a:p>
          <a:p>
            <a:pPr lvl="0"/>
            <a:r>
              <a:rPr/>
              <a:t>Note the direction: </a:t>
            </a:r>
            <a:r>
              <a:rPr b="1"/>
              <a:t>large C means less regularisation</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needs </a:t>
            </a:r>
            <a:r>
              <a:rPr b="1"/>
              <a:t>79%</a:t>
            </a:r>
            <a:r>
              <a:rPr/>
              <a:t> of the training set to define its boundary</a:t>
            </a:r>
          </a:p>
          <a:p>
            <a:pPr lvl="0"/>
            <a:r>
              <a:rPr/>
              <a:t>The RBF model needs </a:t>
            </a:r>
            <a:r>
              <a:rPr b="1"/>
              <a:t>23%</a:t>
            </a:r>
          </a:p>
          <a:p>
            <a:pPr lvl="0"/>
            <a:r>
              <a:rPr/>
              <a:t>Almost every point sits on or inside the margin: there is no slab that separates anything</a:t>
            </a:r>
          </a:p>
          <a:p>
            <a:pPr lvl="0"/>
            <a:r>
              <a:rPr/>
              <a:t>The count falls out of </a:t>
            </a:r>
            <a:r>
              <a:rPr>
                <a:latin typeface="Courier"/>
              </a:rPr>
              <a:t>fit</a:t>
            </a:r>
            <a:r>
              <a:rPr/>
              <a:t> at no cost, and you should look at it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Margins, support vectors, and what γ does to the boundary</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independence holds, </a:t>
            </a:r>
            <a:r>
              <a:rPr b="1"/>
              <a:t>0.404</a:t>
            </a:r>
            <a:r>
              <a:rPr/>
              <a:t> where it does not</a:t>
            </a:r>
          </a:p>
          <a:p>
            <a:pPr lvl="0"/>
            <a:r>
              <a:rPr b="1"/>
              <a:t>Choosing the family beats tuning the wrong one</a:t>
            </a:r>
            <a:r>
              <a:rPr/>
              <a:t>: 0.613 to 0.947</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discussed at the start of </a:t>
            </a:r>
            <a:r>
              <a:rPr b="1"/>
              <a:t>Friday 13 November</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