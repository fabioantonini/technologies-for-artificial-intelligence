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with the exercise, briefly - two or three minutes, not a review session. Ask for a show of hands: who treated quality as binary, who kept it as an integer regression problem? Both are defensible if justified; that was the whole point of Task 1.</a:t>
            </a:r>
          </a:p>
          <a:p>
            <a:pPr lvl="0" indent="0" marL="0">
              <a:buNone/>
            </a:pPr>
          </a:p>
          <a:p>
            <a:pPr lvl="0" indent="0" marL="0">
              <a:buNone/>
            </a:pPr>
            <a:r>
              <a:rPr/>
              <a:t>Do not dwell. The purpose of raising it is continuity, not grading feedback - say that detailed feedback comes separately, and move to today’s material.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Recap in one sentence each, then land the framing for the whole lesson: Pipeline stops being “the scaling trick” and becomes the central tool of the lesson, because everything from here on - imputing, encoding, engineering - is another thing that learns from data and must sit inside it.</a:t>
            </a:r>
          </a:p>
          <a:p>
            <a:pPr lvl="0" indent="0" marL="0">
              <a:buNone/>
            </a:pPr>
          </a:p>
          <a:p>
            <a:pPr lvl="0" indent="0" marL="0">
              <a:buNone/>
            </a:pPr>
            <a:r>
              <a:rPr/>
              <a:t>Handout Section 1 makes this explicit.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now as the one to remember in five years - everything before it is the machinery that makes the leakage discussion precise rather than hand-wavy.</a:t>
            </a:r>
          </a:p>
          <a:p>
            <a:pPr lvl="0" indent="0" marL="0">
              <a:buNone/>
            </a:pPr>
          </a:p>
          <a:p>
            <a:pPr lvl="0" indent="0" marL="0">
              <a:buNone/>
            </a:pPr>
            <a:r>
              <a:rPr/>
              <a:t>Timing: roughly 35 minutes to the first notebook, then a break, then scaling and encoding, then the leakage section closes the lesson before homework.</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synthetic: every real messy teaching dataset sits behind a network call or a licence, and this lesson needs exact control over the missingness mechanism and the leakage story to make both demonstrable rather than merely plausible.</a:t>
            </a:r>
          </a:p>
          <a:p>
            <a:pPr lvl="0" indent="0" marL="0">
              <a:buNone/>
            </a:pPr>
          </a:p>
          <a:p>
            <a:pPr lvl="0" indent="0" marL="0">
              <a:buNone/>
            </a:pPr>
            <a:r>
              <a:rPr/>
              <a:t>Say explicitly: because we generated it, we know the ground truth. zip_code does not affect churn at all, by construction. Keep that fact in mind - it is what makes notebook 3 a clean experiment rather than an anecdote.</a:t>
            </a:r>
          </a:p>
          <a:p>
            <a:pPr lvl="0" indent="0" marL="0">
              <a:buNone/>
            </a:pPr>
          </a:p>
          <a:p>
            <a:pPr lvl="0" indent="0" marL="0">
              <a:buNone/>
            </a:pPr>
            <a:r>
              <a:rPr/>
              <a:t>Framing, as Lesson 1 asked: predicting churn to decide who a retention team calls. A missed churner costs a lost customer; an unnecessary call costs a few minutes. Keep the asymmetry in mind for Lesson 4.</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Get a laugh at “999” and use it: nobody wrote a bug, somebody’s system recorded an impossible value and nothing caught it before it reached this table. That is the entire subject of Section 4, arriving early.</a:t>
            </a:r>
          </a:p>
          <a:p>
            <a:pPr lvl="0" indent="0" marL="0">
              <a:buNone/>
            </a:pPr>
          </a:p>
          <a:p>
            <a:pPr lvl="0" indent="0" marL="0">
              <a:buNone/>
            </a:pPr>
            <a:r>
              <a:rPr/>
              <a:t>State the baseline the way Lesson 1 insisted: 80.6% is what “always predict no churn” scores. Every later number is measured against that, not against zero.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columns have gaps: age (8.0%) and num_support_calls (4.8%). The count is the easy half of the question; the next three slides are the hard half - why are they missing?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3.1. Define each precisely, because the distinction is not academic - it determines which fix is valid.</a:t>
            </a:r>
          </a:p>
          <a:p>
            <a:pPr lvl="0" indent="0" marL="0">
              <a:buNone/>
            </a:pPr>
          </a:p>
          <a:p>
            <a:pPr lvl="0" indent="0" marL="0">
              <a:buNone/>
            </a:pPr>
            <a:r>
              <a:rPr/>
              <a:t>MCAR: probability of missing depends on nothing. A blank field for no systematic reason.</a:t>
            </a:r>
          </a:p>
          <a:p>
            <a:pPr lvl="0" indent="0" marL="0">
              <a:buNone/>
            </a:pPr>
          </a:p>
          <a:p>
            <a:pPr lvl="0" indent="0" marL="0">
              <a:buNone/>
            </a:pPr>
            <a:r>
              <a:rPr/>
              <a:t>MAR: depends on something you DO observe. Our num_support_calls is MAR against tenure - long-standing customers’ early call history predates the CRM system. Conditional on tenure, the gap carries no further information.</a:t>
            </a:r>
          </a:p>
          <a:p>
            <a:pPr lvl="0" indent="0" marL="0">
              <a:buNone/>
            </a:pPr>
          </a:p>
          <a:p>
            <a:pPr lvl="0" indent="0" marL="0">
              <a:buNone/>
            </a:pPr>
            <a:r>
              <a:rPr/>
              <a:t>MNAR: depends on the value itself, even unobserved. A customer who leaves because of a shockingly high bill and never finishes a survey. No column in the table can detect this - only knowing how the data was collected can. Say plainly: this is the dangerous one, and it does not appear in today’s dataset, which is itself worth noting - most real ones have some.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to the derivation. Ask: if the missingness is completely random, is mean imputation “free”? Let them guess before the next slide - most will say yes.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3.2 derives this in full: replacing the missing p-fraction of X with its own mean shrinks Var(X) by (1-p) and Cov(X,Y) by (1-p) too, and the asymmetry between how variance and covariance enter the correlation ratio is where the square root comes from.</a:t>
            </a:r>
          </a:p>
          <a:p>
            <a:pPr lvl="0" indent="0" marL="0">
              <a:buNone/>
            </a:pPr>
          </a:p>
          <a:p>
            <a:pPr lvl="0" indent="0" marL="0">
              <a:buNone/>
            </a:pPr>
            <a:r>
              <a:rPr/>
              <a:t>Give the number: p=0.08 for our age column, attenuation factor √0.92 ≈ 0.96 - small. At p=0.4, it is √0.6 ≈ 0.77 - a genuine relationship substantially erased by a constant. The mechanism is identical either way; only the size changes.</a:t>
            </a:r>
          </a:p>
          <a:p>
            <a:pPr lvl="0" indent="0" marL="0">
              <a:buNone/>
            </a:pPr>
          </a:p>
          <a:p>
            <a:pPr lvl="0" indent="0" marL="0">
              <a:buNone/>
            </a:pPr>
            <a:r>
              <a:rPr/>
              <a:t>This is not an argument against imputation - dropping rows or columns has its own costs, covered in Section 3.3. It is an argument for knowing what you paid.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that MCAR imputation does not need: add a binary column recording whether the value was missing. It lets a model use the fact of missingness - which, under MAR, is genuinely informative about tenure - even after the gap itself is filled with a number.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3.3. Four options, and the choice depends on the mechanism just covered - dropping rows under MAR or MNAR reweights the sample in a direction you may not intend, since the missing rows are not a random subsample.</a:t>
            </a:r>
          </a:p>
          <a:p>
            <a:pPr lvl="0" indent="0" marL="0">
              <a:buNone/>
            </a:pPr>
          </a:p>
          <a:p>
            <a:pPr lvl="0" indent="0" marL="0">
              <a:buNone/>
            </a:pPr>
            <a:r>
              <a:rPr/>
              <a:t>Whichever is chosen, flag the constraint that closes the loop back to Pipeline: the statistic used - a mean, a set of neighbours - is learned from data and must be learned from the training fold only. Section 9 is what happens when that is forgotten.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z-score standardises and thresholds; Tukey’s IQR rule fences off anything more than 1.5 interquartile ranges past the quartiles. The 1.5 is not arbitrary - next slide derives it.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derives the 1.5 constant from the standard normal quantile function: it is chosen so the IQR fence and a 3-sigma z-score fence flag comparable tails on a genuinely normal column. Say this is a design choice with an assumption baked in, and the next slide is what happens when the assumption fails.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monthly_charges: z-score flags 20, IQR flags 32. The z-score rule’s own mean and standard deviation are dragged around by the outliers it is trying to catch - a handful of billing errors inflate s directly, making the rule LESS sensitive exactly when it should be more so. IQR barely moves under the same contamination. That is why IQR is the safer default for skewed, error-prone columns.</a:t>
            </a:r>
          </a:p>
          <a:p>
            <a:pPr lvl="0" indent="0" marL="0">
              <a:buNone/>
            </a:pPr>
          </a:p>
          <a:p>
            <a:pPr lvl="0" indent="0" marL="0">
              <a:buNone/>
            </a:pPr>
            <a:r>
              <a:rPr/>
              <a:t>tenure_months: only 4 flagged on the right panel, all at 999. Ask the room: where did the negative values go? Nobody will know yet - next slide.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worth remembering over the two formulas. Statistical rules find points that are unusual relative to the rest of a column; they know nothing about domain validity. A negative tenure sits comfortably inside the IQR fence because the column’s own spread is wide enough to hide it.</a:t>
            </a:r>
          </a:p>
          <a:p>
            <a:pPr lvl="0" indent="0" marL="0">
              <a:buNone/>
            </a:pPr>
          </a:p>
          <a:p>
            <a:pPr lvl="0" indent="0" marL="0">
              <a:buNone/>
            </a:pPr>
            <a:r>
              <a:rPr/>
              <a:t>The fix is a domain rule: 0 &lt;= tenure_months &lt;= some sane maximum. Say plainly: a thorough pass runs both kinds of check, because they catch different mistakes, and neither substitutes for the other.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long-tenure, high-paying customer is not an error; a tenure of 999 is. Say plainly that a statistical rule cannot make this call - it only nominates candidates. Handout Section 4.2 closes on exactly this distinction.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through notebook 1 now. Let them drive; walk the room. The domain-rule cell (negative tenure) is worth pausing on collectively - it is a two-line check with an outsized lesson.</a:t>
            </a:r>
          </a:p>
          <a:p>
            <a:pPr lvl="0" indent="0" marL="0">
              <a:buNone/>
            </a:pPr>
          </a:p>
          <a:p>
            <a:pPr lvl="0" indent="0" marL="0">
              <a:buNone/>
            </a:pPr>
            <a:r>
              <a:rPr/>
              <a:t>25 minutes, then break.</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scaling, encoding and the pipeline.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problem before the maths. Ask: if two features live on very different scales, can a single learning rate be right for both directions at once? Let the room reason about it before the derivation.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5.2, done exactly for linear regression’s quadratic cost and carried over qualitatively to logistic regression, whose Hessian has the same X-transpose-X structure weighted by p(1-p).</a:t>
            </a:r>
          </a:p>
          <a:p>
            <a:pPr lvl="0" indent="0" marL="0">
              <a:buNone/>
            </a:pPr>
          </a:p>
          <a:p>
            <a:pPr lvl="0" indent="0" marL="0">
              <a:buNone/>
            </a:pPr>
            <a:r>
              <a:rPr/>
              <a:t>The safe step size along axis j is roughly 2/σⱼ². One global learning rate is bounded by the LARGEST variance feature, which makes progress along the smallest-variance direction painfully slow. That ratio is the condition number κ = σ²max / σ²min, and standardising drives it towards 1.</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each feature set at its OWN safe rate - standardised still gets there faster, because it tolerates a larger rate. Right panel is the sharper point: give the RAW features the rate the standardised ones handle comfortably, and it does not converge slowly - it diverges. Same data, same starting point, one rate stable and one exploding.</a:t>
            </a:r>
          </a:p>
          <a:p>
            <a:pPr lvl="0" indent="0" marL="0">
              <a:buNone/>
            </a:pPr>
          </a:p>
          <a:p>
            <a:pPr lvl="0" indent="0" marL="0">
              <a:buNone/>
            </a:pPr>
            <a:r>
              <a:rPr/>
              <a:t>This is a controlled toy (notebook 2), built with exactly a 100:1 variance ratio so the effect is unambiguous - real churn features show the same direction of effect more mildly, since monthly_charges has roughly 3-4 times the spread of tenure_months, not 100 times.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MinMaxScaler is the more outlier-sensitive of the two: one extreme billing error stretches the whole 0-1 range, compressing every ordinary customer into a sliver of it. StandardScaler is pulled too, through the mean and standard deviation, but far less dramatically.</a:t>
            </a:r>
          </a:p>
          <a:p>
            <a:pPr lvl="0" indent="0" marL="0">
              <a:buNone/>
            </a:pPr>
          </a:p>
          <a:p>
            <a:pPr lvl="0" indent="0" marL="0">
              <a:buNone/>
            </a:pPr>
            <a:r>
              <a:rPr/>
              <a:t>Both must be fitted on training data only - say this every time a fitted transform appears, because it is the thread the whole lesson hangs from.</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k dummy columns always sum to the intercept column, so they are not independent of it. Handout Section 6.1 has the full proof; notebook 2 confirms it directly with matrix_rank. Next slide shows it as arithmetic.</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Fix: OneHotEncoder(drop=“first”). The dropped category becomes the reference, absorbed into the intercept - no information lost, full rank restored. Tree-based models (Lesson 7) do not need this, since they split on one dummy at a time and do not care about collinearity.</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Ordinal encoding on an unordered category (North=0, South=1) tells a model North and South are numerically closer than North and West - meaningless, and actively misleading for anything that uses the number arithmetically.</a:t>
            </a:r>
          </a:p>
          <a:p>
            <a:pPr lvl="0" indent="0" marL="0">
              <a:buNone/>
            </a:pPr>
          </a:p>
          <a:p>
            <a:pPr lvl="0" indent="0" marL="0">
              <a:buNone/>
            </a:pPr>
            <a:r>
              <a:rPr/>
              <a:t>Target encoding is why zip_code is tempting: 493 levels compressed to one predictive-looking column. Say directly: the temptation is exactly what makes it worth a whole section. Handout Section 6.2.</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6.3. Quick, not a full treatment - the point is to motivate why target encoding is attractive for high-cardinality columns before the next section shows why it needs care.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zip_code row/column - or its absence, since it is not even numeric yet - and say: notebook 1’s correlation check already suggests this column carries nothing. One-hot encoding it would add 493 mostly-empty columns. The natural alternative - replace each code with the average churn rate of its customers - is exactly the technique the leakage section is about. Do not resolve the tension yet; let it hang until after the break-free run into notebook 2’s pipeline section.</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8.1. Lesson 1’s unbiasedness argument never mentioned “the model” specifically - it is about f, whatever function maps raw inputs to predictions. In deployment, a fitted scaler or imputer travels WITH the model, so f includes their learned parameters too.</a:t>
            </a:r>
          </a:p>
          <a:p>
            <a:pPr lvl="0" indent="0" marL="0">
              <a:buNone/>
            </a:pPr>
          </a:p>
          <a:p>
            <a:pPr lvl="0" indent="0" marL="0">
              <a:buNone/>
            </a:pPr>
            <a:r>
              <a:rPr/>
              <a:t>The moment any of those parameters - a mean, a set of neighbours, a per-category average - is estimated using rows that later appear in T, f is no longer independent of T, and the equality breaks. This is the one-sentence version of everything Section 9 is about to demonstrate concretely.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structural version of the argument just stated. Different columns need different treatment; ColumnTransformer routes each group through its own sub-pipeline and concatenates the result; the outer Pipeline adds the classifier.</a:t>
            </a:r>
          </a:p>
          <a:p>
            <a:pPr lvl="0" indent="0" marL="0">
              <a:buNone/>
            </a:pPr>
          </a:p>
          <a:p>
            <a:pPr lvl="0" indent="0" marL="0">
              <a:buNone/>
            </a:pPr>
            <a:r>
              <a:rPr/>
              <a:t>One fit() call, on X_train, fits every imputer, the scaler, the encoder AND the classifier - in that order, on training data only, by construction. Say explicitly: this is not tidiness. It is what makes “nothing learned before the split” true even when nobody is watching, which today’s leakage section is entirely about.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numeric_pipe and categorical_pipe are the impute-then-transform pairs from the diagram; show the full definitions on screen in notebook 2 rather than here. Point out there is exactly ONE call to fit, at the very bottom, on X_train alone - everything above it declares structure, not computation.</a:t>
            </a:r>
          </a:p>
          <a:p>
            <a:pPr lvl="0" indent="0" marL="0">
              <a:buNone/>
            </a:pPr>
          </a:p>
          <a:p>
            <a:pPr lvl="0" indent="0" marL="0">
              <a:buNone/>
            </a:pPr>
            <a:r>
              <a:rPr/>
              <a:t>This is the code notebook 2 runs, nearly verbatim. Say that reading it should now feel unremarkable - that is the goal, structure that makes the right thing the easy thing.</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answer: 80/20 imbalance, so accuracy is dominated by the majority class exactly as Lesson 1 warned. AUC, unaffected by the imbalance, shows the model is finding real signal that accuracy alone would hide. Lesson 4 makes both tools precise.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modest gain, and say plainly that this is itself a legitimate result, not a failed experiment - feature engineering is a hypothesis about the domain, not a guarantee. Handout Section 7.</a:t>
            </a:r>
          </a:p>
          <a:p>
            <a:pPr lvl="0" indent="0" marL="0">
              <a:buNone/>
            </a:pPr>
          </a:p>
          <a:p>
            <a:pPr lvl="0" indent="0" marL="0">
              <a:buNone/>
            </a:pPr>
            <a:r>
              <a:rPr/>
              <a:t>The point to land: any engineered feature that involves a statistic LEARNED from data - bin edges from quantiles, a scaled interaction - is subject to the same rule as scaling. A pure arithmetic combination (this ratio) needs no fold-awareness; a learned one does.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25 minutes. The gradient descent toy is worth running interactively - change the variance ratio live if time allows, per the handout’s “try this”.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closing section. Lesson 1’s leak - selecting features on the full dataset - is visible once you know to look for it: an obviously extra step. Today’s two are not. Imputing a missing value and encoding a category both read as ordinary data cleaning, not as “training a model.” They ARE training a model, in the sense Section 8.1 makes precise: any fitted parameter is part of f, and f must be independent of the test set.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mechanism before the number. KNNImputer finds nearest neighbours in feature space; “nearest in the whole dataset” includes test rows if it was fitted before the split existed. Notebook 3 does not just claim this - it traces it, row by row.</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traceable specifically because we control the ground truth and can look up which rows are in which split. In practice you rarely get this diagnostic; the number here is instead a proof of mechanism, done once so you believe it happens.</a:t>
            </a:r>
          </a:p>
          <a:p>
            <a:pPr lvl="0" indent="0" marL="0">
              <a:buNone/>
            </a:pPr>
          </a:p>
          <a:p>
            <a:pPr lvl="0" indent="0" marL="0">
              <a:buNone/>
            </a:pPr>
            <a:r>
              <a:rPr/>
              <a:t>Downstream effect on this run: AUC 0.7548 (leaky) vs 0.7530 (honest) - small. Land the point deliberately: a leak does not have to be dramatic to be wrong. It is still an optimistic number reported to whoever reads it next.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zip_code has no real relationship with churn, by construction - the correlation heatmap already told us. Watch what a leak manufactures out of nothing.</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Baseline without zip: AUC 0.751. Honest encoding (sklearn’s TargetEncoder, cross-fitted inside the pipeline): 0.752 - indistinguishable, correctly, since zip carries nothing. Leaky encoding, computed before the split: 0.891.</a:t>
            </a:r>
          </a:p>
          <a:p>
            <a:pPr lvl="0" indent="0" marL="0">
              <a:buNone/>
            </a:pPr>
          </a:p>
          <a:p>
            <a:pPr lvl="0" indent="0" marL="0">
              <a:buNone/>
            </a:pPr>
            <a:r>
              <a:rPr/>
              <a:t>Let that number sit. It looks like a genuinely better model. It is not one - the improvement is manufactured entirely by the mechanism on the next slide. This is Lesson 1’s 77%-on-coin-flip-labels story again, produced by two unremarkable lines of preprocessing instead of an obviously wrong one.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9.2, derived in full: the gap shrinks as 1/n_c. For n_c=1 the formula degenerates completely - the encoded value literally equals the label. Next slide shows the consequence directly.</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shows the n_c=1 case literally: zip code Z378, one customer, churned=1, encoded value 1.000. Not correlated with the label. IS the label, relabelled as an input.</a:t>
            </a:r>
          </a:p>
          <a:p>
            <a:pPr lvl="0" indent="0" marL="0">
              <a:buNone/>
            </a:pPr>
          </a:p>
          <a:p>
            <a:pPr lvl="0" indent="0" marL="0">
              <a:buNone/>
            </a:pPr>
            <a:r>
              <a:rPr/>
              <a:t>Connect to Section 6.3: high cardinality means small groups means a bigger leak by exactly this formula - the curse of dimensionality and the leakage risk are the same underlying fact.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library implementation generalises leave-one-out to leave-one-fold-out for efficiency, same idea. Used inside a Pipeline fitted on X_train alone, it recovers the honest 0.752 - because that is the correct answer for a column with nothing to contribute.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test, not a growing list of special cases: does fitting this step compute anything from the rows it is given? If yes, it goes inside the pipeline. Handout Section 9.3.</a:t>
            </a:r>
          </a:p>
          <a:p>
            <a:pPr lvl="0" indent="0" marL="0">
              <a:buNone/>
            </a:pPr>
          </a:p>
          <a:p>
            <a:pPr lvl="0" indent="0" marL="0">
              <a:buNone/>
            </a:pPr>
            <a:r>
              <a:rPr/>
              <a:t>Say explicitly: Lesson 5 returns to leakage a third time, for hyperparameter tuning, where the same test applies once more.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 this is the centrepiece of the lesson, give it the time. Let students find the singleton zip code themselves rather than just reading the number.</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Recap slide. Keep it brisk - the room has done three notebooks and needs the summary, not a re-lecture.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The exercise reuses churn_data.py with a different seed, so results will not match today’s numbers exactly - that is intentional, it stops copy-pasted answers from working.</a:t>
            </a:r>
          </a:p>
          <a:p>
            <a:pPr lvl="0" indent="0" marL="0">
              <a:buNone/>
            </a:pPr>
          </a:p>
          <a:p>
            <a:pPr lvl="0" indent="0" marL="0">
              <a:buNone/>
            </a:pPr>
            <a:r>
              <a:rPr/>
              <a:t>Remind them: as in Exercise 1, there are no marks for accuracy. Marks are for methodological correctness, and specifically here for correctly identifying which preprocessing steps needed to be inside the pipeline and demonstrating, with a number, what leaving one out would have cost.</a:t>
            </a:r>
          </a:p>
          <a:p>
            <a:pPr lvl="0" indent="0" marL="0">
              <a:buNone/>
            </a:pPr>
          </a:p>
          <a:p>
            <a:pPr lvl="0" indent="0" marL="0">
              <a:buNone/>
            </a:pPr>
            <a:r>
              <a:rPr/>
              <a:t>Also point them at the quiz - the reasoning-tagged questions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Lesson 3 is where the course starts building models rather than preparing to build them - say that the pipeline habit from today carries forward unchanged, it is just the “model” box in the diagram that gets interesting now.</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2.xml"/><Relationship Id="rId3" Type="http://schemas.openxmlformats.org/officeDocument/2006/relationships/image" Target="../media/image1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9.xml"/><Relationship Id="rId3" Type="http://schemas.openxmlformats.org/officeDocument/2006/relationships/image" Target="../media/image2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2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2 — Data: Exploration and Preparation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Exercise 1 was due at the start of today’s lesson.</a:t>
            </a:r>
          </a:p>
          <a:p>
            <a:pPr lvl="0"/>
            <a:r>
              <a:rPr/>
              <a:t>The wine-quality workflow, end to end</a:t>
            </a:r>
          </a:p>
          <a:p>
            <a:pPr lvl="0"/>
            <a:r>
              <a:rPr/>
              <a:t>Marked on </a:t>
            </a:r>
            <a:r>
              <a:rPr b="1"/>
              <a:t>methodology</a:t>
            </a:r>
            <a:r>
              <a:rPr/>
              <a:t>, not on accuracy</a:t>
            </a:r>
          </a:p>
          <a:p>
            <a:pPr lvl="0"/>
            <a:r>
              <a:rPr/>
              <a:t>We will look at a few submissions’ framing choices in a moment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today builds on</a:t>
            </a:r>
          </a:p>
        </p:txBody>
      </p:sp>
      <p:sp>
        <p:nvSpPr>
          <p:cNvPr id="3" name="Content Placeholder 2"/>
          <p:cNvSpPr>
            <a:spLocks noGrp="1"/>
          </p:cNvSpPr>
          <p:nvPr>
            <p:ph idx="1"/>
          </p:nvPr>
        </p:nvSpPr>
        <p:spPr>
          <a:xfrm>
            <a:off x="457200" y="1200151"/>
            <a:ext cx="8229600" cy="3394472"/>
          </a:xfrm>
        </p:spPr>
        <p:txBody>
          <a:bodyPr/>
          <a:lstStyle/>
          <a:p>
            <a:pPr lvl="0"/>
            <a:r>
              <a:rPr/>
              <a:t>Lesson 1’s rule: </a:t>
            </a:r>
            <a:r>
              <a:rPr b="1"/>
              <a:t>nothing is learned before the split</a:t>
            </a:r>
          </a:p>
          <a:p>
            <a:pPr lvl="0"/>
            <a:r>
              <a:rPr/>
              <a:t>Lesson 1’s tool: </a:t>
            </a:r>
            <a:r>
              <a:rPr>
                <a:latin typeface="Courier"/>
              </a:rPr>
              <a:t>Pipeline</a:t>
            </a:r>
            <a:r>
              <a:rPr/>
              <a:t>, so the rule is structural, not just discipline</a:t>
            </a:r>
          </a:p>
          <a:p>
            <a:pPr lvl="0"/>
            <a:r>
              <a:rPr/>
              <a:t>Today: apply both to data that is actually messy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Exploratory analysis</a:t>
            </a:r>
          </a:p>
          <a:p>
            <a:pPr lvl="0"/>
            <a:r>
              <a:rPr/>
              <a:t>Missing values</a:t>
            </a:r>
          </a:p>
          <a:p>
            <a:pPr lvl="0"/>
            <a:r>
              <a:rPr/>
              <a:t>Outliers</a:t>
            </a:r>
          </a:p>
          <a:p>
            <a:pPr lvl="0"/>
            <a:r>
              <a:rPr/>
              <a:t>Scaling and encoding</a:t>
            </a:r>
          </a:p>
          <a:p>
            <a:pPr lvl="0"/>
            <a:r>
              <a:rPr/>
              <a:t>Feature engineering and pipelines</a:t>
            </a:r>
          </a:p>
          <a:p>
            <a:pPr lvl="0"/>
            <a:r>
              <a:rPr/>
              <a:t>Leakage, in a form nothing warns you about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2000 synthetic telecom customers. Will they </a:t>
            </a:r>
            <a:r>
              <a:rPr b="1"/>
              <a:t>churn</a:t>
            </a:r>
            <a:r>
              <a:rPr/>
              <a:t>?</a:t>
            </a:r>
          </a:p>
          <a:p>
            <a:pPr lvl="0"/>
            <a:r>
              <a:rPr/>
              <a:t>Numeric: tenure, monthly charges, age, support calls</a:t>
            </a:r>
          </a:p>
          <a:p>
            <a:pPr lvl="0"/>
            <a:r>
              <a:rPr/>
              <a:t>Categorical: contract type, region, zip code (493 levels)</a:t>
            </a:r>
          </a:p>
          <a:p>
            <a:pPr lvl="0"/>
            <a:r>
              <a:rPr/>
              <a:t>Missing values, outliers, and one column built to carry </a:t>
            </a:r>
            <a:r>
              <a:rPr b="1"/>
              <a:t>no signal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Look before you touch anything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.info()</a:t>
            </a:r>
            <a:r>
              <a:rPr/>
              <a:t>, </a:t>
            </a:r>
            <a:r>
              <a:rPr>
                <a:latin typeface="Courier"/>
              </a:rPr>
              <a:t>.describe()</a:t>
            </a:r>
            <a:r>
              <a:rPr/>
              <a:t>, class balance, first — always.</a:t>
            </a:r>
          </a:p>
          <a:p>
            <a:pPr lvl="0"/>
            <a:r>
              <a:rPr/>
              <a:t>2000 rows, 8 columns, mixed types</a:t>
            </a:r>
          </a:p>
          <a:p>
            <a:pPr lvl="0"/>
            <a:r>
              <a:rPr/>
              <a:t>Churn rate: </a:t>
            </a:r>
            <a:r>
              <a:rPr b="1"/>
              <a:t>19.4%</a:t>
            </a:r>
            <a:r>
              <a:rPr/>
              <a:t> → baseline accuracy 80.6%</a:t>
            </a:r>
          </a:p>
          <a:p>
            <a:pPr lvl="0"/>
            <a:r>
              <a:rPr>
                <a:latin typeface="Courier"/>
              </a:rPr>
              <a:t>tenure_months</a:t>
            </a:r>
            <a:r>
              <a:rPr/>
              <a:t> max: 999. Not a typo in the slide.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gaps are</a:t>
            </a:r>
          </a:p>
        </p:txBody>
      </p:sp>
      <p:pic>
        <p:nvPicPr>
          <p:cNvPr descr="missingness_pattern.png" id="0" name="Picture 1"/>
          <p:cNvPicPr>
            <a:picLocks noGrp="1" noChangeAspect="1"/>
          </p:cNvPicPr>
          <p:nvPr/>
        </p:nvPicPr>
        <p:blipFill>
          <a:blip r:embed="rId3"/>
          <a:stretch>
            <a:fillRect/>
          </a:stretch>
        </p:blipFill>
        <p:spPr bwMode="auto">
          <a:xfrm>
            <a:off x="1356546" y="1166099"/>
            <a:ext cx="6430908"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reasons a value is missing</a:t>
            </a:r>
          </a:p>
        </p:txBody>
      </p:sp>
      <p:pic>
        <p:nvPicPr>
          <p:cNvPr descr="missingness_mechanisms.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 MCAR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Some customers just left it blank. Nothing systematic.</a:t>
            </a:r>
          </a:p>
          <a:p>
            <a:pPr lvl="0"/>
            <a:r>
              <a:rPr/>
              <a:t>Safe to impute with a fixed statistic</a:t>
            </a:r>
          </a:p>
          <a:p>
            <a:pPr lvl="0"/>
            <a:r>
              <a:rPr/>
              <a:t>The bias question is not “is this fair” — it is “what does filling it cost”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mean imputation actually costs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Every correlation involving the imputed column shrinks — even under MCAR.</a:t>
            </a:r>
          </a:p>
        </p:txBody>
      </p:sp>
      <p:pic>
        <p:nvPicPr>
          <p:cNvPr descr="eq_5a8674c372.png" id="0" name="Picture 1"/>
          <p:cNvPicPr>
            <a:picLocks noGrp="1" noChangeAspect="1"/>
          </p:cNvPicPr>
          <p:nvPr/>
        </p:nvPicPr>
        <p:blipFill>
          <a:blip r:embed="rId3"/>
          <a:stretch>
            <a:fillRect/>
          </a:stretch>
        </p:blipFill>
        <p:spPr bwMode="auto">
          <a:xfrm>
            <a:off x="457202" y="2790541"/>
            <a:ext cx="8229595" cy="1105468"/>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num_support_calls: MAR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Missing more often for long-tenure customers — not by chance.</a:t>
            </a:r>
          </a:p>
          <a:p>
            <a:pPr lvl="0"/>
            <a:r>
              <a:rPr/>
              <a:t>Treating it as MCAR reweights the sample the wrong way</a:t>
            </a:r>
          </a:p>
          <a:p>
            <a:pPr lvl="0"/>
            <a:r>
              <a:rPr/>
              <a:t>A </a:t>
            </a:r>
            <a:r>
              <a:rPr b="1"/>
              <a:t>missingness indicator</a:t>
            </a:r>
            <a:r>
              <a:rPr/>
              <a:t> column preserves the signal even after filling</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about a gap</a:t>
            </a:r>
          </a:p>
        </p:txBody>
      </p:sp>
      <p:sp>
        <p:nvSpPr>
          <p:cNvPr id="3" name="Content Placeholder 2"/>
          <p:cNvSpPr>
            <a:spLocks noGrp="1"/>
          </p:cNvSpPr>
          <p:nvPr>
            <p:ph idx="1"/>
          </p:nvPr>
        </p:nvSpPr>
        <p:spPr>
          <a:xfrm>
            <a:off x="457200" y="1200151"/>
            <a:ext cx="8229600" cy="3394472"/>
          </a:xfrm>
        </p:spPr>
        <p:txBody>
          <a:bodyPr/>
          <a:lstStyle/>
          <a:p>
            <a:pPr lvl="0"/>
            <a:r>
              <a:rPr b="1"/>
              <a:t>Drop rows</a:t>
            </a:r>
            <a:r>
              <a:rPr/>
              <a:t> — only if few, and only if MCAR</a:t>
            </a:r>
          </a:p>
          <a:p>
            <a:pPr lvl="0"/>
            <a:r>
              <a:rPr b="1"/>
              <a:t>Drop the column</a:t>
            </a:r>
            <a:r>
              <a:rPr/>
              <a:t> — if it is missing too often to help</a:t>
            </a:r>
          </a:p>
          <a:p>
            <a:pPr lvl="0"/>
            <a:r>
              <a:rPr b="1"/>
              <a:t>Impute</a:t>
            </a:r>
            <a:r>
              <a:rPr/>
              <a:t> — mean/median, most-frequent, </a:t>
            </a:r>
            <a:r>
              <a:rPr>
                <a:latin typeface="Courier"/>
              </a:rPr>
              <a:t>KNNImputer</a:t>
            </a:r>
          </a:p>
          <a:p>
            <a:pPr lvl="0"/>
            <a:r>
              <a:rPr b="1"/>
              <a:t>Add a missingness indicator</a:t>
            </a:r>
            <a:r>
              <a:rPr/>
              <a:t> — keeps MAR signal alive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Outliers, two rules</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Two standard rules for flagging an unusual value:</a:t>
            </a:r>
          </a:p>
        </p:txBody>
      </p:sp>
      <p:pic>
        <p:nvPicPr>
          <p:cNvPr descr="eq_362884ef2b.png" id="0" name="Picture 1"/>
          <p:cNvPicPr>
            <a:picLocks noGrp="1" noChangeAspect="1"/>
          </p:cNvPicPr>
          <p:nvPr/>
        </p:nvPicPr>
        <p:blipFill>
          <a:blip r:embed="rId3"/>
          <a:stretch>
            <a:fillRect/>
          </a:stretch>
        </p:blipFill>
        <p:spPr bwMode="auto">
          <a:xfrm>
            <a:off x="457207" y="2838073"/>
            <a:ext cx="8229586" cy="573205"/>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Calibrated to agree — on a normal column</a:t>
            </a:r>
          </a:p>
        </p:txBody>
      </p:sp>
      <p:pic>
        <p:nvPicPr>
          <p:cNvPr descr="outlier_fences.png" id="0" name="Picture 1"/>
          <p:cNvPicPr>
            <a:picLocks noGrp="1" noChangeAspect="1"/>
          </p:cNvPicPr>
          <p:nvPr/>
        </p:nvPicPr>
        <p:blipFill>
          <a:blip r:embed="rId3"/>
          <a:stretch>
            <a:fillRect/>
          </a:stretch>
        </p:blipFill>
        <p:spPr bwMode="auto">
          <a:xfrm>
            <a:off x="1098554" y="1166099"/>
            <a:ext cx="6946891" cy="3360181"/>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rules disagree on real data</a:t>
            </a:r>
          </a:p>
        </p:txBody>
      </p:sp>
      <p:pic>
        <p:nvPicPr>
          <p:cNvPr descr="outlier_scatter.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neither rule can tell you</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of </a:t>
            </a:r>
            <a:r>
              <a:rPr b="1"/>
              <a:t>-3</a:t>
            </a:r>
            <a:r>
              <a:rPr/>
              <a:t> is impossible. Neither rule flags it.</a:t>
            </a:r>
          </a:p>
          <a:p>
            <a:pPr lvl="0"/>
            <a:r>
              <a:rPr/>
              <a:t>-3 is not </a:t>
            </a:r>
            <a:r>
              <a:rPr i="1"/>
              <a:t>extreme</a:t>
            </a:r>
            <a:r>
              <a:rPr/>
              <a:t> relative to a column spanning 0–72</a:t>
            </a:r>
          </a:p>
          <a:p>
            <a:pPr lvl="0"/>
            <a:r>
              <a:rPr/>
              <a:t>It is not </a:t>
            </a:r>
            <a:r>
              <a:rPr i="1"/>
              <a:t>unusual</a:t>
            </a:r>
            <a:r>
              <a:rPr/>
              <a:t>. It is </a:t>
            </a:r>
            <a:r>
              <a:rPr i="1"/>
              <a:t>invalid</a:t>
            </a:r>
            <a:r>
              <a:rPr/>
              <a:t> — a different question entirely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Once something is flagged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Detection finds candidates. What to do next is a </a:t>
            </a:r>
            <a:r>
              <a:rPr b="1"/>
              <a:t>domain</a:t>
            </a:r>
            <a:r>
              <a:rPr/>
              <a:t> decision.</a:t>
            </a:r>
          </a:p>
          <a:p>
            <a:pPr lvl="0"/>
            <a:r>
              <a:rPr b="1"/>
              <a:t>Cap</a:t>
            </a:r>
            <a:r>
              <a:rPr/>
              <a:t> it at the fence (Winsorise)</a:t>
            </a:r>
          </a:p>
          <a:p>
            <a:pPr lvl="0"/>
            <a:r>
              <a:rPr b="1"/>
              <a:t>Remove</a:t>
            </a:r>
            <a:r>
              <a:rPr/>
              <a:t> the row</a:t>
            </a:r>
          </a:p>
          <a:p>
            <a:pPr lvl="0"/>
            <a:r>
              <a:rPr b="1"/>
              <a:t>Correct</a:t>
            </a:r>
            <a:r>
              <a:rPr/>
              <a:t> it, if the true value is recoverable</a:t>
            </a:r>
          </a:p>
          <a:p>
            <a:pPr lvl="0"/>
            <a:r>
              <a:rPr b="1"/>
              <a:t>Leave</a:t>
            </a:r>
            <a:r>
              <a:rPr/>
              <a:t> it — unusual is not the same as wrong</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Exploration, missingness mechanisms, both outlier rules — from scratch.</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scale?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0–70. </a:t>
            </a:r>
            <a:r>
              <a:rPr>
                <a:latin typeface="Courier"/>
              </a:rPr>
              <a:t>monthly_charges</a:t>
            </a:r>
            <a:r>
              <a:rPr/>
              <a:t>: 15–150.</a:t>
            </a:r>
          </a:p>
          <a:p>
            <a:pPr lvl="0" indent="0" marL="0">
              <a:buNone/>
            </a:pPr>
            <a:r>
              <a:rPr/>
              <a:t>Gradient descent takes </a:t>
            </a:r>
            <a:r>
              <a:rPr b="1"/>
              <a:t>one step size, along every axis, every iteration.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Hessian is the feature covariance</a:t>
            </a:r>
          </a:p>
        </p:txBody>
      </p:sp>
      <p:pic>
        <p:nvPicPr>
          <p:cNvPr descr="eq_8b13b51c77.png" id="0" name="Picture 1"/>
          <p:cNvPicPr>
            <a:picLocks noGrp="1" noChangeAspect="1"/>
          </p:cNvPicPr>
          <p:nvPr/>
        </p:nvPicPr>
        <p:blipFill>
          <a:blip r:embed="rId2"/>
          <a:stretch>
            <a:fillRect/>
          </a:stretch>
        </p:blipFill>
        <p:spPr bwMode="auto">
          <a:xfrm>
            <a:off x="457200" y="2198489"/>
            <a:ext cx="8229599" cy="1295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a:xfrm>
            <a:off x="457200" y="1234440"/>
            <a:ext cx="8229600" cy="822960"/>
          </a:xfrm>
        </p:spPr>
        <p:txBody>
          <a:bodyPr/>
          <a:lstStyle/>
          <a:p>
            <a:pPr lvl="0" indent="0" marL="0">
              <a:buNone/>
            </a:pPr>
            <a:r>
              <a:rPr/>
              <a:t>For uncorrelated, centred features, H is diagonal:</a:t>
            </a:r>
          </a:p>
        </p:txBody>
      </p:sp>
      <p:pic>
        <p:nvPicPr>
          <p:cNvPr descr="eq_489fa4802b.png" id="0" name="Picture 1"/>
          <p:cNvPicPr>
            <a:picLocks noGrp="1" noChangeAspect="1"/>
          </p:cNvPicPr>
          <p:nvPr/>
        </p:nvPicPr>
        <p:blipFill>
          <a:blip r:embed="rId3"/>
          <a:stretch>
            <a:fillRect/>
          </a:stretch>
        </p:blipFill>
        <p:spPr bwMode="auto">
          <a:xfrm>
            <a:off x="3568700" y="1955800"/>
            <a:ext cx="5105400" cy="863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100:1 variance ratio, and what it costs</a:t>
            </a:r>
          </a:p>
        </p:txBody>
      </p:sp>
      <p:pic>
        <p:nvPicPr>
          <p:cNvPr descr="gd_convergence_scaled_vs_unscaled.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StandardScaler vs MinMaxScaler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Two standard choices, both fitted on training data only.</a:t>
            </a:r>
          </a:p>
        </p:txBody>
      </p:sp>
      <p:pic>
        <p:nvPicPr>
          <p:cNvPr descr="scaling_comparison.png" id="0" name="Picture 1"/>
          <p:cNvPicPr>
            <a:picLocks noGrp="1" noChangeAspect="1"/>
          </p:cNvPicPr>
          <p:nvPr/>
        </p:nvPicPr>
        <p:blipFill>
          <a:blip r:embed="rId3"/>
          <a:stretch>
            <a:fillRect/>
          </a:stretch>
        </p:blipFill>
        <p:spPr bwMode="auto">
          <a:xfrm>
            <a:off x="472276" y="2160270"/>
            <a:ext cx="8199448" cy="236601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dummy variable trap</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One-hot encode all k categories AND fit an intercept:</a:t>
            </a:r>
          </a:p>
        </p:txBody>
      </p:sp>
      <p:pic>
        <p:nvPicPr>
          <p:cNvPr descr="eq_3723e214d0.png" id="0" name="Picture 1"/>
          <p:cNvPicPr>
            <a:picLocks noGrp="1" noChangeAspect="1"/>
          </p:cNvPicPr>
          <p:nvPr/>
        </p:nvPicPr>
        <p:blipFill>
          <a:blip r:embed="rId3"/>
          <a:stretch>
            <a:fillRect/>
          </a:stretch>
        </p:blipFill>
        <p:spPr bwMode="auto">
          <a:xfrm>
            <a:off x="457201" y="2360636"/>
            <a:ext cx="8229597" cy="1965277"/>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Rank deficient by exactly one</a:t>
            </a:r>
          </a:p>
        </p:txBody>
      </p:sp>
      <p:pic>
        <p:nvPicPr>
          <p:cNvPr descr="dummy_variable_trap.png" id="0" name="Picture 1"/>
          <p:cNvPicPr>
            <a:picLocks noGrp="1" noChangeAspect="1"/>
          </p:cNvPicPr>
          <p:nvPr/>
        </p:nvPicPr>
        <p:blipFill>
          <a:blip r:embed="rId3"/>
          <a:stretch>
            <a:fillRect/>
          </a:stretch>
        </p:blipFill>
        <p:spPr bwMode="auto">
          <a:xfrm>
            <a:off x="702129" y="1166099"/>
            <a:ext cx="7739742"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Ordinal vs target encoding</a:t>
            </a:r>
          </a:p>
        </p:txBody>
      </p:sp>
      <p:sp>
        <p:nvSpPr>
          <p:cNvPr id="3" name="Content Placeholder 2"/>
          <p:cNvSpPr>
            <a:spLocks noGrp="1"/>
          </p:cNvSpPr>
          <p:nvPr>
            <p:ph idx="1" sz="half"/>
          </p:nvPr>
        </p:nvSpPr>
        <p:spPr>
          <a:xfrm>
            <a:off x="457200" y="1200151"/>
            <a:ext cx="4038600" cy="3394472"/>
          </a:xfrm>
        </p:spPr>
        <p:txBody>
          <a:bodyPr/>
          <a:lstStyle/>
          <a:p>
            <a:pPr lvl="0" indent="0" marL="0">
              <a:buNone/>
            </a:pPr>
            <a:r>
              <a:rPr b="1"/>
              <a:t>Ordinal</a:t>
            </a:r>
          </a:p>
          <a:p>
            <a:pPr lvl="0"/>
            <a:r>
              <a:rPr/>
              <a:t>Categories → integers</a:t>
            </a:r>
          </a:p>
          <a:p>
            <a:pPr lvl="0"/>
            <a:r>
              <a:rPr/>
              <a:t>Only valid if a real </a:t>
            </a:r>
            <a:r>
              <a:rPr b="1"/>
              <a:t>order</a:t>
            </a:r>
            <a:r>
              <a:rPr/>
              <a:t> exists</a:t>
            </a:r>
          </a:p>
          <a:p>
            <a:pPr lvl="0"/>
            <a:r>
              <a:rPr>
                <a:latin typeface="Courier"/>
              </a:rPr>
              <a:t>low</a:t>
            </a:r>
            <a:r>
              <a:rPr/>
              <a:t> &lt; </a:t>
            </a:r>
            <a:r>
              <a:rPr>
                <a:latin typeface="Courier"/>
              </a:rPr>
              <a:t>medium</a:t>
            </a:r>
            <a:r>
              <a:rPr/>
              <a:t> &lt; </a:t>
            </a:r>
            <a:r>
              <a:rPr>
                <a:latin typeface="Courier"/>
              </a:rPr>
              <a:t>high</a:t>
            </a:r>
          </a:p>
        </p:txBody>
      </p:sp>
      <p:sp>
        <p:nvSpPr>
          <p:cNvPr id="4" name="Content Placeholder 3"/>
          <p:cNvSpPr>
            <a:spLocks noGrp="1"/>
          </p:cNvSpPr>
          <p:nvPr>
            <p:ph idx="2" sz="half"/>
          </p:nvPr>
        </p:nvSpPr>
        <p:spPr>
          <a:xfrm>
            <a:off x="4648200" y="1200151"/>
            <a:ext cx="4038600" cy="3394472"/>
          </a:xfrm>
        </p:spPr>
        <p:txBody>
          <a:bodyPr/>
          <a:lstStyle/>
          <a:p>
            <a:pPr lvl="0" indent="0" marL="0">
              <a:buNone/>
            </a:pPr>
            <a:r>
              <a:rPr b="1"/>
              <a:t>Target</a:t>
            </a:r>
          </a:p>
          <a:p>
            <a:pPr lvl="0"/>
            <a:r>
              <a:rPr/>
              <a:t>Category → a statistic of y</a:t>
            </a:r>
          </a:p>
          <a:p>
            <a:pPr lvl="0"/>
            <a:r>
              <a:rPr/>
              <a:t>Compresses any cardinality to one column</a:t>
            </a:r>
          </a:p>
          <a:p>
            <a:pPr lvl="0"/>
            <a:r>
              <a:rPr/>
              <a:t>The dangerous one — next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curse of dimensionality, briefly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One-hot </a:t>
            </a:r>
            <a:r>
              <a:rPr>
                <a:latin typeface="Courier"/>
              </a:rPr>
              <a:t>zip_code</a:t>
            </a:r>
            <a:r>
              <a:rPr/>
              <a:t>: </a:t>
            </a:r>
            <a:r>
              <a:rPr b="1"/>
              <a:t>493</a:t>
            </a:r>
            <a:r>
              <a:rPr/>
              <a:t> new columns, mostly zero.</a:t>
            </a:r>
          </a:p>
          <a:p>
            <a:pPr lvl="0"/>
            <a:r>
              <a:rPr/>
              <a:t>Distance-based methods (Lesson 6): everything looks equidistant</a:t>
            </a:r>
          </a:p>
          <a:p>
            <a:pPr lvl="0"/>
            <a:r>
              <a:rPr/>
              <a:t>More parameters to estimate, same sample size → more variance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zip_code: 493 levels</a:t>
            </a:r>
          </a:p>
        </p:txBody>
      </p:sp>
      <p:pic>
        <p:nvPicPr>
          <p:cNvPr descr="correlation_heatmap.png" id="0" name="Picture 1"/>
          <p:cNvPicPr>
            <a:picLocks noGrp="1" noChangeAspect="1"/>
          </p:cNvPicPr>
          <p:nvPr/>
        </p:nvPicPr>
        <p:blipFill>
          <a:blip r:embed="rId3"/>
          <a:stretch>
            <a:fillRect/>
          </a:stretch>
        </p:blipFill>
        <p:spPr bwMode="auto">
          <a:xfrm>
            <a:off x="2577286" y="1166099"/>
            <a:ext cx="3989428" cy="3360181"/>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Restating Lesson 1’s argument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 includes </a:t>
            </a:r>
            <a:r>
              <a:rPr b="1"/>
              <a:t>every</a:t>
            </a:r>
            <a:r>
              <a:rPr/>
              <a:t> learned parameter — not just “the model part”.</a:t>
            </a:r>
          </a:p>
        </p:txBody>
      </p:sp>
      <p:pic>
        <p:nvPicPr>
          <p:cNvPr descr="eq_4c26f16b0d.png" id="0" name="Picture 1"/>
          <p:cNvPicPr>
            <a:picLocks noGrp="1" noChangeAspect="1"/>
          </p:cNvPicPr>
          <p:nvPr/>
        </p:nvPicPr>
        <p:blipFill>
          <a:blip r:embed="rId3"/>
          <a:stretch>
            <a:fillRect/>
          </a:stretch>
        </p:blipFill>
        <p:spPr bwMode="auto">
          <a:xfrm>
            <a:off x="457202" y="3036200"/>
            <a:ext cx="8229596" cy="614149"/>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latin typeface="Courier"/>
              </a:rPr>
              <a:t>ColumnTransformer</a:t>
            </a:r>
            <a:r>
              <a:rPr/>
              <a:t> + </a:t>
            </a:r>
            <a:r>
              <a:rPr>
                <a:latin typeface="Courier"/>
              </a:rPr>
              <a:t>Pipeline</a:t>
            </a:r>
          </a:p>
        </p:txBody>
      </p:sp>
      <p:pic>
        <p:nvPicPr>
          <p:cNvPr descr="pipeline_architecture.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prep </a:t>
            </a:r>
            <a:r>
              <a:rPr>
                <a:solidFill>
                  <a:srgbClr val="666666"/>
                </a:solidFill>
                <a:latin typeface="Courier"/>
              </a:rPr>
              <a:t>=</a:t>
            </a:r>
            <a:r>
              <a:rPr>
                <a:latin typeface="Courier"/>
              </a:rPr>
              <a:t> ColumnTransformer([</a:t>
            </a:r>
            <a:br/>
            <a:r>
              <a:rPr>
                <a:latin typeface="Courier"/>
              </a:rPr>
              <a:t>    (</a:t>
            </a:r>
            <a:r>
              <a:rPr>
                <a:solidFill>
                  <a:srgbClr val="4070A0"/>
                </a:solidFill>
                <a:latin typeface="Courier"/>
              </a:rPr>
              <a:t>"num"</a:t>
            </a:r>
            <a:r>
              <a:rPr>
                <a:latin typeface="Courier"/>
              </a:rPr>
              <a:t>, num_pipe, num_cols),</a:t>
            </a:r>
            <a:br/>
            <a:r>
              <a:rPr>
                <a:latin typeface="Courier"/>
              </a:rPr>
              <a:t>    (</a:t>
            </a:r>
            <a:r>
              <a:rPr>
                <a:solidFill>
                  <a:srgbClr val="4070A0"/>
                </a:solidFill>
                <a:latin typeface="Courier"/>
              </a:rPr>
              <a:t>"cat"</a:t>
            </a:r>
            <a:r>
              <a:rPr>
                <a:latin typeface="Courier"/>
              </a:rPr>
              <a:t>, cat_pipe, cat_cols),</a:t>
            </a:r>
            <a:br/>
            <a:r>
              <a:rPr>
                <a:latin typeface="Courier"/>
              </a:rPr>
              <a:t>])</a:t>
            </a:r>
            <a:br/>
            <a:r>
              <a:rPr>
                <a:latin typeface="Courier"/>
              </a:rPr>
              <a:t>model </a:t>
            </a:r>
            <a:r>
              <a:rPr>
                <a:solidFill>
                  <a:srgbClr val="666666"/>
                </a:solidFill>
                <a:latin typeface="Courier"/>
              </a:rPr>
              <a:t>=</a:t>
            </a:r>
            <a:r>
              <a:rPr>
                <a:latin typeface="Courier"/>
              </a:rPr>
              <a:t> Pipeline([(</a:t>
            </a:r>
            <a:r>
              <a:rPr>
                <a:solidFill>
                  <a:srgbClr val="4070A0"/>
                </a:solidFill>
                <a:latin typeface="Courier"/>
              </a:rPr>
              <a:t>"prep"</a:t>
            </a:r>
            <a:r>
              <a:rPr>
                <a:latin typeface="Courier"/>
              </a:rPr>
              <a:t>, prep), (</a:t>
            </a:r>
            <a:r>
              <a:rPr>
                <a:solidFill>
                  <a:srgbClr val="4070A0"/>
                </a:solidFill>
                <a:latin typeface="Courier"/>
              </a:rPr>
              <a:t>"clf"</a:t>
            </a:r>
            <a:r>
              <a:rPr>
                <a:latin typeface="Courier"/>
              </a:rPr>
              <a:t>, clf)])</a:t>
            </a:r>
            <a:br/>
            <a:r>
              <a:rPr>
                <a:latin typeface="Courier"/>
              </a:rPr>
              <a:t>model.fit(X_train, y_train)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on churn</a:t>
            </a:r>
          </a:p>
        </p:txBody>
      </p:sp>
      <p:sp>
        <p:nvSpPr>
          <p:cNvPr id="3" name="Content Placeholder 2"/>
          <p:cNvSpPr>
            <a:spLocks noGrp="1"/>
          </p:cNvSpPr>
          <p:nvPr>
            <p:ph idx="1"/>
          </p:nvPr>
        </p:nvSpPr>
        <p:spPr>
          <a:xfrm>
            <a:off x="457200" y="1200151"/>
            <a:ext cx="8229600" cy="3394472"/>
          </a:xfrm>
        </p:spPr>
        <p:txBody>
          <a:bodyPr/>
          <a:lstStyle/>
          <a:p>
            <a:pPr lvl="0"/>
            <a:r>
              <a:rPr/>
              <a:t>Baseline: </a:t>
            </a:r>
            <a:r>
              <a:rPr b="1"/>
              <a:t>0.806</a:t>
            </a:r>
          </a:p>
          <a:p>
            <a:pPr lvl="0"/>
            <a:r>
              <a:rPr/>
              <a:t>Model (numeric + low-card categorical, no zip): </a:t>
            </a:r>
            <a:r>
              <a:rPr b="1"/>
              <a:t>0.820</a:t>
            </a:r>
            <a:r>
              <a:rPr/>
              <a:t> accuracy, </a:t>
            </a:r>
            <a:r>
              <a:rPr b="1"/>
              <a:t>0.752</a:t>
            </a:r>
            <a:r>
              <a:rPr/>
              <a:t> AUC</a:t>
            </a:r>
          </a:p>
          <a:p>
            <a:pPr lvl="0" indent="0" marL="0">
              <a:buNone/>
            </a:pPr>
            <a:r>
              <a:rPr/>
              <a:t>Modest accuracy gain. Why?</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Feature engineering</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Ratios, interactions, binning — a linear model cannot invent these itself. AUC: 0.752 → 0.754, a modest but real gain.</a:t>
            </a:r>
          </a:p>
        </p:txBody>
      </p:sp>
      <p:pic>
        <p:nvPicPr>
          <p:cNvPr descr="eq_0ab17cabfc.png" id="0" name="Picture 1"/>
          <p:cNvPicPr>
            <a:picLocks noGrp="1" noChangeAspect="1"/>
          </p:cNvPicPr>
          <p:nvPr/>
        </p:nvPicPr>
        <p:blipFill>
          <a:blip r:embed="rId3"/>
          <a:stretch>
            <a:fillRect/>
          </a:stretch>
        </p:blipFill>
        <p:spPr bwMode="auto">
          <a:xfrm>
            <a:off x="457201" y="3111497"/>
            <a:ext cx="8229597" cy="900752"/>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Scaling from scratch, the dummy trap, </a:t>
            </a:r>
            <a:r>
              <a:rPr>
                <a:latin typeface="Courier"/>
              </a:rPr>
              <a:t>ColumnTransformer</a:t>
            </a:r>
            <a:r>
              <a:rPr/>
              <a:t>, </a:t>
            </a:r>
            <a:r>
              <a:rPr>
                <a:latin typeface="Courier"/>
              </a:rPr>
              <a:t>Pipeline</a:t>
            </a:r>
            <a:r>
              <a:rPr/>
              <a: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rule, broken three ways</a:t>
            </a:r>
          </a:p>
        </p:txBody>
      </p:sp>
      <p:pic>
        <p:nvPicPr>
          <p:cNvPr descr="invisible_leaks.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1 — impute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KNNImputer</a:t>
            </a:r>
            <a:r>
              <a:rPr/>
              <a:t> fills a gap using </a:t>
            </a:r>
            <a:r>
              <a:rPr b="1"/>
              <a:t>other rows’ values</a:t>
            </a:r>
            <a:r>
              <a:rPr/>
              <a:t>.</a:t>
            </a:r>
          </a:p>
          <a:p>
            <a:pPr lvl="0" indent="0" marL="0">
              <a:buNone/>
            </a:pPr>
            <a:r>
              <a:rPr/>
              <a:t>Fit it on train + test, and some of those rows are in the test set.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smoking gun</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98 of 128</a:t>
            </a:r>
            <a:r>
              <a:rPr/>
              <a:t> training rows with missing age had a </a:t>
            </a:r>
            <a:r>
              <a:rPr b="1"/>
              <a:t>test-set row</a:t>
            </a:r>
            <a:r>
              <a:rPr/>
              <a:t> among their five nearest neighbours.</a:t>
            </a:r>
          </a:p>
          <a:p>
            <a:pPr lvl="0" indent="0" marL="0">
              <a:buNone/>
            </a:pPr>
            <a:r>
              <a:rPr/>
              <a:t>Nothing raised an error.</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2 — encode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Replace </a:t>
            </a:r>
            <a:r>
              <a:rPr>
                <a:latin typeface="Courier"/>
              </a:rPr>
              <a:t>zip_code</a:t>
            </a:r>
            <a:r>
              <a:rPr/>
              <a:t> with the </a:t>
            </a:r>
            <a:r>
              <a:rPr b="1"/>
              <a:t>average churn rate of its own customers</a:t>
            </a:r>
            <a:r>
              <a:rPr/>
              <a:t>, computed before anybody has split anything.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column with no real signal, encoded three ways</a:t>
            </a:r>
          </a:p>
        </p:txBody>
      </p:sp>
      <p:pic>
        <p:nvPicPr>
          <p:cNvPr descr="target_encoding_leak.png" id="0" name="Picture 1"/>
          <p:cNvPicPr>
            <a:picLocks noGrp="1" noChangeAspect="1"/>
          </p:cNvPicPr>
          <p:nvPr/>
        </p:nvPicPr>
        <p:blipFill>
          <a:blip r:embed="rId3"/>
          <a:stretch>
            <a:fillRect/>
          </a:stretch>
        </p:blipFill>
        <p:spPr bwMode="auto">
          <a:xfrm>
            <a:off x="1847359" y="1166099"/>
            <a:ext cx="5449282"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Why small groups make it worse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“leave-in” encoding differs from the honest leave-one-out encoding by:</a:t>
            </a:r>
          </a:p>
        </p:txBody>
      </p:sp>
      <p:pic>
        <p:nvPicPr>
          <p:cNvPr descr="eq_2274cba409.png" id="0" name="Picture 1"/>
          <p:cNvPicPr>
            <a:picLocks noGrp="1" noChangeAspect="1"/>
          </p:cNvPicPr>
          <p:nvPr/>
        </p:nvPicPr>
        <p:blipFill>
          <a:blip r:embed="rId3"/>
          <a:stretch>
            <a:fillRect/>
          </a:stretch>
        </p:blipFill>
        <p:spPr bwMode="auto">
          <a:xfrm>
            <a:off x="457201" y="2411815"/>
            <a:ext cx="8229598" cy="1862919"/>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leak shrinks as 1/n_c</a:t>
            </a:r>
          </a:p>
        </p:txBody>
      </p:sp>
      <p:pic>
        <p:nvPicPr>
          <p:cNvPr descr="leak_shrinks_with_group_siz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fix</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sklearn.preprocessing.TargetEncoder</a:t>
            </a:r>
            <a:r>
              <a:rPr/>
              <a:t> — cross-fitted inside the pipeline.</a:t>
            </a:r>
          </a:p>
          <a:p>
            <a:pPr lvl="0" indent="0" marL="0">
              <a:buNone/>
            </a:pPr>
            <a:r>
              <a:rPr/>
              <a:t>Each row’s encoded value comes from </a:t>
            </a:r>
            <a:r>
              <a:rPr b="1"/>
              <a:t>other</a:t>
            </a:r>
            <a:r>
              <a:rPr/>
              <a:t> folds, never its own label.</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restated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Everything that </a:t>
            </a:r>
            <a:r>
              <a:rPr b="1"/>
              <a:t>learns from data</a:t>
            </a:r>
            <a:r>
              <a:rPr/>
              <a:t> belongs inside the fold it is fitted on.</a:t>
            </a:r>
          </a:p>
          <a:p>
            <a:pPr lvl="0" indent="0" marL="0">
              <a:buNone/>
            </a:pPr>
            <a:r>
              <a:rPr/>
              <a:t>A mean. A median. A set of neighbours. A per-category average. A set of bin edges.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Trace the imputation leak. Watch the encoding leak manufacture 0.89 from noise.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Explored before transforming — types, gaps, shape, correlations</a:t>
            </a:r>
          </a:p>
          <a:p>
            <a:pPr lvl="0"/>
            <a:r>
              <a:rPr/>
              <a:t>Diagnosed </a:t>
            </a:r>
            <a:r>
              <a:rPr i="1"/>
              <a:t>why</a:t>
            </a:r>
            <a:r>
              <a:rPr/>
              <a:t> values are missing, not just </a:t>
            </a:r>
            <a:r>
              <a:rPr i="1"/>
              <a:t>how many</a:t>
            </a:r>
          </a:p>
          <a:p>
            <a:pPr lvl="0"/>
            <a:r>
              <a:rPr/>
              <a:t>Two outlier rules, and what neither can tell you</a:t>
            </a:r>
          </a:p>
          <a:p>
            <a:pPr lvl="0"/>
            <a:r>
              <a:rPr/>
              <a:t>Scaling, encoding, engineering — all inside </a:t>
            </a:r>
            <a:r>
              <a:rPr>
                <a:latin typeface="Courier"/>
              </a:rPr>
              <a:t>Pipeline</a:t>
            </a:r>
          </a:p>
          <a:p>
            <a:pPr lvl="0"/>
            <a:r>
              <a:rPr/>
              <a:t>Two leaks that look nothing like leaking</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 due Friday 9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Exercises/02_data_exploration_and_preparation.md</a:t>
            </a:r>
          </a:p>
          <a:p>
            <a:pPr lvl="0" indent="0" marL="0">
              <a:buNone/>
            </a:pPr>
            <a:r>
              <a:rPr/>
              <a:t>Build the full preparation pipeline yourself, and </a:t>
            </a:r>
            <a:r>
              <a:rPr b="1"/>
              <a:t>find a leak on purpose</a:t>
            </a:r>
            <a:r>
              <a:rPr/>
              <a:t> before fixing it.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Work the three notebooks in order</a:t>
            </a:r>
          </a:p>
          <a:p>
            <a:pPr lvl="0"/>
            <a:r>
              <a:rPr/>
              <a:t>Read the handout — the derivations are examinable</a:t>
            </a:r>
          </a:p>
          <a:p>
            <a:pPr lvl="0"/>
            <a:r>
              <a:rPr/>
              <a:t>Take the quiz</a:t>
            </a:r>
          </a:p>
          <a:p>
            <a:pPr lvl="0"/>
            <a:r>
              <a:rPr b="1"/>
              <a:t>Do the exercise</a:t>
            </a:r>
          </a:p>
          <a:p>
            <a:pPr lvl="0" indent="0" marL="0">
              <a:buNone/>
            </a:pPr>
            <a:r>
              <a:rPr/>
              <a:t>Next: regression — the first model we derive completely.</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 Data: Exploration and Preparation</dc:title>
  <dc:creator>Fabio Antonini —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 October 2026</vt:lpwstr>
  </property>
  <property fmtid="{D5CDD505-2E9C-101B-9397-08002B2CF9AE}" pid="3" name="subtitle">
    <vt:lpwstr>Technologies for Artificial Intelligence</vt:lpwstr>
  </property>
</Properties>
</file>