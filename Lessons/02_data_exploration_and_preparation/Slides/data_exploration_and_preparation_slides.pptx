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Pay off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robust one is the one that got it wrong. Nothing here deletes a row - what to do once something is flagged is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17.23 to 171.25, dragging the z-score fence from 115.0 out to 593.0.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15.0 to 16.7, four paying 111.6 to 128.4, outside fences of 17.3 and 110.0.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ravine - steep across, almost flat along. One step size has to serve both. Long enough to advance along the flat direction and it overshoots the steep one and bounces from wall to wall; short enough to be safe on the steep one and it crawls along the flat one. Count the dots out loud: twenty-six steps and it is still not at the star.</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will convict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is the answer to the question left hanging.</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two slides from here.</a:t>
            </a:r>
          </a:p>
          <a:p>
            <a:pPr lvl="0" indent="0" marL="0">
              <a:buNone/>
            </a:pPr>
          </a:p>
          <a:p>
            <a:pPr lvl="0" indent="0" marL="0">
              <a:buNone/>
            </a:pPr>
            <a:r>
              <a:rPr/>
              <a:t>The last bullet is the hook, not a conclusion.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condition out loud, because it is no longer written on the slide and it is the whole content: this equality holds ONLY IF f is independent of T. It was on the slide and made the formula too small to read from the back; it belongs in your mouth, not in the image.</a:t>
            </a:r>
          </a:p>
          <a:p>
            <a:pPr lvl="0" indent="0" marL="0">
              <a:buNone/>
            </a:pPr>
          </a:p>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formula was on this slide as a rendered equation and came out at 23pt, the smallest in the course: the column names are long enough that no amount of trimming saves it. It is one sentence to say - total_paid is the monthly charge times the months stayed, with tenure clipped at zero first - and the three AUCs are what does the work in the room.</a:t>
            </a:r>
          </a:p>
          <a:p>
            <a:pPr lvl="0" indent="0" marL="0">
              <a:buNone/>
            </a:pPr>
          </a:p>
          <a:p>
            <a:pPr lvl="0" indent="0" marL="0">
              <a:buNone/>
            </a:pPr>
            <a:r>
              <a:rPr/>
              <a:t>Do not let anyone in the room call three thousandths a win, and do not call it one yourself. Quote the four decimals, 0.7514 against 0.7548: at three, 0.751 against 0.755 sounds like a difference of 0.004, and the difference is 0.0034. It is a legitimate result, not a failed experiment - the hypothesis that what a customer has been worth so far predicts whether they leave was reasonable, it was tested, and the data declined it. Feature engineering is a hypothesis about the domain, not a guarantee. Handout Section 7.</a:t>
            </a:r>
          </a:p>
          <a:p>
            <a:pPr lvl="0" indent="0" marL="0">
              <a:buNone/>
            </a:pPr>
          </a:p>
          <a:p>
            <a:pPr lvl="0" indent="0" marL="0">
              <a:buNone/>
            </a:pPr>
            <a:r>
              <a:rPr/>
              <a:t>Then the second number, which is the one to spend time on. Rebuild the same column after Section 4’s domain rule - tenure clipped to 0-120, not just at zero - and +0.0034 becomes -0.0075. The gain was never about what the customer paid: 999 months times a billing error of 3,344.7 is a total_paid no real customer could have, and those rows line up with the target well enough to move the score. Multiplying two contaminated columns concentrates the contamination. Say the moral out loud: the order of the steps is part of the method.</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rather than skating over it, because someone will ask. tenure_months still holds the -3 of Section 4 at this point, and multiplying by it unclipped hands the model a customer who has paid minus two hundred euros.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If someone objects to the obvious alternative, monthly_charges divided by tenure_months, they are right to: monthly_charges is already a rate, so dividing it by months again gives euros per month per month. Check the units before trusting a construction.</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product)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Let them work; circulate.</a:t>
            </a:r>
          </a:p>
          <a:p>
            <a:pPr lvl="0" indent="0" marL="0">
              <a:buNone/>
            </a:pPr>
          </a:p>
          <a:p>
            <a:pPr lvl="0" indent="0" marL="0">
              <a:buNone/>
            </a:pPr>
            <a:r>
              <a:rPr/>
              <a:t>Say what the eight sections are for before they start, because the notebook is long and the middle of it looks like plumbing: sections 3 and 4 are why we scale, 5 and 6 are why we encode and what zip_code costs, 7 is the pipeline that makes the rule true by construction, and 8 is the feature that does not work.</a:t>
            </a:r>
          </a:p>
          <a:p>
            <a:pPr lvl="0" indent="0" marL="0">
              <a:buNone/>
            </a:pPr>
          </a:p>
          <a:p>
            <a:pPr lvl="0" indent="0" marL="0">
              <a:buNone/>
            </a:pPr>
            <a:r>
              <a:rPr/>
              <a:t>The gradient descent toy in section 3 is worth running interactively - change the variance ratio live and watch the iteration count move, per the handout’s “try this”. It makes the condition number argument concrete in a way the derivation alone does not. The number to make them say out loud is the second one on the slide: the raw features do not diverge to infinity, they oscillate between 0.69 and 8.29 and never settle. That is a worse failure than slowness, because nothing errors.</a:t>
            </a:r>
          </a:p>
          <a:p>
            <a:pPr lvl="0" indent="0" marL="0">
              <a:buNone/>
            </a:pPr>
          </a:p>
          <a:p>
            <a:pPr lvl="0" indent="0" marL="0">
              <a:buNone/>
            </a:pPr>
            <a:r>
              <a:rPr/>
              <a:t>Section 5 is the one that lands without discussion: matrix_rank returns 3 for four columns, and short by exactly one is the signature of a single dependence. They believe numpy where they might not believe the algebra.</a:t>
            </a:r>
          </a:p>
          <a:p>
            <a:pPr lvl="0" indent="0" marL="0">
              <a:buNone/>
            </a:pPr>
          </a:p>
          <a:p>
            <a:pPr lvl="0" indent="0" marL="0">
              <a:buNone/>
            </a:pPr>
            <a:r>
              <a:rPr/>
              <a:t>If the room is moving fast, section 7 is where to slow down: ColumnTransformer is the piece they will reuse in every exercise, and getting the column selectors right is fiddlier than it looks.</a:t>
            </a:r>
          </a:p>
          <a:p>
            <a:pPr lvl="0" indent="0" marL="0">
              <a:buNone/>
            </a:pPr>
          </a:p>
          <a:p>
            <a:pPr lvl="0" indent="0" marL="0">
              <a:buNone/>
            </a:pPr>
            <a:r>
              <a:rPr/>
              <a:t>And leave time for section 8, which is the one they will get wrong on their own data: the engineered feature gains 0.0034, then loses 0.0075 once tenure is cleaned first. Ask them why before telling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both leaks inflate the score, neither raises an error, and both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exercises.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there is, since the exam draws one of their own notebooks and asks why each decision was made.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16 October.</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that nothing is handed in: every exercise is kept, because one of the ten is drawn at the exam and discussed from their own notebook.</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on how you framed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of these four have no shape left to read</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most-frequent, </a:t>
            </a:r>
            <a:r>
              <a:rPr>
                <a:latin typeface="Courier"/>
              </a:rPr>
              <a:t>KNNImputer</a:t>
            </a:r>
          </a:p>
          <a:p>
            <a:pPr lvl="0"/>
            <a:r>
              <a:rPr b="1"/>
              <a:t>Add a missingness indicator</a:t>
            </a:r>
            <a:r>
              <a:rPr/>
              <a:t>: keeps MAR signal alive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outlier is far from the rest - not necessarily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The arithmetic cannot tell which: 3,344.7 may be a typo or a corporate account</a:t>
            </a:r>
          </a:p>
          <a:p>
            <a:pPr lvl="0"/>
            <a:r>
              <a:rPr/>
              <a:t>Two rules follow - standard deviations, then quartiles - and both only </a:t>
            </a:r>
            <a:r>
              <a:rPr b="1"/>
              <a:t>flag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49925" y="2297549"/>
            <a:ext cx="2844149" cy="109728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from scratch.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 choosing the model’s numbers to make Lesson 1’s average loss small</a:t>
            </a:r>
          </a:p>
          <a:p>
            <a:pPr lvl="0"/>
            <a:r>
              <a:rPr b="1"/>
              <a:t>Gradient descent</a:t>
            </a:r>
            <a:r>
              <a:rPr/>
              <a:t> does it by repeated small steps downhill on that loss</a:t>
            </a:r>
          </a:p>
          <a:p>
            <a:pPr lvl="0"/>
            <a:r>
              <a:rPr/>
              <a:t>One step size, along every axis, every iteration. Can it suit both columns?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62159" y="1166099"/>
            <a:ext cx="661968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does arithmetic, and </a:t>
            </a:r>
            <a:r>
              <a:rPr>
                <a:latin typeface="Courier"/>
              </a:rPr>
              <a:t>"month-to-month"</a:t>
            </a:r>
            <a:r>
              <a:rPr/>
              <a:t> offers none.</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simply different: no order, no distances</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the level’s own average outcome stands in for 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Equal steps, unequal meaning</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claims nothing, and pays in columns</a:t>
            </a:r>
          </a:p>
        </p:txBody>
      </p:sp>
      <p:sp>
        <p:nvSpPr>
          <p:cNvPr id="3" name="Content Placeholder 2"/>
          <p:cNvSpPr>
            <a:spLocks noGrp="1"/>
          </p:cNvSpPr>
          <p:nvPr>
            <p:ph idx="1"/>
          </p:nvPr>
        </p:nvSpPr>
        <p:spPr>
          <a:xfrm>
            <a:off x="457200" y="1200151"/>
            <a:ext cx="8229600" cy="3394472"/>
          </a:xfrm>
        </p:spPr>
        <p:txBody>
          <a:bodyPr/>
          <a:lstStyle/>
          <a:p>
            <a:pPr lvl="0"/>
            <a:r>
              <a:rPr/>
              <a:t>A column with k levels becomes k binary columns, one 1 per row</a:t>
            </a:r>
          </a:p>
          <a:p>
            <a:pPr lvl="0"/>
            <a:r>
              <a:rPr/>
              <a:t>It asserts no order and no distance - which is why it is the default</a:t>
            </a:r>
          </a:p>
          <a:p>
            <a:pPr lvl="0"/>
            <a:r>
              <a:rPr/>
              <a:t>The price is width: </a:t>
            </a:r>
            <a:r>
              <a:rPr>
                <a:latin typeface="Courier"/>
              </a:rPr>
              <a:t>zip_code</a:t>
            </a:r>
            <a:r>
              <a:rPr/>
              <a:t> would add </a:t>
            </a:r>
            <a:r>
              <a:rPr b="1"/>
              <a:t>493</a:t>
            </a:r>
            <a:r>
              <a:rPr/>
              <a:t> columns to 2,000 rows</a:t>
            </a:r>
          </a:p>
          <a:p>
            <a:pPr lvl="0"/>
            <a:r>
              <a:rPr/>
              <a:t>Target encoding compresses any cardinality into one column - computed from the labels, which is where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All k dummies plus an intercept cannot both be free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Most models carry a column of ones - the </a:t>
            </a:r>
            <a:r>
              <a:rPr b="1"/>
              <a:t>intercept</a:t>
            </a:r>
            <a:r>
              <a:rPr/>
              <a:t> - so they can fit a baseline level.</a:t>
            </a:r>
          </a:p>
        </p:txBody>
      </p:sp>
      <p:pic>
        <p:nvPicPr>
          <p:cNvPr descr="eq_3723e214d0.png" id="0" name="Picture 1"/>
          <p:cNvPicPr>
            <a:picLocks noGrp="1" noChangeAspect="1"/>
          </p:cNvPicPr>
          <p:nvPr/>
        </p:nvPicPr>
        <p:blipFill>
          <a:blip r:embed="rId3"/>
          <a:stretch>
            <a:fillRect/>
          </a:stretch>
        </p:blipFill>
        <p:spPr bwMode="auto">
          <a:xfrm>
            <a:off x="457200" y="2401579"/>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3460d29d6f.png" id="0" name="Picture 1"/>
          <p:cNvPicPr>
            <a:picLocks noGrp="1" noChangeAspect="1"/>
          </p:cNvPicPr>
          <p:nvPr/>
        </p:nvPicPr>
        <p:blipFill>
          <a:blip r:embed="rId3"/>
          <a:stretch>
            <a:fillRect/>
          </a:stretch>
        </p:blipFill>
        <p:spPr bwMode="auto">
          <a:xfrm>
            <a:off x="1296590" y="2829964"/>
            <a:ext cx="6550819" cy="102662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the low-cardinality categoricals, no zip): </a:t>
            </a:r>
            <a:r>
              <a:rPr b="1"/>
              <a:t>0.820</a:t>
            </a:r>
            <a:r>
              <a:rPr/>
              <a:t> accuracy, </a:t>
            </a:r>
            <a:r>
              <a:rPr b="1"/>
              <a:t>0.751</a:t>
            </a:r>
            <a:r>
              <a:rPr/>
              <a:t> AUC (area under the receiver operating characteristic curve)</a:t>
            </a:r>
          </a:p>
          <a:p>
            <a:pPr lvl="0" indent="0" marL="0">
              <a:buNone/>
            </a:pPr>
            <a:r>
              <a:rPr/>
              <a:t>Modest accuracy gain.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engineering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Ratios, interactions, binning: a linear model cannot invent these itself.</a:t>
            </a:r>
          </a:p>
          <a:p>
            <a:pPr lvl="0" indent="0" marL="0">
              <a:buNone/>
            </a:pPr>
            <a:r>
              <a:rPr>
                <a:latin typeface="Courier"/>
              </a:rPr>
              <a:t>total_paid</a:t>
            </a:r>
            <a:r>
              <a:rPr/>
              <a:t> = charge × months stayed. AUC: 0.7514 → 0.7548, under four thousandths. Clean </a:t>
            </a:r>
            <a:r>
              <a:rPr>
                <a:latin typeface="Courier"/>
              </a:rPr>
              <a:t>tenure_months</a:t>
            </a:r>
            <a:r>
              <a:rPr/>
              <a:t> first and the same feature scores </a:t>
            </a:r>
            <a:r>
              <a:rPr b="1"/>
              <a:t>0.7439</a:t>
            </a:r>
            <a:r>
              <a:rPr/>
              <a:t> - the gain was living in the 999s.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Four numbers to come back with:</a:t>
            </a:r>
          </a:p>
          <a:p>
            <a:pPr lvl="0"/>
            <a:r>
              <a:rPr/>
              <a:t>Variance ratio </a:t>
            </a:r>
            <a:r>
              <a:rPr b="1"/>
              <a:t>110:1</a:t>
            </a:r>
            <a:r>
              <a:rPr/>
              <a:t> - learning rate </a:t>
            </a:r>
            <a:r>
              <a:rPr b="1"/>
              <a:t>2.0</a:t>
            </a:r>
            <a:r>
              <a:rPr/>
              <a:t> scaled, </a:t>
            </a:r>
            <a:r>
              <a:rPr b="1"/>
              <a:t>0.1</a:t>
            </a:r>
            <a:r>
              <a:rPr/>
              <a:t> raw</a:t>
            </a:r>
          </a:p>
          <a:p>
            <a:pPr lvl="0"/>
            <a:r>
              <a:rPr/>
              <a:t>That rate on raw features: loss swings </a:t>
            </a:r>
            <a:r>
              <a:rPr b="1"/>
              <a:t>0.69 to 8.29</a:t>
            </a:r>
            <a:r>
              <a:rPr/>
              <a:t>, for ever</a:t>
            </a:r>
          </a:p>
          <a:p>
            <a:pPr lvl="0"/>
            <a:r>
              <a:rPr/>
              <a:t>k dummies + intercept: </a:t>
            </a:r>
            <a:r>
              <a:rPr b="1"/>
              <a:t>4 columns, rank 3</a:t>
            </a:r>
          </a:p>
          <a:p>
            <a:pPr lvl="0"/>
            <a:r>
              <a:rPr>
                <a:latin typeface="Courier"/>
              </a:rPr>
              <a:t>Pipeline</a:t>
            </a:r>
            <a:r>
              <a:rPr/>
              <a:t>, then </a:t>
            </a:r>
            <a:r>
              <a:rPr>
                <a:latin typeface="Courier"/>
              </a:rPr>
              <a:t>total_paid</a:t>
            </a:r>
            <a:r>
              <a:rPr/>
              <a:t>: </a:t>
            </a:r>
            <a:r>
              <a:rPr b="1"/>
              <a:t>0.7514 → 0.7548 → 0.7439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1553951" y="2189484"/>
            <a:ext cx="6036097" cy="131341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