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derivation made visible. Left: variances differ, so the bowl is a narrow valley. One step size is bound by the steep axis, so it bounces across the valley while barely advancing along it.</a:t>
            </a:r>
          </a:p>
          <a:p>
            <a:pPr lvl="0" indent="0" marL="0">
              <a:buNone/>
            </a:pPr>
          </a:p>
          <a:p>
            <a:pPr lvl="0" indent="0" marL="0">
              <a:buNone/>
            </a:pPr>
            <a:r>
              <a:rPr/>
              <a:t>Right: after scaling, the bowl is round and every step points at the minimum.</a:t>
            </a:r>
          </a:p>
          <a:p>
            <a:pPr lvl="0" indent="0" marL="0">
              <a:buNone/>
            </a:pPr>
          </a:p>
          <a:p>
            <a:pPr lvl="0" indent="0" marL="0">
              <a:buNone/>
            </a:pPr>
            <a:r>
              <a:rPr/>
              <a:t>Give them the number that governs it - the condition number, the ratio of largest to smallest variance - and say that the iteration count scales with it. Scaling is not cosmetic: it changes how long training takes, and sometimes whether it converges at all.</a:t>
            </a:r>
          </a:p>
          <a:p>
            <a:pPr lvl="0" indent="0" marL="0">
              <a:buNone/>
            </a:pPr>
          </a:p>
          <a:p>
            <a:pPr lvl="0" indent="0" marL="0">
              <a:buNone/>
            </a:pPr>
            <a:r>
              <a:rPr/>
              <a:t>The derivation is Handout Section 5.2: the Hessian of the squared-error cost is the feature covariance matrix, so for uncorrelated centred features it is diagonal with the variances on it. That is why the picture is an axis-aligned ellipse, and why its elongation is the condition number.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Hessian is the feature covariance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For uncorrelated, centred features, H is diagonal — the variances sit on it.</a:t>
            </a:r>
          </a:p>
        </p:txBody>
      </p:sp>
      <p:pic>
        <p:nvPicPr>
          <p:cNvPr descr="condition_number_geometry.png" id="0" name="Picture 1"/>
          <p:cNvPicPr>
            <a:picLocks noGrp="1" noChangeAspect="1"/>
          </p:cNvPicPr>
          <p:nvPr/>
        </p:nvPicPr>
        <p:blipFill>
          <a:blip r:embed="rId3"/>
          <a:stretch>
            <a:fillRect/>
          </a:stretch>
        </p:blipFill>
        <p:spPr bwMode="auto">
          <a:xfrm>
            <a:off x="2263417" y="2160270"/>
            <a:ext cx="4617165"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 —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53651" y="1166099"/>
            <a:ext cx="543669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