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with the exercise, briefly - two or three minutes, not a review session. Nothing is collected, so this is the whole of the feedback: ask for a show of hands, who treated quality as binary and who kept it as an integer regression problem. Both are defensible if justified; that was the whole point of Task 1.</a:t>
            </a:r>
          </a:p>
          <a:p>
            <a:pPr lvl="0" indent="0" marL="0">
              <a:buNone/>
            </a:pPr>
          </a:p>
          <a:p>
            <a:pPr lvl="0" indent="0" marL="0">
              <a:buNone/>
            </a:pPr>
            <a:r>
              <a:rPr/>
              <a:t>Say once, here and only here, why it is worth having done: at the exam one of the ten exercises is drawn and they talk through their own notebook for it. Then move to today’s material.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in one sentence each, then land the framing for the whole lesson: Pipeline stops being “the scaling trick” and becomes the central tool of the lesson, because everything from here on - imputing, encoding, engineering - is another thing that learns from data and must sit inside it.</a:t>
            </a:r>
          </a:p>
          <a:p>
            <a:pPr lvl="0" indent="0" marL="0">
              <a:buNone/>
            </a:pPr>
          </a:p>
          <a:p>
            <a:pPr lvl="0" indent="0" marL="0">
              <a:buNone/>
            </a:pPr>
            <a:r>
              <a:rPr/>
              <a:t>Handout Section 1 makes this explicit.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now as the one to remember in five years - everything before it is the machinery that makes the leakage discussion precise rather than hand-wavy.</a:t>
            </a:r>
          </a:p>
          <a:p>
            <a:pPr lvl="0" indent="0" marL="0">
              <a:buNone/>
            </a:pPr>
          </a:p>
          <a:p>
            <a:pPr lvl="0" indent="0" marL="0">
              <a:buNone/>
            </a:pPr>
            <a:r>
              <a:rPr/>
              <a:t>Timing: roughly 35 minutes to the first notebook, then a break, then scaling and encoding, then the leakage section closes the lesson before homework.</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synthetic: every real messy teaching dataset sits behind a network call or a licence, and this lesson needs exact control over the missingness mechanism and the leakage story to make both demonstrable rather than merely plausible.</a:t>
            </a:r>
          </a:p>
          <a:p>
            <a:pPr lvl="0" indent="0" marL="0">
              <a:buNone/>
            </a:pPr>
          </a:p>
          <a:p>
            <a:pPr lvl="0" indent="0" marL="0">
              <a:buNone/>
            </a:pPr>
            <a:r>
              <a:rPr/>
              <a:t>Say explicitly: because we generated it, we know the ground truth. zip_code does not affect churn at all, by construction. Keep that fact in mind - it is what makes notebook 3 a clean experiment rather than an anecdote.</a:t>
            </a:r>
          </a:p>
          <a:p>
            <a:pPr lvl="0" indent="0" marL="0">
              <a:buNone/>
            </a:pPr>
          </a:p>
          <a:p>
            <a:pPr lvl="0" indent="0" marL="0">
              <a:buNone/>
            </a:pPr>
            <a:r>
              <a:rPr/>
              <a:t>Framing, as Lesson 1 asked: predicting churn to decide who a retention team calls. A missed churner costs a lost customer; an unnecessary call costs a few minutes. Keep the asymmetry in mind for Lesson 4.</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numbers off the slide and stop. The plot on the next slide is what makes the 999 mean something, and it needs the whole slide to be legible from the back of the room.</a:t>
            </a:r>
          </a:p>
          <a:p>
            <a:pPr lvl="0" indent="0" marL="0">
              <a:buNone/>
            </a:pPr>
          </a:p>
          <a:p>
            <a:pPr lvl="0" indent="0" marL="0">
              <a:buNone/>
            </a:pPr>
            <a:r>
              <a:rPr/>
              <a:t>Ask, before turning over: what will a histogram of tenure look like, if one customer in the file has 999 months?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describe shapes the room cannot see. On the first two panels there is no shape to read: tenure and monthly_charges are each a single spike at the left, with the axis running out to 1000 and 3500 and nothing drawn out there.</a:t>
            </a:r>
          </a:p>
          <a:p>
            <a:pPr lvl="0" indent="0" marL="0">
              <a:buNone/>
            </a:pPr>
          </a:p>
          <a:p>
            <a:pPr lvl="0" indent="0" marL="0">
              <a:buNone/>
            </a:pPr>
            <a:r>
              <a:rPr/>
              <a:t>That absence IS the slide. Ask them what stretched the axis, and let someone say it: a few values so extreme that every other customer has been squashed into one bar. This is the figure that makes the next forty minutes necessary.</a:t>
            </a:r>
          </a:p>
          <a:p>
            <a:pPr lvl="0" indent="0" marL="0">
              <a:buNone/>
            </a:pPr>
          </a:p>
          <a:p>
            <a:pPr lvl="0" indent="0" marL="0">
              <a:buNone/>
            </a:pPr>
            <a:r>
              <a:rPr/>
              <a:t>Then point at age and num_support_calls, which are on their own honest ranges and do show a distribution - age skewed with a spike at the youngest bound, support calls a Poisson-looking count. That contrast is the argument for cleaning before looking any further, and it is why the same plot reappears after Section 4.</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columns have gaps: age at 8.0% and num_support_calls at 4.8%. The count is the easy half of the question; the next three slides are the hard half - why are they missing?</a:t>
            </a:r>
          </a:p>
          <a:p>
            <a:pPr lvl="0" indent="0" marL="0">
              <a:buNone/>
            </a:pPr>
          </a:p>
          <a:p>
            <a:pPr lvl="0" indent="0" marL="0">
              <a:buNone/>
            </a:pPr>
            <a:r>
              <a:rPr/>
              <a:t>Make the point that this figure took one line to produce and is the first thing to run on any new dataset, before any modelling thought at all. A column that is 90% empty is a column you drop; a column that is 5% empty is a decision.</a:t>
            </a:r>
          </a:p>
          <a:p>
            <a:pPr lvl="0" indent="0" marL="0">
              <a:buNone/>
            </a:pPr>
          </a:p>
          <a:p>
            <a:pPr lvl="0" indent="0" marL="0">
              <a:buNone/>
            </a:pPr>
            <a:r>
              <a:rPr/>
              <a:t>Warn them about what the picture cannot show: whether the gaps are related to each other, or to the target. That is what the next slides are for, and it cannot be read off a bar chart.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3.1. Define each precisely, because the distinction is not academic - it determines which fix is valid.</a:t>
            </a:r>
          </a:p>
          <a:p>
            <a:pPr lvl="0" indent="0" marL="0">
              <a:buNone/>
            </a:pPr>
          </a:p>
          <a:p>
            <a:pPr lvl="0" indent="0" marL="0">
              <a:buNone/>
            </a:pPr>
            <a:r>
              <a:rPr/>
              <a:t>MCAR, missing completely at random: probability of missing depends on nothing. A blank field for no systematic reason.</a:t>
            </a:r>
          </a:p>
          <a:p>
            <a:pPr lvl="0" indent="0" marL="0">
              <a:buNone/>
            </a:pPr>
          </a:p>
          <a:p>
            <a:pPr lvl="0" indent="0" marL="0">
              <a:buNone/>
            </a:pPr>
            <a:r>
              <a:rPr/>
              <a:t>MAR, missing at random: depends on something you DO observe. Our num_support_calls is MAR against tenure - long-standing customers’ early call history predates the customer relationship management (CRM) system. Conditional on tenure, the gap carries no further information.</a:t>
            </a:r>
          </a:p>
          <a:p>
            <a:pPr lvl="0" indent="0" marL="0">
              <a:buNone/>
            </a:pPr>
          </a:p>
          <a:p>
            <a:pPr lvl="0" indent="0" marL="0">
              <a:buNone/>
            </a:pPr>
            <a:r>
              <a:rPr/>
              <a:t>MNAR, missing not at random: depends on the value itself, even unobserved. A customer who leaves because of a shockingly high bill and never finishes a survey. No column in the table can detect this - only knowing how the data was collected can. Say plainly: this is the dangerous one, and it does not appear in today’s dataset, which is itself worth noting - most real ones have some.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to the derivation. Ask: if the missingness is completely random, is mean imputation “free”? Let them guess before the next slide - most will say yes, and the reasoning is sound as far as it goes: the mean is unbiased, so filling with the mean introduces no bias in that column.</a:t>
            </a:r>
          </a:p>
          <a:p>
            <a:pPr lvl="0" indent="0" marL="0">
              <a:buNone/>
            </a:pPr>
          </a:p>
          <a:p>
            <a:pPr lvl="0" indent="0" marL="0">
              <a:buNone/>
            </a:pPr>
            <a:r>
              <a:rPr/>
              <a:t>The answer is no, and the reason is that a column is never used alone. Handout Section 3.2 derives it: filling p of the entries with a constant shrinks the variance to (1-p) times the original, and attenuates every correlation the column has with anything else by the square root of (1-p).</a:t>
            </a:r>
          </a:p>
          <a:p>
            <a:pPr lvl="0" indent="0" marL="0">
              <a:buNone/>
            </a:pPr>
          </a:p>
          <a:p>
            <a:pPr lvl="0" indent="0" marL="0">
              <a:buNone/>
            </a:pPr>
            <a:r>
              <a:rPr/>
              <a:t>Have the numbers ready. For age at p = 0.08 the factor is 0.96 - small enough to ignore. At p = 0.4 it is 0.77, which erases nearly a quarter of a genuine relationship. Tell them the practical rule that follows: mean imputation is fine when the gaps are few, and quietly destructive when they are many.</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curve rather than the formula. Filling gaps with a constant costs correlation, and the cost grows with the fraction filled.</a:t>
            </a:r>
          </a:p>
          <a:p>
            <a:pPr lvl="0" indent="0" marL="0">
              <a:buNone/>
            </a:pPr>
          </a:p>
          <a:p>
            <a:pPr lvl="0" indent="0" marL="0">
              <a:buNone/>
            </a:pPr>
            <a:r>
              <a:rPr/>
              <a:t>Point at the two markers. For age at 8% the factor is 0.96 - negligible, and this is why nobody notices. At 40% it is 0.77, which erases nearly a quarter of a real relationship.</a:t>
            </a:r>
          </a:p>
          <a:p>
            <a:pPr lvl="0" indent="0" marL="0">
              <a:buNone/>
            </a:pPr>
          </a:p>
          <a:p>
            <a:pPr lvl="0" indent="0" marL="0">
              <a:buNone/>
            </a:pPr>
            <a:r>
              <a:rPr/>
              <a:t>The practical rule to state: mean imputation is fine when gaps are few, and quietly destructive when they are many. Nothing warns you at which point it crossed over.</a:t>
            </a:r>
          </a:p>
          <a:p>
            <a:pPr lvl="0" indent="0" marL="0">
              <a:buNone/>
            </a:pPr>
          </a:p>
          <a:p>
            <a:pPr lvl="0" indent="0" marL="0">
              <a:buNone/>
            </a:pPr>
            <a:r>
              <a:rPr/>
              <a:t>The algebra is Handout Section 3.2: the correlation is multiplied by the square root of one minus the missing fraction. Write it on the board if the room wants it - the figure is what they will remember.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that MCAR imputation does not need: add a binary column recording whether the value was missing. It lets a model use the fact of missingness - which, under MAR, is genuinely informative about tenure - even after the gap itself is filled with a number.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options, and the choice is a question about WHY the data is missing rather than about how much is missing.</a:t>
            </a:r>
          </a:p>
          <a:p>
            <a:pPr lvl="0" indent="0" marL="0">
              <a:buNone/>
            </a:pPr>
          </a:p>
          <a:p>
            <a:pPr lvl="0" indent="0" marL="0">
              <a:buNone/>
            </a:pPr>
            <a:r>
              <a:rPr/>
              <a:t>The one worth dwelling on is the fourth: adding a binary indicator keeps the MAR signal itself available to the model - the fact that long-tenure customers are more often missing a call count may be more informative than the count would have been.</a:t>
            </a:r>
          </a:p>
          <a:p>
            <a:pPr lvl="0" indent="0" marL="0">
              <a:buNone/>
            </a:pPr>
          </a:p>
          <a:p>
            <a:pPr lvl="0" indent="0" marL="0">
              <a:buNone/>
            </a:pPr>
            <a:r>
              <a:rPr/>
              <a:t>Then the line at the bottom: every option except dropping the column learns a statistic, so all of them belong inside the training fold. That is the thread the whole lesson pulls 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decision path rather than a rule: how much is missing, does the missingness look related to anything, and what does the column cost if it goes.</a:t>
            </a:r>
          </a:p>
          <a:p>
            <a:pPr lvl="0" indent="0" marL="0">
              <a:buNone/>
            </a:pPr>
          </a:p>
          <a:p>
            <a:pPr lvl="0" indent="0" marL="0">
              <a:buNone/>
            </a:pPr>
            <a:r>
              <a:rPr/>
              <a:t>Point out that three of the four branches end somewhere defensible, and that the indicator branch is the one people forget. Adding a column that records that a value was missing costs nothing and keeps the signal alive when the fact of the gap is itself informative - which for anything recorded by a human it usually is.</a:t>
            </a:r>
          </a:p>
          <a:p>
            <a:pPr lvl="0" indent="0" marL="0">
              <a:buNone/>
            </a:pPr>
          </a:p>
          <a:p>
            <a:pPr lvl="0" indent="0" marL="0">
              <a:buNone/>
            </a:pPr>
            <a:r>
              <a:rPr/>
              <a:t>The branch worth warning about is dropping rows. It is the easiest to do and the only one that can quietly change what the sample represents.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z-score rule. Standardise the column, then flag anything more than k standard deviations from the mean - we use k = 3 throughout.</a:t>
            </a:r>
          </a:p>
          <a:p>
            <a:pPr lvl="0" indent="0" marL="0">
              <a:buNone/>
            </a:pPr>
          </a:p>
          <a:p>
            <a:pPr lvl="0" indent="0" marL="0">
              <a:buNone/>
            </a:pPr>
            <a:r>
              <a:rPr/>
              <a:t>Say what it assumes, because everything in the next three slides follows from it: measuring in standard deviations only means “surprising” if the column is a bell curve. It also computes its own ruler from the data being measured, which is the crack the section prises open.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Tukey’s fence, built on the interquartile range (IQR) - the spread between the first and third quartiles, so the middle half of the data. Flag anything more than 1.5 interquartile ranges past the quartiles.</a:t>
            </a:r>
          </a:p>
          <a:p>
            <a:pPr lvl="0" indent="0" marL="0">
              <a:buNone/>
            </a:pPr>
          </a:p>
          <a:p>
            <a:pPr lvl="0" indent="0" marL="0">
              <a:buNone/>
            </a:pPr>
            <a:r>
              <a:rPr/>
              <a:t>It assumes no shape at all, and its ruler barely moves when a few points are extreme. That sounds strictly better than rule 1. Two slides from now it will be the rule making the mistakes.</a:t>
            </a:r>
          </a:p>
          <a:p>
            <a:pPr lvl="0" indent="0" marL="0">
              <a:buNone/>
            </a:pPr>
          </a:p>
          <a:p>
            <a:pPr lvl="0" indent="0" marL="0">
              <a:buNone/>
            </a:pPr>
            <a:r>
              <a:rPr/>
              <a:t>Now give the probabilistic reading of each, because it is what makes them more than recipes. Under normality |z| &gt; 3 flags 0.27% of a column, both tails together. And the 1.5 is not arbitrary: for a normal column the IQR is 1.349 sigma, so the fence lands at 2.698 sigma - just inside 3. Handout Section 4.1 derives it.</a:t>
            </a:r>
          </a:p>
          <a:p>
            <a:pPr lvl="0" indent="0" marL="0">
              <a:buNone/>
            </a:pPr>
          </a:p>
          <a:p>
            <a:pPr lvl="0" indent="0" marL="0">
              <a:buNone/>
            </a:pPr>
            <a:r>
              <a:rPr/>
              <a:t>Then put the two side by side, counting both tails each time, because this is where people quietly mislead themselves: 0.27% against 0.70%. The fences are 10% apart in position and a factor of 2.6 apart in what they flag. In 2,000 normal values that is about 5 points against about 14.</a:t>
            </a:r>
          </a:p>
          <a:p>
            <a:pPr lvl="0" indent="0" marL="0">
              <a:buNone/>
            </a:pPr>
          </a:p>
          <a:p>
            <a:pPr lvl="0" indent="0" marL="0">
              <a:buNone/>
            </a:pPr>
            <a:r>
              <a:rPr/>
              <a:t>The moral to state out loud: the two rules were built to sit in the same neighbourhood, not to agree, and even on perfect data Tukey’s is the readier of the two to call something an outlier. The next slide draws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derives the 1.5 constant from the standard normal quantile function.</a:t>
            </a:r>
          </a:p>
          <a:p>
            <a:pPr lvl="0" indent="0" marL="0">
              <a:buNone/>
            </a:pPr>
          </a:p>
          <a:p>
            <a:pPr lvl="0" indent="0" marL="0">
              <a:buNone/>
            </a:pPr>
            <a:r>
              <a:rPr/>
              <a:t>Work the two panels in order, because the slide is an argument and not an illustration. Left: the two fences are 0.30 sigma apart. Ask the room whether that looks like a difference worth caring about - it does not. Right: the same two rules flag 0.27% and 0.70% of a normal column, a factor of 2.6.</a:t>
            </a:r>
          </a:p>
          <a:p>
            <a:pPr lvl="0" indent="0" marL="0">
              <a:buNone/>
            </a:pPr>
          </a:p>
          <a:p>
            <a:pPr lvl="0" indent="0" marL="0">
              <a:buNone/>
            </a:pPr>
            <a:r>
              <a:rPr/>
              <a:t>The reason is the steepness of the tail. Move a fence in by a third of a standard deviation and you nearly triple the area beyond it. So resist saying “the two rules agree here”: they sit in the same neighbourhood, and out in the tail a neighbourhood is a factor of 2.6.</a:t>
            </a:r>
          </a:p>
          <a:p>
            <a:pPr lvl="0" indent="0" marL="0">
              <a:buNone/>
            </a:pPr>
          </a:p>
          <a:p>
            <a:pPr lvl="0" indent="0" marL="0">
              <a:buNone/>
            </a:pPr>
            <a:r>
              <a:rPr/>
              <a:t>Say this is a design choice with an assumption baked in, and the next slide is what happens when the assumption fails.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counts up before the picture is read: 20 genuine billing errors in monthly_charges. The z-score rule flags 20 - all of them, nothing else. Tukey flags 32 - the same 20, plus 12 ordinary customers.</a:t>
            </a:r>
          </a:p>
          <a:p>
            <a:pPr lvl="0" indent="0" marL="0">
              <a:buNone/>
            </a:pPr>
          </a:p>
          <a:p>
            <a:pPr lvl="0" indent="0" marL="0">
              <a:buNone/>
            </a:pPr>
            <a:r>
              <a:rPr/>
              <a:t>Ask the room to predict which rule was damaged by the contamination, then give them the number: the billing errors inflate s from 17.2 to 171.3, dragging the z-score fence from 115 out to 593. The rule was genuinely crippled. It got every error anyway, because the smallest of them is 780 - still past the ruined fence.</a:t>
            </a:r>
          </a:p>
          <a:p>
            <a:pPr lvl="0" indent="0" marL="0">
              <a:buNone/>
            </a:pPr>
          </a:p>
          <a:p>
            <a:pPr lvl="0" indent="0" marL="0">
              <a:buNone/>
            </a:pPr>
            <a:r>
              <a:rPr/>
              <a:t>Meanwhile the twelve Tukey extras are real people on real tariffs: eight paying 15 to 17, four paying 112 to 128, outside fences of 17.3 and 110.</a:t>
            </a:r>
          </a:p>
          <a:p>
            <a:pPr lvl="0" indent="0" marL="0">
              <a:buNone/>
            </a:pPr>
          </a:p>
          <a:p>
            <a:pPr lvl="0" indent="0" marL="0">
              <a:buNone/>
            </a:pPr>
            <a:r>
              <a:rPr/>
              <a:t>The line to land, and it is the whole point of the slide: a detector’s output does not report the detector’s health. The z-score rule was right by luck. Push those errors down towards 200 and its fence sails straight past them, exactly as the theory says. So the lesson is not “prefer IQR” - it is “recompute s without the candidates and see what moved”. Handout Section 4.2.</a:t>
            </a:r>
          </a:p>
          <a:p>
            <a:pPr lvl="0" indent="0" marL="0">
              <a:buNone/>
            </a:pPr>
          </a:p>
          <a:p>
            <a:pPr lvl="0" indent="0" marL="0">
              <a:buNone/>
            </a:pPr>
            <a:r>
              <a:rPr/>
              <a:t>Point at the left panel’s bottom band: those scattered red dots down in the ordinary customers are the twelve.</a:t>
            </a:r>
          </a:p>
          <a:p>
            <a:pPr lvl="0" indent="0" marL="0">
              <a:buNone/>
            </a:pPr>
          </a:p>
          <a:p>
            <a:pPr lvl="0" indent="0" marL="0">
              <a:buNone/>
            </a:pPr>
            <a:r>
              <a:rPr/>
              <a:t>tenure_months, right panel: only 4 flagged, all at 999, and here the two rules agree exactly. Ask the room: where did the negative values go? Nobody will know yet - next slide.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worth remembering over the two formulas. Statistical rules find points that are unusual relative to the rest of a column; they know nothing about domain validity. A negative tenure sits comfortably inside the IQR fence because the column’s own spread is wide enough to hide it.</a:t>
            </a:r>
          </a:p>
          <a:p>
            <a:pPr lvl="0" indent="0" marL="0">
              <a:buNone/>
            </a:pPr>
          </a:p>
          <a:p>
            <a:pPr lvl="0" indent="0" marL="0">
              <a:buNone/>
            </a:pPr>
            <a:r>
              <a:rPr/>
              <a:t>The fix is a domain rule: 0 &lt;= tenure_months &lt;= some sane maximum. Say plainly: a thorough pass runs both kinds of check, because they catch different mistakes, and neither substitutes for the other.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long-tenure, high-paying customer is not an error; a tenure of 999 months is. Say plainly that a statistical rule cannot make this call - it only nominates candidates, and the decision is a domain decision.</a:t>
            </a:r>
          </a:p>
          <a:p>
            <a:pPr lvl="0" indent="0" marL="0">
              <a:buNone/>
            </a:pPr>
          </a:p>
          <a:p>
            <a:pPr lvl="0" indent="0" marL="0">
              <a:buNone/>
            </a:pPr>
            <a:r>
              <a:rPr/>
              <a:t>Walk the four options and note that each is a different claim about the world. Capping says “the value is real but the scale is misleading”. Removing says “this row is not from the population I am modelling”. Correcting says “I know what it should have been”. Leaving it says “the model should handle this”.</a:t>
            </a:r>
          </a:p>
          <a:p>
            <a:pPr lvl="0" indent="0" marL="0">
              <a:buNone/>
            </a:pPr>
          </a:p>
          <a:p>
            <a:pPr lvl="0" indent="0" marL="0">
              <a:buNone/>
            </a:pPr>
            <a:r>
              <a:rPr/>
              <a:t>The one that gets chosen by default, without anyone deciding, is removal - and it is the one that silently reweights the sample. Handout Section 4.2 closes on exactly this. If a rule flags 3% of your rows and you drop them all, you have changed the population your model is trained on.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through notebook 1 now, 22 minutes. Let them drive; walk the room rather than presenting.</a:t>
            </a:r>
          </a:p>
          <a:p>
            <a:pPr lvl="0" indent="0" marL="0">
              <a:buNone/>
            </a:pPr>
          </a:p>
          <a:p>
            <a:pPr lvl="0" indent="0" marL="0">
              <a:buNone/>
            </a:pPr>
            <a:r>
              <a:rPr/>
              <a:t>The domain-rule cell is worth pausing on collectively: a two-line check for negative tenure catches something no statistical rule would flag, because a negative tenure is not extreme, it is impossible. That distinction - impossible versus unusual - is the lesson of the whole section, and it lands better from their own screen than from the projector.</a:t>
            </a:r>
          </a:p>
          <a:p>
            <a:pPr lvl="0" indent="0" marL="0">
              <a:buNone/>
            </a:pPr>
          </a:p>
          <a:p>
            <a:pPr lvl="0" indent="0" marL="0">
              <a:buNone/>
            </a:pPr>
            <a:r>
              <a:rPr/>
              <a:t>Watch for the group that finishes early. Point them at the “try this” in the notebook: change the missing fraction and watch the correlation attenuate as the derivation predicts.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scaling, encoding and the pipeline.</a:t>
            </a:r>
          </a:p>
          <a:p>
            <a:pPr lvl="0" indent="0" marL="0">
              <a:buNone/>
            </a:pPr>
          </a:p>
          <a:p>
            <a:pPr lvl="0" indent="0" marL="0">
              <a:buNone/>
            </a:pPr>
            <a:r>
              <a:rPr/>
              <a:t>Use the break to check who is stuck in the notebook - the second half assumes everyone has a working ColumnTransformer, and it is much cheaper to fix now than during the leakage section.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problem before any mathematics. Ask: if two features live on very different scales, can a single step size be right for both directions at once? Let the room reason about it first.</a:t>
            </a:r>
          </a:p>
          <a:p>
            <a:pPr lvl="0" indent="0" marL="0">
              <a:buNone/>
            </a:pPr>
          </a:p>
          <a:p>
            <a:pPr lvl="0" indent="0" marL="0">
              <a:buNone/>
            </a:pPr>
            <a:r>
              <a:rPr/>
              <a:t>Be honest about this dataset, because a sharp student will check: once the outliers of Section 4 are removed, these two columns have comparable spreads - the ratio of their standard deviations is about 0.8. They are not a dramatic case, which is exactly why notebook 2 builds a toy pair with a 110:1 variance ratio to make the effect unambiguous. The point is not that churn data is pathological; it is that you cannot count on it not being.</a:t>
            </a:r>
          </a:p>
          <a:p>
            <a:pPr lvl="0" indent="0" marL="0">
              <a:buNone/>
            </a:pPr>
          </a:p>
          <a:p>
            <a:pPr lvl="0" indent="0" marL="0">
              <a:buNone/>
            </a:pPr>
            <a:r>
              <a:rPr/>
              <a:t>The punchline, which handout Section 5.2 states: the safe step size is set by the feature with the largest spread, so progress along the smallest-spread direction is throttled by their ratio. Scaling is not cosmetic - it changes how long training takes, and sometimes whether it converges at all. The derivation is deliberately NOT here: it belongs with gradient descent itself, Lesson 3.</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one entirely on the picture; there is no algebra on this slide by choice.</a:t>
            </a:r>
          </a:p>
          <a:p>
            <a:pPr lvl="0" indent="0" marL="0">
              <a:buNone/>
            </a:pPr>
          </a:p>
          <a:p>
            <a:pPr lvl="0" indent="0" marL="0">
              <a:buNone/>
            </a:pPr>
            <a:r>
              <a:rPr/>
              <a:t>Left: the two features have different spreads, so the cost surface is a narrow ravine - steep across, almost flat along. One step size has to serve both. Long enough to advance along the flat direction and it overshoots the steep one and bounces from wall to wall; short enough to be safe on the steep one and it crawls along the flat one.</a:t>
            </a:r>
          </a:p>
          <a:p>
            <a:pPr lvl="0" indent="0" marL="0">
              <a:buNone/>
            </a:pPr>
          </a:p>
          <a:p>
            <a:pPr lvl="0" indent="0" marL="0">
              <a:buNone/>
            </a:pPr>
            <a:r>
              <a:rPr/>
              <a:t>Right: after scaling, the ravine is a bowl and every step points at the minimum.</a:t>
            </a:r>
          </a:p>
          <a:p>
            <a:pPr lvl="0" indent="0" marL="0">
              <a:buNone/>
            </a:pPr>
          </a:p>
          <a:p>
            <a:pPr lvl="0" indent="0" marL="0">
              <a:buNone/>
            </a:pPr>
            <a:r>
              <a:rPr/>
              <a:t>Give them the handle without the derivation: how stretched the ravine is - the ratio of the largest feature variance to the smallest - is called the condition number, and the number of steps you need grows with it.</a:t>
            </a:r>
          </a:p>
          <a:p>
            <a:pPr lvl="0" indent="0" marL="0">
              <a:buNone/>
            </a:pPr>
          </a:p>
          <a:p>
            <a:pPr lvl="0" indent="0" marL="0">
              <a:buNone/>
            </a:pPr>
            <a:r>
              <a:rPr/>
              <a:t>If someone asks WHY the surface has that shape, that is the right question and the honest answer is “Lesson 3, where we derive gradient descent” - its Section 4.4 puts the number on it: standardising the housing design matrix takes the condition number from 285 to 3.4.</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each feature set at its OWN safe rate - standardised still gets there faster, because it tolerates a larger rate. Right panel is the sharper point: give the RAW features the rate the standardised ones handle comfortably and it does not converge slowly, it never converges at all.</a:t>
            </a:r>
          </a:p>
          <a:p>
            <a:pPr lvl="0" indent="0" marL="0">
              <a:buNone/>
            </a:pPr>
          </a:p>
          <a:p>
            <a:pPr lvl="0" indent="0" marL="0">
              <a:buNone/>
            </a:pPr>
            <a:r>
              <a:rPr/>
              <a:t>Be precise about the failure if anyone asks, because “diverges” is the word people reach for and it is not what this is. The loss does not climb away to infinity - it swings between 0.69 and 8.29 and stays there, bouncing off one wall of the ravine into the other. Run it for 2000 steps and it is still in the same band. Worse than slow, not better: a slow run finishes.</a:t>
            </a:r>
          </a:p>
          <a:p>
            <a:pPr lvl="0" indent="0" marL="0">
              <a:buNone/>
            </a:pPr>
          </a:p>
          <a:p>
            <a:pPr lvl="0" indent="0" marL="0">
              <a:buNone/>
            </a:pPr>
            <a:r>
              <a:rPr/>
              <a:t>This is a controlled toy (notebook 2), built to a 100:1 variance ratio and landing at 110 once drawn, so the effect is unambiguous. On the real churn columns, once cleaned, the two spreads are within about 20% of each other - so this toy is not exaggerating a big effect in the data, it is manufacturing a clear one to show a mechanism.</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MinMaxScaler is the more outlier-sensitive of the two: one extreme billing error stretches the whole 0-1 range, compressing every ordinary customer into a sliver of it. StandardScaler is pulled too, through the mean and standard deviation, but far less dramatically.</a:t>
            </a:r>
          </a:p>
          <a:p>
            <a:pPr lvl="0" indent="0" marL="0">
              <a:buNone/>
            </a:pPr>
          </a:p>
          <a:p>
            <a:pPr lvl="0" indent="0" marL="0">
              <a:buNone/>
            </a:pPr>
            <a:r>
              <a:rPr/>
              <a:t>Both must be fitted on training data only - say this every time a fitted transform appears, because it is the thread the whole lesson hangs from.</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slide as the sentence it is: one-hot encode all k categories AND fit an intercept, and this identity holds for every single row.</a:t>
            </a:r>
          </a:p>
          <a:p>
            <a:pPr lvl="0" indent="0" marL="0">
              <a:buNone/>
            </a:pPr>
          </a:p>
          <a:p>
            <a:pPr lvl="0" indent="0" marL="0">
              <a:buNone/>
            </a:pPr>
            <a:r>
              <a:rPr/>
              <a:t>The k dummy columns always sum to the intercept column, so they are not independent of it: the design matrix loses rank, and the normal equation has no unique solution.</a:t>
            </a:r>
          </a:p>
          <a:p>
            <a:pPr lvl="0" indent="0" marL="0">
              <a:buNone/>
            </a:pPr>
          </a:p>
          <a:p>
            <a:pPr lvl="0" indent="0" marL="0">
              <a:buNone/>
            </a:pPr>
            <a:r>
              <a:rPr/>
              <a:t>Stress that this is not a numerical inconvenience but an identifiability problem. There are infinitely many coefficient vectors that fit equally well, because you can add a constant to every dummy coefficient and subtract it from the intercept without changing a single prediction.</a:t>
            </a:r>
          </a:p>
          <a:p>
            <a:pPr lvl="0" indent="0" marL="0">
              <a:buNone/>
            </a:pPr>
          </a:p>
          <a:p>
            <a:pPr lvl="0" indent="0" marL="0">
              <a:buNone/>
            </a:pPr>
            <a:r>
              <a:rPr/>
              <a:t>Handout Section 6.1 has the proof; notebook 2 confirms it directly with matrix_rank, which is the version they will believe. The next slide shows it as arithmetic.</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number: the rank is short by exactly one, not by an arbitrary amount. That is the signature of a single linear dependence - the sum of the dummies equalling the intercept - rather than of general collinearity.</a:t>
            </a:r>
          </a:p>
          <a:p>
            <a:pPr lvl="0" indent="0" marL="0">
              <a:buNone/>
            </a:pPr>
          </a:p>
          <a:p>
            <a:pPr lvl="0" indent="0" marL="0">
              <a:buNone/>
            </a:pPr>
            <a:r>
              <a:rPr/>
              <a:t>The fix is OneHotEncoder(drop=“first”). The dropped category becomes the reference level, absorbed into the intercept: no information is lost, and full rank is restored.</a:t>
            </a:r>
          </a:p>
          <a:p>
            <a:pPr lvl="0" indent="0" marL="0">
              <a:buNone/>
            </a:pPr>
          </a:p>
          <a:p>
            <a:pPr lvl="0" indent="0" marL="0">
              <a:buNone/>
            </a:pPr>
            <a:r>
              <a:rPr/>
              <a:t>Two caveats worth saying. Tree-based models (Lesson 7) do not need this, because they never invert a design matrix. And regularised models tolerate the rank deficiency, because the penalty term picks one solution out of the infinitely many - which is a good early illustration of what regularisation actually does, and we return to it in Lesson 3.</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encodings of one column, and each makes a different claim.</a:t>
            </a:r>
          </a:p>
          <a:p>
            <a:pPr lvl="0" indent="0" marL="0">
              <a:buNone/>
            </a:pPr>
          </a:p>
          <a:p>
            <a:pPr lvl="0" indent="0" marL="0">
              <a:buNone/>
            </a:pPr>
            <a:r>
              <a:rPr/>
              <a:t>Ordinal claims the categories are equally spaced on a line - fine for small/medium/large, wrong for region. One-hot claims nothing at all, which is why it is the default, and costs k columns: 493 for zip code on 2000 rows. Target claims each category is summarised by its own churn rate, which is compact and, as the next section shows, computed from the labels.</a:t>
            </a:r>
          </a:p>
          <a:p>
            <a:pPr lvl="0" indent="0" marL="0">
              <a:buNone/>
            </a:pPr>
          </a:p>
          <a:p>
            <a:pPr lvl="0" indent="0" marL="0">
              <a:buNone/>
            </a:pPr>
            <a:r>
              <a:rPr/>
              <a:t>The question to leave them with: which claim is true for THIS column? It is a domain question, not a technical one.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column under all three schemes, and each makes a different claim about the world.</a:t>
            </a:r>
          </a:p>
          <a:p>
            <a:pPr lvl="0" indent="0" marL="0">
              <a:buNone/>
            </a:pPr>
          </a:p>
          <a:p>
            <a:pPr lvl="0" indent="0" marL="0">
              <a:buNone/>
            </a:pPr>
            <a:r>
              <a:rPr/>
              <a:t>Ordinal claims the categories are equally spaced along a line - fine for small/medium/large, wrong for region, and the model has no way to tell you it was the wrong claim.</a:t>
            </a:r>
          </a:p>
          <a:p>
            <a:pPr lvl="0" indent="0" marL="0">
              <a:buNone/>
            </a:pPr>
          </a:p>
          <a:p>
            <a:pPr lvl="0" indent="0" marL="0">
              <a:buNone/>
            </a:pPr>
            <a:r>
              <a:rPr/>
              <a:t>One-hot claims nothing at all, which is why it is the default, and pays for that neutrality in columns: 493 of them for zip code, on 2000 rows.</a:t>
            </a:r>
          </a:p>
          <a:p>
            <a:pPr lvl="0" indent="0" marL="0">
              <a:buNone/>
            </a:pPr>
          </a:p>
          <a:p>
            <a:pPr lvl="0" indent="0" marL="0">
              <a:buNone/>
            </a:pPr>
            <a:r>
              <a:rPr/>
              <a:t>Target claims each category is summarised by its own churn rate. Compact, effective - and computed from the labels, which is where the next section begins.</a:t>
            </a:r>
          </a:p>
          <a:p>
            <a:pPr lvl="0" indent="0" marL="0">
              <a:buNone/>
            </a:pPr>
          </a:p>
          <a:p>
            <a:pPr lvl="0" indent="0" marL="0">
              <a:buNone/>
            </a:pPr>
            <a:r>
              <a:rPr/>
              <a:t>The question to leave with them: which claim is true for THIS column? That is a domain question, not a technical one, and no cross-validation score will answer it.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6.3. Deliberately quick - the point is to motivate why target encoding looks attractive for high-cardinality columns, before the next section shows why it needs care.</a:t>
            </a:r>
          </a:p>
          <a:p>
            <a:pPr lvl="0" indent="0" marL="0">
              <a:buNone/>
            </a:pPr>
          </a:p>
          <a:p>
            <a:pPr lvl="0" indent="0" marL="0">
              <a:buNone/>
            </a:pPr>
            <a:r>
              <a:rPr/>
              <a:t>The number to dwell on: one-hot encoding zip_code produces 493 columns, almost all zero, on 2000 rows. More columns than a quarter of the sample size, for one field.</a:t>
            </a:r>
          </a:p>
          <a:p>
            <a:pPr lvl="0" indent="0" marL="0">
              <a:buNone/>
            </a:pPr>
          </a:p>
          <a:p>
            <a:pPr lvl="0" indent="0" marL="0">
              <a:buNone/>
            </a:pPr>
            <a:r>
              <a:rPr/>
              <a:t>Two consequences to name. Distance-based methods (Lesson 6) degrade, because in high dimensions everything becomes roughly equidistant from everything else. And every column is a parameter to estimate from the same fixed amount of data, which is the bias-variance trade-off from Lesson 1 arriving from a new direction.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zip_code row/column - or its absence, since it is not even numeric yet - and say: notebook 1’s correlation check already suggests this column carries nothing. One-hot encoding it would add 493 mostly-empty columns. The natural alternative - replace each code with the average churn rate of its customers - is exactly the technique the leakage section is about. Do not resolve the tension yet; let it hang until after the break-free run into notebook 2’s pipeline section.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8.1. Lesson 1’s unbiasedness argument never mentioned “the model” specifically - it is about f, whatever function maps raw inputs to predictions. In deployment, a fitted scaler or imputer travels WITH the model, so f includes their learned parameters too.</a:t>
            </a:r>
          </a:p>
          <a:p>
            <a:pPr lvl="0" indent="0" marL="0">
              <a:buNone/>
            </a:pPr>
          </a:p>
          <a:p>
            <a:pPr lvl="0" indent="0" marL="0">
              <a:buNone/>
            </a:pPr>
            <a:r>
              <a:rPr/>
              <a:t>The moment any of those parameters - a mean, a set of neighbours, a per-category average - is estimated using rows that later appear in T, f is no longer independent of T, and the equality breaks. This is the one-sentence version of everything Section 9 is about to demonstrate concretely.</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structural version of the argument just stated. Different columns need different treatment; ColumnTransformer routes each group through its own sub-pipeline and concatenates the result; the outer Pipeline adds the classifier.</a:t>
            </a:r>
          </a:p>
          <a:p>
            <a:pPr lvl="0" indent="0" marL="0">
              <a:buNone/>
            </a:pPr>
          </a:p>
          <a:p>
            <a:pPr lvl="0" indent="0" marL="0">
              <a:buNone/>
            </a:pPr>
            <a:r>
              <a:rPr/>
              <a:t>One fit() call, on X_train, fits every imputer, the scaler, the encoder AND the classifier - in that order, on training data only, by construction. Say explicitly: this is not tidiness. It is what makes “nothing learned before the split” true even when nobody is watching, which today’s leakage section is entirely about.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out loud what the five short names stand for, or someone spends the next minute working it out instead of listening: num_pipe and cat_pipe are the impute-then-transform pairs from the diagram two slides back, num_cols and cat_cols are plain lists of column names, and clf is the classifier. They are abbreviated here only to fit the slide - handout Section 8.2 prints the same block with full names, every import, and both column lists, and it runs as printed.</a:t>
            </a:r>
          </a:p>
          <a:p>
            <a:pPr lvl="0" indent="0" marL="0">
              <a:buNone/>
            </a:pPr>
          </a:p>
          <a:p>
            <a:pPr lvl="0" indent="0" marL="0">
              <a:buNone/>
            </a:pPr>
            <a:r>
              <a:rPr/>
              <a:t>Point out there is exactly ONE call to fit, at the very bottom, on X_train alone - everything above it declares structure, not computation.</a:t>
            </a:r>
          </a:p>
          <a:p>
            <a:pPr lvl="0" indent="0" marL="0">
              <a:buNone/>
            </a:pPr>
          </a:p>
          <a:p>
            <a:pPr lvl="0" indent="0" marL="0">
              <a:buNone/>
            </a:pPr>
            <a:r>
              <a:rPr/>
              <a:t>This is the code notebook 2 runs, nearly verbatim. Say that reading it should now feel unremarkable - that is the goal, structure that makes the right thing the easy thing.</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answer why the accuracy gain is modest. The dataset is 80/20 imbalanced, so accuracy is dominated by the majority class - exactly as Lesson 1 warned, and the first time they meet it on data they prepared themselves.</a:t>
            </a:r>
          </a:p>
          <a:p>
            <a:pPr lvl="0" indent="0" marL="0">
              <a:buNone/>
            </a:pPr>
          </a:p>
          <a:p>
            <a:pPr lvl="0" indent="0" marL="0">
              <a:buNone/>
            </a:pPr>
            <a:r>
              <a:rPr/>
              <a:t>The matrix shows where the errors sit: read the bottom-left cell, the churners the model missed. The area under the receiver operating characteristic curve - AUC, which Lesson 4 builds properly - at 0.751 is unaffected by the imbalance and says there is real signal that accuracy is hiding.</a:t>
            </a:r>
          </a:p>
          <a:p>
            <a:pPr lvl="0" indent="0" marL="0">
              <a:buNone/>
            </a:pPr>
          </a:p>
          <a:p>
            <a:pPr lvl="0" indent="0" marL="0">
              <a:buNone/>
            </a:pPr>
            <a:r>
              <a:rPr/>
              <a:t>Had we reported only accuracy, this model would look barely better than the baseline and someone would reasonably conclude the features were useless.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accuracy gain was fourteen thousandths. This is where those errors actually sit, and it explains why the gain is small.</a:t>
            </a:r>
          </a:p>
          <a:p>
            <a:pPr lvl="0" indent="0" marL="0">
              <a:buNone/>
            </a:pPr>
          </a:p>
          <a:p>
            <a:pPr lvl="0" indent="0" marL="0">
              <a:buNone/>
            </a:pPr>
            <a:r>
              <a:rPr/>
              <a:t>Read the bottom row: almost every customer who churned was predicted to stay. The model has learned to predict the majority class slightly more cleverly than the baseline does, and on the class the business would pay to identify it is close to useless.</a:t>
            </a:r>
          </a:p>
          <a:p>
            <a:pPr lvl="0" indent="0" marL="0">
              <a:buNone/>
            </a:pPr>
          </a:p>
          <a:p>
            <a:pPr lvl="0" indent="0" marL="0">
              <a:buNone/>
            </a:pPr>
            <a:r>
              <a:rPr/>
              <a:t>Then connect it back to lesson 1 and its imbalance slide. Same shape, different dataset, and it took a confusion matrix to see it in both cases. Accuracy on its own would have reported this as progress.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let anyone in the room call two thousandths a win, and do not call it one yourself. It is a legitimate result, not a failed experiment - the hypothesis that cost intensity matters here was reasonable, it was tested, and the data declined it. Feature engineering is a hypothesis about the domain, not a guarantee. Handout Section 7.</a:t>
            </a:r>
          </a:p>
          <a:p>
            <a:pPr lvl="0" indent="0" marL="0">
              <a:buNone/>
            </a:pPr>
          </a:p>
          <a:p>
            <a:pPr lvl="0" indent="0" marL="0">
              <a:buNone/>
            </a:pPr>
            <a:r>
              <a:rPr/>
              <a:t>Then plant the flag for Lesson 5: a difference this small is inside the range a different train/test split would produce on its own, so a single split cannot settle it either way. Reporting it as an improvement is the first step onto exactly the path Lesson 5 exists to close off.</a:t>
            </a:r>
          </a:p>
          <a:p>
            <a:pPr lvl="0" indent="0" marL="0">
              <a:buNone/>
            </a:pPr>
          </a:p>
          <a:p>
            <a:pPr lvl="0" indent="0" marL="0">
              <a:buNone/>
            </a:pPr>
            <a:r>
              <a:rPr/>
              <a:t>Explain the max and the +1 rather than skating over them, because someone will ask. tenure_months holds zeros and, before Section 4’s domain rule, a -3: divide by it raw and you get an infinity and a sign flip. That is Section 4 turning up in Section 7, and it is what feature engineering on real data actually looks like - one line of algebra, three lines of defending it against the column you have.</a:t>
            </a:r>
          </a:p>
          <a:p>
            <a:pPr lvl="0" indent="0" marL="0">
              <a:buNone/>
            </a:pPr>
          </a:p>
          <a:p>
            <a:pPr lvl="0" indent="0" marL="0">
              <a:buNone/>
            </a:pPr>
            <a:r>
              <a:rPr/>
              <a:t>The point to land: any engineered feature that involves a statistic LEARNED from data - bin edges from quantiles, a scaled interaction - is subject to the same rule as scaling. A pure arithmetic combination (this ratio) needs no fold-awareness; a learned one does.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22 minutes. Let them work; circulate.</a:t>
            </a:r>
          </a:p>
          <a:p>
            <a:pPr lvl="0" indent="0" marL="0">
              <a:buNone/>
            </a:pPr>
          </a:p>
          <a:p>
            <a:pPr lvl="0" indent="0" marL="0">
              <a:buNone/>
            </a:pPr>
            <a:r>
              <a:rPr/>
              <a:t>The gradient descent toy is worth running interactively - change the variance ratio live and watch the iteration count move, per the handout’s “try this”. It makes the condition number argument concrete in a way the derivation alone does not.</a:t>
            </a:r>
          </a:p>
          <a:p>
            <a:pPr lvl="0" indent="0" marL="0">
              <a:buNone/>
            </a:pPr>
          </a:p>
          <a:p>
            <a:pPr lvl="0" indent="0" marL="0">
              <a:buNone/>
            </a:pPr>
            <a:r>
              <a:rPr/>
              <a:t>If the room is moving fast, the ColumnTransformer section is where to slow down: it is the piece they will reuse in every exercise and in the project, and getting the column selectors right is fiddlier than it looks.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closing section. Lesson 1’s leak - selecting features on the full dataset - is visible once you know to look for it: an obviously extra step. Today’s two are not. Imputing a missing value and encoding a category both read as ordinary data cleaning, not as “training a model.” They ARE training a model, in the sense Section 8.1 makes precise: any fitted parameter is part of f, and f must be independent of the test set.</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mechanism before the number. KNNImputer fills a gap using other rows’ values: it finds the nearest neighbours in feature space and averages them. “Nearest in the whole dataset” includes test rows, if it was fitted before the split existed.</a:t>
            </a:r>
          </a:p>
          <a:p>
            <a:pPr lvl="0" indent="0" marL="0">
              <a:buNone/>
            </a:pPr>
          </a:p>
          <a:p>
            <a:pPr lvl="0" indent="0" marL="0">
              <a:buNone/>
            </a:pPr>
            <a:r>
              <a:rPr/>
              <a:t>So a TRAINING row’s missing age can be filled with a value read off a TEST row - the test set writing into the training data, one gap at a time. Note the imputer never touches a label; it copies feature values. That is enough: those values are what the model then fits on. The imputer did nothing wrong; it was simply shown data it should not have seen.</a:t>
            </a:r>
          </a:p>
          <a:p>
            <a:pPr lvl="0" indent="0" marL="0">
              <a:buNone/>
            </a:pPr>
          </a:p>
          <a:p>
            <a:pPr lvl="0" indent="0" marL="0">
              <a:buNone/>
            </a:pPr>
            <a:r>
              <a:rPr/>
              <a:t>Notebook 3 measures the gap. Connect it back to Lesson 1: this is the same independence argument, applied to a step nobody thinks of as learning. The imputer learns; therefore it belongs inside the training fold.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94 of 128. Not an edge case - nearly three quarters of the imputed training rows borrowed a value from at least one row the model would later be scored on.</a:t>
            </a:r>
          </a:p>
          <a:p>
            <a:pPr lvl="0" indent="0" marL="0">
              <a:buNone/>
            </a:pPr>
          </a:p>
          <a:p>
            <a:pPr lvl="0" indent="0" marL="0">
              <a:buNone/>
            </a:pPr>
            <a:r>
              <a:rPr/>
              <a:t>Stress that nothing in the code looks wrong. KNNImputer did exactly what it says: found the nearest neighbours in the data it was given. The error was in what it was given, and it happened one line earlier.</a:t>
            </a:r>
          </a:p>
          <a:p>
            <a:pPr lvl="0" indent="0" marL="0">
              <a:buNone/>
            </a:pPr>
          </a:p>
          <a:p>
            <a:pPr lvl="0" indent="0" marL="0">
              <a:buNone/>
            </a:pPr>
            <a:r>
              <a:rPr/>
              <a:t>This is the number to put on the board if only one number from today survives.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Ninety-four of a hundred and twenty-eight, drawn so the proportion lands.</a:t>
            </a:r>
          </a:p>
          <a:p>
            <a:pPr lvl="0" indent="0" marL="0">
              <a:buNone/>
            </a:pPr>
          </a:p>
          <a:p>
            <a:pPr lvl="0" indent="0" marL="0">
              <a:buNone/>
            </a:pPr>
            <a:r>
              <a:rPr/>
              <a:t>Say what was actually done: the imputer was fitted before the split, so when it filled a missing age it was allowed to look at test rows to decide what to fill it with. Nearly three quarters of the affected training rows had a test row among the five donors it consulted.</a:t>
            </a:r>
          </a:p>
          <a:p>
            <a:pPr lvl="0" indent="0" marL="0">
              <a:buNone/>
            </a:pPr>
          </a:p>
          <a:p>
            <a:pPr lvl="0" indent="0" marL="0">
              <a:buNone/>
            </a:pPr>
            <a:r>
              <a:rPr/>
              <a:t>The sentence to leave hanging is the one from the slide before: nothing raised an error. The notebook ran, the score improved, and the improvement was the test set leaking into the training data one imputed value at a time. This is the argument for the pipeline, made in numbers.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zip_code has no real relationship with churn - the data was generated that way deliberately, so any apparent signal is an artefact we can measure exactly.</a:t>
            </a:r>
          </a:p>
          <a:p>
            <a:pPr lvl="0" indent="0" marL="0">
              <a:buNone/>
            </a:pPr>
          </a:p>
          <a:p>
            <a:pPr lvl="0" indent="0" marL="0">
              <a:buNone/>
            </a:pPr>
            <a:r>
              <a:rPr/>
              <a:t>Target encoding replaces each zip code with the average churn rate of its own customers. Computed before the split, that average includes the test rows’ labels. The feature now contains the answer, in diluted form.</a:t>
            </a:r>
          </a:p>
          <a:p>
            <a:pPr lvl="0" indent="0" marL="0">
              <a:buNone/>
            </a:pPr>
          </a:p>
          <a:p>
            <a:pPr lvl="0" indent="0" marL="0">
              <a:buNone/>
            </a:pPr>
            <a:r>
              <a:rPr/>
              <a:t>This is the most dangerous leak of the three, because the resulting column looks entirely reasonable in a dataframe: a number between 0 and 1, sensibly distributed, with no trace of where it came from. Nothing about it says “this was computed from the labels”.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Baseline without zip: AUC 0.751. Honest encoding (sklearn’s TargetEncoder, cross-fitted inside the pipeline): 0.751 - indistinguishable, correctly, since zip carries nothing. Leaky encoding, computed before the split: 0.891.</a:t>
            </a:r>
          </a:p>
          <a:p>
            <a:pPr lvl="0" indent="0" marL="0">
              <a:buNone/>
            </a:pPr>
          </a:p>
          <a:p>
            <a:pPr lvl="0" indent="0" marL="0">
              <a:buNone/>
            </a:pPr>
            <a:r>
              <a:rPr/>
              <a:t>Let that number sit. It looks like a genuinely better model. It is not one - the improvement is manufactured entirely by the mechanism on the next slide. This is Lesson 1’s 77%-on-coin-flip-labels story again, produced by two unremarkable lines of preprocessing instead of an obviously wrong one.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equation out as a sentence: the “leave-in” encoding differs from the honest leave-one-out encoding by the row’s own disagreement with its group, divided by how many people are in it.</a:t>
            </a:r>
          </a:p>
          <a:p>
            <a:pPr lvl="0" indent="0" marL="0">
              <a:buNone/>
            </a:pPr>
          </a:p>
          <a:p>
            <a:pPr lvl="0" indent="0" marL="0">
              <a:buNone/>
            </a:pPr>
            <a:r>
              <a:rPr/>
              <a:t>Handout Section 9.2 has the algebra. The intuition: for a zip code with a single customer, the target encoding IS that customer’s label, straight through. With two customers it is the average of two labels. Only as the group grows does the encoding become a genuine statistic rather than a copy of the answer.</a:t>
            </a:r>
          </a:p>
          <a:p>
            <a:pPr lvl="0" indent="0" marL="0">
              <a:buNone/>
            </a:pPr>
          </a:p>
          <a:p>
            <a:pPr lvl="0" indent="0" marL="0">
              <a:buNone/>
            </a:pPr>
            <a:r>
              <a:rPr/>
              <a:t>So the leak is worst exactly where the data is thinnest - which is also where high-cardinality columns spend most of their mass. Most zip codes here have a handful of customers.</a:t>
            </a:r>
          </a:p>
          <a:p>
            <a:pPr lvl="0" indent="0" marL="0">
              <a:buNone/>
            </a:pPr>
          </a:p>
          <a:p>
            <a:pPr lvl="0" indent="0" marL="0">
              <a:buNone/>
            </a:pPr>
            <a:r>
              <a:rPr/>
              <a:t>Give them the diagnostic to remember: if a feature’s usefulness comes mostly from its rarest levels, be suspicious. That is the shape of a leak, not of a signal.</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shows the n_c=1 case literally: zip code Z472, one customer, churn label 0, encoded value 0.000. Not correlated with the label. IS the label, relabelled as an input.</a:t>
            </a:r>
          </a:p>
          <a:p>
            <a:pPr lvl="0" indent="0" marL="0">
              <a:buNone/>
            </a:pPr>
          </a:p>
          <a:p>
            <a:pPr lvl="0" indent="0" marL="0">
              <a:buNone/>
            </a:pPr>
            <a:r>
              <a:rPr/>
              <a:t>Connect to Section 6.3: high cardinality means small groups means a bigger leak by exactly this formula - the curse of dimensionality and the leakage risk are the same underlying fact.</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Smoothing pulls each group’s mean towards the global mean, weighted by group size, so a one-customer zip code barely moves from the overall rate. It reduces the leak but does not remove it.</a:t>
            </a:r>
          </a:p>
          <a:p>
            <a:pPr lvl="0" indent="0" marL="0">
              <a:buNone/>
            </a:pPr>
          </a:p>
          <a:p>
            <a:pPr lvl="0" indent="0" marL="0">
              <a:buNone/>
            </a:pPr>
            <a:r>
              <a:rPr/>
              <a:t>Say clearly what actually removes it: fitting the encoder inside the training fold, exactly as with every other learned step. Smoothing is a refinement on top of that, not a substitute for it.</a:t>
            </a:r>
          </a:p>
          <a:p>
            <a:pPr lvl="0" indent="0" marL="0">
              <a:buNone/>
            </a:pPr>
          </a:p>
          <a:p>
            <a:pPr lvl="0" indent="0" marL="0">
              <a:buNone/>
            </a:pPr>
            <a:r>
              <a:rPr/>
              <a:t>This is the third time today the same rule has appeared - imputation, scaling, encoding - and that repetition is the point of the lesson. Lesson 1 stated the rule for one case; today it turns out to be the same rule every time.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test, not a growing list of special cases: does fitting this step compute anything from the rows it is given? If yes, it goes inside the pipeline. Handout Section 9.3.</a:t>
            </a:r>
          </a:p>
          <a:p>
            <a:pPr lvl="0" indent="0" marL="0">
              <a:buNone/>
            </a:pPr>
          </a:p>
          <a:p>
            <a:pPr lvl="0" indent="0" marL="0">
              <a:buNone/>
            </a:pPr>
            <a:r>
              <a:rPr/>
              <a:t>Say explicitly: Lesson 5 returns to leakage a third time, for hyperparameter tuning, where the same test applies once more.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22 minutes. This notebook is the payoff of the lesson: the two leaks of today, each measured against an honest pipeline on the same data. The third way of breaking the rule, on the earlier diagram, was Lesson 1’s.</a:t>
            </a:r>
          </a:p>
          <a:p>
            <a:pPr lvl="0" indent="0" marL="0">
              <a:buNone/>
            </a:pPr>
          </a:p>
          <a:p>
            <a:pPr lvl="0" indent="0" marL="0">
              <a:buNone/>
            </a:pPr>
            <a:r>
              <a:rPr/>
              <a:t>The numbers matter less than the pattern - both leaks inflate the score, neither raises an error, and both are things a competent person does by accident. Ask them to predict the direction and rough size of each gap before running the cell.</a:t>
            </a:r>
          </a:p>
          <a:p>
            <a:pPr lvl="0" indent="0" marL="0">
              <a:buNone/>
            </a:pPr>
          </a:p>
          <a:p>
            <a:pPr lvl="0" indent="0" marL="0">
              <a:buNone/>
            </a:pPr>
            <a:r>
              <a:rPr/>
              <a:t>If time is short, the target encoding case is the one to keep: it is the subtlest and the one most likely to appear in their own project.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together explicitly. Lesson 1 said nothing is learned before the split, using feature selection as the example. Today every preprocessing step turned out to be a learning step: an imputer learns a mean or a set of neighbours, a scaler learns a mean and a standard deviation, an encoder learns a mapping from categories to numbers.</a:t>
            </a:r>
          </a:p>
          <a:p>
            <a:pPr lvl="0" indent="0" marL="0">
              <a:buNone/>
            </a:pPr>
          </a:p>
          <a:p>
            <a:pPr lvl="0" indent="0" marL="0">
              <a:buNone/>
            </a:pPr>
            <a:r>
              <a:rPr/>
              <a:t>So the rule did not get more complicated - it got more general. And the pipeline is not tidiness, it is the mechanism that enforces the rule structurally, which is why we now build one for everything.</a:t>
            </a:r>
          </a:p>
          <a:p>
            <a:pPr lvl="0" indent="0" marL="0">
              <a:buNone/>
            </a:pPr>
          </a:p>
          <a:p>
            <a:pPr lvl="0" indent="0" marL="0">
              <a:buNone/>
            </a:pPr>
            <a:r>
              <a:rPr/>
              <a:t>Preview Lesson 3 in one sentence: with the data prepared honestly, we can finally fit something and look at what the fitting actually does.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The exercise reuses churn_data.py with a different seed, so results will not match today’s numbers exactly - that is intentional, it stops copy-pasted answers from working.</a:t>
            </a:r>
          </a:p>
          <a:p>
            <a:pPr lvl="0" indent="0" marL="0">
              <a:buNone/>
            </a:pPr>
          </a:p>
          <a:p>
            <a:pPr lvl="0" indent="0" marL="0">
              <a:buNone/>
            </a:pPr>
            <a:r>
              <a:rPr/>
              <a:t>Remind them: as in Exercise 1, there are no marks for accuracy. Marks are for methodological correctness, and specifically here for correctly identifying which preprocessing steps needed to be inside the pipeline and demonstrating, with a number, what leaving one out would have cost.</a:t>
            </a:r>
          </a:p>
          <a:p>
            <a:pPr lvl="0" indent="0" marL="0">
              <a:buNone/>
            </a:pPr>
          </a:p>
          <a:p>
            <a:pPr lvl="0" indent="0" marL="0">
              <a:buNone/>
            </a:pPr>
            <a:r>
              <a:rPr/>
              <a:t>Also point them at the quiz - the reasoning-tagged questions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exercise explicitly and say when it is discussed - the first ten minutes of Lesson 3, Friday 9 October.</a:t>
            </a:r>
          </a:p>
          <a:p>
            <a:pPr lvl="0" indent="0" marL="0">
              <a:buNone/>
            </a:pPr>
          </a:p>
          <a:p>
            <a:pPr lvl="0" indent="0" marL="0">
              <a:buNone/>
            </a:pPr>
            <a:r>
              <a:rPr/>
              <a:t>Point out that it uses the same churn dataset, so the exploration they did today carries over, and that the marks are again on methodology: a pipeline that is correct but modest beats a better score obtained by preparing the full dataset before splitting.</a:t>
            </a:r>
          </a:p>
          <a:p>
            <a:pPr lvl="0" indent="0" marL="0">
              <a:buNone/>
            </a:pPr>
          </a:p>
          <a:p>
            <a:pPr lvl="0" indent="0" marL="0">
              <a:buNone/>
            </a:pPr>
            <a:r>
              <a:rPr/>
              <a:t>Remind them the Lesson 1 exercise is due today if anyone has not handed it in, and that the project topic must be confirmed by Lesson 4 - which is two weeks away, so now is the time to be reading dataset descriptions.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2.xml"/><Relationship Id="rId3"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7.xml"/><Relationship Id="rId3" Type="http://schemas.openxmlformats.org/officeDocument/2006/relationships/image" Target="../media/image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2: Data Exploration and Preparation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Exercise 1 was set last week. We discuss it now.</a:t>
            </a:r>
          </a:p>
          <a:p>
            <a:pPr lvl="0"/>
            <a:r>
              <a:rPr/>
              <a:t>The wine-quality workflow, end to end</a:t>
            </a:r>
          </a:p>
          <a:p>
            <a:pPr lvl="0"/>
            <a:r>
              <a:rPr/>
              <a:t>What counts is </a:t>
            </a:r>
            <a:r>
              <a:rPr b="1"/>
              <a:t>methodology</a:t>
            </a:r>
            <a:r>
              <a:rPr/>
              <a:t>, not accuracy</a:t>
            </a:r>
          </a:p>
          <a:p>
            <a:pPr lvl="0"/>
            <a:r>
              <a:rPr/>
              <a:t>A show of hands on how you framed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today builds on</a:t>
            </a:r>
          </a:p>
        </p:txBody>
      </p:sp>
      <p:sp>
        <p:nvSpPr>
          <p:cNvPr id="3" name="Content Placeholder 2"/>
          <p:cNvSpPr>
            <a:spLocks noGrp="1"/>
          </p:cNvSpPr>
          <p:nvPr>
            <p:ph idx="1"/>
          </p:nvPr>
        </p:nvSpPr>
        <p:spPr>
          <a:xfrm>
            <a:off x="457200" y="1200151"/>
            <a:ext cx="8229600" cy="3394472"/>
          </a:xfrm>
        </p:spPr>
        <p:txBody>
          <a:bodyPr/>
          <a:lstStyle/>
          <a:p>
            <a:pPr lvl="0"/>
            <a:r>
              <a:rPr/>
              <a:t>Lesson 1’s rule: </a:t>
            </a:r>
            <a:r>
              <a:rPr b="1"/>
              <a:t>nothing is learned before the split</a:t>
            </a:r>
          </a:p>
          <a:p>
            <a:pPr lvl="0"/>
            <a:r>
              <a:rPr/>
              <a:t>Lesson 1’s tool: </a:t>
            </a:r>
            <a:r>
              <a:rPr>
                <a:latin typeface="Courier"/>
              </a:rPr>
              <a:t>Pipeline</a:t>
            </a:r>
            <a:r>
              <a:rPr/>
              <a:t>, so the rule is structural, not just discipline</a:t>
            </a:r>
          </a:p>
          <a:p>
            <a:pPr lvl="0"/>
            <a:r>
              <a:rPr/>
              <a:t>Today: apply both to data that is actually messy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Exploratory analysis</a:t>
            </a:r>
          </a:p>
          <a:p>
            <a:pPr lvl="0"/>
            <a:r>
              <a:rPr/>
              <a:t>Missing values</a:t>
            </a:r>
          </a:p>
          <a:p>
            <a:pPr lvl="0"/>
            <a:r>
              <a:rPr/>
              <a:t>Outliers</a:t>
            </a:r>
          </a:p>
          <a:p>
            <a:pPr lvl="0"/>
            <a:r>
              <a:rPr/>
              <a:t>Scaling and encoding</a:t>
            </a:r>
          </a:p>
          <a:p>
            <a:pPr lvl="0"/>
            <a:r>
              <a:rPr/>
              <a:t>Feature engineering and pipelines</a:t>
            </a:r>
          </a:p>
          <a:p>
            <a:pPr lvl="0"/>
            <a:r>
              <a:rPr/>
              <a:t>Leakage, in a form nothing warns you about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 long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2000 synthetic telecom customers. Will they </a:t>
            </a:r>
            <a:r>
              <a:rPr b="1"/>
              <a:t>churn</a:t>
            </a:r>
            <a:r>
              <a:rPr/>
              <a:t>?</a:t>
            </a:r>
          </a:p>
          <a:p>
            <a:pPr lvl="0"/>
            <a:r>
              <a:rPr/>
              <a:t>Numeric: tenure, monthly charges, age, support calls</a:t>
            </a:r>
          </a:p>
          <a:p>
            <a:pPr lvl="0"/>
            <a:r>
              <a:rPr/>
              <a:t>Categorical: contract type, region, zip code (493 levels)</a:t>
            </a:r>
          </a:p>
          <a:p>
            <a:pPr lvl="0"/>
            <a:r>
              <a:rPr/>
              <a:t>Missing values, outliers, and one column built to carry </a:t>
            </a:r>
            <a:r>
              <a:rPr b="1"/>
              <a:t>no signal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Look before you touch anything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.info()</a:t>
            </a:r>
            <a:r>
              <a:rPr/>
              <a:t>, </a:t>
            </a:r>
            <a:r>
              <a:rPr>
                <a:latin typeface="Courier"/>
              </a:rPr>
              <a:t>.describe()</a:t>
            </a:r>
            <a:r>
              <a:rPr/>
              <a:t>, class balance, first: always.</a:t>
            </a:r>
          </a:p>
          <a:p>
            <a:pPr lvl="0"/>
            <a:r>
              <a:rPr/>
              <a:t>2000 rows, 8 columns, mixed types</a:t>
            </a:r>
          </a:p>
          <a:p>
            <a:pPr lvl="0"/>
            <a:r>
              <a:rPr/>
              <a:t>Churn rate: </a:t>
            </a:r>
            <a:r>
              <a:rPr b="1"/>
              <a:t>19.4%</a:t>
            </a:r>
            <a:r>
              <a:rPr/>
              <a:t> → baseline accuracy 80.6%</a:t>
            </a:r>
          </a:p>
          <a:p>
            <a:pPr lvl="0"/>
            <a:r>
              <a:rPr>
                <a:latin typeface="Courier"/>
              </a:rPr>
              <a:t>tenure_months</a:t>
            </a:r>
            <a:r>
              <a:rPr/>
              <a:t> max: 999. Not a typo in the slide.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of these four have no shape left to read</a:t>
            </a:r>
          </a:p>
        </p:txBody>
      </p:sp>
      <p:pic>
        <p:nvPicPr>
          <p:cNvPr descr="numeric_distributions.png" id="0" name="Picture 1"/>
          <p:cNvPicPr>
            <a:picLocks noGrp="1" noChangeAspect="1"/>
          </p:cNvPicPr>
          <p:nvPr/>
        </p:nvPicPr>
        <p:blipFill>
          <a:blip r:embed="rId3"/>
          <a:stretch>
            <a:fillRect/>
          </a:stretch>
        </p:blipFill>
        <p:spPr bwMode="auto">
          <a:xfrm>
            <a:off x="457200" y="1861939"/>
            <a:ext cx="8229600" cy="1968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gaps are</a:t>
            </a:r>
          </a:p>
        </p:txBody>
      </p:sp>
      <p:pic>
        <p:nvPicPr>
          <p:cNvPr descr="missingness_pattern.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reasons a value is missing</a:t>
            </a:r>
          </a:p>
        </p:txBody>
      </p:sp>
      <p:pic>
        <p:nvPicPr>
          <p:cNvPr descr="missingness_mechanisms.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 MCAR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Some customers just left it blank. Nothing systematic.</a:t>
            </a:r>
          </a:p>
          <a:p>
            <a:pPr lvl="0"/>
            <a:r>
              <a:rPr/>
              <a:t>Safe to impute with a fixed statistic</a:t>
            </a:r>
          </a:p>
          <a:p>
            <a:pPr lvl="0"/>
            <a:r>
              <a:rPr/>
              <a:t>The bias question is not “is this fair”: it is “what does filling it cost”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mean imputation actually costs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Every correlation involving the imputed column shrinks, even under MCAR.</a:t>
            </a:r>
          </a:p>
        </p:txBody>
      </p:sp>
      <p:pic>
        <p:nvPicPr>
          <p:cNvPr descr="correlation_attenuation.png" id="0" name="Picture 1"/>
          <p:cNvPicPr>
            <a:picLocks noGrp="1" noChangeAspect="1"/>
          </p:cNvPicPr>
          <p:nvPr/>
        </p:nvPicPr>
        <p:blipFill>
          <a:blip r:embed="rId3"/>
          <a:stretch>
            <a:fillRect/>
          </a:stretch>
        </p:blipFill>
        <p:spPr bwMode="auto">
          <a:xfrm>
            <a:off x="2410327" y="2160270"/>
            <a:ext cx="4323345" cy="236601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num_support_calls: MAR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Missing more often for long-tenure customers, not by chance.</a:t>
            </a:r>
          </a:p>
          <a:p>
            <a:pPr lvl="0"/>
            <a:r>
              <a:rPr/>
              <a:t>Treating it as MCAR reweights the sample the wrong way</a:t>
            </a:r>
          </a:p>
          <a:p>
            <a:pPr lvl="0"/>
            <a:r>
              <a:rPr/>
              <a:t>A </a:t>
            </a:r>
            <a:r>
              <a:rPr b="1"/>
              <a:t>missingness indicator</a:t>
            </a:r>
            <a:r>
              <a:rPr/>
              <a:t> column preserves the signal even after filling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about a gap</a:t>
            </a:r>
          </a:p>
        </p:txBody>
      </p:sp>
      <p:sp>
        <p:nvSpPr>
          <p:cNvPr id="3" name="Content Placeholder 2"/>
          <p:cNvSpPr>
            <a:spLocks noGrp="1"/>
          </p:cNvSpPr>
          <p:nvPr>
            <p:ph idx="1"/>
          </p:nvPr>
        </p:nvSpPr>
        <p:spPr>
          <a:xfrm>
            <a:off x="457200" y="1200151"/>
            <a:ext cx="8229600" cy="3394472"/>
          </a:xfrm>
        </p:spPr>
        <p:txBody>
          <a:bodyPr/>
          <a:lstStyle/>
          <a:p>
            <a:pPr lvl="0"/>
            <a:r>
              <a:rPr b="1"/>
              <a:t>Drop rows</a:t>
            </a:r>
            <a:r>
              <a:rPr/>
              <a:t>: only if few, and only if MCAR</a:t>
            </a:r>
          </a:p>
          <a:p>
            <a:pPr lvl="0"/>
            <a:r>
              <a:rPr b="1"/>
              <a:t>Drop the column</a:t>
            </a:r>
            <a:r>
              <a:rPr/>
              <a:t>: if it is missing too often to help</a:t>
            </a:r>
          </a:p>
          <a:p>
            <a:pPr lvl="0"/>
            <a:r>
              <a:rPr b="1"/>
              <a:t>Impute</a:t>
            </a:r>
            <a:r>
              <a:rPr/>
              <a:t>: mean/median, most-frequent, </a:t>
            </a:r>
            <a:r>
              <a:rPr>
                <a:latin typeface="Courier"/>
              </a:rPr>
              <a:t>KNNImputer</a:t>
            </a:r>
          </a:p>
          <a:p>
            <a:pPr lvl="0"/>
            <a:r>
              <a:rPr b="1"/>
              <a:t>Add a missingness indicator</a:t>
            </a:r>
            <a:r>
              <a:rPr/>
              <a:t>: keeps MAR signal alive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four</a:t>
            </a:r>
          </a:p>
        </p:txBody>
      </p:sp>
      <p:pic>
        <p:nvPicPr>
          <p:cNvPr descr="missing_data_decision.png" id="0" name="Picture 1"/>
          <p:cNvPicPr>
            <a:picLocks noGrp="1" noChangeAspect="1"/>
          </p:cNvPicPr>
          <p:nvPr/>
        </p:nvPicPr>
        <p:blipFill>
          <a:blip r:embed="rId3"/>
          <a:stretch>
            <a:fillRect/>
          </a:stretch>
        </p:blipFill>
        <p:spPr bwMode="auto">
          <a:xfrm>
            <a:off x="457200" y="1328539"/>
            <a:ext cx="8229600" cy="3035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1: distance in standard deviations, flag beyond k = 3</a:t>
            </a:r>
          </a:p>
        </p:txBody>
      </p:sp>
      <p:pic>
        <p:nvPicPr>
          <p:cNvPr descr="eq_fe122443eb.png" id="0" name="Picture 1"/>
          <p:cNvPicPr>
            <a:picLocks noGrp="1" noChangeAspect="1"/>
          </p:cNvPicPr>
          <p:nvPr/>
        </p:nvPicPr>
        <p:blipFill>
          <a:blip r:embed="rId3"/>
          <a:stretch>
            <a:fillRect/>
          </a:stretch>
        </p:blipFill>
        <p:spPr bwMode="auto">
          <a:xfrm>
            <a:off x="457200" y="1322189"/>
            <a:ext cx="8229600" cy="30480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2: distance measured in quartiles</a:t>
            </a:r>
          </a:p>
        </p:txBody>
      </p:sp>
      <p:pic>
        <p:nvPicPr>
          <p:cNvPr descr="eq_f508402a31.png" id="0" name="Picture 1"/>
          <p:cNvPicPr>
            <a:picLocks noGrp="1" noChangeAspect="1"/>
          </p:cNvPicPr>
          <p:nvPr/>
        </p:nvPicPr>
        <p:blipFill>
          <a:blip r:embed="rId3"/>
          <a:stretch>
            <a:fillRect/>
          </a:stretch>
        </p:blipFill>
        <p:spPr bwMode="auto">
          <a:xfrm>
            <a:off x="457200" y="2484239"/>
            <a:ext cx="8229600" cy="723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neighbourhood, not the same answer</a:t>
            </a:r>
          </a:p>
        </p:txBody>
      </p:sp>
      <p:pic>
        <p:nvPicPr>
          <p:cNvPr descr="outlier_fences.png" id="0" name="Picture 1"/>
          <p:cNvPicPr>
            <a:picLocks noGrp="1" noChangeAspect="1"/>
          </p:cNvPicPr>
          <p:nvPr/>
        </p:nvPicPr>
        <p:blipFill>
          <a:blip r:embed="rId3"/>
          <a:stretch>
            <a:fillRect/>
          </a:stretch>
        </p:blipFill>
        <p:spPr bwMode="auto">
          <a:xfrm>
            <a:off x="457200" y="1309489"/>
            <a:ext cx="8229600" cy="30734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robust rule is the one that got it wrong</a:t>
            </a:r>
          </a:p>
        </p:txBody>
      </p:sp>
      <p:pic>
        <p:nvPicPr>
          <p:cNvPr descr="outlier_scatter.png" id="0" name="Picture 1"/>
          <p:cNvPicPr>
            <a:picLocks noGrp="1" noChangeAspect="1"/>
          </p:cNvPicPr>
          <p:nvPr/>
        </p:nvPicPr>
        <p:blipFill>
          <a:blip r:embed="rId3"/>
          <a:stretch>
            <a:fillRect/>
          </a:stretch>
        </p:blipFill>
        <p:spPr bwMode="auto">
          <a:xfrm>
            <a:off x="457200" y="1220589"/>
            <a:ext cx="8229600" cy="3251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neither rule can tell you</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of </a:t>
            </a:r>
            <a:r>
              <a:rPr b="1"/>
              <a:t>-3</a:t>
            </a:r>
            <a:r>
              <a:rPr/>
              <a:t> is impossible. Neither rule flags it.</a:t>
            </a:r>
          </a:p>
          <a:p>
            <a:pPr lvl="0"/>
            <a:r>
              <a:rPr/>
              <a:t>-3 is not </a:t>
            </a:r>
            <a:r>
              <a:rPr i="1"/>
              <a:t>extreme</a:t>
            </a:r>
            <a:r>
              <a:rPr/>
              <a:t> relative to a column spanning 0–72</a:t>
            </a:r>
          </a:p>
          <a:p>
            <a:pPr lvl="0"/>
            <a:r>
              <a:rPr/>
              <a:t>It is not </a:t>
            </a:r>
            <a:r>
              <a:rPr i="1"/>
              <a:t>unusual</a:t>
            </a:r>
            <a:r>
              <a:rPr/>
              <a:t>. It is </a:t>
            </a:r>
            <a:r>
              <a:rPr i="1"/>
              <a:t>invalid</a:t>
            </a:r>
            <a:r>
              <a:rPr/>
              <a:t>: a different question entirely</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Once something is flagged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Detection finds candidates. What to do next is a </a:t>
            </a:r>
            <a:r>
              <a:rPr b="1"/>
              <a:t>domain</a:t>
            </a:r>
            <a:r>
              <a:rPr/>
              <a:t> decision.</a:t>
            </a:r>
          </a:p>
          <a:p>
            <a:pPr lvl="0"/>
            <a:r>
              <a:rPr b="1"/>
              <a:t>Cap</a:t>
            </a:r>
            <a:r>
              <a:rPr/>
              <a:t> it at the fence (Winsorise)</a:t>
            </a:r>
          </a:p>
          <a:p>
            <a:pPr lvl="0"/>
            <a:r>
              <a:rPr b="1"/>
              <a:t>Remove</a:t>
            </a:r>
            <a:r>
              <a:rPr/>
              <a:t> the row</a:t>
            </a:r>
          </a:p>
          <a:p>
            <a:pPr lvl="0"/>
            <a:r>
              <a:rPr b="1"/>
              <a:t>Correct</a:t>
            </a:r>
            <a:r>
              <a:rPr/>
              <a:t> it, if the true value is recoverable</a:t>
            </a:r>
          </a:p>
          <a:p>
            <a:pPr lvl="0"/>
            <a:r>
              <a:rPr b="1"/>
              <a:t>Leave</a:t>
            </a:r>
            <a:r>
              <a:rPr/>
              <a:t> it: unusual is not the same as wrong</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Exploration, missingness mechanisms, both outlier rules: from scratch.</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scale?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0–72. </a:t>
            </a:r>
            <a:r>
              <a:rPr>
                <a:latin typeface="Courier"/>
              </a:rPr>
              <a:t>monthly_charges</a:t>
            </a:r>
            <a:r>
              <a:rPr/>
              <a:t>: 15–128.</a:t>
            </a:r>
          </a:p>
          <a:p>
            <a:pPr lvl="0" indent="0" marL="0">
              <a:buNone/>
            </a:pPr>
            <a:r>
              <a:rPr/>
              <a:t>Gradient descent takes </a:t>
            </a:r>
            <a:r>
              <a:rPr b="1"/>
              <a:t>one step size, along every axis, every iteration.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ravine, not a bowl</a:t>
            </a:r>
          </a:p>
        </p:txBody>
      </p:sp>
      <p:pic>
        <p:nvPicPr>
          <p:cNvPr descr="condition_number_geometry.png" id="0" name="Picture 1"/>
          <p:cNvPicPr>
            <a:picLocks noGrp="1" noChangeAspect="1"/>
          </p:cNvPicPr>
          <p:nvPr/>
        </p:nvPicPr>
        <p:blipFill>
          <a:blip r:embed="rId3"/>
          <a:stretch>
            <a:fillRect/>
          </a:stretch>
        </p:blipFill>
        <p:spPr bwMode="auto">
          <a:xfrm>
            <a:off x="1299914" y="1166099"/>
            <a:ext cx="6544172" cy="3360181"/>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100:1 variance ratio, and what it costs</a:t>
            </a:r>
          </a:p>
        </p:txBody>
      </p:sp>
      <p:pic>
        <p:nvPicPr>
          <p:cNvPr descr="gd_convergence_scaled_vs_unscaled.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StandardScaler vs MinMaxScaler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Two standard choices, both fitted on training data only.</a:t>
            </a:r>
          </a:p>
        </p:txBody>
      </p:sp>
      <p:pic>
        <p:nvPicPr>
          <p:cNvPr descr="scaling_comparison.png" id="0" name="Picture 1"/>
          <p:cNvPicPr>
            <a:picLocks noGrp="1" noChangeAspect="1"/>
          </p:cNvPicPr>
          <p:nvPr/>
        </p:nvPicPr>
        <p:blipFill>
          <a:blip r:embed="rId3"/>
          <a:stretch>
            <a:fillRect/>
          </a:stretch>
        </p:blipFill>
        <p:spPr bwMode="auto">
          <a:xfrm>
            <a:off x="472276" y="2160270"/>
            <a:ext cx="8199448" cy="236601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All k dummies plus an intercept cannot both be free</a:t>
            </a:r>
          </a:p>
        </p:txBody>
      </p:sp>
      <p:pic>
        <p:nvPicPr>
          <p:cNvPr descr="eq_3723e214d0.png" id="0" name="Picture 1"/>
          <p:cNvPicPr>
            <a:picLocks noGrp="1" noChangeAspect="1"/>
          </p:cNvPicPr>
          <p:nvPr/>
        </p:nvPicPr>
        <p:blipFill>
          <a:blip r:embed="rId3"/>
          <a:stretch>
            <a:fillRect/>
          </a:stretch>
        </p:blipFill>
        <p:spPr bwMode="auto">
          <a:xfrm>
            <a:off x="457200" y="1861939"/>
            <a:ext cx="8229600" cy="19685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Rank deficient by exactly one</a:t>
            </a:r>
          </a:p>
        </p:txBody>
      </p:sp>
      <p:pic>
        <p:nvPicPr>
          <p:cNvPr descr="dummy_variable_trap.png" id="0" name="Picture 1"/>
          <p:cNvPicPr>
            <a:picLocks noGrp="1" noChangeAspect="1"/>
          </p:cNvPicPr>
          <p:nvPr/>
        </p:nvPicPr>
        <p:blipFill>
          <a:blip r:embed="rId3"/>
          <a:stretch>
            <a:fillRect/>
          </a:stretch>
        </p:blipFill>
        <p:spPr bwMode="auto">
          <a:xfrm>
            <a:off x="651789" y="1166099"/>
            <a:ext cx="7840422" cy="3360181"/>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Ordinal vs target encoding</a:t>
            </a:r>
          </a:p>
        </p:txBody>
      </p:sp>
      <p:sp>
        <p:nvSpPr>
          <p:cNvPr id="3" name="Content Placeholder 2"/>
          <p:cNvSpPr>
            <a:spLocks noGrp="1"/>
          </p:cNvSpPr>
          <p:nvPr>
            <p:ph idx="1" sz="half"/>
          </p:nvPr>
        </p:nvSpPr>
        <p:spPr>
          <a:xfrm>
            <a:off x="457200" y="1200151"/>
            <a:ext cx="4038600" cy="3394472"/>
          </a:xfrm>
        </p:spPr>
        <p:txBody>
          <a:bodyPr/>
          <a:lstStyle/>
          <a:p>
            <a:pPr lvl="0" indent="0" marL="0">
              <a:buNone/>
            </a:pPr>
            <a:r>
              <a:rPr b="1"/>
              <a:t>Ordinal</a:t>
            </a:r>
          </a:p>
          <a:p>
            <a:pPr lvl="0"/>
            <a:r>
              <a:rPr/>
              <a:t>Categories → integers</a:t>
            </a:r>
          </a:p>
          <a:p>
            <a:pPr lvl="0"/>
            <a:r>
              <a:rPr/>
              <a:t>Only valid if a real </a:t>
            </a:r>
            <a:r>
              <a:rPr b="1"/>
              <a:t>order</a:t>
            </a:r>
            <a:r>
              <a:rPr/>
              <a:t> exists</a:t>
            </a:r>
          </a:p>
          <a:p>
            <a:pPr lvl="0"/>
            <a:r>
              <a:rPr>
                <a:latin typeface="Courier"/>
              </a:rPr>
              <a:t>low</a:t>
            </a:r>
            <a:r>
              <a:rPr/>
              <a:t> &lt; </a:t>
            </a:r>
            <a:r>
              <a:rPr>
                <a:latin typeface="Courier"/>
              </a:rPr>
              <a:t>medium</a:t>
            </a:r>
            <a:r>
              <a:rPr/>
              <a:t> &lt; </a:t>
            </a:r>
            <a:r>
              <a:rPr>
                <a:latin typeface="Courier"/>
              </a:rPr>
              <a:t>high</a:t>
            </a:r>
          </a:p>
        </p:txBody>
      </p:sp>
      <p:sp>
        <p:nvSpPr>
          <p:cNvPr id="4" name="Content Placeholder 3"/>
          <p:cNvSpPr>
            <a:spLocks noGrp="1"/>
          </p:cNvSpPr>
          <p:nvPr>
            <p:ph idx="2" sz="half"/>
          </p:nvPr>
        </p:nvSpPr>
        <p:spPr>
          <a:xfrm>
            <a:off x="4648200" y="1200151"/>
            <a:ext cx="4038600" cy="3394472"/>
          </a:xfrm>
        </p:spPr>
        <p:txBody>
          <a:bodyPr/>
          <a:lstStyle/>
          <a:p>
            <a:pPr lvl="0" indent="0" marL="0">
              <a:buNone/>
            </a:pPr>
            <a:r>
              <a:rPr b="1"/>
              <a:t>Target</a:t>
            </a:r>
          </a:p>
          <a:p>
            <a:pPr lvl="0"/>
            <a:r>
              <a:rPr/>
              <a:t>Category → a statistic of y</a:t>
            </a:r>
          </a:p>
          <a:p>
            <a:pPr lvl="0"/>
            <a:r>
              <a:rPr/>
              <a:t>Compresses any cardinality to one column</a:t>
            </a:r>
          </a:p>
          <a:p>
            <a:pPr lvl="0"/>
            <a:r>
              <a:rPr/>
              <a:t>The dangerous one comes next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encodings, three claims</a:t>
            </a:r>
          </a:p>
        </p:txBody>
      </p:sp>
      <p:pic>
        <p:nvPicPr>
          <p:cNvPr descr="encoding_comparison.png" id="0" name="Picture 1"/>
          <p:cNvPicPr>
            <a:picLocks noGrp="1" noChangeAspect="1"/>
          </p:cNvPicPr>
          <p:nvPr/>
        </p:nvPicPr>
        <p:blipFill>
          <a:blip r:embed="rId3"/>
          <a:stretch>
            <a:fillRect/>
          </a:stretch>
        </p:blipFill>
        <p:spPr bwMode="auto">
          <a:xfrm>
            <a:off x="457200" y="1601589"/>
            <a:ext cx="8229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curse of dimensionality, briefly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One-hot </a:t>
            </a:r>
            <a:r>
              <a:rPr>
                <a:latin typeface="Courier"/>
              </a:rPr>
              <a:t>zip_code</a:t>
            </a:r>
            <a:r>
              <a:rPr/>
              <a:t>: </a:t>
            </a:r>
            <a:r>
              <a:rPr b="1"/>
              <a:t>493</a:t>
            </a:r>
            <a:r>
              <a:rPr/>
              <a:t> new columns, mostly zero.</a:t>
            </a:r>
          </a:p>
          <a:p>
            <a:pPr lvl="0"/>
            <a:r>
              <a:rPr/>
              <a:t>Distance-based methods (Lesson 6): everything looks equidistant</a:t>
            </a:r>
          </a:p>
          <a:p>
            <a:pPr lvl="0"/>
            <a:r>
              <a:rPr/>
              <a:t>More parameters to estimate, same sample size → more variance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zip_code: 493 levels</a:t>
            </a:r>
          </a:p>
        </p:txBody>
      </p:sp>
      <p:pic>
        <p:nvPicPr>
          <p:cNvPr descr="onehot_width.png" id="0" name="Picture 1"/>
          <p:cNvPicPr>
            <a:picLocks noGrp="1" noChangeAspect="1"/>
          </p:cNvPicPr>
          <p:nvPr/>
        </p:nvPicPr>
        <p:blipFill>
          <a:blip r:embed="rId3"/>
          <a:stretch>
            <a:fillRect/>
          </a:stretch>
        </p:blipFill>
        <p:spPr bwMode="auto">
          <a:xfrm>
            <a:off x="457200" y="1493639"/>
            <a:ext cx="8229600" cy="27051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Restating Lesson 1’s argument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 includes </a:t>
            </a:r>
            <a:r>
              <a:rPr b="1"/>
              <a:t>every</a:t>
            </a:r>
            <a:r>
              <a:rPr/>
              <a:t> learned parameter, not just “the model part”.</a:t>
            </a:r>
          </a:p>
        </p:txBody>
      </p:sp>
      <p:pic>
        <p:nvPicPr>
          <p:cNvPr descr="eq_4c26f16b0d.png" id="0" name="Picture 1"/>
          <p:cNvPicPr>
            <a:picLocks noGrp="1" noChangeAspect="1"/>
          </p:cNvPicPr>
          <p:nvPr/>
        </p:nvPicPr>
        <p:blipFill>
          <a:blip r:embed="rId3"/>
          <a:stretch>
            <a:fillRect/>
          </a:stretch>
        </p:blipFill>
        <p:spPr bwMode="auto">
          <a:xfrm>
            <a:off x="457207" y="3056672"/>
            <a:ext cx="8229586" cy="573205"/>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latin typeface="Courier"/>
              </a:rPr>
              <a:t>ColumnTransformer</a:t>
            </a:r>
            <a:r>
              <a:rPr/>
              <a:t> + </a:t>
            </a:r>
            <a:r>
              <a:rPr>
                <a:latin typeface="Courier"/>
              </a:rPr>
              <a:t>Pipeline</a:t>
            </a:r>
          </a:p>
        </p:txBody>
      </p:sp>
      <p:pic>
        <p:nvPicPr>
          <p:cNvPr descr="pipeline_architectur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prep </a:t>
            </a:r>
            <a:r>
              <a:rPr>
                <a:solidFill>
                  <a:srgbClr val="666666"/>
                </a:solidFill>
                <a:latin typeface="Courier"/>
              </a:rPr>
              <a:t>=</a:t>
            </a:r>
            <a:r>
              <a:rPr>
                <a:latin typeface="Courier"/>
              </a:rPr>
              <a:t> ColumnTransformer([</a:t>
            </a:r>
            <a:br/>
            <a:r>
              <a:rPr>
                <a:latin typeface="Courier"/>
              </a:rPr>
              <a:t>    (</a:t>
            </a:r>
            <a:r>
              <a:rPr>
                <a:solidFill>
                  <a:srgbClr val="4070A0"/>
                </a:solidFill>
                <a:latin typeface="Courier"/>
              </a:rPr>
              <a:t>"num"</a:t>
            </a:r>
            <a:r>
              <a:rPr>
                <a:latin typeface="Courier"/>
              </a:rPr>
              <a:t>, num_pipe, num_cols),</a:t>
            </a:r>
            <a:br/>
            <a:r>
              <a:rPr>
                <a:latin typeface="Courier"/>
              </a:rPr>
              <a:t>    (</a:t>
            </a:r>
            <a:r>
              <a:rPr>
                <a:solidFill>
                  <a:srgbClr val="4070A0"/>
                </a:solidFill>
                <a:latin typeface="Courier"/>
              </a:rPr>
              <a:t>"cat"</a:t>
            </a:r>
            <a:r>
              <a:rPr>
                <a:latin typeface="Courier"/>
              </a:rPr>
              <a:t>, cat_pipe, cat_cols),</a:t>
            </a:r>
            <a:br/>
            <a:r>
              <a:rPr>
                <a:latin typeface="Courier"/>
              </a:rPr>
              <a:t>])</a:t>
            </a:r>
            <a:br/>
            <a:r>
              <a:rPr>
                <a:latin typeface="Courier"/>
              </a:rPr>
              <a:t>model </a:t>
            </a:r>
            <a:r>
              <a:rPr>
                <a:solidFill>
                  <a:srgbClr val="666666"/>
                </a:solidFill>
                <a:latin typeface="Courier"/>
              </a:rPr>
              <a:t>=</a:t>
            </a:r>
            <a:r>
              <a:rPr>
                <a:latin typeface="Courier"/>
              </a:rPr>
              <a:t> Pipeline([</a:t>
            </a:r>
            <a:br/>
            <a:r>
              <a:rPr>
                <a:latin typeface="Courier"/>
              </a:rPr>
              <a:t>    (</a:t>
            </a:r>
            <a:r>
              <a:rPr>
                <a:solidFill>
                  <a:srgbClr val="4070A0"/>
                </a:solidFill>
                <a:latin typeface="Courier"/>
              </a:rPr>
              <a:t>"prep"</a:t>
            </a:r>
            <a:r>
              <a:rPr>
                <a:latin typeface="Courier"/>
              </a:rPr>
              <a:t>, prep),</a:t>
            </a:r>
            <a:br/>
            <a:r>
              <a:rPr>
                <a:latin typeface="Courier"/>
              </a:rPr>
              <a:t>    (</a:t>
            </a:r>
            <a:r>
              <a:rPr>
                <a:solidFill>
                  <a:srgbClr val="4070A0"/>
                </a:solidFill>
                <a:latin typeface="Courier"/>
              </a:rPr>
              <a:t>"clf"</a:t>
            </a:r>
            <a:r>
              <a:rPr>
                <a:latin typeface="Courier"/>
              </a:rPr>
              <a:t>, clf),</a:t>
            </a:r>
            <a:br/>
            <a:r>
              <a:rPr>
                <a:latin typeface="Courier"/>
              </a:rPr>
              <a:t>])</a:t>
            </a:r>
            <a:br/>
            <a:r>
              <a:rPr>
                <a:latin typeface="Courier"/>
              </a:rPr>
              <a:t>model.fit(X_train, y_train)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on churn</a:t>
            </a:r>
          </a:p>
        </p:txBody>
      </p:sp>
      <p:sp>
        <p:nvSpPr>
          <p:cNvPr id="3" name="Content Placeholder 2"/>
          <p:cNvSpPr>
            <a:spLocks noGrp="1"/>
          </p:cNvSpPr>
          <p:nvPr>
            <p:ph idx="1"/>
          </p:nvPr>
        </p:nvSpPr>
        <p:spPr>
          <a:xfrm>
            <a:off x="457200" y="1200151"/>
            <a:ext cx="8229600" cy="3394472"/>
          </a:xfrm>
        </p:spPr>
        <p:txBody>
          <a:bodyPr/>
          <a:lstStyle/>
          <a:p>
            <a:pPr lvl="0"/>
            <a:r>
              <a:rPr/>
              <a:t>Baseline: </a:t>
            </a:r>
            <a:r>
              <a:rPr b="1"/>
              <a:t>0.806</a:t>
            </a:r>
          </a:p>
          <a:p>
            <a:pPr lvl="0"/>
            <a:r>
              <a:rPr/>
              <a:t>Model (numeric + the low-cardinality categoricals, no zip): </a:t>
            </a:r>
            <a:r>
              <a:rPr b="1"/>
              <a:t>0.820</a:t>
            </a:r>
            <a:r>
              <a:rPr/>
              <a:t> accuracy, </a:t>
            </a:r>
            <a:r>
              <a:rPr b="1"/>
              <a:t>0.751</a:t>
            </a:r>
            <a:r>
              <a:rPr/>
              <a:t> AUC (area under the receiver operating characteristic curve)</a:t>
            </a:r>
          </a:p>
          <a:p>
            <a:pPr lvl="0" indent="0" marL="0">
              <a:buNone/>
            </a:pPr>
            <a:r>
              <a:rPr/>
              <a:t>Modest accuracy gain. Why?</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errors fall</a:t>
            </a:r>
          </a:p>
        </p:txBody>
      </p:sp>
      <p:pic>
        <p:nvPicPr>
          <p:cNvPr descr="churn_confusion_matrix.png" id="0" name="Picture 1"/>
          <p:cNvPicPr>
            <a:picLocks noGrp="1" noChangeAspect="1"/>
          </p:cNvPicPr>
          <p:nvPr/>
        </p:nvPicPr>
        <p:blipFill>
          <a:blip r:embed="rId3"/>
          <a:stretch>
            <a:fillRect/>
          </a:stretch>
        </p:blipFill>
        <p:spPr bwMode="auto">
          <a:xfrm>
            <a:off x="2797522" y="1166099"/>
            <a:ext cx="3548955"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Feature engineering</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Ratios, interactions, binning: a linear model cannot invent these itself. AUC: 0.751 → 0.754. </a:t>
            </a:r>
            <a:r>
              <a:rPr b="1"/>
              <a:t>Two thousandths: one split cannot tell that from noise.</a:t>
            </a:r>
          </a:p>
        </p:txBody>
      </p:sp>
      <p:pic>
        <p:nvPicPr>
          <p:cNvPr descr="eq_708e41c00f.png" id="0" name="Picture 1"/>
          <p:cNvPicPr>
            <a:picLocks noGrp="1" noChangeAspect="1"/>
          </p:cNvPicPr>
          <p:nvPr/>
        </p:nvPicPr>
        <p:blipFill>
          <a:blip r:embed="rId3"/>
          <a:stretch>
            <a:fillRect/>
          </a:stretch>
        </p:blipFill>
        <p:spPr bwMode="auto">
          <a:xfrm>
            <a:off x="457204" y="3183148"/>
            <a:ext cx="8229591" cy="75745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Scaling from scratch, the dummy trap, </a:t>
            </a:r>
            <a:r>
              <a:rPr>
                <a:latin typeface="Courier"/>
              </a:rPr>
              <a:t>ColumnTransformer</a:t>
            </a:r>
            <a:r>
              <a:rPr/>
              <a:t>, </a:t>
            </a:r>
            <a:r>
              <a:rPr>
                <a:latin typeface="Courier"/>
              </a:rPr>
              <a:t>Pipeline</a:t>
            </a:r>
            <a: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rule, broken three ways</a:t>
            </a:r>
          </a:p>
        </p:txBody>
      </p:sp>
      <p:pic>
        <p:nvPicPr>
          <p:cNvPr descr="invisible_leaks.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1: impute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KNNImputer</a:t>
            </a:r>
            <a:r>
              <a:rPr/>
              <a:t> fills a gap using </a:t>
            </a:r>
            <a:r>
              <a:rPr b="1"/>
              <a:t>other rows’ values</a:t>
            </a:r>
            <a:r>
              <a:rPr/>
              <a:t>.</a:t>
            </a:r>
          </a:p>
          <a:p>
            <a:pPr lvl="0" indent="0" marL="0">
              <a:buNone/>
            </a:pPr>
            <a:r>
              <a:rPr/>
              <a:t>Fit it on train + test, and some of those rows are in the test set.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smoking gun</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94 of 128</a:t>
            </a:r>
            <a:r>
              <a:rPr/>
              <a:t> training rows with missing age had a </a:t>
            </a:r>
            <a:r>
              <a:rPr b="1"/>
              <a:t>test-set row</a:t>
            </a:r>
            <a:r>
              <a:rPr/>
              <a:t> among the five donors used to fill it.</a:t>
            </a:r>
          </a:p>
          <a:p>
            <a:pPr lvl="0" indent="0" marL="0">
              <a:buNone/>
            </a:pPr>
            <a:r>
              <a:rPr/>
              <a:t>Nothing raised an error.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Leakage, counted</a:t>
            </a:r>
          </a:p>
        </p:txBody>
      </p:sp>
      <p:pic>
        <p:nvPicPr>
          <p:cNvPr descr="smoking_gun.png" id="0" name="Picture 1"/>
          <p:cNvPicPr>
            <a:picLocks noGrp="1" noChangeAspect="1"/>
          </p:cNvPicPr>
          <p:nvPr/>
        </p:nvPicPr>
        <p:blipFill>
          <a:blip r:embed="rId3"/>
          <a:stretch>
            <a:fillRect/>
          </a:stretch>
        </p:blipFill>
        <p:spPr bwMode="auto">
          <a:xfrm>
            <a:off x="457201" y="1176140"/>
            <a:ext cx="8229597" cy="3340099"/>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2: encode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Replace </a:t>
            </a:r>
            <a:r>
              <a:rPr>
                <a:latin typeface="Courier"/>
              </a:rPr>
              <a:t>zip_code</a:t>
            </a:r>
            <a:r>
              <a:rPr/>
              <a:t> with the </a:t>
            </a:r>
            <a:r>
              <a:rPr b="1"/>
              <a:t>average churn rate of its own customers</a:t>
            </a:r>
            <a:r>
              <a:rPr/>
              <a:t>, computed before anybody has split anything.</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column with no real signal, encoded three ways</a:t>
            </a:r>
          </a:p>
        </p:txBody>
      </p:sp>
      <p:pic>
        <p:nvPicPr>
          <p:cNvPr descr="target_encoding_leak.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own disagreement, divided by your group size</a:t>
            </a:r>
          </a:p>
        </p:txBody>
      </p:sp>
      <p:pic>
        <p:nvPicPr>
          <p:cNvPr descr="eq_2274cba409.png" id="0" name="Picture 1"/>
          <p:cNvPicPr>
            <a:picLocks noGrp="1" noChangeAspect="1"/>
          </p:cNvPicPr>
          <p:nvPr/>
        </p:nvPicPr>
        <p:blipFill>
          <a:blip r:embed="rId3"/>
          <a:stretch>
            <a:fillRect/>
          </a:stretch>
        </p:blipFill>
        <p:spPr bwMode="auto">
          <a:xfrm>
            <a:off x="457200" y="1919089"/>
            <a:ext cx="8229600" cy="18542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leak shrinks as 1/n_c</a:t>
            </a:r>
          </a:p>
        </p:txBody>
      </p:sp>
      <p:pic>
        <p:nvPicPr>
          <p:cNvPr descr="leak_shrinks_with_group_size.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fix</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sklearn.preprocessing.TargetEncoder</a:t>
            </a:r>
            <a:r>
              <a:rPr/>
              <a:t>: cross-fitted inside the pipeline.</a:t>
            </a:r>
          </a:p>
          <a:p>
            <a:pPr lvl="0" indent="0" marL="0">
              <a:buNone/>
            </a:pPr>
            <a:r>
              <a:rPr/>
              <a:t>Each row’s encoded value comes from </a:t>
            </a:r>
            <a:r>
              <a:rPr b="1"/>
              <a:t>other</a:t>
            </a:r>
            <a:r>
              <a:rPr/>
              <a:t> folds, never its own label.</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restated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Everything that </a:t>
            </a:r>
            <a:r>
              <a:rPr b="1"/>
              <a:t>learns from data</a:t>
            </a:r>
            <a:r>
              <a:rPr/>
              <a:t> belongs inside the fold it is fitted on.</a:t>
            </a:r>
          </a:p>
          <a:p>
            <a:pPr lvl="0" indent="0" marL="0">
              <a:buNone/>
            </a:pPr>
            <a:r>
              <a:rPr/>
              <a:t>A mean. A median. A set of neighbours. A per-category average. A set of bin edges.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Trace the imputation leak. Watch the encoding leak manufacture 0.89 from noise.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Explored before transforming: types, gaps, shape, correlations</a:t>
            </a:r>
          </a:p>
          <a:p>
            <a:pPr lvl="0"/>
            <a:r>
              <a:rPr/>
              <a:t>Diagnosed </a:t>
            </a:r>
            <a:r>
              <a:rPr i="1"/>
              <a:t>why</a:t>
            </a:r>
            <a:r>
              <a:rPr/>
              <a:t> values are missing, not just </a:t>
            </a:r>
            <a:r>
              <a:rPr i="1"/>
              <a:t>how many</a:t>
            </a:r>
          </a:p>
          <a:p>
            <a:pPr lvl="0"/>
            <a:r>
              <a:rPr/>
              <a:t>Two outlier rules, and what neither can tell you</a:t>
            </a:r>
          </a:p>
          <a:p>
            <a:pPr lvl="0"/>
            <a:r>
              <a:rPr/>
              <a:t>Scaling, encoding, engineering: all inside </a:t>
            </a:r>
            <a:r>
              <a:rPr>
                <a:latin typeface="Courier"/>
              </a:rPr>
              <a:t>Pipeline</a:t>
            </a:r>
          </a:p>
          <a:p>
            <a:pPr lvl="0"/>
            <a:r>
              <a:rPr/>
              <a:t>Two leaks that look nothing like leaking</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9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Exercises/02_data_exploration_and_preparation.md</a:t>
            </a:r>
          </a:p>
          <a:p>
            <a:pPr lvl="0" indent="0" marL="0">
              <a:buNone/>
            </a:pPr>
            <a:r>
              <a:rPr/>
              <a:t>Build the full preparation pipeline yourself, and </a:t>
            </a:r>
            <a:r>
              <a:rPr b="1"/>
              <a:t>find a leak on purpose</a:t>
            </a:r>
            <a:r>
              <a:rPr/>
              <a:t> before fixing it.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Work the three notebooks in order</a:t>
            </a:r>
          </a:p>
          <a:p>
            <a:pPr lvl="0"/>
            <a:r>
              <a:rPr/>
              <a:t>Read the handout: the derivations are examinable</a:t>
            </a:r>
          </a:p>
          <a:p>
            <a:pPr lvl="0"/>
            <a:r>
              <a:rPr/>
              <a:t>Take the quiz</a:t>
            </a:r>
          </a:p>
          <a:p>
            <a:pPr lvl="0"/>
            <a:r>
              <a:rPr b="1"/>
              <a:t>Do the exercise</a:t>
            </a:r>
          </a:p>
          <a:p>
            <a:pPr lvl="0" indent="0" marL="0">
              <a:buNone/>
            </a:pPr>
            <a:r>
              <a:rPr/>
              <a:t>Next: regression, the first model we derive completely.</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Data Exploration and Preparation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 October 2026</vt:lpwstr>
  </property>
  <property fmtid="{D5CDD505-2E9C-101B-9397-08002B2CF9AE}" pid="3" name="subtitle">
    <vt:lpwstr>Technologies for Artificial Intelligence</vt:lpwstr>
  </property>
</Properties>
</file>