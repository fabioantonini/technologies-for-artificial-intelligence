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with the exercise, briefly - two or three minutes, not a review session. Ask for a show of hands: who treated quality as binary, who kept it as an integer regression problem? Both are defensible if justified; that was the whole point of Task 1.</a:t>
            </a:r>
          </a:p>
          <a:p>
            <a:pPr lvl="0" indent="0" marL="0">
              <a:buNone/>
            </a:pPr>
          </a:p>
          <a:p>
            <a:pPr lvl="0" indent="0" marL="0">
              <a:buNone/>
            </a:pPr>
            <a:r>
              <a:rPr/>
              <a:t>Do not dwell. The purpose of raising it is continuity, not grading feedback - say that detailed feedback comes separately, and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35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figure already existed in the notebook and is the reason the next forty minutes happen: monthly_charges is bimodal, tenure is nearly uniform, age is skewed and has a gap. Ask what each shape implies before moving on - a bimodal column usually means two populations mixed together.</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probability of missing depends on nothing. A blank field for no systematic reason.</a:t>
            </a:r>
          </a:p>
          <a:p>
            <a:pPr lvl="0" indent="0" marL="0">
              <a:buNone/>
            </a:pPr>
          </a:p>
          <a:p>
            <a:pPr lvl="0" indent="0" marL="0">
              <a:buNone/>
            </a:pPr>
            <a:r>
              <a:rPr/>
              <a:t>MAR: depends on something you DO observe. Our num_support_calls is MAR against tenure - long-standing customers’ early call history predates the CRM system. Conditional on tenure, the gap carries no further information.</a:t>
            </a:r>
          </a:p>
          <a:p>
            <a:pPr lvl="0" indent="0" marL="0">
              <a:buNone/>
            </a:pPr>
          </a:p>
          <a:p>
            <a:pPr lvl="0" indent="0" marL="0">
              <a:buNone/>
            </a:pPr>
            <a:r>
              <a:rPr/>
              <a:t>MNAR: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The z-score standardises and thresholds; Tukey’s rule fences off anything more than 1.5 interquartile ranges past the quartiles.</a:t>
            </a:r>
          </a:p>
          <a:p>
            <a:pPr lvl="0" indent="0" marL="0">
              <a:buNone/>
            </a:pPr>
          </a:p>
          <a:p>
            <a:pPr lvl="0" indent="0" marL="0">
              <a:buNone/>
            </a:pPr>
            <a:r>
              <a:rPr/>
              <a:t>Give the probabilistic reading of each, because it is what makes them more than recipes. Under normality, |z| &gt; 3 flags about 0.27% of a column. And the 1.5 is not arbitrary: for a normal column the IQR is 1.349 sigma, so the fence lands at 2.698 sigma and flags about 0.35% per tail. Tukey chose the constant precisely so the two rules agree on well-behaved data.</a:t>
            </a:r>
          </a:p>
          <a:p>
            <a:pPr lvl="0" indent="0" marL="0">
              <a:buNone/>
            </a:pPr>
          </a:p>
          <a:p>
            <a:pPr lvl="0" indent="0" marL="0">
              <a:buNone/>
            </a:pPr>
            <a:r>
              <a:rPr/>
              <a:t>That agreement is the setup for the next section. Both rules are calibrated on normality; the interesting question is what they do when the data is not normal, and that is where they part company.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 it is chosen so the IQR fence and a 3-sigma z-score fence flag comparable tails on a genuinely normal column. 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monthly_charges: z-score flags 20, IQR flags 32. The z-score rule’s own mean and standard deviation are dragged around by the outliers it is trying to catch - a handful of billing errors inflate s directly, making the rule LESS sensitive exactly when it should be more so. IQR barely moves under the same contamination. That is why IQR is the safer default for skewed, error-prone columns.</a:t>
            </a:r>
          </a:p>
          <a:p>
            <a:pPr lvl="0" indent="0" marL="0">
              <a:buNone/>
            </a:pPr>
          </a:p>
          <a:p>
            <a:pPr lvl="0" indent="0" marL="0">
              <a:buNone/>
            </a:pPr>
            <a:r>
              <a:rPr/>
              <a:t>tenure_months: only 4 flagged on the right panel, all at 999.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through notebook 1 now, 25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problem before the mathematics. Ask: if two features live on very different scales, can a single learning rate be right for both directions at once? Let the room reason about it before the derivation.</a:t>
            </a:r>
          </a:p>
          <a:p>
            <a:pPr lvl="0" indent="0" marL="0">
              <a:buNone/>
            </a:pPr>
          </a:p>
          <a:p>
            <a:pPr lvl="0" indent="0" marL="0">
              <a:buNone/>
            </a:pPr>
            <a:r>
              <a:rPr/>
              <a:t>Give them the concrete pair from the dataset: tenure runs 0 to 70, monthly charges 15 to 150. The variances differ by roughly an order of magnitude, and gradient descent takes one step size along every axis simultaneously.</a:t>
            </a:r>
          </a:p>
          <a:p>
            <a:pPr lvl="0" indent="0" marL="0">
              <a:buNone/>
            </a:pPr>
          </a:p>
          <a:p>
            <a:pPr lvl="0" indent="0" marL="0">
              <a:buNone/>
            </a:pPr>
            <a:r>
              <a:rPr/>
              <a:t>Handout Section 5.2 does it properly, and the punchline is worth previewing: the safe learning rate is set by the largest-variance feature, so progress along the smallest-variance direction is throttled by their ratio. The number of iterations scales with the condition number. Scaling is not cosmetic - it changes how long training takes, and sometimes whether it converges at all.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is the derivation made visible. Left: variances differ, so the bowl is a narrow valley. One step size is bound by the steep axis, so it bounces across the valley while barely advancing along it.</a:t>
            </a:r>
          </a:p>
          <a:p>
            <a:pPr lvl="0" indent="0" marL="0">
              <a:buNone/>
            </a:pPr>
          </a:p>
          <a:p>
            <a:pPr lvl="0" indent="0" marL="0">
              <a:buNone/>
            </a:pPr>
            <a:r>
              <a:rPr/>
              <a:t>Right: after scaling, the bowl is round and every step points at the minimum.</a:t>
            </a:r>
          </a:p>
          <a:p>
            <a:pPr lvl="0" indent="0" marL="0">
              <a:buNone/>
            </a:pPr>
          </a:p>
          <a:p>
            <a:pPr lvl="0" indent="0" marL="0">
              <a:buNone/>
            </a:pPr>
            <a:r>
              <a:rPr/>
              <a:t>Give them the number that governs it - the condition number, the ratio of largest to smallest variance - and say that the iteration count scales with it. Scaling is not cosmetic: it changes how long training takes, and sometimes whether it converges at all.</a:t>
            </a:r>
          </a:p>
          <a:p>
            <a:pPr lvl="0" indent="0" marL="0">
              <a:buNone/>
            </a:pPr>
          </a:p>
          <a:p>
            <a:pPr lvl="0" indent="0" marL="0">
              <a:buNone/>
            </a:pPr>
            <a:r>
              <a:rPr/>
              <a:t>The derivation is Handout Section 5.2: the Hessian of the squared-error cost is the feature covariance matrix, so for uncorrelated centred features it is diagonal with the variances on it. That is why the picture is an axis-aligned ellipse, and why its elongation is the condition number.</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 it diverges. Same data, same starting point, one rate stable and one exploding.</a:t>
            </a:r>
          </a:p>
          <a:p>
            <a:pPr lvl="0" indent="0" marL="0">
              <a:buNone/>
            </a:pPr>
          </a:p>
          <a:p>
            <a:pPr lvl="0" indent="0" marL="0">
              <a:buNone/>
            </a:pPr>
            <a:r>
              <a:rPr/>
              <a:t>This is a controlled toy (notebook 2), built with exactly a 100:1 variance ratio so the effect is unambiguous - real churn features show the same direction of effect more mildly, since monthly_charges has roughly 3-4 times the spread of tenure_months, not 100 times.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k dummy columns always sum to the intercept column, so they are not independent of it: the design matrix loses rank, and the normal equation has no unique solution.</a:t>
            </a:r>
          </a:p>
          <a:p>
            <a:pPr lvl="0" indent="0" marL="0">
              <a:buNone/>
            </a:pPr>
          </a:p>
          <a:p>
            <a:pPr lvl="0" indent="0" marL="0">
              <a:buNone/>
            </a:pPr>
            <a:r>
              <a:rPr/>
              <a:t>Stress that this is not a numerical inconvenience but an identifiability problem. There are infinitely many coefficient vectors that fit equally well, because you can add a constant to every dummy coefficient and subtract it from the intercept without changing a single prediction.</a:t>
            </a:r>
          </a:p>
          <a:p>
            <a:pPr lvl="0" indent="0" marL="0">
              <a:buNone/>
            </a:pPr>
          </a:p>
          <a:p>
            <a:pPr lvl="0" indent="0" marL="0">
              <a:buNone/>
            </a:pPr>
            <a:r>
              <a:rPr/>
              <a:t>Handout Section 6.1 has the proof; notebook 2 confirms it directly with matrix_rank, which is the version they will believe. The next slide shows it as arithmetic.</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number: the rank is short by exactly one, not by an arbitrary amount. That is the signature of a single linear dependence - the sum of the dummies equalling the intercept - rather than of general collinearity.</a:t>
            </a:r>
          </a:p>
          <a:p>
            <a:pPr lvl="0" indent="0" marL="0">
              <a:buNone/>
            </a:pPr>
          </a:p>
          <a:p>
            <a:pPr lvl="0" indent="0" marL="0">
              <a:buNone/>
            </a:pPr>
            <a:r>
              <a:rPr/>
              <a:t>The fix is OneHotEncoder(drop=“first”). The dropped category becomes the reference level, absorbed into the intercept: no information is lost, and full rank is restored.</a:t>
            </a:r>
          </a:p>
          <a:p>
            <a:pPr lvl="0" indent="0" marL="0">
              <a:buNone/>
            </a:pPr>
          </a:p>
          <a:p>
            <a:pPr lvl="0" indent="0" marL="0">
              <a:buNone/>
            </a:pPr>
            <a:r>
              <a:rPr/>
              <a:t>Two caveats worth saying. Tree-based models (Lesson 7) do not need this, because they never invert a design matrix. And regularised models tolerate the rank deficiency, because the penalty term picks one solution out of the infinitely many - which is a good early illustration of what regularisation actually does, and we return to it in Lesson 3.</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encodings of one column, and each makes a different claim.</a:t>
            </a:r>
          </a:p>
          <a:p>
            <a:pPr lvl="0" indent="0" marL="0">
              <a:buNone/>
            </a:pPr>
          </a:p>
          <a:p>
            <a:pPr lvl="0" indent="0" marL="0">
              <a:buNone/>
            </a:pPr>
            <a:r>
              <a:rPr/>
              <a:t>Ordinal claims the categories are equally spaced on a line - fine for small/medium/large, wrong for region. One-hot claims nothing at all, which is why it is the default, and costs k columns: 493 for zip code on 2000 rows. Target claims each category is summarised by its own churn rate, which is compact and, as the next section shows, computed from the labels.</a:t>
            </a:r>
          </a:p>
          <a:p>
            <a:pPr lvl="0" indent="0" marL="0">
              <a:buNone/>
            </a:pPr>
          </a:p>
          <a:p>
            <a:pPr lvl="0" indent="0" marL="0">
              <a:buNone/>
            </a:pPr>
            <a:r>
              <a:rPr/>
              <a:t>The question to leave them with: which claim is true for THIS column? It is a domain question, not a technical one.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column under all three schemes, and each makes a different claim about the world.</a:t>
            </a:r>
          </a:p>
          <a:p>
            <a:pPr lvl="0" indent="0" marL="0">
              <a:buNone/>
            </a:pPr>
          </a:p>
          <a:p>
            <a:pPr lvl="0" indent="0" marL="0">
              <a:buNone/>
            </a:pPr>
            <a:r>
              <a:rPr/>
              <a:t>Ordinal claims the categories are equally spaced along a line - fine for small/medium/large, wrong for region, and the model has no way to tell you it was the wrong claim.</a:t>
            </a:r>
          </a:p>
          <a:p>
            <a:pPr lvl="0" indent="0" marL="0">
              <a:buNone/>
            </a:pPr>
          </a:p>
          <a:p>
            <a:pPr lvl="0" indent="0" marL="0">
              <a:buNone/>
            </a:pPr>
            <a:r>
              <a:rPr/>
              <a:t>One-hot claims nothing at all, which is why it is the default, and pays for that neutrality in columns: 493 of them for zip code, on 2000 rows.</a:t>
            </a:r>
          </a:p>
          <a:p>
            <a:pPr lvl="0" indent="0" marL="0">
              <a:buNone/>
            </a:pPr>
          </a:p>
          <a:p>
            <a:pPr lvl="0" indent="0" marL="0">
              <a:buNone/>
            </a:pPr>
            <a:r>
              <a:rPr/>
              <a:t>Target claims each category is summarised by its own churn rate. Compact, effective - and computed from the labels, which is where the next section begins.</a:t>
            </a:r>
          </a:p>
          <a:p>
            <a:pPr lvl="0" indent="0" marL="0">
              <a:buNone/>
            </a:pPr>
          </a:p>
          <a:p>
            <a:pPr lvl="0" indent="0" marL="0">
              <a:buNone/>
            </a:pPr>
            <a:r>
              <a:rPr/>
              <a:t>The question to leave with them: which claim is true for THIS column? That is a domain question, not a technical one, and no cross-validation score will answer it.</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numeric_pipe and categorical_pipe are the impute-then-transform pairs from the diagram; show the full definitions on screen in notebook 2 rather than here. 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AUC at 0.752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modest gain, and say plainly that this is itself a legitimate result, not a failed experiment - feature engineering is a hypothesis about the domain, not a guarantee. Handout Section 7.</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ratio)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25 minutes. Let them work; circulate.</a:t>
            </a:r>
          </a:p>
          <a:p>
            <a:pPr lvl="0" indent="0" marL="0">
              <a:buNone/>
            </a:pPr>
          </a:p>
          <a:p>
            <a:pPr lvl="0" indent="0" marL="0">
              <a:buNone/>
            </a:pPr>
            <a:r>
              <a:rPr/>
              <a:t>The gradient descent toy is worth running interactively - change the variance ratio live and watch the iteration count move, per the handout’s “try this”. It makes the condition number argument concrete in a way the derivation alone does not.</a:t>
            </a:r>
          </a:p>
          <a:p>
            <a:pPr lvl="0" indent="0" marL="0">
              <a:buNone/>
            </a:pPr>
          </a:p>
          <a:p>
            <a:pPr lvl="0" indent="0" marL="0">
              <a:buNone/>
            </a:pPr>
            <a:r>
              <a:rPr/>
              <a:t>If the room is moving fast, the ColumnTransformer section is where to slow down: it is the piece they will reuse in every exercise and in the project, and getting the column selectors right is fiddlier than it looks.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test row’s missing value can be filled using its own neighbours - which may include rows whose labels the model will later be scored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98 of 128. Not an edge case - the substantial majority of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0.752 -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Z378, one customer, churned=1, encoded value 1.000.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notebook is the payoff of the lesson: three leaks, each measured against an honest pipeline on the same data.</a:t>
            </a:r>
          </a:p>
          <a:p>
            <a:pPr lvl="0" indent="0" marL="0">
              <a:buNone/>
            </a:pPr>
          </a:p>
          <a:p>
            <a:pPr lvl="0" indent="0" marL="0">
              <a:buNone/>
            </a:pPr>
            <a:r>
              <a:rPr/>
              <a:t>The numbers matter less than the pattern - every leak inflates the score, none of them raises an error, and all three are things a competent person does by accident. Ask them to predict the direction and rough size of each gap before running the cell.</a:t>
            </a:r>
          </a:p>
          <a:p>
            <a:pPr lvl="0" indent="0" marL="0">
              <a:buNone/>
            </a:pPr>
          </a:p>
          <a:p>
            <a:pPr lvl="0" indent="0" marL="0">
              <a:buNone/>
            </a:pPr>
            <a:r>
              <a:rPr/>
              <a:t>If time is short, the target encoding case is the one to keep: it is the subtlest and the one most likely to appear in their own project.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give the deadline - Friday 9 October, at the start of Lesson 3.</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the Lesson 1 exercise is due today if anyone has not handed it in, and that the project topic must be confirmed by Lesson 4 - which is two weeks away, so now is the time to be reading dataset descriptions.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 Id="rId3"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 Id="rId3"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 Id="rId3" Type="http://schemas.openxmlformats.org/officeDocument/2006/relationships/image" Target="../media/image2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 Id="rId3" Type="http://schemas.openxmlformats.org/officeDocument/2006/relationships/image" Target="../media/image2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 Id="rId3"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due at the start of today’s lesson.</a:t>
            </a:r>
          </a:p>
          <a:p>
            <a:pPr lvl="0"/>
            <a:r>
              <a:rPr/>
              <a:t>The wine-quality workflow, end to end</a:t>
            </a:r>
          </a:p>
          <a:p>
            <a:pPr lvl="0"/>
            <a:r>
              <a:rPr/>
              <a:t>Marked on </a:t>
            </a:r>
            <a:r>
              <a:rPr b="1"/>
              <a:t>methodology</a:t>
            </a:r>
            <a:r>
              <a:rPr/>
              <a:t>, not on accuracy</a:t>
            </a:r>
          </a:p>
          <a:p>
            <a:pPr lvl="0"/>
            <a:r>
              <a:rPr/>
              <a:t>We will look at a few submissions’ framing choices in a moment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Look before you touch anything</a:t>
            </a:r>
          </a:p>
        </p:txBody>
      </p:sp>
      <p:sp>
        <p:nvSpPr>
          <p:cNvPr id="4" name="Text Placeholder 3"/>
          <p:cNvSpPr>
            <a:spLocks noGrp="1"/>
          </p:cNvSpPr>
          <p:nvPr>
            <p:ph idx="2" sz="half" type="body"/>
          </p:nvPr>
        </p:nvSpPr>
        <p:spPr>
          <a:xfrm>
            <a:off x="457200" y="1183005"/>
            <a:ext cx="8229600" cy="1748790"/>
          </a:xfrm>
        </p:spPr>
        <p:txBody>
          <a:bodyPr/>
          <a:lstStyle/>
          <a:p>
            <a:pPr lvl="0" indent="0" marL="0">
              <a:buNone/>
            </a:pPr>
            <a:r>
              <a:rPr>
                <a:latin typeface="Courier"/>
              </a:rPr>
              <a:t>.info()</a:t>
            </a:r>
            <a:r>
              <a:rPr/>
              <a:t>, </a:t>
            </a:r>
            <a:r>
              <a:rPr>
                <a:latin typeface="Courier"/>
              </a:rPr>
              <a:t>.describe()</a:t>
            </a:r>
            <a:r>
              <a:rPr/>
              <a:t>, class balance, first —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pic>
        <p:nvPicPr>
          <p:cNvPr descr="numeric_distributions.png" id="0" name="Picture 1"/>
          <p:cNvPicPr>
            <a:picLocks noGrp="1" noChangeAspect="1"/>
          </p:cNvPicPr>
          <p:nvPr/>
        </p:nvPicPr>
        <p:blipFill>
          <a:blip r:embed="rId3"/>
          <a:stretch>
            <a:fillRect/>
          </a:stretch>
        </p:blipFill>
        <p:spPr bwMode="auto">
          <a:xfrm>
            <a:off x="1481128" y="3034665"/>
            <a:ext cx="6181744" cy="1491615"/>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56546" y="1166099"/>
            <a:ext cx="6430908"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 it is “what does filling it cost”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to do about a gap</a:t>
            </a:r>
          </a:p>
        </p:txBody>
      </p:sp>
      <p:sp>
        <p:nvSpPr>
          <p:cNvPr id="4" name="Text Placeholder 3"/>
          <p:cNvSpPr>
            <a:spLocks noGrp="1"/>
          </p:cNvSpPr>
          <p:nvPr>
            <p:ph idx="2" sz="half" type="body"/>
          </p:nvPr>
        </p:nvSpPr>
        <p:spPr>
          <a:xfrm>
            <a:off x="457200" y="1183005"/>
            <a:ext cx="8229600" cy="1748790"/>
          </a:xfrm>
        </p:spPr>
        <p:txBody>
          <a:bodyPr/>
          <a:lstStyle/>
          <a:p>
            <a:pPr lvl="0"/>
            <a:r>
              <a:rPr b="1"/>
              <a:t>Drop rows</a:t>
            </a:r>
            <a:r>
              <a:rPr/>
              <a:t> — only if few, and only if MCAR</a:t>
            </a:r>
          </a:p>
          <a:p>
            <a:pPr lvl="0"/>
            <a:r>
              <a:rPr b="1"/>
              <a:t>Drop the column</a:t>
            </a:r>
            <a:r>
              <a:rPr/>
              <a:t> — if it is missing too often to help</a:t>
            </a:r>
          </a:p>
          <a:p>
            <a:pPr lvl="0"/>
            <a:r>
              <a:rPr b="1"/>
              <a:t>Impute</a:t>
            </a:r>
            <a:r>
              <a:rPr/>
              <a:t> — mean/median, most-frequent, </a:t>
            </a:r>
            <a:r>
              <a:rPr>
                <a:latin typeface="Courier"/>
              </a:rPr>
              <a:t>KNNImputer</a:t>
            </a:r>
          </a:p>
          <a:p>
            <a:pPr lvl="0"/>
            <a:r>
              <a:rPr b="1"/>
              <a:t>Add a missingness indicator</a:t>
            </a:r>
            <a:r>
              <a:rPr/>
              <a:t> — keeps MAR signal alive</a:t>
            </a:r>
          </a:p>
        </p:txBody>
      </p:sp>
      <p:pic>
        <p:nvPicPr>
          <p:cNvPr descr="missing_data_decision.png" id="0" name="Picture 1"/>
          <p:cNvPicPr>
            <a:picLocks noGrp="1" noChangeAspect="1"/>
          </p:cNvPicPr>
          <p:nvPr/>
        </p:nvPicPr>
        <p:blipFill>
          <a:blip r:embed="rId3"/>
          <a:stretch>
            <a:fillRect/>
          </a:stretch>
        </p:blipFill>
        <p:spPr bwMode="auto">
          <a:xfrm>
            <a:off x="2559821" y="3034665"/>
            <a:ext cx="4024357" cy="1491615"/>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Outliers, two rules</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Two standard rules for flagging an unusual value:</a:t>
            </a:r>
          </a:p>
        </p:txBody>
      </p:sp>
      <p:pic>
        <p:nvPicPr>
          <p:cNvPr descr="eq_362884ef2b.png" id="0" name="Picture 1"/>
          <p:cNvPicPr>
            <a:picLocks noGrp="1" noChangeAspect="1"/>
          </p:cNvPicPr>
          <p:nvPr/>
        </p:nvPicPr>
        <p:blipFill>
          <a:blip r:embed="rId3"/>
          <a:stretch>
            <a:fillRect/>
          </a:stretch>
        </p:blipFill>
        <p:spPr bwMode="auto">
          <a:xfrm>
            <a:off x="457207" y="2838073"/>
            <a:ext cx="8229586" cy="573205"/>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Calibrated to agree — on a normal column</a:t>
            </a:r>
          </a:p>
        </p:txBody>
      </p:sp>
      <p:pic>
        <p:nvPicPr>
          <p:cNvPr descr="outlier_fences.png" id="0" name="Picture 1"/>
          <p:cNvPicPr>
            <a:picLocks noGrp="1" noChangeAspect="1"/>
          </p:cNvPicPr>
          <p:nvPr/>
        </p:nvPicPr>
        <p:blipFill>
          <a:blip r:embed="rId3"/>
          <a:stretch>
            <a:fillRect/>
          </a:stretch>
        </p:blipFill>
        <p:spPr bwMode="auto">
          <a:xfrm>
            <a:off x="1098554" y="1166099"/>
            <a:ext cx="6946891"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rules disagree on real data</a:t>
            </a:r>
          </a:p>
        </p:txBody>
      </p:sp>
      <p:pic>
        <p:nvPicPr>
          <p:cNvPr descr="outlier_scatter.png" id="0" name="Picture 1"/>
          <p:cNvPicPr>
            <a:picLocks noGrp="1" noChangeAspect="1"/>
          </p:cNvPicPr>
          <p:nvPr/>
        </p:nvPicPr>
        <p:blipFill>
          <a:blip r:embed="rId3"/>
          <a:stretch>
            <a:fillRect/>
          </a:stretch>
        </p:blipFill>
        <p:spPr bwMode="auto">
          <a:xfrm>
            <a:off x="457200" y="1207889"/>
            <a:ext cx="8229600" cy="3276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 a different question entirely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(Winsorise)</a:t>
            </a:r>
          </a:p>
          <a:p>
            <a:pPr lvl="0"/>
            <a:r>
              <a:rPr b="1"/>
              <a:t>Remove</a:t>
            </a:r>
            <a:r>
              <a:rPr/>
              <a:t> the row</a:t>
            </a:r>
          </a:p>
          <a:p>
            <a:pPr lvl="0"/>
            <a:r>
              <a:rPr b="1"/>
              <a:t>Correct</a:t>
            </a:r>
            <a:r>
              <a:rPr/>
              <a:t> it, if the true value is recoverable</a:t>
            </a:r>
          </a:p>
          <a:p>
            <a:pPr lvl="0"/>
            <a:r>
              <a:rPr b="1"/>
              <a:t>Leave</a:t>
            </a:r>
            <a:r>
              <a:rPr/>
              <a:t> it — unusual is not the same as wrong</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Exploration, missingness mechanisms, both outlier rules — from scratch.</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0–70. </a:t>
            </a:r>
            <a:r>
              <a:rPr>
                <a:latin typeface="Courier"/>
              </a:rPr>
              <a:t>monthly_charges</a:t>
            </a:r>
            <a:r>
              <a:rPr/>
              <a:t>: 15–150.</a:t>
            </a:r>
          </a:p>
          <a:p>
            <a:pPr lvl="0" indent="0" marL="0">
              <a:buNone/>
            </a:pPr>
            <a:r>
              <a:rPr/>
              <a:t>Gradient descent takes </a:t>
            </a:r>
            <a:r>
              <a:rPr b="1"/>
              <a:t>one step size, along every axis, every iteration.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Hessian is the feature covariance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For uncorrelated, centred features, H is diagonal — the variances sit on it.</a:t>
            </a:r>
          </a:p>
        </p:txBody>
      </p:sp>
      <p:pic>
        <p:nvPicPr>
          <p:cNvPr descr="condition_number_geometry.png" id="0" name="Picture 1"/>
          <p:cNvPicPr>
            <a:picLocks noGrp="1" noChangeAspect="1"/>
          </p:cNvPicPr>
          <p:nvPr/>
        </p:nvPicPr>
        <p:blipFill>
          <a:blip r:embed="rId3"/>
          <a:stretch>
            <a:fillRect/>
          </a:stretch>
        </p:blipFill>
        <p:spPr bwMode="auto">
          <a:xfrm>
            <a:off x="2263417" y="2160270"/>
            <a:ext cx="4617165" cy="236601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dummy variable trap</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One-hot encode all k categories AND fit an intercept:</a:t>
            </a:r>
          </a:p>
        </p:txBody>
      </p:sp>
      <p:pic>
        <p:nvPicPr>
          <p:cNvPr descr="eq_3723e214d0.png" id="0" name="Picture 1"/>
          <p:cNvPicPr>
            <a:picLocks noGrp="1" noChangeAspect="1"/>
          </p:cNvPicPr>
          <p:nvPr/>
        </p:nvPicPr>
        <p:blipFill>
          <a:blip r:embed="rId3"/>
          <a:stretch>
            <a:fillRect/>
          </a:stretch>
        </p:blipFill>
        <p:spPr bwMode="auto">
          <a:xfrm>
            <a:off x="457201" y="2360636"/>
            <a:ext cx="8229597" cy="1965277"/>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702129" y="1166099"/>
            <a:ext cx="7739742"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Ordinal vs target encoding</a:t>
            </a:r>
          </a:p>
        </p:txBody>
      </p:sp>
      <p:sp>
        <p:nvSpPr>
          <p:cNvPr id="3" name="Content Placeholder 2"/>
          <p:cNvSpPr>
            <a:spLocks noGrp="1"/>
          </p:cNvSpPr>
          <p:nvPr>
            <p:ph idx="1" sz="half"/>
          </p:nvPr>
        </p:nvSpPr>
        <p:spPr>
          <a:xfrm>
            <a:off x="457200" y="1200151"/>
            <a:ext cx="4038600" cy="3394472"/>
          </a:xfrm>
        </p:spPr>
        <p:txBody>
          <a:bodyPr/>
          <a:lstStyle/>
          <a:p>
            <a:pPr lvl="0" indent="0" marL="0">
              <a:buNone/>
            </a:pPr>
            <a:r>
              <a:rPr b="1"/>
              <a:t>Ordinal</a:t>
            </a:r>
          </a:p>
          <a:p>
            <a:pPr lvl="0"/>
            <a:r>
              <a:rPr/>
              <a:t>Categories → integers</a:t>
            </a:r>
          </a:p>
          <a:p>
            <a:pPr lvl="0"/>
            <a:r>
              <a:rPr/>
              <a:t>Only valid if a real </a:t>
            </a:r>
            <a:r>
              <a:rPr b="1"/>
              <a:t>order</a:t>
            </a:r>
            <a:r>
              <a:rPr/>
              <a:t> exists</a:t>
            </a:r>
          </a:p>
          <a:p>
            <a:pPr lvl="0"/>
            <a:r>
              <a:rPr>
                <a:latin typeface="Courier"/>
              </a:rPr>
              <a:t>low</a:t>
            </a:r>
            <a:r>
              <a:rPr/>
              <a:t> &lt; </a:t>
            </a:r>
            <a:r>
              <a:rPr>
                <a:latin typeface="Courier"/>
              </a:rPr>
              <a:t>medium</a:t>
            </a:r>
            <a:r>
              <a:rPr/>
              <a:t> &lt; </a:t>
            </a:r>
            <a:r>
              <a:rPr>
                <a:latin typeface="Courier"/>
              </a:rPr>
              <a:t>high</a:t>
            </a:r>
          </a:p>
        </p:txBody>
      </p:sp>
      <p:sp>
        <p:nvSpPr>
          <p:cNvPr id="4" name="Content Placeholder 3"/>
          <p:cNvSpPr>
            <a:spLocks noGrp="1"/>
          </p:cNvSpPr>
          <p:nvPr>
            <p:ph idx="2" sz="half"/>
          </p:nvPr>
        </p:nvSpPr>
        <p:spPr>
          <a:xfrm>
            <a:off x="4648200" y="1200151"/>
            <a:ext cx="4038600" cy="3394472"/>
          </a:xfrm>
        </p:spPr>
        <p:txBody>
          <a:bodyPr/>
          <a:lstStyle/>
          <a:p>
            <a:pPr lvl="0" indent="0" marL="0">
              <a:buNone/>
            </a:pPr>
            <a:r>
              <a:rPr b="1"/>
              <a:t>Target</a:t>
            </a:r>
          </a:p>
          <a:p>
            <a:pPr lvl="0"/>
            <a:r>
              <a:rPr/>
              <a:t>Category → a statistic of y</a:t>
            </a:r>
          </a:p>
          <a:p>
            <a:pPr lvl="0"/>
            <a:r>
              <a:rPr/>
              <a:t>Compresses any cardinality to one column</a:t>
            </a:r>
          </a:p>
          <a:p>
            <a:pPr lvl="0"/>
            <a:r>
              <a:rPr/>
              <a:t>The dangerous one — next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encodings, three claims</a:t>
            </a:r>
          </a:p>
        </p:txBody>
      </p:sp>
      <p:pic>
        <p:nvPicPr>
          <p:cNvPr descr="encoding_comparison.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levels</a:t>
            </a:r>
          </a:p>
        </p:txBody>
      </p:sp>
      <p:pic>
        <p:nvPicPr>
          <p:cNvPr descr="correlation_heatmap.png" id="0" name="Picture 1"/>
          <p:cNvPicPr>
            <a:picLocks noGrp="1" noChangeAspect="1"/>
          </p:cNvPicPr>
          <p:nvPr/>
        </p:nvPicPr>
        <p:blipFill>
          <a:blip r:embed="rId3"/>
          <a:stretch>
            <a:fillRect/>
          </a:stretch>
        </p:blipFill>
        <p:spPr bwMode="auto">
          <a:xfrm>
            <a:off x="2577286" y="1166099"/>
            <a:ext cx="3989428"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 not just “the model part”.</a:t>
            </a:r>
          </a:p>
        </p:txBody>
      </p:sp>
      <p:pic>
        <p:nvPicPr>
          <p:cNvPr descr="eq_4c26f16b0d.png" id="0" name="Picture 1"/>
          <p:cNvPicPr>
            <a:picLocks noGrp="1" noChangeAspect="1"/>
          </p:cNvPicPr>
          <p:nvPr/>
        </p:nvPicPr>
        <p:blipFill>
          <a:blip r:embed="rId3"/>
          <a:stretch>
            <a:fillRect/>
          </a:stretch>
        </p:blipFill>
        <p:spPr bwMode="auto">
          <a:xfrm>
            <a:off x="457202" y="3036200"/>
            <a:ext cx="8229596" cy="614149"/>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r>
              <a:rPr>
                <a:solidFill>
                  <a:srgbClr val="4070A0"/>
                </a:solidFill>
                <a:latin typeface="Courier"/>
              </a:rPr>
              <a:t>"prep"</a:t>
            </a:r>
            <a:r>
              <a:rPr>
                <a:latin typeface="Courier"/>
              </a:rPr>
              <a:t>, prep), (</a:t>
            </a:r>
            <a:r>
              <a:rPr>
                <a:solidFill>
                  <a:srgbClr val="4070A0"/>
                </a:solidFill>
                <a:latin typeface="Courier"/>
              </a:rPr>
              <a:t>"clf"</a:t>
            </a:r>
            <a:r>
              <a:rPr>
                <a:latin typeface="Courier"/>
              </a:rPr>
              <a:t>, clf)])</a:t>
            </a:r>
            <a:br/>
            <a:r>
              <a:rPr>
                <a:latin typeface="Courier"/>
              </a:rPr>
              <a:t>model.fit(X_train, y_train)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model, on churn</a:t>
            </a:r>
          </a:p>
        </p:txBody>
      </p:sp>
      <p:sp>
        <p:nvSpPr>
          <p:cNvPr id="4" name="Text Placeholder 3"/>
          <p:cNvSpPr>
            <a:spLocks noGrp="1"/>
          </p:cNvSpPr>
          <p:nvPr>
            <p:ph idx="2" sz="half" type="body"/>
          </p:nvPr>
        </p:nvSpPr>
        <p:spPr>
          <a:xfrm>
            <a:off x="457200" y="1183005"/>
            <a:ext cx="8229600" cy="1748790"/>
          </a:xfrm>
        </p:spPr>
        <p:txBody>
          <a:bodyPr/>
          <a:lstStyle/>
          <a:p>
            <a:pPr lvl="0"/>
            <a:r>
              <a:rPr/>
              <a:t>Baseline: </a:t>
            </a:r>
            <a:r>
              <a:rPr b="1"/>
              <a:t>0.806</a:t>
            </a:r>
          </a:p>
          <a:p>
            <a:pPr lvl="0"/>
            <a:r>
              <a:rPr/>
              <a:t>Model (numeric + low-card categorical, no zip): </a:t>
            </a:r>
            <a:r>
              <a:rPr b="1"/>
              <a:t>0.820</a:t>
            </a:r>
            <a:r>
              <a:rPr/>
              <a:t> accuracy, </a:t>
            </a:r>
            <a:r>
              <a:rPr b="1"/>
              <a:t>0.752</a:t>
            </a:r>
            <a:r>
              <a:rPr/>
              <a:t> AUC</a:t>
            </a:r>
          </a:p>
          <a:p>
            <a:pPr lvl="0" indent="0" marL="0">
              <a:buNone/>
            </a:pPr>
            <a:r>
              <a:rPr/>
              <a:t>Modest accuracy gain. Why?</a:t>
            </a:r>
          </a:p>
        </p:txBody>
      </p:sp>
      <p:pic>
        <p:nvPicPr>
          <p:cNvPr descr="churn_confusion_matrix.png" id="0" name="Picture 1"/>
          <p:cNvPicPr>
            <a:picLocks noGrp="1" noChangeAspect="1"/>
          </p:cNvPicPr>
          <p:nvPr/>
        </p:nvPicPr>
        <p:blipFill>
          <a:blip r:embed="rId3"/>
          <a:stretch>
            <a:fillRect/>
          </a:stretch>
        </p:blipFill>
        <p:spPr bwMode="auto">
          <a:xfrm>
            <a:off x="3782957" y="3034665"/>
            <a:ext cx="1578085" cy="1491615"/>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Feature engineering</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Ratios, interactions, binning — a linear model cannot invent these itself. AUC: 0.752 → 0.754, a modest but real gain.</a:t>
            </a:r>
          </a:p>
        </p:txBody>
      </p:sp>
      <p:pic>
        <p:nvPicPr>
          <p:cNvPr descr="eq_0ab17cabfc.png" id="0" name="Picture 1"/>
          <p:cNvPicPr>
            <a:picLocks noGrp="1" noChangeAspect="1"/>
          </p:cNvPicPr>
          <p:nvPr/>
        </p:nvPicPr>
        <p:blipFill>
          <a:blip r:embed="rId3"/>
          <a:stretch>
            <a:fillRect/>
          </a:stretch>
        </p:blipFill>
        <p:spPr bwMode="auto">
          <a:xfrm>
            <a:off x="457201" y="3111497"/>
            <a:ext cx="8229597" cy="900752"/>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Scaling from scratch, the dummy trap, </a:t>
            </a:r>
            <a:r>
              <a:rPr>
                <a:latin typeface="Courier"/>
              </a:rPr>
              <a:t>ColumnTransformer</a:t>
            </a:r>
            <a:r>
              <a:rPr/>
              <a:t>, </a:t>
            </a:r>
            <a:r>
              <a:rPr>
                <a:latin typeface="Courier"/>
              </a:rPr>
              <a:t>Pipeline</a:t>
            </a:r>
            <a:r>
              <a:rPr/>
              <a: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smoking gun</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b="1"/>
              <a:t>98 of 128</a:t>
            </a:r>
            <a:r>
              <a:rPr/>
              <a:t> training rows with missing age had a </a:t>
            </a:r>
            <a:r>
              <a:rPr b="1"/>
              <a:t>test-set row</a:t>
            </a:r>
            <a:r>
              <a:rPr/>
              <a:t> among their five nearest neighbours.</a:t>
            </a:r>
          </a:p>
          <a:p>
            <a:pPr lvl="0" indent="0" marL="0">
              <a:buNone/>
            </a:pPr>
            <a:r>
              <a:rPr/>
              <a:t>Nothing raised an error.</a:t>
            </a:r>
          </a:p>
        </p:txBody>
      </p:sp>
      <p:pic>
        <p:nvPicPr>
          <p:cNvPr descr="smoking_gun.png" id="0" name="Picture 1"/>
          <p:cNvPicPr>
            <a:picLocks noGrp="1" noChangeAspect="1"/>
          </p:cNvPicPr>
          <p:nvPr/>
        </p:nvPicPr>
        <p:blipFill>
          <a:blip r:embed="rId3"/>
          <a:stretch>
            <a:fillRect/>
          </a:stretch>
        </p:blipFill>
        <p:spPr bwMode="auto">
          <a:xfrm>
            <a:off x="2193525" y="2597467"/>
            <a:ext cx="4756949" cy="1928813"/>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47359" y="1166099"/>
            <a:ext cx="5449282"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Why small groups make it worse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“leave-in” encoding differs from the honest leave-one-out encoding by:</a:t>
            </a:r>
          </a:p>
        </p:txBody>
      </p:sp>
      <p:pic>
        <p:nvPicPr>
          <p:cNvPr descr="eq_2274cba409.png" id="0" name="Picture 1"/>
          <p:cNvPicPr>
            <a:picLocks noGrp="1" noChangeAspect="1"/>
          </p:cNvPicPr>
          <p:nvPr/>
        </p:nvPicPr>
        <p:blipFill>
          <a:blip r:embed="rId3"/>
          <a:stretch>
            <a:fillRect/>
          </a:stretch>
        </p:blipFill>
        <p:spPr bwMode="auto">
          <a:xfrm>
            <a:off x="457201" y="2411815"/>
            <a:ext cx="8229598" cy="1862919"/>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64198" y="1166099"/>
            <a:ext cx="6015604"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 cross-fitted inside the pipeline.</a:t>
            </a:r>
          </a:p>
          <a:p>
            <a:pPr lvl="0" indent="0" marL="0">
              <a:buNone/>
            </a:pPr>
            <a:r>
              <a:rPr/>
              <a:t>Each row’s encoded value comes from </a:t>
            </a:r>
            <a:r>
              <a:rPr b="1"/>
              <a:t>other</a:t>
            </a:r>
            <a:r>
              <a:rPr/>
              <a:t> folds, never its own label.</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Trace the imputation leak. Watch the encoding leak manufacture 0.89 from noise.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 all inside </a:t>
            </a:r>
            <a:r>
              <a:rPr>
                <a:latin typeface="Courier"/>
              </a:rPr>
              <a:t>Pipeline</a:t>
            </a:r>
          </a:p>
          <a:p>
            <a:pPr lvl="0"/>
            <a:r>
              <a:rPr/>
              <a:t>Two leaks that look nothing like leaking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9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 the derivations are examinable</a:t>
            </a:r>
          </a:p>
          <a:p>
            <a:pPr lvl="0"/>
            <a:r>
              <a:rPr/>
              <a:t>Take the quiz</a:t>
            </a:r>
          </a:p>
          <a:p>
            <a:pPr lvl="0"/>
            <a:r>
              <a:rPr b="1"/>
              <a:t>Do the exercise</a:t>
            </a:r>
          </a:p>
          <a:p>
            <a:pPr lvl="0" indent="0" marL="0">
              <a:buNone/>
            </a:pPr>
            <a:r>
              <a:rPr/>
              <a:t>Next: regression —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 Data: Exploration and Preparation</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 October 2026</vt:lpwstr>
  </property>
  <property fmtid="{D5CDD505-2E9C-101B-9397-08002B2CF9AE}" pid="3" name="subtitle">
    <vt:lpwstr>Technologies for Artificial Intelligence</vt:lpwstr>
  </property>
</Properties>
</file>