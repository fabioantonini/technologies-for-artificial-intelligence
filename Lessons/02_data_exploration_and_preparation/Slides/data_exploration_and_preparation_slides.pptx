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fifteen minutes going back over what lesson 1 left unclear come before this slide, and the exercise discussion follows them. That order helps: Task 7 of the exercise, the split repeated with ten seeds, is easier to discuss right after seeing again that a test score is one measurement.</a:t>
            </a:r>
          </a:p>
          <a:p>
            <a:pPr lvl="0" indent="0" marL="0">
              <a:buNone/>
            </a:pPr>
          </a:p>
          <a:p>
            <a:pPr lvl="0" indent="0" marL="0">
              <a:buNone/>
            </a:pPr>
            <a:r>
              <a:rPr/>
              <a:t>Open with the exercise, briefly - two or three minutes, not a review session. Nothing is collected, so this is the whole of the feedback: ask for a show of hands, who treated quality as binary and who kept it as an integer regression problem. Both are defensible if justified; that was the whole point of Task 1.</a:t>
            </a:r>
          </a:p>
          <a:p>
            <a:pPr lvl="0" indent="0" marL="0">
              <a:buNone/>
            </a:pPr>
          </a:p>
          <a:p>
            <a:pPr lvl="0" indent="0" marL="0">
              <a:buNone/>
            </a:pPr>
            <a:r>
              <a:rPr/>
              <a:t>Say once, here and only here, why it is worth having done: at the exam one of the ten exercises is drawn and they talk through their own notebook for it. Then move to today’s material.</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Recap in one sentence each, then state the idea that frames the whole lesson: Pipeline stops being “the scaling trick” and becomes the central tool of the lesson, because everything from here on - imputing, encoding, engineering - is another thing that learns from data and must sit inside it.</a:t>
            </a:r>
          </a:p>
          <a:p>
            <a:pPr lvl="0" indent="0" marL="0">
              <a:buNone/>
            </a:pPr>
          </a:p>
          <a:p>
            <a:pPr lvl="0" indent="0" marL="0">
              <a:buNone/>
            </a:pPr>
            <a:r>
              <a:rPr/>
              <a:t>Handout Section 1 makes this explicit.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Agenda slide. Flag the last item now as the one to remember in five years - everything before it is what makes the leakage discussion precise rather than vague.</a:t>
            </a:r>
          </a:p>
          <a:p>
            <a:pPr lvl="0" indent="0" marL="0">
              <a:buNone/>
            </a:pPr>
          </a:p>
          <a:p>
            <a:pPr lvl="0" indent="0" marL="0">
              <a:buNone/>
            </a:pPr>
            <a:r>
              <a:rPr/>
              <a:t>Timing: about 25 minutes of slides (6 to 21) before the first notebook, then a break, then scaling and encoding, then the leakage section closes the lesson before homework.</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why synthetic: every real messy teaching dataset sits behind a network call or a licence, and this lesson needs exact control over the missingness mechanism and the leakage story to make both demonstrable rather than merely plausible.</a:t>
            </a:r>
          </a:p>
          <a:p>
            <a:pPr lvl="0" indent="0" marL="0">
              <a:buNone/>
            </a:pPr>
          </a:p>
          <a:p>
            <a:pPr lvl="0" indent="0" marL="0">
              <a:buNone/>
            </a:pPr>
            <a:r>
              <a:rPr/>
              <a:t>Say explicitly: because we generated it, we know the ground truth. zip_code does not affect churn at all, by construction. Keep that fact in mind - it is what makes notebook 3 a clean experiment rather than an anecdote.</a:t>
            </a:r>
          </a:p>
          <a:p>
            <a:pPr lvl="0" indent="0" marL="0">
              <a:buNone/>
            </a:pPr>
          </a:p>
          <a:p>
            <a:pPr lvl="0" indent="0" marL="0">
              <a:buNone/>
            </a:pPr>
            <a:r>
              <a:rPr/>
              <a:t>Framing, as Lesson 1 asked: predicting churn to decide who a retention team calls. A missed churner costs a lost customer; an unnecessary call costs a few minutes. Keep the asymmetry in mind for Lesson 4.</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three numbers off the slide and stop. The plot on the next slide is what makes the 999 mean something, and it needs the whole slide to be legible from the back of the room.</a:t>
            </a:r>
          </a:p>
          <a:p>
            <a:pPr lvl="0" indent="0" marL="0">
              <a:buNone/>
            </a:pPr>
          </a:p>
          <a:p>
            <a:pPr lvl="0" indent="0" marL="0">
              <a:buNone/>
            </a:pPr>
            <a:r>
              <a:rPr/>
              <a:t>Ask, before turning over: what will a histogram of tenure look like, if one customer in the file has 999 months?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describe shapes the room cannot see. On the first two panels there is no shape to read: tenure and monthly_charges are each a single spike at the left, with the axis running out to 1000 and 3500 and nothing drawn out there.</a:t>
            </a:r>
          </a:p>
          <a:p>
            <a:pPr lvl="0" indent="0" marL="0">
              <a:buNone/>
            </a:pPr>
          </a:p>
          <a:p>
            <a:pPr lvl="0" indent="0" marL="0">
              <a:buNone/>
            </a:pPr>
            <a:r>
              <a:rPr/>
              <a:t>That absence IS the slide. Ask them what stretched the axis, and let someone say it: a few values so extreme that every other customer has been squashed into one bar. This is the figure that makes the next forty minutes necessary.</a:t>
            </a:r>
          </a:p>
          <a:p>
            <a:pPr lvl="0" indent="0" marL="0">
              <a:buNone/>
            </a:pPr>
          </a:p>
          <a:p>
            <a:pPr lvl="0" indent="0" marL="0">
              <a:buNone/>
            </a:pPr>
            <a:r>
              <a:rPr/>
              <a:t>Then point at age and num_support_calls, which are on their own honest ranges and do show a distribution - age skewed with a spike at the youngest bound, support calls a Poisson-looking count. That contrast is the argument for cleaning before looking any further, and it is why the same plot reappears in the handout after Section 4 has cleaned the outliers.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columns have gaps: age at 8.0% and num_support_calls at 4.8%. The count is the easy half of the question; the next three slides are the hard half - why are they missing?</a:t>
            </a:r>
          </a:p>
          <a:p>
            <a:pPr lvl="0" indent="0" marL="0">
              <a:buNone/>
            </a:pPr>
          </a:p>
          <a:p>
            <a:pPr lvl="0" indent="0" marL="0">
              <a:buNone/>
            </a:pPr>
            <a:r>
              <a:rPr/>
              <a:t>Make the point that this figure took one line to produce and is the first thing to run on any new dataset, before any modelling thought at all. A column that is 90% empty is a column you drop; a column that is 5% empty is a decision.</a:t>
            </a:r>
          </a:p>
          <a:p>
            <a:pPr lvl="0" indent="0" marL="0">
              <a:buNone/>
            </a:pPr>
          </a:p>
          <a:p>
            <a:pPr lvl="0" indent="0" marL="0">
              <a:buNone/>
            </a:pPr>
            <a:r>
              <a:rPr/>
              <a:t>Warn them about what the picture cannot show: whether the gaps are related to each other, or to the target. That is what the next slides are for, and it cannot be read off a bar chart.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Handout Section 3.1. Define each precisely, because the distinction is not academic - it determines which fix is valid.</a:t>
            </a:r>
          </a:p>
          <a:p>
            <a:pPr lvl="0" indent="0" marL="0">
              <a:buNone/>
            </a:pPr>
          </a:p>
          <a:p>
            <a:pPr lvl="0" indent="0" marL="0">
              <a:buNone/>
            </a:pPr>
            <a:r>
              <a:rPr/>
              <a:t>MCAR, missing completely at random: probability of missing depends on nothing. A blank field for no systematic reason.</a:t>
            </a:r>
          </a:p>
          <a:p>
            <a:pPr lvl="0" indent="0" marL="0">
              <a:buNone/>
            </a:pPr>
          </a:p>
          <a:p>
            <a:pPr lvl="0" indent="0" marL="0">
              <a:buNone/>
            </a:pPr>
            <a:r>
              <a:rPr/>
              <a:t>MAR, missing at random: depends on something you DO observe. Our num_support_calls is MAR with respect to tenure - long-standing customers’ early call history predates the customer relationship management (CRM) system. Conditional on tenure, the gap carries no further information.</a:t>
            </a:r>
          </a:p>
          <a:p>
            <a:pPr lvl="0" indent="0" marL="0">
              <a:buNone/>
            </a:pPr>
          </a:p>
          <a:p>
            <a:pPr lvl="0" indent="0" marL="0">
              <a:buNone/>
            </a:pPr>
            <a:r>
              <a:rPr/>
              <a:t>MNAR, missing not at random: depends on the value itself, even unobserved. A customer who leaves because of a shockingly high bill and never finishes a survey. No column in the table can detect this - only knowing how the data was collected can. Say plainly: this is the dangerous one, and it does not appear in today’s dataset, which is itself worth noting - most real ones have some.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Bridge to the derivation. Ask: if the missingness is completely random, is mean imputation “free”? Let them guess before the next slide - most will say yes, and the reasoning is sound as far as it goes: the mean is unbiased, so filling with the mean introduces no bias in that column.</a:t>
            </a:r>
          </a:p>
          <a:p>
            <a:pPr lvl="0" indent="0" marL="0">
              <a:buNone/>
            </a:pPr>
          </a:p>
          <a:p>
            <a:pPr lvl="0" indent="0" marL="0">
              <a:buNone/>
            </a:pPr>
            <a:r>
              <a:rPr/>
              <a:t>The answer is no, and the reason is that a column is never used alone: filling the gaps with one constant value weakens every correlation the column has with anything else. The next slide shows by how much.</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curve rather than the formula. The horizontal axis is the fraction of the column filled with the mean, the vertical axis is how much of the original correlation survives. Filling gaps with a constant costs correlation, and the cost grows with the fraction filled.</a:t>
            </a:r>
          </a:p>
          <a:p>
            <a:pPr lvl="0" indent="0" marL="0">
              <a:buNone/>
            </a:pPr>
          </a:p>
          <a:p>
            <a:pPr lvl="0" indent="0" marL="0">
              <a:buNone/>
            </a:pPr>
            <a:r>
              <a:rPr/>
              <a:t>Point at the two markers. For age at 8% the factor is 0.96 - negligible, and this is why nobody notices. At 40% it is 0.77, which erases nearly a quarter of a real relationship.</a:t>
            </a:r>
          </a:p>
          <a:p>
            <a:pPr lvl="0" indent="0" marL="0">
              <a:buNone/>
            </a:pPr>
          </a:p>
          <a:p>
            <a:pPr lvl="0" indent="0" marL="0">
              <a:buNone/>
            </a:pPr>
            <a:r>
              <a:rPr/>
              <a:t>The practical rule to state: mean imputation is fine when gaps are few, and quietly destructive when they are many. Nothing warns you at which point it crossed over.</a:t>
            </a:r>
          </a:p>
          <a:p>
            <a:pPr lvl="0" indent="0" marL="0">
              <a:buNone/>
            </a:pPr>
          </a:p>
          <a:p>
            <a:pPr lvl="0" indent="0" marL="0">
              <a:buNone/>
            </a:pPr>
            <a:r>
              <a:rPr/>
              <a:t>The algebra is Handout Section 3.2: filling a fraction p with a constant shrinks the variance to (1 - p) times the original, and multiplies every correlation by the square root of (1 - p). Write it on the board if the room wants it - the figure is what they will remember.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predictable answer is “add an indicator, it keeps the MAR signal”, and the reasoning is sound as far as it goes: the gap rows are the long-tenure ones, and they churn at 12.5% against 19.7%, so the fact of the gap is informative.</a:t>
            </a:r>
          </a:p>
          <a:p>
            <a:pPr lvl="0" indent="0" marL="0">
              <a:buNone/>
            </a:pPr>
          </a:p>
          <a:p>
            <a:pPr lvl="0" indent="0" marL="0">
              <a:buNone/>
            </a:pPr>
            <a:r>
              <a:rPr/>
              <a:t>But under MAR the gap is explained by a column we already hold - that is the definition - so the model already has what the indicator would tell it. Handout Section 3.3 measures it: adding the indicator moves the area under the receiver operating characteristic curve (AUC) from 0.751 to 0.741 - no gain, well inside split-to-split noise. The AUC is defined on slide 39; for now, higher is better and 0.5 is a coin flip. The indicator is worth adding only if being missing tells the model something the other columns cannot - typically when the value is missing not at random (MNAR), because whether it is missing depends on the missing value itself. 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options, and the choice is a question about WHY the data is missing rather than about how much is missing.</a:t>
            </a:r>
          </a:p>
          <a:p>
            <a:pPr lvl="0" indent="0" marL="0">
              <a:buNone/>
            </a:pPr>
          </a:p>
          <a:p>
            <a:pPr lvl="0" indent="0" marL="0">
              <a:buNone/>
            </a:pPr>
            <a:r>
              <a:rPr/>
              <a:t>The one worth dwelling on is the fourth, because its usual justification is half right. An indicator keeps the fact of the gap in the table after the gap is filled; that fact only helps if no other column already carries it. Under MCAR it carries nothing; under MAR the column that explains the gap is already there; under MNAR the blank may be the only trace left, and that is where the indicator earns its place.</a:t>
            </a:r>
          </a:p>
          <a:p>
            <a:pPr lvl="0" indent="0" marL="0">
              <a:buNone/>
            </a:pPr>
          </a:p>
          <a:p>
            <a:pPr lvl="0" indent="0" marL="0">
              <a:buNone/>
            </a:pPr>
            <a:r>
              <a:rPr/>
              <a:t>Then the line at the bottom: every option except dropping the column learns a statistic, so all of them are fitted on the training data only. That is the thread the whole lesson pulls 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decision path rather than a rule: how much is missing, does the missingness look related to anything, and what does the column cost if it goes.</a:t>
            </a:r>
          </a:p>
          <a:p>
            <a:pPr lvl="0" indent="0" marL="0">
              <a:buNone/>
            </a:pPr>
          </a:p>
          <a:p>
            <a:pPr lvl="0" indent="0" marL="0">
              <a:buNone/>
            </a:pPr>
            <a:r>
              <a:rPr/>
              <a:t>Point out that three of the four branches end somewhere defensible, and that the indicator branch is the one people reach for by reflex. It is cheap, but it adds information only when the gap tells the model something no other column does: on this dataset it does not, and the area under the curve goes 0.751 to 0.741 with it.</a:t>
            </a:r>
          </a:p>
          <a:p>
            <a:pPr lvl="0" indent="0" marL="0">
              <a:buNone/>
            </a:pPr>
          </a:p>
          <a:p>
            <a:pPr lvl="0" indent="0" marL="0">
              <a:buNone/>
            </a:pPr>
            <a:r>
              <a:rPr/>
              <a:t>The branch worth warning about is dropping rows. It is the easiest to do and the only one that can quietly change what the sample represents.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Come back to the 999 from slide 6: they have already seen it, and now it gets a name.</a:t>
            </a:r>
          </a:p>
          <a:p>
            <a:pPr lvl="0" indent="0" marL="0">
              <a:buNone/>
            </a:pPr>
          </a:p>
          <a:p>
            <a:pPr lvl="0" indent="0" marL="0">
              <a:buNone/>
            </a:pPr>
            <a:r>
              <a:rPr/>
              <a:t>Put the three reasons to the room before reading them out - ask what could make a customer’s monthly charge 3,344.7 when everyone else is under 128. Someone will say typo; ask whether they are sure, and let the silence do the work. That is the point of the third bullet.</a:t>
            </a:r>
          </a:p>
          <a:p>
            <a:pPr lvl="0" indent="0" marL="0">
              <a:buNone/>
            </a:pPr>
          </a:p>
          <a:p>
            <a:pPr lvl="0" indent="0" marL="0">
              <a:buNone/>
            </a:pPr>
            <a:r>
              <a:rPr/>
              <a:t>The last bullet is the promise the next six slides keep: rule 1 in standard deviations, rule 2 in quartiles, then the slide where they disagree and the slide where the quartile rule raises 12 false alarms. Nothing here deletes a row - what to do once something is flagged is handout Section 4.2, and it has no automatic answer.</a:t>
            </a:r>
          </a:p>
          <a:p>
            <a:pPr lvl="0" indent="0" marL="0">
              <a:buNone/>
            </a:pPr>
          </a:p>
          <a:p>
            <a:pPr lvl="0" indent="0" marL="0">
              <a:buNone/>
            </a:pPr>
            <a:r>
              <a:rPr/>
              <a:t>Handout Section 4 opening.</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z-score rule. Standardise the column, then flag anything more than k standard deviations from the mean - we use k = 3 throughout.</a:t>
            </a:r>
          </a:p>
          <a:p>
            <a:pPr lvl="0" indent="0" marL="0">
              <a:buNone/>
            </a:pPr>
          </a:p>
          <a:p>
            <a:pPr lvl="0" indent="0" marL="0">
              <a:buNone/>
            </a:pPr>
            <a:r>
              <a:rPr/>
              <a:t>Say what it assumes, because everything in the next three slides follows from it: measuring in standard deviations only means “surprising” if the column is a bell curve. It also computes its own ruler, the mean and the standard deviation, from the data being measured - including the outliers - and that is the weakness the next slides expose.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Tukey’s fence, built on the interquartile range (IQR) - the spread between the first and third quartiles, so the middle half of the data. Flag anything more than 1.5 interquartile ranges past the quartiles.</a:t>
            </a:r>
          </a:p>
          <a:p>
            <a:pPr lvl="0" indent="0" marL="0">
              <a:buNone/>
            </a:pPr>
          </a:p>
          <a:p>
            <a:pPr lvl="0" indent="0" marL="0">
              <a:buNone/>
            </a:pPr>
            <a:r>
              <a:rPr/>
              <a:t>It assumes no shape at all, and its ruler barely moves when a few points are extreme. That sounds strictly better than rule 1. Two slides from now it will be the rule making the mistakes.</a:t>
            </a:r>
          </a:p>
          <a:p>
            <a:pPr lvl="0" indent="0" marL="0">
              <a:buNone/>
            </a:pPr>
          </a:p>
          <a:p>
            <a:pPr lvl="0" indent="0" marL="0">
              <a:buNone/>
            </a:pPr>
            <a:r>
              <a:rPr/>
              <a:t>Now give the probabilistic reading of each, because it is what makes them more than recipes. Under normality |z| &gt; 3 flags 0.27% of a column, both tails together. And the 1.5 is not arbitrary: for a normal column the IQR is 1.349 sigma, so the fence lands at 2.698 sigma - just inside 3. Handout Section 4.1 derives it.</a:t>
            </a:r>
          </a:p>
          <a:p>
            <a:pPr lvl="0" indent="0" marL="0">
              <a:buNone/>
            </a:pPr>
          </a:p>
          <a:p>
            <a:pPr lvl="0" indent="0" marL="0">
              <a:buNone/>
            </a:pPr>
            <a:r>
              <a:rPr/>
              <a:t>Then put the two side by side, counting both tails each time, because this is where people quietly mislead themselves: 0.27% against 0.70%. The fences are 10% apart in position and a factor of 2.6 apart in what they flag.</a:t>
            </a:r>
          </a:p>
          <a:p>
            <a:pPr lvl="0" indent="0" marL="0">
              <a:buNone/>
            </a:pPr>
          </a:p>
          <a:p>
            <a:pPr lvl="0" indent="0" marL="0">
              <a:buNone/>
            </a:pPr>
            <a:r>
              <a:rPr/>
              <a:t>Then make that concrete, because a percentage does not land: take 2,000 values off a perfect bell curve, nothing wrong with any of them. The z-score rule still nominates about 5 and Tukey about 14 - false alarms both, the tail being flagged for being the tail. Say what that means for the twenty real billing errors in this dataset: neither rule can tell the two kinds apart, which is why a flag is a candidate and never a verdict.</a:t>
            </a:r>
          </a:p>
          <a:p>
            <a:pPr lvl="0" indent="0" marL="0">
              <a:buNone/>
            </a:pPr>
          </a:p>
          <a:p>
            <a:pPr lvl="0" indent="0" marL="0">
              <a:buNone/>
            </a:pPr>
            <a:r>
              <a:rPr/>
              <a:t>The moral to state out loud: the two rules were built to put their thresholds in a similar place, not to flag the same points, and even on perfect data Tukey’s rule flags more of them. The next slide draws it.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Handout Section 4.1 derives the 1.5 constant from the standard normal quantile function.</a:t>
            </a:r>
          </a:p>
          <a:p>
            <a:pPr lvl="0" indent="0" marL="0">
              <a:buNone/>
            </a:pPr>
          </a:p>
          <a:p>
            <a:pPr lvl="0" indent="0" marL="0">
              <a:buNone/>
            </a:pPr>
            <a:r>
              <a:rPr/>
              <a:t>Work the two panels in order, because the slide is an argument and not an illustration. Left: the two fences are 0.30 sigma apart. Ask the room whether that looks like a difference worth caring about - it does not. Right: the same two rules flag 0.27% and 0.70% of a normal column, a factor of 2.6.</a:t>
            </a:r>
          </a:p>
          <a:p>
            <a:pPr lvl="0" indent="0" marL="0">
              <a:buNone/>
            </a:pPr>
          </a:p>
          <a:p>
            <a:pPr lvl="0" indent="0" marL="0">
              <a:buNone/>
            </a:pPr>
            <a:r>
              <a:rPr/>
              <a:t>The reason is the steepness of the tail. Move a fence in by a third of a standard deviation and you nearly triple the area beyond it. So resist saying “the two rules agree here”: their thresholds are close, but out in the tail two thresholds 0.3 standard deviations apart flag 2.6 times as many points.</a:t>
            </a:r>
          </a:p>
          <a:p>
            <a:pPr lvl="0" indent="0" marL="0">
              <a:buNone/>
            </a:pPr>
          </a:p>
          <a:p>
            <a:pPr lvl="0" indent="0" marL="0">
              <a:buNone/>
            </a:pPr>
            <a:r>
              <a:rPr/>
              <a:t>Say this is a design choice with an assumption baked in, and the next slide is what happens when the assumption fails.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Put the counts up before the picture is read: 20 genuine billing errors in monthly_charges. The z-score rule flags 20 - all of them, nothing else. Tukey flags 32 - the same 20, plus 12 ordinary customers.</a:t>
            </a:r>
          </a:p>
          <a:p>
            <a:pPr lvl="0" indent="0" marL="0">
              <a:buNone/>
            </a:pPr>
          </a:p>
          <a:p>
            <a:pPr lvl="0" indent="0" marL="0">
              <a:buNone/>
            </a:pPr>
            <a:r>
              <a:rPr/>
              <a:t>Ask the room to predict which rule was damaged by the contamination, then give them the number: the billing errors inflate s from 17.23 to 171.25, dragging the z-score fence from 115.0 out to 593.0. The rule was genuinely crippled. It got every error anyway, because the smallest of them is 780 - still past the ruined fence.</a:t>
            </a:r>
          </a:p>
          <a:p>
            <a:pPr lvl="0" indent="0" marL="0">
              <a:buNone/>
            </a:pPr>
          </a:p>
          <a:p>
            <a:pPr lvl="0" indent="0" marL="0">
              <a:buNone/>
            </a:pPr>
            <a:r>
              <a:rPr/>
              <a:t>Meanwhile the twelve Tukey extras are real people on real tariffs: eight paying 15.0 to 16.7, four paying 111.6 to 128.4, outside fences of 17.3 and 110.0.</a:t>
            </a:r>
          </a:p>
          <a:p>
            <a:pPr lvl="0" indent="0" marL="0">
              <a:buNone/>
            </a:pPr>
          </a:p>
          <a:p>
            <a:pPr lvl="0" indent="0" marL="0">
              <a:buNone/>
            </a:pPr>
            <a:r>
              <a:rPr/>
              <a:t>The line to land, and it is the whole point of the slide: a detector’s output does not report the detector’s health. The z-score rule was right by luck. Push those errors down towards 200 and the inflated fence ends up beyond them, so it misses them, exactly as the theory says. So the lesson is not “prefer IQR” - it is “recompute s without the candidates and see what moved”. Handout Section 4.2.</a:t>
            </a:r>
          </a:p>
          <a:p>
            <a:pPr lvl="0" indent="0" marL="0">
              <a:buNone/>
            </a:pPr>
          </a:p>
          <a:p>
            <a:pPr lvl="0" indent="0" marL="0">
              <a:buNone/>
            </a:pPr>
            <a:r>
              <a:rPr/>
              <a:t>Point at the left panel’s bottom band: those scattered red dots down in the ordinary customers are the twelve.</a:t>
            </a:r>
          </a:p>
          <a:p>
            <a:pPr lvl="0" indent="0" marL="0">
              <a:buNone/>
            </a:pPr>
          </a:p>
          <a:p>
            <a:pPr lvl="0" indent="0" marL="0">
              <a:buNone/>
            </a:pPr>
            <a:r>
              <a:rPr/>
              <a:t>tenure_months, right panel: only 4 flagged, all at 999, and here the two rules agree exactly. Ask the room: where did the negative values go? Nobody will know yet - next slide.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worth remembering over the two formulas. Statistical rules find points that are unusual relative to the rest of a column; they know nothing about domain validity. A negative tenure sits comfortably inside the IQR fence because the column’s own spread is wide enough to hide it.</a:t>
            </a:r>
          </a:p>
          <a:p>
            <a:pPr lvl="0" indent="0" marL="0">
              <a:buNone/>
            </a:pPr>
          </a:p>
          <a:p>
            <a:pPr lvl="0" indent="0" marL="0">
              <a:buNone/>
            </a:pPr>
            <a:r>
              <a:rPr/>
              <a:t>The fix is a domain rule: 0 &lt;= tenure_months &lt;= some sane maximum. Say plainly: a thorough pass runs both kinds of check, because they catch different mistakes, and neither substitutes for the other. 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long-tenure, high-paying customer is not an error; a tenure of 999 months is. Say plainly that a statistical rule cannot make this call - it only nominates candidates, and the decision is a domain decision.</a:t>
            </a:r>
          </a:p>
          <a:p>
            <a:pPr lvl="0" indent="0" marL="0">
              <a:buNone/>
            </a:pPr>
          </a:p>
          <a:p>
            <a:pPr lvl="0" indent="0" marL="0">
              <a:buNone/>
            </a:pPr>
            <a:r>
              <a:rPr/>
              <a:t>Walk the four options and note that each is a different claim about the world. Capping - Winsorising, after Charles Winsor - replaces the value with the fence itself: the billing error of 3,344.7 becomes 110.0, the row keeps every other column it has, and the sample keeps its size. It says “the value is real but the scale is misleading”. Removing says “this row is not from the population I am modelling”. Correcting says “I know what it should have been”. Leaving it says “the model should handle this”.</a:t>
            </a:r>
          </a:p>
          <a:p>
            <a:pPr lvl="0" indent="0" marL="0">
              <a:buNone/>
            </a:pPr>
          </a:p>
          <a:p>
            <a:pPr lvl="0" indent="0" marL="0">
              <a:buNone/>
            </a:pPr>
            <a:r>
              <a:rPr/>
              <a:t>The one that gets chosen by default, without anyone deciding, is removal - and it is the one that changes, without anyone noticing, which customers the sample represents. Handout Section 4.2 closes on exactly this. If a rule flags 3% of your rows and you drop them all, you have changed the population your model is trained 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Exploration, missingness mechanisms, both outlier rules: from scratch. The table is the notebook’s map - no scikit-learn yet, only the pandas calls that do the looking, each next to the slides where the idea was introduced.</a:t>
            </a:r>
          </a:p>
          <a:p>
            <a:pPr lvl="0" indent="0" marL="0">
              <a:buNone/>
            </a:pPr>
          </a:p>
          <a:p>
            <a:pPr lvl="0" indent="0" marL="0">
              <a:buNone/>
            </a:pPr>
            <a:r>
              <a:rPr/>
              <a:t>Work through notebook 1 now, 20 minutes. Let them drive; walk the room rather than presenting.</a:t>
            </a:r>
          </a:p>
          <a:p>
            <a:pPr lvl="0" indent="0" marL="0">
              <a:buNone/>
            </a:pPr>
          </a:p>
          <a:p>
            <a:pPr lvl="0" indent="0" marL="0">
              <a:buNone/>
            </a:pPr>
            <a:r>
              <a:rPr/>
              <a:t>The domain-rule cell is worth pausing on collectively: a two-line check for negative tenure catches something no statistical rule would flag, because a negative tenure is not extreme, it is impossible. That distinction - impossible versus unusual - is the lesson of the whole section, and it lands better from their own screen than from the projector.</a:t>
            </a:r>
          </a:p>
          <a:p>
            <a:pPr lvl="0" indent="0" marL="0">
              <a:buNone/>
            </a:pPr>
          </a:p>
          <a:p>
            <a:pPr lvl="0" indent="0" marL="0">
              <a:buNone/>
            </a:pPr>
            <a:r>
              <a:rPr/>
              <a:t>Two cells now open with “Your prediction”: the correlation left after filling 40% with the mean, and how many points each outlier rule flags. Give them a minute to write a number in the cell before running it. The point is to commit to an answer, not to be right; the most useful wrong answer in the room is “the IQR rule, because it flagged more”.</a:t>
            </a:r>
          </a:p>
          <a:p>
            <a:pPr lvl="0" indent="0" marL="0">
              <a:buNone/>
            </a:pPr>
          </a:p>
          <a:p>
            <a:pPr lvl="0" indent="0" marL="0">
              <a:buNone/>
            </a:pPr>
            <a:r>
              <a:rPr/>
              <a:t>Watch for the group that finishes early. Point them at the “try this” in the notebook: change the missing fraction and watch the correlation attenuate as the derivation predicts.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10 minutes. Back for scaling, encoding and the pipeline.</a:t>
            </a:r>
          </a:p>
          <a:p>
            <a:pPr lvl="0" indent="0" marL="0">
              <a:buNone/>
            </a:pPr>
          </a:p>
          <a:p>
            <a:pPr lvl="0" indent="0" marL="0">
              <a:buNone/>
            </a:pPr>
            <a:r>
              <a:rPr/>
              <a:t>Use the break to check who is stuck in the notebook - the second half assumes everyone has a working ColumnTransformer, and it is much cheaper to fix now than during the leakage section.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Reconnect to Lesson 1 before anything else, because the vocabulary is already theirs: the empirical risk was the average loss over the rows we hold, and choosing the f that makes it small was the whole definition of learning. What was left open there is HOW you make it small. This is the how.</a:t>
            </a:r>
          </a:p>
          <a:p>
            <a:pPr lvl="0" indent="0" marL="0">
              <a:buNone/>
            </a:pPr>
          </a:p>
          <a:p>
            <a:pPr lvl="0" indent="0" marL="0">
              <a:buNone/>
            </a:pPr>
            <a:r>
              <a:rPr/>
              <a:t>Say what a model’s “numbers” are, once: one coefficient per feature, plus the intercept. Training is a search over those numbers, and every candidate set of them has a loss.</a:t>
            </a:r>
          </a:p>
          <a:p>
            <a:pPr lvl="0" indent="0" marL="0">
              <a:buNone/>
            </a:pPr>
          </a:p>
          <a:p>
            <a:pPr lvl="0" indent="0" marL="0">
              <a:buNone/>
            </a:pPr>
            <a:r>
              <a:rPr/>
              <a:t>Then say what a single step is, because the slide leans on it: gradient descent starts from some numbers, works out for each one whether nudging it up or down lowers the loss, and moves them all at once - each by the same step size, times how steeply the loss falls in that direction. One step size for the whole model, not one per feature. That is the sentence the next slide draws.</a:t>
            </a:r>
          </a:p>
          <a:p>
            <a:pPr lvl="0" indent="0" marL="0">
              <a:buNone/>
            </a:pPr>
          </a:p>
          <a:p>
            <a:pPr lvl="0" indent="0" marL="0">
              <a:buNone/>
            </a:pPr>
            <a:r>
              <a:rPr/>
              <a:t>Read the update rule on the slide aloud, symbol by symbol. ∇R̂(w) is the gradient: the direction in which the average loss rises fastest, one component per coefficient. The minus sign turns it round, downhill. α, the learning rate, is how far each step goes. Lesson 3 writes the same rule as θ ← θ − α∇J(θ), where θ collects every parameter including the intercept and J is the cost being minimised; same rule, the notation of a lesson that derives it.</a:t>
            </a:r>
          </a:p>
          <a:p>
            <a:pPr lvl="0" indent="0" marL="0">
              <a:buNone/>
            </a:pPr>
          </a:p>
          <a:p>
            <a:pPr lvl="0" indent="0" marL="0">
              <a:buNone/>
            </a:pPr>
            <a:r>
              <a:rPr/>
              <a:t>Ask, before turning over: if two features live on very different scales, can a single step size be right for both directions at once? Let the room reason about it first.</a:t>
            </a:r>
          </a:p>
          <a:p>
            <a:pPr lvl="0" indent="0" marL="0">
              <a:buNone/>
            </a:pPr>
          </a:p>
          <a:p>
            <a:pPr lvl="0" indent="0" marL="0">
              <a:buNone/>
            </a:pPr>
            <a:r>
              <a:rPr/>
              <a:t>Be honest about this dataset, because a sharp student will check: once the outliers of Section 4 are removed, these two columns have comparable spreads - the ratio of their standard deviations is about 0.8. They are not a dramatic case, which is exactly why notebook 2 builds a toy pair with a 100:1 variance ratio (110:1 as drawn) to make the effect unambiguous. The point is not that churn data is pathological; it is that you cannot count on it not being.</a:t>
            </a:r>
          </a:p>
          <a:p>
            <a:pPr lvl="0" indent="0" marL="0">
              <a:buNone/>
            </a:pPr>
          </a:p>
          <a:p>
            <a:pPr lvl="0" indent="0" marL="0">
              <a:buNone/>
            </a:pPr>
            <a:r>
              <a:rPr/>
              <a:t>The punchline, which handout Section 5.2 states: the safe step size is set by the feature with the largest spread, so progress along the smallest-spread direction is slowed down by their ratio. Scaling is not cosmetic - it changes how long training takes, and sometimes whether it converges at all. The derivation is deliberately NOT here: it belongs with gradient descent itself, Lesson 3.</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Bridge from Lesson 1 first. Its slide 20 plotted the training error against one number, the threshold t, and the best t was the bottom of that curve. Here the model has two numbers, w1 and w2, so the same average loss becomes a surface over the plane of (w1, w2), and this figure is that surface seen from above: each ring is a contour line, joining coefficient pairs with the same loss. The figure draws an exact paraboloid, the shape of a squared-error loss for a linear model; the logistic loss of the churn model is only approximately this shape, close to its minimum.</a:t>
            </a:r>
          </a:p>
          <a:p>
            <a:pPr lvl="0" indent="0" marL="0">
              <a:buNone/>
            </a:pPr>
          </a:p>
          <a:p>
            <a:pPr lvl="0" indent="0" marL="0">
              <a:buNone/>
            </a:pPr>
            <a:r>
              <a:rPr/>
              <a:t>Do this one entirely on the picture; there is no algebra on this slide by choice.</a:t>
            </a:r>
          </a:p>
          <a:p>
            <a:pPr lvl="0" indent="0" marL="0">
              <a:buNone/>
            </a:pPr>
          </a:p>
          <a:p>
            <a:pPr lvl="0" indent="0" marL="0">
              <a:buNone/>
            </a:pPr>
            <a:r>
              <a:rPr/>
              <a:t>Read the axes first, and do not skip this - a contour plot of a loss surface is new to most of them and it is not a plot of the data. Neither axis is a column. The horizontal axis is the coefficient the model gives feature 1, the vertical axis is the coefficient it gives feature 2, so every point in the square is one candidate model. The grey rings join the models that fit equally badly, the way contour lines on a map join points of equal altitude. The blue star is the model with the lowest loss - what training is looking for. The rust dots are successive steps, and the line joining them is the search.</a:t>
            </a:r>
          </a:p>
          <a:p>
            <a:pPr lvl="0" indent="0" marL="0">
              <a:buNone/>
            </a:pPr>
          </a:p>
          <a:p>
            <a:pPr lvl="0" indent="0" marL="0">
              <a:buNone/>
            </a:pPr>
            <a:r>
              <a:rPr/>
              <a:t>Left: the two features have different spreads, so the loss surface is a narrow valley - steep across, almost flat along. One step size has to serve both. Long enough to advance along the flat direction and it overshoots the steep one and bounces from one side of the valley to the other; short enough to be safe on the steep one and it crawls along the flat one. Count the dots out loud: twenty-six steps and it is still not at the star.</a:t>
            </a:r>
          </a:p>
          <a:p>
            <a:pPr lvl="0" indent="0" marL="0">
              <a:buNone/>
            </a:pPr>
          </a:p>
          <a:p>
            <a:pPr lvl="0" indent="0" marL="0">
              <a:buNone/>
            </a:pPr>
            <a:r>
              <a:rPr/>
              <a:t>Right: after scaling, the valley is a round bowl and every step points at the minimum.</a:t>
            </a:r>
          </a:p>
          <a:p>
            <a:pPr lvl="0" indent="0" marL="0">
              <a:buNone/>
            </a:pPr>
          </a:p>
          <a:p>
            <a:pPr lvl="0" indent="0" marL="0">
              <a:buNone/>
            </a:pPr>
            <a:r>
              <a:rPr/>
              <a:t>Give them the name without the derivation: how stretched the valley is - the ratio of the largest feature variance to the smallest - is called the condition number, and the number of steps you need grows with it.</a:t>
            </a:r>
          </a:p>
          <a:p>
            <a:pPr lvl="0" indent="0" marL="0">
              <a:buNone/>
            </a:pPr>
          </a:p>
          <a:p>
            <a:pPr lvl="0" indent="0" marL="0">
              <a:buNone/>
            </a:pPr>
            <a:r>
              <a:rPr/>
              <a:t>If someone asks WHY the surface has that shape, that is the right question and the honest answer is “Lesson 3, where we derive gradient descent” - its Section 4.4 puts the number on it: standardising the housing design matrix takes the condition number from 285 to 3.4.</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which number is which before anyone asks: the title’s 100:1 is how the two features were built, spreads of 1 and 10; the sample of 1,000 points measures 110:1, which is the figure notebook 2 prints and the toolbox slide quotes.</a:t>
            </a:r>
          </a:p>
          <a:p>
            <a:pPr lvl="0" indent="0" marL="0">
              <a:buNone/>
            </a:pPr>
          </a:p>
          <a:p>
            <a:pPr lvl="0" indent="0" marL="0">
              <a:buNone/>
            </a:pPr>
            <a:r>
              <a:rPr/>
              <a:t>Left panel: each feature set at its OWN safe rate - standardised still gets there faster, because it tolerates a larger rate. Right panel is the sharper point: give the RAW features the rate the standardised ones handle comfortably and it does not converge slowly, it never converges at all.</a:t>
            </a:r>
          </a:p>
          <a:p>
            <a:pPr lvl="0" indent="0" marL="0">
              <a:buNone/>
            </a:pPr>
          </a:p>
          <a:p>
            <a:pPr lvl="0" indent="0" marL="0">
              <a:buNone/>
            </a:pPr>
            <a:r>
              <a:rPr/>
              <a:t>Be precise about the failure if anyone asks, because “diverges” is the word people reach for and it is not what this is. The loss does not climb away to infinity - it swings between 0.69 and 8.29 and stays there, bouncing from one side of the valley to the other. Run it ten times as long and it is still in the same band. Worse than slow: a slow run at least finishes.</a:t>
            </a:r>
          </a:p>
          <a:p>
            <a:pPr lvl="0" indent="0" marL="0">
              <a:buNone/>
            </a:pPr>
          </a:p>
          <a:p>
            <a:pPr lvl="0" indent="0" marL="0">
              <a:buNone/>
            </a:pPr>
            <a:r>
              <a:rPr/>
              <a:t>This is a controlled toy (notebook 2), built to a 100:1 variance ratio and landing at 110 once drawn, so the effect is unambiguous. On the real churn columns, once cleaned, the two spreads are within about 20% of each other - so this toy is not exaggerating a big effect in the data, it is manufacturing a clear one to show a mechanism.</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MinMaxScaler is the more outlier-sensitive of the two: one extreme billing error stretches the whole 0-1 range, compressing every ordinary customer into a sliver of it. StandardScaler is pulled too, through the mean and standard deviation, but far less dramatically.</a:t>
            </a:r>
          </a:p>
          <a:p>
            <a:pPr lvl="0" indent="0" marL="0">
              <a:buNone/>
            </a:pPr>
          </a:p>
          <a:p>
            <a:pPr lvl="0" indent="0" marL="0">
              <a:buNone/>
            </a:pPr>
            <a:r>
              <a:rPr/>
              <a:t>Both must be fitted on training data only - say this every time a fitted transform appears, because it is the thread the whole lesson hangs from.</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by saying what the problem is, because nothing so far has needed it: a model does arithmetic, and a column holding the words “month-to-month” offers nothing to do arithmetic with. It has to become numbers, and there is more than one way to do that.</a:t>
            </a:r>
          </a:p>
          <a:p>
            <a:pPr lvl="0" indent="0" marL="0">
              <a:buNone/>
            </a:pPr>
          </a:p>
          <a:p>
            <a:pPr lvl="0" indent="0" marL="0">
              <a:buNone/>
            </a:pPr>
            <a:r>
              <a:rPr/>
              <a:t>Give them the word: the distinct values a categorical column can take are its levels. contract_type has three, with 2,000 rows spread across them.</a:t>
            </a:r>
          </a:p>
          <a:p>
            <a:pPr lvl="0" indent="0" marL="0">
              <a:buNone/>
            </a:pPr>
          </a:p>
          <a:p>
            <a:pPr lvl="0" indent="0" marL="0">
              <a:buNone/>
            </a:pPr>
            <a:r>
              <a:rPr/>
              <a:t>Then the sentence the whole section hangs on, and it is worth saying slowly: every way of turning a category into numbers makes a claim about the categories. The claim is the part to get right - the code is three lines either way.</a:t>
            </a:r>
          </a:p>
          <a:p>
            <a:pPr lvl="0" indent="0" marL="0">
              <a:buNone/>
            </a:pPr>
          </a:p>
          <a:p>
            <a:pPr lvl="0" indent="0" marL="0">
              <a:buNone/>
            </a:pPr>
            <a:r>
              <a:rPr/>
              <a:t>Point at the churn column before moving on. It does double duty: it is what target encoding will use as the number, and it is the evidence that shows what is wrong with ordinal encoding two slides from now.</a:t>
            </a:r>
          </a:p>
          <a:p>
            <a:pPr lvl="0" indent="0" marL="0">
              <a:buNone/>
            </a:pPr>
          </a:p>
          <a:p>
            <a:pPr lvl="0" indent="0" marL="0">
              <a:buNone/>
            </a:pPr>
            <a:r>
              <a:rPr/>
              <a:t>Handout Section 6.</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customer, one contract, three numbers. Read the table a row at a time and let the right-hand column do the work - it is what each encoding is asserting about the world, not about the data type.</a:t>
            </a:r>
          </a:p>
          <a:p>
            <a:pPr lvl="0" indent="0" marL="0">
              <a:buNone/>
            </a:pPr>
          </a:p>
          <a:p>
            <a:pPr lvl="0" indent="0" marL="0">
              <a:buNone/>
            </a:pPr>
            <a:r>
              <a:rPr/>
              <a:t>The middle row is where damage usually happens, and this column shows why the mistake is reasonable: the order is genuine. A one-year contract really does sit between the other two, so ordinal looks safe here in a way it would not for region or zip code.</a:t>
            </a:r>
          </a:p>
          <a:p>
            <a:pPr lvl="0" indent="0" marL="0">
              <a:buNone/>
            </a:pPr>
          </a:p>
          <a:p>
            <a:pPr lvl="0" indent="0" marL="0">
              <a:buNone/>
            </a:pPr>
            <a:r>
              <a:rPr/>
              <a:t>Ask the room which of the three claims is true for THIS column before turning over. It is a domain question, not a technical one, and no cross-validation score will answer it.</a:t>
            </a:r>
          </a:p>
          <a:p>
            <a:pPr lvl="0" indent="0" marL="0">
              <a:buNone/>
            </a:pPr>
          </a:p>
          <a:p>
            <a:pPr lvl="0" indent="0" marL="0">
              <a:buNone/>
            </a:pPr>
            <a:r>
              <a:rPr/>
              <a:t>Handout Section 6.</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panel against right panel - that is the whole slide, and it answers the question asked on the previous slide.</a:t>
            </a:r>
          </a:p>
          <a:p>
            <a:pPr lvl="0" indent="0" marL="0">
              <a:buNone/>
            </a:pPr>
          </a:p>
          <a:p>
            <a:pPr lvl="0" indent="0" marL="0">
              <a:buNone/>
            </a:pPr>
            <a:r>
              <a:rPr/>
              <a:t>Ordinal spaces the levels 0, 1, 2: equal steps by construction. The churn rates those levels stand in for fall 0.266, 0.137, 0.071, so the first step is 0.129 and the second is 0.066 - the first is nearly twice the second. The encoding asserts a regularity the column does not have, and a linear model has exactly one coefficient with which to believe it.</a:t>
            </a:r>
          </a:p>
          <a:p>
            <a:pPr lvl="0" indent="0" marL="0">
              <a:buNone/>
            </a:pPr>
          </a:p>
          <a:p>
            <a:pPr lvl="0" indent="0" marL="0">
              <a:buNone/>
            </a:pPr>
            <a:r>
              <a:rPr/>
              <a:t>Then the middle panel, which claims nothing at all and pays for that neutrality in columns - the caption says k = 493 for zip_code, and that is the thread into the next three slides.</a:t>
            </a:r>
          </a:p>
          <a:p>
            <a:pPr lvl="0" indent="0" marL="0">
              <a:buNone/>
            </a:pPr>
          </a:p>
          <a:p>
            <a:pPr lvl="0" indent="0" marL="0">
              <a:buNone/>
            </a:pPr>
            <a:r>
              <a:rPr/>
              <a:t>The right panel is computed from the labels. Say that out loud and leave it there: it is the first appearance of the leak the last third of the lesson is about.</a:t>
            </a:r>
          </a:p>
          <a:p>
            <a:pPr lvl="0" indent="0" marL="0">
              <a:buNone/>
            </a:pPr>
          </a:p>
          <a:p>
            <a:pPr lvl="0" indent="0" marL="0">
              <a:buNone/>
            </a:pPr>
            <a:r>
              <a:rPr/>
              <a:t>Handout Section 6.2.</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warning on the letter: k here counts the levels of a category. Slide 16 used k for the z-score cut-off, 3. Same letter, two jobs, both declared in the handout’s notation table - say so out loud once.</a:t>
            </a:r>
          </a:p>
          <a:p>
            <a:pPr lvl="0" indent="0" marL="0">
              <a:buNone/>
            </a:pPr>
          </a:p>
          <a:p>
            <a:pPr lvl="0" indent="0" marL="0">
              <a:buNone/>
            </a:pPr>
            <a:r>
              <a:rPr/>
              <a:t>This is the encoding to spend time on, because it is what scikit-learn’s OneHotEncoder does and what the pipeline later in the notebook uses.</a:t>
            </a:r>
          </a:p>
          <a:p>
            <a:pPr lvl="0" indent="0" marL="0">
              <a:buNone/>
            </a:pPr>
          </a:p>
          <a:p>
            <a:pPr lvl="0" indent="0" marL="0">
              <a:buNone/>
            </a:pPr>
            <a:r>
              <a:rPr/>
              <a:t>The mechanics first: k levels, k binary columns, exactly one 1 in every row. No category is closer to any other, which is precisely the neutrality that makes it the safe default.</a:t>
            </a:r>
          </a:p>
          <a:p>
            <a:pPr lvl="0" indent="0" marL="0">
              <a:buNone/>
            </a:pPr>
          </a:p>
          <a:p>
            <a:pPr lvl="0" indent="0" marL="0">
              <a:buNone/>
            </a:pPr>
            <a:r>
              <a:rPr/>
              <a:t>Then the cost, which is the honest trade: k columns. Three is nothing; 493 on 2,000 rows is the curse of dimensionality, on slide 34.</a:t>
            </a:r>
          </a:p>
          <a:p>
            <a:pPr lvl="0" indent="0" marL="0">
              <a:buNone/>
            </a:pPr>
          </a:p>
          <a:p>
            <a:pPr lvl="0" indent="0" marL="0">
              <a:buNone/>
            </a:pPr>
            <a:r>
              <a:rPr/>
              <a:t>The last bullet raises a question rather than closing one. Target encoding is the obvious escape from the width problem and it is the more dangerous of the two encodings in this entire lesson. Do not resolve it - the leakage section does.</a:t>
            </a:r>
          </a:p>
          <a:p>
            <a:pPr lvl="0" indent="0" marL="0">
              <a:buNone/>
            </a:pPr>
          </a:p>
          <a:p>
            <a:pPr lvl="0" indent="0" marL="0">
              <a:buNone/>
            </a:pPr>
            <a:r>
              <a:rPr/>
              <a:t>One more thing this slide sets up: k columns plus an intercept is one column too many, which the next slide proves.</a:t>
            </a:r>
          </a:p>
          <a:p>
            <a:pPr lvl="0" indent="0" marL="0">
              <a:buNone/>
            </a:pPr>
          </a:p>
          <a:p>
            <a:pPr lvl="0" indent="0" marL="0">
              <a:buNone/>
            </a:pPr>
            <a:r>
              <a:rPr/>
              <a:t>Handout Section 6.1 and 6.2.</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Define the word before using it, because this is the first time in the course they meet it: a model that fits an intercept is carrying one extra column made entirely of ones, so that it has a baseline to work from. That is all they need today - Lesson 3 is where it becomes a coefficient in an equation.</a:t>
            </a:r>
          </a:p>
          <a:p>
            <a:pPr lvl="0" indent="0" marL="0">
              <a:buNone/>
            </a:pPr>
          </a:p>
          <a:p>
            <a:pPr lvl="0" indent="0" marL="0">
              <a:buNone/>
            </a:pPr>
            <a:r>
              <a:rPr/>
              <a:t>Now the redundancy, which needs no model at all. Ask them the survey question from the handout: you record whether someone travels by car, by bus or by bicycle, three yes/no columns, and everyone answered exactly once. How many of those columns do you actually have to read? Two. The third is whatever is left, which means the three columns carry two columns’ worth of information.</a:t>
            </a:r>
          </a:p>
          <a:p>
            <a:pPr lvl="0" indent="0" marL="0">
              <a:buNone/>
            </a:pPr>
          </a:p>
          <a:p>
            <a:pPr lvl="0" indent="0" marL="0">
              <a:buNone/>
            </a:pPr>
            <a:r>
              <a:rPr/>
              <a:t>The slide is that sentence in symbols, plus one step: the k dummies sum to 1 in every row, and a column of ones is exactly what the intercept is. So k dummies and an intercept are k+1 columns carrying k columns’ worth of information, and one of them is spare.</a:t>
            </a:r>
          </a:p>
          <a:p>
            <a:pPr lvl="0" indent="0" marL="0">
              <a:buNone/>
            </a:pPr>
          </a:p>
          <a:p>
            <a:pPr lvl="0" indent="0" marL="0">
              <a:buNone/>
            </a:pPr>
            <a:r>
              <a:rPr/>
              <a:t>Stop there. What exactly breaks - the design matrix losing rank, the normal equation no longer having a unique solution, infinitely many coefficient vectors fitting equally well - is Lesson 3’s machinery, and it is the right place for it. Today’s consequence is practical: pass drop=“first”.</a:t>
            </a:r>
          </a:p>
          <a:p>
            <a:pPr lvl="0" indent="0" marL="0">
              <a:buNone/>
            </a:pPr>
          </a:p>
          <a:p>
            <a:pPr lvl="0" indent="0" marL="0">
              <a:buNone/>
            </a:pPr>
            <a:r>
              <a:rPr/>
              <a:t>Handout Section 6.1 carries the proof for whoever wants it now. The next slide shows the redundancy as a number.</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redundancy counted by numpy rather than argued, which is the version they will believe: matrix_rank on the k+1 columns comes back one short.</a:t>
            </a:r>
          </a:p>
          <a:p>
            <a:pPr lvl="0" indent="0" marL="0">
              <a:buNone/>
            </a:pPr>
          </a:p>
          <a:p>
            <a:pPr lvl="0" indent="0" marL="0">
              <a:buNone/>
            </a:pPr>
            <a:r>
              <a:rPr/>
              <a:t>Point at the number: short by exactly one, not by an arbitrary amount. That is the signature of a single dependence - the dummies summing to the intercept - and not of general collinearity.</a:t>
            </a:r>
          </a:p>
          <a:p>
            <a:pPr lvl="0" indent="0" marL="0">
              <a:buNone/>
            </a:pPr>
          </a:p>
          <a:p>
            <a:pPr lvl="0" indent="0" marL="0">
              <a:buNone/>
            </a:pPr>
            <a:r>
              <a:rPr/>
              <a:t>The fix is OneHotEncoder(drop=“first”). The dropped category becomes the reference level, absorbed into the intercept: no information is lost, because that category is still recoverable as “all the other dummies are 0”.</a:t>
            </a:r>
          </a:p>
          <a:p>
            <a:pPr lvl="0" indent="0" marL="0">
              <a:buNone/>
            </a:pPr>
          </a:p>
          <a:p>
            <a:pPr lvl="0" indent="0" marL="0">
              <a:buNone/>
            </a:pPr>
            <a:r>
              <a:rPr/>
              <a:t>What a rank-deficient matrix does to a fit - infinitely many coefficient vectors that predict identically, and a solver returning whichever one the arithmetic happens to land on - is Lesson 3, once the normal equation exists to say it with. Flag it as coming and move on.</a:t>
            </a:r>
          </a:p>
          <a:p>
            <a:pPr lvl="0" indent="0" marL="0">
              <a:buNone/>
            </a:pPr>
          </a:p>
          <a:p>
            <a:pPr lvl="0" indent="0" marL="0">
              <a:buNone/>
            </a:pPr>
            <a:r>
              <a:rPr/>
              <a:t>Two caveats worth saying now. Tree-based models (Lesson 7) do not need the drop at all. And regularised models tolerate the rank deficiency, because the penalty picks one solution out of the many - which is a good early sketch of what regularisation does, and Lesson 3 returns to it.</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Handout Section 6.3. Deliberately quick - the point is to motivate why target encoding looks attractive for high-cardinality columns, before the next section shows why it needs care.</a:t>
            </a:r>
          </a:p>
          <a:p>
            <a:pPr lvl="0" indent="0" marL="0">
              <a:buNone/>
            </a:pPr>
          </a:p>
          <a:p>
            <a:pPr lvl="0" indent="0" marL="0">
              <a:buNone/>
            </a:pPr>
            <a:r>
              <a:rPr/>
              <a:t>The number to dwell on: one-hot encoding zip_code produces 493 columns, almost all zero, on 2000 rows - one new column for every four rows, from a single field.</a:t>
            </a:r>
          </a:p>
          <a:p>
            <a:pPr lvl="0" indent="0" marL="0">
              <a:buNone/>
            </a:pPr>
          </a:p>
          <a:p>
            <a:pPr lvl="0" indent="0" marL="0">
              <a:buNone/>
            </a:pPr>
            <a:r>
              <a:rPr/>
              <a:t>Two consequences to name. Distance-based methods (Lesson 6) degrade, because in high dimensions everything becomes roughly equidistant from everything else. And every column is a parameter to estimate from the same fixed amount of data, so the estimates get noisier: the overfitting gap of lesson 1 (slide 21) arriving from a new direction. Lesson 5 names it the bias-variance trade-off.</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right panel out loud before making any argument with it, because it is a histogram of the 493 codes and nobody reads that off a projector unaided: the horizontal axis is how many customers share one zip code, the vertical axis is how many zip codes that happens to. The tallest bar stands at 3 and 4 - about a hundred codes each - and the whole thing stops at 12.</a:t>
            </a:r>
          </a:p>
          <a:p>
            <a:pPr lvl="0" indent="0" marL="0">
              <a:buNone/>
            </a:pPr>
          </a:p>
          <a:p>
            <a:pPr lvl="0" indent="0" marL="0">
              <a:buNone/>
            </a:pPr>
            <a:r>
              <a:rPr/>
              <a:t>Then say: notebook 1’s correlation check already suggested this column carries nothing. One-hot encoding it would add 493 mostly-empty columns. The natural alternative - replace each code with the average churn rate of its customers - is exactly the technique the leakage section is about. Leave the question open here; the leakage section answers it.</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symbols first: T is the test set, m rows drawn from the distribution D; R-hat of T is the average loss on those rows; R is the expected risk from lesson 1. The equation says that, averaged over all the test sets we might have drawn, the test score equals the true risk.</a:t>
            </a:r>
          </a:p>
          <a:p>
            <a:pPr lvl="0" indent="0" marL="0">
              <a:buNone/>
            </a:pPr>
          </a:p>
          <a:p>
            <a:pPr lvl="0" indent="0" marL="0">
              <a:buNone/>
            </a:pPr>
            <a:r>
              <a:rPr/>
              <a:t>Then say the condition out loud, because it is not written on the slide and it is the whole content: this equality holds ONLY IF f is independent of T.</a:t>
            </a:r>
          </a:p>
          <a:p>
            <a:pPr lvl="0" indent="0" marL="0">
              <a:buNone/>
            </a:pPr>
          </a:p>
          <a:p>
            <a:pPr lvl="0" indent="0" marL="0">
              <a:buNone/>
            </a:pPr>
            <a:r>
              <a:rPr/>
              <a:t>Handout Section 8.1. Lesson 1’s unbiasedness argument never mentioned “the model” specifically - it is about f, whatever function maps raw inputs to predictions. In deployment, a fitted scaler or imputer travels WITH the model, so f includes their learned parameters too.</a:t>
            </a:r>
          </a:p>
          <a:p>
            <a:pPr lvl="0" indent="0" marL="0">
              <a:buNone/>
            </a:pPr>
          </a:p>
          <a:p>
            <a:pPr lvl="0" indent="0" marL="0">
              <a:buNone/>
            </a:pPr>
            <a:r>
              <a:rPr/>
              <a:t>The moment any of those parameters - a mean, a set of neighbours, a per-category average - is estimated using rows that later appear in T, f is no longer independent of T, and the equality breaks. This is the one-sentence version of everything handout Section 9, and the leakage section of today’s slides, are about to demonstrate concretely.</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structural version of the argument just stated. Different columns need different treatment; ColumnTransformer routes each group through its own sub-pipeline and concatenates the result; the outer Pipeline adds the classifier.</a:t>
            </a:r>
          </a:p>
          <a:p>
            <a:pPr lvl="0" indent="0" marL="0">
              <a:buNone/>
            </a:pPr>
          </a:p>
          <a:p>
            <a:pPr lvl="0" indent="0" marL="0">
              <a:buNone/>
            </a:pPr>
            <a:r>
              <a:rPr/>
              <a:t>One fit() call, on X_train, fits every imputer, the scaler, the encoder AND the classifier - in that order, on training data only, by construction. Say explicitly: this is not tidiness. It is what makes “nothing learned before the split” true even when nobody is watching, which today’s leakage section is entirely about.</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out loud what the five short names stand for, or someone spends the next minute working it out instead of listening: num_pipe and cat_pipe are the impute-then-transform pairs from the diagram on the previous slide, num_cols and cat_cols are plain lists of column names, and clf is the classifier. They are abbreviated here only to fit the slide - handout Section 8.2 prints the same block with full names, every import, and both column lists, and it runs as printed.</a:t>
            </a:r>
          </a:p>
          <a:p>
            <a:pPr lvl="0" indent="0" marL="0">
              <a:buNone/>
            </a:pPr>
          </a:p>
          <a:p>
            <a:pPr lvl="0" indent="0" marL="0">
              <a:buNone/>
            </a:pPr>
            <a:r>
              <a:rPr/>
              <a:t>Point out there is exactly ONE call to fit, at the very bottom, on X_train alone - everything above it declares structure, not computation.</a:t>
            </a:r>
          </a:p>
          <a:p>
            <a:pPr lvl="0" indent="0" marL="0">
              <a:buNone/>
            </a:pPr>
          </a:p>
          <a:p>
            <a:pPr lvl="0" indent="0" marL="0">
              <a:buNone/>
            </a:pPr>
            <a:r>
              <a:rPr/>
              <a:t>This is the code notebook 2 runs, nearly verbatim. Say that reading it should now feel unremarkable - that is the goal, structure that makes the right thing the easy thing.</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 room answer why the accuracy gain is modest. The dataset is 80/20 imbalanced, so accuracy is dominated by the majority class - exactly as Lesson 1 warned, and the first time they meet it on data they prepared themselves.</a:t>
            </a:r>
          </a:p>
          <a:p>
            <a:pPr lvl="0" indent="0" marL="0">
              <a:buNone/>
            </a:pPr>
          </a:p>
          <a:p>
            <a:pPr lvl="0" indent="0" marL="0">
              <a:buNone/>
            </a:pPr>
            <a:r>
              <a:rPr/>
              <a:t>The next slide’s matrix shows where the errors sit. The area under the receiver operating characteristic curve (AUC), which Lesson 4 builds properly, is read as the chance that a random churner is scored above a random non-churner: 0.5 is a coin flip. At 0.751 it says there is real signal that accuracy is hiding, because it compares churners with non-churners instead of counting rows, so the 80/20 imbalance does not drag it the way it drags accuracy.</a:t>
            </a:r>
          </a:p>
          <a:p>
            <a:pPr lvl="0" indent="0" marL="0">
              <a:buNone/>
            </a:pPr>
          </a:p>
          <a:p>
            <a:pPr lvl="0" indent="0" marL="0">
              <a:buNone/>
            </a:pPr>
            <a:r>
              <a:rPr/>
              <a:t>Had we reported only accuracy, this model would look barely better than the baseline and someone would reasonably conclude the features were useless.</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what the picture is before reading anything off it: a confusion matrix is a table counting predictions against truth, one cell per combination - predicted stay and did stay, predicted stay and churned, and so on. Lesson 4 gives it its proper treatment; today it is a way of seeing where an accuracy number comes from.</a:t>
            </a:r>
          </a:p>
          <a:p>
            <a:pPr lvl="0" indent="0" marL="0">
              <a:buNone/>
            </a:pPr>
          </a:p>
          <a:p>
            <a:pPr lvl="0" indent="0" marL="0">
              <a:buNone/>
            </a:pPr>
            <a:r>
              <a:rPr/>
              <a:t>The accuracy gain was fourteen thousandths. This is where those errors actually sit, and it explains why the gain is small.</a:t>
            </a:r>
          </a:p>
          <a:p>
            <a:pPr lvl="0" indent="0" marL="0">
              <a:buNone/>
            </a:pPr>
          </a:p>
          <a:p>
            <a:pPr lvl="0" indent="0" marL="0">
              <a:buNone/>
            </a:pPr>
            <a:r>
              <a:rPr/>
              <a:t>Read the bottom row: almost every customer who churned was predicted to stay. The model has learned to predict the majority class slightly more cleverly than the baseline does, and on the class the business would pay to identify it is close to useless.</a:t>
            </a:r>
          </a:p>
          <a:p>
            <a:pPr lvl="0" indent="0" marL="0">
              <a:buNone/>
            </a:pPr>
          </a:p>
          <a:p>
            <a:pPr lvl="0" indent="0" marL="0">
              <a:buNone/>
            </a:pPr>
            <a:r>
              <a:rPr/>
              <a:t>Then connect it back to lesson 1 and its imbalance slide. Same shape, different dataset, and it took a confusion matrix to see it in both cases. Accuracy on its own would have reported this as progress.</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formula in one sentence - total_paid is the monthly charge times the months stayed, with tenure clipped at zero first - and let the three AUCs do the work.</a:t>
            </a:r>
          </a:p>
          <a:p>
            <a:pPr lvl="0" indent="0" marL="0">
              <a:buNone/>
            </a:pPr>
          </a:p>
          <a:p>
            <a:pPr lvl="0" indent="0" marL="0">
              <a:buNone/>
            </a:pPr>
            <a:r>
              <a:rPr/>
              <a:t>Do not let anyone in the room call three thousandths a win, and do not call it one yourself. Quote the four decimals, 0.7514 against 0.7548: at three, 0.751 against 0.755 sounds like a difference of 0.004, and the difference is 0.0034. It is a legitimate result, not a failed experiment - the hypothesis that what a customer has been worth so far predicts whether they leave was reasonable, it was tested, and the data declined it. Feature engineering is a hypothesis about the domain, not a guarantee. Handout Section 7.</a:t>
            </a:r>
          </a:p>
          <a:p>
            <a:pPr lvl="0" indent="0" marL="0">
              <a:buNone/>
            </a:pPr>
          </a:p>
          <a:p>
            <a:pPr lvl="0" indent="0" marL="0">
              <a:buNone/>
            </a:pPr>
            <a:r>
              <a:rPr/>
              <a:t>Then the second number, which is the one to spend time on. Rebuild the same column after Section 4’s domain rule - tenure clipped to 0-120, not just at zero - and +0.0034 becomes -0.0075. The gain was never about what the customer paid: 999 months times a billing error of 3,344.7 is a total_paid no real customer could have, and those rows line up with the target well enough to move the score. Multiplying two contaminated columns concentrates the contamination. Say the moral out loud: the order of the steps is part of the method.</a:t>
            </a:r>
          </a:p>
          <a:p>
            <a:pPr lvl="0" indent="0" marL="0">
              <a:buNone/>
            </a:pPr>
          </a:p>
          <a:p>
            <a:pPr lvl="0" indent="0" marL="0">
              <a:buNone/>
            </a:pPr>
            <a:r>
              <a:rPr/>
              <a:t>Then plant the flag for Lesson 5: a difference this small is inside the range a different train/test split would produce on its own, so a single split cannot settle it either way. Reporting it as an improvement is the first step onto exactly the path Lesson 5 exists to close off.</a:t>
            </a:r>
          </a:p>
          <a:p>
            <a:pPr lvl="0" indent="0" marL="0">
              <a:buNone/>
            </a:pPr>
          </a:p>
          <a:p>
            <a:pPr lvl="0" indent="0" marL="0">
              <a:buNone/>
            </a:pPr>
            <a:r>
              <a:rPr/>
              <a:t>Explain the max rather than skating over it, because someone will ask. tenure_months still holds the -3 of Section 4 at this point, and multiplying by it unclipped hands the model a customer who has paid minus two hundred euros. That is Section 4 turning up in Section 7, and it is what feature engineering on real data actually looks like - one line of algebra, three lines of defending it against the column you have.</a:t>
            </a:r>
          </a:p>
          <a:p>
            <a:pPr lvl="0" indent="0" marL="0">
              <a:buNone/>
            </a:pPr>
          </a:p>
          <a:p>
            <a:pPr lvl="0" indent="0" marL="0">
              <a:buNone/>
            </a:pPr>
            <a:r>
              <a:rPr/>
              <a:t>If someone objects to the obvious alternative, monthly_charges divided by tenure_months, they are right to: monthly_charges is already a rate, so dividing it by months again gives euros per month per month. Check the units before trusting a construction.</a:t>
            </a:r>
          </a:p>
          <a:p>
            <a:pPr lvl="0" indent="0" marL="0">
              <a:buNone/>
            </a:pPr>
          </a:p>
          <a:p>
            <a:pPr lvl="0" indent="0" marL="0">
              <a:buNone/>
            </a:pPr>
            <a:r>
              <a:rPr/>
              <a:t>The point to land: any engineered feature that involves a statistic LEARNED from data - bin edges from quantiles, a scaled interaction - is subject to the same rule as scaling. A pure arithmetic combination (this product) learns nothing and can be computed anywhere; a learned one must be fitted on the training rows only.</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right-hand column carries the four numbers to come back with, each next to the calls that produce it. The rest of the table is the map: every scikit-learn name the notebook uses, beside the slides that introduced the idea.</a:t>
            </a:r>
          </a:p>
          <a:p>
            <a:pPr lvl="0" indent="0" marL="0">
              <a:buNone/>
            </a:pPr>
          </a:p>
          <a:p>
            <a:pPr lvl="0" indent="0" marL="0">
              <a:buNone/>
            </a:pPr>
            <a:r>
              <a:rPr/>
              <a:t>20 minutes. Let them work; circulate.</a:t>
            </a:r>
          </a:p>
          <a:p>
            <a:pPr lvl="0" indent="0" marL="0">
              <a:buNone/>
            </a:pPr>
          </a:p>
          <a:p>
            <a:pPr lvl="0" indent="0" marL="0">
              <a:buNone/>
            </a:pPr>
            <a:r>
              <a:rPr/>
              <a:t>Say what the eight sections are for before they start, because the notebook is long and the middle of it looks like plumbing: sections 3 and 4 are why we scale, 5 and 6 are why we encode and what zip_code costs, 7 is the pipeline that makes the rule true by construction, and 8 is the feature that does not work.</a:t>
            </a:r>
          </a:p>
          <a:p>
            <a:pPr lvl="0" indent="0" marL="0">
              <a:buNone/>
            </a:pPr>
          </a:p>
          <a:p>
            <a:pPr lvl="0" indent="0" marL="0">
              <a:buNone/>
            </a:pPr>
            <a:r>
              <a:rPr/>
              <a:t>The gradient descent toy in section 3 is worth running interactively - change the variance ratio live and watch the iteration count move, per the handout’s “try this”. It makes the condition number argument concrete in a way the derivation alone does not. The number to make them say out loud is the second one on the slide: the raw features do not diverge to infinity, they oscillate between 0.69 and 8.29 and never settle. That is a worse failure than slowness, because nothing errors.</a:t>
            </a:r>
          </a:p>
          <a:p>
            <a:pPr lvl="0" indent="0" marL="0">
              <a:buNone/>
            </a:pPr>
          </a:p>
          <a:p>
            <a:pPr lvl="0" indent="0" marL="0">
              <a:buNone/>
            </a:pPr>
            <a:r>
              <a:rPr/>
              <a:t>Section 5 is the one that lands without discussion: matrix_rank returns 3 for four columns, and short by exactly one is the signature of a single dependence. They believe numpy where they might not believe the algebra.</a:t>
            </a:r>
          </a:p>
          <a:p>
            <a:pPr lvl="0" indent="0" marL="0">
              <a:buNone/>
            </a:pPr>
          </a:p>
          <a:p>
            <a:pPr lvl="0" indent="0" marL="0">
              <a:buNone/>
            </a:pPr>
            <a:r>
              <a:rPr/>
              <a:t>If the room is moving fast, section 7 is where to slow down: ColumnTransformer is the piece they will reuse in every exercise, and getting the column selectors right is fiddlier than it looks.</a:t>
            </a:r>
          </a:p>
          <a:p>
            <a:pPr lvl="0" indent="0" marL="0">
              <a:buNone/>
            </a:pPr>
          </a:p>
          <a:p>
            <a:pPr lvl="0" indent="0" marL="0">
              <a:buNone/>
            </a:pPr>
            <a:r>
              <a:rPr/>
              <a:t>And leave time for section 8, which is the one they will get wrong on their own data: the engineered feature gains 0.0034, then loses 0.0075 once tenure is cleaned first. Ask them why before telling them.</a:t>
            </a:r>
          </a:p>
          <a:p>
            <a:pPr lvl="0" indent="0" marL="0">
              <a:buNone/>
            </a:pPr>
          </a:p>
          <a:p>
            <a:pPr lvl="0" indent="0" marL="0">
              <a:buNone/>
            </a:pPr>
            <a:r>
              <a:rPr/>
              <a:t>Two prediction cells to give a minute each: what learning rate 2.0 does on the raw features (most expect “slower”; it oscillates for ever), and what accuracy the full pipeline reaches against the 0.806 baseline (0.820, which is the cue for why accuracy is the wrong scale here).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up the closing section. Lesson 1’s leak - selecting features on the full dataset - is visible once you know to look for it: an obviously extra step. Today’s two are not. Imputing a missing value and encoding a category both read as ordinary data cleaning, not as “training a model.” They ARE training a model, in the sense handout Section 8.1 makes precise and slide 36 stated: any fitted parameter is part of f, and f must be independent of the test set.</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the mechanism before the number. KNNImputer fills a gap using other rows’ values: it finds the nearest neighbours in feature space and averages them. “Nearest in the whole dataset” includes test rows, if it was fitted before the split existed.</a:t>
            </a:r>
          </a:p>
          <a:p>
            <a:pPr lvl="0" indent="0" marL="0">
              <a:buNone/>
            </a:pPr>
          </a:p>
          <a:p>
            <a:pPr lvl="0" indent="0" marL="0">
              <a:buNone/>
            </a:pPr>
            <a:r>
              <a:rPr/>
              <a:t>So a TRAINING row’s missing age can be filled with a value read off a TEST row - the test set writing into the training data, one gap at a time. Note the imputer never touches a label; it copies feature values. That is enough: those values are what the model then fits on. The imputer did nothing wrong; it was simply shown data it should not have seen.</a:t>
            </a:r>
          </a:p>
          <a:p>
            <a:pPr lvl="0" indent="0" marL="0">
              <a:buNone/>
            </a:pPr>
          </a:p>
          <a:p>
            <a:pPr lvl="0" indent="0" marL="0">
              <a:buNone/>
            </a:pPr>
            <a:r>
              <a:rPr/>
              <a:t>Notebook 3 counts how often it happens. Connect it back to Lesson 1: this is the same independence argument, applied to a step nobody thinks of as learning. The imputer learns; therefore it is fitted on the training data only.</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94 of 128. Not an edge case - nearly three quarters of the imputed training rows borrowed a value from at least one row the model would later be scored on.</a:t>
            </a:r>
          </a:p>
          <a:p>
            <a:pPr lvl="0" indent="0" marL="0">
              <a:buNone/>
            </a:pPr>
          </a:p>
          <a:p>
            <a:pPr lvl="0" indent="0" marL="0">
              <a:buNone/>
            </a:pPr>
            <a:r>
              <a:rPr/>
              <a:t>Stress that nothing in the code looks wrong. KNNImputer did exactly what it says: found the nearest neighbours in the data it was given. The error was in what it was given, and it happened one line earlier.</a:t>
            </a:r>
          </a:p>
          <a:p>
            <a:pPr lvl="0" indent="0" marL="0">
              <a:buNone/>
            </a:pPr>
          </a:p>
          <a:p>
            <a:pPr lvl="0" indent="0" marL="0">
              <a:buNone/>
            </a:pPr>
            <a:r>
              <a:rPr/>
              <a:t>This is the number to put on the board if only one number from today survives.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Ninety-four of a hundred and twenty-eight, drawn so the proportion lands.</a:t>
            </a:r>
          </a:p>
          <a:p>
            <a:pPr lvl="0" indent="0" marL="0">
              <a:buNone/>
            </a:pPr>
          </a:p>
          <a:p>
            <a:pPr lvl="0" indent="0" marL="0">
              <a:buNone/>
            </a:pPr>
            <a:r>
              <a:rPr/>
              <a:t>Say what was actually done: the imputer was fitted before the split, so when it filled a missing age it was allowed to look at test rows to decide what to fill it with. Nearly three quarters of the affected training rows had a test row among the five donors it consulted.</a:t>
            </a:r>
          </a:p>
          <a:p>
            <a:pPr lvl="0" indent="0" marL="0">
              <a:buNone/>
            </a:pPr>
          </a:p>
          <a:p>
            <a:pPr lvl="0" indent="0" marL="0">
              <a:buNone/>
            </a:pPr>
            <a:r>
              <a:rPr/>
              <a:t>The sentence to leave hanging is the one from the slide before: nothing raised an error. The notebook ran, the score barely moved - +0.0007, and negative in 14 of 20 splits - and test information had still reached the training data one imputed value at a time. So the score cannot reveal this leak; only the method can. This is the argument for the pipeline, made in numbers.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zip_code has no real relationship with churn - the data was generated that way deliberately, so any apparent signal is an artefact we can measure exactly.</a:t>
            </a:r>
          </a:p>
          <a:p>
            <a:pPr lvl="0" indent="0" marL="0">
              <a:buNone/>
            </a:pPr>
          </a:p>
          <a:p>
            <a:pPr lvl="0" indent="0" marL="0">
              <a:buNone/>
            </a:pPr>
            <a:r>
              <a:rPr/>
              <a:t>Target encoding replaces each zip code with the average churn rate of its own customers. Computed before the split, that average includes the test rows’ labels. The feature now contains the answer, in diluted form.</a:t>
            </a:r>
          </a:p>
          <a:p>
            <a:pPr lvl="0" indent="0" marL="0">
              <a:buNone/>
            </a:pPr>
          </a:p>
          <a:p>
            <a:pPr lvl="0" indent="0" marL="0">
              <a:buNone/>
            </a:pPr>
            <a:r>
              <a:rPr/>
              <a:t>This is the most dangerous leak of the three, because the resulting column looks entirely reasonable in a dataframe: a number between 0 and 1, sensibly distributed, with no trace of where it came from. Nothing about it says “this was computed from the labels”.</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Baseline without zip: AUC 0.751. Honest encoding (sklearn’s TargetEncoder inside the pipeline, each training row encoded from the other four parts of the training rows): 0.751 - indistinguishable, correctly, since zip carries nothing. Leaky encoding, computed before the split: 0.891.</a:t>
            </a:r>
          </a:p>
          <a:p>
            <a:pPr lvl="0" indent="0" marL="0">
              <a:buNone/>
            </a:pPr>
          </a:p>
          <a:p>
            <a:pPr lvl="0" indent="0" marL="0">
              <a:buNone/>
            </a:pPr>
            <a:r>
              <a:rPr/>
              <a:t>Let that number sit. It looks like a genuinely better model. It is not one - the improvement is manufactured entirely by the mechanism on the next slide. This is Lesson 1’s 77%-on-coin-flip-labels story again, produced by two unremarkable lines of preprocessing instead of an obviously wrong one.</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Name the symbols first, pointing at each: ȳ_c is the churn rate of zip code c over all its customers, row i included; ȳ_c with (−i) is the same rate with row i left out; y_i is row i’s own label; n_c is how many customers zip code c has - not n, the number of features.</a:t>
            </a:r>
          </a:p>
          <a:p>
            <a:pPr lvl="0" indent="0" marL="0">
              <a:buNone/>
            </a:pPr>
          </a:p>
          <a:p>
            <a:pPr lvl="0" indent="0" marL="0">
              <a:buNone/>
            </a:pPr>
            <a:r>
              <a:rPr/>
              <a:t>Read the equation out as a sentence: the “leave-in” encoding differs from the honest leave-one-out encoding by the row’s own disagreement with its group, divided by how many people are in it.</a:t>
            </a:r>
          </a:p>
          <a:p>
            <a:pPr lvl="0" indent="0" marL="0">
              <a:buNone/>
            </a:pPr>
          </a:p>
          <a:p>
            <a:pPr lvl="0" indent="0" marL="0">
              <a:buNone/>
            </a:pPr>
            <a:r>
              <a:rPr/>
              <a:t>Handout Section 9.2 has the algebra. The intuition: for a zip code with a single customer, the target encoding IS that customer’s label, straight through. With two customers it is the average of two labels. Only as the group grows does the encoding become a genuine statistic rather than a copy of the answer.</a:t>
            </a:r>
          </a:p>
          <a:p>
            <a:pPr lvl="0" indent="0" marL="0">
              <a:buNone/>
            </a:pPr>
          </a:p>
          <a:p>
            <a:pPr lvl="0" indent="0" marL="0">
              <a:buNone/>
            </a:pPr>
            <a:r>
              <a:rPr/>
              <a:t>So the leak is worst exactly where the data is thinnest - which is also where high-cardinality columns spend most of their mass. Most zip codes here have a handful of customers.</a:t>
            </a:r>
          </a:p>
          <a:p>
            <a:pPr lvl="0" indent="0" marL="0">
              <a:buNone/>
            </a:pPr>
          </a:p>
          <a:p>
            <a:pPr lvl="0" indent="0" marL="0">
              <a:buNone/>
            </a:pPr>
            <a:r>
              <a:rPr/>
              <a:t>Give them the diagnostic to remember: if a feature’s usefulness comes mostly from its rarest levels, be suspicious. That is the shape of a leak, not of a signal.</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3 shows the n_c=1 case literally: zip code Z472, one customer, churn label 0, encoded value 0.000. Not correlated with the label. IS the label, relabelled as an input.</a:t>
            </a:r>
          </a:p>
          <a:p>
            <a:pPr lvl="0" indent="0" marL="0">
              <a:buNone/>
            </a:pPr>
          </a:p>
          <a:p>
            <a:pPr lvl="0" indent="0" marL="0">
              <a:buNone/>
            </a:pPr>
            <a:r>
              <a:rPr/>
              <a:t>Connect to handout Section 6.3 and slide 34: a column with many levels (high cardinality) has few rows per level, and by this formula few rows per level means a bigger leak. The width problem of one-hot encoding and the leak of target encoding come from the same fact: many levels, few rows in each.</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TargetEncoder also applies smoothing: it pulls each group’s churn rate towards the overall churn rate, the more so the smaller the group, so a one-customer zip code barely moves from the overall rate. Smoothing reduces the leak but does not remove it.</a:t>
            </a:r>
          </a:p>
          <a:p>
            <a:pPr lvl="0" indent="0" marL="0">
              <a:buNone/>
            </a:pPr>
          </a:p>
          <a:p>
            <a:pPr lvl="0" indent="0" marL="0">
              <a:buNone/>
            </a:pPr>
            <a:r>
              <a:rPr/>
              <a:t>Say clearly what actually removes it: fitting the encoder on the training rows only, inside the pipeline, exactly as with every other learned step - with TargetEncoder also making sure no row is encoded from its own label. Smoothing is a refinement on top of that, not a substitute for it.</a:t>
            </a:r>
          </a:p>
          <a:p>
            <a:pPr lvl="0" indent="0" marL="0">
              <a:buNone/>
            </a:pPr>
          </a:p>
          <a:p>
            <a:pPr lvl="0" indent="0" marL="0">
              <a:buNone/>
            </a:pPr>
            <a:r>
              <a:rPr/>
              <a:t>This is the third time today the same rule has appeared - imputation, scaling, encoding - and that repetition is the point of the lesson. Lesson 1 stated the rule for one case; today it turns out to be the same rule every time.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test, not a growing list of special cases: does fitting this step compute anything from the rows it is given? If yes, it goes inside the pipeline. Handout Section 9.3.</a:t>
            </a:r>
          </a:p>
          <a:p>
            <a:pPr lvl="0" indent="0" marL="0">
              <a:buNone/>
            </a:pPr>
          </a:p>
          <a:p>
            <a:pPr lvl="0" indent="0" marL="0">
              <a:buNone/>
            </a:pPr>
            <a:r>
              <a:rPr/>
              <a:t>Say explicitly: Lesson 5 returns to leakage a third time, for hyperparameter tuning, where the same test applies once more.</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Trace the imputation leak. Watch the encoding leak manufacture 0.89 from noise. The table puts each leak beside the calls that commit it and the slides that explain it; the fix row is the one to leave on screen.</a:t>
            </a:r>
          </a:p>
          <a:p>
            <a:pPr lvl="0" indent="0" marL="0">
              <a:buNone/>
            </a:pPr>
          </a:p>
          <a:p>
            <a:pPr lvl="0" indent="0" marL="0">
              <a:buNone/>
            </a:pPr>
            <a:r>
              <a:rPr/>
              <a:t>22 minutes. This notebook is the payoff of the lesson: the two leaks of today, each measured against an honest pipeline on the same data. The third way of breaking the rule, on the earlier diagram, was Lesson 1’s.</a:t>
            </a:r>
          </a:p>
          <a:p>
            <a:pPr lvl="0" indent="0" marL="0">
              <a:buNone/>
            </a:pPr>
          </a:p>
          <a:p>
            <a:pPr lvl="0" indent="0" marL="0">
              <a:buNone/>
            </a:pPr>
            <a:r>
              <a:rPr/>
              <a:t>The numbers matter less than the pattern - neither leak raises an error, and both are things a competent person does by accident. They differ in what they do to the score: the imputation leak contaminates 94 of 128 rows and barely moves the AUC (+0.0007, negative in 14 of 20 splits), so it cannot be caught by its effect; the encoding leak adds 0.14 out of a column with no signal. Three cells ask for a prediction first - how many rows borrow from the test set, how much that leak is worth, what AUC an empty column reaches - give each a minute.</a:t>
            </a:r>
          </a:p>
          <a:p>
            <a:pPr lvl="0" indent="0" marL="0">
              <a:buNone/>
            </a:pPr>
          </a:p>
          <a:p>
            <a:pPr lvl="0" indent="0" marL="0">
              <a:buNone/>
            </a:pPr>
            <a:r>
              <a:rPr/>
              <a:t>Close with section 6, five minutes: everyone sets MY_SEED to their birthday as DDMM, runs the cell and calls out the three numbers; tally them on the board. Expect leak 1 at roughly 70-80% of the rows every time, the leaky encoding always about 0.11-0.15 above the honest one, and the honest AUC itself moving between about 0.74 and 0.80 from one birthday to the next - lesson 5’s lottery, seen a week early.</a:t>
            </a:r>
          </a:p>
          <a:p>
            <a:pPr lvl="0" indent="0" marL="0">
              <a:buNone/>
            </a:pPr>
          </a:p>
          <a:p>
            <a:pPr lvl="0" indent="0" marL="0">
              <a:buNone/>
            </a:pPr>
            <a:r>
              <a:rPr/>
              <a:t>If time is short, the target encoding case is the one to keep: it is the subtlest and the one most likely to appear in their own exercises.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Draw the thread together explicitly. Lesson 1 said nothing is learned before the split, using feature selection as the example. Today every preprocessing step turned out to be a learning step: an imputer learns a mean or a set of neighbours, a scaler learns a mean and a standard deviation, an encoder learns a mapping from categories to numbers.</a:t>
            </a:r>
          </a:p>
          <a:p>
            <a:pPr lvl="0" indent="0" marL="0">
              <a:buNone/>
            </a:pPr>
          </a:p>
          <a:p>
            <a:pPr lvl="0" indent="0" marL="0">
              <a:buNone/>
            </a:pPr>
            <a:r>
              <a:rPr/>
              <a:t>So the rule did not get more complicated - it got more general. And the pipeline is not tidiness, it is the mechanism that enforces the rule structurally, which is why we now build one for everything.</a:t>
            </a:r>
          </a:p>
          <a:p>
            <a:pPr lvl="0" indent="0" marL="0">
              <a:buNone/>
            </a:pPr>
          </a:p>
          <a:p>
            <a:pPr lvl="0" indent="0" marL="0">
              <a:buNone/>
            </a:pPr>
            <a:r>
              <a:rPr/>
              <a:t>Preview Lesson 3 in one sentence: with the data prepared honestly, we can finally fit something and look at what the fitting actually does.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The exercise reuses churn_data.py with a different seed, so results will not match today’s numbers exactly - that is intentional, it stops copy-pasted answers from working.</a:t>
            </a:r>
          </a:p>
          <a:p>
            <a:pPr lvl="0" indent="0" marL="0">
              <a:buNone/>
            </a:pPr>
          </a:p>
          <a:p>
            <a:pPr lvl="0" indent="0" marL="0">
              <a:buNone/>
            </a:pPr>
            <a:r>
              <a:rPr/>
              <a:t>Remind them: as in Exercise 1, accuracy is not what counts, and nothing is marked during the course. If this exercise is the one drawn at the exam, what is discussed is methodological correctness: which preprocessing steps needed to be inside the pipeline, and, with a number, what leaving one out would have cost.</a:t>
            </a:r>
          </a:p>
          <a:p>
            <a:pPr lvl="0" indent="0" marL="0">
              <a:buNone/>
            </a:pPr>
          </a:p>
          <a:p>
            <a:pPr lvl="0" indent="0" marL="0">
              <a:buNone/>
            </a:pPr>
            <a:r>
              <a:rPr/>
              <a:t>Also point them at the quiz - the reasoning-tagged questions are the closest thing to the exam there is, since the exam draws one of their own notebooks and asks why each decision was made.</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checklist for the week. The exercise was set on the previous slide; say once more that it is discussed at the start of Lesson 3, Friday 16 October.</a:t>
            </a:r>
          </a:p>
          <a:p>
            <a:pPr lvl="0" indent="0" marL="0">
              <a:buNone/>
            </a:pPr>
          </a:p>
          <a:p>
            <a:pPr lvl="0" indent="0" marL="0">
              <a:buNone/>
            </a:pPr>
            <a:r>
              <a:rPr/>
              <a:t>Point out that it uses the same churn generator, so the exploration they did today carries over, and that what counts is again methodology: a pipeline that is correct but modest beats a better score obtained by preparing the full dataset before splitting.</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2: Data Exploration and Preparation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9 October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Before we start</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Exercise 1 was set last week. We discuss it now.</a:t>
            </a:r>
          </a:p>
          <a:p>
            <a:pPr lvl="0"/>
            <a:r>
              <a:rPr/>
              <a:t>The wine-quality workflow, end to end</a:t>
            </a:r>
          </a:p>
          <a:p>
            <a:pPr lvl="0"/>
            <a:r>
              <a:rPr/>
              <a:t>What counts is </a:t>
            </a:r>
            <a:r>
              <a:rPr b="1"/>
              <a:t>methodology</a:t>
            </a:r>
            <a:r>
              <a:rPr/>
              <a:t>, not accuracy</a:t>
            </a:r>
          </a:p>
          <a:p>
            <a:pPr lvl="0"/>
            <a:r>
              <a:rPr/>
              <a:t>A show of hands: did you predict a class, or a number?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today builds on</a:t>
            </a:r>
          </a:p>
        </p:txBody>
      </p:sp>
      <p:sp>
        <p:nvSpPr>
          <p:cNvPr id="3" name="Content Placeholder 2"/>
          <p:cNvSpPr>
            <a:spLocks noGrp="1"/>
          </p:cNvSpPr>
          <p:nvPr>
            <p:ph idx="1"/>
          </p:nvPr>
        </p:nvSpPr>
        <p:spPr>
          <a:xfrm>
            <a:off x="457200" y="1200151"/>
            <a:ext cx="8229600" cy="3394472"/>
          </a:xfrm>
        </p:spPr>
        <p:txBody>
          <a:bodyPr/>
          <a:lstStyle/>
          <a:p>
            <a:pPr lvl="0"/>
            <a:r>
              <a:rPr/>
              <a:t>Lesson 1’s rule: </a:t>
            </a:r>
            <a:r>
              <a:rPr b="1"/>
              <a:t>nothing is learned before the split</a:t>
            </a:r>
          </a:p>
          <a:p>
            <a:pPr lvl="0"/>
            <a:r>
              <a:rPr/>
              <a:t>Lesson 1’s tool: </a:t>
            </a:r>
            <a:r>
              <a:rPr>
                <a:latin typeface="Courier"/>
              </a:rPr>
              <a:t>Pipeline</a:t>
            </a:r>
            <a:r>
              <a:rPr/>
              <a:t>, which enforces that rule in the code instead of relying on memory</a:t>
            </a:r>
          </a:p>
          <a:p>
            <a:pPr lvl="0"/>
            <a:r>
              <a:rPr/>
              <a:t>Today: both, on messy data - gaps, extreme values, text categories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Today</a:t>
            </a:r>
          </a:p>
        </p:txBody>
      </p:sp>
      <p:sp>
        <p:nvSpPr>
          <p:cNvPr id="3" name="Content Placeholder 2"/>
          <p:cNvSpPr>
            <a:spLocks noGrp="1"/>
          </p:cNvSpPr>
          <p:nvPr>
            <p:ph idx="1"/>
          </p:nvPr>
        </p:nvSpPr>
        <p:spPr>
          <a:xfrm>
            <a:off x="457200" y="1200151"/>
            <a:ext cx="8229600" cy="3394472"/>
          </a:xfrm>
        </p:spPr>
        <p:txBody>
          <a:bodyPr/>
          <a:lstStyle/>
          <a:p>
            <a:pPr lvl="0"/>
            <a:r>
              <a:rPr/>
              <a:t>Exploratory analysis</a:t>
            </a:r>
          </a:p>
          <a:p>
            <a:pPr lvl="0"/>
            <a:r>
              <a:rPr/>
              <a:t>Missing values</a:t>
            </a:r>
          </a:p>
          <a:p>
            <a:pPr lvl="0"/>
            <a:r>
              <a:rPr/>
              <a:t>Outliers</a:t>
            </a:r>
          </a:p>
          <a:p>
            <a:pPr lvl="0"/>
            <a:r>
              <a:rPr/>
              <a:t>Scaling and encoding</a:t>
            </a:r>
          </a:p>
          <a:p>
            <a:pPr lvl="0"/>
            <a:r>
              <a:rPr/>
              <a:t>Feature engineering and pipelines</a:t>
            </a:r>
          </a:p>
          <a:p>
            <a:pPr lvl="0"/>
            <a:r>
              <a:rPr/>
              <a:t>Leakage that raises no error and looks like a good result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dataset, all lesson long</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2000 synthetic telecom customers. Will they </a:t>
            </a:r>
            <a:r>
              <a:rPr b="1"/>
              <a:t>churn</a:t>
            </a:r>
            <a:r>
              <a:rPr/>
              <a:t> (cancel their contract)?</a:t>
            </a:r>
          </a:p>
          <a:p>
            <a:pPr lvl="0"/>
            <a:r>
              <a:rPr/>
              <a:t>Numeric: tenure, monthly charges, age, support calls</a:t>
            </a:r>
          </a:p>
          <a:p>
            <a:pPr lvl="0"/>
            <a:r>
              <a:rPr/>
              <a:t>Categorical: contract type, region, zip code (493 different values)</a:t>
            </a:r>
          </a:p>
          <a:p>
            <a:pPr lvl="0"/>
            <a:r>
              <a:rPr/>
              <a:t>Missing values, extreme values, and one column built to have </a:t>
            </a:r>
            <a:r>
              <a:rPr b="1"/>
              <a:t>no relation</a:t>
            </a:r>
            <a:r>
              <a:rPr/>
              <a:t> to churn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Look before you touch anything</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First, always: </a:t>
            </a:r>
            <a:r>
              <a:rPr>
                <a:latin typeface="Courier"/>
              </a:rPr>
              <a:t>.info()</a:t>
            </a:r>
            <a:r>
              <a:rPr/>
              <a:t>, </a:t>
            </a:r>
            <a:r>
              <a:rPr>
                <a:latin typeface="Courier"/>
              </a:rPr>
              <a:t>.describe()</a:t>
            </a:r>
            <a:r>
              <a:rPr/>
              <a:t>, and the share of each class.</a:t>
            </a:r>
          </a:p>
          <a:p>
            <a:pPr lvl="0"/>
            <a:r>
              <a:rPr/>
              <a:t>2000 rows, 8 columns, numbers and text</a:t>
            </a:r>
          </a:p>
          <a:p>
            <a:pPr lvl="0"/>
            <a:r>
              <a:rPr/>
              <a:t>Churn rate </a:t>
            </a:r>
            <a:r>
              <a:rPr b="1"/>
              <a:t>19.4%</a:t>
            </a:r>
            <a:r>
              <a:rPr/>
              <a:t>: always predicting “no churn” is right 80.6% of the time</a:t>
            </a:r>
          </a:p>
          <a:p>
            <a:pPr lvl="0"/>
            <a:r>
              <a:rPr>
                <a:latin typeface="Courier"/>
              </a:rPr>
              <a:t>tenure_months</a:t>
            </a:r>
            <a:r>
              <a:rPr/>
              <a:t> reaches 999 months, 83 years: an error in the data</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Outliers squash two of these four</a:t>
            </a:r>
          </a:p>
        </p:txBody>
      </p:sp>
      <p:pic>
        <p:nvPicPr>
          <p:cNvPr descr="numeric_distributions.png" id="0" name="Picture 1"/>
          <p:cNvPicPr>
            <a:picLocks noGrp="1" noChangeAspect="1"/>
          </p:cNvPicPr>
          <p:nvPr/>
        </p:nvPicPr>
        <p:blipFill>
          <a:blip r:embed="rId3"/>
          <a:stretch>
            <a:fillRect/>
          </a:stretch>
        </p:blipFill>
        <p:spPr bwMode="auto">
          <a:xfrm>
            <a:off x="457200" y="1861939"/>
            <a:ext cx="8229600" cy="19685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Where the gaps are</a:t>
            </a:r>
          </a:p>
        </p:txBody>
      </p:sp>
      <p:pic>
        <p:nvPicPr>
          <p:cNvPr descr="missingness_pattern.png" id="0" name="Picture 1"/>
          <p:cNvPicPr>
            <a:picLocks noGrp="1" noChangeAspect="1"/>
          </p:cNvPicPr>
          <p:nvPr/>
        </p:nvPicPr>
        <p:blipFill>
          <a:blip r:embed="rId3"/>
          <a:stretch>
            <a:fillRect/>
          </a:stretch>
        </p:blipFill>
        <p:spPr bwMode="auto">
          <a:xfrm>
            <a:off x="1325084" y="1166099"/>
            <a:ext cx="6493832" cy="3360181"/>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reasons a value is missing</a:t>
            </a:r>
          </a:p>
        </p:txBody>
      </p:sp>
      <p:pic>
        <p:nvPicPr>
          <p:cNvPr descr="missingness_mechanisms.png" id="0" name="Picture 1"/>
          <p:cNvPicPr>
            <a:picLocks noGrp="1" noChangeAspect="1"/>
          </p:cNvPicPr>
          <p:nvPr/>
        </p:nvPicPr>
        <p:blipFill>
          <a:blip r:embed="rId3"/>
          <a:stretch>
            <a:fillRect/>
          </a:stretch>
        </p:blipFill>
        <p:spPr bwMode="auto">
          <a:xfrm>
            <a:off x="457200" y="1576189"/>
            <a:ext cx="8229600" cy="25400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age: missing completely at random</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MCAR, for short: some customers left it blank, for no reason related to any column.</a:t>
            </a:r>
          </a:p>
          <a:p>
            <a:pPr lvl="0"/>
            <a:r>
              <a:rPr/>
              <a:t>Filling the gaps with the mean leaves the mean of </a:t>
            </a:r>
            <a:r>
              <a:rPr>
                <a:latin typeface="Courier"/>
              </a:rPr>
              <a:t>age</a:t>
            </a:r>
            <a:r>
              <a:rPr/>
              <a:t> unbiased</a:t>
            </a:r>
          </a:p>
          <a:p>
            <a:pPr lvl="0"/>
            <a:r>
              <a:rPr/>
              <a:t>So is filling free? The next slide shows what it costs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What mean imputation actually costs</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Filling with the mean weakens every correlation </a:t>
            </a:r>
            <a:r>
              <a:rPr>
                <a:latin typeface="Courier"/>
              </a:rPr>
              <a:t>age</a:t>
            </a:r>
            <a:r>
              <a:rPr/>
              <a:t> has with other columns, even under MCAR.</a:t>
            </a:r>
          </a:p>
        </p:txBody>
      </p:sp>
      <p:pic>
        <p:nvPicPr>
          <p:cNvPr descr="correlation_attenuation.png" id="0" name="Picture 1"/>
          <p:cNvPicPr>
            <a:picLocks noGrp="1" noChangeAspect="1"/>
          </p:cNvPicPr>
          <p:nvPr/>
        </p:nvPicPr>
        <p:blipFill>
          <a:blip r:embed="rId3"/>
          <a:stretch>
            <a:fillRect/>
          </a:stretch>
        </p:blipFill>
        <p:spPr bwMode="auto">
          <a:xfrm>
            <a:off x="2410327" y="2160270"/>
            <a:ext cx="4323345" cy="236601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Support calls: missing at random</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MAR, for short: long-tenure customers leave it blank more often.</a:t>
            </a:r>
          </a:p>
          <a:p>
            <a:pPr lvl="0"/>
            <a:r>
              <a:rPr/>
              <a:t>Dropping those rows would remove mostly long-tenure customers</a:t>
            </a:r>
          </a:p>
          <a:p>
            <a:pPr lvl="0"/>
            <a:r>
              <a:rPr/>
              <a:t>A </a:t>
            </a:r>
            <a:r>
              <a:rPr b="1"/>
              <a:t>missingness indicator</a:t>
            </a:r>
            <a:r>
              <a:rPr/>
              <a:t> (1 if missing, 0 if not) adds nothing here: </a:t>
            </a:r>
            <a:r>
              <a:rPr>
                <a:latin typeface="Courier"/>
              </a:rPr>
              <a:t>tenure_months</a:t>
            </a:r>
            <a:r>
              <a:rPr/>
              <a:t> already tells the model which rows tend to have a gap</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do about a gap</a:t>
            </a:r>
          </a:p>
        </p:txBody>
      </p:sp>
      <p:sp>
        <p:nvSpPr>
          <p:cNvPr id="3" name="Content Placeholder 2"/>
          <p:cNvSpPr>
            <a:spLocks noGrp="1"/>
          </p:cNvSpPr>
          <p:nvPr>
            <p:ph idx="1"/>
          </p:nvPr>
        </p:nvSpPr>
        <p:spPr>
          <a:xfrm>
            <a:off x="457200" y="1200151"/>
            <a:ext cx="8229600" cy="3394472"/>
          </a:xfrm>
        </p:spPr>
        <p:txBody>
          <a:bodyPr/>
          <a:lstStyle/>
          <a:p>
            <a:pPr lvl="0"/>
            <a:r>
              <a:rPr b="1"/>
              <a:t>Drop rows</a:t>
            </a:r>
            <a:r>
              <a:rPr/>
              <a:t>: only if few, and only if MCAR</a:t>
            </a:r>
          </a:p>
          <a:p>
            <a:pPr lvl="0"/>
            <a:r>
              <a:rPr b="1"/>
              <a:t>Drop the column</a:t>
            </a:r>
            <a:r>
              <a:rPr/>
              <a:t>: if it is missing too often to help</a:t>
            </a:r>
          </a:p>
          <a:p>
            <a:pPr lvl="0"/>
            <a:r>
              <a:rPr b="1"/>
              <a:t>Impute</a:t>
            </a:r>
            <a:r>
              <a:rPr/>
              <a:t>: mean/median or most-frequent with </a:t>
            </a:r>
            <a:r>
              <a:rPr>
                <a:latin typeface="Courier"/>
              </a:rPr>
              <a:t>SimpleImputer</a:t>
            </a:r>
            <a:r>
              <a:rPr/>
              <a:t>, neighbours with </a:t>
            </a:r>
            <a:r>
              <a:rPr>
                <a:latin typeface="Courier"/>
              </a:rPr>
              <a:t>KNNImputer</a:t>
            </a:r>
          </a:p>
          <a:p>
            <a:pPr lvl="0"/>
            <a:r>
              <a:rPr b="1"/>
              <a:t>Add a missingness indicator</a:t>
            </a:r>
            <a:r>
              <a:rPr/>
              <a:t>: only if </a:t>
            </a:r>
            <a:r>
              <a:rPr i="1"/>
              <a:t>being missing</a:t>
            </a:r>
            <a:r>
              <a:rPr/>
              <a:t> tells the model something the other columns cannot - typically when missing not at random (MNAR)</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Choosing among the four</a:t>
            </a:r>
          </a:p>
        </p:txBody>
      </p:sp>
      <p:pic>
        <p:nvPicPr>
          <p:cNvPr descr="missing_data_decision.png" id="0" name="Picture 1"/>
          <p:cNvPicPr>
            <a:picLocks noGrp="1" noChangeAspect="1"/>
          </p:cNvPicPr>
          <p:nvPr/>
        </p:nvPicPr>
        <p:blipFill>
          <a:blip r:embed="rId3"/>
          <a:stretch>
            <a:fillRect/>
          </a:stretch>
        </p:blipFill>
        <p:spPr bwMode="auto">
          <a:xfrm>
            <a:off x="457200" y="1328539"/>
            <a:ext cx="8229600" cy="30353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Extreme does not mean wrong</a:t>
            </a:r>
          </a:p>
        </p:txBody>
      </p:sp>
      <p:sp>
        <p:nvSpPr>
          <p:cNvPr id="3" name="Content Placeholder 2"/>
          <p:cNvSpPr>
            <a:spLocks noGrp="1"/>
          </p:cNvSpPr>
          <p:nvPr>
            <p:ph idx="1"/>
          </p:nvPr>
        </p:nvSpPr>
        <p:spPr>
          <a:xfrm>
            <a:off x="457200" y="1200151"/>
            <a:ext cx="8229600" cy="3394472"/>
          </a:xfrm>
        </p:spPr>
        <p:txBody>
          <a:bodyPr/>
          <a:lstStyle/>
          <a:p>
            <a:pPr lvl="0"/>
            <a:r>
              <a:rPr>
                <a:latin typeface="Courier"/>
              </a:rPr>
              <a:t>tenure_months</a:t>
            </a:r>
            <a:r>
              <a:rPr/>
              <a:t> runs </a:t>
            </a:r>
            <a:r>
              <a:rPr b="1"/>
              <a:t>-3 to 999</a:t>
            </a:r>
            <a:r>
              <a:rPr/>
              <a:t>; ordinary customers sit at 0 to 72</a:t>
            </a:r>
          </a:p>
          <a:p>
            <a:pPr lvl="0"/>
            <a:r>
              <a:rPr/>
              <a:t>Three reasons: a </a:t>
            </a:r>
            <a:r>
              <a:rPr b="1"/>
              <a:t>recording error</a:t>
            </a:r>
            <a:r>
              <a:rPr/>
              <a:t>, a </a:t>
            </a:r>
            <a:r>
              <a:rPr b="1"/>
              <a:t>rare but genuine</a:t>
            </a:r>
            <a:r>
              <a:rPr/>
              <a:t> value, a </a:t>
            </a:r>
            <a:r>
              <a:rPr b="1"/>
              <a:t>different population</a:t>
            </a:r>
          </a:p>
          <a:p>
            <a:pPr lvl="0"/>
            <a:r>
              <a:rPr/>
              <a:t>A monthly charge of 3,344.7 may be a typo or a corporate account: the numbers alone cannot tell</a:t>
            </a:r>
          </a:p>
          <a:p>
            <a:pPr lvl="0"/>
            <a:r>
              <a:rPr/>
              <a:t>Two rules follow, one on standard deviations, one on quartiles: both only </a:t>
            </a:r>
            <a:r>
              <a:rPr b="1"/>
              <a:t>flag</a:t>
            </a:r>
            <a:r>
              <a:rPr/>
              <a:t> a value for a person to check</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Rule 1: distance in standard deviations, flag beyond k = 3</a:t>
            </a:r>
          </a:p>
        </p:txBody>
      </p:sp>
      <p:pic>
        <p:nvPicPr>
          <p:cNvPr descr="eq_fe122443eb.png" id="0" name="Picture 1"/>
          <p:cNvPicPr>
            <a:picLocks noGrp="1" noChangeAspect="1"/>
          </p:cNvPicPr>
          <p:nvPr/>
        </p:nvPicPr>
        <p:blipFill>
          <a:blip r:embed="rId3"/>
          <a:stretch>
            <a:fillRect/>
          </a:stretch>
        </p:blipFill>
        <p:spPr bwMode="auto">
          <a:xfrm>
            <a:off x="3149925" y="2297549"/>
            <a:ext cx="2844149" cy="109728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Rule 2: interquartile range (IQR)</a:t>
            </a:r>
          </a:p>
        </p:txBody>
      </p:sp>
      <p:pic>
        <p:nvPicPr>
          <p:cNvPr descr="eq_f508402a31.png" id="0" name="Picture 1"/>
          <p:cNvPicPr>
            <a:picLocks noGrp="1" noChangeAspect="1"/>
          </p:cNvPicPr>
          <p:nvPr/>
        </p:nvPicPr>
        <p:blipFill>
          <a:blip r:embed="rId3"/>
          <a:stretch>
            <a:fillRect/>
          </a:stretch>
        </p:blipFill>
        <p:spPr bwMode="auto">
          <a:xfrm>
            <a:off x="457200" y="2541389"/>
            <a:ext cx="8229600" cy="6096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Close fences, very different counts</a:t>
            </a:r>
          </a:p>
        </p:txBody>
      </p:sp>
      <p:pic>
        <p:nvPicPr>
          <p:cNvPr descr="outlier_fences.png" id="0" name="Picture 1"/>
          <p:cNvPicPr>
            <a:picLocks noGrp="1" noChangeAspect="1"/>
          </p:cNvPicPr>
          <p:nvPr/>
        </p:nvPicPr>
        <p:blipFill>
          <a:blip r:embed="rId3"/>
          <a:stretch>
            <a:fillRect/>
          </a:stretch>
        </p:blipFill>
        <p:spPr bwMode="auto">
          <a:xfrm>
            <a:off x="457200" y="1309489"/>
            <a:ext cx="8229600" cy="30734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Quartile rule: 12 false alarms</a:t>
            </a:r>
          </a:p>
        </p:txBody>
      </p:sp>
      <p:pic>
        <p:nvPicPr>
          <p:cNvPr descr="outlier_scatter.png" id="0" name="Picture 1"/>
          <p:cNvPicPr>
            <a:picLocks noGrp="1" noChangeAspect="1"/>
          </p:cNvPicPr>
          <p:nvPr/>
        </p:nvPicPr>
        <p:blipFill>
          <a:blip r:embed="rId3"/>
          <a:stretch>
            <a:fillRect/>
          </a:stretch>
        </p:blipFill>
        <p:spPr bwMode="auto">
          <a:xfrm>
            <a:off x="457200" y="1220589"/>
            <a:ext cx="8229600" cy="32512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neither rule can tell you</a:t>
            </a:r>
          </a:p>
        </p:txBody>
      </p:sp>
      <p:sp>
        <p:nvSpPr>
          <p:cNvPr id="3" name="Content Placeholder 2"/>
          <p:cNvSpPr>
            <a:spLocks noGrp="1"/>
          </p:cNvSpPr>
          <p:nvPr>
            <p:ph idx="1"/>
          </p:nvPr>
        </p:nvSpPr>
        <p:spPr>
          <a:xfrm>
            <a:off x="457200" y="1200151"/>
            <a:ext cx="8229600" cy="3394472"/>
          </a:xfrm>
        </p:spPr>
        <p:txBody>
          <a:bodyPr/>
          <a:lstStyle/>
          <a:p>
            <a:pPr lvl="0" indent="0" marL="0">
              <a:buNone/>
            </a:pPr>
            <a:r>
              <a:rPr>
                <a:latin typeface="Courier"/>
              </a:rPr>
              <a:t>tenure_months</a:t>
            </a:r>
            <a:r>
              <a:rPr/>
              <a:t> of </a:t>
            </a:r>
            <a:r>
              <a:rPr b="1"/>
              <a:t>-3</a:t>
            </a:r>
            <a:r>
              <a:rPr/>
              <a:t> is impossible. Neither rule flags it.</a:t>
            </a:r>
          </a:p>
          <a:p>
            <a:pPr lvl="0"/>
            <a:r>
              <a:rPr/>
              <a:t>-3 is not </a:t>
            </a:r>
            <a:r>
              <a:rPr i="1"/>
              <a:t>extreme</a:t>
            </a:r>
            <a:r>
              <a:rPr/>
              <a:t> relative to a column spanning 0–72</a:t>
            </a:r>
          </a:p>
          <a:p>
            <a:pPr lvl="0"/>
            <a:r>
              <a:rPr/>
              <a:t>It is not unusual, it is impossible: no tenure is negative. Checking validity needs a rule about the domain, not about the distribution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Once something is flagged</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The rules only find candidates. What to do with them is decided by someone who knows the </a:t>
            </a:r>
            <a:r>
              <a:rPr b="1"/>
              <a:t>domain</a:t>
            </a:r>
            <a:r>
              <a:rPr/>
              <a:t>.</a:t>
            </a:r>
          </a:p>
          <a:p>
            <a:pPr lvl="0"/>
            <a:r>
              <a:rPr b="1"/>
              <a:t>Cap</a:t>
            </a:r>
            <a:r>
              <a:rPr/>
              <a:t> it at the rule’s upper limit: 3,344.7 becomes 110.0 (</a:t>
            </a:r>
            <a:r>
              <a:rPr i="1"/>
              <a:t>winsorising</a:t>
            </a:r>
            <a:r>
              <a:rPr/>
              <a:t>)</a:t>
            </a:r>
          </a:p>
          <a:p>
            <a:pPr lvl="0"/>
            <a:r>
              <a:rPr b="1"/>
              <a:t>Remove</a:t>
            </a:r>
            <a:r>
              <a:rPr/>
              <a:t> the row</a:t>
            </a:r>
          </a:p>
          <a:p>
            <a:pPr lvl="0"/>
            <a:r>
              <a:rPr b="1"/>
              <a:t>Correct</a:t>
            </a:r>
            <a:r>
              <a:rPr/>
              <a:t> it, if the true value is recoverable</a:t>
            </a:r>
          </a:p>
          <a:p>
            <a:pPr lvl="0"/>
            <a:r>
              <a:rPr b="1"/>
              <a:t>Leave</a:t>
            </a:r>
            <a:r>
              <a:rPr/>
              <a:t> it: unusual is not the same as wrong</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(pandas, no model yet)</a:t>
                      </a:r>
                    </a:p>
                  </a:txBody>
                  <a:tcPr/>
                </a:tc>
              </a:tr>
              <a:tr h="0">
                <a:tc>
                  <a:txBody>
                    <a:bodyPr/>
                    <a:lstStyle/>
                    <a:p>
                      <a:pPr lvl="0" indent="0" marL="0">
                        <a:buNone/>
                      </a:pPr>
                      <a:r>
                        <a:rPr/>
                        <a:t>first look, 6</a:t>
                      </a:r>
                    </a:p>
                  </a:txBody>
                </a:tc>
                <a:tc>
                  <a:txBody>
                    <a:bodyPr/>
                    <a:lstStyle/>
                    <a:p>
                      <a:pPr lvl="0" indent="0" marL="0">
                        <a:buNone/>
                      </a:pPr>
                      <a:r>
                        <a:rPr>
                          <a:latin typeface="Courier"/>
                        </a:rPr>
                        <a:t>df.info()</a:t>
                      </a:r>
                      <a:r>
                        <a:rPr/>
                        <a:t>, </a:t>
                      </a:r>
                      <a:r>
                        <a:rPr>
                          <a:latin typeface="Courier"/>
                        </a:rPr>
                        <a:t>df.describe()</a:t>
                      </a:r>
                    </a:p>
                  </a:txBody>
                </a:tc>
              </a:tr>
              <a:tr h="0">
                <a:tc>
                  <a:txBody>
                    <a:bodyPr/>
                    <a:lstStyle/>
                    <a:p>
                      <a:pPr lvl="0" indent="0" marL="0">
                        <a:buNone/>
                      </a:pPr>
                      <a:r>
                        <a:rPr/>
                        <a:t>distributions, 7</a:t>
                      </a:r>
                    </a:p>
                  </a:txBody>
                </a:tc>
                <a:tc>
                  <a:txBody>
                    <a:bodyPr/>
                    <a:lstStyle/>
                    <a:p>
                      <a:pPr lvl="0" indent="0" marL="0">
                        <a:buNone/>
                      </a:pPr>
                      <a:r>
                        <a:rPr>
                          <a:latin typeface="Courier"/>
                        </a:rPr>
                        <a:t>df.hist()</a:t>
                      </a:r>
                    </a:p>
                  </a:txBody>
                </a:tc>
              </a:tr>
              <a:tr h="0">
                <a:tc>
                  <a:txBody>
                    <a:bodyPr/>
                    <a:lstStyle/>
                    <a:p>
                      <a:pPr lvl="0" indent="0" marL="0">
                        <a:buNone/>
                      </a:pPr>
                      <a:r>
                        <a:rPr/>
                        <a:t>missingness, 8-12</a:t>
                      </a:r>
                    </a:p>
                  </a:txBody>
                </a:tc>
                <a:tc>
                  <a:txBody>
                    <a:bodyPr/>
                    <a:lstStyle/>
                    <a:p>
                      <a:pPr lvl="0" indent="0" marL="0">
                        <a:buNone/>
                      </a:pPr>
                      <a:r>
                        <a:rPr>
                          <a:latin typeface="Courier"/>
                        </a:rPr>
                        <a:t>df.isna().mean()</a:t>
                      </a:r>
                      <a:r>
                        <a:rPr/>
                        <a:t>, and the mean before and after filling</a:t>
                      </a:r>
                    </a:p>
                  </a:txBody>
                </a:tc>
              </a:tr>
              <a:tr h="0">
                <a:tc>
                  <a:txBody>
                    <a:bodyPr/>
                    <a:lstStyle/>
                    <a:p>
                      <a:pPr lvl="0" indent="0" marL="0">
                        <a:buNone/>
                      </a:pPr>
                      <a:r>
                        <a:rPr/>
                        <a:t>outliers from scratch, 15-19</a:t>
                      </a:r>
                    </a:p>
                  </a:txBody>
                </a:tc>
                <a:tc>
                  <a:txBody>
                    <a:bodyPr/>
                    <a:lstStyle/>
                    <a:p>
                      <a:pPr lvl="0" indent="0" marL="0">
                        <a:buNone/>
                      </a:pPr>
                      <a:r>
                        <a:rPr>
                          <a:latin typeface="Courier"/>
                        </a:rPr>
                        <a:t>.mean()</a:t>
                      </a:r>
                      <a:r>
                        <a:rPr/>
                        <a:t> and </a:t>
                      </a:r>
                      <a:r>
                        <a:rPr>
                          <a:latin typeface="Courier"/>
                        </a:rPr>
                        <a:t>.std()</a:t>
                      </a:r>
                      <a:r>
                        <a:rPr/>
                        <a:t> for rule 1, </a:t>
                      </a:r>
                      <a:r>
                        <a:rPr>
                          <a:latin typeface="Courier"/>
                        </a:rPr>
                        <a:t>.quantile([0.25, 0.75])</a:t>
                      </a:r>
                      <a:r>
                        <a:rPr/>
                        <a:t> for rule 2</a:t>
                      </a:r>
                    </a:p>
                  </a:txBody>
                </a:tc>
              </a:tr>
              <a:tr h="0">
                <a:tc>
                  <a:txBody>
                    <a:bodyPr/>
                    <a:lstStyle/>
                    <a:p>
                      <a:pPr lvl="0" indent="0" marL="0">
                        <a:buNone/>
                      </a:pPr>
                      <a:r>
                        <a:rPr/>
                        <a:t>correlations, categories</a:t>
                      </a:r>
                    </a:p>
                  </a:txBody>
                </a:tc>
                <a:tc>
                  <a:txBody>
                    <a:bodyPr/>
                    <a:lstStyle/>
                    <a:p>
                      <a:pPr lvl="0" indent="0" marL="0">
                        <a:buNone/>
                      </a:pPr>
                      <a:r>
                        <a:rPr>
                          <a:latin typeface="Courier"/>
                        </a:rPr>
                        <a:t>df.corr()</a:t>
                      </a:r>
                      <a:r>
                        <a:rPr/>
                        <a:t>, </a:t>
                      </a:r>
                      <a:r>
                        <a:rPr>
                          <a:latin typeface="Courier"/>
                        </a:rPr>
                        <a:t>.value_counts()</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scale?</a:t>
            </a:r>
          </a:p>
        </p:txBody>
      </p:sp>
      <p:sp>
        <p:nvSpPr>
          <p:cNvPr id="3" name="Content Placeholder 2"/>
          <p:cNvSpPr>
            <a:spLocks noGrp="1"/>
          </p:cNvSpPr>
          <p:nvPr>
            <p:ph idx="1"/>
          </p:nvPr>
        </p:nvSpPr>
        <p:spPr>
          <a:xfrm>
            <a:off x="457200" y="1200151"/>
            <a:ext cx="8229600" cy="3394472"/>
          </a:xfrm>
        </p:spPr>
        <p:txBody>
          <a:bodyPr/>
          <a:lstStyle/>
          <a:p>
            <a:pPr lvl="0"/>
            <a:r>
              <a:rPr>
                <a:latin typeface="Courier"/>
              </a:rPr>
              <a:t>tenure_months</a:t>
            </a:r>
            <a:r>
              <a:rPr/>
              <a:t>: 0–72. </a:t>
            </a:r>
            <a:r>
              <a:rPr>
                <a:latin typeface="Courier"/>
              </a:rPr>
              <a:t>monthly_charges</a:t>
            </a:r>
            <a:r>
              <a:rPr/>
              <a:t>: 15–128</a:t>
            </a:r>
          </a:p>
          <a:p>
            <a:pPr lvl="0"/>
            <a:r>
              <a:rPr b="1"/>
              <a:t>Training</a:t>
            </a:r>
            <a:r>
              <a:rPr/>
              <a:t>: choose w₁, w₂ to minimise Lesson 1’s average loss, a paraboloid over (w₁, w₂). Lesson 1’s slide 20 drew it for one number, the threshold</a:t>
            </a:r>
          </a:p>
          <a:p>
            <a:pPr lvl="0"/>
            <a:r>
              <a:rPr b="1"/>
              <a:t>Gradient descent</a:t>
            </a:r>
            <a:r>
              <a:rPr/>
              <a:t> repeats w ← w − α∇R̂(w): a step downhill, its size set by the </a:t>
            </a:r>
            <a:r>
              <a:rPr b="1"/>
              <a:t>learning rate</a:t>
            </a:r>
            <a:r>
              <a:rPr/>
              <a:t> α, for every column. Can one α suit both?</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Unequal scales: a narrow valley</a:t>
            </a:r>
          </a:p>
        </p:txBody>
      </p:sp>
      <p:pic>
        <p:nvPicPr>
          <p:cNvPr descr="condition_number_geometry.png" id="0" name="Picture 1"/>
          <p:cNvPicPr>
            <a:picLocks noGrp="1" noChangeAspect="1"/>
          </p:cNvPicPr>
          <p:nvPr/>
        </p:nvPicPr>
        <p:blipFill>
          <a:blip r:embed="rId3"/>
          <a:stretch>
            <a:fillRect/>
          </a:stretch>
        </p:blipFill>
        <p:spPr bwMode="auto">
          <a:xfrm>
            <a:off x="1620830" y="1166099"/>
            <a:ext cx="5902340" cy="3360181"/>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100:1 variance ratio, and what it costs</a:t>
            </a:r>
          </a:p>
        </p:txBody>
      </p:sp>
      <p:pic>
        <p:nvPicPr>
          <p:cNvPr descr="gd_convergence_scaled_vs_unscaled.png" id="0" name="Picture 1"/>
          <p:cNvPicPr>
            <a:picLocks noGrp="1" noChangeAspect="1"/>
          </p:cNvPicPr>
          <p:nvPr/>
        </p:nvPicPr>
        <p:blipFill>
          <a:blip r:embed="rId3"/>
          <a:stretch>
            <a:fillRect/>
          </a:stretch>
        </p:blipFill>
        <p:spPr bwMode="auto">
          <a:xfrm>
            <a:off x="457200" y="1271389"/>
            <a:ext cx="8229600" cy="31496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StandardScaler vs MinMaxScaler</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(x − μ)/σ and (x − min)/(max − min), both fitted on training data only.</a:t>
            </a:r>
          </a:p>
        </p:txBody>
      </p:sp>
      <p:pic>
        <p:nvPicPr>
          <p:cNvPr descr="scaling_comparison.png" id="0" name="Picture 1"/>
          <p:cNvPicPr>
            <a:picLocks noGrp="1" noChangeAspect="1"/>
          </p:cNvPicPr>
          <p:nvPr/>
        </p:nvPicPr>
        <p:blipFill>
          <a:blip r:embed="rId3"/>
          <a:stretch>
            <a:fillRect/>
          </a:stretch>
        </p:blipFill>
        <p:spPr bwMode="auto">
          <a:xfrm>
            <a:off x="472276" y="2160270"/>
            <a:ext cx="8199448" cy="236601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Every encoding makes a claim about the categories</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A model needs numbers, and </a:t>
            </a:r>
            <a:r>
              <a:rPr>
                <a:latin typeface="Courier"/>
              </a:rPr>
              <a:t>"month-to-month"</a:t>
            </a:r>
            <a:r>
              <a:rPr/>
              <a:t> is text: encoding turns it into numbers.</a:t>
            </a:r>
          </a:p>
        </p:txBody>
      </p:sp>
      <p:graphicFrame>
        <p:nvGraphicFramePr>
          <p:cNvPr id="6" name="Content Placeholder 5"/>
          <p:cNvGraphicFramePr>
            <a:graphicFrameLocks noGrp="1"/>
          </p:cNvGraphicFramePr>
          <p:nvPr>
            <p:ph idx="1"/>
          </p:nvPr>
        </p:nvGraphicFramePr>
        <p:xfrm>
          <a:off x="457200" y="2160270"/>
          <a:ext cx="8229600" cy="43815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latin typeface="Courier"/>
                        </a:rPr>
                        <a:t>contract_type</a:t>
                      </a:r>
                    </a:p>
                  </a:txBody>
                  <a:tcPr/>
                </a:tc>
                <a:tc>
                  <a:txBody>
                    <a:bodyPr/>
                    <a:lstStyle/>
                    <a:p>
                      <a:pPr lvl="0" indent="0" marL="0">
                        <a:buNone/>
                      </a:pPr>
                      <a:r>
                        <a:rPr/>
                        <a:t>rows</a:t>
                      </a:r>
                    </a:p>
                  </a:txBody>
                  <a:tcPr/>
                </a:tc>
                <a:tc>
                  <a:txBody>
                    <a:bodyPr/>
                    <a:lstStyle/>
                    <a:p>
                      <a:pPr lvl="0" indent="0" marL="0">
                        <a:buNone/>
                      </a:pPr>
                      <a:r>
                        <a:rPr/>
                        <a:t>churn rate</a:t>
                      </a:r>
                    </a:p>
                  </a:txBody>
                  <a:tcPr/>
                </a:tc>
              </a:tr>
              <a:tr h="0">
                <a:tc>
                  <a:txBody>
                    <a:bodyPr/>
                    <a:lstStyle/>
                    <a:p>
                      <a:pPr lvl="0" indent="0" marL="0">
                        <a:buNone/>
                      </a:pPr>
                      <a:r>
                        <a:rPr>
                          <a:latin typeface="Courier"/>
                        </a:rPr>
                        <a:t>month-to-month</a:t>
                      </a:r>
                    </a:p>
                  </a:txBody>
                </a:tc>
                <a:tc>
                  <a:txBody>
                    <a:bodyPr/>
                    <a:lstStyle/>
                    <a:p>
                      <a:pPr lvl="0" indent="0" marL="0">
                        <a:buNone/>
                      </a:pPr>
                      <a:r>
                        <a:rPr/>
                        <a:t>1,092</a:t>
                      </a:r>
                    </a:p>
                  </a:txBody>
                </a:tc>
                <a:tc>
                  <a:txBody>
                    <a:bodyPr/>
                    <a:lstStyle/>
                    <a:p>
                      <a:pPr lvl="0" indent="0" marL="0">
                        <a:buNone/>
                      </a:pPr>
                      <a:r>
                        <a:rPr/>
                        <a:t>0.266</a:t>
                      </a:r>
                    </a:p>
                  </a:txBody>
                </a:tc>
              </a:tr>
              <a:tr h="0">
                <a:tc>
                  <a:txBody>
                    <a:bodyPr/>
                    <a:lstStyle/>
                    <a:p>
                      <a:pPr lvl="0" indent="0" marL="0">
                        <a:buNone/>
                      </a:pPr>
                      <a:r>
                        <a:rPr>
                          <a:latin typeface="Courier"/>
                        </a:rPr>
                        <a:t>one-year</a:t>
                      </a:r>
                    </a:p>
                  </a:txBody>
                </a:tc>
                <a:tc>
                  <a:txBody>
                    <a:bodyPr/>
                    <a:lstStyle/>
                    <a:p>
                      <a:pPr lvl="0" indent="0" marL="0">
                        <a:buNone/>
                      </a:pPr>
                      <a:r>
                        <a:rPr/>
                        <a:t>488</a:t>
                      </a:r>
                    </a:p>
                  </a:txBody>
                </a:tc>
                <a:tc>
                  <a:txBody>
                    <a:bodyPr/>
                    <a:lstStyle/>
                    <a:p>
                      <a:pPr lvl="0" indent="0" marL="0">
                        <a:buNone/>
                      </a:pPr>
                      <a:r>
                        <a:rPr/>
                        <a:t>0.137</a:t>
                      </a:r>
                    </a:p>
                  </a:txBody>
                </a:tc>
              </a:tr>
              <a:tr h="0">
                <a:tc>
                  <a:txBody>
                    <a:bodyPr/>
                    <a:lstStyle/>
                    <a:p>
                      <a:pPr lvl="0" indent="0" marL="0">
                        <a:buNone/>
                      </a:pPr>
                      <a:r>
                        <a:rPr>
                          <a:latin typeface="Courier"/>
                        </a:rPr>
                        <a:t>two-year</a:t>
                      </a:r>
                    </a:p>
                  </a:txBody>
                </a:tc>
                <a:tc>
                  <a:txBody>
                    <a:bodyPr/>
                    <a:lstStyle/>
                    <a:p>
                      <a:pPr lvl="0" indent="0" marL="0">
                        <a:buNone/>
                      </a:pPr>
                      <a:r>
                        <a:rPr/>
                        <a:t>420</a:t>
                      </a:r>
                    </a:p>
                  </a:txBody>
                </a:tc>
                <a:tc>
                  <a:txBody>
                    <a:bodyPr/>
                    <a:lstStyle/>
                    <a:p>
                      <a:pPr lvl="0" indent="0" marL="0">
                        <a:buNone/>
                      </a:pPr>
                      <a:r>
                        <a:rPr/>
                        <a:t>0.071</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customer, three encodings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Encoding</a:t>
                      </a:r>
                    </a:p>
                  </a:txBody>
                  <a:tcPr/>
                </a:tc>
                <a:tc>
                  <a:txBody>
                    <a:bodyPr/>
                    <a:lstStyle/>
                    <a:p>
                      <a:pPr lvl="0" indent="0" marL="0">
                        <a:buNone/>
                      </a:pPr>
                      <a:r>
                        <a:rPr/>
                        <a:t>A one-year customer becomes</a:t>
                      </a:r>
                    </a:p>
                  </a:txBody>
                  <a:tcPr/>
                </a:tc>
                <a:tc>
                  <a:txBody>
                    <a:bodyPr/>
                    <a:lstStyle/>
                    <a:p>
                      <a:pPr lvl="0" indent="0" marL="0">
                        <a:buNone/>
                      </a:pPr>
                      <a:r>
                        <a:rPr/>
                        <a:t>What that asserts</a:t>
                      </a:r>
                    </a:p>
                  </a:txBody>
                  <a:tcPr/>
                </a:tc>
              </a:tr>
              <a:tr h="0">
                <a:tc>
                  <a:txBody>
                    <a:bodyPr/>
                    <a:lstStyle/>
                    <a:p>
                      <a:pPr lvl="0" indent="0" marL="0">
                        <a:buNone/>
                      </a:pPr>
                      <a:r>
                        <a:rPr b="1"/>
                        <a:t>One-hot</a:t>
                      </a:r>
                    </a:p>
                  </a:txBody>
                </a:tc>
                <a:tc>
                  <a:txBody>
                    <a:bodyPr/>
                    <a:lstStyle/>
                    <a:p>
                      <a:pPr lvl="0" indent="0" marL="0">
                        <a:buNone/>
                      </a:pPr>
                      <a:r>
                        <a:rPr>
                          <a:latin typeface="Courier"/>
                        </a:rPr>
                        <a:t>[0, 1, 0]</a:t>
                      </a:r>
                    </a:p>
                  </a:txBody>
                </a:tc>
                <a:tc>
                  <a:txBody>
                    <a:bodyPr/>
                    <a:lstStyle/>
                    <a:p>
                      <a:pPr lvl="0" indent="0" marL="0">
                        <a:buNone/>
                      </a:pPr>
                      <a:r>
                        <a:rPr/>
                        <a:t>all different, none closer to another</a:t>
                      </a:r>
                    </a:p>
                  </a:txBody>
                </a:tc>
              </a:tr>
              <a:tr h="0">
                <a:tc>
                  <a:txBody>
                    <a:bodyPr/>
                    <a:lstStyle/>
                    <a:p>
                      <a:pPr lvl="0" indent="0" marL="0">
                        <a:buNone/>
                      </a:pPr>
                      <a:r>
                        <a:rPr b="1"/>
                        <a:t>Ordinal</a:t>
                      </a:r>
                    </a:p>
                  </a:txBody>
                </a:tc>
                <a:tc>
                  <a:txBody>
                    <a:bodyPr/>
                    <a:lstStyle/>
                    <a:p>
                      <a:pPr lvl="0" indent="0" marL="0">
                        <a:buNone/>
                      </a:pPr>
                      <a:r>
                        <a:rPr>
                          <a:latin typeface="Courier"/>
                        </a:rPr>
                        <a:t>1</a:t>
                      </a:r>
                    </a:p>
                  </a:txBody>
                </a:tc>
                <a:tc>
                  <a:txBody>
                    <a:bodyPr/>
                    <a:lstStyle/>
                    <a:p>
                      <a:pPr lvl="0" indent="0" marL="0">
                        <a:buNone/>
                      </a:pPr>
                      <a:r>
                        <a:rPr/>
                        <a:t>ordered, </a:t>
                      </a:r>
                      <a:r>
                        <a:rPr b="1"/>
                        <a:t>and</a:t>
                      </a:r>
                      <a:r>
                        <a:rPr/>
                        <a:t> equally spaced</a:t>
                      </a:r>
                    </a:p>
                  </a:txBody>
                </a:tc>
              </a:tr>
              <a:tr h="0">
                <a:tc>
                  <a:txBody>
                    <a:bodyPr/>
                    <a:lstStyle/>
                    <a:p>
                      <a:pPr lvl="0" indent="0" marL="0">
                        <a:buNone/>
                      </a:pPr>
                      <a:r>
                        <a:rPr b="1"/>
                        <a:t>Target</a:t>
                      </a:r>
                    </a:p>
                  </a:txBody>
                </a:tc>
                <a:tc>
                  <a:txBody>
                    <a:bodyPr/>
                    <a:lstStyle/>
                    <a:p>
                      <a:pPr lvl="0" indent="0" marL="0">
                        <a:buNone/>
                      </a:pPr>
                      <a:r>
                        <a:rPr>
                          <a:latin typeface="Courier"/>
                        </a:rPr>
                        <a:t>0.137</a:t>
                      </a:r>
                    </a:p>
                  </a:txBody>
                </a:tc>
                <a:tc>
                  <a:txBody>
                    <a:bodyPr/>
                    <a:lstStyle/>
                    <a:p>
                      <a:pPr lvl="0" indent="0" marL="0">
                        <a:buNone/>
                      </a:pPr>
                      <a:r>
                        <a:rPr/>
                        <a:t>replaced by the churn rate of its own category</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Ordinal: equal steps, unequal churn</a:t>
            </a:r>
          </a:p>
        </p:txBody>
      </p:sp>
      <p:pic>
        <p:nvPicPr>
          <p:cNvPr descr="encoding_comparison.png" id="0" name="Picture 1"/>
          <p:cNvPicPr>
            <a:picLocks noGrp="1" noChangeAspect="1"/>
          </p:cNvPicPr>
          <p:nvPr/>
        </p:nvPicPr>
        <p:blipFill>
          <a:blip r:embed="rId3"/>
          <a:stretch>
            <a:fillRect/>
          </a:stretch>
        </p:blipFill>
        <p:spPr bwMode="auto">
          <a:xfrm>
            <a:off x="457200" y="1601589"/>
            <a:ext cx="8229600" cy="24892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One-hot: no order assumed, but wide</a:t>
            </a:r>
          </a:p>
        </p:txBody>
      </p:sp>
      <p:sp>
        <p:nvSpPr>
          <p:cNvPr id="3" name="Content Placeholder 2"/>
          <p:cNvSpPr>
            <a:spLocks noGrp="1"/>
          </p:cNvSpPr>
          <p:nvPr>
            <p:ph idx="1"/>
          </p:nvPr>
        </p:nvSpPr>
        <p:spPr>
          <a:xfrm>
            <a:off x="457200" y="1200151"/>
            <a:ext cx="8229600" cy="3394472"/>
          </a:xfrm>
        </p:spPr>
        <p:txBody>
          <a:bodyPr/>
          <a:lstStyle/>
          <a:p>
            <a:pPr lvl="0"/>
            <a:r>
              <a:rPr/>
              <a:t>A column with k categories becomes k columns of 0s and 1s, a single 1 per row: </a:t>
            </a:r>
            <a:r>
              <a:rPr>
                <a:latin typeface="Courier"/>
              </a:rPr>
              <a:t>OneHotEncoder</a:t>
            </a:r>
          </a:p>
          <a:p>
            <a:pPr lvl="0"/>
            <a:r>
              <a:rPr/>
              <a:t>No order between categories, all equally far apart: that is why it is the default</a:t>
            </a:r>
          </a:p>
          <a:p>
            <a:pPr lvl="0"/>
            <a:r>
              <a:rPr/>
              <a:t>The price is width: </a:t>
            </a:r>
            <a:r>
              <a:rPr>
                <a:latin typeface="Courier"/>
              </a:rPr>
              <a:t>zip_code</a:t>
            </a:r>
            <a:r>
              <a:rPr/>
              <a:t> would add </a:t>
            </a:r>
            <a:r>
              <a:rPr b="1"/>
              <a:t>493</a:t>
            </a:r>
            <a:r>
              <a:rPr/>
              <a:t> columns to 2,000 rows</a:t>
            </a:r>
          </a:p>
          <a:p>
            <a:pPr lvl="0"/>
            <a:r>
              <a:rPr/>
              <a:t>Target encoding uses one column however many categories there are, but it is computed from the target - which is how leakage gets in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One one-hot column too many</a:t>
            </a:r>
          </a:p>
        </p:txBody>
      </p:sp>
      <p:sp>
        <p:nvSpPr>
          <p:cNvPr id="4" name="Text Placeholder 3"/>
          <p:cNvSpPr>
            <a:spLocks noGrp="1"/>
          </p:cNvSpPr>
          <p:nvPr>
            <p:ph idx="2" sz="half" type="body"/>
          </p:nvPr>
        </p:nvSpPr>
        <p:spPr>
          <a:xfrm>
            <a:off x="457200" y="1183005"/>
            <a:ext cx="8229600" cy="1311592"/>
          </a:xfrm>
        </p:spPr>
        <p:txBody>
          <a:bodyPr/>
          <a:lstStyle/>
          <a:p>
            <a:pPr lvl="0" indent="0" marL="0">
              <a:buNone/>
            </a:pPr>
            <a:r>
              <a:rPr/>
              <a:t>Most models include a constant column of ones, the </a:t>
            </a:r>
            <a:r>
              <a:rPr b="1"/>
              <a:t>intercept</a:t>
            </a:r>
            <a:r>
              <a:rPr/>
              <a:t>. The k one-hot columns (</a:t>
            </a:r>
            <a:r>
              <a:rPr i="1"/>
              <a:t>dummies</a:t>
            </a:r>
            <a:r>
              <a:rPr/>
              <a:t>) also always add up to 1:</a:t>
            </a:r>
          </a:p>
        </p:txBody>
      </p:sp>
      <p:pic>
        <p:nvPicPr>
          <p:cNvPr descr="eq_3723e214d0.png" id="0" name="Picture 1"/>
          <p:cNvPicPr>
            <a:picLocks noGrp="1" noChangeAspect="1"/>
          </p:cNvPicPr>
          <p:nvPr/>
        </p:nvPicPr>
        <p:blipFill>
          <a:blip r:embed="rId3"/>
          <a:stretch>
            <a:fillRect/>
          </a:stretch>
        </p:blipFill>
        <p:spPr bwMode="auto">
          <a:xfrm>
            <a:off x="457200" y="2620178"/>
            <a:ext cx="8229599" cy="1883391"/>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4 columns, but only rank 3</a:t>
            </a:r>
          </a:p>
        </p:txBody>
      </p:sp>
      <p:pic>
        <p:nvPicPr>
          <p:cNvPr descr="dummy_variable_trap.png" id="0" name="Picture 1"/>
          <p:cNvPicPr>
            <a:picLocks noGrp="1" noChangeAspect="1"/>
          </p:cNvPicPr>
          <p:nvPr/>
        </p:nvPicPr>
        <p:blipFill>
          <a:blip r:embed="rId3"/>
          <a:stretch>
            <a:fillRect/>
          </a:stretch>
        </p:blipFill>
        <p:spPr bwMode="auto">
          <a:xfrm>
            <a:off x="651789" y="1166099"/>
            <a:ext cx="7840422" cy="3360181"/>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curse of dimensionality, briefly</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One-hot </a:t>
            </a:r>
            <a:r>
              <a:rPr>
                <a:latin typeface="Courier"/>
              </a:rPr>
              <a:t>zip_code</a:t>
            </a:r>
            <a:r>
              <a:rPr/>
              <a:t>: </a:t>
            </a:r>
            <a:r>
              <a:rPr b="1"/>
              <a:t>493</a:t>
            </a:r>
            <a:r>
              <a:rPr/>
              <a:t> new columns, mostly zero.</a:t>
            </a:r>
          </a:p>
          <a:p>
            <a:pPr lvl="0"/>
            <a:r>
              <a:rPr/>
              <a:t>Methods based on distances (Lesson 6): all points end up roughly equally far apart</a:t>
            </a:r>
          </a:p>
          <a:p>
            <a:pPr lvl="0"/>
            <a:r>
              <a:rPr/>
              <a:t>More coefficients to estimate from the same 2,000 rows: noisier estimates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zip_code: 493 codes, 2,000 customers</a:t>
            </a:r>
          </a:p>
        </p:txBody>
      </p:sp>
      <p:pic>
        <p:nvPicPr>
          <p:cNvPr descr="onehot_width.png" id="0" name="Picture 1"/>
          <p:cNvPicPr>
            <a:picLocks noGrp="1" noChangeAspect="1"/>
          </p:cNvPicPr>
          <p:nvPr/>
        </p:nvPicPr>
        <p:blipFill>
          <a:blip r:embed="rId3"/>
          <a:stretch>
            <a:fillRect/>
          </a:stretch>
        </p:blipFill>
        <p:spPr bwMode="auto">
          <a:xfrm>
            <a:off x="457200" y="1499989"/>
            <a:ext cx="8229600" cy="26924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Preprocessing is part of f</a:t>
            </a:r>
          </a:p>
        </p:txBody>
      </p:sp>
      <p:sp>
        <p:nvSpPr>
          <p:cNvPr id="4" name="Text Placeholder 3"/>
          <p:cNvSpPr>
            <a:spLocks noGrp="1"/>
          </p:cNvSpPr>
          <p:nvPr>
            <p:ph idx="2" sz="half" type="body"/>
          </p:nvPr>
        </p:nvSpPr>
        <p:spPr>
          <a:xfrm>
            <a:off x="457200" y="1183005"/>
            <a:ext cx="8229600" cy="1311592"/>
          </a:xfrm>
        </p:spPr>
        <p:txBody>
          <a:bodyPr/>
          <a:lstStyle/>
          <a:p>
            <a:pPr lvl="0" indent="0" marL="0">
              <a:buNone/>
            </a:pPr>
            <a:r>
              <a:rPr/>
              <a:t>f is the whole pipeline: </a:t>
            </a:r>
            <a:r>
              <a:rPr b="1"/>
              <a:t>every</a:t>
            </a:r>
            <a:r>
              <a:rPr/>
              <a:t> number learned from data - the scaler’s means, the imputer’s fill values - not only the model’s coefficients.</a:t>
            </a:r>
          </a:p>
        </p:txBody>
      </p:sp>
      <p:pic>
        <p:nvPicPr>
          <p:cNvPr descr="eq_3460d29d6f.png" id="0" name="Picture 1"/>
          <p:cNvPicPr>
            <a:picLocks noGrp="1" noChangeAspect="1"/>
          </p:cNvPicPr>
          <p:nvPr/>
        </p:nvPicPr>
        <p:blipFill>
          <a:blip r:embed="rId3"/>
          <a:stretch>
            <a:fillRect/>
          </a:stretch>
        </p:blipFill>
        <p:spPr bwMode="auto">
          <a:xfrm>
            <a:off x="1296590" y="3048563"/>
            <a:ext cx="6550819" cy="1026621"/>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latin typeface="Courier"/>
              </a:rPr>
              <a:t>ColumnTransformer</a:t>
            </a:r>
            <a:r>
              <a:rPr/>
              <a:t> + </a:t>
            </a:r>
            <a:r>
              <a:rPr>
                <a:latin typeface="Courier"/>
              </a:rPr>
              <a:t>Pipeline</a:t>
            </a:r>
          </a:p>
        </p:txBody>
      </p:sp>
      <p:pic>
        <p:nvPicPr>
          <p:cNvPr descr="pipeline_architecture.png" id="0" name="Picture 1"/>
          <p:cNvPicPr>
            <a:picLocks noGrp="1" noChangeAspect="1"/>
          </p:cNvPicPr>
          <p:nvPr/>
        </p:nvPicPr>
        <p:blipFill>
          <a:blip r:embed="rId3"/>
          <a:stretch>
            <a:fillRect/>
          </a:stretch>
        </p:blipFill>
        <p:spPr bwMode="auto">
          <a:xfrm>
            <a:off x="457200" y="1303139"/>
            <a:ext cx="8229600" cy="30861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code</a:t>
            </a:r>
          </a:p>
        </p:txBody>
      </p:sp>
      <p:sp>
        <p:nvSpPr>
          <p:cNvPr id="3" name="Content Placeholder 2"/>
          <p:cNvSpPr>
            <a:spLocks noGrp="1"/>
          </p:cNvSpPr>
          <p:nvPr>
            <p:ph idx="1"/>
          </p:nvPr>
        </p:nvSpPr>
        <p:spPr>
          <a:xfrm>
            <a:off x="457200" y="1200151"/>
            <a:ext cx="8229600" cy="3394472"/>
          </a:xfrm>
        </p:spPr>
        <p:txBody>
          <a:bodyPr/>
          <a:lstStyle/>
          <a:p>
            <a:pPr lvl="0" indent="0">
              <a:buNone/>
            </a:pPr>
            <a:r>
              <a:rPr>
                <a:latin typeface="Courier"/>
              </a:rPr>
              <a:t>prep </a:t>
            </a:r>
            <a:r>
              <a:rPr>
                <a:solidFill>
                  <a:srgbClr val="666666"/>
                </a:solidFill>
                <a:latin typeface="Courier"/>
              </a:rPr>
              <a:t>=</a:t>
            </a:r>
            <a:r>
              <a:rPr>
                <a:latin typeface="Courier"/>
              </a:rPr>
              <a:t> ColumnTransformer([</a:t>
            </a:r>
            <a:br/>
            <a:r>
              <a:rPr>
                <a:latin typeface="Courier"/>
              </a:rPr>
              <a:t>    (</a:t>
            </a:r>
            <a:r>
              <a:rPr>
                <a:solidFill>
                  <a:srgbClr val="4070A0"/>
                </a:solidFill>
                <a:latin typeface="Courier"/>
              </a:rPr>
              <a:t>"num"</a:t>
            </a:r>
            <a:r>
              <a:rPr>
                <a:latin typeface="Courier"/>
              </a:rPr>
              <a:t>, num_pipe, num_cols),</a:t>
            </a:r>
            <a:br/>
            <a:r>
              <a:rPr>
                <a:latin typeface="Courier"/>
              </a:rPr>
              <a:t>    (</a:t>
            </a:r>
            <a:r>
              <a:rPr>
                <a:solidFill>
                  <a:srgbClr val="4070A0"/>
                </a:solidFill>
                <a:latin typeface="Courier"/>
              </a:rPr>
              <a:t>"cat"</a:t>
            </a:r>
            <a:r>
              <a:rPr>
                <a:latin typeface="Courier"/>
              </a:rPr>
              <a:t>, cat_pipe, cat_cols),</a:t>
            </a:r>
            <a:br/>
            <a:r>
              <a:rPr>
                <a:latin typeface="Courier"/>
              </a:rPr>
              <a:t>])</a:t>
            </a:r>
            <a:br/>
            <a:r>
              <a:rPr>
                <a:latin typeface="Courier"/>
              </a:rPr>
              <a:t>model </a:t>
            </a:r>
            <a:r>
              <a:rPr>
                <a:solidFill>
                  <a:srgbClr val="666666"/>
                </a:solidFill>
                <a:latin typeface="Courier"/>
              </a:rPr>
              <a:t>=</a:t>
            </a:r>
            <a:r>
              <a:rPr>
                <a:latin typeface="Courier"/>
              </a:rPr>
              <a:t> Pipeline([</a:t>
            </a:r>
            <a:br/>
            <a:r>
              <a:rPr>
                <a:latin typeface="Courier"/>
              </a:rPr>
              <a:t>    (</a:t>
            </a:r>
            <a:r>
              <a:rPr>
                <a:solidFill>
                  <a:srgbClr val="4070A0"/>
                </a:solidFill>
                <a:latin typeface="Courier"/>
              </a:rPr>
              <a:t>"prep"</a:t>
            </a:r>
            <a:r>
              <a:rPr>
                <a:latin typeface="Courier"/>
              </a:rPr>
              <a:t>, prep),</a:t>
            </a:r>
            <a:br/>
            <a:r>
              <a:rPr>
                <a:latin typeface="Courier"/>
              </a:rPr>
              <a:t>    (</a:t>
            </a:r>
            <a:r>
              <a:rPr>
                <a:solidFill>
                  <a:srgbClr val="4070A0"/>
                </a:solidFill>
                <a:latin typeface="Courier"/>
              </a:rPr>
              <a:t>"clf"</a:t>
            </a:r>
            <a:r>
              <a:rPr>
                <a:latin typeface="Courier"/>
              </a:rPr>
              <a:t>, clf),</a:t>
            </a:r>
            <a:br/>
            <a:r>
              <a:rPr>
                <a:latin typeface="Courier"/>
              </a:rPr>
              <a:t>])</a:t>
            </a:r>
            <a:br/>
            <a:r>
              <a:rPr>
                <a:latin typeface="Courier"/>
              </a:rPr>
              <a:t>model.fit(X_train, y_train)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model, on churn</a:t>
            </a:r>
          </a:p>
        </p:txBody>
      </p:sp>
      <p:sp>
        <p:nvSpPr>
          <p:cNvPr id="3" name="Content Placeholder 2"/>
          <p:cNvSpPr>
            <a:spLocks noGrp="1"/>
          </p:cNvSpPr>
          <p:nvPr>
            <p:ph idx="1"/>
          </p:nvPr>
        </p:nvSpPr>
        <p:spPr>
          <a:xfrm>
            <a:off x="457200" y="1200151"/>
            <a:ext cx="8229600" cy="3394472"/>
          </a:xfrm>
        </p:spPr>
        <p:txBody>
          <a:bodyPr/>
          <a:lstStyle/>
          <a:p>
            <a:pPr lvl="0"/>
            <a:r>
              <a:rPr/>
              <a:t>Accuracy: baseline </a:t>
            </a:r>
            <a:r>
              <a:rPr b="1"/>
              <a:t>0.806</a:t>
            </a:r>
            <a:r>
              <a:rPr/>
              <a:t>, model </a:t>
            </a:r>
            <a:r>
              <a:rPr b="1"/>
              <a:t>0.820</a:t>
            </a:r>
            <a:r>
              <a:rPr/>
              <a:t> (numeric + low-cardinality categoricals, no zip)</a:t>
            </a:r>
          </a:p>
          <a:p>
            <a:pPr lvl="0"/>
            <a:r>
              <a:rPr/>
              <a:t>Area under the receiver operating characteristic curve (AUC): </a:t>
            </a:r>
            <a:r>
              <a:rPr b="1"/>
              <a:t>0.751</a:t>
            </a:r>
            <a:r>
              <a:rPr/>
              <a:t>, the chance a random churner scores above a random non-churner; 0.5 is a coin flip</a:t>
            </a:r>
          </a:p>
          <a:p>
            <a:pPr lvl="0"/>
            <a:r>
              <a:rPr/>
              <a:t>In code: </a:t>
            </a:r>
            <a:r>
              <a:rPr>
                <a:latin typeface="Courier"/>
              </a:rPr>
              <a:t>LogisticRegression</a:t>
            </a:r>
            <a:r>
              <a:rPr/>
              <a:t> against </a:t>
            </a:r>
            <a:r>
              <a:rPr>
                <a:latin typeface="Courier"/>
              </a:rPr>
              <a:t>DummyClassifier</a:t>
            </a:r>
            <a:r>
              <a:rPr/>
              <a:t>, </a:t>
            </a:r>
            <a:r>
              <a:rPr>
                <a:latin typeface="Courier"/>
              </a:rPr>
              <a:t>roc_auc_score</a:t>
            </a:r>
          </a:p>
          <a:p>
            <a:pPr lvl="0" indent="0" marL="0">
              <a:buNone/>
            </a:pPr>
            <a:r>
              <a:rPr/>
              <a:t>Accuracy barely beats the baseline. Why?</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Where the errors fall</a:t>
            </a:r>
          </a:p>
        </p:txBody>
      </p:sp>
      <p:pic>
        <p:nvPicPr>
          <p:cNvPr descr="churn_confusion_matrix.png" id="0" name="Picture 1"/>
          <p:cNvPicPr>
            <a:picLocks noGrp="1" noChangeAspect="1"/>
          </p:cNvPicPr>
          <p:nvPr/>
        </p:nvPicPr>
        <p:blipFill>
          <a:blip r:embed="rId3"/>
          <a:stretch>
            <a:fillRect/>
          </a:stretch>
        </p:blipFill>
        <p:spPr bwMode="auto">
          <a:xfrm>
            <a:off x="2797522" y="1166099"/>
            <a:ext cx="3548955" cy="3360181"/>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Feature engineering</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New columns built from existing ones, which a linear model cannot build itself.</a:t>
            </a:r>
          </a:p>
          <a:p>
            <a:pPr lvl="0" indent="0" marL="0">
              <a:buNone/>
            </a:pPr>
            <a:r>
              <a:rPr>
                <a:latin typeface="Courier"/>
              </a:rPr>
              <a:t>total_paid</a:t>
            </a:r>
            <a:r>
              <a:rPr/>
              <a:t> = charge × months stayed: AUC 0.7514 → 0.7548. Fix the 999s in </a:t>
            </a:r>
            <a:r>
              <a:rPr>
                <a:latin typeface="Courier"/>
              </a:rPr>
              <a:t>tenure_months</a:t>
            </a:r>
            <a:r>
              <a:rPr/>
              <a:t> first and it scores </a:t>
            </a:r>
            <a:r>
              <a:rPr b="1"/>
              <a:t>0.7439</a:t>
            </a:r>
            <a:r>
              <a:rPr/>
              <a:t>: the gain came from the errors.</a:t>
            </a:r>
          </a:p>
          <a:p>
            <a:pPr lvl="0" indent="0" marL="0">
              <a:buNone/>
            </a:pPr>
            <a:r>
              <a:rPr/>
              <a:t>In code: </a:t>
            </a:r>
            <a:r>
              <a:rPr>
                <a:latin typeface="Courier"/>
              </a:rPr>
              <a:t>FunctionTransformer(add_total_paid)</a:t>
            </a:r>
            <a:r>
              <a:rPr/>
              <a:t>, inside the pipeline</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why scale, 24-27</a:t>
                      </a:r>
                    </a:p>
                  </a:txBody>
                </a:tc>
                <a:tc>
                  <a:txBody>
                    <a:bodyPr/>
                    <a:lstStyle/>
                    <a:p>
                      <a:pPr lvl="0" indent="0" marL="0">
                        <a:buNone/>
                      </a:pPr>
                      <a:r>
                        <a:rPr/>
                        <a:t>gradient descent by hand → ratio </a:t>
                      </a:r>
                      <a:r>
                        <a:rPr b="1"/>
                        <a:t>110:1</a:t>
                      </a:r>
                      <a:r>
                        <a:rPr/>
                        <a:t> (built as 100:1); rate </a:t>
                      </a:r>
                      <a:r>
                        <a:rPr b="1"/>
                        <a:t>2.0</a:t>
                      </a:r>
                      <a:r>
                        <a:rPr/>
                        <a:t> scaled, </a:t>
                      </a:r>
                      <a:r>
                        <a:rPr b="1"/>
                        <a:t>0.1</a:t>
                      </a:r>
                      <a:r>
                        <a:rPr/>
                        <a:t> raw; raw at 2.0 swings </a:t>
                      </a:r>
                      <a:r>
                        <a:rPr b="1"/>
                        <a:t>0.69 to 8.29</a:t>
                      </a:r>
                    </a:p>
                  </a:txBody>
                </a:tc>
              </a:tr>
              <a:tr h="0">
                <a:tc>
                  <a:txBody>
                    <a:bodyPr/>
                    <a:lstStyle/>
                    <a:p>
                      <a:pPr lvl="0" indent="0" marL="0">
                        <a:buNone/>
                      </a:pPr>
                      <a:r>
                        <a:rPr/>
                        <a:t>encoding, 28-33</a:t>
                      </a:r>
                    </a:p>
                  </a:txBody>
                </a:tc>
                <a:tc>
                  <a:txBody>
                    <a:bodyPr/>
                    <a:lstStyle/>
                    <a:p>
                      <a:pPr lvl="0" indent="0" marL="0">
                        <a:buNone/>
                      </a:pPr>
                      <a:r>
                        <a:rPr>
                          <a:latin typeface="Courier"/>
                        </a:rPr>
                        <a:t>pd.get_dummies</a:t>
                      </a:r>
                      <a:r>
                        <a:rPr/>
                        <a:t>, </a:t>
                      </a:r>
                      <a:r>
                        <a:rPr>
                          <a:latin typeface="Courier"/>
                        </a:rPr>
                        <a:t>np.linalg.matrix_rank</a:t>
                      </a:r>
                      <a:r>
                        <a:rPr/>
                        <a:t> → </a:t>
                      </a:r>
                      <a:r>
                        <a:rPr b="1"/>
                        <a:t>4 columns, rank 3</a:t>
                      </a:r>
                    </a:p>
                  </a:txBody>
                </a:tc>
              </a:tr>
              <a:tr h="0">
                <a:tc>
                  <a:txBody>
                    <a:bodyPr/>
                    <a:lstStyle/>
                    <a:p>
                      <a:pPr lvl="0" indent="0" marL="0">
                        <a:buNone/>
                      </a:pPr>
                      <a:r>
                        <a:rPr/>
                        <a:t>the pipeline, 36-38</a:t>
                      </a:r>
                    </a:p>
                  </a:txBody>
                </a:tc>
                <a:tc>
                  <a:txBody>
                    <a:bodyPr/>
                    <a:lstStyle/>
                    <a:p>
                      <a:pPr lvl="0" indent="0" marL="0">
                        <a:buNone/>
                      </a:pPr>
                      <a:r>
                        <a:rPr>
                          <a:latin typeface="Courier"/>
                        </a:rPr>
                        <a:t>train_test_split</a:t>
                      </a:r>
                      <a:r>
                        <a:rPr/>
                        <a:t>, then </a:t>
                      </a:r>
                      <a:r>
                        <a:rPr>
                          <a:latin typeface="Courier"/>
                        </a:rPr>
                        <a:t>ColumnTransformer</a:t>
                      </a:r>
                      <a:r>
                        <a:rPr/>
                        <a:t> + </a:t>
                      </a:r>
                      <a:r>
                        <a:rPr>
                          <a:latin typeface="Courier"/>
                        </a:rPr>
                        <a:t>Pipeline</a:t>
                      </a:r>
                      <a:r>
                        <a:rPr/>
                        <a:t>: </a:t>
                      </a:r>
                      <a:r>
                        <a:rPr>
                          <a:latin typeface="Courier"/>
                        </a:rPr>
                        <a:t>SimpleImputer</a:t>
                      </a:r>
                      <a:r>
                        <a:rPr/>
                        <a:t>, </a:t>
                      </a:r>
                      <a:r>
                        <a:rPr>
                          <a:latin typeface="Courier"/>
                        </a:rPr>
                        <a:t>StandardScaler</a:t>
                      </a:r>
                      <a:r>
                        <a:rPr/>
                        <a:t>, </a:t>
                      </a:r>
                      <a:r>
                        <a:rPr>
                          <a:latin typeface="Courier"/>
                        </a:rPr>
                        <a:t>OneHotEncoder</a:t>
                      </a:r>
                      <a:r>
                        <a:rPr/>
                        <a:t>, </a:t>
                      </a:r>
                      <a:r>
                        <a:rPr>
                          <a:latin typeface="Courier"/>
                        </a:rPr>
                        <a:t>LogisticRegression</a:t>
                      </a:r>
                    </a:p>
                  </a:txBody>
                </a:tc>
              </a:tr>
              <a:tr h="0">
                <a:tc>
                  <a:txBody>
                    <a:bodyPr/>
                    <a:lstStyle/>
                    <a:p>
                      <a:pPr lvl="0" indent="0" marL="0">
                        <a:buNone/>
                      </a:pPr>
                      <a:r>
                        <a:rPr/>
                        <a:t>the result, 39-40</a:t>
                      </a:r>
                    </a:p>
                  </a:txBody>
                </a:tc>
                <a:tc>
                  <a:txBody>
                    <a:bodyPr/>
                    <a:lstStyle/>
                    <a:p>
                      <a:pPr lvl="0" indent="0" marL="0">
                        <a:buNone/>
                      </a:pPr>
                      <a:r>
                        <a:rPr>
                          <a:latin typeface="Courier"/>
                        </a:rPr>
                        <a:t>DummyClassifier</a:t>
                      </a:r>
                      <a:r>
                        <a:rPr/>
                        <a:t>, </a:t>
                      </a:r>
                      <a:r>
                        <a:rPr>
                          <a:latin typeface="Courier"/>
                        </a:rPr>
                        <a:t>accuracy_score</a:t>
                      </a:r>
                      <a:r>
                        <a:rPr/>
                        <a:t>, </a:t>
                      </a:r>
                      <a:r>
                        <a:rPr>
                          <a:latin typeface="Courier"/>
                        </a:rPr>
                        <a:t>roc_auc_score</a:t>
                      </a:r>
                      <a:r>
                        <a:rPr/>
                        <a:t>, </a:t>
                      </a:r>
                      <a:r>
                        <a:rPr>
                          <a:latin typeface="Courier"/>
                        </a:rPr>
                        <a:t>ConfusionMatrixDisplay</a:t>
                      </a:r>
                    </a:p>
                  </a:txBody>
                </a:tc>
              </a:tr>
              <a:tr h="0">
                <a:tc>
                  <a:txBody>
                    <a:bodyPr/>
                    <a:lstStyle/>
                    <a:p>
                      <a:pPr lvl="0" indent="0" marL="0">
                        <a:buNone/>
                      </a:pPr>
                      <a:r>
                        <a:rPr/>
                        <a:t>feature engineering, 41</a:t>
                      </a:r>
                    </a:p>
                  </a:txBody>
                </a:tc>
                <a:tc>
                  <a:txBody>
                    <a:bodyPr/>
                    <a:lstStyle/>
                    <a:p>
                      <a:pPr lvl="0" indent="0" marL="0">
                        <a:buNone/>
                      </a:pPr>
                      <a:r>
                        <a:rPr>
                          <a:latin typeface="Courier"/>
                        </a:rPr>
                        <a:t>FunctionTransformer</a:t>
                      </a:r>
                      <a:r>
                        <a:rPr/>
                        <a:t> → </a:t>
                      </a:r>
                      <a:r>
                        <a:rPr b="1"/>
                        <a:t>0.7514 → 0.7548 → 0.7439</a:t>
                      </a:r>
                    </a:p>
                  </a:txBody>
                </a:tc>
              </a:tr>
            </a:tbl>
          </a:graphicData>
        </a:graphic>
      </p:graphicFrame>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Same rule, broken three ways</a:t>
            </a:r>
          </a:p>
        </p:txBody>
      </p:sp>
      <p:pic>
        <p:nvPicPr>
          <p:cNvPr descr="invisible_leaks.png" id="0" name="Picture 1"/>
          <p:cNvPicPr>
            <a:picLocks noGrp="1" noChangeAspect="1"/>
          </p:cNvPicPr>
          <p:nvPr/>
        </p:nvPicPr>
        <p:blipFill>
          <a:blip r:embed="rId3"/>
          <a:stretch>
            <a:fillRect/>
          </a:stretch>
        </p:blipFill>
        <p:spPr bwMode="auto">
          <a:xfrm>
            <a:off x="632911" y="1166099"/>
            <a:ext cx="7878177" cy="3360181"/>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Leak 1: impute before splitting</a:t>
            </a:r>
          </a:p>
        </p:txBody>
      </p:sp>
      <p:sp>
        <p:nvSpPr>
          <p:cNvPr id="3" name="Content Placeholder 2"/>
          <p:cNvSpPr>
            <a:spLocks noGrp="1"/>
          </p:cNvSpPr>
          <p:nvPr>
            <p:ph idx="1"/>
          </p:nvPr>
        </p:nvSpPr>
        <p:spPr>
          <a:xfrm>
            <a:off x="457200" y="1200151"/>
            <a:ext cx="8229600" cy="3394472"/>
          </a:xfrm>
        </p:spPr>
        <p:txBody>
          <a:bodyPr/>
          <a:lstStyle/>
          <a:p>
            <a:pPr lvl="0" indent="0" marL="0">
              <a:buNone/>
            </a:pPr>
            <a:r>
              <a:rPr>
                <a:latin typeface="Courier"/>
              </a:rPr>
              <a:t>KNNImputer</a:t>
            </a:r>
            <a:r>
              <a:rPr/>
              <a:t> fills a gap with the average of the five most similar rows: its </a:t>
            </a:r>
            <a:r>
              <a:rPr b="1"/>
              <a:t>donors</a:t>
            </a:r>
            <a:r>
              <a:rPr/>
              <a:t>.</a:t>
            </a:r>
          </a:p>
          <a:p>
            <a:pPr lvl="0" indent="0" marL="0">
              <a:buNone/>
            </a:pPr>
            <a:r>
              <a:rPr/>
              <a:t>Fit it on training and test rows together, and some donors are test rows: test information enters the training data.</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smoking gun</a:t>
            </a:r>
          </a:p>
        </p:txBody>
      </p:sp>
      <p:sp>
        <p:nvSpPr>
          <p:cNvPr id="3" name="Content Placeholder 2"/>
          <p:cNvSpPr>
            <a:spLocks noGrp="1"/>
          </p:cNvSpPr>
          <p:nvPr>
            <p:ph idx="1"/>
          </p:nvPr>
        </p:nvSpPr>
        <p:spPr>
          <a:xfrm>
            <a:off x="457200" y="1200151"/>
            <a:ext cx="8229600" cy="3394472"/>
          </a:xfrm>
        </p:spPr>
        <p:txBody>
          <a:bodyPr/>
          <a:lstStyle/>
          <a:p>
            <a:pPr lvl="0" indent="0" marL="0">
              <a:buNone/>
            </a:pPr>
            <a:r>
              <a:rPr b="1"/>
              <a:t>94 of 128</a:t>
            </a:r>
            <a:r>
              <a:rPr/>
              <a:t> training rows with missing age had a </a:t>
            </a:r>
            <a:r>
              <a:rPr b="1"/>
              <a:t>test-set row</a:t>
            </a:r>
            <a:r>
              <a:rPr/>
              <a:t> among the five donors used to fill it.</a:t>
            </a:r>
          </a:p>
          <a:p>
            <a:pPr lvl="0" indent="0" marL="0">
              <a:buNone/>
            </a:pPr>
            <a:r>
              <a:rPr/>
              <a:t>In code: </a:t>
            </a:r>
            <a:r>
              <a:rPr>
                <a:latin typeface="Courier"/>
              </a:rPr>
              <a:t>nan_euclidean_distances</a:t>
            </a:r>
            <a:r>
              <a:rPr/>
              <a:t>, the distance the imputer itself uses, finds the donors.</a:t>
            </a:r>
          </a:p>
          <a:p>
            <a:pPr lvl="0" indent="0" marL="0">
              <a:buNone/>
            </a:pPr>
            <a:r>
              <a:rPr/>
              <a:t>Nothing raised an error.</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Leakage, counted</a:t>
            </a:r>
          </a:p>
        </p:txBody>
      </p:sp>
      <p:pic>
        <p:nvPicPr>
          <p:cNvPr descr="smoking_gun.png" id="0" name="Picture 1"/>
          <p:cNvPicPr>
            <a:picLocks noGrp="1" noChangeAspect="1"/>
          </p:cNvPicPr>
          <p:nvPr/>
        </p:nvPicPr>
        <p:blipFill>
          <a:blip r:embed="rId3"/>
          <a:stretch>
            <a:fillRect/>
          </a:stretch>
        </p:blipFill>
        <p:spPr bwMode="auto">
          <a:xfrm>
            <a:off x="457201" y="1176140"/>
            <a:ext cx="8229597" cy="3340099"/>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Leak 2: encode before splitting</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Replace </a:t>
            </a:r>
            <a:r>
              <a:rPr>
                <a:latin typeface="Courier"/>
              </a:rPr>
              <a:t>zip_code</a:t>
            </a:r>
            <a:r>
              <a:rPr/>
              <a:t> with the </a:t>
            </a:r>
            <a:r>
              <a:rPr b="1"/>
              <a:t>average churn rate of its own customers</a:t>
            </a:r>
            <a:r>
              <a:rPr/>
              <a:t>, computed on all 2,000 customers, before the split.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column with no real signal, encoded three ways</a:t>
            </a:r>
          </a:p>
        </p:txBody>
      </p:sp>
      <p:pic>
        <p:nvPicPr>
          <p:cNvPr descr="target_encoding_leak.png" id="0" name="Picture 1"/>
          <p:cNvPicPr>
            <a:picLocks noGrp="1" noChangeAspect="1"/>
          </p:cNvPicPr>
          <p:nvPr/>
        </p:nvPicPr>
        <p:blipFill>
          <a:blip r:embed="rId3"/>
          <a:stretch>
            <a:fillRect/>
          </a:stretch>
        </p:blipFill>
        <p:spPr bwMode="auto">
          <a:xfrm>
            <a:off x="1834774" y="1166099"/>
            <a:ext cx="5474452" cy="3360181"/>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much of its own label a row sees</a:t>
            </a:r>
          </a:p>
        </p:txBody>
      </p:sp>
      <p:pic>
        <p:nvPicPr>
          <p:cNvPr descr="eq_2274cba409.png" id="0" name="Picture 1"/>
          <p:cNvPicPr>
            <a:picLocks noGrp="1" noChangeAspect="1"/>
          </p:cNvPicPr>
          <p:nvPr/>
        </p:nvPicPr>
        <p:blipFill>
          <a:blip r:embed="rId3"/>
          <a:stretch>
            <a:fillRect/>
          </a:stretch>
        </p:blipFill>
        <p:spPr bwMode="auto">
          <a:xfrm>
            <a:off x="1553951" y="2189484"/>
            <a:ext cx="6036097" cy="131341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leak shrinks as 1/n_c</a:t>
            </a:r>
          </a:p>
        </p:txBody>
      </p:sp>
      <p:pic>
        <p:nvPicPr>
          <p:cNvPr descr="leak_shrinks_with_group_size.png" id="0" name="Picture 1"/>
          <p:cNvPicPr>
            <a:picLocks noGrp="1" noChangeAspect="1"/>
          </p:cNvPicPr>
          <p:nvPr/>
        </p:nvPicPr>
        <p:blipFill>
          <a:blip r:embed="rId3"/>
          <a:stretch>
            <a:fillRect/>
          </a:stretch>
        </p:blipFill>
        <p:spPr bwMode="auto">
          <a:xfrm>
            <a:off x="1557905" y="1166099"/>
            <a:ext cx="6028189" cy="3360181"/>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fix</a:t>
            </a:r>
          </a:p>
        </p:txBody>
      </p:sp>
      <p:sp>
        <p:nvSpPr>
          <p:cNvPr id="3" name="Content Placeholder 2"/>
          <p:cNvSpPr>
            <a:spLocks noGrp="1"/>
          </p:cNvSpPr>
          <p:nvPr>
            <p:ph idx="1"/>
          </p:nvPr>
        </p:nvSpPr>
        <p:spPr>
          <a:xfrm>
            <a:off x="457200" y="1200151"/>
            <a:ext cx="8229600" cy="3394472"/>
          </a:xfrm>
        </p:spPr>
        <p:txBody>
          <a:bodyPr/>
          <a:lstStyle/>
          <a:p>
            <a:pPr lvl="0" indent="0" marL="0">
              <a:buNone/>
            </a:pPr>
            <a:r>
              <a:rPr>
                <a:latin typeface="Courier"/>
              </a:rPr>
              <a:t>sklearn.preprocessing.TargetEncoder</a:t>
            </a:r>
            <a:r>
              <a:rPr/>
              <a:t>, inside the pipeline.</a:t>
            </a:r>
          </a:p>
          <a:p>
            <a:pPr lvl="0" indent="0" marL="0">
              <a:buNone/>
            </a:pPr>
            <a:r>
              <a:rPr/>
              <a:t>It splits the training rows into five parts and encodes each row from the </a:t>
            </a:r>
            <a:r>
              <a:rPr b="1"/>
              <a:t>other four</a:t>
            </a:r>
            <a:r>
              <a:rPr/>
              <a:t>: never from its own label.</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rule, restated</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Everything that </a:t>
            </a:r>
            <a:r>
              <a:rPr b="1"/>
              <a:t>learns from data</a:t>
            </a:r>
            <a:r>
              <a:rPr/>
              <a:t> is fitted on the training rows only, inside the pipeline.</a:t>
            </a:r>
          </a:p>
          <a:p>
            <a:pPr lvl="0" indent="0" marL="0">
              <a:buNone/>
            </a:pPr>
            <a:r>
              <a:rPr/>
              <a:t>For example: a mean, a median, the nearest neighbours, a churn rate per category, the edges of bins.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leak, and its slides</a:t>
                      </a:r>
                    </a:p>
                  </a:txBody>
                  <a:tcPr/>
                </a:tc>
                <a:tc>
                  <a:txBody>
                    <a:bodyPr/>
                    <a:lstStyle/>
                    <a:p>
                      <a:pPr lvl="0" indent="0" marL="0">
                        <a:buNone/>
                      </a:pPr>
                      <a:r>
                        <a:rPr/>
                        <a:t>you call → what it shows</a:t>
                      </a:r>
                    </a:p>
                  </a:txBody>
                  <a:tcPr/>
                </a:tc>
              </a:tr>
              <a:tr h="0">
                <a:tc>
                  <a:txBody>
                    <a:bodyPr/>
                    <a:lstStyle/>
                    <a:p>
                      <a:pPr lvl="0" indent="0" marL="0">
                        <a:buNone/>
                      </a:pPr>
                      <a:r>
                        <a:rPr/>
                        <a:t>imputation, 44-46</a:t>
                      </a:r>
                    </a:p>
                  </a:txBody>
                </a:tc>
                <a:tc>
                  <a:txBody>
                    <a:bodyPr/>
                    <a:lstStyle/>
                    <a:p>
                      <a:pPr lvl="0" indent="0" marL="0">
                        <a:buNone/>
                      </a:pPr>
                      <a:r>
                        <a:rPr>
                          <a:latin typeface="Courier"/>
                        </a:rPr>
                        <a:t>KNNImputer</a:t>
                      </a:r>
                      <a:r>
                        <a:rPr/>
                        <a:t> fitted on every row; </a:t>
                      </a:r>
                      <a:r>
                        <a:rPr>
                          <a:latin typeface="Courier"/>
                        </a:rPr>
                        <a:t>nan_euclidean_distances</a:t>
                      </a:r>
                      <a:r>
                        <a:rPr/>
                        <a:t>, its own metric, names the donors → </a:t>
                      </a:r>
                      <a:r>
                        <a:rPr b="1"/>
                        <a:t>94 of 128</a:t>
                      </a:r>
                    </a:p>
                  </a:txBody>
                </a:tc>
              </a:tr>
              <a:tr h="0">
                <a:tc>
                  <a:txBody>
                    <a:bodyPr/>
                    <a:lstStyle/>
                    <a:p>
                      <a:pPr lvl="0" indent="0" marL="0">
                        <a:buNone/>
                      </a:pPr>
                      <a:r>
                        <a:rPr/>
                        <a:t>encoding, 47-50</a:t>
                      </a:r>
                    </a:p>
                  </a:txBody>
                </a:tc>
                <a:tc>
                  <a:txBody>
                    <a:bodyPr/>
                    <a:lstStyle/>
                    <a:p>
                      <a:pPr lvl="0" indent="0" marL="0">
                        <a:buNone/>
                      </a:pPr>
                      <a:r>
                        <a:rPr/>
                        <a:t>churn rate per </a:t>
                      </a:r>
                      <a:r>
                        <a:rPr>
                          <a:latin typeface="Courier"/>
                        </a:rPr>
                        <a:t>zip_code</a:t>
                      </a:r>
                      <a:r>
                        <a:rPr/>
                        <a:t>, before </a:t>
                      </a:r>
                      <a:r>
                        <a:rPr>
                          <a:latin typeface="Courier"/>
                        </a:rPr>
                        <a:t>train_test_split</a:t>
                      </a:r>
                      <a:r>
                        <a:rPr/>
                        <a:t> → AUC </a:t>
                      </a:r>
                      <a:r>
                        <a:rPr b="1"/>
                        <a:t>0.891</a:t>
                      </a:r>
                      <a:r>
                        <a:rPr/>
                        <a:t> from a column with no signal</a:t>
                      </a:r>
                    </a:p>
                  </a:txBody>
                </a:tc>
              </a:tr>
              <a:tr h="0">
                <a:tc>
                  <a:txBody>
                    <a:bodyPr/>
                    <a:lstStyle/>
                    <a:p>
                      <a:pPr lvl="0" indent="0" marL="0">
                        <a:buNone/>
                      </a:pPr>
                      <a:r>
                        <a:rPr/>
                        <a:t>the fix, 51</a:t>
                      </a:r>
                    </a:p>
                  </a:txBody>
                </a:tc>
                <a:tc>
                  <a:txBody>
                    <a:bodyPr/>
                    <a:lstStyle/>
                    <a:p>
                      <a:pPr lvl="0" indent="0" marL="0">
                        <a:buNone/>
                      </a:pPr>
                      <a:r>
                        <a:rPr>
                          <a:latin typeface="Courier"/>
                        </a:rPr>
                        <a:t>TargetEncoder</a:t>
                      </a:r>
                      <a:r>
                        <a:rPr/>
                        <a:t> inside the </a:t>
                      </a:r>
                      <a:r>
                        <a:rPr>
                          <a:latin typeface="Courier"/>
                        </a:rPr>
                        <a:t>ColumnTransformer</a:t>
                      </a:r>
                      <a:r>
                        <a:rPr/>
                        <a:t> → the honest </a:t>
                      </a:r>
                      <a:r>
                        <a:rPr b="1"/>
                        <a:t>0.751</a:t>
                      </a:r>
                    </a:p>
                  </a:txBody>
                </a:tc>
              </a:tr>
              <a:tr h="0">
                <a:tc>
                  <a:txBody>
                    <a:bodyPr/>
                    <a:lstStyle/>
                    <a:p>
                      <a:pPr lvl="0" indent="0" marL="0">
                        <a:buNone/>
                      </a:pPr>
                      <a:r>
                        <a:rPr/>
                        <a:t>your own split</a:t>
                      </a:r>
                    </a:p>
                  </a:txBody>
                </a:tc>
                <a:tc>
                  <a:txBody>
                    <a:bodyPr/>
                    <a:lstStyle/>
                    <a:p>
                      <a:pPr lvl="0" indent="0" marL="0">
                        <a:buNone/>
                      </a:pPr>
                      <a:r>
                        <a:rPr>
                          <a:latin typeface="Courier"/>
                        </a:rPr>
                        <a:t>clone</a:t>
                      </a:r>
                      <a:r>
                        <a:rPr/>
                        <a:t> both models, refit on a split of your own</a:t>
                      </a:r>
                    </a:p>
                  </a:txBody>
                </a:tc>
              </a:tr>
              <a:tr h="0">
                <a:tc>
                  <a:txBody>
                    <a:bodyPr/>
                    <a:lstStyle/>
                    <a:p>
                      <a:pPr lvl="0" indent="0" marL="0">
                        <a:buNone/>
                      </a:pPr>
                      <a:r>
                        <a:rPr/>
                        <a:t>scored with</a:t>
                      </a:r>
                    </a:p>
                  </a:txBody>
                </a:tc>
                <a:tc>
                  <a:txBody>
                    <a:bodyPr/>
                    <a:lstStyle/>
                    <a:p>
                      <a:pPr lvl="0" indent="0" marL="0">
                        <a:buNone/>
                      </a:pPr>
                      <a:r>
                        <a:rPr>
                          <a:latin typeface="Courier"/>
                        </a:rPr>
                        <a:t>roc_auc_score</a:t>
                      </a:r>
                      <a:r>
                        <a:rPr/>
                        <a:t> throughout</a:t>
                      </a:r>
                    </a:p>
                  </a:txBody>
                </a:tc>
              </a:tr>
            </a:tbl>
          </a:graphicData>
        </a:graphic>
      </p:graphicFrame>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we did today</a:t>
            </a:r>
          </a:p>
        </p:txBody>
      </p:sp>
      <p:sp>
        <p:nvSpPr>
          <p:cNvPr id="3" name="Content Placeholder 2"/>
          <p:cNvSpPr>
            <a:spLocks noGrp="1"/>
          </p:cNvSpPr>
          <p:nvPr>
            <p:ph idx="1"/>
          </p:nvPr>
        </p:nvSpPr>
        <p:spPr>
          <a:xfrm>
            <a:off x="457200" y="1200151"/>
            <a:ext cx="8229600" cy="3394472"/>
          </a:xfrm>
        </p:spPr>
        <p:txBody>
          <a:bodyPr/>
          <a:lstStyle/>
          <a:p>
            <a:pPr lvl="0"/>
            <a:r>
              <a:rPr/>
              <a:t>Explored before transforming: types, gaps, shape, correlations</a:t>
            </a:r>
          </a:p>
          <a:p>
            <a:pPr lvl="0"/>
            <a:r>
              <a:rPr/>
              <a:t>Diagnosed </a:t>
            </a:r>
            <a:r>
              <a:rPr i="1"/>
              <a:t>why</a:t>
            </a:r>
            <a:r>
              <a:rPr/>
              <a:t> values are missing, not just </a:t>
            </a:r>
            <a:r>
              <a:rPr i="1"/>
              <a:t>how many</a:t>
            </a:r>
          </a:p>
          <a:p>
            <a:pPr lvl="0"/>
            <a:r>
              <a:rPr/>
              <a:t>Two outlier rules, and what neither can tell you</a:t>
            </a:r>
          </a:p>
          <a:p>
            <a:pPr lvl="0"/>
            <a:r>
              <a:rPr/>
              <a:t>Scaling, encoding, engineering: all inside </a:t>
            </a:r>
            <a:r>
              <a:rPr>
                <a:latin typeface="Courier"/>
              </a:rPr>
              <a:t>Pipeline</a:t>
            </a:r>
          </a:p>
          <a:p>
            <a:pPr lvl="0"/>
            <a:r>
              <a:rPr/>
              <a:t>Two leaks that raise no error and look like good results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 we discuss it on Friday 16 October</a:t>
            </a:r>
          </a:p>
        </p:txBody>
      </p:sp>
      <p:sp>
        <p:nvSpPr>
          <p:cNvPr id="3" name="Content Placeholder 2"/>
          <p:cNvSpPr>
            <a:spLocks noGrp="1"/>
          </p:cNvSpPr>
          <p:nvPr>
            <p:ph idx="1"/>
          </p:nvPr>
        </p:nvSpPr>
        <p:spPr>
          <a:xfrm>
            <a:off x="457200" y="1200151"/>
            <a:ext cx="8229600" cy="3394472"/>
          </a:xfrm>
        </p:spPr>
        <p:txBody>
          <a:bodyPr/>
          <a:lstStyle/>
          <a:p>
            <a:pPr lvl="0" indent="0" marL="0">
              <a:buNone/>
            </a:pPr>
            <a:r>
              <a:rPr>
                <a:latin typeface="Courier"/>
              </a:rPr>
              <a:t>Exercises/02_data_exploration_and_preparation.md</a:t>
            </a:r>
          </a:p>
          <a:p>
            <a:pPr lvl="0" indent="0" marL="0">
              <a:buNone/>
            </a:pPr>
            <a:r>
              <a:rPr/>
              <a:t>Build the full preparation pipeline yourself, and </a:t>
            </a:r>
            <a:r>
              <a:rPr b="1"/>
              <a:t>find a leak on purpose</a:t>
            </a:r>
            <a:r>
              <a:rPr/>
              <a:t> before fixing it.</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Before next week</a:t>
            </a:r>
          </a:p>
        </p:txBody>
      </p:sp>
      <p:sp>
        <p:nvSpPr>
          <p:cNvPr id="3" name="Content Placeholder 2"/>
          <p:cNvSpPr>
            <a:spLocks noGrp="1"/>
          </p:cNvSpPr>
          <p:nvPr>
            <p:ph idx="1"/>
          </p:nvPr>
        </p:nvSpPr>
        <p:spPr>
          <a:xfrm>
            <a:off x="457200" y="1200151"/>
            <a:ext cx="8229600" cy="3394472"/>
          </a:xfrm>
        </p:spPr>
        <p:txBody>
          <a:bodyPr/>
          <a:lstStyle/>
          <a:p>
            <a:pPr lvl="0"/>
            <a:r>
              <a:rPr/>
              <a:t>Work the three notebooks in order</a:t>
            </a:r>
          </a:p>
          <a:p>
            <a:pPr lvl="0"/>
            <a:r>
              <a:rPr/>
              <a:t>Read the handout: it has the derivations behind today’s slides</a:t>
            </a:r>
          </a:p>
          <a:p>
            <a:pPr lvl="0"/>
            <a:r>
              <a:rPr/>
              <a:t>Take the quiz</a:t>
            </a:r>
          </a:p>
          <a:p>
            <a:pPr lvl="0"/>
            <a:r>
              <a:rPr b="1"/>
              <a:t>Do the exercise</a:t>
            </a:r>
          </a:p>
          <a:p>
            <a:pPr lvl="0" indent="0" marL="0">
              <a:buNone/>
            </a:pPr>
            <a:r>
              <a:rPr/>
              <a:t>Next: regression, the first model we derive completely.</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 Data Exploration and Preparation</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9 October 2026</vt:lpwstr>
  </property>
  <property fmtid="{D5CDD505-2E9C-101B-9397-08002B2CF9AE}" pid="3" name="subtitle">
    <vt:lpwstr>Technologies for Artificial Intelligence</vt:lpwstr>
  </property>
</Properties>
</file>