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on what lesson 1 clarified come before this slide; the exercise discussion follows them, and the seed part of it lands better for having just seen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25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predictable answer is “add an indicator, it keeps the MAR signal”, and the reasoning is sound as far as it goes: the gap rows are the long-tenure ones, and they churn at 12.5% against 19.7%, so the fact of the gap is informative.</a:t>
            </a:r>
          </a:p>
          <a:p>
            <a:pPr lvl="0" indent="0" marL="0">
              <a:buNone/>
            </a:pPr>
          </a:p>
          <a:p>
            <a:pPr lvl="0" indent="0" marL="0">
              <a:buNone/>
            </a:pPr>
            <a:r>
              <a:rPr/>
              <a:t>But under MAR the gap is explained by a column we already hold - that is the definition - so the model already has what the indicator would tell it. Notebook and handout agree: adding it moves the area under the curve from 0.751 to 0.741, no gain, well inside split-to-split noise. The indicator is worth adding only if being missing tells the model something the other columns cannot - typically when the value is missing not at random (MNAR), because whether it is missing depends on the missing value itself.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because its usual justification is half right. An indicator keeps the fact of the gap in the table after the gap is filled; that fact only helps if no other column already carries it. Under MCAR it carries nothing; under MAR the column that explains the gap is already there; under MNAR the blank may be the only trace left, and that is where the indicator earns its place.</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reach for by reflex. It is cheap, but it adds information only when the gap tells the model something no other column does: on this dataset it does not, and the area under the curve goes 0.751 to 0.741 with it.</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Read the update rule on the slide aloud, symbol by symbol. ∇R̂(w) is the gradient: the direction in which the average loss rises fastest, one component per coefficient. The minus sign turns it round, downhill. α, the learning rate, is how far each step goes. Lesson 3 writes the same rule as θ ← θ − α∇J(θ), where θ collects every parameter including the intercept and J is the cost being minimised; same rule, the notation of a lesson that derives it.</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from Lesson 1 first. Its slide 20 plotted the training error against one number, the threshold t, and the best t was the bottom of that curve. Here the model has two numbers, w1 and w2, so the same average loss becomes a surface over the plane of (w1, w2), and this figure is that surface seen from above: each ring is a contour line, joining coefficient pairs with the same loss. The figure draws an exact paraboloid, the shape of a squared-error loss for a linear model; the logistic loss of the churn model is only approximately this shape, close to its minimum.</a:t>
            </a:r>
          </a:p>
          <a:p>
            <a:pPr lvl="0" indent="0" marL="0">
              <a:buNone/>
            </a:pPr>
          </a:p>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did you predict a class, or a number?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which enforces that rule in the code instead of relying on memory</a:t>
            </a:r>
          </a:p>
          <a:p>
            <a:pPr lvl="0"/>
            <a:r>
              <a:rPr/>
              <a:t>Today: both, on messy data - gaps, extreme values, text categories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that raises no error and looks like a good result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 (cancel their contract)?</a:t>
            </a:r>
          </a:p>
          <a:p>
            <a:pPr lvl="0"/>
            <a:r>
              <a:rPr/>
              <a:t>Numeric: tenure, monthly charges, age, support calls</a:t>
            </a:r>
          </a:p>
          <a:p>
            <a:pPr lvl="0"/>
            <a:r>
              <a:rPr/>
              <a:t>Categorical: contract type, region, zip code (493 different values)</a:t>
            </a:r>
          </a:p>
          <a:p>
            <a:pPr lvl="0"/>
            <a:r>
              <a:rPr/>
              <a:t>Missing values, extreme values, and one column built to have </a:t>
            </a:r>
            <a:r>
              <a:rPr b="1"/>
              <a:t>no relation</a:t>
            </a:r>
            <a:r>
              <a:rPr/>
              <a:t> to churn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First, always: </a:t>
            </a:r>
            <a:r>
              <a:rPr>
                <a:latin typeface="Courier"/>
              </a:rPr>
              <a:t>.info()</a:t>
            </a:r>
            <a:r>
              <a:rPr/>
              <a:t>, </a:t>
            </a:r>
            <a:r>
              <a:rPr>
                <a:latin typeface="Courier"/>
              </a:rPr>
              <a:t>.describe()</a:t>
            </a:r>
            <a:r>
              <a:rPr/>
              <a:t>, and the share of each class.</a:t>
            </a:r>
          </a:p>
          <a:p>
            <a:pPr lvl="0"/>
            <a:r>
              <a:rPr/>
              <a:t>2000 rows, 8 columns, numbers and text</a:t>
            </a:r>
          </a:p>
          <a:p>
            <a:pPr lvl="0"/>
            <a:r>
              <a:rPr/>
              <a:t>Churn rate </a:t>
            </a:r>
            <a:r>
              <a:rPr b="1"/>
              <a:t>19.4%</a:t>
            </a:r>
            <a:r>
              <a:rPr/>
              <a:t>: always predicting “no churn” is right 80.6% of the time</a:t>
            </a:r>
          </a:p>
          <a:p>
            <a:pPr lvl="0"/>
            <a:r>
              <a:rPr>
                <a:latin typeface="Courier"/>
              </a:rPr>
              <a:t>tenure_months</a:t>
            </a:r>
            <a:r>
              <a:rPr/>
              <a:t> reaches 999 months, 83 years: an error in the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Outliers squash two of these four</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left it blank, for no reason related to any column.</a:t>
            </a:r>
          </a:p>
          <a:p>
            <a:pPr lvl="0"/>
            <a:r>
              <a:rPr/>
              <a:t>Filling the gaps with the mean leaves the mean of </a:t>
            </a:r>
            <a:r>
              <a:rPr>
                <a:latin typeface="Courier"/>
              </a:rPr>
              <a:t>age</a:t>
            </a:r>
            <a:r>
              <a:rPr/>
              <a:t> unbiased</a:t>
            </a:r>
          </a:p>
          <a:p>
            <a:pPr lvl="0"/>
            <a:r>
              <a:rPr/>
              <a:t>So is filling free? The next slide shows what it costs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Filling with the mean weakens every correlation </a:t>
            </a:r>
            <a:r>
              <a:rPr>
                <a:latin typeface="Courier"/>
              </a:rPr>
              <a:t>age</a:t>
            </a:r>
            <a:r>
              <a:rPr/>
              <a:t> has with other columns,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long-tenure customers leave it blank more often.</a:t>
            </a:r>
          </a:p>
          <a:p>
            <a:pPr lvl="0"/>
            <a:r>
              <a:rPr/>
              <a:t>Dropping those rows would remove mostly long-tenure customers</a:t>
            </a:r>
          </a:p>
          <a:p>
            <a:pPr lvl="0"/>
            <a:r>
              <a:rPr/>
              <a:t>A </a:t>
            </a:r>
            <a:r>
              <a:rPr b="1"/>
              <a:t>missingness indicator</a:t>
            </a:r>
            <a:r>
              <a:rPr/>
              <a:t> (1 if missing, 0 if not) adds nothing here: </a:t>
            </a:r>
            <a:r>
              <a:rPr>
                <a:latin typeface="Courier"/>
              </a:rPr>
              <a:t>tenure_months</a:t>
            </a:r>
            <a:r>
              <a:rPr/>
              <a:t> already tells the model which rows tend to have a gap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only if </a:t>
            </a:r>
            <a:r>
              <a:rPr i="1"/>
              <a:t>being missing</a:t>
            </a:r>
            <a:r>
              <a:rPr/>
              <a:t> tells the model something the other columns cannot - typically when missing not at random (MNAR)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Extreme does not mean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A monthly charge of 3,344.7 may be a typo or a corporate account: the numbers alone cannot tell</a:t>
            </a:r>
          </a:p>
          <a:p>
            <a:pPr lvl="0"/>
            <a:r>
              <a:rPr/>
              <a:t>Two rules follow, one on standard deviations, one on quartiles: both only </a:t>
            </a:r>
            <a:r>
              <a:rPr b="1"/>
              <a:t>flag</a:t>
            </a:r>
            <a:r>
              <a:rPr/>
              <a:t> a value for a person to check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interquartile range (IQR)</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Close fences, very different counts</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Quartile rule: 12 false alarms</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unusual, it is impossible: no tenure is negative. Checking validity needs a rule about the domain, not about the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rules only find candidates. What to do with them is decided by someone who knows the </a:t>
            </a:r>
            <a:r>
              <a:rPr b="1"/>
              <a:t>domain</a:t>
            </a:r>
            <a:r>
              <a:rPr/>
              <a:t>.</a:t>
            </a:r>
          </a:p>
          <a:p>
            <a:pPr lvl="0"/>
            <a:r>
              <a:rPr b="1"/>
              <a:t>Cap</a:t>
            </a:r>
            <a:r>
              <a:rPr/>
              <a:t> it at the rule’s upper limit: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choose w₁, w₂ to minimise Lesson 1’s average loss, a paraboloid over (w₁, w₂). Lesson 1’s slide 20 drew it for one number, the threshold</a:t>
            </a:r>
          </a:p>
          <a:p>
            <a:pPr lvl="0"/>
            <a:r>
              <a:rPr b="1"/>
              <a:t>Gradient descent</a:t>
            </a:r>
            <a:r>
              <a:rPr/>
              <a:t> repeats w ← w − α∇R̂(w): a step downhill, its size set by the </a:t>
            </a:r>
            <a:r>
              <a:rPr b="1"/>
              <a:t>learning rate</a:t>
            </a:r>
            <a:r>
              <a:rPr/>
              <a:t> α, for every column. Can one α suit both?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Unequal scales: a narrow valley</a:t>
            </a:r>
          </a:p>
        </p:txBody>
      </p:sp>
      <p:pic>
        <p:nvPicPr>
          <p:cNvPr descr="condition_number_geometry.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needs numbers, and </a:t>
            </a:r>
            <a:r>
              <a:rPr>
                <a:latin typeface="Courier"/>
              </a:rPr>
              <a:t>"month-to-month"</a:t>
            </a:r>
            <a:r>
              <a:rPr/>
              <a:t> is text: encoding turns it into numbers.</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all different, none closer to another</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replaced by the churn rate of its own category</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equal steps, unequal churn</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no order assumed, but wide</a:t>
            </a:r>
          </a:p>
        </p:txBody>
      </p:sp>
      <p:sp>
        <p:nvSpPr>
          <p:cNvPr id="3" name="Content Placeholder 2"/>
          <p:cNvSpPr>
            <a:spLocks noGrp="1"/>
          </p:cNvSpPr>
          <p:nvPr>
            <p:ph idx="1"/>
          </p:nvPr>
        </p:nvSpPr>
        <p:spPr>
          <a:xfrm>
            <a:off x="457200" y="1200151"/>
            <a:ext cx="8229600" cy="3394472"/>
          </a:xfrm>
        </p:spPr>
        <p:txBody>
          <a:bodyPr/>
          <a:lstStyle/>
          <a:p>
            <a:pPr lvl="0"/>
            <a:r>
              <a:rPr/>
              <a:t>A column with k categories becomes k columns of 0s and 1s, a single 1 per row: </a:t>
            </a:r>
            <a:r>
              <a:rPr>
                <a:latin typeface="Courier"/>
              </a:rPr>
              <a:t>OneHotEncoder</a:t>
            </a:r>
          </a:p>
          <a:p>
            <a:pPr lvl="0"/>
            <a:r>
              <a:rPr/>
              <a:t>No order between categories, all equally far apart: that is why it is the default</a:t>
            </a:r>
          </a:p>
          <a:p>
            <a:pPr lvl="0"/>
            <a:r>
              <a:rPr/>
              <a:t>The price is width: </a:t>
            </a:r>
            <a:r>
              <a:rPr>
                <a:latin typeface="Courier"/>
              </a:rPr>
              <a:t>zip_code</a:t>
            </a:r>
            <a:r>
              <a:rPr/>
              <a:t> would add </a:t>
            </a:r>
            <a:r>
              <a:rPr b="1"/>
              <a:t>493</a:t>
            </a:r>
            <a:r>
              <a:rPr/>
              <a:t> columns to 2,000 rows</a:t>
            </a:r>
          </a:p>
          <a:p>
            <a:pPr lvl="0"/>
            <a:r>
              <a:rPr/>
              <a:t>Target encoding uses one column however many categories there are, but it is computed from the target - which is how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One one-hot column too many</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Most models include a constant column of ones, the </a:t>
            </a:r>
            <a:r>
              <a:rPr b="1"/>
              <a:t>intercept</a:t>
            </a:r>
            <a:r>
              <a:rPr/>
              <a:t>. The k one-hot columns (</a:t>
            </a:r>
            <a:r>
              <a:rPr i="1"/>
              <a:t>dummies</a:t>
            </a:r>
            <a:r>
              <a:rPr/>
              <a:t>) also always add up to 1:</a:t>
            </a:r>
          </a:p>
        </p:txBody>
      </p:sp>
      <p:pic>
        <p:nvPicPr>
          <p:cNvPr descr="eq_3723e214d0.png" id="0" name="Picture 1"/>
          <p:cNvPicPr>
            <a:picLocks noGrp="1" noChangeAspect="1"/>
          </p:cNvPicPr>
          <p:nvPr/>
        </p:nvPicPr>
        <p:blipFill>
          <a:blip r:embed="rId3"/>
          <a:stretch>
            <a:fillRect/>
          </a:stretch>
        </p:blipFill>
        <p:spPr bwMode="auto">
          <a:xfrm>
            <a:off x="457200" y="2620178"/>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 columns, but only rank 3</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Methods based on distances (Lesson 6): all points end up roughly equally far apart</a:t>
            </a:r>
          </a:p>
          <a:p>
            <a:pPr lvl="0"/>
            <a:r>
              <a:rPr/>
              <a:t>More coefficients to estimate from the same 2,000 rows: noisier estimates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Preprocessing is part of f</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f is the whole pipeline: </a:t>
            </a:r>
            <a:r>
              <a:rPr b="1"/>
              <a:t>every</a:t>
            </a:r>
            <a:r>
              <a:rPr/>
              <a:t> number learned from data - the scaler’s means, the imputer’s fill values - not only the model’s coefficients.</a:t>
            </a:r>
          </a:p>
        </p:txBody>
      </p:sp>
      <p:pic>
        <p:nvPicPr>
          <p:cNvPr descr="eq_3460d29d6f.png" id="0" name="Picture 1"/>
          <p:cNvPicPr>
            <a:picLocks noGrp="1" noChangeAspect="1"/>
          </p:cNvPicPr>
          <p:nvPr/>
        </p:nvPicPr>
        <p:blipFill>
          <a:blip r:embed="rId3"/>
          <a:stretch>
            <a:fillRect/>
          </a:stretch>
        </p:blipFill>
        <p:spPr bwMode="auto">
          <a:xfrm>
            <a:off x="1296590" y="3048563"/>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Accuracy barely beats the baseline.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New columns built from existing ones, which a linear model cannot build itself.</a:t>
            </a:r>
          </a:p>
          <a:p>
            <a:pPr lvl="0" indent="0" marL="0">
              <a:buNone/>
            </a:pPr>
            <a:r>
              <a:rPr>
                <a:latin typeface="Courier"/>
              </a:rPr>
              <a:t>total_paid</a:t>
            </a:r>
            <a:r>
              <a:rPr/>
              <a:t> = charge × months stayed: AUC 0.7514 → 0.7548. Fix the 999s in </a:t>
            </a:r>
            <a:r>
              <a:rPr>
                <a:latin typeface="Courier"/>
              </a:rPr>
              <a:t>tenure_months</a:t>
            </a:r>
            <a:r>
              <a:rPr/>
              <a:t> first and it scores </a:t>
            </a:r>
            <a:r>
              <a:rPr b="1"/>
              <a:t>0.7439</a:t>
            </a:r>
            <a:r>
              <a:rPr/>
              <a:t>: the gain came from the errors.</a:t>
            </a:r>
          </a:p>
          <a:p>
            <a:pPr lvl="0" indent="0" marL="0">
              <a:buNone/>
            </a:pPr>
            <a:r>
              <a:rPr/>
              <a:t>In code: </a:t>
            </a:r>
            <a:r>
              <a:rPr>
                <a:latin typeface="Courier"/>
              </a:rPr>
              <a:t>FunctionTransformer(add_total_paid)</a:t>
            </a:r>
            <a:r>
              <a:rPr/>
              <a:t>,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training and test rows together, and some donors are test rows: test information enters the training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distance the imputer itself uses, finds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on all 2,000 customers, before the split.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of its own label a row sees</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For example: a mean, a median, the nearest neighbours, a churn rate per category, the edges of bins.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raise no error and look like good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it has the derivations behind today’s slides</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