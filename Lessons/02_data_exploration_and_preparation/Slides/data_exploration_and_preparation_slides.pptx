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Nothing is collected, so this is the whole of the feedback: ask for a show of hands, who treated quality as binary and who kept it as an integer regression problem. Both are defensible if justified; that was the whole point of Task 1.</a:t>
            </a:r>
          </a:p>
          <a:p>
            <a:pPr lvl="0" indent="0" marL="0">
              <a:buNone/>
            </a:pPr>
          </a:p>
          <a:p>
            <a:pPr lvl="0" indent="0" marL="0">
              <a:buNone/>
            </a:pPr>
            <a:r>
              <a:rPr/>
              <a:t>Say once, here and only here, why it is worth having done: at the exam one of the ten exercises is drawn and they talk through their own notebook for it. Then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Pay off the 999 from slide 6: they have already seen it, and now it gets a name.</a:t>
            </a:r>
          </a:p>
          <a:p>
            <a:pPr lvl="0" indent="0" marL="0">
              <a:buNone/>
            </a:pPr>
          </a:p>
          <a:p>
            <a:pPr lvl="0" indent="0" marL="0">
              <a:buNone/>
            </a:pPr>
            <a:r>
              <a:rPr/>
              <a:t>Put the three reasons to the room before reading them out - ask what could make a customer’s monthly charge 3,344.7 when everyone else is under 128. Someone will say typo; ask whether they are sure, and let the silence do the work. That is the point of the third bullet.</a:t>
            </a:r>
          </a:p>
          <a:p>
            <a:pPr lvl="0" indent="0" marL="0">
              <a:buNone/>
            </a:pPr>
          </a:p>
          <a:p>
            <a:pPr lvl="0" indent="0" marL="0">
              <a:buNone/>
            </a:pPr>
            <a:r>
              <a:rPr/>
              <a:t>The last bullet is the promise the next six slides keep: rule 1 in standard deviations, rule 2 in quartiles, then the slide where they disagree and the slide where the robust one is the one that got it wrong. Nothing here deletes a row - what to do once something is flagged is Section 4.2, and it has no automatic answer.</a:t>
            </a:r>
          </a:p>
          <a:p>
            <a:pPr lvl="0" indent="0" marL="0">
              <a:buNone/>
            </a:pPr>
          </a:p>
          <a:p>
            <a:pPr lvl="0" indent="0" marL="0">
              <a:buNone/>
            </a:pPr>
            <a:r>
              <a:rPr/>
              <a:t>Handout Section 4 opening.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from the data being measured, which is the crack the section prises open.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a:t>
            </a:r>
          </a:p>
          <a:p>
            <a:pPr lvl="0" indent="0" marL="0">
              <a:buNone/>
            </a:pPr>
          </a:p>
          <a:p>
            <a:pPr lvl="0" indent="0" marL="0">
              <a:buNone/>
            </a:pPr>
            <a:r>
              <a:rPr/>
              <a:t>Then make that concrete, because a percentage does not land: take 2,000 values off a perfect bell curve, nothing wrong with any of them. The z-score rule still nominates about 5 and Tukey about 14 - false alarms both, the tail being flagged for being the tail. Say what that means for the twenty real billing errors in this dataset: neither rule can tell the two kinds apart, which is why a flag is a candidate and never a verdict.</a:t>
            </a:r>
          </a:p>
          <a:p>
            <a:pPr lvl="0" indent="0" marL="0">
              <a:buNone/>
            </a:pPr>
          </a:p>
          <a:p>
            <a:pPr lvl="0" indent="0" marL="0">
              <a:buNone/>
            </a:pPr>
            <a:r>
              <a:rPr/>
              <a:t>The moral to state out loud: the two rules were built to sit in the same neighbourhood, not to agree, and even on perfect data Tukey’s is the readier of the two to call something an outlier.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they sit in the same neighbourhood, and out in the tail a neighbourhood is a factor of 2.6.</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 to 171.3, dragging the z-score fence from 115 out to 593.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 to 17, four paying 112 to 128, outside fences of 17.3 and 110.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its fence sails straight past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 Winsorising, after Charles Winsor - replaces the value with the fence itself: the billing error of 3,344.7 becomes 110.0, the row keeps every other column it has, and the sample keeps its size. It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20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Reconnect to Lesson 1 before anything else, because the vocabulary is already theirs: the empirical risk was the average loss over the rows we hold, and choosing the f that makes it small was the whole definition of learning. What was left open there is HOW you make it small. This is the how.</a:t>
            </a:r>
          </a:p>
          <a:p>
            <a:pPr lvl="0" indent="0" marL="0">
              <a:buNone/>
            </a:pPr>
          </a:p>
          <a:p>
            <a:pPr lvl="0" indent="0" marL="0">
              <a:buNone/>
            </a:pPr>
            <a:r>
              <a:rPr/>
              <a:t>Say what a model’s “numbers” are, once: one coefficient per feature, plus the intercept. Training is a search over those numbers, and every candidate set of them has a loss.</a:t>
            </a:r>
          </a:p>
          <a:p>
            <a:pPr lvl="0" indent="0" marL="0">
              <a:buNone/>
            </a:pPr>
          </a:p>
          <a:p>
            <a:pPr lvl="0" indent="0" marL="0">
              <a:buNone/>
            </a:pPr>
            <a:r>
              <a:rPr/>
              <a:t>Then say what a single step is, because the slide leans on it: gradient descent starts from some numbers, works out for each one whether nudging it up or down lowers the loss, and moves them all at once - each by the same step size, times how steeply the loss falls in that direction. One step size for the whole model, not one per feature. That is the sentence the next slide draws.</a:t>
            </a:r>
          </a:p>
          <a:p>
            <a:pPr lvl="0" indent="0" marL="0">
              <a:buNone/>
            </a:pPr>
          </a:p>
          <a:p>
            <a:pPr lvl="0" indent="0" marL="0">
              <a:buNone/>
            </a:pPr>
            <a:r>
              <a:rPr/>
              <a:t>Ask, before turning over: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Read the axes first, and do not skip this - a contour plot of a loss surface is new to most of them and it is not a plot of the data. Neither axis is a column. The horizontal axis is the coefficient the model gives feature 1, the vertical axis is the coefficient it gives feature 2, so every point in the square is one candidate model. The grey rings join the models that fit equally badly, the way contour lines on a map join points of equal altitude. The blue star is the model with the lowest loss - what training is looking for. The rust dots are successive steps, and the line joining them is the search.</a:t>
            </a:r>
          </a:p>
          <a:p>
            <a:pPr lvl="0" indent="0" marL="0">
              <a:buNone/>
            </a:pPr>
          </a:p>
          <a:p>
            <a:pPr lvl="0" indent="0" marL="0">
              <a:buNone/>
            </a:pPr>
            <a:r>
              <a:rPr/>
              <a:t>Left: the two features have different spreads, so the loss surface is a narrow ravine - steep across, almost flat along. One step size has to serve both. Long enough to advance along the flat direction and it overshoots the steep one and bounces from wall to wall; short enough to be safe on the steep one and it crawls along the flat one. Count the dots out loud: twenty-six steps and it is still not at the star.</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off one wall of the ravine into the other. Run it for 2000 steps and it is still in the same band. Worse than slow, not better: a slow run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by saying what the problem is, because nothing so far has needed it: a model does arithmetic, and a column holding the words “month-to-month” offers nothing to do arithmetic with. It has to become numbers, and there is more than one way to do that.</a:t>
            </a:r>
          </a:p>
          <a:p>
            <a:pPr lvl="0" indent="0" marL="0">
              <a:buNone/>
            </a:pPr>
          </a:p>
          <a:p>
            <a:pPr lvl="0" indent="0" marL="0">
              <a:buNone/>
            </a:pPr>
            <a:r>
              <a:rPr/>
              <a:t>Give them the word: the distinct values a categorical column can take are its levels. contract_type has three, with 2,000 rows spread across them.</a:t>
            </a:r>
          </a:p>
          <a:p>
            <a:pPr lvl="0" indent="0" marL="0">
              <a:buNone/>
            </a:pPr>
          </a:p>
          <a:p>
            <a:pPr lvl="0" indent="0" marL="0">
              <a:buNone/>
            </a:pPr>
            <a:r>
              <a:rPr/>
              <a:t>Then the sentence the whole section hangs on, and it is worth saying slowly: every way of turning a category into numbers makes a claim about the categories. The claim is the part to get right - the code is three lines either way.</a:t>
            </a:r>
          </a:p>
          <a:p>
            <a:pPr lvl="0" indent="0" marL="0">
              <a:buNone/>
            </a:pPr>
          </a:p>
          <a:p>
            <a:pPr lvl="0" indent="0" marL="0">
              <a:buNone/>
            </a:pPr>
            <a:r>
              <a:rPr/>
              <a:t>Point at the churn column before moving on. It does double duty: it is what target encoding will use as the number, and it is the evidence that will convict ordinal encoding two slides from now.</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customer, one contract, three numbers. Read the table a row at a time and let the right-hand column do the work - it is what each encoding is asserting about the world, not about the data type.</a:t>
            </a:r>
          </a:p>
          <a:p>
            <a:pPr lvl="0" indent="0" marL="0">
              <a:buNone/>
            </a:pPr>
          </a:p>
          <a:p>
            <a:pPr lvl="0" indent="0" marL="0">
              <a:buNone/>
            </a:pPr>
            <a:r>
              <a:rPr/>
              <a:t>The middle row is where damage usually happens, and this column shows why the mistake is reasonable: the order is genuine. A one-year contract really does sit between the other two, so ordinal looks safe here in a way it would not for region or zip code.</a:t>
            </a:r>
          </a:p>
          <a:p>
            <a:pPr lvl="0" indent="0" marL="0">
              <a:buNone/>
            </a:pPr>
          </a:p>
          <a:p>
            <a:pPr lvl="0" indent="0" marL="0">
              <a:buNone/>
            </a:pPr>
            <a:r>
              <a:rPr/>
              <a:t>Ask the room which of the three claims is true for THIS column before turning over. It is a domain question, not a technical one, and no cross-validation score will answer it.</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against right panel - that is the whole slide, and it is the answer to the question left hanging.</a:t>
            </a:r>
          </a:p>
          <a:p>
            <a:pPr lvl="0" indent="0" marL="0">
              <a:buNone/>
            </a:pPr>
          </a:p>
          <a:p>
            <a:pPr lvl="0" indent="0" marL="0">
              <a:buNone/>
            </a:pPr>
            <a:r>
              <a:rPr/>
              <a:t>Ordinal spaces the levels 0, 1, 2: equal steps by construction. The churn rates those levels stand in for fall 0.266, 0.137, 0.071, so the first step is 0.129 and the second is 0.066 - the first is nearly twice the second. The encoding asserts a regularity the column does not have, and a linear model has exactly one coefficient with which to believe it.</a:t>
            </a:r>
          </a:p>
          <a:p>
            <a:pPr lvl="0" indent="0" marL="0">
              <a:buNone/>
            </a:pPr>
          </a:p>
          <a:p>
            <a:pPr lvl="0" indent="0" marL="0">
              <a:buNone/>
            </a:pPr>
            <a:r>
              <a:rPr/>
              <a:t>Then the middle panel, which claims nothing at all and pays for that neutrality in columns - the caption says k = 493 for zip_code, and that is the thread into the next three slides.</a:t>
            </a:r>
          </a:p>
          <a:p>
            <a:pPr lvl="0" indent="0" marL="0">
              <a:buNone/>
            </a:pPr>
          </a:p>
          <a:p>
            <a:pPr lvl="0" indent="0" marL="0">
              <a:buNone/>
            </a:pPr>
            <a:r>
              <a:rPr/>
              <a:t>The right panel is computed from the labels. Say that out loud and leave it there: it is the first appearance of the leak the last third of the lesson is about.</a:t>
            </a:r>
          </a:p>
          <a:p>
            <a:pPr lvl="0" indent="0" marL="0">
              <a:buNone/>
            </a:pPr>
          </a:p>
          <a:p>
            <a:pPr lvl="0" indent="0" marL="0">
              <a:buNone/>
            </a:pPr>
            <a:r>
              <a:rPr/>
              <a:t>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encoding to spend time on, because it is what scikit-learn’s OneHotEncoder does and what the pipeline later in the notebook uses.</a:t>
            </a:r>
          </a:p>
          <a:p>
            <a:pPr lvl="0" indent="0" marL="0">
              <a:buNone/>
            </a:pPr>
          </a:p>
          <a:p>
            <a:pPr lvl="0" indent="0" marL="0">
              <a:buNone/>
            </a:pPr>
            <a:r>
              <a:rPr/>
              <a:t>The mechanics first: k levels, k binary columns, exactly one 1 in every row. No category is closer to any other, which is precisely the neutrality that makes it the safe default.</a:t>
            </a:r>
          </a:p>
          <a:p>
            <a:pPr lvl="0" indent="0" marL="0">
              <a:buNone/>
            </a:pPr>
          </a:p>
          <a:p>
            <a:pPr lvl="0" indent="0" marL="0">
              <a:buNone/>
            </a:pPr>
            <a:r>
              <a:rPr/>
              <a:t>Then the cost, which is the honest trade: k columns. Three is nothing; 493 on 2,000 rows is the curse of dimensionality, two slides from here.</a:t>
            </a:r>
          </a:p>
          <a:p>
            <a:pPr lvl="0" indent="0" marL="0">
              <a:buNone/>
            </a:pPr>
          </a:p>
          <a:p>
            <a:pPr lvl="0" indent="0" marL="0">
              <a:buNone/>
            </a:pPr>
            <a:r>
              <a:rPr/>
              <a:t>The last bullet is the hook, not a conclusion. Target encoding is the obvious escape from the width problem and it is the more dangerous of the two encodings in this entire lesson. Do not resolve it - the leakage section does.</a:t>
            </a:r>
          </a:p>
          <a:p>
            <a:pPr lvl="0" indent="0" marL="0">
              <a:buNone/>
            </a:pPr>
          </a:p>
          <a:p>
            <a:pPr lvl="0" indent="0" marL="0">
              <a:buNone/>
            </a:pPr>
            <a:r>
              <a:rPr/>
              <a:t>One more thing this slide sets up: k columns plus an intercept is one column too many, which the next slide proves.</a:t>
            </a:r>
          </a:p>
          <a:p>
            <a:pPr lvl="0" indent="0" marL="0">
              <a:buNone/>
            </a:pPr>
          </a:p>
          <a:p>
            <a:pPr lvl="0" indent="0" marL="0">
              <a:buNone/>
            </a:pPr>
            <a:r>
              <a:rPr/>
              <a:t>Handout Section 6.1 and 6.2.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the word before using it, because this is the first time in the course they meet it: a model that fits an intercept is carrying one extra column made entirely of ones, so that it has a baseline to work from. That is all they need today - Lesson 3 is where it becomes a coefficient in an equation.</a:t>
            </a:r>
          </a:p>
          <a:p>
            <a:pPr lvl="0" indent="0" marL="0">
              <a:buNone/>
            </a:pPr>
          </a:p>
          <a:p>
            <a:pPr lvl="0" indent="0" marL="0">
              <a:buNone/>
            </a:pPr>
            <a:r>
              <a:rPr/>
              <a:t>Now the redundancy, which needs no model at all. Ask them the survey question from the handout: you record whether someone travels by car, by bus or by bicycle, three yes/no columns, and everyone answered exactly once. How many of those columns do you actually have to read? Two. The third is whatever is left, which means the three columns carry two columns’ worth of information.</a:t>
            </a:r>
          </a:p>
          <a:p>
            <a:pPr lvl="0" indent="0" marL="0">
              <a:buNone/>
            </a:pPr>
          </a:p>
          <a:p>
            <a:pPr lvl="0" indent="0" marL="0">
              <a:buNone/>
            </a:pPr>
            <a:r>
              <a:rPr/>
              <a:t>The slide is that sentence in symbols, plus one step: the k dummies sum to 1 in every row, and a column of ones is exactly what the intercept is. So k dummies and an intercept are k+1 columns carrying k columns’ worth of information, and one of them is spare.</a:t>
            </a:r>
          </a:p>
          <a:p>
            <a:pPr lvl="0" indent="0" marL="0">
              <a:buNone/>
            </a:pPr>
          </a:p>
          <a:p>
            <a:pPr lvl="0" indent="0" marL="0">
              <a:buNone/>
            </a:pPr>
            <a:r>
              <a:rPr/>
              <a:t>Stop there. What exactly breaks - the design matrix losing rank, the normal equation no longer having a unique solution, infinitely many coefficient vectors fitting equally well - is Lesson 3’s machinery, and it is the right place for it. Today’s consequence is practical: pass drop=“first”.</a:t>
            </a:r>
          </a:p>
          <a:p>
            <a:pPr lvl="0" indent="0" marL="0">
              <a:buNone/>
            </a:pPr>
          </a:p>
          <a:p>
            <a:pPr lvl="0" indent="0" marL="0">
              <a:buNone/>
            </a:pPr>
            <a:r>
              <a:rPr/>
              <a:t>Handout Section 6.1 carries the proof for whoever wants it now. The next slide shows the redundancy as a number.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redundancy counted by numpy rather than argued, which is the version they will believe: matrix_rank on the k+1 columns comes back one short.</a:t>
            </a:r>
          </a:p>
          <a:p>
            <a:pPr lvl="0" indent="0" marL="0">
              <a:buNone/>
            </a:pPr>
          </a:p>
          <a:p>
            <a:pPr lvl="0" indent="0" marL="0">
              <a:buNone/>
            </a:pPr>
            <a:r>
              <a:rPr/>
              <a:t>Point at the number: short by exactly one, not by an arbitrary amount. That is the signature of a single dependence - the dummies summing to the intercept - and not of general collinearity.</a:t>
            </a:r>
          </a:p>
          <a:p>
            <a:pPr lvl="0" indent="0" marL="0">
              <a:buNone/>
            </a:pPr>
          </a:p>
          <a:p>
            <a:pPr lvl="0" indent="0" marL="0">
              <a:buNone/>
            </a:pPr>
            <a:r>
              <a:rPr/>
              <a:t>The fix is OneHotEncoder(drop=“first”). The dropped category becomes the reference level, absorbed into the intercept: no information is lost, because that category is still recoverable as “all the other dummies are 0”.</a:t>
            </a:r>
          </a:p>
          <a:p>
            <a:pPr lvl="0" indent="0" marL="0">
              <a:buNone/>
            </a:pPr>
          </a:p>
          <a:p>
            <a:pPr lvl="0" indent="0" marL="0">
              <a:buNone/>
            </a:pPr>
            <a:r>
              <a:rPr/>
              <a:t>What a rank-deficient matrix does to a fit - infinitely many coefficient vectors that predict identically, and a solver returning whichever one the arithmetic happens to land on - is Lesson 3, once the normal equation exists to say it with. Flag it as coming and move on.</a:t>
            </a:r>
          </a:p>
          <a:p>
            <a:pPr lvl="0" indent="0" marL="0">
              <a:buNone/>
            </a:pPr>
          </a:p>
          <a:p>
            <a:pPr lvl="0" indent="0" marL="0">
              <a:buNone/>
            </a:pPr>
            <a:r>
              <a:rPr/>
              <a:t>Two caveats worth saying now. Tree-based models (Lesson 7) do not need the drop at all. And regularised models tolerate the rank deficiency, because the penalty picks one solution out of the many - which is a good early sketch of what regularisation does, and Lesson 3 returns to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 panel out loud before making any argument with it, because it is a histogram of the 493 codes and nobody reads that off a projector unaided: the horizontal axis is how many customers share one zip code, the vertical axis is how many zip codes that happens to. The tallest bar stands at 3 and 4 - about a hundred codes each - and the whole thing stops at 12.</a:t>
            </a:r>
          </a:p>
          <a:p>
            <a:pPr lvl="0" indent="0" marL="0">
              <a:buNone/>
            </a:pPr>
          </a:p>
          <a:p>
            <a:pPr lvl="0" indent="0" marL="0">
              <a:buNone/>
            </a:pPr>
            <a:r>
              <a:rPr/>
              <a:t>Then 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condition out loud, because it is no longer written on the slide and it is the whole content: this equality holds ONLY IF f is independent of T. It was on the slide and made the formula too small to read from the back; it belongs in your mouth, not in the image.</a:t>
            </a:r>
          </a:p>
          <a:p>
            <a:pPr lvl="0" indent="0" marL="0">
              <a:buNone/>
            </a:pPr>
          </a:p>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picture is before reading anything off it: a confusion matrix is a table counting predictions against truth, one cell per combination - predicted stay and did stay, predicted stay and churned, and so on. Lesson 4 gives it its proper treatment; today it is a way of seeing where an accuracy number comes from.</a:t>
            </a:r>
          </a:p>
          <a:p>
            <a:pPr lvl="0" indent="0" marL="0">
              <a:buNone/>
            </a:pPr>
          </a:p>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formula was on this slide as a rendered equation and came out at 23pt, the smallest in the course: the column names are long enough that no amount of trimming saves it. It is one sentence to say — total_paid is the monthly charge times the months stayed, with tenure clipped at zero first — and the three AUCs are what does the work in the room.</a:t>
            </a:r>
          </a:p>
          <a:p>
            <a:pPr lvl="0" indent="0" marL="0">
              <a:buNone/>
            </a:pPr>
          </a:p>
          <a:p>
            <a:pPr lvl="0" indent="0" marL="0">
              <a:buNone/>
            </a:pPr>
            <a:r>
              <a:rPr/>
              <a:t>Do not let anyone in the room call three thousandths a win, and do not call it one yourself. Quote the four decimals: at three, 0.751 against 0.755 sounds like a difference of 0.004, and the difference is 0.0034. It is a legitimate result, not a failed experiment - the hypothesis that what a customer has been worth so far predicts whether they leave was reasonable, it was tested, and the data declined it. Feature engineering is a hypothesis about the domain, not a guarantee. Handout Section 7.</a:t>
            </a:r>
          </a:p>
          <a:p>
            <a:pPr lvl="0" indent="0" marL="0">
              <a:buNone/>
            </a:pPr>
          </a:p>
          <a:p>
            <a:pPr lvl="0" indent="0" marL="0">
              <a:buNone/>
            </a:pPr>
            <a:r>
              <a:rPr/>
              <a:t>Then the second number, which is the one to spend time on. Rebuild the same column after Section 4’s domain rule - tenure clipped to 0-120, not just at zero - and +0.0034 becomes -0.0075. The gain was never about what the customer paid: 999 months times a billing error of 3,344.7 is a total_paid no real customer could have, and those rows line up with the target well enough to move the score. Multiplying two contaminated columns concentrates the contamination. Say the moral out loud: the order of the steps is part of the method.</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rather than skating over it, because someone will ask. tenure_months still holds the -3 of Section 4 at this point, and multiplying by it unclipped hands the model a customer who has paid minus two hundred euros.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If someone objects to the obvious alternative, monthly_charges divided by tenure_months, they are right to: monthly_charges is already a rate, so dividing it by months again gives euros per month per month. Check the units before trusting a construction.</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product)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Let them work; circulate.</a:t>
            </a:r>
          </a:p>
          <a:p>
            <a:pPr lvl="0" indent="0" marL="0">
              <a:buNone/>
            </a:pPr>
          </a:p>
          <a:p>
            <a:pPr lvl="0" indent="0" marL="0">
              <a:buNone/>
            </a:pPr>
            <a:r>
              <a:rPr/>
              <a:t>Say what the eight sections are for before they start, because the notebook is long and the middle of it looks like plumbing: sections 3 and 4 are why we scale, 5 and 6 are why we encode and what zip_code costs, 7 is the pipeline that makes the rule true by construction, and 8 is the feature that does not work.</a:t>
            </a:r>
          </a:p>
          <a:p>
            <a:pPr lvl="0" indent="0" marL="0">
              <a:buNone/>
            </a:pPr>
          </a:p>
          <a:p>
            <a:pPr lvl="0" indent="0" marL="0">
              <a:buNone/>
            </a:pPr>
            <a:r>
              <a:rPr/>
              <a:t>The gradient descent toy in section 3 is worth running interactively - change the variance ratio live and watch the iteration count move, per the handout’s “try this”. It makes the condition number argument concrete in a way the derivation alone does not. The number to make them say out loud is the second one on the slide: the raw features do not diverge to infinity, they oscillate between 0.69 and 8.29 and never settle. That is a worse failure than slowness, because nothing errors.</a:t>
            </a:r>
          </a:p>
          <a:p>
            <a:pPr lvl="0" indent="0" marL="0">
              <a:buNone/>
            </a:pPr>
          </a:p>
          <a:p>
            <a:pPr lvl="0" indent="0" marL="0">
              <a:buNone/>
            </a:pPr>
            <a:r>
              <a:rPr/>
              <a:t>Section 5 is the one that lands without discussion: matrix_rank returns 3 for four columns, and short by exactly one is the signature of a single dependence. They believe numpy where they might not believe the algebra.</a:t>
            </a:r>
          </a:p>
          <a:p>
            <a:pPr lvl="0" indent="0" marL="0">
              <a:buNone/>
            </a:pPr>
          </a:p>
          <a:p>
            <a:pPr lvl="0" indent="0" marL="0">
              <a:buNone/>
            </a:pPr>
            <a:r>
              <a:rPr/>
              <a:t>If the room is moving fast, section 7 is where to slow down: ColumnTransformer is the piece they will reuse in every exercise and in the project, and getting the column selectors right is fiddlier than it looks.</a:t>
            </a:r>
          </a:p>
          <a:p>
            <a:pPr lvl="0" indent="0" marL="0">
              <a:buNone/>
            </a:pPr>
          </a:p>
          <a:p>
            <a:pPr lvl="0" indent="0" marL="0">
              <a:buNone/>
            </a:pPr>
            <a:r>
              <a:rPr/>
              <a:t>And leave time for section 8, which is the one they will get wrong on their own data: the engineered feature gains 0.0034, then loses 0.0075 once tenure is cleaned first. Ask them why before telling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both leaks inflate the score, neither raises an error, and both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say when it is discussed - the first ten minutes of Lesson 3, Friday 9 October.</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set last week. We discuss it now.</a:t>
            </a:r>
          </a:p>
          <a:p>
            <a:pPr lvl="0"/>
            <a:r>
              <a:rPr/>
              <a:t>The wine-quality workflow, end to end</a:t>
            </a:r>
          </a:p>
          <a:p>
            <a:pPr lvl="0"/>
            <a:r>
              <a:rPr/>
              <a:t>What counts is </a:t>
            </a:r>
            <a:r>
              <a:rPr b="1"/>
              <a:t>methodology</a:t>
            </a:r>
            <a:r>
              <a:rPr/>
              <a:t>, not accuracy</a:t>
            </a:r>
          </a:p>
          <a:p>
            <a:pPr lvl="0"/>
            <a:r>
              <a:rPr/>
              <a:t>A show of hands on how you framed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.info()</a:t>
            </a:r>
            <a:r>
              <a:rPr/>
              <a:t>, </a:t>
            </a:r>
            <a:r>
              <a:rPr>
                <a:latin typeface="Courier"/>
              </a:rPr>
              <a:t>.describe()</a:t>
            </a:r>
            <a:r>
              <a:rPr/>
              <a:t>, class balance, first: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of these four have no shape left to read</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it is “what does filling it cost”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most-frequent, </a:t>
            </a:r>
            <a:r>
              <a:rPr>
                <a:latin typeface="Courier"/>
              </a:rPr>
              <a:t>KNNImputer</a:t>
            </a:r>
          </a:p>
          <a:p>
            <a:pPr lvl="0"/>
            <a:r>
              <a:rPr b="1"/>
              <a:t>Add a missingness indicator</a:t>
            </a:r>
            <a:r>
              <a:rPr/>
              <a:t>: keeps MAR signal alive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outlier is far from the rest - not necessarily wrong</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runs </a:t>
            </a:r>
            <a:r>
              <a:rPr b="1"/>
              <a:t>-3 to 999</a:t>
            </a:r>
            <a:r>
              <a:rPr/>
              <a:t>; ordinary customers sit at 0 to 72</a:t>
            </a:r>
          </a:p>
          <a:p>
            <a:pPr lvl="0"/>
            <a:r>
              <a:rPr/>
              <a:t>Three reasons: a </a:t>
            </a:r>
            <a:r>
              <a:rPr b="1"/>
              <a:t>recording error</a:t>
            </a:r>
            <a:r>
              <a:rPr/>
              <a:t>, a </a:t>
            </a:r>
            <a:r>
              <a:rPr b="1"/>
              <a:t>rare but genuine</a:t>
            </a:r>
            <a:r>
              <a:rPr/>
              <a:t> value, a </a:t>
            </a:r>
            <a:r>
              <a:rPr b="1"/>
              <a:t>different population</a:t>
            </a:r>
          </a:p>
          <a:p>
            <a:pPr lvl="0"/>
            <a:r>
              <a:rPr/>
              <a:t>The arithmetic cannot tell which: 3,344.7 may be a typo or a corporate account</a:t>
            </a:r>
          </a:p>
          <a:p>
            <a:pPr lvl="0"/>
            <a:r>
              <a:rPr/>
              <a:t>Two rules follow - standard deviations, then quartiles - and both only </a:t>
            </a:r>
            <a:r>
              <a:rPr b="1"/>
              <a:t>flag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3149925" y="2297549"/>
            <a:ext cx="2844149" cy="109728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distance measured in quartiles</a:t>
            </a:r>
          </a:p>
        </p:txBody>
      </p:sp>
      <p:pic>
        <p:nvPicPr>
          <p:cNvPr descr="eq_f508402a31.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neighbourhood, not the same answer</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robust rule is the one that got it wrong</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a different question entirely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3,344.7 becomes 110.0 (</a:t>
            </a:r>
            <a:r>
              <a:rPr i="1"/>
              <a:t>Winsorising</a:t>
            </a:r>
            <a:r>
              <a:rPr/>
              <a:t>)</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from scratch.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0–72. </a:t>
            </a:r>
            <a:r>
              <a:rPr>
                <a:latin typeface="Courier"/>
              </a:rPr>
              <a:t>monthly_charges</a:t>
            </a:r>
            <a:r>
              <a:rPr/>
              <a:t>: 15–128</a:t>
            </a:r>
          </a:p>
          <a:p>
            <a:pPr lvl="0"/>
            <a:r>
              <a:rPr b="1"/>
              <a:t>Training</a:t>
            </a:r>
            <a:r>
              <a:rPr/>
              <a:t> = choosing the model’s numbers to make Lesson 1’s average loss small</a:t>
            </a:r>
          </a:p>
          <a:p>
            <a:pPr lvl="0"/>
            <a:r>
              <a:rPr b="1"/>
              <a:t>Gradient descent</a:t>
            </a:r>
            <a:r>
              <a:rPr/>
              <a:t> does it by repeated small steps downhill on that loss</a:t>
            </a:r>
          </a:p>
          <a:p>
            <a:pPr lvl="0"/>
            <a:r>
              <a:rPr/>
              <a:t>One step size, along every axis, every iteration. Can it suit both columns?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62159" y="1166099"/>
            <a:ext cx="6619682"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Every encoding makes a claim about the categories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model does arithmetic, and </a:t>
            </a:r>
            <a:r>
              <a:rPr>
                <a:latin typeface="Courier"/>
              </a:rPr>
              <a:t>"month-to-month"</a:t>
            </a:r>
            <a:r>
              <a:rPr/>
              <a:t> offers none.</a:t>
            </a:r>
          </a:p>
        </p:txBody>
      </p:sp>
      <p:graphicFrame>
        <p:nvGraphicFramePr>
          <p:cNvPr id="6" name="Content Placeholder 5"/>
          <p:cNvGraphicFramePr>
            <a:graphicFrameLocks noGrp="1"/>
          </p:cNvGraphicFramePr>
          <p:nvPr>
            <p:ph idx="1"/>
          </p:nvPr>
        </p:nvGraphicFramePr>
        <p:xfrm>
          <a:off x="457200" y="2160270"/>
          <a:ext cx="8229600" cy="43815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contract_type</a:t>
                      </a:r>
                    </a:p>
                  </a:txBody>
                  <a:tcPr/>
                </a:tc>
                <a:tc>
                  <a:txBody>
                    <a:bodyPr/>
                    <a:lstStyle/>
                    <a:p>
                      <a:pPr lvl="0" indent="0" marL="0">
                        <a:buNone/>
                      </a:pPr>
                      <a:r>
                        <a:rPr/>
                        <a:t>rows</a:t>
                      </a:r>
                    </a:p>
                  </a:txBody>
                  <a:tcPr/>
                </a:tc>
                <a:tc>
                  <a:txBody>
                    <a:bodyPr/>
                    <a:lstStyle/>
                    <a:p>
                      <a:pPr lvl="0" indent="0" marL="0">
                        <a:buNone/>
                      </a:pPr>
                      <a:r>
                        <a:rPr/>
                        <a:t>churn rate</a:t>
                      </a:r>
                    </a:p>
                  </a:txBody>
                  <a:tcPr/>
                </a:tc>
              </a:tr>
              <a:tr h="0">
                <a:tc>
                  <a:txBody>
                    <a:bodyPr/>
                    <a:lstStyle/>
                    <a:p>
                      <a:pPr lvl="0" indent="0" marL="0">
                        <a:buNone/>
                      </a:pPr>
                      <a:r>
                        <a:rPr>
                          <a:latin typeface="Courier"/>
                        </a:rPr>
                        <a:t>month-to-month</a:t>
                      </a:r>
                    </a:p>
                  </a:txBody>
                </a:tc>
                <a:tc>
                  <a:txBody>
                    <a:bodyPr/>
                    <a:lstStyle/>
                    <a:p>
                      <a:pPr lvl="0" indent="0" marL="0">
                        <a:buNone/>
                      </a:pPr>
                      <a:r>
                        <a:rPr/>
                        <a:t>1,092</a:t>
                      </a:r>
                    </a:p>
                  </a:txBody>
                </a:tc>
                <a:tc>
                  <a:txBody>
                    <a:bodyPr/>
                    <a:lstStyle/>
                    <a:p>
                      <a:pPr lvl="0" indent="0" marL="0">
                        <a:buNone/>
                      </a:pPr>
                      <a:r>
                        <a:rPr/>
                        <a:t>0.266</a:t>
                      </a:r>
                    </a:p>
                  </a:txBody>
                </a:tc>
              </a:tr>
              <a:tr h="0">
                <a:tc>
                  <a:txBody>
                    <a:bodyPr/>
                    <a:lstStyle/>
                    <a:p>
                      <a:pPr lvl="0" indent="0" marL="0">
                        <a:buNone/>
                      </a:pPr>
                      <a:r>
                        <a:rPr>
                          <a:latin typeface="Courier"/>
                        </a:rPr>
                        <a:t>one-year</a:t>
                      </a:r>
                    </a:p>
                  </a:txBody>
                </a:tc>
                <a:tc>
                  <a:txBody>
                    <a:bodyPr/>
                    <a:lstStyle/>
                    <a:p>
                      <a:pPr lvl="0" indent="0" marL="0">
                        <a:buNone/>
                      </a:pPr>
                      <a:r>
                        <a:rPr/>
                        <a:t>488</a:t>
                      </a:r>
                    </a:p>
                  </a:txBody>
                </a:tc>
                <a:tc>
                  <a:txBody>
                    <a:bodyPr/>
                    <a:lstStyle/>
                    <a:p>
                      <a:pPr lvl="0" indent="0" marL="0">
                        <a:buNone/>
                      </a:pPr>
                      <a:r>
                        <a:rPr/>
                        <a:t>0.137</a:t>
                      </a:r>
                    </a:p>
                  </a:txBody>
                </a:tc>
              </a:tr>
              <a:tr h="0">
                <a:tc>
                  <a:txBody>
                    <a:bodyPr/>
                    <a:lstStyle/>
                    <a:p>
                      <a:pPr lvl="0" indent="0" marL="0">
                        <a:buNone/>
                      </a:pPr>
                      <a:r>
                        <a:rPr>
                          <a:latin typeface="Courier"/>
                        </a:rPr>
                        <a:t>two-year</a:t>
                      </a:r>
                    </a:p>
                  </a:txBody>
                </a:tc>
                <a:tc>
                  <a:txBody>
                    <a:bodyPr/>
                    <a:lstStyle/>
                    <a:p>
                      <a:pPr lvl="0" indent="0" marL="0">
                        <a:buNone/>
                      </a:pPr>
                      <a:r>
                        <a:rPr/>
                        <a:t>420</a:t>
                      </a:r>
                    </a:p>
                  </a:txBody>
                </a:tc>
                <a:tc>
                  <a:txBody>
                    <a:bodyPr/>
                    <a:lstStyle/>
                    <a:p>
                      <a:pPr lvl="0" indent="0" marL="0">
                        <a:buNone/>
                      </a:pPr>
                      <a:r>
                        <a:rPr/>
                        <a:t>0.071</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customer, three encodings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Encoding</a:t>
                      </a:r>
                    </a:p>
                  </a:txBody>
                  <a:tcPr/>
                </a:tc>
                <a:tc>
                  <a:txBody>
                    <a:bodyPr/>
                    <a:lstStyle/>
                    <a:p>
                      <a:pPr lvl="0" indent="0" marL="0">
                        <a:buNone/>
                      </a:pPr>
                      <a:r>
                        <a:rPr/>
                        <a:t>A one-year customer becomes</a:t>
                      </a:r>
                    </a:p>
                  </a:txBody>
                  <a:tcPr/>
                </a:tc>
                <a:tc>
                  <a:txBody>
                    <a:bodyPr/>
                    <a:lstStyle/>
                    <a:p>
                      <a:pPr lvl="0" indent="0" marL="0">
                        <a:buNone/>
                      </a:pPr>
                      <a:r>
                        <a:rPr/>
                        <a:t>What that asserts</a:t>
                      </a:r>
                    </a:p>
                  </a:txBody>
                  <a:tcPr/>
                </a:tc>
              </a:tr>
              <a:tr h="0">
                <a:tc>
                  <a:txBody>
                    <a:bodyPr/>
                    <a:lstStyle/>
                    <a:p>
                      <a:pPr lvl="0" indent="0" marL="0">
                        <a:buNone/>
                      </a:pPr>
                      <a:r>
                        <a:rPr b="1"/>
                        <a:t>One-hot</a:t>
                      </a:r>
                    </a:p>
                  </a:txBody>
                </a:tc>
                <a:tc>
                  <a:txBody>
                    <a:bodyPr/>
                    <a:lstStyle/>
                    <a:p>
                      <a:pPr lvl="0" indent="0" marL="0">
                        <a:buNone/>
                      </a:pPr>
                      <a:r>
                        <a:rPr>
                          <a:latin typeface="Courier"/>
                        </a:rPr>
                        <a:t>[0, 1, 0]</a:t>
                      </a:r>
                    </a:p>
                  </a:txBody>
                </a:tc>
                <a:tc>
                  <a:txBody>
                    <a:bodyPr/>
                    <a:lstStyle/>
                    <a:p>
                      <a:pPr lvl="0" indent="0" marL="0">
                        <a:buNone/>
                      </a:pPr>
                      <a:r>
                        <a:rPr/>
                        <a:t>simply different: no order, no distances</a:t>
                      </a:r>
                    </a:p>
                  </a:txBody>
                </a:tc>
              </a:tr>
              <a:tr h="0">
                <a:tc>
                  <a:txBody>
                    <a:bodyPr/>
                    <a:lstStyle/>
                    <a:p>
                      <a:pPr lvl="0" indent="0" marL="0">
                        <a:buNone/>
                      </a:pPr>
                      <a:r>
                        <a:rPr b="1"/>
                        <a:t>Ordinal</a:t>
                      </a:r>
                    </a:p>
                  </a:txBody>
                </a:tc>
                <a:tc>
                  <a:txBody>
                    <a:bodyPr/>
                    <a:lstStyle/>
                    <a:p>
                      <a:pPr lvl="0" indent="0" marL="0">
                        <a:buNone/>
                      </a:pPr>
                      <a:r>
                        <a:rPr>
                          <a:latin typeface="Courier"/>
                        </a:rPr>
                        <a:t>1</a:t>
                      </a:r>
                    </a:p>
                  </a:txBody>
                </a:tc>
                <a:tc>
                  <a:txBody>
                    <a:bodyPr/>
                    <a:lstStyle/>
                    <a:p>
                      <a:pPr lvl="0" indent="0" marL="0">
                        <a:buNone/>
                      </a:pPr>
                      <a:r>
                        <a:rPr/>
                        <a:t>ordered, </a:t>
                      </a:r>
                      <a:r>
                        <a:rPr b="1"/>
                        <a:t>and</a:t>
                      </a:r>
                      <a:r>
                        <a:rPr/>
                        <a:t> equally spaced</a:t>
                      </a:r>
                    </a:p>
                  </a:txBody>
                </a:tc>
              </a:tr>
              <a:tr h="0">
                <a:tc>
                  <a:txBody>
                    <a:bodyPr/>
                    <a:lstStyle/>
                    <a:p>
                      <a:pPr lvl="0" indent="0" marL="0">
                        <a:buNone/>
                      </a:pPr>
                      <a:r>
                        <a:rPr b="1"/>
                        <a:t>Target</a:t>
                      </a:r>
                    </a:p>
                  </a:txBody>
                </a:tc>
                <a:tc>
                  <a:txBody>
                    <a:bodyPr/>
                    <a:lstStyle/>
                    <a:p>
                      <a:pPr lvl="0" indent="0" marL="0">
                        <a:buNone/>
                      </a:pPr>
                      <a:r>
                        <a:rPr>
                          <a:latin typeface="Courier"/>
                        </a:rPr>
                        <a:t>0.137</a:t>
                      </a:r>
                    </a:p>
                  </a:txBody>
                </a:tc>
                <a:tc>
                  <a:txBody>
                    <a:bodyPr/>
                    <a:lstStyle/>
                    <a:p>
                      <a:pPr lvl="0" indent="0" marL="0">
                        <a:buNone/>
                      </a:pPr>
                      <a:r>
                        <a:rPr/>
                        <a:t>the level’s own average outcome stands in for it</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Equal steps, unequal meaning</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One-hot claims nothing, and pays in columns</a:t>
            </a:r>
          </a:p>
        </p:txBody>
      </p:sp>
      <p:sp>
        <p:nvSpPr>
          <p:cNvPr id="3" name="Content Placeholder 2"/>
          <p:cNvSpPr>
            <a:spLocks noGrp="1"/>
          </p:cNvSpPr>
          <p:nvPr>
            <p:ph idx="1"/>
          </p:nvPr>
        </p:nvSpPr>
        <p:spPr>
          <a:xfrm>
            <a:off x="457200" y="1200151"/>
            <a:ext cx="8229600" cy="3394472"/>
          </a:xfrm>
        </p:spPr>
        <p:txBody>
          <a:bodyPr/>
          <a:lstStyle/>
          <a:p>
            <a:pPr lvl="0"/>
            <a:r>
              <a:rPr/>
              <a:t>A column with k levels becomes k binary columns, one 1 per row</a:t>
            </a:r>
          </a:p>
          <a:p>
            <a:pPr lvl="0"/>
            <a:r>
              <a:rPr/>
              <a:t>It asserts no order and no distance - which is why it is the default</a:t>
            </a:r>
          </a:p>
          <a:p>
            <a:pPr lvl="0"/>
            <a:r>
              <a:rPr/>
              <a:t>The price is width: </a:t>
            </a:r>
            <a:r>
              <a:rPr>
                <a:latin typeface="Courier"/>
              </a:rPr>
              <a:t>zip_code</a:t>
            </a:r>
            <a:r>
              <a:rPr/>
              <a:t> would add </a:t>
            </a:r>
            <a:r>
              <a:rPr b="1"/>
              <a:t>493</a:t>
            </a:r>
            <a:r>
              <a:rPr/>
              <a:t> columns to 2,000 rows</a:t>
            </a:r>
          </a:p>
          <a:p>
            <a:pPr lvl="0"/>
            <a:r>
              <a:rPr/>
              <a:t>Target encoding compresses any cardinality into one column - computed from the labels, which is where leakage gets in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All k dummies plus an intercept cannot both be free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Most models carry a column of ones - the </a:t>
            </a:r>
            <a:r>
              <a:rPr b="1"/>
              <a:t>intercept</a:t>
            </a:r>
            <a:r>
              <a:rPr/>
              <a:t> - so they can fit a baseline level.</a:t>
            </a:r>
          </a:p>
        </p:txBody>
      </p:sp>
      <p:pic>
        <p:nvPicPr>
          <p:cNvPr descr="eq_3723e214d0.png" id="0" name="Picture 1"/>
          <p:cNvPicPr>
            <a:picLocks noGrp="1" noChangeAspect="1"/>
          </p:cNvPicPr>
          <p:nvPr/>
        </p:nvPicPr>
        <p:blipFill>
          <a:blip r:embed="rId3"/>
          <a:stretch>
            <a:fillRect/>
          </a:stretch>
        </p:blipFill>
        <p:spPr bwMode="auto">
          <a:xfrm>
            <a:off x="457200" y="2401579"/>
            <a:ext cx="8229599" cy="188339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codes, 2,000 customers</a:t>
            </a:r>
          </a:p>
        </p:txBody>
      </p:sp>
      <p:pic>
        <p:nvPicPr>
          <p:cNvPr descr="onehot_width.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not just “the model part”.</a:t>
            </a:r>
          </a:p>
        </p:txBody>
      </p:sp>
      <p:pic>
        <p:nvPicPr>
          <p:cNvPr descr="eq_3460d29d6f.png" id="0" name="Picture 1"/>
          <p:cNvPicPr>
            <a:picLocks noGrp="1" noChangeAspect="1"/>
          </p:cNvPicPr>
          <p:nvPr/>
        </p:nvPicPr>
        <p:blipFill>
          <a:blip r:embed="rId3"/>
          <a:stretch>
            <a:fillRect/>
          </a:stretch>
        </p:blipFill>
        <p:spPr bwMode="auto">
          <a:xfrm>
            <a:off x="1296590" y="2829964"/>
            <a:ext cx="6550819" cy="102662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the low-cardinality categoricals, no zip): </a:t>
            </a:r>
            <a:r>
              <a:rPr b="1"/>
              <a:t>0.820</a:t>
            </a:r>
            <a:r>
              <a:rPr/>
              <a:t> accuracy, </a:t>
            </a:r>
            <a:r>
              <a:rPr b="1"/>
              <a:t>0.751</a:t>
            </a:r>
            <a:r>
              <a:rPr/>
              <a:t> AUC (area under the receiver operating characteristic curve)</a:t>
            </a:r>
          </a:p>
          <a:p>
            <a:pPr lvl="0" indent="0" marL="0">
              <a:buNone/>
            </a:pPr>
            <a:r>
              <a:rPr/>
              <a:t>Modest accuracy gain. Why?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engineering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Ratios, interactions, binning: a linear model cannot invent these itself.</a:t>
            </a:r>
          </a:p>
          <a:p>
            <a:pPr lvl="0" indent="0" marL="0">
              <a:buNone/>
            </a:pPr>
            <a:r>
              <a:rPr>
                <a:latin typeface="Courier"/>
              </a:rPr>
              <a:t>total_paid</a:t>
            </a:r>
            <a:r>
              <a:rPr/>
              <a:t> = charge × months stayed. AUC: 0.7514 → 0.7548, under four thousandths. Clean </a:t>
            </a:r>
            <a:r>
              <a:rPr>
                <a:latin typeface="Courier"/>
              </a:rPr>
              <a:t>tenure_months</a:t>
            </a:r>
            <a:r>
              <a:rPr/>
              <a:t> first and the same feature scores </a:t>
            </a:r>
            <a:r>
              <a:rPr b="1"/>
              <a:t>0.7439</a:t>
            </a:r>
            <a:r>
              <a:rPr/>
              <a:t> — the gain was living in the 999s.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Four numbers to come back with:</a:t>
            </a:r>
          </a:p>
          <a:p>
            <a:pPr lvl="0"/>
            <a:r>
              <a:rPr/>
              <a:t>Variance ratio </a:t>
            </a:r>
            <a:r>
              <a:rPr b="1"/>
              <a:t>110:1</a:t>
            </a:r>
            <a:r>
              <a:rPr/>
              <a:t> - learning rate </a:t>
            </a:r>
            <a:r>
              <a:rPr b="1"/>
              <a:t>2.0</a:t>
            </a:r>
            <a:r>
              <a:rPr/>
              <a:t> scaled, </a:t>
            </a:r>
            <a:r>
              <a:rPr b="1"/>
              <a:t>0.1</a:t>
            </a:r>
            <a:r>
              <a:rPr/>
              <a:t> raw</a:t>
            </a:r>
          </a:p>
          <a:p>
            <a:pPr lvl="0"/>
            <a:r>
              <a:rPr/>
              <a:t>That rate on raw features: loss swings </a:t>
            </a:r>
            <a:r>
              <a:rPr b="1"/>
              <a:t>0.69 to 8.29</a:t>
            </a:r>
            <a:r>
              <a:rPr/>
              <a:t>, for ever</a:t>
            </a:r>
          </a:p>
          <a:p>
            <a:pPr lvl="0"/>
            <a:r>
              <a:rPr/>
              <a:t>k dummies + intercept: </a:t>
            </a:r>
            <a:r>
              <a:rPr b="1"/>
              <a:t>4 columns, rank 3</a:t>
            </a:r>
          </a:p>
          <a:p>
            <a:pPr lvl="0"/>
            <a:r>
              <a:rPr>
                <a:latin typeface="Courier"/>
              </a:rPr>
              <a:t>Pipeline</a:t>
            </a:r>
            <a:r>
              <a:rPr/>
              <a:t>, then </a:t>
            </a:r>
            <a:r>
              <a:rPr>
                <a:latin typeface="Courier"/>
              </a:rPr>
              <a:t>total_paid</a:t>
            </a:r>
            <a:r>
              <a:rPr/>
              <a:t>: </a:t>
            </a:r>
            <a:r>
              <a:rPr b="1"/>
              <a:t>0.7514 → 0.7548 → 0.7439</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Nothing raised an error.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own disagreement, divided by your group size</a:t>
            </a:r>
          </a:p>
        </p:txBody>
      </p:sp>
      <p:pic>
        <p:nvPicPr>
          <p:cNvPr descr="eq_2274cba409.png" id="0" name="Picture 1"/>
          <p:cNvPicPr>
            <a:picLocks noGrp="1" noChangeAspect="1"/>
          </p:cNvPicPr>
          <p:nvPr/>
        </p:nvPicPr>
        <p:blipFill>
          <a:blip r:embed="rId3"/>
          <a:stretch>
            <a:fillRect/>
          </a:stretch>
        </p:blipFill>
        <p:spPr bwMode="auto">
          <a:xfrm>
            <a:off x="1553951" y="2189484"/>
            <a:ext cx="6036097" cy="131341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cross-fitted inside the pipeline.</a:t>
            </a:r>
          </a:p>
          <a:p>
            <a:pPr lvl="0" indent="0" marL="0">
              <a:buNone/>
            </a:pPr>
            <a:r>
              <a:rPr/>
              <a:t>Each row’s encoded value comes from </a:t>
            </a:r>
            <a:r>
              <a:rPr b="1"/>
              <a:t>other</a:t>
            </a:r>
            <a:r>
              <a:rPr/>
              <a:t> folds, never its own label.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look nothing like leaking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the derivations are examinable</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