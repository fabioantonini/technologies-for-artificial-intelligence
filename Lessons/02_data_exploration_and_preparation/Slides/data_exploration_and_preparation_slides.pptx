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fifteen minutes on what lesson 1 clarified come before this slide; the exercise discussion follows them, and the seed part of it lands better for having just seen that a test score is one measurement.</a:t>
            </a:r>
          </a:p>
          <a:p>
            <a:pPr lvl="0" indent="0" marL="0">
              <a:buNone/>
            </a:pPr>
          </a:p>
          <a:p>
            <a:pPr lvl="0" indent="0" marL="0">
              <a:buNone/>
            </a:pPr>
            <a:r>
              <a:rPr/>
              <a:t>Open with the exercise, briefly - two or three minutes, not a review session. Nothing is collected, so this is the whole of the feedback: ask for a show of hands, who treated quality as binary and who kept it as an integer regression problem. Both are defensible if justified; that was the whole point of Task 1.</a:t>
            </a:r>
          </a:p>
          <a:p>
            <a:pPr lvl="0" indent="0" marL="0">
              <a:buNone/>
            </a:pPr>
          </a:p>
          <a:p>
            <a:pPr lvl="0" indent="0" marL="0">
              <a:buNone/>
            </a:pPr>
            <a:r>
              <a:rPr/>
              <a:t>Say once, here and only here, why it is worth having done: at the exam one of the ten exercises is drawn and they talk through their own notebook for it. Then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25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after Section 4.</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predictable answer is “add an indicator, it keeps the MAR signal”, and the reasoning is sound as far as it goes: the gap rows are the long-tenure ones, and they churn at 12.5% against 19.7%, so the fact of the gap is informative.</a:t>
            </a:r>
          </a:p>
          <a:p>
            <a:pPr lvl="0" indent="0" marL="0">
              <a:buNone/>
            </a:pPr>
          </a:p>
          <a:p>
            <a:pPr lvl="0" indent="0" marL="0">
              <a:buNone/>
            </a:pPr>
            <a:r>
              <a:rPr/>
              <a:t>But under MAR the gap is explained by a column we already hold - that is the definition - so the model already has what the indicator would tell it. Notebook and handout agree: adding it moves the area under the curve from 0.751 to 0.741, no gain, well inside split-to-split noise. The indicator earns its place when the gap says something no other column does, and that is MNAR.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because its usual justification is half right. An indicator keeps the fact of the gap in the table after the gap is filled; that fact only helps if no other column already carries it. Under MCAR it carries nothing; under MAR the column that explains the gap is already there; under MNAR the blank may be the only trace left, and that is where the indicator earns its place.</a:t>
            </a:r>
          </a:p>
          <a:p>
            <a:pPr lvl="0" indent="0" marL="0">
              <a:buNone/>
            </a:pPr>
          </a:p>
          <a:p>
            <a:pPr lvl="0" indent="0" marL="0">
              <a:buNone/>
            </a:pPr>
            <a:r>
              <a:rPr/>
              <a:t>Then the line at the bottom: every option except dropping the column learns a statistic, so all of them are fitted on the training data only.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reach for by reflex. It is cheap, but it adds information only when the gap tells the model something no other column does: on this dataset it does not, and the area under the curve goes 0.751 to 0.741 with it.</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Pay off the 999 from slide 6: they have already seen it, and now it gets a name.</a:t>
            </a:r>
          </a:p>
          <a:p>
            <a:pPr lvl="0" indent="0" marL="0">
              <a:buNone/>
            </a:pPr>
          </a:p>
          <a:p>
            <a:pPr lvl="0" indent="0" marL="0">
              <a:buNone/>
            </a:pPr>
            <a:r>
              <a:rPr/>
              <a:t>Put the three reasons to the room before reading them out - ask what could make a customer’s monthly charge 3,344.7 when everyone else is under 128. Someone will say typo; ask whether they are sure, and let the silence do the work. That is the point of the third bullet.</a:t>
            </a:r>
          </a:p>
          <a:p>
            <a:pPr lvl="0" indent="0" marL="0">
              <a:buNone/>
            </a:pPr>
          </a:p>
          <a:p>
            <a:pPr lvl="0" indent="0" marL="0">
              <a:buNone/>
            </a:pPr>
            <a:r>
              <a:rPr/>
              <a:t>The last bullet is the promise the next six slides keep: rule 1 in standard deviations, rule 2 in quartiles, then the slide where they disagree and the slide where the robust one is the one that got it wrong. Nothing here deletes a row - what to do once something is flagged is Section 4.2, and it has no automatic answer.</a:t>
            </a:r>
          </a:p>
          <a:p>
            <a:pPr lvl="0" indent="0" marL="0">
              <a:buNone/>
            </a:pPr>
          </a:p>
          <a:p>
            <a:pPr lvl="0" indent="0" marL="0">
              <a:buNone/>
            </a:pPr>
            <a:r>
              <a:rPr/>
              <a:t>Handout Section 4 opening.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from the data being measured, which is the crack the section prises open.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a:t>
            </a:r>
          </a:p>
          <a:p>
            <a:pPr lvl="0" indent="0" marL="0">
              <a:buNone/>
            </a:pPr>
          </a:p>
          <a:p>
            <a:pPr lvl="0" indent="0" marL="0">
              <a:buNone/>
            </a:pPr>
            <a:r>
              <a:rPr/>
              <a:t>Then make that concrete, because a percentage does not land: take 2,000 values off a perfect bell curve, nothing wrong with any of them. The z-score rule still nominates about 5 and Tukey about 14 - false alarms both, the tail being flagged for being the tail. Say what that means for the twenty real billing errors in this dataset: neither rule can tell the two kinds apart, which is why a flag is a candidate and never a verdict.</a:t>
            </a:r>
          </a:p>
          <a:p>
            <a:pPr lvl="0" indent="0" marL="0">
              <a:buNone/>
            </a:pPr>
          </a:p>
          <a:p>
            <a:pPr lvl="0" indent="0" marL="0">
              <a:buNone/>
            </a:pPr>
            <a:r>
              <a:rPr/>
              <a:t>The moral to state out loud: the two rules were built to sit in the same neighbourhood, not to agree, and even on perfect data Tukey’s is the readier of the two to call something an outlier.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they sit in the same neighbourhood, and out in the tail a neighbourhood is a factor of 2.6.</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17.23 to 171.25, dragging the z-score fence from 115.0 out to 593.0.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15.0 to 16.7, four paying 111.6 to 128.4, outside fences of 17.3 and 110.0.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its fence sails straight past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 Winsorising, after Charles Winsor - replaces the value with the fence itself: the billing error of 3,344.7 becomes 110.0, the row keeps every other column it has, and the sample keeps its size. It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Exploration, missingness mechanisms, both outlier rules: from scratch. The table is the notebook’s map - no scikit-learn yet, only the pandas calls that do the looking, each next to the slides where the idea was introduced.</a:t>
            </a:r>
          </a:p>
          <a:p>
            <a:pPr lvl="0" indent="0" marL="0">
              <a:buNone/>
            </a:pPr>
          </a:p>
          <a:p>
            <a:pPr lvl="0" indent="0" marL="0">
              <a:buNone/>
            </a:pPr>
            <a:r>
              <a:rPr/>
              <a:t>Work through notebook 1 now, 20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Two cells now open with “Your prediction”: the correlation left after filling 40% with the mean, and how many points each outlier rule flags. Give them a minute to write a number in the cell before running it. The point is to commit to an answer, not to be right; the most useful wrong answer in the room is “the IQR rule, because it flagged more”.</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Reconnect to Lesson 1 before anything else, because the vocabulary is already theirs: the empirical risk was the average loss over the rows we hold, and choosing the f that makes it small was the whole definition of learning. What was left open there is HOW you make it small. This is the how.</a:t>
            </a:r>
          </a:p>
          <a:p>
            <a:pPr lvl="0" indent="0" marL="0">
              <a:buNone/>
            </a:pPr>
          </a:p>
          <a:p>
            <a:pPr lvl="0" indent="0" marL="0">
              <a:buNone/>
            </a:pPr>
            <a:r>
              <a:rPr/>
              <a:t>Say what a model’s “numbers” are, once: one coefficient per feature, plus the intercept. Training is a search over those numbers, and every candidate set of them has a loss.</a:t>
            </a:r>
          </a:p>
          <a:p>
            <a:pPr lvl="0" indent="0" marL="0">
              <a:buNone/>
            </a:pPr>
          </a:p>
          <a:p>
            <a:pPr lvl="0" indent="0" marL="0">
              <a:buNone/>
            </a:pPr>
            <a:r>
              <a:rPr/>
              <a:t>Then say what a single step is, because the slide leans on it: gradient descent starts from some numbers, works out for each one whether nudging it up or down lowers the loss, and moves them all at once - each by the same step size, times how steeply the loss falls in that direction. One step size for the whole model, not one per feature. That is the sentence the next slide draws.</a:t>
            </a:r>
          </a:p>
          <a:p>
            <a:pPr lvl="0" indent="0" marL="0">
              <a:buNone/>
            </a:pPr>
          </a:p>
          <a:p>
            <a:pPr lvl="0" indent="0" marL="0">
              <a:buNone/>
            </a:pPr>
            <a:r>
              <a:rPr/>
              <a:t>Ask, before turning over: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Read the axes first, and do not skip this - a contour plot of a loss surface is new to most of them and it is not a plot of the data. Neither axis is a column. The horizontal axis is the coefficient the model gives feature 1, the vertical axis is the coefficient it gives feature 2, so every point in the square is one candidate model. The grey rings join the models that fit equally badly, the way contour lines on a map join points of equal altitude. The blue star is the model with the lowest loss - what training is looking for. The rust dots are successive steps, and the line joining them is the search.</a:t>
            </a:r>
          </a:p>
          <a:p>
            <a:pPr lvl="0" indent="0" marL="0">
              <a:buNone/>
            </a:pPr>
          </a:p>
          <a:p>
            <a:pPr lvl="0" indent="0" marL="0">
              <a:buNone/>
            </a:pPr>
            <a:r>
              <a:rPr/>
              <a:t>Left: the two features have different spreads, so the loss surface is a narrow ravine - steep across, almost flat along. One step size has to serve both. Long enough to advance along the flat direction and it overshoots the steep one and bounces from wall to wall; short enough to be safe on the steep one and it crawls along the flat one. Count the dots out loud: twenty-six steps and it is still not at the star.</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which number is which before anyone asks: the title’s 100:1 is how the two features were built, spreads of 1 and 10; the sample of 1,000 points measures 110:1, which is the figure notebook 2 prints and the toolbox slide quotes.</a:t>
            </a:r>
          </a:p>
          <a:p>
            <a:pPr lvl="0" indent="0" marL="0">
              <a:buNone/>
            </a:pPr>
          </a:p>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off one wall of the ravine into the other. Run it for 2000 steps and it is still in the same band. Worse than slow, not better: a slow run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by saying what the problem is, because nothing so far has needed it: a model does arithmetic, and a column holding the words “month-to-month” offers nothing to do arithmetic with. It has to become numbers, and there is more than one way to do that.</a:t>
            </a:r>
          </a:p>
          <a:p>
            <a:pPr lvl="0" indent="0" marL="0">
              <a:buNone/>
            </a:pPr>
          </a:p>
          <a:p>
            <a:pPr lvl="0" indent="0" marL="0">
              <a:buNone/>
            </a:pPr>
            <a:r>
              <a:rPr/>
              <a:t>Give them the word: the distinct values a categorical column can take are its levels. contract_type has three, with 2,000 rows spread across them.</a:t>
            </a:r>
          </a:p>
          <a:p>
            <a:pPr lvl="0" indent="0" marL="0">
              <a:buNone/>
            </a:pPr>
          </a:p>
          <a:p>
            <a:pPr lvl="0" indent="0" marL="0">
              <a:buNone/>
            </a:pPr>
            <a:r>
              <a:rPr/>
              <a:t>Then the sentence the whole section hangs on, and it is worth saying slowly: every way of turning a category into numbers makes a claim about the categories. The claim is the part to get right - the code is three lines either way.</a:t>
            </a:r>
          </a:p>
          <a:p>
            <a:pPr lvl="0" indent="0" marL="0">
              <a:buNone/>
            </a:pPr>
          </a:p>
          <a:p>
            <a:pPr lvl="0" indent="0" marL="0">
              <a:buNone/>
            </a:pPr>
            <a:r>
              <a:rPr/>
              <a:t>Point at the churn column before moving on. It does double duty: it is what target encoding will use as the number, and it is the evidence that will convict ordinal encoding two slides from now.</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customer, one contract, three numbers. Read the table a row at a time and let the right-hand column do the work - it is what each encoding is asserting about the world, not about the data type.</a:t>
            </a:r>
          </a:p>
          <a:p>
            <a:pPr lvl="0" indent="0" marL="0">
              <a:buNone/>
            </a:pPr>
          </a:p>
          <a:p>
            <a:pPr lvl="0" indent="0" marL="0">
              <a:buNone/>
            </a:pPr>
            <a:r>
              <a:rPr/>
              <a:t>The middle row is where damage usually happens, and this column shows why the mistake is reasonable: the order is genuine. A one-year contract really does sit between the other two, so ordinal looks safe here in a way it would not for region or zip code.</a:t>
            </a:r>
          </a:p>
          <a:p>
            <a:pPr lvl="0" indent="0" marL="0">
              <a:buNone/>
            </a:pPr>
          </a:p>
          <a:p>
            <a:pPr lvl="0" indent="0" marL="0">
              <a:buNone/>
            </a:pPr>
            <a:r>
              <a:rPr/>
              <a:t>Ask the room which of the three claims is true for THIS column before turning over. It is a domain question, not a technical one, and no cross-validation score will answer it.</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against right panel - that is the whole slide, and it is the answer to the question left hanging.</a:t>
            </a:r>
          </a:p>
          <a:p>
            <a:pPr lvl="0" indent="0" marL="0">
              <a:buNone/>
            </a:pPr>
          </a:p>
          <a:p>
            <a:pPr lvl="0" indent="0" marL="0">
              <a:buNone/>
            </a:pPr>
            <a:r>
              <a:rPr/>
              <a:t>Ordinal spaces the levels 0, 1, 2: equal steps by construction. The churn rates those levels stand in for fall 0.266, 0.137, 0.071, so the first step is 0.129 and the second is 0.066 - the first is nearly twice the second. The encoding asserts a regularity the column does not have, and a linear model has exactly one coefficient with which to believe it.</a:t>
            </a:r>
          </a:p>
          <a:p>
            <a:pPr lvl="0" indent="0" marL="0">
              <a:buNone/>
            </a:pPr>
          </a:p>
          <a:p>
            <a:pPr lvl="0" indent="0" marL="0">
              <a:buNone/>
            </a:pPr>
            <a:r>
              <a:rPr/>
              <a:t>Then the middle panel, which claims nothing at all and pays for that neutrality in columns - the caption says k = 493 for zip_code, and that is the thread into the next three slides.</a:t>
            </a:r>
          </a:p>
          <a:p>
            <a:pPr lvl="0" indent="0" marL="0">
              <a:buNone/>
            </a:pPr>
          </a:p>
          <a:p>
            <a:pPr lvl="0" indent="0" marL="0">
              <a:buNone/>
            </a:pPr>
            <a:r>
              <a:rPr/>
              <a:t>The right panel is computed from the labels. Say that out loud and leave it there: it is the first appearance of the leak the last third of the lesson is about.</a:t>
            </a:r>
          </a:p>
          <a:p>
            <a:pPr lvl="0" indent="0" marL="0">
              <a:buNone/>
            </a:pPr>
          </a:p>
          <a:p>
            <a:pPr lvl="0" indent="0" marL="0">
              <a:buNone/>
            </a:pPr>
            <a:r>
              <a:rPr/>
              <a:t>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warning on the letter: k here counts the levels of a category. Slide 16 used k for the z-score cut-off, 3. Same letter, two jobs, both declared in the handout’s notation table - say so out loud once.</a:t>
            </a:r>
          </a:p>
          <a:p>
            <a:pPr lvl="0" indent="0" marL="0">
              <a:buNone/>
            </a:pPr>
          </a:p>
          <a:p>
            <a:pPr lvl="0" indent="0" marL="0">
              <a:buNone/>
            </a:pPr>
            <a:r>
              <a:rPr/>
              <a:t>This is the encoding to spend time on, because it is what scikit-learn’s OneHotEncoder does and what the pipeline later in the notebook uses.</a:t>
            </a:r>
          </a:p>
          <a:p>
            <a:pPr lvl="0" indent="0" marL="0">
              <a:buNone/>
            </a:pPr>
          </a:p>
          <a:p>
            <a:pPr lvl="0" indent="0" marL="0">
              <a:buNone/>
            </a:pPr>
            <a:r>
              <a:rPr/>
              <a:t>The mechanics first: k levels, k binary columns, exactly one 1 in every row. No category is closer to any other, which is precisely the neutrality that makes it the safe default.</a:t>
            </a:r>
          </a:p>
          <a:p>
            <a:pPr lvl="0" indent="0" marL="0">
              <a:buNone/>
            </a:pPr>
          </a:p>
          <a:p>
            <a:pPr lvl="0" indent="0" marL="0">
              <a:buNone/>
            </a:pPr>
            <a:r>
              <a:rPr/>
              <a:t>Then the cost, which is the honest trade: k columns. Three is nothing; 493 on 2,000 rows is the curse of dimensionality, two slides from here.</a:t>
            </a:r>
          </a:p>
          <a:p>
            <a:pPr lvl="0" indent="0" marL="0">
              <a:buNone/>
            </a:pPr>
          </a:p>
          <a:p>
            <a:pPr lvl="0" indent="0" marL="0">
              <a:buNone/>
            </a:pPr>
            <a:r>
              <a:rPr/>
              <a:t>The last bullet is the hook, not a conclusion. Target encoding is the obvious escape from the width problem and it is the more dangerous of the two encodings in this entire lesson. Do not resolve it - the leakage section does.</a:t>
            </a:r>
          </a:p>
          <a:p>
            <a:pPr lvl="0" indent="0" marL="0">
              <a:buNone/>
            </a:pPr>
          </a:p>
          <a:p>
            <a:pPr lvl="0" indent="0" marL="0">
              <a:buNone/>
            </a:pPr>
            <a:r>
              <a:rPr/>
              <a:t>One more thing this slide sets up: k columns plus an intercept is one column too many, which the next slide proves.</a:t>
            </a:r>
          </a:p>
          <a:p>
            <a:pPr lvl="0" indent="0" marL="0">
              <a:buNone/>
            </a:pPr>
          </a:p>
          <a:p>
            <a:pPr lvl="0" indent="0" marL="0">
              <a:buNone/>
            </a:pPr>
            <a:r>
              <a:rPr/>
              <a:t>Handout Section 6.1 and 6.2.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the word before using it, because this is the first time in the course they meet it: a model that fits an intercept is carrying one extra column made entirely of ones, so that it has a baseline to work from. That is all they need today - Lesson 3 is where it becomes a coefficient in an equation.</a:t>
            </a:r>
          </a:p>
          <a:p>
            <a:pPr lvl="0" indent="0" marL="0">
              <a:buNone/>
            </a:pPr>
          </a:p>
          <a:p>
            <a:pPr lvl="0" indent="0" marL="0">
              <a:buNone/>
            </a:pPr>
            <a:r>
              <a:rPr/>
              <a:t>Now the redundancy, which needs no model at all. Ask them the survey question from the handout: you record whether someone travels by car, by bus or by bicycle, three yes/no columns, and everyone answered exactly once. How many of those columns do you actually have to read? Two. The third is whatever is left, which means the three columns carry two columns’ worth of information.</a:t>
            </a:r>
          </a:p>
          <a:p>
            <a:pPr lvl="0" indent="0" marL="0">
              <a:buNone/>
            </a:pPr>
          </a:p>
          <a:p>
            <a:pPr lvl="0" indent="0" marL="0">
              <a:buNone/>
            </a:pPr>
            <a:r>
              <a:rPr/>
              <a:t>The slide is that sentence in symbols, plus one step: the k dummies sum to 1 in every row, and a column of ones is exactly what the intercept is. So k dummies and an intercept are k+1 columns carrying k columns’ worth of information, and one of them is spare.</a:t>
            </a:r>
          </a:p>
          <a:p>
            <a:pPr lvl="0" indent="0" marL="0">
              <a:buNone/>
            </a:pPr>
          </a:p>
          <a:p>
            <a:pPr lvl="0" indent="0" marL="0">
              <a:buNone/>
            </a:pPr>
            <a:r>
              <a:rPr/>
              <a:t>Stop there. What exactly breaks - the design matrix losing rank, the normal equation no longer having a unique solution, infinitely many coefficient vectors fitting equally well - is Lesson 3’s machinery, and it is the right place for it. Today’s consequence is practical: pass drop=“first”.</a:t>
            </a:r>
          </a:p>
          <a:p>
            <a:pPr lvl="0" indent="0" marL="0">
              <a:buNone/>
            </a:pPr>
          </a:p>
          <a:p>
            <a:pPr lvl="0" indent="0" marL="0">
              <a:buNone/>
            </a:pPr>
            <a:r>
              <a:rPr/>
              <a:t>Handout Section 6.1 carries the proof for whoever wants it now. The next slide shows the redundancy as a number.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redundancy counted by numpy rather than argued, which is the version they will believe: matrix_rank on the k+1 columns comes back one short.</a:t>
            </a:r>
          </a:p>
          <a:p>
            <a:pPr lvl="0" indent="0" marL="0">
              <a:buNone/>
            </a:pPr>
          </a:p>
          <a:p>
            <a:pPr lvl="0" indent="0" marL="0">
              <a:buNone/>
            </a:pPr>
            <a:r>
              <a:rPr/>
              <a:t>Point at the number: short by exactly one, not by an arbitrary amount. That is the signature of a single dependence - the dummies summing to the intercept - and not of general collinearity.</a:t>
            </a:r>
          </a:p>
          <a:p>
            <a:pPr lvl="0" indent="0" marL="0">
              <a:buNone/>
            </a:pPr>
          </a:p>
          <a:p>
            <a:pPr lvl="0" indent="0" marL="0">
              <a:buNone/>
            </a:pPr>
            <a:r>
              <a:rPr/>
              <a:t>The fix is OneHotEncoder(drop=“first”). The dropped category becomes the reference level, absorbed into the intercept: no information is lost, because that category is still recoverable as “all the other dummies are 0”.</a:t>
            </a:r>
          </a:p>
          <a:p>
            <a:pPr lvl="0" indent="0" marL="0">
              <a:buNone/>
            </a:pPr>
          </a:p>
          <a:p>
            <a:pPr lvl="0" indent="0" marL="0">
              <a:buNone/>
            </a:pPr>
            <a:r>
              <a:rPr/>
              <a:t>What a rank-deficient matrix does to a fit - infinitely many coefficient vectors that predict identically, and a solver returning whichever one the arithmetic happens to land on - is Lesson 3, once the normal equation exists to say it with. Flag it as coming and move on.</a:t>
            </a:r>
          </a:p>
          <a:p>
            <a:pPr lvl="0" indent="0" marL="0">
              <a:buNone/>
            </a:pPr>
          </a:p>
          <a:p>
            <a:pPr lvl="0" indent="0" marL="0">
              <a:buNone/>
            </a:pPr>
            <a:r>
              <a:rPr/>
              <a:t>Two caveats worth saying now. Tree-based models (Lesson 7) do not need the drop at all. And regularised models tolerate the rank deficiency, because the penalty picks one solution out of the many - which is a good early sketch of what regularisation does, and Lesson 3 returns to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 panel out loud before making any argument with it, because it is a histogram of the 493 codes and nobody reads that off a projector unaided: the horizontal axis is how many customers share one zip code, the vertical axis is how many zip codes that happens to. The tallest bar stands at 3 and 4 - about a hundred codes each - and the whole thing stops at 12.</a:t>
            </a:r>
          </a:p>
          <a:p>
            <a:pPr lvl="0" indent="0" marL="0">
              <a:buNone/>
            </a:pPr>
          </a:p>
          <a:p>
            <a:pPr lvl="0" indent="0" marL="0">
              <a:buNone/>
            </a:pPr>
            <a:r>
              <a:rPr/>
              <a:t>Then 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condition out loud, because it is no longer written on the slide and it is the whole content: this equality holds ONLY IF f is independent of T. It was on the slide and made the formula too small to read from the back; it belongs in your mouth, not in the image.</a:t>
            </a:r>
          </a:p>
          <a:p>
            <a:pPr lvl="0" indent="0" marL="0">
              <a:buNone/>
            </a:pPr>
          </a:p>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two slides back,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0.751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picture is before reading anything off it: a confusion matrix is a table counting predictions against truth, one cell per combination - predicted stay and did stay, predicted stay and churned, and so on. Lesson 4 gives it its proper treatment; today it is a way of seeing where an accuracy number comes from.</a:t>
            </a:r>
          </a:p>
          <a:p>
            <a:pPr lvl="0" indent="0" marL="0">
              <a:buNone/>
            </a:pPr>
          </a:p>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formula was on this slide as a rendered equation and came out at 23pt, the smallest in the course: the column names are long enough that no amount of trimming saves it. It is one sentence to say - total_paid is the monthly charge times the months stayed, with tenure clipped at zero first - and the three AUCs are what does the work in the room.</a:t>
            </a:r>
          </a:p>
          <a:p>
            <a:pPr lvl="0" indent="0" marL="0">
              <a:buNone/>
            </a:pPr>
          </a:p>
          <a:p>
            <a:pPr lvl="0" indent="0" marL="0">
              <a:buNone/>
            </a:pPr>
            <a:r>
              <a:rPr/>
              <a:t>Do not let anyone in the room call three thousandths a win, and do not call it one yourself. Quote the four decimals, 0.7514 against 0.7548: at three, 0.751 against 0.755 sounds like a difference of 0.004, and the difference is 0.0034. It is a legitimate result, not a failed experiment - the hypothesis that what a customer has been worth so far predicts whether they leave was reasonable, it was tested, and the data declined it. Feature engineering is a hypothesis about the domain, not a guarantee. Handout Section 7.</a:t>
            </a:r>
          </a:p>
          <a:p>
            <a:pPr lvl="0" indent="0" marL="0">
              <a:buNone/>
            </a:pPr>
          </a:p>
          <a:p>
            <a:pPr lvl="0" indent="0" marL="0">
              <a:buNone/>
            </a:pPr>
            <a:r>
              <a:rPr/>
              <a:t>Then the second number, which is the one to spend time on. Rebuild the same column after Section 4’s domain rule - tenure clipped to 0-120, not just at zero - and +0.0034 becomes -0.0075. The gain was never about what the customer paid: 999 months times a billing error of 3,344.7 is a total_paid no real customer could have, and those rows line up with the target well enough to move the score. Multiplying two contaminated columns concentrates the contamination. Say the moral out loud: the order of the steps is part of the method.</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rather than skating over it, because someone will ask. tenure_months still holds the -3 of Section 4 at this point, and multiplying by it unclipped hands the model a customer who has paid minus two hundred euros.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If someone objects to the obvious alternative, monthly_charges divided by tenure_months, they are right to: monthly_charges is already a rate, so dividing it by months again gives euros per month per month. Check the units before trusting a construction.</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product)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right-hand column carries the four numbers to come back with, each next to the calls that produce it. The rest of the table is the map: every scikit-learn name the notebook uses, beside the slides that introduced the idea.</a:t>
            </a:r>
          </a:p>
          <a:p>
            <a:pPr lvl="0" indent="0" marL="0">
              <a:buNone/>
            </a:pPr>
          </a:p>
          <a:p>
            <a:pPr lvl="0" indent="0" marL="0">
              <a:buNone/>
            </a:pPr>
            <a:r>
              <a:rPr/>
              <a:t>20 minutes. Let them work; circulate.</a:t>
            </a:r>
          </a:p>
          <a:p>
            <a:pPr lvl="0" indent="0" marL="0">
              <a:buNone/>
            </a:pPr>
          </a:p>
          <a:p>
            <a:pPr lvl="0" indent="0" marL="0">
              <a:buNone/>
            </a:pPr>
            <a:r>
              <a:rPr/>
              <a:t>Say what the eight sections are for before they start, because the notebook is long and the middle of it looks like plumbing: sections 3 and 4 are why we scale, 5 and 6 are why we encode and what zip_code costs, 7 is the pipeline that makes the rule true by construction, and 8 is the feature that does not work.</a:t>
            </a:r>
          </a:p>
          <a:p>
            <a:pPr lvl="0" indent="0" marL="0">
              <a:buNone/>
            </a:pPr>
          </a:p>
          <a:p>
            <a:pPr lvl="0" indent="0" marL="0">
              <a:buNone/>
            </a:pPr>
            <a:r>
              <a:rPr/>
              <a:t>The gradient descent toy in section 3 is worth running interactively - change the variance ratio live and watch the iteration count move, per the handout’s “try this”. It makes the condition number argument concrete in a way the derivation alone does not. The number to make them say out loud is the second one on the slide: the raw features do not diverge to infinity, they oscillate between 0.69 and 8.29 and never settle. That is a worse failure than slowness, because nothing errors.</a:t>
            </a:r>
          </a:p>
          <a:p>
            <a:pPr lvl="0" indent="0" marL="0">
              <a:buNone/>
            </a:pPr>
          </a:p>
          <a:p>
            <a:pPr lvl="0" indent="0" marL="0">
              <a:buNone/>
            </a:pPr>
            <a:r>
              <a:rPr/>
              <a:t>Section 5 is the one that lands without discussion: matrix_rank returns 3 for four columns, and short by exactly one is the signature of a single dependence. They believe numpy where they might not believe the algebra.</a:t>
            </a:r>
          </a:p>
          <a:p>
            <a:pPr lvl="0" indent="0" marL="0">
              <a:buNone/>
            </a:pPr>
          </a:p>
          <a:p>
            <a:pPr lvl="0" indent="0" marL="0">
              <a:buNone/>
            </a:pPr>
            <a:r>
              <a:rPr/>
              <a:t>If the room is moving fast, section 7 is where to slow down: ColumnTransformer is the piece they will reuse in every exercise, and getting the column selectors right is fiddlier than it looks.</a:t>
            </a:r>
          </a:p>
          <a:p>
            <a:pPr lvl="0" indent="0" marL="0">
              <a:buNone/>
            </a:pPr>
          </a:p>
          <a:p>
            <a:pPr lvl="0" indent="0" marL="0">
              <a:buNone/>
            </a:pPr>
            <a:r>
              <a:rPr/>
              <a:t>And leave time for section 8, which is the one they will get wrong on their own data: the engineered feature gains 0.0034, then loses 0.0075 once tenure is cleaned first. Ask them why before telling them.</a:t>
            </a:r>
          </a:p>
          <a:p>
            <a:pPr lvl="0" indent="0" marL="0">
              <a:buNone/>
            </a:pPr>
          </a:p>
          <a:p>
            <a:pPr lvl="0" indent="0" marL="0">
              <a:buNone/>
            </a:pPr>
            <a:r>
              <a:rPr/>
              <a:t>Two prediction cells to give a minute each: what learning rate 2.0 does on the raw features (most expect “slower”; it oscillates for ever), and what accuracy the full pipeline reaches against the 0.806 baseline (0.820, which is the cue for why accuracy is the wrong scale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is fitted on the training data only.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symbols first, pointing at each: ȳ_c is the churn rate of zip code c over all its customers, row i included; ȳ_c with (−i) is the same rate with row i left out; y_i is row i’s own label; n_c is how many customers zip code c has - not n, the number of features.</a:t>
            </a:r>
          </a:p>
          <a:p>
            <a:pPr lvl="0" indent="0" marL="0">
              <a:buNone/>
            </a:pPr>
          </a:p>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Trace the imputation leak. Watch the encoding leak manufacture 0.89 from noise. The table puts each leak beside the calls that commit it and the slides that explain it; the fix row is the one to leave on screen.</a:t>
            </a:r>
          </a:p>
          <a:p>
            <a:pPr lvl="0" indent="0" marL="0">
              <a:buNone/>
            </a:pPr>
          </a:p>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neither leak raises an error, and both are things a competent person does by accident. They differ in what they do to the score: the imputation leak contaminates 94 of 128 rows and barely moves the AUC (+0.0007, negative in 14 of 20 splits), so it cannot be caught by its effect; the encoding leak adds 0.14 out of a column with no signal. Three cells ask for a prediction first - how many rows borrow from the test set, how much that leak is worth, what AUC an empty column reaches - give each a minute.</a:t>
            </a:r>
          </a:p>
          <a:p>
            <a:pPr lvl="0" indent="0" marL="0">
              <a:buNone/>
            </a:pPr>
          </a:p>
          <a:p>
            <a:pPr lvl="0" indent="0" marL="0">
              <a:buNone/>
            </a:pPr>
            <a:r>
              <a:rPr/>
              <a:t>Close with section 6, five minutes: everyone sets MY_SEED to their birthday as DDMM, runs the cell and calls out the three numbers; tally them on the board. Expect leak 1 at roughly 70-80% of the rows every time, the leaky encoding always about 0.11-0.15 above the honest one, and the honest AUC itself moving between about 0.74 and 0.80 from one birthday to the next - lesson 5’s lottery, seen a week early.</a:t>
            </a:r>
          </a:p>
          <a:p>
            <a:pPr lvl="0" indent="0" marL="0">
              <a:buNone/>
            </a:pPr>
          </a:p>
          <a:p>
            <a:pPr lvl="0" indent="0" marL="0">
              <a:buNone/>
            </a:pPr>
            <a:r>
              <a:rPr/>
              <a:t>If time is short, the target encoding case is the one to keep: it is the subtlest and the one most likely to appear in their own exercises.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there is, since the exam draws one of their own notebooks and asks why each decision was made.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say when it is discussed - the first ten minutes of Lesson 3, Friday 16 October.</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that nothing is handed in: every exercise is kept, because one of the ten is drawn at the exam and discussed from their own notebook.</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set last week. We discuss it now.</a:t>
            </a:r>
          </a:p>
          <a:p>
            <a:pPr lvl="0"/>
            <a:r>
              <a:rPr/>
              <a:t>The wine-quality workflow, end to end</a:t>
            </a:r>
          </a:p>
          <a:p>
            <a:pPr lvl="0"/>
            <a:r>
              <a:rPr/>
              <a:t>What counts is </a:t>
            </a:r>
            <a:r>
              <a:rPr b="1"/>
              <a:t>methodology</a:t>
            </a:r>
            <a:r>
              <a:rPr/>
              <a:t>, not accuracy</a:t>
            </a:r>
          </a:p>
          <a:p>
            <a:pPr lvl="0"/>
            <a:r>
              <a:rPr/>
              <a:t>A show of hands on how you framed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.info()</a:t>
            </a:r>
            <a:r>
              <a:rPr/>
              <a:t>, </a:t>
            </a:r>
            <a:r>
              <a:rPr>
                <a:latin typeface="Courier"/>
              </a:rPr>
              <a:t>.describe()</a:t>
            </a:r>
            <a:r>
              <a:rPr/>
              <a:t>, class balance, first: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of these four have no shape left to read</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missing completely at random</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MCAR, for short: some customers just left it blank. Nothing systematic.</a:t>
            </a:r>
          </a:p>
          <a:p>
            <a:pPr lvl="0"/>
            <a:r>
              <a:rPr/>
              <a:t>Safe to impute with a fixed statistic</a:t>
            </a:r>
          </a:p>
          <a:p>
            <a:pPr lvl="0"/>
            <a:r>
              <a:rPr/>
              <a:t>The bias question is not “is this fair”: it is “what does filling it cost”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Support calls: missing at random</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MAR, for short: missing more often for long-tenure customers - a column we can see explains it.</a:t>
            </a:r>
          </a:p>
          <a:p>
            <a:pPr lvl="0"/>
            <a:r>
              <a:rPr/>
              <a:t>Treating it as MCAR reweights the sample the wrong way</a:t>
            </a:r>
          </a:p>
          <a:p>
            <a:pPr lvl="0"/>
            <a:r>
              <a:rPr/>
              <a:t>A </a:t>
            </a:r>
            <a:r>
              <a:rPr b="1"/>
              <a:t>missingness indicator</a:t>
            </a:r>
            <a:r>
              <a:rPr/>
              <a:t> would record the gap - but </a:t>
            </a:r>
            <a:r>
              <a:rPr>
                <a:latin typeface="Courier"/>
              </a:rPr>
              <a:t>tenure_months</a:t>
            </a:r>
            <a:r>
              <a:rPr/>
              <a:t> already tells the model what the gap would: here it gains nothing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or most-frequent with </a:t>
            </a:r>
            <a:r>
              <a:rPr>
                <a:latin typeface="Courier"/>
              </a:rPr>
              <a:t>SimpleImputer</a:t>
            </a:r>
            <a:r>
              <a:rPr/>
              <a:t>, neighbours with </a:t>
            </a:r>
            <a:r>
              <a:rPr>
                <a:latin typeface="Courier"/>
              </a:rPr>
              <a:t>KNNImputer</a:t>
            </a:r>
          </a:p>
          <a:p>
            <a:pPr lvl="0"/>
            <a:r>
              <a:rPr b="1"/>
              <a:t>Add a missingness indicator</a:t>
            </a:r>
            <a:r>
              <a:rPr/>
              <a:t>: only when the gap says what no other column does - above all when missing not at random (MNAR)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outlier is far from the rest - not necessarily wrong</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runs </a:t>
            </a:r>
            <a:r>
              <a:rPr b="1"/>
              <a:t>-3 to 999</a:t>
            </a:r>
            <a:r>
              <a:rPr/>
              <a:t>; ordinary customers sit at 0 to 72</a:t>
            </a:r>
          </a:p>
          <a:p>
            <a:pPr lvl="0"/>
            <a:r>
              <a:rPr/>
              <a:t>Three reasons: a </a:t>
            </a:r>
            <a:r>
              <a:rPr b="1"/>
              <a:t>recording error</a:t>
            </a:r>
            <a:r>
              <a:rPr/>
              <a:t>, a </a:t>
            </a:r>
            <a:r>
              <a:rPr b="1"/>
              <a:t>rare but genuine</a:t>
            </a:r>
            <a:r>
              <a:rPr/>
              <a:t> value, a </a:t>
            </a:r>
            <a:r>
              <a:rPr b="1"/>
              <a:t>different population</a:t>
            </a:r>
          </a:p>
          <a:p>
            <a:pPr lvl="0"/>
            <a:r>
              <a:rPr/>
              <a:t>The arithmetic cannot tell which: 3,344.7 may be a typo or a corporate account</a:t>
            </a:r>
          </a:p>
          <a:p>
            <a:pPr lvl="0"/>
            <a:r>
              <a:rPr/>
              <a:t>Two rules follow - standard deviations, then quartiles - and both only </a:t>
            </a:r>
            <a:r>
              <a:rPr b="1"/>
              <a:t>flag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3149925" y="2297549"/>
            <a:ext cx="2844149" cy="109728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distance measured in quartiles</a:t>
            </a:r>
          </a:p>
        </p:txBody>
      </p:sp>
      <p:pic>
        <p:nvPicPr>
          <p:cNvPr descr="eq_f508402a31.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neighbourhood, not the same answer</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robust rule is the one that got it wrong</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a different question entirely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3,344.7 becomes 110.0 (</a:t>
            </a:r>
            <a:r>
              <a:rPr i="1"/>
              <a:t>Winsorising</a:t>
            </a:r>
            <a:r>
              <a:rPr/>
              <a:t>)</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(pandas, no model yet)</a:t>
                      </a:r>
                    </a:p>
                  </a:txBody>
                  <a:tcPr/>
                </a:tc>
              </a:tr>
              <a:tr h="0">
                <a:tc>
                  <a:txBody>
                    <a:bodyPr/>
                    <a:lstStyle/>
                    <a:p>
                      <a:pPr lvl="0" indent="0" marL="0">
                        <a:buNone/>
                      </a:pPr>
                      <a:r>
                        <a:rPr/>
                        <a:t>first look, 6</a:t>
                      </a:r>
                    </a:p>
                  </a:txBody>
                </a:tc>
                <a:tc>
                  <a:txBody>
                    <a:bodyPr/>
                    <a:lstStyle/>
                    <a:p>
                      <a:pPr lvl="0" indent="0" marL="0">
                        <a:buNone/>
                      </a:pPr>
                      <a:r>
                        <a:rPr>
                          <a:latin typeface="Courier"/>
                        </a:rPr>
                        <a:t>df.info()</a:t>
                      </a:r>
                      <a:r>
                        <a:rPr/>
                        <a:t>, </a:t>
                      </a:r>
                      <a:r>
                        <a:rPr>
                          <a:latin typeface="Courier"/>
                        </a:rPr>
                        <a:t>df.describe()</a:t>
                      </a:r>
                    </a:p>
                  </a:txBody>
                </a:tc>
              </a:tr>
              <a:tr h="0">
                <a:tc>
                  <a:txBody>
                    <a:bodyPr/>
                    <a:lstStyle/>
                    <a:p>
                      <a:pPr lvl="0" indent="0" marL="0">
                        <a:buNone/>
                      </a:pPr>
                      <a:r>
                        <a:rPr/>
                        <a:t>distributions, 7</a:t>
                      </a:r>
                    </a:p>
                  </a:txBody>
                </a:tc>
                <a:tc>
                  <a:txBody>
                    <a:bodyPr/>
                    <a:lstStyle/>
                    <a:p>
                      <a:pPr lvl="0" indent="0" marL="0">
                        <a:buNone/>
                      </a:pPr>
                      <a:r>
                        <a:rPr>
                          <a:latin typeface="Courier"/>
                        </a:rPr>
                        <a:t>df.hist()</a:t>
                      </a:r>
                    </a:p>
                  </a:txBody>
                </a:tc>
              </a:tr>
              <a:tr h="0">
                <a:tc>
                  <a:txBody>
                    <a:bodyPr/>
                    <a:lstStyle/>
                    <a:p>
                      <a:pPr lvl="0" indent="0" marL="0">
                        <a:buNone/>
                      </a:pPr>
                      <a:r>
                        <a:rPr/>
                        <a:t>missingness, 8-12</a:t>
                      </a:r>
                    </a:p>
                  </a:txBody>
                </a:tc>
                <a:tc>
                  <a:txBody>
                    <a:bodyPr/>
                    <a:lstStyle/>
                    <a:p>
                      <a:pPr lvl="0" indent="0" marL="0">
                        <a:buNone/>
                      </a:pPr>
                      <a:r>
                        <a:rPr>
                          <a:latin typeface="Courier"/>
                        </a:rPr>
                        <a:t>df.isna().mean()</a:t>
                      </a:r>
                      <a:r>
                        <a:rPr/>
                        <a:t>, and the mean before and after filling</a:t>
                      </a:r>
                    </a:p>
                  </a:txBody>
                </a:tc>
              </a:tr>
              <a:tr h="0">
                <a:tc>
                  <a:txBody>
                    <a:bodyPr/>
                    <a:lstStyle/>
                    <a:p>
                      <a:pPr lvl="0" indent="0" marL="0">
                        <a:buNone/>
                      </a:pPr>
                      <a:r>
                        <a:rPr/>
                        <a:t>outliers from scratch, 15-19</a:t>
                      </a:r>
                    </a:p>
                  </a:txBody>
                </a:tc>
                <a:tc>
                  <a:txBody>
                    <a:bodyPr/>
                    <a:lstStyle/>
                    <a:p>
                      <a:pPr lvl="0" indent="0" marL="0">
                        <a:buNone/>
                      </a:pPr>
                      <a:r>
                        <a:rPr>
                          <a:latin typeface="Courier"/>
                        </a:rPr>
                        <a:t>.mean()</a:t>
                      </a:r>
                      <a:r>
                        <a:rPr/>
                        <a:t> and </a:t>
                      </a:r>
                      <a:r>
                        <a:rPr>
                          <a:latin typeface="Courier"/>
                        </a:rPr>
                        <a:t>.std()</a:t>
                      </a:r>
                      <a:r>
                        <a:rPr/>
                        <a:t> for rule 1, </a:t>
                      </a:r>
                      <a:r>
                        <a:rPr>
                          <a:latin typeface="Courier"/>
                        </a:rPr>
                        <a:t>.quantile([0.25, 0.75])</a:t>
                      </a:r>
                      <a:r>
                        <a:rPr/>
                        <a:t> for rule 2</a:t>
                      </a:r>
                    </a:p>
                  </a:txBody>
                </a:tc>
              </a:tr>
              <a:tr h="0">
                <a:tc>
                  <a:txBody>
                    <a:bodyPr/>
                    <a:lstStyle/>
                    <a:p>
                      <a:pPr lvl="0" indent="0" marL="0">
                        <a:buNone/>
                      </a:pPr>
                      <a:r>
                        <a:rPr/>
                        <a:t>correlations, categories</a:t>
                      </a:r>
                    </a:p>
                  </a:txBody>
                </a:tc>
                <a:tc>
                  <a:txBody>
                    <a:bodyPr/>
                    <a:lstStyle/>
                    <a:p>
                      <a:pPr lvl="0" indent="0" marL="0">
                        <a:buNone/>
                      </a:pPr>
                      <a:r>
                        <a:rPr>
                          <a:latin typeface="Courier"/>
                        </a:rPr>
                        <a:t>df.corr()</a:t>
                      </a:r>
                      <a:r>
                        <a:rPr/>
                        <a:t>, </a:t>
                      </a:r>
                      <a:r>
                        <a:rPr>
                          <a:latin typeface="Courier"/>
                        </a:rPr>
                        <a:t>.value_counts()</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0–72. </a:t>
            </a:r>
            <a:r>
              <a:rPr>
                <a:latin typeface="Courier"/>
              </a:rPr>
              <a:t>monthly_charges</a:t>
            </a:r>
            <a:r>
              <a:rPr/>
              <a:t>: 15–128</a:t>
            </a:r>
          </a:p>
          <a:p>
            <a:pPr lvl="0"/>
            <a:r>
              <a:rPr b="1"/>
              <a:t>Training</a:t>
            </a:r>
            <a:r>
              <a:rPr/>
              <a:t> = choosing the model’s numbers to make Lesson 1’s average loss small</a:t>
            </a:r>
          </a:p>
          <a:p>
            <a:pPr lvl="0"/>
            <a:r>
              <a:rPr b="1"/>
              <a:t>Gradient descent</a:t>
            </a:r>
            <a:r>
              <a:rPr/>
              <a:t> does it by repeated small steps downhill on that loss</a:t>
            </a:r>
          </a:p>
          <a:p>
            <a:pPr lvl="0"/>
            <a:r>
              <a:rPr/>
              <a:t>One step size - the </a:t>
            </a:r>
            <a:r>
              <a:rPr b="1"/>
              <a:t>learning rate</a:t>
            </a:r>
            <a:r>
              <a:rPr/>
              <a:t> - along every axis, every iteration. Can it suit both columns?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62159" y="1166099"/>
            <a:ext cx="6619682"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(x − μ)/σ and (x − min)/(max − min),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Every encoding makes a claim about the categories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model does arithmetic, and </a:t>
            </a:r>
            <a:r>
              <a:rPr>
                <a:latin typeface="Courier"/>
              </a:rPr>
              <a:t>"month-to-month"</a:t>
            </a:r>
            <a:r>
              <a:rPr/>
              <a:t> offers none.</a:t>
            </a:r>
          </a:p>
        </p:txBody>
      </p:sp>
      <p:graphicFrame>
        <p:nvGraphicFramePr>
          <p:cNvPr id="6" name="Content Placeholder 5"/>
          <p:cNvGraphicFramePr>
            <a:graphicFrameLocks noGrp="1"/>
          </p:cNvGraphicFramePr>
          <p:nvPr>
            <p:ph idx="1"/>
          </p:nvPr>
        </p:nvGraphicFramePr>
        <p:xfrm>
          <a:off x="457200" y="2160270"/>
          <a:ext cx="8229600" cy="43815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contract_type</a:t>
                      </a:r>
                    </a:p>
                  </a:txBody>
                  <a:tcPr/>
                </a:tc>
                <a:tc>
                  <a:txBody>
                    <a:bodyPr/>
                    <a:lstStyle/>
                    <a:p>
                      <a:pPr lvl="0" indent="0" marL="0">
                        <a:buNone/>
                      </a:pPr>
                      <a:r>
                        <a:rPr/>
                        <a:t>rows</a:t>
                      </a:r>
                    </a:p>
                  </a:txBody>
                  <a:tcPr/>
                </a:tc>
                <a:tc>
                  <a:txBody>
                    <a:bodyPr/>
                    <a:lstStyle/>
                    <a:p>
                      <a:pPr lvl="0" indent="0" marL="0">
                        <a:buNone/>
                      </a:pPr>
                      <a:r>
                        <a:rPr/>
                        <a:t>churn rate</a:t>
                      </a:r>
                    </a:p>
                  </a:txBody>
                  <a:tcPr/>
                </a:tc>
              </a:tr>
              <a:tr h="0">
                <a:tc>
                  <a:txBody>
                    <a:bodyPr/>
                    <a:lstStyle/>
                    <a:p>
                      <a:pPr lvl="0" indent="0" marL="0">
                        <a:buNone/>
                      </a:pPr>
                      <a:r>
                        <a:rPr>
                          <a:latin typeface="Courier"/>
                        </a:rPr>
                        <a:t>month-to-month</a:t>
                      </a:r>
                    </a:p>
                  </a:txBody>
                </a:tc>
                <a:tc>
                  <a:txBody>
                    <a:bodyPr/>
                    <a:lstStyle/>
                    <a:p>
                      <a:pPr lvl="0" indent="0" marL="0">
                        <a:buNone/>
                      </a:pPr>
                      <a:r>
                        <a:rPr/>
                        <a:t>1,092</a:t>
                      </a:r>
                    </a:p>
                  </a:txBody>
                </a:tc>
                <a:tc>
                  <a:txBody>
                    <a:bodyPr/>
                    <a:lstStyle/>
                    <a:p>
                      <a:pPr lvl="0" indent="0" marL="0">
                        <a:buNone/>
                      </a:pPr>
                      <a:r>
                        <a:rPr/>
                        <a:t>0.266</a:t>
                      </a:r>
                    </a:p>
                  </a:txBody>
                </a:tc>
              </a:tr>
              <a:tr h="0">
                <a:tc>
                  <a:txBody>
                    <a:bodyPr/>
                    <a:lstStyle/>
                    <a:p>
                      <a:pPr lvl="0" indent="0" marL="0">
                        <a:buNone/>
                      </a:pPr>
                      <a:r>
                        <a:rPr>
                          <a:latin typeface="Courier"/>
                        </a:rPr>
                        <a:t>one-year</a:t>
                      </a:r>
                    </a:p>
                  </a:txBody>
                </a:tc>
                <a:tc>
                  <a:txBody>
                    <a:bodyPr/>
                    <a:lstStyle/>
                    <a:p>
                      <a:pPr lvl="0" indent="0" marL="0">
                        <a:buNone/>
                      </a:pPr>
                      <a:r>
                        <a:rPr/>
                        <a:t>488</a:t>
                      </a:r>
                    </a:p>
                  </a:txBody>
                </a:tc>
                <a:tc>
                  <a:txBody>
                    <a:bodyPr/>
                    <a:lstStyle/>
                    <a:p>
                      <a:pPr lvl="0" indent="0" marL="0">
                        <a:buNone/>
                      </a:pPr>
                      <a:r>
                        <a:rPr/>
                        <a:t>0.137</a:t>
                      </a:r>
                    </a:p>
                  </a:txBody>
                </a:tc>
              </a:tr>
              <a:tr h="0">
                <a:tc>
                  <a:txBody>
                    <a:bodyPr/>
                    <a:lstStyle/>
                    <a:p>
                      <a:pPr lvl="0" indent="0" marL="0">
                        <a:buNone/>
                      </a:pPr>
                      <a:r>
                        <a:rPr>
                          <a:latin typeface="Courier"/>
                        </a:rPr>
                        <a:t>two-year</a:t>
                      </a:r>
                    </a:p>
                  </a:txBody>
                </a:tc>
                <a:tc>
                  <a:txBody>
                    <a:bodyPr/>
                    <a:lstStyle/>
                    <a:p>
                      <a:pPr lvl="0" indent="0" marL="0">
                        <a:buNone/>
                      </a:pPr>
                      <a:r>
                        <a:rPr/>
                        <a:t>420</a:t>
                      </a:r>
                    </a:p>
                  </a:txBody>
                </a:tc>
                <a:tc>
                  <a:txBody>
                    <a:bodyPr/>
                    <a:lstStyle/>
                    <a:p>
                      <a:pPr lvl="0" indent="0" marL="0">
                        <a:buNone/>
                      </a:pPr>
                      <a:r>
                        <a:rPr/>
                        <a:t>0.071</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customer, three encodings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Encoding</a:t>
                      </a:r>
                    </a:p>
                  </a:txBody>
                  <a:tcPr/>
                </a:tc>
                <a:tc>
                  <a:txBody>
                    <a:bodyPr/>
                    <a:lstStyle/>
                    <a:p>
                      <a:pPr lvl="0" indent="0" marL="0">
                        <a:buNone/>
                      </a:pPr>
                      <a:r>
                        <a:rPr/>
                        <a:t>A one-year customer becomes</a:t>
                      </a:r>
                    </a:p>
                  </a:txBody>
                  <a:tcPr/>
                </a:tc>
                <a:tc>
                  <a:txBody>
                    <a:bodyPr/>
                    <a:lstStyle/>
                    <a:p>
                      <a:pPr lvl="0" indent="0" marL="0">
                        <a:buNone/>
                      </a:pPr>
                      <a:r>
                        <a:rPr/>
                        <a:t>What that asserts</a:t>
                      </a:r>
                    </a:p>
                  </a:txBody>
                  <a:tcPr/>
                </a:tc>
              </a:tr>
              <a:tr h="0">
                <a:tc>
                  <a:txBody>
                    <a:bodyPr/>
                    <a:lstStyle/>
                    <a:p>
                      <a:pPr lvl="0" indent="0" marL="0">
                        <a:buNone/>
                      </a:pPr>
                      <a:r>
                        <a:rPr b="1"/>
                        <a:t>One-hot</a:t>
                      </a:r>
                    </a:p>
                  </a:txBody>
                </a:tc>
                <a:tc>
                  <a:txBody>
                    <a:bodyPr/>
                    <a:lstStyle/>
                    <a:p>
                      <a:pPr lvl="0" indent="0" marL="0">
                        <a:buNone/>
                      </a:pPr>
                      <a:r>
                        <a:rPr>
                          <a:latin typeface="Courier"/>
                        </a:rPr>
                        <a:t>[0, 1, 0]</a:t>
                      </a:r>
                    </a:p>
                  </a:txBody>
                </a:tc>
                <a:tc>
                  <a:txBody>
                    <a:bodyPr/>
                    <a:lstStyle/>
                    <a:p>
                      <a:pPr lvl="0" indent="0" marL="0">
                        <a:buNone/>
                      </a:pPr>
                      <a:r>
                        <a:rPr/>
                        <a:t>simply different: no order, no distances</a:t>
                      </a:r>
                    </a:p>
                  </a:txBody>
                </a:tc>
              </a:tr>
              <a:tr h="0">
                <a:tc>
                  <a:txBody>
                    <a:bodyPr/>
                    <a:lstStyle/>
                    <a:p>
                      <a:pPr lvl="0" indent="0" marL="0">
                        <a:buNone/>
                      </a:pPr>
                      <a:r>
                        <a:rPr b="1"/>
                        <a:t>Ordinal</a:t>
                      </a:r>
                    </a:p>
                  </a:txBody>
                </a:tc>
                <a:tc>
                  <a:txBody>
                    <a:bodyPr/>
                    <a:lstStyle/>
                    <a:p>
                      <a:pPr lvl="0" indent="0" marL="0">
                        <a:buNone/>
                      </a:pPr>
                      <a:r>
                        <a:rPr>
                          <a:latin typeface="Courier"/>
                        </a:rPr>
                        <a:t>1</a:t>
                      </a:r>
                    </a:p>
                  </a:txBody>
                </a:tc>
                <a:tc>
                  <a:txBody>
                    <a:bodyPr/>
                    <a:lstStyle/>
                    <a:p>
                      <a:pPr lvl="0" indent="0" marL="0">
                        <a:buNone/>
                      </a:pPr>
                      <a:r>
                        <a:rPr/>
                        <a:t>ordered, </a:t>
                      </a:r>
                      <a:r>
                        <a:rPr b="1"/>
                        <a:t>and</a:t>
                      </a:r>
                      <a:r>
                        <a:rPr/>
                        <a:t> equally spaced</a:t>
                      </a:r>
                    </a:p>
                  </a:txBody>
                </a:tc>
              </a:tr>
              <a:tr h="0">
                <a:tc>
                  <a:txBody>
                    <a:bodyPr/>
                    <a:lstStyle/>
                    <a:p>
                      <a:pPr lvl="0" indent="0" marL="0">
                        <a:buNone/>
                      </a:pPr>
                      <a:r>
                        <a:rPr b="1"/>
                        <a:t>Target</a:t>
                      </a:r>
                    </a:p>
                  </a:txBody>
                </a:tc>
                <a:tc>
                  <a:txBody>
                    <a:bodyPr/>
                    <a:lstStyle/>
                    <a:p>
                      <a:pPr lvl="0" indent="0" marL="0">
                        <a:buNone/>
                      </a:pPr>
                      <a:r>
                        <a:rPr>
                          <a:latin typeface="Courier"/>
                        </a:rPr>
                        <a:t>0.137</a:t>
                      </a:r>
                    </a:p>
                  </a:txBody>
                </a:tc>
                <a:tc>
                  <a:txBody>
                    <a:bodyPr/>
                    <a:lstStyle/>
                    <a:p>
                      <a:pPr lvl="0" indent="0" marL="0">
                        <a:buNone/>
                      </a:pPr>
                      <a:r>
                        <a:rPr/>
                        <a:t>the level’s own average outcome stands in for it</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Equal steps, unequal meaning</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One-hot claims nothing, and pays in columns</a:t>
            </a:r>
          </a:p>
        </p:txBody>
      </p:sp>
      <p:sp>
        <p:nvSpPr>
          <p:cNvPr id="3" name="Content Placeholder 2"/>
          <p:cNvSpPr>
            <a:spLocks noGrp="1"/>
          </p:cNvSpPr>
          <p:nvPr>
            <p:ph idx="1"/>
          </p:nvPr>
        </p:nvSpPr>
        <p:spPr>
          <a:xfrm>
            <a:off x="457200" y="1200151"/>
            <a:ext cx="8229600" cy="3394472"/>
          </a:xfrm>
        </p:spPr>
        <p:txBody>
          <a:bodyPr/>
          <a:lstStyle/>
          <a:p>
            <a:pPr lvl="0"/>
            <a:r>
              <a:rPr/>
              <a:t>A column with k levels becomes k binary columns, one 1 per row: </a:t>
            </a:r>
            <a:r>
              <a:rPr>
                <a:latin typeface="Courier"/>
              </a:rPr>
              <a:t>OneHotEncoder</a:t>
            </a:r>
          </a:p>
          <a:p>
            <a:pPr lvl="0"/>
            <a:r>
              <a:rPr/>
              <a:t>It asserts no order and no distance - which is why it is the default</a:t>
            </a:r>
          </a:p>
          <a:p>
            <a:pPr lvl="0"/>
            <a:r>
              <a:rPr/>
              <a:t>The price is width: </a:t>
            </a:r>
            <a:r>
              <a:rPr>
                <a:latin typeface="Courier"/>
              </a:rPr>
              <a:t>zip_code</a:t>
            </a:r>
            <a:r>
              <a:rPr/>
              <a:t> would add </a:t>
            </a:r>
            <a:r>
              <a:rPr b="1"/>
              <a:t>493</a:t>
            </a:r>
            <a:r>
              <a:rPr/>
              <a:t> columns to 2,000 rows</a:t>
            </a:r>
          </a:p>
          <a:p>
            <a:pPr lvl="0"/>
            <a:r>
              <a:rPr/>
              <a:t>Target encoding compresses any cardinality into one column - computed from the labels, which is where leakage gets in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All k dummies plus an intercept cannot both be free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Most models carry a column of ones - the </a:t>
            </a:r>
            <a:r>
              <a:rPr b="1"/>
              <a:t>intercept</a:t>
            </a:r>
            <a:r>
              <a:rPr/>
              <a:t> - so they can fit a baseline level.</a:t>
            </a:r>
          </a:p>
        </p:txBody>
      </p:sp>
      <p:pic>
        <p:nvPicPr>
          <p:cNvPr descr="eq_3723e214d0.png" id="0" name="Picture 1"/>
          <p:cNvPicPr>
            <a:picLocks noGrp="1" noChangeAspect="1"/>
          </p:cNvPicPr>
          <p:nvPr/>
        </p:nvPicPr>
        <p:blipFill>
          <a:blip r:embed="rId3"/>
          <a:stretch>
            <a:fillRect/>
          </a:stretch>
        </p:blipFill>
        <p:spPr bwMode="auto">
          <a:xfrm>
            <a:off x="457200" y="2401579"/>
            <a:ext cx="8229599" cy="188339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codes, 2,000 customers</a:t>
            </a:r>
          </a:p>
        </p:txBody>
      </p:sp>
      <p:pic>
        <p:nvPicPr>
          <p:cNvPr descr="onehot_width.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not just “the model part”.</a:t>
            </a:r>
          </a:p>
        </p:txBody>
      </p:sp>
      <p:pic>
        <p:nvPicPr>
          <p:cNvPr descr="eq_3460d29d6f.png" id="0" name="Picture 1"/>
          <p:cNvPicPr>
            <a:picLocks noGrp="1" noChangeAspect="1"/>
          </p:cNvPicPr>
          <p:nvPr/>
        </p:nvPicPr>
        <p:blipFill>
          <a:blip r:embed="rId3"/>
          <a:stretch>
            <a:fillRect/>
          </a:stretch>
        </p:blipFill>
        <p:spPr bwMode="auto">
          <a:xfrm>
            <a:off x="1296590" y="2829964"/>
            <a:ext cx="6550819" cy="102662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Accuracy: baseline </a:t>
            </a:r>
            <a:r>
              <a:rPr b="1"/>
              <a:t>0.806</a:t>
            </a:r>
            <a:r>
              <a:rPr/>
              <a:t>, model </a:t>
            </a:r>
            <a:r>
              <a:rPr b="1"/>
              <a:t>0.820</a:t>
            </a:r>
            <a:r>
              <a:rPr/>
              <a:t> (numeric + low-cardinality categoricals, no zip)</a:t>
            </a:r>
          </a:p>
          <a:p>
            <a:pPr lvl="0"/>
            <a:r>
              <a:rPr/>
              <a:t>Area under the receiver operating characteristic curve (AUC): </a:t>
            </a:r>
            <a:r>
              <a:rPr b="1"/>
              <a:t>0.751</a:t>
            </a:r>
            <a:r>
              <a:rPr/>
              <a:t>, the chance a random churner scores above a random non-churner; 0.5 is a coin flip</a:t>
            </a:r>
          </a:p>
          <a:p>
            <a:pPr lvl="0"/>
            <a:r>
              <a:rPr/>
              <a:t>In code: </a:t>
            </a:r>
            <a:r>
              <a:rPr>
                <a:latin typeface="Courier"/>
              </a:rPr>
              <a:t>LogisticRegression</a:t>
            </a:r>
            <a:r>
              <a:rPr/>
              <a:t> against </a:t>
            </a:r>
            <a:r>
              <a:rPr>
                <a:latin typeface="Courier"/>
              </a:rPr>
              <a:t>DummyClassifier</a:t>
            </a:r>
            <a:r>
              <a:rPr/>
              <a:t>, </a:t>
            </a:r>
            <a:r>
              <a:rPr>
                <a:latin typeface="Courier"/>
              </a:rPr>
              <a:t>roc_auc_score</a:t>
            </a:r>
          </a:p>
          <a:p>
            <a:pPr lvl="0" indent="0" marL="0">
              <a:buNone/>
            </a:pPr>
            <a:r>
              <a:rPr/>
              <a:t>Modest accuracy gain. Why?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engineering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Ratios, interactions, binning: a linear model cannot invent these itself.</a:t>
            </a:r>
          </a:p>
          <a:p>
            <a:pPr lvl="0" indent="0" marL="0">
              <a:buNone/>
            </a:pPr>
            <a:r>
              <a:rPr>
                <a:latin typeface="Courier"/>
              </a:rPr>
              <a:t>total_paid</a:t>
            </a:r>
            <a:r>
              <a:rPr/>
              <a:t> = charge × months stayed. AUC: 0.7514 → 0.7548, under four thousandths. Clean </a:t>
            </a:r>
            <a:r>
              <a:rPr>
                <a:latin typeface="Courier"/>
              </a:rPr>
              <a:t>tenure_months</a:t>
            </a:r>
            <a:r>
              <a:rPr/>
              <a:t> first and the same feature scores </a:t>
            </a:r>
            <a:r>
              <a:rPr b="1"/>
              <a:t>0.7439</a:t>
            </a:r>
            <a:r>
              <a:rPr/>
              <a:t> - the gain was living in the 999s.</a:t>
            </a:r>
          </a:p>
          <a:p>
            <a:pPr lvl="0" indent="0" marL="0">
              <a:buNone/>
            </a:pPr>
            <a:r>
              <a:rPr/>
              <a:t>In code: </a:t>
            </a:r>
            <a:r>
              <a:rPr>
                <a:latin typeface="Courier"/>
              </a:rPr>
              <a:t>FunctionTransformer(add_total_paid)</a:t>
            </a:r>
            <a:r>
              <a:rPr/>
              <a:t>, a step inside the pipeline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why scale, 24-27</a:t>
                      </a:r>
                    </a:p>
                  </a:txBody>
                </a:tc>
                <a:tc>
                  <a:txBody>
                    <a:bodyPr/>
                    <a:lstStyle/>
                    <a:p>
                      <a:pPr lvl="0" indent="0" marL="0">
                        <a:buNone/>
                      </a:pPr>
                      <a:r>
                        <a:rPr/>
                        <a:t>gradient descent by hand → ratio </a:t>
                      </a:r>
                      <a:r>
                        <a:rPr b="1"/>
                        <a:t>110:1</a:t>
                      </a:r>
                      <a:r>
                        <a:rPr/>
                        <a:t> (built as 100:1); rate </a:t>
                      </a:r>
                      <a:r>
                        <a:rPr b="1"/>
                        <a:t>2.0</a:t>
                      </a:r>
                      <a:r>
                        <a:rPr/>
                        <a:t> scaled, </a:t>
                      </a:r>
                      <a:r>
                        <a:rPr b="1"/>
                        <a:t>0.1</a:t>
                      </a:r>
                      <a:r>
                        <a:rPr/>
                        <a:t> raw; raw at 2.0 swings </a:t>
                      </a:r>
                      <a:r>
                        <a:rPr b="1"/>
                        <a:t>0.69 to 8.29</a:t>
                      </a:r>
                    </a:p>
                  </a:txBody>
                </a:tc>
              </a:tr>
              <a:tr h="0">
                <a:tc>
                  <a:txBody>
                    <a:bodyPr/>
                    <a:lstStyle/>
                    <a:p>
                      <a:pPr lvl="0" indent="0" marL="0">
                        <a:buNone/>
                      </a:pPr>
                      <a:r>
                        <a:rPr/>
                        <a:t>encoding, 28-33</a:t>
                      </a:r>
                    </a:p>
                  </a:txBody>
                </a:tc>
                <a:tc>
                  <a:txBody>
                    <a:bodyPr/>
                    <a:lstStyle/>
                    <a:p>
                      <a:pPr lvl="0" indent="0" marL="0">
                        <a:buNone/>
                      </a:pPr>
                      <a:r>
                        <a:rPr>
                          <a:latin typeface="Courier"/>
                        </a:rPr>
                        <a:t>pd.get_dummies</a:t>
                      </a:r>
                      <a:r>
                        <a:rPr/>
                        <a:t>, </a:t>
                      </a:r>
                      <a:r>
                        <a:rPr>
                          <a:latin typeface="Courier"/>
                        </a:rPr>
                        <a:t>np.linalg.matrix_rank</a:t>
                      </a:r>
                      <a:r>
                        <a:rPr/>
                        <a:t> → </a:t>
                      </a:r>
                      <a:r>
                        <a:rPr b="1"/>
                        <a:t>4 columns, rank 3</a:t>
                      </a:r>
                    </a:p>
                  </a:txBody>
                </a:tc>
              </a:tr>
              <a:tr h="0">
                <a:tc>
                  <a:txBody>
                    <a:bodyPr/>
                    <a:lstStyle/>
                    <a:p>
                      <a:pPr lvl="0" indent="0" marL="0">
                        <a:buNone/>
                      </a:pPr>
                      <a:r>
                        <a:rPr/>
                        <a:t>the pipeline, 36-38</a:t>
                      </a:r>
                    </a:p>
                  </a:txBody>
                </a:tc>
                <a:tc>
                  <a:txBody>
                    <a:bodyPr/>
                    <a:lstStyle/>
                    <a:p>
                      <a:pPr lvl="0" indent="0" marL="0">
                        <a:buNone/>
                      </a:pPr>
                      <a:r>
                        <a:rPr>
                          <a:latin typeface="Courier"/>
                        </a:rPr>
                        <a:t>train_test_split</a:t>
                      </a:r>
                      <a:r>
                        <a:rPr/>
                        <a:t>, then </a:t>
                      </a:r>
                      <a:r>
                        <a:rPr>
                          <a:latin typeface="Courier"/>
                        </a:rPr>
                        <a:t>ColumnTransformer</a:t>
                      </a:r>
                      <a:r>
                        <a:rPr/>
                        <a:t> + </a:t>
                      </a:r>
                      <a:r>
                        <a:rPr>
                          <a:latin typeface="Courier"/>
                        </a:rPr>
                        <a:t>Pipeline</a:t>
                      </a:r>
                      <a:r>
                        <a:rPr/>
                        <a:t>: </a:t>
                      </a:r>
                      <a:r>
                        <a:rPr>
                          <a:latin typeface="Courier"/>
                        </a:rPr>
                        <a:t>SimpleImputer</a:t>
                      </a:r>
                      <a:r>
                        <a:rPr/>
                        <a:t>, </a:t>
                      </a:r>
                      <a:r>
                        <a:rPr>
                          <a:latin typeface="Courier"/>
                        </a:rPr>
                        <a:t>StandardScaler</a:t>
                      </a:r>
                      <a:r>
                        <a:rPr/>
                        <a:t>, </a:t>
                      </a:r>
                      <a:r>
                        <a:rPr>
                          <a:latin typeface="Courier"/>
                        </a:rPr>
                        <a:t>OneHotEncoder</a:t>
                      </a:r>
                      <a:r>
                        <a:rPr/>
                        <a:t>, </a:t>
                      </a:r>
                      <a:r>
                        <a:rPr>
                          <a:latin typeface="Courier"/>
                        </a:rPr>
                        <a:t>LogisticRegression</a:t>
                      </a:r>
                    </a:p>
                  </a:txBody>
                </a:tc>
              </a:tr>
              <a:tr h="0">
                <a:tc>
                  <a:txBody>
                    <a:bodyPr/>
                    <a:lstStyle/>
                    <a:p>
                      <a:pPr lvl="0" indent="0" marL="0">
                        <a:buNone/>
                      </a:pPr>
                      <a:r>
                        <a:rPr/>
                        <a:t>the result, 39-40</a:t>
                      </a:r>
                    </a:p>
                  </a:txBody>
                </a:tc>
                <a:tc>
                  <a:txBody>
                    <a:bodyPr/>
                    <a:lstStyle/>
                    <a:p>
                      <a:pPr lvl="0" indent="0" marL="0">
                        <a:buNone/>
                      </a:pPr>
                      <a:r>
                        <a:rPr>
                          <a:latin typeface="Courier"/>
                        </a:rPr>
                        <a:t>DummyClassifier</a:t>
                      </a:r>
                      <a:r>
                        <a:rPr/>
                        <a:t>, </a:t>
                      </a:r>
                      <a:r>
                        <a:rPr>
                          <a:latin typeface="Courier"/>
                        </a:rPr>
                        <a:t>accuracy_score</a:t>
                      </a:r>
                      <a:r>
                        <a:rPr/>
                        <a:t>, </a:t>
                      </a:r>
                      <a:r>
                        <a:rPr>
                          <a:latin typeface="Courier"/>
                        </a:rPr>
                        <a:t>roc_auc_score</a:t>
                      </a:r>
                      <a:r>
                        <a:rPr/>
                        <a:t>, </a:t>
                      </a:r>
                      <a:r>
                        <a:rPr>
                          <a:latin typeface="Courier"/>
                        </a:rPr>
                        <a:t>ConfusionMatrixDisplay</a:t>
                      </a:r>
                    </a:p>
                  </a:txBody>
                </a:tc>
              </a:tr>
              <a:tr h="0">
                <a:tc>
                  <a:txBody>
                    <a:bodyPr/>
                    <a:lstStyle/>
                    <a:p>
                      <a:pPr lvl="0" indent="0" marL="0">
                        <a:buNone/>
                      </a:pPr>
                      <a:r>
                        <a:rPr/>
                        <a:t>feature engineering, 41</a:t>
                      </a:r>
                    </a:p>
                  </a:txBody>
                </a:tc>
                <a:tc>
                  <a:txBody>
                    <a:bodyPr/>
                    <a:lstStyle/>
                    <a:p>
                      <a:pPr lvl="0" indent="0" marL="0">
                        <a:buNone/>
                      </a:pPr>
                      <a:r>
                        <a:rPr>
                          <a:latin typeface="Courier"/>
                        </a:rPr>
                        <a:t>FunctionTransformer</a:t>
                      </a:r>
                      <a:r>
                        <a:rPr/>
                        <a:t> → </a:t>
                      </a:r>
                      <a:r>
                        <a:rPr b="1"/>
                        <a:t>0.7514 → 0.7548 → 0.7439</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with the average of the five most similar rows: its </a:t>
            </a:r>
            <a:r>
              <a:rPr b="1"/>
              <a:t>donors</a:t>
            </a:r>
            <a:r>
              <a:rPr/>
              <a:t>.</a:t>
            </a:r>
          </a:p>
          <a:p>
            <a:pPr lvl="0" indent="0" marL="0">
              <a:buNone/>
            </a:pPr>
            <a:r>
              <a:rPr/>
              <a:t>Fit it on train + test, and some of those rows are in the test set.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In code: </a:t>
            </a:r>
            <a:r>
              <a:rPr>
                <a:latin typeface="Courier"/>
              </a:rPr>
              <a:t>nan_euclidean_distances</a:t>
            </a:r>
            <a:r>
              <a:rPr/>
              <a:t>, the imputer’s own metric, names the donors.</a:t>
            </a:r>
          </a:p>
          <a:p>
            <a:pPr lvl="0" indent="0" marL="0">
              <a:buNone/>
            </a:pPr>
            <a:r>
              <a:rPr/>
              <a:t>Nothing raised an error.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own disagreement, divided by your group size</a:t>
            </a:r>
          </a:p>
        </p:txBody>
      </p:sp>
      <p:pic>
        <p:nvPicPr>
          <p:cNvPr descr="eq_2274cba409.png" id="0" name="Picture 1"/>
          <p:cNvPicPr>
            <a:picLocks noGrp="1" noChangeAspect="1"/>
          </p:cNvPicPr>
          <p:nvPr/>
        </p:nvPicPr>
        <p:blipFill>
          <a:blip r:embed="rId3"/>
          <a:stretch>
            <a:fillRect/>
          </a:stretch>
        </p:blipFill>
        <p:spPr bwMode="auto">
          <a:xfrm>
            <a:off x="1553951" y="2189484"/>
            <a:ext cx="6036097" cy="131341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inside the pipeline.</a:t>
            </a:r>
          </a:p>
          <a:p>
            <a:pPr lvl="0" indent="0" marL="0">
              <a:buNone/>
            </a:pPr>
            <a:r>
              <a:rPr/>
              <a:t>It splits the training rows into five parts and encodes each row from the </a:t>
            </a:r>
            <a:r>
              <a:rPr b="1"/>
              <a:t>other four</a:t>
            </a:r>
            <a:r>
              <a:rPr/>
              <a:t>: never from its own label.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is fitted on the training rows only, inside the pipeline.</a:t>
            </a:r>
          </a:p>
          <a:p>
            <a:pPr lvl="0" indent="0" marL="0">
              <a:buNone/>
            </a:pPr>
            <a:r>
              <a:rPr/>
              <a:t>A mean. A median. A set of neighbours. A per-category average. A set of bin edges.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leak, and its slides</a:t>
                      </a:r>
                    </a:p>
                  </a:txBody>
                  <a:tcPr/>
                </a:tc>
                <a:tc>
                  <a:txBody>
                    <a:bodyPr/>
                    <a:lstStyle/>
                    <a:p>
                      <a:pPr lvl="0" indent="0" marL="0">
                        <a:buNone/>
                      </a:pPr>
                      <a:r>
                        <a:rPr/>
                        <a:t>you call → what it shows</a:t>
                      </a:r>
                    </a:p>
                  </a:txBody>
                  <a:tcPr/>
                </a:tc>
              </a:tr>
              <a:tr h="0">
                <a:tc>
                  <a:txBody>
                    <a:bodyPr/>
                    <a:lstStyle/>
                    <a:p>
                      <a:pPr lvl="0" indent="0" marL="0">
                        <a:buNone/>
                      </a:pPr>
                      <a:r>
                        <a:rPr/>
                        <a:t>imputation, 44-46</a:t>
                      </a:r>
                    </a:p>
                  </a:txBody>
                </a:tc>
                <a:tc>
                  <a:txBody>
                    <a:bodyPr/>
                    <a:lstStyle/>
                    <a:p>
                      <a:pPr lvl="0" indent="0" marL="0">
                        <a:buNone/>
                      </a:pPr>
                      <a:r>
                        <a:rPr>
                          <a:latin typeface="Courier"/>
                        </a:rPr>
                        <a:t>KNNImputer</a:t>
                      </a:r>
                      <a:r>
                        <a:rPr/>
                        <a:t> fitted on every row; </a:t>
                      </a:r>
                      <a:r>
                        <a:rPr>
                          <a:latin typeface="Courier"/>
                        </a:rPr>
                        <a:t>nan_euclidean_distances</a:t>
                      </a:r>
                      <a:r>
                        <a:rPr/>
                        <a:t>, its own metric, names the donors → </a:t>
                      </a:r>
                      <a:r>
                        <a:rPr b="1"/>
                        <a:t>94 of 128</a:t>
                      </a:r>
                    </a:p>
                  </a:txBody>
                </a:tc>
              </a:tr>
              <a:tr h="0">
                <a:tc>
                  <a:txBody>
                    <a:bodyPr/>
                    <a:lstStyle/>
                    <a:p>
                      <a:pPr lvl="0" indent="0" marL="0">
                        <a:buNone/>
                      </a:pPr>
                      <a:r>
                        <a:rPr/>
                        <a:t>encoding, 47-50</a:t>
                      </a:r>
                    </a:p>
                  </a:txBody>
                </a:tc>
                <a:tc>
                  <a:txBody>
                    <a:bodyPr/>
                    <a:lstStyle/>
                    <a:p>
                      <a:pPr lvl="0" indent="0" marL="0">
                        <a:buNone/>
                      </a:pPr>
                      <a:r>
                        <a:rPr/>
                        <a:t>churn rate per </a:t>
                      </a:r>
                      <a:r>
                        <a:rPr>
                          <a:latin typeface="Courier"/>
                        </a:rPr>
                        <a:t>zip_code</a:t>
                      </a:r>
                      <a:r>
                        <a:rPr/>
                        <a:t>, before </a:t>
                      </a:r>
                      <a:r>
                        <a:rPr>
                          <a:latin typeface="Courier"/>
                        </a:rPr>
                        <a:t>train_test_split</a:t>
                      </a:r>
                      <a:r>
                        <a:rPr/>
                        <a:t> → AUC </a:t>
                      </a:r>
                      <a:r>
                        <a:rPr b="1"/>
                        <a:t>0.891</a:t>
                      </a:r>
                      <a:r>
                        <a:rPr/>
                        <a:t> from a column with no signal</a:t>
                      </a:r>
                    </a:p>
                  </a:txBody>
                </a:tc>
              </a:tr>
              <a:tr h="0">
                <a:tc>
                  <a:txBody>
                    <a:bodyPr/>
                    <a:lstStyle/>
                    <a:p>
                      <a:pPr lvl="0" indent="0" marL="0">
                        <a:buNone/>
                      </a:pPr>
                      <a:r>
                        <a:rPr/>
                        <a:t>the fix, 51</a:t>
                      </a:r>
                    </a:p>
                  </a:txBody>
                </a:tc>
                <a:tc>
                  <a:txBody>
                    <a:bodyPr/>
                    <a:lstStyle/>
                    <a:p>
                      <a:pPr lvl="0" indent="0" marL="0">
                        <a:buNone/>
                      </a:pPr>
                      <a:r>
                        <a:rPr>
                          <a:latin typeface="Courier"/>
                        </a:rPr>
                        <a:t>TargetEncoder</a:t>
                      </a:r>
                      <a:r>
                        <a:rPr/>
                        <a:t> inside the </a:t>
                      </a:r>
                      <a:r>
                        <a:rPr>
                          <a:latin typeface="Courier"/>
                        </a:rPr>
                        <a:t>ColumnTransformer</a:t>
                      </a:r>
                      <a:r>
                        <a:rPr/>
                        <a:t> → the honest </a:t>
                      </a:r>
                      <a:r>
                        <a:rPr b="1"/>
                        <a:t>0.751</a:t>
                      </a:r>
                    </a:p>
                  </a:txBody>
                </a:tc>
              </a:tr>
              <a:tr h="0">
                <a:tc>
                  <a:txBody>
                    <a:bodyPr/>
                    <a:lstStyle/>
                    <a:p>
                      <a:pPr lvl="0" indent="0" marL="0">
                        <a:buNone/>
                      </a:pPr>
                      <a:r>
                        <a:rPr/>
                        <a:t>your own split</a:t>
                      </a:r>
                    </a:p>
                  </a:txBody>
                </a:tc>
                <a:tc>
                  <a:txBody>
                    <a:bodyPr/>
                    <a:lstStyle/>
                    <a:p>
                      <a:pPr lvl="0" indent="0" marL="0">
                        <a:buNone/>
                      </a:pPr>
                      <a:r>
                        <a:rPr>
                          <a:latin typeface="Courier"/>
                        </a:rPr>
                        <a:t>clone</a:t>
                      </a:r>
                      <a:r>
                        <a:rPr/>
                        <a:t> both models, refit on a split of your own</a:t>
                      </a:r>
                    </a:p>
                  </a:txBody>
                </a:tc>
              </a:tr>
              <a:tr h="0">
                <a:tc>
                  <a:txBody>
                    <a:bodyPr/>
                    <a:lstStyle/>
                    <a:p>
                      <a:pPr lvl="0" indent="0" marL="0">
                        <a:buNone/>
                      </a:pPr>
                      <a:r>
                        <a:rPr/>
                        <a:t>scored with</a:t>
                      </a:r>
                    </a:p>
                  </a:txBody>
                </a:tc>
                <a:tc>
                  <a:txBody>
                    <a:bodyPr/>
                    <a:lstStyle/>
                    <a:p>
                      <a:pPr lvl="0" indent="0" marL="0">
                        <a:buNone/>
                      </a:pPr>
                      <a:r>
                        <a:rPr>
                          <a:latin typeface="Courier"/>
                        </a:rPr>
                        <a:t>roc_auc_score</a:t>
                      </a:r>
                      <a:r>
                        <a:rPr/>
                        <a:t> throughout</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look nothing like leaking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the derivations are examinable</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