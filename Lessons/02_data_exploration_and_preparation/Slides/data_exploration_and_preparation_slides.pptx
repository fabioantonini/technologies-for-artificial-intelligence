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 a laugh at “999” and use it: nobody wrote a bug, somebody’s system recorded an impossible value and nothing caught it before it reached this table. That is the entire subject of Section 4, arriving early.</a:t>
            </a:r>
          </a:p>
          <a:p>
            <a:pPr lvl="0" indent="0" marL="0">
              <a:buNone/>
            </a:pPr>
          </a:p>
          <a:p>
            <a:pPr lvl="0" indent="0" marL="0">
              <a:buNone/>
            </a:pPr>
            <a:r>
              <a:rPr/>
              <a:t>State the baseline the way Lesson 1 insisted: 80.6% is what “always predict no churn” scores. Every later number is measured against that, not against zero.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probability of missing depends on nothing. A blank field for no systematic reason.</a:t>
            </a:r>
          </a:p>
          <a:p>
            <a:pPr lvl="0" indent="0" marL="0">
              <a:buNone/>
            </a:pPr>
          </a:p>
          <a:p>
            <a:pPr lvl="0" indent="0" marL="0">
              <a:buNone/>
            </a:pPr>
            <a:r>
              <a:rPr/>
              <a:t>MAR: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3.2 derives this in full: replacing the missing p-fraction of X with its own mean shrinks Var(X) by (1-p) and Cov(X,Y) by (1-p) too, and the asymmetry between how variance and covariance enter the correlation ratio is where the square root comes from.</a:t>
            </a:r>
          </a:p>
          <a:p>
            <a:pPr lvl="0" indent="0" marL="0">
              <a:buNone/>
            </a:pPr>
          </a:p>
          <a:p>
            <a:pPr lvl="0" indent="0" marL="0">
              <a:buNone/>
            </a:pPr>
            <a:r>
              <a:rPr/>
              <a:t>Give the number: p=0.08 for our age column, attenuation factor √0.92 ≈ 0.96 - small. At p=0.4, it is √0.6 ≈ 0.77 - a genuine relationship substantially erased by a constant. The mechanism is identical either way; only the size changes.</a:t>
            </a:r>
          </a:p>
          <a:p>
            <a:pPr lvl="0" indent="0" marL="0">
              <a:buNone/>
            </a:pPr>
          </a:p>
          <a:p>
            <a:pPr lvl="0" indent="0" marL="0">
              <a:buNone/>
            </a:pPr>
            <a:r>
              <a:rPr/>
              <a:t>This is not an argument against imputation - dropping rows or columns has its own costs, covered in Section 3.3. It is an argument for knowing what you paid.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3.3. Four options, and the choice depends on the mechanism just covered - dropping rows under MAR or MNAR reweights the sample in a direction you may not intend, since the missing rows are not a random subsample.</a:t>
            </a:r>
          </a:p>
          <a:p>
            <a:pPr lvl="0" indent="0" marL="0">
              <a:buNone/>
            </a:pPr>
          </a:p>
          <a:p>
            <a:pPr lvl="0" indent="0" marL="0">
              <a:buNone/>
            </a:pPr>
            <a:r>
              <a:rPr/>
              <a:t>Whichever is chosen, flag the constraint that closes the loop back to Pipeline: the statistic used - a mean, a set of neighbours - is learned from data and must be learned from the training fold only. Section 9 is what happens when that is forgotten.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the mathematics. Ask: if two features live on very different scales, can a single learning rate be right for both directions at once? Let the room reason about it before the derivation.</a:t>
            </a:r>
          </a:p>
          <a:p>
            <a:pPr lvl="0" indent="0" marL="0">
              <a:buNone/>
            </a:pPr>
          </a:p>
          <a:p>
            <a:pPr lvl="0" indent="0" marL="0">
              <a:buNone/>
            </a:pPr>
            <a:r>
              <a:rPr/>
              <a:t>Give them the concrete pair from the dataset: tenure runs 0 to 70, monthly charges 15 to 150. The variances differ by roughly an order of magnitude, and gradient descent takes one step size along every axis simultaneously.</a:t>
            </a:r>
          </a:p>
          <a:p>
            <a:pPr lvl="0" indent="0" marL="0">
              <a:buNone/>
            </a:pPr>
          </a:p>
          <a:p>
            <a:pPr lvl="0" indent="0" marL="0">
              <a:buNone/>
            </a:pPr>
            <a:r>
              <a:rPr/>
              <a:t>Handout Section 5.2 does it properly, and the punchline is worth previewing: the safe learning rate is set by the largest-variance feature, so progress along the smallest-variance direction is throttled by their ratio. The number of iterations scales with the condition number. Scaling is not cosmetic - it changes how long training takes, and sometimes whether it converges at all.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5.2, done exactly for linear regression’s quadratic cost and carried over qualitatively to logistic regression, whose Hessian has the same X-transpose-X structure weighted by p(1-p).</a:t>
            </a:r>
          </a:p>
          <a:p>
            <a:pPr lvl="0" indent="0" marL="0">
              <a:buNone/>
            </a:pPr>
          </a:p>
          <a:p>
            <a:pPr lvl="0" indent="0" marL="0">
              <a:buNone/>
            </a:pPr>
            <a:r>
              <a:rPr/>
              <a:t>The safe step size along axis j is roughly 2/σⱼ². One global learning rate is bounded by the LARGEST variance feature, which makes progress along the smallest-variance direction painfully slow. That ratio is the condition number κ = σ²max / σ²min, and standardising drives it towards 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 real churn features show the same direction of effect more mildly, since monthly_charges has roughly 3-4 times the spread of tenure_months, not 100 times.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Ordinal encoding on an unordered category (North=0, South=1) tells a model North and South are numerically closer than North and West - meaningless, and actively misleading for anything that uses the number arithmetically.</a:t>
            </a:r>
          </a:p>
          <a:p>
            <a:pPr lvl="0" indent="0" marL="0">
              <a:buNone/>
            </a:pPr>
          </a:p>
          <a:p>
            <a:pPr lvl="0" indent="0" marL="0">
              <a:buNone/>
            </a:pPr>
            <a:r>
              <a:rPr/>
              <a:t>Target encoding is why zip_code is tempting: 493 levels compressed to one predictive-looking column. Say directly: the temptation is exactly what makes it worth a whole section.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this is the first time they meet it on data they have prepared themselves.</a:t>
            </a:r>
          </a:p>
          <a:p>
            <a:pPr lvl="0" indent="0" marL="0">
              <a:buNone/>
            </a:pPr>
          </a:p>
          <a:p>
            <a:pPr lvl="0" indent="0" marL="0">
              <a:buNone/>
            </a:pPr>
            <a:r>
              <a:rPr/>
              <a:t>AUC is unaffected by the imbalance, and at 0.752 it says the model is finding real signal that accuracy is hiding. Two numbers, two different stories about the same model.</a:t>
            </a:r>
          </a:p>
          <a:p>
            <a:pPr lvl="0" indent="0" marL="0">
              <a:buNone/>
            </a:pPr>
          </a:p>
          <a:p>
            <a:pPr lvl="0" indent="0" marL="0">
              <a:buNone/>
            </a:pPr>
            <a:r>
              <a:rPr/>
              <a:t>Worth saying explicitly: had we reported only accuracy, this model would look barely better than the baseline, and someone would reasonably conclude the features were useless. Choosing the metric before seeing results is what Lesson 1 asked for; this is what it buys.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traceable specifically because we control the ground truth and can look up which rows are in which split. In practice you rarely get this diagnostic; the number here is instead a proof of mechanism, done once so you believe it happens.</a:t>
            </a:r>
          </a:p>
          <a:p>
            <a:pPr lvl="0" indent="0" marL="0">
              <a:buNone/>
            </a:pPr>
          </a:p>
          <a:p>
            <a:pPr lvl="0" indent="0" marL="0">
              <a:buNone/>
            </a:pPr>
            <a:r>
              <a:rPr/>
              <a:t>Downstream effect on this run: AUC 0.7548 (leaky) vs 0.7530 (honest) - small. Land the point deliberately: a leak does not have to be dramatic to be wrong. It is still an optimistic number reported to whoever reads it next.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eq_5a8674c372.png" id="0" name="Picture 1"/>
          <p:cNvPicPr>
            <a:picLocks noGrp="1" noChangeAspect="1"/>
          </p:cNvPicPr>
          <p:nvPr/>
        </p:nvPicPr>
        <p:blipFill>
          <a:blip r:embed="rId3"/>
          <a:stretch>
            <a:fillRect/>
          </a:stretch>
        </p:blipFill>
        <p:spPr bwMode="auto">
          <a:xfrm>
            <a:off x="457202" y="2790541"/>
            <a:ext cx="8229595" cy="110546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Two standard rules for flagging an unusual value:</a:t>
            </a:r>
          </a:p>
        </p:txBody>
      </p:sp>
      <p:pic>
        <p:nvPicPr>
          <p:cNvPr descr="eq_362884ef2b.png" id="0" name="Picture 1"/>
          <p:cNvPicPr>
            <a:picLocks noGrp="1" noChangeAspect="1"/>
          </p:cNvPicPr>
          <p:nvPr/>
        </p:nvPicPr>
        <p:blipFill>
          <a:blip r:embed="rId3"/>
          <a:stretch>
            <a:fillRect/>
          </a:stretch>
        </p:blipFill>
        <p:spPr bwMode="auto">
          <a:xfrm>
            <a:off x="457207" y="2838073"/>
            <a:ext cx="8229586" cy="57320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098554" y="1166099"/>
            <a:ext cx="694689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0–70. </a:t>
            </a:r>
            <a:r>
              <a:rPr>
                <a:latin typeface="Courier"/>
              </a:rPr>
              <a:t>monthly_charges</a:t>
            </a:r>
            <a:r>
              <a:rPr/>
              <a:t>: 15–150.</a:t>
            </a:r>
          </a:p>
          <a:p>
            <a:pPr lvl="0" indent="0" marL="0">
              <a:buNone/>
            </a:pPr>
            <a:r>
              <a:rPr/>
              <a:t>Gradient descent takes </a:t>
            </a:r>
            <a:r>
              <a:rPr b="1"/>
              <a:t>one step size, along every axis, every iteration.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Hessian is the feature covariance</a:t>
            </a:r>
          </a:p>
        </p:txBody>
      </p:sp>
      <p:pic>
        <p:nvPicPr>
          <p:cNvPr descr="eq_8b13b51c77.png" id="0" name="Picture 1"/>
          <p:cNvPicPr>
            <a:picLocks noGrp="1" noChangeAspect="1"/>
          </p:cNvPicPr>
          <p:nvPr/>
        </p:nvPicPr>
        <p:blipFill>
          <a:blip r:embed="rId2"/>
          <a:stretch>
            <a:fillRect/>
          </a:stretch>
        </p:blipFill>
        <p:spPr bwMode="auto">
          <a:xfrm>
            <a:off x="457200" y="2198489"/>
            <a:ext cx="8229599" cy="1295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a:xfrm>
            <a:off x="457200" y="1234440"/>
            <a:ext cx="8229600" cy="822960"/>
          </a:xfrm>
        </p:spPr>
        <p:txBody>
          <a:bodyPr/>
          <a:lstStyle/>
          <a:p>
            <a:pPr lvl="0" indent="0" marL="0">
              <a:buNone/>
            </a:pPr>
            <a:r>
              <a:rPr/>
              <a:t>For uncorrelated, centred features, H is diagonal:</a:t>
            </a:r>
          </a:p>
        </p:txBody>
      </p:sp>
      <p:pic>
        <p:nvPicPr>
          <p:cNvPr descr="eq_489fa4802b.png" id="0" name="Picture 1"/>
          <p:cNvPicPr>
            <a:picLocks noGrp="1" noChangeAspect="1"/>
          </p:cNvPicPr>
          <p:nvPr/>
        </p:nvPicPr>
        <p:blipFill>
          <a:blip r:embed="rId3"/>
          <a:stretch>
            <a:fillRect/>
          </a:stretch>
        </p:blipFill>
        <p:spPr bwMode="auto">
          <a:xfrm>
            <a:off x="3568700" y="1955800"/>
            <a:ext cx="5105400" cy="863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702129" y="1166099"/>
            <a:ext cx="773974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correlation_heatmap.png" id="0" name="Picture 1"/>
          <p:cNvPicPr>
            <a:picLocks noGrp="1" noChangeAspect="1"/>
          </p:cNvPicPr>
          <p:nvPr/>
        </p:nvPicPr>
        <p:blipFill>
          <a:blip r:embed="rId3"/>
          <a:stretch>
            <a:fillRect/>
          </a:stretch>
        </p:blipFill>
        <p:spPr bwMode="auto">
          <a:xfrm>
            <a:off x="2577286" y="1166099"/>
            <a:ext cx="398942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a:t>
            </a:r>
          </a:p>
          <a:p>
            <a:pPr lvl="0" indent="0" marL="0">
              <a:buNone/>
            </a:pPr>
            <a:r>
              <a:rPr/>
              <a:t>Modest accuracy gain. Why?</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