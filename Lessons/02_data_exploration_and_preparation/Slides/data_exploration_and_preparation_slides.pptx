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package/2006/relationships/metadata/extended-properties" Target="docProps/app.xml"/><Relationship Id="rId4" Type="http://schemas.openxmlformats.org/officeDocument/2006/relationships/custom-properties" Target="docProps/custom.xml"/></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50"/>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notesMaster" Target="notesMasters/notesMaster1.xml"/><Relationship Id="rId51" Type="http://schemas.openxmlformats.org/officeDocument/2006/relationships/presProps" Target="presProps.xml"/><Relationship Id="rId52" Type="http://schemas.openxmlformats.org/officeDocument/2006/relationships/viewProps" Target="viewProps.xml"/><Relationship Id="rId53" Type="http://schemas.openxmlformats.org/officeDocument/2006/relationships/theme" Target="theme/theme1.xml"/><Relationship Id="rId54"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Open with the exercise, briefly - two or three minutes, not a review session. Ask for a show of hands: who treated quality as binary, who kept it as an integer regression problem? Both are defensible if justified; that was the whole point of Task 1.</a:t>
            </a:r>
          </a:p>
          <a:p>
            <a:pPr lvl="0" indent="0" marL="0">
              <a:buNone/>
            </a:pPr>
          </a:p>
          <a:p>
            <a:pPr lvl="0" indent="0" marL="0">
              <a:buNone/>
            </a:pPr>
            <a:r>
              <a:rPr/>
              <a:t>Do not dwell. The purpose of raising it is continuity, not grading feedback - say that detailed feedback comes separately, and move to today’s material.</a:t>
            </a:r>
          </a:p>
        </p:txBody>
      </p:sp>
      <p:sp>
        <p:nvSpPr>
          <p:cNvPr id="4" name="Slide Number Placeholder 3"/>
          <p:cNvSpPr>
            <a:spLocks noGrp="1"/>
          </p:cNvSpPr>
          <p:nvPr>
            <p:ph type="sldNum" sz="quarter" idx="10"/>
          </p:nvPr>
        </p:nvSpPr>
        <p:spPr/>
        <p:txBody>
          <a:bodyPr/>
          <a:lstStyle/>
          <a:p>
            <a:fld id="{18BDFEC3-8487-43E8-A154-7C12CBC1FFF2}" type="slidenum">
              <a:rPr lang="en-US"/>
              <a:t>2</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Recap in one sentence each, then land the framing for the whole lesson: Pipeline stops being “the scaling trick” and becomes the central tool of the lesson, because everything from here on - imputing, encoding, engineering - is another thing that learns from data and must sit inside it.</a:t>
            </a:r>
          </a:p>
          <a:p>
            <a:pPr lvl="0" indent="0" marL="0">
              <a:buNone/>
            </a:pPr>
          </a:p>
          <a:p>
            <a:pPr lvl="0" indent="0" marL="0">
              <a:buNone/>
            </a:pPr>
            <a:r>
              <a:rPr/>
              <a:t>Handout Section 1 makes this explicit.</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Agenda slide. Flag the last item now as the one to remember in five years - everything before it is the machinery that makes the leakage discussion precise rather than hand-wavy.</a:t>
            </a:r>
          </a:p>
          <a:p>
            <a:pPr lvl="0" indent="0" marL="0">
              <a:buNone/>
            </a:pPr>
          </a:p>
          <a:p>
            <a:pPr lvl="0" indent="0" marL="0">
              <a:buNone/>
            </a:pPr>
            <a:r>
              <a:rPr/>
              <a:t>Timing: roughly 35 minutes to the first notebook, then a break, then scaling and encoding, then the leakage section closes the lesson before homework.</a:t>
            </a:r>
          </a:p>
        </p:txBody>
      </p:sp>
      <p:sp>
        <p:nvSpPr>
          <p:cNvPr id="4" name="Slide Number Placeholder 3"/>
          <p:cNvSpPr>
            <a:spLocks noGrp="1"/>
          </p:cNvSpPr>
          <p:nvPr>
            <p:ph type="sldNum" sz="quarter" idx="10"/>
          </p:nvPr>
        </p:nvSpPr>
        <p:spPr/>
        <p:txBody>
          <a:bodyPr/>
          <a:lstStyle/>
          <a:p>
            <a:fld id="{18BDFEC3-8487-43E8-A154-7C12CBC1FFF2}" type="slidenum">
              <a:rPr lang="en-US"/>
              <a:t>4</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Explain why synthetic: every real messy teaching dataset sits behind a network call or a licence, and this lesson needs exact control over the missingness mechanism and the leakage story to make both demonstrable rather than merely plausible.</a:t>
            </a:r>
          </a:p>
          <a:p>
            <a:pPr lvl="0" indent="0" marL="0">
              <a:buNone/>
            </a:pPr>
          </a:p>
          <a:p>
            <a:pPr lvl="0" indent="0" marL="0">
              <a:buNone/>
            </a:pPr>
            <a:r>
              <a:rPr/>
              <a:t>Say explicitly: because we generated it, we know the ground truth. zip_code does not affect churn at all, by construction. Keep that fact in mind - it is what makes notebook 3 a clean experiment rather than an anecdote.</a:t>
            </a:r>
          </a:p>
          <a:p>
            <a:pPr lvl="0" indent="0" marL="0">
              <a:buNone/>
            </a:pPr>
          </a:p>
          <a:p>
            <a:pPr lvl="0" indent="0" marL="0">
              <a:buNone/>
            </a:pPr>
            <a:r>
              <a:rPr/>
              <a:t>Framing, as Lesson 1 asked: predicting churn to decide who a retention team calls. A missed churner costs a lost customer; an unnecessary call costs a few minutes. Keep the asymmetry in mind for Lesson 4.</a:t>
            </a:r>
          </a:p>
        </p:txBody>
      </p:sp>
      <p:sp>
        <p:nvSpPr>
          <p:cNvPr id="4" name="Slide Number Placeholder 3"/>
          <p:cNvSpPr>
            <a:spLocks noGrp="1"/>
          </p:cNvSpPr>
          <p:nvPr>
            <p:ph type="sldNum" sz="quarter" idx="10"/>
          </p:nvPr>
        </p:nvSpPr>
        <p:spPr/>
        <p:txBody>
          <a:bodyPr/>
          <a:lstStyle/>
          <a:p>
            <a:fld id="{18BDFEC3-8487-43E8-A154-7C12CBC1FFF2}" type="slidenum">
              <a:rPr lang="en-US"/>
              <a:t>5</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figure already existed in the notebook and is the reason the next forty minutes happen: monthly_charges is bimodal, tenure is nearly uniform, age is skewed and has a gap. Ask what each shape implies before moving on - a bimodal column usually means two populations mixed together.</a:t>
            </a:r>
          </a:p>
        </p:txBody>
      </p:sp>
      <p:sp>
        <p:nvSpPr>
          <p:cNvPr id="4" name="Slide Number Placeholder 3"/>
          <p:cNvSpPr>
            <a:spLocks noGrp="1"/>
          </p:cNvSpPr>
          <p:nvPr>
            <p:ph type="sldNum" sz="quarter" idx="10"/>
          </p:nvPr>
        </p:nvSpPr>
        <p:spPr/>
        <p:txBody>
          <a:bodyPr/>
          <a:lstStyle/>
          <a:p>
            <a:fld id="{18BDFEC3-8487-43E8-A154-7C12CBC1FFF2}" type="slidenum">
              <a:rPr lang="en-US"/>
              <a:t>6</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Two columns have gaps: age at 8.0% and num_support_calls at 4.8%. The count is the easy half of the question; the next three slides are the hard half - why are they missing?</a:t>
            </a:r>
          </a:p>
          <a:p>
            <a:pPr lvl="0" indent="0" marL="0">
              <a:buNone/>
            </a:pPr>
          </a:p>
          <a:p>
            <a:pPr lvl="0" indent="0" marL="0">
              <a:buNone/>
            </a:pPr>
            <a:r>
              <a:rPr/>
              <a:t>Make the point that this figure took one line to produce and is the first thing to run on any new dataset, before any modelling thought at all. A column that is 90% empty is a column you drop; a column that is 5% empty is a decision.</a:t>
            </a:r>
          </a:p>
          <a:p>
            <a:pPr lvl="0" indent="0" marL="0">
              <a:buNone/>
            </a:pPr>
          </a:p>
          <a:p>
            <a:pPr lvl="0" indent="0" marL="0">
              <a:buNone/>
            </a:pPr>
            <a:r>
              <a:rPr/>
              <a:t>Warn them about what the picture cannot show: whether the gaps are related to each other, or to the target. That is what the next slides are for, and it cannot be read off a bar chart.</a:t>
            </a:r>
          </a:p>
        </p:txBody>
      </p:sp>
      <p:sp>
        <p:nvSpPr>
          <p:cNvPr id="4" name="Slide Number Placeholder 3"/>
          <p:cNvSpPr>
            <a:spLocks noGrp="1"/>
          </p:cNvSpPr>
          <p:nvPr>
            <p:ph type="sldNum" sz="quarter" idx="10"/>
          </p:nvPr>
        </p:nvSpPr>
        <p:spPr/>
        <p:txBody>
          <a:bodyPr/>
          <a:lstStyle/>
          <a:p>
            <a:fld id="{18BDFEC3-8487-43E8-A154-7C12CBC1FFF2}" type="slidenum">
              <a:rPr lang="en-US"/>
              <a:t>7</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Handout Section 3.1. Define each precisely, because the distinction is not academic - it determines which fix is valid.</a:t>
            </a:r>
          </a:p>
          <a:p>
            <a:pPr lvl="0" indent="0" marL="0">
              <a:buNone/>
            </a:pPr>
          </a:p>
          <a:p>
            <a:pPr lvl="0" indent="0" marL="0">
              <a:buNone/>
            </a:pPr>
            <a:r>
              <a:rPr/>
              <a:t>MCAR: probability of missing depends on nothing. A blank field for no systematic reason.</a:t>
            </a:r>
          </a:p>
          <a:p>
            <a:pPr lvl="0" indent="0" marL="0">
              <a:buNone/>
            </a:pPr>
          </a:p>
          <a:p>
            <a:pPr lvl="0" indent="0" marL="0">
              <a:buNone/>
            </a:pPr>
            <a:r>
              <a:rPr/>
              <a:t>MAR: depends on something you DO observe. Our num_support_calls is MAR against tenure - long-standing customers’ early call history predates the CRM system. Conditional on tenure, the gap carries no further information.</a:t>
            </a:r>
          </a:p>
          <a:p>
            <a:pPr lvl="0" indent="0" marL="0">
              <a:buNone/>
            </a:pPr>
          </a:p>
          <a:p>
            <a:pPr lvl="0" indent="0" marL="0">
              <a:buNone/>
            </a:pPr>
            <a:r>
              <a:rPr/>
              <a:t>MNAR: depends on the value itself, even unobserved. A customer who leaves because of a shockingly high bill and never finishes a survey. No column in the table can detect this - only knowing how the data was collected can. Say plainly: this is the dangerous one, and it does not appear in today’s dataset, which is itself worth noting - most real ones have some.</a:t>
            </a:r>
          </a:p>
        </p:txBody>
      </p:sp>
      <p:sp>
        <p:nvSpPr>
          <p:cNvPr id="4" name="Slide Number Placeholder 3"/>
          <p:cNvSpPr>
            <a:spLocks noGrp="1"/>
          </p:cNvSpPr>
          <p:nvPr>
            <p:ph type="sldNum" sz="quarter" idx="10"/>
          </p:nvPr>
        </p:nvSpPr>
        <p:spPr/>
        <p:txBody>
          <a:bodyPr/>
          <a:lstStyle/>
          <a:p>
            <a:fld id="{18BDFEC3-8487-43E8-A154-7C12CBC1FFF2}" type="slidenum">
              <a:rPr lang="en-US"/>
              <a:t>8</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Bridge to the derivation. Ask: if the missingness is completely random, is mean imputation “free”? Let them guess before the next slide - most will say yes, and the reasoning is sound as far as it goes: the mean is unbiased, so filling with the mean introduces no bias in that column.</a:t>
            </a:r>
          </a:p>
          <a:p>
            <a:pPr lvl="0" indent="0" marL="0">
              <a:buNone/>
            </a:pPr>
          </a:p>
          <a:p>
            <a:pPr lvl="0" indent="0" marL="0">
              <a:buNone/>
            </a:pPr>
            <a:r>
              <a:rPr/>
              <a:t>The answer is no, and the reason is that a column is never used alone. Handout Section 3.2 derives it: filling p of the entries with a constant shrinks the variance to (1-p) times the original, and attenuates every correlation the column has with anything else by the square root of (1-p).</a:t>
            </a:r>
          </a:p>
          <a:p>
            <a:pPr lvl="0" indent="0" marL="0">
              <a:buNone/>
            </a:pPr>
          </a:p>
          <a:p>
            <a:pPr lvl="0" indent="0" marL="0">
              <a:buNone/>
            </a:pPr>
            <a:r>
              <a:rPr/>
              <a:t>Have the numbers ready. For age at p = 0.08 the factor is 0.96 - small enough to ignore. At p = 0.4 it is 0.77, which erases nearly a quarter of a genuine relationship. Tell them the practical rule that follows: mean imputation is fine when the gaps are few, and quietly destructive when they are many.</a:t>
            </a:r>
          </a:p>
        </p:txBody>
      </p:sp>
      <p:sp>
        <p:nvSpPr>
          <p:cNvPr id="4" name="Slide Number Placeholder 3"/>
          <p:cNvSpPr>
            <a:spLocks noGrp="1"/>
          </p:cNvSpPr>
          <p:nvPr>
            <p:ph type="sldNum" sz="quarter" idx="10"/>
          </p:nvPr>
        </p:nvSpPr>
        <p:spPr/>
        <p:txBody>
          <a:bodyPr/>
          <a:lstStyle/>
          <a:p>
            <a:fld id="{18BDFEC3-8487-43E8-A154-7C12CBC1FFF2}" type="slidenum">
              <a:rPr lang="en-US"/>
              <a:t>9</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Read the curve rather than the formula. Filling gaps with a constant costs correlation, and the cost grows with the fraction filled.</a:t>
            </a:r>
          </a:p>
          <a:p>
            <a:pPr lvl="0" indent="0" marL="0">
              <a:buNone/>
            </a:pPr>
          </a:p>
          <a:p>
            <a:pPr lvl="0" indent="0" marL="0">
              <a:buNone/>
            </a:pPr>
            <a:r>
              <a:rPr/>
              <a:t>Point at the two markers. For age at 8% the factor is 0.96 - negligible, and this is why nobody notices. At 40% it is 0.77, which erases nearly a quarter of a real relationship.</a:t>
            </a:r>
          </a:p>
          <a:p>
            <a:pPr lvl="0" indent="0" marL="0">
              <a:buNone/>
            </a:pPr>
          </a:p>
          <a:p>
            <a:pPr lvl="0" indent="0" marL="0">
              <a:buNone/>
            </a:pPr>
            <a:r>
              <a:rPr/>
              <a:t>The practical rule to state: mean imputation is fine when gaps are few, and quietly destructive when they are many. Nothing warns you at which point it crossed over.</a:t>
            </a:r>
          </a:p>
          <a:p>
            <a:pPr lvl="0" indent="0" marL="0">
              <a:buNone/>
            </a:pPr>
          </a:p>
          <a:p>
            <a:pPr lvl="0" indent="0" marL="0">
              <a:buNone/>
            </a:pPr>
            <a:r>
              <a:rPr/>
              <a:t>The algebra is Handout Section 3.2: the correlation is multiplied by the square root of one minus the missing fraction. Write it on the board if the room wants it - the figure is what they will remember.</a:t>
            </a:r>
          </a:p>
        </p:txBody>
      </p:sp>
      <p:sp>
        <p:nvSpPr>
          <p:cNvPr id="4" name="Slide Number Placeholder 3"/>
          <p:cNvSpPr>
            <a:spLocks noGrp="1"/>
          </p:cNvSpPr>
          <p:nvPr>
            <p:ph type="sldNum" sz="quarter" idx="10"/>
          </p:nvPr>
        </p:nvSpPr>
        <p:spPr/>
        <p:txBody>
          <a:bodyPr/>
          <a:lstStyle/>
          <a:p>
            <a:fld id="{18BDFEC3-8487-43E8-A154-7C12CBC1FFF2}" type="slidenum">
              <a:rPr lang="en-US"/>
              <a:t>10</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fix that MCAR imputation does not need: add a binary column recording whether the value was missing. It lets a model use the fact of missingness - which, under MAR, is genuinely informative about tenure - even after the gap itself is filled with a number. Handout Section 3.3.</a:t>
            </a:r>
          </a:p>
        </p:txBody>
      </p:sp>
      <p:sp>
        <p:nvSpPr>
          <p:cNvPr id="4" name="Slide Number Placeholder 3"/>
          <p:cNvSpPr>
            <a:spLocks noGrp="1"/>
          </p:cNvSpPr>
          <p:nvPr>
            <p:ph type="sldNum" sz="quarter" idx="10"/>
          </p:nvPr>
        </p:nvSpPr>
        <p:spPr/>
        <p:txBody>
          <a:bodyPr/>
          <a:lstStyle/>
          <a:p>
            <a:fld id="{18BDFEC3-8487-43E8-A154-7C12CBC1FFF2}" type="slidenum">
              <a:rPr lang="en-US"/>
              <a:t>11</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Four options, and the choice is a question about WHY the data is missing rather than about how much is missing.</a:t>
            </a:r>
          </a:p>
          <a:p>
            <a:pPr lvl="0" indent="0" marL="0">
              <a:buNone/>
            </a:pPr>
          </a:p>
          <a:p>
            <a:pPr lvl="0" indent="0" marL="0">
              <a:buNone/>
            </a:pPr>
            <a:r>
              <a:rPr/>
              <a:t>The one worth dwelling on is the fourth: adding a binary indicator keeps the MAR signal itself available to the model - the fact that long-tenure customers are more often missing a call count may be more informative than the count would have been.</a:t>
            </a:r>
          </a:p>
          <a:p>
            <a:pPr lvl="0" indent="0" marL="0">
              <a:buNone/>
            </a:pPr>
          </a:p>
          <a:p>
            <a:pPr lvl="0" indent="0" marL="0">
              <a:buNone/>
            </a:pPr>
            <a:r>
              <a:rPr/>
              <a:t>Then the line at the bottom: every option except dropping the column learns a statistic, so all of them belong inside the training fold. That is the thread the whole lesson pulls on.</a:t>
            </a:r>
          </a:p>
        </p:txBody>
      </p:sp>
      <p:sp>
        <p:nvSpPr>
          <p:cNvPr id="4" name="Slide Number Placeholder 3"/>
          <p:cNvSpPr>
            <a:spLocks noGrp="1"/>
          </p:cNvSpPr>
          <p:nvPr>
            <p:ph type="sldNum" sz="quarter" idx="10"/>
          </p:nvPr>
        </p:nvSpPr>
        <p:spPr/>
        <p:txBody>
          <a:bodyPr/>
          <a:lstStyle/>
          <a:p>
            <a:fld id="{18BDFEC3-8487-43E8-A154-7C12CBC1FFF2}" type="slidenum">
              <a:rPr lang="en-US"/>
              <a:t>12</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Handout Section 4.1. The z-score standardises and thresholds; Tukey’s rule fences off anything more than 1.5 interquartile ranges past the quartiles.</a:t>
            </a:r>
          </a:p>
          <a:p>
            <a:pPr lvl="0" indent="0" marL="0">
              <a:buNone/>
            </a:pPr>
          </a:p>
          <a:p>
            <a:pPr lvl="0" indent="0" marL="0">
              <a:buNone/>
            </a:pPr>
            <a:r>
              <a:rPr/>
              <a:t>Give the probabilistic reading of each, because it is what makes them more than recipes. Under normality, |z| &gt; 3 flags about 0.27% of a column. And the 1.5 is not arbitrary: for a normal column the IQR is 1.349 sigma, so the fence lands at 2.698 sigma and flags about 0.35% per tail. Tukey chose the constant precisely so the two rules agree on well-behaved data.</a:t>
            </a:r>
          </a:p>
          <a:p>
            <a:pPr lvl="0" indent="0" marL="0">
              <a:buNone/>
            </a:pPr>
          </a:p>
          <a:p>
            <a:pPr lvl="0" indent="0" marL="0">
              <a:buNone/>
            </a:pPr>
            <a:r>
              <a:rPr/>
              <a:t>That agreement is the setup for the next section. Both rules are calibrated on normality; the interesting question is what they do when the data is not normal, and that is where they part company.</a:t>
            </a:r>
          </a:p>
        </p:txBody>
      </p:sp>
      <p:sp>
        <p:nvSpPr>
          <p:cNvPr id="4" name="Slide Number Placeholder 3"/>
          <p:cNvSpPr>
            <a:spLocks noGrp="1"/>
          </p:cNvSpPr>
          <p:nvPr>
            <p:ph type="sldNum" sz="quarter" idx="10"/>
          </p:nvPr>
        </p:nvSpPr>
        <p:spPr/>
        <p:txBody>
          <a:bodyPr/>
          <a:lstStyle/>
          <a:p>
            <a:fld id="{18BDFEC3-8487-43E8-A154-7C12CBC1FFF2}" type="slidenum">
              <a:rPr lang="en-US"/>
              <a:t>13</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Handout Section 4.1 derives the 1.5 constant from the standard normal quantile function: it is chosen so the IQR fence and a 3-sigma z-score fence flag comparable tails on a genuinely normal column. Say this is a design choice with an assumption baked in, and the next slide is what happens when the assumption fails.</a:t>
            </a:r>
          </a:p>
        </p:txBody>
      </p:sp>
      <p:sp>
        <p:nvSpPr>
          <p:cNvPr id="4" name="Slide Number Placeholder 3"/>
          <p:cNvSpPr>
            <a:spLocks noGrp="1"/>
          </p:cNvSpPr>
          <p:nvPr>
            <p:ph type="sldNum" sz="quarter" idx="10"/>
          </p:nvPr>
        </p:nvSpPr>
        <p:spPr/>
        <p:txBody>
          <a:bodyPr/>
          <a:lstStyle/>
          <a:p>
            <a:fld id="{18BDFEC3-8487-43E8-A154-7C12CBC1FFF2}" type="slidenum">
              <a:rPr lang="en-US"/>
              <a:t>14</a:t>
            </a:fld>
            <a:endParaRPr lang="en-US"/>
          </a:p>
        </p:txBody>
      </p:sp>
    </p:spTree>
  </p:cSld>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monthly_charges: z-score flags 20, IQR flags 32. The z-score rule’s own mean and standard deviation are dragged around by the outliers it is trying to catch - a handful of billing errors inflate s directly, making the rule LESS sensitive exactly when it should be more so. IQR barely moves under the same contamination. That is why IQR is the safer default for skewed, error-prone columns.</a:t>
            </a:r>
          </a:p>
          <a:p>
            <a:pPr lvl="0" indent="0" marL="0">
              <a:buNone/>
            </a:pPr>
          </a:p>
          <a:p>
            <a:pPr lvl="0" indent="0" marL="0">
              <a:buNone/>
            </a:pPr>
            <a:r>
              <a:rPr/>
              <a:t>tenure_months: only 4 flagged on the right panel, all at 999. Ask the room: where did the negative values go? Nobody will know yet - next slide.</a:t>
            </a:r>
          </a:p>
        </p:txBody>
      </p:sp>
      <p:sp>
        <p:nvSpPr>
          <p:cNvPr id="4" name="Slide Number Placeholder 3"/>
          <p:cNvSpPr>
            <a:spLocks noGrp="1"/>
          </p:cNvSpPr>
          <p:nvPr>
            <p:ph type="sldNum" sz="quarter" idx="10"/>
          </p:nvPr>
        </p:nvSpPr>
        <p:spPr/>
        <p:txBody>
          <a:bodyPr/>
          <a:lstStyle/>
          <a:p>
            <a:fld id="{18BDFEC3-8487-43E8-A154-7C12CBC1FFF2}" type="slidenum">
              <a:rPr lang="en-US"/>
              <a:t>15</a:t>
            </a:fld>
            <a:endParaRPr lang="en-US"/>
          </a:p>
        </p:txBody>
      </p:sp>
    </p:spTree>
  </p:cSld>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slide worth remembering over the two formulas. Statistical rules find points that are unusual relative to the rest of a column; they know nothing about domain validity. A negative tenure sits comfortably inside the IQR fence because the column’s own spread is wide enough to hide it.</a:t>
            </a:r>
          </a:p>
          <a:p>
            <a:pPr lvl="0" indent="0" marL="0">
              <a:buNone/>
            </a:pPr>
          </a:p>
          <a:p>
            <a:pPr lvl="0" indent="0" marL="0">
              <a:buNone/>
            </a:pPr>
            <a:r>
              <a:rPr/>
              <a:t>The fix is a domain rule: 0 &lt;= tenure_months &lt;= some sane maximum. Say plainly: a thorough pass runs both kinds of check, because they catch different mistakes, and neither substitutes for the other. Handout Section 4.2.</a:t>
            </a:r>
          </a:p>
        </p:txBody>
      </p:sp>
      <p:sp>
        <p:nvSpPr>
          <p:cNvPr id="4" name="Slide Number Placeholder 3"/>
          <p:cNvSpPr>
            <a:spLocks noGrp="1"/>
          </p:cNvSpPr>
          <p:nvPr>
            <p:ph type="sldNum" sz="quarter" idx="10"/>
          </p:nvPr>
        </p:nvSpPr>
        <p:spPr/>
        <p:txBody>
          <a:bodyPr/>
          <a:lstStyle/>
          <a:p>
            <a:fld id="{18BDFEC3-8487-43E8-A154-7C12CBC1FFF2}" type="slidenum">
              <a:rPr lang="en-US"/>
              <a:t>16</a:t>
            </a:fld>
            <a:endParaRPr lang="en-US"/>
          </a:p>
        </p:txBody>
      </p:sp>
    </p:spTree>
  </p:cSld>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A long-tenure, high-paying customer is not an error; a tenure of 999 months is. Say plainly that a statistical rule cannot make this call - it only nominates candidates, and the decision is a domain decision.</a:t>
            </a:r>
          </a:p>
          <a:p>
            <a:pPr lvl="0" indent="0" marL="0">
              <a:buNone/>
            </a:pPr>
          </a:p>
          <a:p>
            <a:pPr lvl="0" indent="0" marL="0">
              <a:buNone/>
            </a:pPr>
            <a:r>
              <a:rPr/>
              <a:t>Walk the four options and note that each is a different claim about the world. Capping says “the value is real but the scale is misleading”. Removing says “this row is not from the population I am modelling”. Correcting says “I know what it should have been”. Leaving it says “the model should handle this”.</a:t>
            </a:r>
          </a:p>
          <a:p>
            <a:pPr lvl="0" indent="0" marL="0">
              <a:buNone/>
            </a:pPr>
          </a:p>
          <a:p>
            <a:pPr lvl="0" indent="0" marL="0">
              <a:buNone/>
            </a:pPr>
            <a:r>
              <a:rPr/>
              <a:t>The one that gets chosen by default, without anyone deciding, is removal - and it is the one that silently reweights the sample. Handout Section 4.2 closes on exactly this. If a rule flags 3% of your rows and you drop them all, you have changed the population your model is trained on.</a:t>
            </a:r>
          </a:p>
        </p:txBody>
      </p:sp>
      <p:sp>
        <p:nvSpPr>
          <p:cNvPr id="4" name="Slide Number Placeholder 3"/>
          <p:cNvSpPr>
            <a:spLocks noGrp="1"/>
          </p:cNvSpPr>
          <p:nvPr>
            <p:ph type="sldNum" sz="quarter" idx="10"/>
          </p:nvPr>
        </p:nvSpPr>
        <p:spPr/>
        <p:txBody>
          <a:bodyPr/>
          <a:lstStyle/>
          <a:p>
            <a:fld id="{18BDFEC3-8487-43E8-A154-7C12CBC1FFF2}" type="slidenum">
              <a:rPr lang="en-US"/>
              <a:t>17</a:t>
            </a:fld>
            <a:endParaRPr lang="en-US"/>
          </a:p>
        </p:txBody>
      </p:sp>
    </p:spTree>
  </p:cSld>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Work through notebook 1 now, 25 minutes. Let them drive; walk the room rather than presenting.</a:t>
            </a:r>
          </a:p>
          <a:p>
            <a:pPr lvl="0" indent="0" marL="0">
              <a:buNone/>
            </a:pPr>
          </a:p>
          <a:p>
            <a:pPr lvl="0" indent="0" marL="0">
              <a:buNone/>
            </a:pPr>
            <a:r>
              <a:rPr/>
              <a:t>The domain-rule cell is worth pausing on collectively: a two-line check for negative tenure catches something no statistical rule would flag, because a negative tenure is not extreme, it is impossible. That distinction - impossible versus unusual - is the lesson of the whole section, and it lands better from their own screen than from the projector.</a:t>
            </a:r>
          </a:p>
          <a:p>
            <a:pPr lvl="0" indent="0" marL="0">
              <a:buNone/>
            </a:pPr>
          </a:p>
          <a:p>
            <a:pPr lvl="0" indent="0" marL="0">
              <a:buNone/>
            </a:pPr>
            <a:r>
              <a:rPr/>
              <a:t>Watch for the group that finishes early. Point them at the “try this” in the notebook: change the missing fraction and watch the correlation attenuate as the derivation predicts.</a:t>
            </a:r>
          </a:p>
        </p:txBody>
      </p:sp>
      <p:sp>
        <p:nvSpPr>
          <p:cNvPr id="4" name="Slide Number Placeholder 3"/>
          <p:cNvSpPr>
            <a:spLocks noGrp="1"/>
          </p:cNvSpPr>
          <p:nvPr>
            <p:ph type="sldNum" sz="quarter" idx="10"/>
          </p:nvPr>
        </p:nvSpPr>
        <p:spPr/>
        <p:txBody>
          <a:bodyPr/>
          <a:lstStyle/>
          <a:p>
            <a:fld id="{18BDFEC3-8487-43E8-A154-7C12CBC1FFF2}" type="slidenum">
              <a:rPr lang="en-US"/>
              <a:t>18</a:t>
            </a:fld>
            <a:endParaRPr lang="en-US"/>
          </a:p>
        </p:txBody>
      </p:sp>
    </p:spTree>
  </p:cSld>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15 minutes. Back for scaling, encoding and the pipeline.</a:t>
            </a:r>
          </a:p>
          <a:p>
            <a:pPr lvl="0" indent="0" marL="0">
              <a:buNone/>
            </a:pPr>
          </a:p>
          <a:p>
            <a:pPr lvl="0" indent="0" marL="0">
              <a:buNone/>
            </a:pPr>
            <a:r>
              <a:rPr/>
              <a:t>Use the break to check who is stuck in the notebook - the second half assumes everyone has a working ColumnTransformer, and it is much cheaper to fix now than during the leakage section.</a:t>
            </a:r>
          </a:p>
        </p:txBody>
      </p:sp>
      <p:sp>
        <p:nvSpPr>
          <p:cNvPr id="4" name="Slide Number Placeholder 3"/>
          <p:cNvSpPr>
            <a:spLocks noGrp="1"/>
          </p:cNvSpPr>
          <p:nvPr>
            <p:ph type="sldNum" sz="quarter" idx="10"/>
          </p:nvPr>
        </p:nvSpPr>
        <p:spPr/>
        <p:txBody>
          <a:bodyPr/>
          <a:lstStyle/>
          <a:p>
            <a:fld id="{18BDFEC3-8487-43E8-A154-7C12CBC1FFF2}" type="slidenum">
              <a:rPr lang="en-US"/>
              <a:t>19</a:t>
            </a:fld>
            <a:endParaRPr lang="en-US"/>
          </a:p>
        </p:txBody>
      </p:sp>
    </p:spTree>
  </p:cSld>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Set up the problem before the mathematics. Ask: if two features live on very different scales, can a single learning rate be right for both directions at once? Let the room reason about it before the derivation.</a:t>
            </a:r>
          </a:p>
          <a:p>
            <a:pPr lvl="0" indent="0" marL="0">
              <a:buNone/>
            </a:pPr>
          </a:p>
          <a:p>
            <a:pPr lvl="0" indent="0" marL="0">
              <a:buNone/>
            </a:pPr>
            <a:r>
              <a:rPr/>
              <a:t>Give them the concrete pair from the dataset: tenure runs 0 to 70, monthly charges 15 to 150. The variances differ by roughly an order of magnitude, and gradient descent takes one step size along every axis simultaneously.</a:t>
            </a:r>
          </a:p>
          <a:p>
            <a:pPr lvl="0" indent="0" marL="0">
              <a:buNone/>
            </a:pPr>
          </a:p>
          <a:p>
            <a:pPr lvl="0" indent="0" marL="0">
              <a:buNone/>
            </a:pPr>
            <a:r>
              <a:rPr/>
              <a:t>Handout Section 5.2 does it properly, and the punchline is worth previewing: the safe learning rate is set by the largest-variance feature, so progress along the smallest-variance direction is throttled by their ratio. The number of iterations scales with the condition number. Scaling is not cosmetic - it changes how long training takes, and sometimes whether it converges at all.</a:t>
            </a:r>
          </a:p>
        </p:txBody>
      </p:sp>
      <p:sp>
        <p:nvSpPr>
          <p:cNvPr id="4" name="Slide Number Placeholder 3"/>
          <p:cNvSpPr>
            <a:spLocks noGrp="1"/>
          </p:cNvSpPr>
          <p:nvPr>
            <p:ph type="sldNum" sz="quarter" idx="10"/>
          </p:nvPr>
        </p:nvSpPr>
        <p:spPr/>
        <p:txBody>
          <a:bodyPr/>
          <a:lstStyle/>
          <a:p>
            <a:fld id="{18BDFEC3-8487-43E8-A154-7C12CBC1FFF2}" type="slidenum">
              <a:rPr lang="en-US"/>
              <a:t>20</a:t>
            </a:fld>
            <a:endParaRPr lang="en-US"/>
          </a:p>
        </p:txBody>
      </p:sp>
    </p:spTree>
  </p:cSld>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figure is the derivation made visible. Left: variances differ, so the bowl is a narrow valley. One step size is bound by the steep axis, so it bounces across the valley while barely advancing along it.</a:t>
            </a:r>
          </a:p>
          <a:p>
            <a:pPr lvl="0" indent="0" marL="0">
              <a:buNone/>
            </a:pPr>
          </a:p>
          <a:p>
            <a:pPr lvl="0" indent="0" marL="0">
              <a:buNone/>
            </a:pPr>
            <a:r>
              <a:rPr/>
              <a:t>Right: after scaling, the bowl is round and every step points at the minimum.</a:t>
            </a:r>
          </a:p>
          <a:p>
            <a:pPr lvl="0" indent="0" marL="0">
              <a:buNone/>
            </a:pPr>
          </a:p>
          <a:p>
            <a:pPr lvl="0" indent="0" marL="0">
              <a:buNone/>
            </a:pPr>
            <a:r>
              <a:rPr/>
              <a:t>Give them the number that governs it - the condition number, the ratio of largest to smallest variance - and say that the iteration count scales with it. Scaling is not cosmetic: it changes how long training takes, and sometimes whether it converges at all.</a:t>
            </a:r>
          </a:p>
          <a:p>
            <a:pPr lvl="0" indent="0" marL="0">
              <a:buNone/>
            </a:pPr>
          </a:p>
          <a:p>
            <a:pPr lvl="0" indent="0" marL="0">
              <a:buNone/>
            </a:pPr>
            <a:r>
              <a:rPr/>
              <a:t>The derivation is Handout Section 5.2: the Hessian of the squared-error cost is the feature covariance matrix, so for uncorrelated centred features it is diagonal with the variances on it. That is why the picture is an axis-aligned ellipse, and why its elongation is the condition number.</a:t>
            </a:r>
          </a:p>
        </p:txBody>
      </p:sp>
      <p:sp>
        <p:nvSpPr>
          <p:cNvPr id="4" name="Slide Number Placeholder 3"/>
          <p:cNvSpPr>
            <a:spLocks noGrp="1"/>
          </p:cNvSpPr>
          <p:nvPr>
            <p:ph type="sldNum" sz="quarter" idx="10"/>
          </p:nvPr>
        </p:nvSpPr>
        <p:spPr/>
        <p:txBody>
          <a:bodyPr/>
          <a:lstStyle/>
          <a:p>
            <a:fld id="{18BDFEC3-8487-43E8-A154-7C12CBC1FFF2}" type="slidenum">
              <a:rPr lang="en-US"/>
              <a:t>21</a:t>
            </a:fld>
            <a:endParaRPr lang="en-US"/>
          </a:p>
        </p:txBody>
      </p:sp>
    </p:spTree>
  </p:cSld>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Left panel: each feature set at its OWN safe rate - standardised still gets there faster, because it tolerates a larger rate. Right panel is the sharper point: give the RAW features the rate the standardised ones handle comfortably, and it does not converge slowly - it diverges. Same data, same starting point, one rate stable and one exploding.</a:t>
            </a:r>
          </a:p>
          <a:p>
            <a:pPr lvl="0" indent="0" marL="0">
              <a:buNone/>
            </a:pPr>
          </a:p>
          <a:p>
            <a:pPr lvl="0" indent="0" marL="0">
              <a:buNone/>
            </a:pPr>
            <a:r>
              <a:rPr/>
              <a:t>This is a controlled toy (notebook 2), built with exactly a 100:1 variance ratio so the effect is unambiguous - real churn features show the same direction of effect more mildly, since monthly_charges has roughly 3-4 times the spread of tenure_months, not 100 times.</a:t>
            </a:r>
          </a:p>
        </p:txBody>
      </p:sp>
      <p:sp>
        <p:nvSpPr>
          <p:cNvPr id="4" name="Slide Number Placeholder 3"/>
          <p:cNvSpPr>
            <a:spLocks noGrp="1"/>
          </p:cNvSpPr>
          <p:nvPr>
            <p:ph type="sldNum" sz="quarter" idx="10"/>
          </p:nvPr>
        </p:nvSpPr>
        <p:spPr/>
        <p:txBody>
          <a:bodyPr/>
          <a:lstStyle/>
          <a:p>
            <a:fld id="{18BDFEC3-8487-43E8-A154-7C12CBC1FFF2}" type="slidenum">
              <a:rPr lang="en-US"/>
              <a:t>22</a:t>
            </a:fld>
            <a:endParaRPr lang="en-US"/>
          </a:p>
        </p:txBody>
      </p:sp>
    </p:spTree>
  </p:cSld>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MinMaxScaler is the more outlier-sensitive of the two: one extreme billing error stretches the whole 0-1 range, compressing every ordinary customer into a sliver of it. StandardScaler is pulled too, through the mean and standard deviation, but far less dramatically.</a:t>
            </a:r>
          </a:p>
          <a:p>
            <a:pPr lvl="0" indent="0" marL="0">
              <a:buNone/>
            </a:pPr>
          </a:p>
          <a:p>
            <a:pPr lvl="0" indent="0" marL="0">
              <a:buNone/>
            </a:pPr>
            <a:r>
              <a:rPr/>
              <a:t>Both must be fitted on training data only - say this every time a fitted transform appears, because it is the thread the whole lesson hangs from.</a:t>
            </a:r>
          </a:p>
        </p:txBody>
      </p:sp>
      <p:sp>
        <p:nvSpPr>
          <p:cNvPr id="4" name="Slide Number Placeholder 3"/>
          <p:cNvSpPr>
            <a:spLocks noGrp="1"/>
          </p:cNvSpPr>
          <p:nvPr>
            <p:ph type="sldNum" sz="quarter" idx="10"/>
          </p:nvPr>
        </p:nvSpPr>
        <p:spPr/>
        <p:txBody>
          <a:bodyPr/>
          <a:lstStyle/>
          <a:p>
            <a:fld id="{18BDFEC3-8487-43E8-A154-7C12CBC1FFF2}" type="slidenum">
              <a:rPr lang="en-US"/>
              <a:t>23</a:t>
            </a:fld>
            <a:endParaRPr lang="en-US"/>
          </a:p>
        </p:txBody>
      </p:sp>
    </p:spTree>
  </p:cSld>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k dummy columns always sum to the intercept column, so they are not independent of it: the design matrix loses rank, and the normal equation has no unique solution.</a:t>
            </a:r>
          </a:p>
          <a:p>
            <a:pPr lvl="0" indent="0" marL="0">
              <a:buNone/>
            </a:pPr>
          </a:p>
          <a:p>
            <a:pPr lvl="0" indent="0" marL="0">
              <a:buNone/>
            </a:pPr>
            <a:r>
              <a:rPr/>
              <a:t>Stress that this is not a numerical inconvenience but an identifiability problem. There are infinitely many coefficient vectors that fit equally well, because you can add a constant to every dummy coefficient and subtract it from the intercept without changing a single prediction.</a:t>
            </a:r>
          </a:p>
          <a:p>
            <a:pPr lvl="0" indent="0" marL="0">
              <a:buNone/>
            </a:pPr>
          </a:p>
          <a:p>
            <a:pPr lvl="0" indent="0" marL="0">
              <a:buNone/>
            </a:pPr>
            <a:r>
              <a:rPr/>
              <a:t>Handout Section 6.1 has the proof; notebook 2 confirms it directly with matrix_rank, which is the version they will believe. The next slide shows it as arithmetic.</a:t>
            </a:r>
          </a:p>
        </p:txBody>
      </p:sp>
      <p:sp>
        <p:nvSpPr>
          <p:cNvPr id="4" name="Slide Number Placeholder 3"/>
          <p:cNvSpPr>
            <a:spLocks noGrp="1"/>
          </p:cNvSpPr>
          <p:nvPr>
            <p:ph type="sldNum" sz="quarter" idx="10"/>
          </p:nvPr>
        </p:nvSpPr>
        <p:spPr/>
        <p:txBody>
          <a:bodyPr/>
          <a:lstStyle/>
          <a:p>
            <a:fld id="{18BDFEC3-8487-43E8-A154-7C12CBC1FFF2}" type="slidenum">
              <a:rPr lang="en-US"/>
              <a:t>24</a:t>
            </a:fld>
            <a:endParaRPr lang="en-US"/>
          </a:p>
        </p:txBody>
      </p:sp>
    </p:spTree>
  </p:cSld>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Point at the number: the rank is short by exactly one, not by an arbitrary amount. That is the signature of a single linear dependence - the sum of the dummies equalling the intercept - rather than of general collinearity.</a:t>
            </a:r>
          </a:p>
          <a:p>
            <a:pPr lvl="0" indent="0" marL="0">
              <a:buNone/>
            </a:pPr>
          </a:p>
          <a:p>
            <a:pPr lvl="0" indent="0" marL="0">
              <a:buNone/>
            </a:pPr>
            <a:r>
              <a:rPr/>
              <a:t>The fix is OneHotEncoder(drop=“first”). The dropped category becomes the reference level, absorbed into the intercept: no information is lost, and full rank is restored.</a:t>
            </a:r>
          </a:p>
          <a:p>
            <a:pPr lvl="0" indent="0" marL="0">
              <a:buNone/>
            </a:pPr>
          </a:p>
          <a:p>
            <a:pPr lvl="0" indent="0" marL="0">
              <a:buNone/>
            </a:pPr>
            <a:r>
              <a:rPr/>
              <a:t>Two caveats worth saying. Tree-based models (Lesson 7) do not need this, because they never invert a design matrix. And regularised models tolerate the rank deficiency, because the penalty term picks one solution out of the infinitely many - which is a good early illustration of what regularisation actually does, and we return to it in Lesson 3.</a:t>
            </a:r>
          </a:p>
        </p:txBody>
      </p:sp>
      <p:sp>
        <p:nvSpPr>
          <p:cNvPr id="4" name="Slide Number Placeholder 3"/>
          <p:cNvSpPr>
            <a:spLocks noGrp="1"/>
          </p:cNvSpPr>
          <p:nvPr>
            <p:ph type="sldNum" sz="quarter" idx="10"/>
          </p:nvPr>
        </p:nvSpPr>
        <p:spPr/>
        <p:txBody>
          <a:bodyPr/>
          <a:lstStyle/>
          <a:p>
            <a:fld id="{18BDFEC3-8487-43E8-A154-7C12CBC1FFF2}" type="slidenum">
              <a:rPr lang="en-US"/>
              <a:t>25</a:t>
            </a:fld>
            <a:endParaRPr lang="en-US"/>
          </a:p>
        </p:txBody>
      </p:sp>
    </p:spTree>
  </p:cSld>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Three encodings of one column, and each makes a different claim.</a:t>
            </a:r>
          </a:p>
          <a:p>
            <a:pPr lvl="0" indent="0" marL="0">
              <a:buNone/>
            </a:pPr>
          </a:p>
          <a:p>
            <a:pPr lvl="0" indent="0" marL="0">
              <a:buNone/>
            </a:pPr>
            <a:r>
              <a:rPr/>
              <a:t>Ordinal claims the categories are equally spaced on a line - fine for small/medium/large, wrong for region. One-hot claims nothing at all, which is why it is the default, and costs k columns: 493 for zip code on 2000 rows. Target claims each category is summarised by its own churn rate, which is compact and, as the next section shows, computed from the labels.</a:t>
            </a:r>
          </a:p>
          <a:p>
            <a:pPr lvl="0" indent="0" marL="0">
              <a:buNone/>
            </a:pPr>
          </a:p>
          <a:p>
            <a:pPr lvl="0" indent="0" marL="0">
              <a:buNone/>
            </a:pPr>
            <a:r>
              <a:rPr/>
              <a:t>The question to leave them with: which claim is true for THIS column? It is a domain question, not a technical one.</a:t>
            </a:r>
          </a:p>
        </p:txBody>
      </p:sp>
      <p:sp>
        <p:nvSpPr>
          <p:cNvPr id="4" name="Slide Number Placeholder 3"/>
          <p:cNvSpPr>
            <a:spLocks noGrp="1"/>
          </p:cNvSpPr>
          <p:nvPr>
            <p:ph type="sldNum" sz="quarter" idx="10"/>
          </p:nvPr>
        </p:nvSpPr>
        <p:spPr/>
        <p:txBody>
          <a:bodyPr/>
          <a:lstStyle/>
          <a:p>
            <a:fld id="{18BDFEC3-8487-43E8-A154-7C12CBC1FFF2}" type="slidenum">
              <a:rPr lang="en-US"/>
              <a:t>26</a:t>
            </a:fld>
            <a:endParaRPr lang="en-US"/>
          </a:p>
        </p:txBody>
      </p:sp>
    </p:spTree>
  </p:cSld>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same column under all three schemes, and each makes a different claim about the world.</a:t>
            </a:r>
          </a:p>
          <a:p>
            <a:pPr lvl="0" indent="0" marL="0">
              <a:buNone/>
            </a:pPr>
          </a:p>
          <a:p>
            <a:pPr lvl="0" indent="0" marL="0">
              <a:buNone/>
            </a:pPr>
            <a:r>
              <a:rPr/>
              <a:t>Ordinal claims the categories are equally spaced along a line - fine for small/medium/large, wrong for region, and the model has no way to tell you it was the wrong claim.</a:t>
            </a:r>
          </a:p>
          <a:p>
            <a:pPr lvl="0" indent="0" marL="0">
              <a:buNone/>
            </a:pPr>
          </a:p>
          <a:p>
            <a:pPr lvl="0" indent="0" marL="0">
              <a:buNone/>
            </a:pPr>
            <a:r>
              <a:rPr/>
              <a:t>One-hot claims nothing at all, which is why it is the default, and pays for that neutrality in columns: 493 of them for zip code, on 2000 rows.</a:t>
            </a:r>
          </a:p>
          <a:p>
            <a:pPr lvl="0" indent="0" marL="0">
              <a:buNone/>
            </a:pPr>
          </a:p>
          <a:p>
            <a:pPr lvl="0" indent="0" marL="0">
              <a:buNone/>
            </a:pPr>
            <a:r>
              <a:rPr/>
              <a:t>Target claims each category is summarised by its own churn rate. Compact, effective - and computed from the labels, which is where the next section begins.</a:t>
            </a:r>
          </a:p>
          <a:p>
            <a:pPr lvl="0" indent="0" marL="0">
              <a:buNone/>
            </a:pPr>
          </a:p>
          <a:p>
            <a:pPr lvl="0" indent="0" marL="0">
              <a:buNone/>
            </a:pPr>
            <a:r>
              <a:rPr/>
              <a:t>The question to leave with them: which claim is true for THIS column? That is a domain question, not a technical one, and no cross-validation score will answer it.</a:t>
            </a:r>
          </a:p>
        </p:txBody>
      </p:sp>
      <p:sp>
        <p:nvSpPr>
          <p:cNvPr id="4" name="Slide Number Placeholder 3"/>
          <p:cNvSpPr>
            <a:spLocks noGrp="1"/>
          </p:cNvSpPr>
          <p:nvPr>
            <p:ph type="sldNum" sz="quarter" idx="10"/>
          </p:nvPr>
        </p:nvSpPr>
        <p:spPr/>
        <p:txBody>
          <a:bodyPr/>
          <a:lstStyle/>
          <a:p>
            <a:fld id="{18BDFEC3-8487-43E8-A154-7C12CBC1FFF2}" type="slidenum">
              <a:rPr lang="en-US"/>
              <a:t>27</a:t>
            </a:fld>
            <a:endParaRPr lang="en-US"/>
          </a:p>
        </p:txBody>
      </p:sp>
    </p:spTree>
  </p:cSld>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Handout Section 6.3. Deliberately quick - the point is to motivate why target encoding looks attractive for high-cardinality columns, before the next section shows why it needs care.</a:t>
            </a:r>
          </a:p>
          <a:p>
            <a:pPr lvl="0" indent="0" marL="0">
              <a:buNone/>
            </a:pPr>
          </a:p>
          <a:p>
            <a:pPr lvl="0" indent="0" marL="0">
              <a:buNone/>
            </a:pPr>
            <a:r>
              <a:rPr/>
              <a:t>The number to dwell on: one-hot encoding zip_code produces 493 columns, almost all zero, on 2000 rows. More columns than a quarter of the sample size, for one field.</a:t>
            </a:r>
          </a:p>
          <a:p>
            <a:pPr lvl="0" indent="0" marL="0">
              <a:buNone/>
            </a:pPr>
          </a:p>
          <a:p>
            <a:pPr lvl="0" indent="0" marL="0">
              <a:buNone/>
            </a:pPr>
            <a:r>
              <a:rPr/>
              <a:t>Two consequences to name. Distance-based methods (Lesson 6) degrade, because in high dimensions everything becomes roughly equidistant from everything else. And every column is a parameter to estimate from the same fixed amount of data, which is the bias-variance trade-off from Lesson 1 arriving from a new direction.</a:t>
            </a:r>
          </a:p>
        </p:txBody>
      </p:sp>
      <p:sp>
        <p:nvSpPr>
          <p:cNvPr id="4" name="Slide Number Placeholder 3"/>
          <p:cNvSpPr>
            <a:spLocks noGrp="1"/>
          </p:cNvSpPr>
          <p:nvPr>
            <p:ph type="sldNum" sz="quarter" idx="10"/>
          </p:nvPr>
        </p:nvSpPr>
        <p:spPr/>
        <p:txBody>
          <a:bodyPr/>
          <a:lstStyle/>
          <a:p>
            <a:fld id="{18BDFEC3-8487-43E8-A154-7C12CBC1FFF2}" type="slidenum">
              <a:rPr lang="en-US"/>
              <a:t>28</a:t>
            </a:fld>
            <a:endParaRPr lang="en-US"/>
          </a:p>
        </p:txBody>
      </p:sp>
    </p:spTree>
  </p:cSld>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Point at the zip_code row/column - or its absence, since it is not even numeric yet - and say: notebook 1’s correlation check already suggests this column carries nothing. One-hot encoding it would add 493 mostly-empty columns. The natural alternative - replace each code with the average churn rate of its customers - is exactly the technique the leakage section is about. Do not resolve the tension yet; let it hang until after the break-free run into notebook 2’s pipeline section.</a:t>
            </a:r>
          </a:p>
        </p:txBody>
      </p:sp>
      <p:sp>
        <p:nvSpPr>
          <p:cNvPr id="4" name="Slide Number Placeholder 3"/>
          <p:cNvSpPr>
            <a:spLocks noGrp="1"/>
          </p:cNvSpPr>
          <p:nvPr>
            <p:ph type="sldNum" sz="quarter" idx="10"/>
          </p:nvPr>
        </p:nvSpPr>
        <p:spPr/>
        <p:txBody>
          <a:bodyPr/>
          <a:lstStyle/>
          <a:p>
            <a:fld id="{18BDFEC3-8487-43E8-A154-7C12CBC1FFF2}" type="slidenum">
              <a:rPr lang="en-US"/>
              <a:t>29</a:t>
            </a:fld>
            <a:endParaRPr lang="en-US"/>
          </a:p>
        </p:txBody>
      </p:sp>
    </p:spTree>
  </p:cSld>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Handout Section 8.1. Lesson 1’s unbiasedness argument never mentioned “the model” specifically - it is about f, whatever function maps raw inputs to predictions. In deployment, a fitted scaler or imputer travels WITH the model, so f includes their learned parameters too.</a:t>
            </a:r>
          </a:p>
          <a:p>
            <a:pPr lvl="0" indent="0" marL="0">
              <a:buNone/>
            </a:pPr>
          </a:p>
          <a:p>
            <a:pPr lvl="0" indent="0" marL="0">
              <a:buNone/>
            </a:pPr>
            <a:r>
              <a:rPr/>
              <a:t>The moment any of those parameters - a mean, a set of neighbours, a per-category average - is estimated using rows that later appear in T, f is no longer independent of T, and the equality breaks. This is the one-sentence version of everything Section 9 is about to demonstrate concretely.</a:t>
            </a:r>
          </a:p>
        </p:txBody>
      </p:sp>
      <p:sp>
        <p:nvSpPr>
          <p:cNvPr id="4" name="Slide Number Placeholder 3"/>
          <p:cNvSpPr>
            <a:spLocks noGrp="1"/>
          </p:cNvSpPr>
          <p:nvPr>
            <p:ph type="sldNum" sz="quarter" idx="10"/>
          </p:nvPr>
        </p:nvSpPr>
        <p:spPr/>
        <p:txBody>
          <a:bodyPr/>
          <a:lstStyle/>
          <a:p>
            <a:fld id="{18BDFEC3-8487-43E8-A154-7C12CBC1FFF2}" type="slidenum">
              <a:rPr lang="en-US"/>
              <a:t>30</a:t>
            </a:fld>
            <a:endParaRPr lang="en-US"/>
          </a:p>
        </p:txBody>
      </p:sp>
    </p:spTree>
  </p:cSld>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structural version of the argument just stated. Different columns need different treatment; ColumnTransformer routes each group through its own sub-pipeline and concatenates the result; the outer Pipeline adds the classifier.</a:t>
            </a:r>
          </a:p>
          <a:p>
            <a:pPr lvl="0" indent="0" marL="0">
              <a:buNone/>
            </a:pPr>
          </a:p>
          <a:p>
            <a:pPr lvl="0" indent="0" marL="0">
              <a:buNone/>
            </a:pPr>
            <a:r>
              <a:rPr/>
              <a:t>One fit() call, on X_train, fits every imputer, the scaler, the encoder AND the classifier - in that order, on training data only, by construction. Say explicitly: this is not tidiness. It is what makes “nothing learned before the split” true even when nobody is watching, which today’s leakage section is entirely about.</a:t>
            </a:r>
          </a:p>
        </p:txBody>
      </p:sp>
      <p:sp>
        <p:nvSpPr>
          <p:cNvPr id="4" name="Slide Number Placeholder 3"/>
          <p:cNvSpPr>
            <a:spLocks noGrp="1"/>
          </p:cNvSpPr>
          <p:nvPr>
            <p:ph type="sldNum" sz="quarter" idx="10"/>
          </p:nvPr>
        </p:nvSpPr>
        <p:spPr/>
        <p:txBody>
          <a:bodyPr/>
          <a:lstStyle/>
          <a:p>
            <a:fld id="{18BDFEC3-8487-43E8-A154-7C12CBC1FFF2}" type="slidenum">
              <a:rPr lang="en-US"/>
              <a:t>31</a:t>
            </a:fld>
            <a:endParaRPr lang="en-US"/>
          </a:p>
        </p:txBody>
      </p:sp>
    </p:spTree>
  </p:cSld>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numeric_pipe and categorical_pipe are the impute-then-transform pairs from the diagram; show the full definitions on screen in notebook 2 rather than here. Point out there is exactly ONE call to fit, at the very bottom, on X_train alone - everything above it declares structure, not computation.</a:t>
            </a:r>
          </a:p>
          <a:p>
            <a:pPr lvl="0" indent="0" marL="0">
              <a:buNone/>
            </a:pPr>
          </a:p>
          <a:p>
            <a:pPr lvl="0" indent="0" marL="0">
              <a:buNone/>
            </a:pPr>
            <a:r>
              <a:rPr/>
              <a:t>This is the code notebook 2 runs, nearly verbatim. Say that reading it should now feel unremarkable - that is the goal, structure that makes the right thing the easy thing.</a:t>
            </a:r>
          </a:p>
        </p:txBody>
      </p:sp>
      <p:sp>
        <p:nvSpPr>
          <p:cNvPr id="4" name="Slide Number Placeholder 3"/>
          <p:cNvSpPr>
            <a:spLocks noGrp="1"/>
          </p:cNvSpPr>
          <p:nvPr>
            <p:ph type="sldNum" sz="quarter" idx="10"/>
          </p:nvPr>
        </p:nvSpPr>
        <p:spPr/>
        <p:txBody>
          <a:bodyPr/>
          <a:lstStyle/>
          <a:p>
            <a:fld id="{18BDFEC3-8487-43E8-A154-7C12CBC1FFF2}" type="slidenum">
              <a:rPr lang="en-US"/>
              <a:t>32</a:t>
            </a:fld>
            <a:endParaRPr lang="en-US"/>
          </a:p>
        </p:txBody>
      </p:sp>
    </p:spTree>
  </p:cSld>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Let the room answer why the accuracy gain is modest. The dataset is 80/20 imbalanced, so accuracy is dominated by the majority class - exactly as Lesson 1 warned, and the first time they meet it on data they prepared themselves.</a:t>
            </a:r>
          </a:p>
          <a:p>
            <a:pPr lvl="0" indent="0" marL="0">
              <a:buNone/>
            </a:pPr>
          </a:p>
          <a:p>
            <a:pPr lvl="0" indent="0" marL="0">
              <a:buNone/>
            </a:pPr>
            <a:r>
              <a:rPr/>
              <a:t>The matrix shows where the errors sit: read the bottom-left cell, the churners the model missed. AUC at 0.752 is unaffected by the imbalance and says there is real signal that accuracy is hiding.</a:t>
            </a:r>
          </a:p>
          <a:p>
            <a:pPr lvl="0" indent="0" marL="0">
              <a:buNone/>
            </a:pPr>
          </a:p>
          <a:p>
            <a:pPr lvl="0" indent="0" marL="0">
              <a:buNone/>
            </a:pPr>
            <a:r>
              <a:rPr/>
              <a:t>Had we reported only accuracy, this model would look barely better than the baseline and someone would reasonably conclude the features were useless.</a:t>
            </a:r>
          </a:p>
        </p:txBody>
      </p:sp>
      <p:sp>
        <p:nvSpPr>
          <p:cNvPr id="4" name="Slide Number Placeholder 3"/>
          <p:cNvSpPr>
            <a:spLocks noGrp="1"/>
          </p:cNvSpPr>
          <p:nvPr>
            <p:ph type="sldNum" sz="quarter" idx="10"/>
          </p:nvPr>
        </p:nvSpPr>
        <p:spPr/>
        <p:txBody>
          <a:bodyPr/>
          <a:lstStyle/>
          <a:p>
            <a:fld id="{18BDFEC3-8487-43E8-A154-7C12CBC1FFF2}" type="slidenum">
              <a:rPr lang="en-US"/>
              <a:t>33</a:t>
            </a:fld>
            <a:endParaRPr lang="en-US"/>
          </a:p>
        </p:txBody>
      </p:sp>
    </p:spTree>
  </p:cSld>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A modest gain, and say plainly that this is itself a legitimate result, not a failed experiment - feature engineering is a hypothesis about the domain, not a guarantee. Handout Section 7.</a:t>
            </a:r>
          </a:p>
          <a:p>
            <a:pPr lvl="0" indent="0" marL="0">
              <a:buNone/>
            </a:pPr>
          </a:p>
          <a:p>
            <a:pPr lvl="0" indent="0" marL="0">
              <a:buNone/>
            </a:pPr>
            <a:r>
              <a:rPr/>
              <a:t>The point to land: any engineered feature that involves a statistic LEARNED from data - bin edges from quantiles, a scaled interaction - is subject to the same rule as scaling. A pure arithmetic combination (this ratio) needs no fold-awareness; a learned one does.</a:t>
            </a:r>
          </a:p>
        </p:txBody>
      </p:sp>
      <p:sp>
        <p:nvSpPr>
          <p:cNvPr id="4" name="Slide Number Placeholder 3"/>
          <p:cNvSpPr>
            <a:spLocks noGrp="1"/>
          </p:cNvSpPr>
          <p:nvPr>
            <p:ph type="sldNum" sz="quarter" idx="10"/>
          </p:nvPr>
        </p:nvSpPr>
        <p:spPr/>
        <p:txBody>
          <a:bodyPr/>
          <a:lstStyle/>
          <a:p>
            <a:fld id="{18BDFEC3-8487-43E8-A154-7C12CBC1FFF2}" type="slidenum">
              <a:rPr lang="en-US"/>
              <a:t>34</a:t>
            </a:fld>
            <a:endParaRPr lang="en-US"/>
          </a:p>
        </p:txBody>
      </p:sp>
    </p:spTree>
  </p:cSld>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25 minutes. Let them work; circulate.</a:t>
            </a:r>
          </a:p>
          <a:p>
            <a:pPr lvl="0" indent="0" marL="0">
              <a:buNone/>
            </a:pPr>
          </a:p>
          <a:p>
            <a:pPr lvl="0" indent="0" marL="0">
              <a:buNone/>
            </a:pPr>
            <a:r>
              <a:rPr/>
              <a:t>The gradient descent toy is worth running interactively - change the variance ratio live and watch the iteration count move, per the handout’s “try this”. It makes the condition number argument concrete in a way the derivation alone does not.</a:t>
            </a:r>
          </a:p>
          <a:p>
            <a:pPr lvl="0" indent="0" marL="0">
              <a:buNone/>
            </a:pPr>
          </a:p>
          <a:p>
            <a:pPr lvl="0" indent="0" marL="0">
              <a:buNone/>
            </a:pPr>
            <a:r>
              <a:rPr/>
              <a:t>If the room is moving fast, the ColumnTransformer section is where to slow down: it is the piece they will reuse in every exercise and in the project, and getting the column selectors right is fiddlier than it looks.</a:t>
            </a:r>
          </a:p>
        </p:txBody>
      </p:sp>
      <p:sp>
        <p:nvSpPr>
          <p:cNvPr id="4" name="Slide Number Placeholder 3"/>
          <p:cNvSpPr>
            <a:spLocks noGrp="1"/>
          </p:cNvSpPr>
          <p:nvPr>
            <p:ph type="sldNum" sz="quarter" idx="10"/>
          </p:nvPr>
        </p:nvSpPr>
        <p:spPr/>
        <p:txBody>
          <a:bodyPr/>
          <a:lstStyle/>
          <a:p>
            <a:fld id="{18BDFEC3-8487-43E8-A154-7C12CBC1FFF2}" type="slidenum">
              <a:rPr lang="en-US"/>
              <a:t>35</a:t>
            </a:fld>
            <a:endParaRPr lang="en-US"/>
          </a:p>
        </p:txBody>
      </p:sp>
    </p:spTree>
  </p:cSld>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Set up the closing section. Lesson 1’s leak - selecting features on the full dataset - is visible once you know to look for it: an obviously extra step. Today’s two are not. Imputing a missing value and encoding a category both read as ordinary data cleaning, not as “training a model.” They ARE training a model, in the sense Section 8.1 makes precise: any fitted parameter is part of f, and f must be independent of the test set.</a:t>
            </a:r>
          </a:p>
        </p:txBody>
      </p:sp>
      <p:sp>
        <p:nvSpPr>
          <p:cNvPr id="4" name="Slide Number Placeholder 3"/>
          <p:cNvSpPr>
            <a:spLocks noGrp="1"/>
          </p:cNvSpPr>
          <p:nvPr>
            <p:ph type="sldNum" sz="quarter" idx="10"/>
          </p:nvPr>
        </p:nvSpPr>
        <p:spPr/>
        <p:txBody>
          <a:bodyPr/>
          <a:lstStyle/>
          <a:p>
            <a:fld id="{18BDFEC3-8487-43E8-A154-7C12CBC1FFF2}" type="slidenum">
              <a:rPr lang="en-US"/>
              <a:t>36</a:t>
            </a:fld>
            <a:endParaRPr lang="en-US"/>
          </a:p>
        </p:txBody>
      </p:sp>
    </p:spTree>
  </p:cSld>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Walk the mechanism before the number. KNNImputer fills a gap using other rows’ values: it finds the nearest neighbours in feature space and averages them. “Nearest in the whole dataset” includes test rows, if it was fitted before the split existed.</a:t>
            </a:r>
          </a:p>
          <a:p>
            <a:pPr lvl="0" indent="0" marL="0">
              <a:buNone/>
            </a:pPr>
          </a:p>
          <a:p>
            <a:pPr lvl="0" indent="0" marL="0">
              <a:buNone/>
            </a:pPr>
            <a:r>
              <a:rPr/>
              <a:t>So a test row’s missing value can be filled using its own neighbours - which may include rows whose labels the model will later be scored on. The imputer did nothing wrong; it was simply shown data it should not have seen.</a:t>
            </a:r>
          </a:p>
          <a:p>
            <a:pPr lvl="0" indent="0" marL="0">
              <a:buNone/>
            </a:pPr>
          </a:p>
          <a:p>
            <a:pPr lvl="0" indent="0" marL="0">
              <a:buNone/>
            </a:pPr>
            <a:r>
              <a:rPr/>
              <a:t>Notebook 3 measures the gap. Connect it back to Lesson 1: this is the same independence argument, applied to a step nobody thinks of as learning. The imputer learns; therefore it belongs inside the training fold.</a:t>
            </a:r>
          </a:p>
        </p:txBody>
      </p:sp>
      <p:sp>
        <p:nvSpPr>
          <p:cNvPr id="4" name="Slide Number Placeholder 3"/>
          <p:cNvSpPr>
            <a:spLocks noGrp="1"/>
          </p:cNvSpPr>
          <p:nvPr>
            <p:ph type="sldNum" sz="quarter" idx="10"/>
          </p:nvPr>
        </p:nvSpPr>
        <p:spPr/>
        <p:txBody>
          <a:bodyPr/>
          <a:lstStyle/>
          <a:p>
            <a:fld id="{18BDFEC3-8487-43E8-A154-7C12CBC1FFF2}" type="slidenum">
              <a:rPr lang="en-US"/>
              <a:t>37</a:t>
            </a:fld>
            <a:endParaRPr lang="en-US"/>
          </a:p>
        </p:txBody>
      </p:sp>
    </p:spTree>
  </p:cSld>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98 of 128. Not an edge case - the substantial majority of imputed training rows borrowed a value from at least one row the model would later be scored on.</a:t>
            </a:r>
          </a:p>
          <a:p>
            <a:pPr lvl="0" indent="0" marL="0">
              <a:buNone/>
            </a:pPr>
          </a:p>
          <a:p>
            <a:pPr lvl="0" indent="0" marL="0">
              <a:buNone/>
            </a:pPr>
            <a:r>
              <a:rPr/>
              <a:t>Stress that nothing in the code looks wrong. KNNImputer did exactly what it says: found the nearest neighbours in the data it was given. The error was in what it was given, and it happened one line earlier.</a:t>
            </a:r>
          </a:p>
          <a:p>
            <a:pPr lvl="0" indent="0" marL="0">
              <a:buNone/>
            </a:pPr>
          </a:p>
          <a:p>
            <a:pPr lvl="0" indent="0" marL="0">
              <a:buNone/>
            </a:pPr>
            <a:r>
              <a:rPr/>
              <a:t>This is the number to put on the board if only one number from today survives.</a:t>
            </a:r>
          </a:p>
        </p:txBody>
      </p:sp>
      <p:sp>
        <p:nvSpPr>
          <p:cNvPr id="4" name="Slide Number Placeholder 3"/>
          <p:cNvSpPr>
            <a:spLocks noGrp="1"/>
          </p:cNvSpPr>
          <p:nvPr>
            <p:ph type="sldNum" sz="quarter" idx="10"/>
          </p:nvPr>
        </p:nvSpPr>
        <p:spPr/>
        <p:txBody>
          <a:bodyPr/>
          <a:lstStyle/>
          <a:p>
            <a:fld id="{18BDFEC3-8487-43E8-A154-7C12CBC1FFF2}" type="slidenum">
              <a:rPr lang="en-US"/>
              <a:t>38</a:t>
            </a:fld>
            <a:endParaRPr lang="en-US"/>
          </a:p>
        </p:txBody>
      </p:sp>
    </p:spTree>
  </p:cSld>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zip_code has no real relationship with churn - the data was generated that way deliberately, so any apparent signal is an artefact we can measure exactly.</a:t>
            </a:r>
          </a:p>
          <a:p>
            <a:pPr lvl="0" indent="0" marL="0">
              <a:buNone/>
            </a:pPr>
          </a:p>
          <a:p>
            <a:pPr lvl="0" indent="0" marL="0">
              <a:buNone/>
            </a:pPr>
            <a:r>
              <a:rPr/>
              <a:t>Target encoding replaces each zip code with the average churn rate of its own customers. Computed before the split, that average includes the test rows’ labels. The feature now contains the answer, in diluted form.</a:t>
            </a:r>
          </a:p>
          <a:p>
            <a:pPr lvl="0" indent="0" marL="0">
              <a:buNone/>
            </a:pPr>
          </a:p>
          <a:p>
            <a:pPr lvl="0" indent="0" marL="0">
              <a:buNone/>
            </a:pPr>
            <a:r>
              <a:rPr/>
              <a:t>This is the most dangerous leak of the three, because the resulting column looks entirely reasonable in a dataframe: a number between 0 and 1, sensibly distributed, with no trace of where it came from. Nothing about it says “this was computed from the labels”.</a:t>
            </a:r>
          </a:p>
        </p:txBody>
      </p:sp>
      <p:sp>
        <p:nvSpPr>
          <p:cNvPr id="4" name="Slide Number Placeholder 3"/>
          <p:cNvSpPr>
            <a:spLocks noGrp="1"/>
          </p:cNvSpPr>
          <p:nvPr>
            <p:ph type="sldNum" sz="quarter" idx="10"/>
          </p:nvPr>
        </p:nvSpPr>
        <p:spPr/>
        <p:txBody>
          <a:bodyPr/>
          <a:lstStyle/>
          <a:p>
            <a:fld id="{18BDFEC3-8487-43E8-A154-7C12CBC1FFF2}" type="slidenum">
              <a:rPr lang="en-US"/>
              <a:t>39</a:t>
            </a:fld>
            <a:endParaRPr lang="en-US"/>
          </a:p>
        </p:txBody>
      </p:sp>
    </p:spTree>
  </p:cSld>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Baseline without zip: AUC 0.751. Honest encoding (sklearn’s TargetEncoder, cross-fitted inside the pipeline): 0.752 - indistinguishable, correctly, since zip carries nothing. Leaky encoding, computed before the split: 0.891.</a:t>
            </a:r>
          </a:p>
          <a:p>
            <a:pPr lvl="0" indent="0" marL="0">
              <a:buNone/>
            </a:pPr>
          </a:p>
          <a:p>
            <a:pPr lvl="0" indent="0" marL="0">
              <a:buNone/>
            </a:pPr>
            <a:r>
              <a:rPr/>
              <a:t>Let that number sit. It looks like a genuinely better model. It is not one - the improvement is manufactured entirely by the mechanism on the next slide. This is Lesson 1’s 77%-on-coin-flip-labels story again, produced by two unremarkable lines of preprocessing instead of an obviously wrong one.</a:t>
            </a:r>
          </a:p>
        </p:txBody>
      </p:sp>
      <p:sp>
        <p:nvSpPr>
          <p:cNvPr id="4" name="Slide Number Placeholder 3"/>
          <p:cNvSpPr>
            <a:spLocks noGrp="1"/>
          </p:cNvSpPr>
          <p:nvPr>
            <p:ph type="sldNum" sz="quarter" idx="10"/>
          </p:nvPr>
        </p:nvSpPr>
        <p:spPr/>
        <p:txBody>
          <a:bodyPr/>
          <a:lstStyle/>
          <a:p>
            <a:fld id="{18BDFEC3-8487-43E8-A154-7C12CBC1FFF2}" type="slidenum">
              <a:rPr lang="en-US"/>
              <a:t>40</a:t>
            </a:fld>
            <a:endParaRPr lang="en-US"/>
          </a:p>
        </p:txBody>
      </p:sp>
    </p:spTree>
  </p:cSld>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Handout Section 9.2 has the algebra. The intuition: for a zip code with a single customer, the target encoding IS that customer’s label, straight through. With two customers it is the average of two labels. Only as the group grows does the encoding become a genuine statistic rather than a copy of the answer.</a:t>
            </a:r>
          </a:p>
          <a:p>
            <a:pPr lvl="0" indent="0" marL="0">
              <a:buNone/>
            </a:pPr>
          </a:p>
          <a:p>
            <a:pPr lvl="0" indent="0" marL="0">
              <a:buNone/>
            </a:pPr>
            <a:r>
              <a:rPr/>
              <a:t>So the leak is worst exactly where the data is thinnest - which is also where high-cardinality columns spend most of their mass. Most zip codes here have a handful of customers.</a:t>
            </a:r>
          </a:p>
          <a:p>
            <a:pPr lvl="0" indent="0" marL="0">
              <a:buNone/>
            </a:pPr>
          </a:p>
          <a:p>
            <a:pPr lvl="0" indent="0" marL="0">
              <a:buNone/>
            </a:pPr>
            <a:r>
              <a:rPr/>
              <a:t>Give them the diagnostic to remember: if a feature’s usefulness comes mostly from its rarest levels, be suspicious. That is the shape of a leak, not of a signal.</a:t>
            </a:r>
          </a:p>
        </p:txBody>
      </p:sp>
      <p:sp>
        <p:nvSpPr>
          <p:cNvPr id="4" name="Slide Number Placeholder 3"/>
          <p:cNvSpPr>
            <a:spLocks noGrp="1"/>
          </p:cNvSpPr>
          <p:nvPr>
            <p:ph type="sldNum" sz="quarter" idx="10"/>
          </p:nvPr>
        </p:nvSpPr>
        <p:spPr/>
        <p:txBody>
          <a:bodyPr/>
          <a:lstStyle/>
          <a:p>
            <a:fld id="{18BDFEC3-8487-43E8-A154-7C12CBC1FFF2}" type="slidenum">
              <a:rPr lang="en-US"/>
              <a:t>41</a:t>
            </a:fld>
            <a:endParaRPr lang="en-US"/>
          </a:p>
        </p:txBody>
      </p:sp>
    </p:spTree>
  </p:cSld>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Notebook 3 shows the n_c=1 case literally: zip code Z378, one customer, churned=1, encoded value 1.000. Not correlated with the label. IS the label, relabelled as an input.</a:t>
            </a:r>
          </a:p>
          <a:p>
            <a:pPr lvl="0" indent="0" marL="0">
              <a:buNone/>
            </a:pPr>
          </a:p>
          <a:p>
            <a:pPr lvl="0" indent="0" marL="0">
              <a:buNone/>
            </a:pPr>
            <a:r>
              <a:rPr/>
              <a:t>Connect to Section 6.3: high cardinality means small groups means a bigger leak by exactly this formula - the curse of dimensionality and the leakage risk are the same underlying fact.</a:t>
            </a:r>
          </a:p>
        </p:txBody>
      </p:sp>
      <p:sp>
        <p:nvSpPr>
          <p:cNvPr id="4" name="Slide Number Placeholder 3"/>
          <p:cNvSpPr>
            <a:spLocks noGrp="1"/>
          </p:cNvSpPr>
          <p:nvPr>
            <p:ph type="sldNum" sz="quarter" idx="10"/>
          </p:nvPr>
        </p:nvSpPr>
        <p:spPr/>
        <p:txBody>
          <a:bodyPr/>
          <a:lstStyle/>
          <a:p>
            <a:fld id="{18BDFEC3-8487-43E8-A154-7C12CBC1FFF2}" type="slidenum">
              <a:rPr lang="en-US"/>
              <a:t>42</a:t>
            </a:fld>
            <a:endParaRPr lang="en-US"/>
          </a:p>
        </p:txBody>
      </p:sp>
    </p:spTree>
  </p:cSld>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Smoothing pulls each group’s mean towards the global mean, weighted by group size, so a one-customer zip code barely moves from the overall rate. It reduces the leak but does not remove it.</a:t>
            </a:r>
          </a:p>
          <a:p>
            <a:pPr lvl="0" indent="0" marL="0">
              <a:buNone/>
            </a:pPr>
          </a:p>
          <a:p>
            <a:pPr lvl="0" indent="0" marL="0">
              <a:buNone/>
            </a:pPr>
            <a:r>
              <a:rPr/>
              <a:t>Say clearly what actually removes it: fitting the encoder inside the training fold, exactly as with every other learned step. Smoothing is a refinement on top of that, not a substitute for it.</a:t>
            </a:r>
          </a:p>
          <a:p>
            <a:pPr lvl="0" indent="0" marL="0">
              <a:buNone/>
            </a:pPr>
          </a:p>
          <a:p>
            <a:pPr lvl="0" indent="0" marL="0">
              <a:buNone/>
            </a:pPr>
            <a:r>
              <a:rPr/>
              <a:t>This is the third time today the same rule has appeared - imputation, scaling, encoding - and that repetition is the point of the lesson. Lesson 1 stated the rule for one case; today it turns out to be the same rule every time.</a:t>
            </a:r>
          </a:p>
        </p:txBody>
      </p:sp>
      <p:sp>
        <p:nvSpPr>
          <p:cNvPr id="4" name="Slide Number Placeholder 3"/>
          <p:cNvSpPr>
            <a:spLocks noGrp="1"/>
          </p:cNvSpPr>
          <p:nvPr>
            <p:ph type="sldNum" sz="quarter" idx="10"/>
          </p:nvPr>
        </p:nvSpPr>
        <p:spPr/>
        <p:txBody>
          <a:bodyPr/>
          <a:lstStyle/>
          <a:p>
            <a:fld id="{18BDFEC3-8487-43E8-A154-7C12CBC1FFF2}" type="slidenum">
              <a:rPr lang="en-US"/>
              <a:t>43</a:t>
            </a:fld>
            <a:endParaRPr lang="en-US"/>
          </a:p>
        </p:txBody>
      </p:sp>
    </p:spTree>
  </p:cSld>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One test, not a growing list of special cases: does fitting this step compute anything from the rows it is given? If yes, it goes inside the pipeline. Handout Section 9.3.</a:t>
            </a:r>
          </a:p>
          <a:p>
            <a:pPr lvl="0" indent="0" marL="0">
              <a:buNone/>
            </a:pPr>
          </a:p>
          <a:p>
            <a:pPr lvl="0" indent="0" marL="0">
              <a:buNone/>
            </a:pPr>
            <a:r>
              <a:rPr/>
              <a:t>Say explicitly: Lesson 5 returns to leakage a third time, for hyperparameter tuning, where the same test applies once more.</a:t>
            </a:r>
          </a:p>
        </p:txBody>
      </p:sp>
      <p:sp>
        <p:nvSpPr>
          <p:cNvPr id="4" name="Slide Number Placeholder 3"/>
          <p:cNvSpPr>
            <a:spLocks noGrp="1"/>
          </p:cNvSpPr>
          <p:nvPr>
            <p:ph type="sldNum" sz="quarter" idx="10"/>
          </p:nvPr>
        </p:nvSpPr>
        <p:spPr/>
        <p:txBody>
          <a:bodyPr/>
          <a:lstStyle/>
          <a:p>
            <a:fld id="{18BDFEC3-8487-43E8-A154-7C12CBC1FFF2}" type="slidenum">
              <a:rPr lang="en-US"/>
              <a:t>44</a:t>
            </a:fld>
            <a:endParaRPr lang="en-US"/>
          </a:p>
        </p:txBody>
      </p:sp>
    </p:spTree>
  </p:cSld>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20 minutes. This notebook is the payoff of the lesson: three leaks, each measured against an honest pipeline on the same data.</a:t>
            </a:r>
          </a:p>
          <a:p>
            <a:pPr lvl="0" indent="0" marL="0">
              <a:buNone/>
            </a:pPr>
          </a:p>
          <a:p>
            <a:pPr lvl="0" indent="0" marL="0">
              <a:buNone/>
            </a:pPr>
            <a:r>
              <a:rPr/>
              <a:t>The numbers matter less than the pattern - every leak inflates the score, none of them raises an error, and all three are things a competent person does by accident. Ask them to predict the direction and rough size of each gap before running the cell.</a:t>
            </a:r>
          </a:p>
          <a:p>
            <a:pPr lvl="0" indent="0" marL="0">
              <a:buNone/>
            </a:pPr>
          </a:p>
          <a:p>
            <a:pPr lvl="0" indent="0" marL="0">
              <a:buNone/>
            </a:pPr>
            <a:r>
              <a:rPr/>
              <a:t>If time is short, the target encoding case is the one to keep: it is the subtlest and the one most likely to appear in their own project.</a:t>
            </a:r>
          </a:p>
        </p:txBody>
      </p:sp>
      <p:sp>
        <p:nvSpPr>
          <p:cNvPr id="4" name="Slide Number Placeholder 3"/>
          <p:cNvSpPr>
            <a:spLocks noGrp="1"/>
          </p:cNvSpPr>
          <p:nvPr>
            <p:ph type="sldNum" sz="quarter" idx="10"/>
          </p:nvPr>
        </p:nvSpPr>
        <p:spPr/>
        <p:txBody>
          <a:bodyPr/>
          <a:lstStyle/>
          <a:p>
            <a:fld id="{18BDFEC3-8487-43E8-A154-7C12CBC1FFF2}" type="slidenum">
              <a:rPr lang="en-US"/>
              <a:t>45</a:t>
            </a:fld>
            <a:endParaRPr lang="en-US"/>
          </a:p>
        </p:txBody>
      </p:sp>
    </p:spTree>
  </p:cSld>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Draw the thread together explicitly. Lesson 1 said nothing is learned before the split, using feature selection as the example. Today every preprocessing step turned out to be a learning step: an imputer learns a mean or a set of neighbours, a scaler learns a mean and a standard deviation, an encoder learns a mapping from categories to numbers.</a:t>
            </a:r>
          </a:p>
          <a:p>
            <a:pPr lvl="0" indent="0" marL="0">
              <a:buNone/>
            </a:pPr>
          </a:p>
          <a:p>
            <a:pPr lvl="0" indent="0" marL="0">
              <a:buNone/>
            </a:pPr>
            <a:r>
              <a:rPr/>
              <a:t>So the rule did not get more complicated - it got more general. And the pipeline is not tidiness, it is the mechanism that enforces the rule structurally, which is why we now build one for everything.</a:t>
            </a:r>
          </a:p>
          <a:p>
            <a:pPr lvl="0" indent="0" marL="0">
              <a:buNone/>
            </a:pPr>
          </a:p>
          <a:p>
            <a:pPr lvl="0" indent="0" marL="0">
              <a:buNone/>
            </a:pPr>
            <a:r>
              <a:rPr/>
              <a:t>Preview Lesson 3 in one sentence: with the data prepared honestly, we can finally fit something and look at what the fitting actually does.</a:t>
            </a:r>
          </a:p>
        </p:txBody>
      </p:sp>
      <p:sp>
        <p:nvSpPr>
          <p:cNvPr id="4" name="Slide Number Placeholder 3"/>
          <p:cNvSpPr>
            <a:spLocks noGrp="1"/>
          </p:cNvSpPr>
          <p:nvPr>
            <p:ph type="sldNum" sz="quarter" idx="10"/>
          </p:nvPr>
        </p:nvSpPr>
        <p:spPr/>
        <p:txBody>
          <a:bodyPr/>
          <a:lstStyle/>
          <a:p>
            <a:fld id="{18BDFEC3-8487-43E8-A154-7C12CBC1FFF2}" type="slidenum">
              <a:rPr lang="en-US"/>
              <a:t>46</a:t>
            </a:fld>
            <a:endParaRPr lang="en-US"/>
          </a:p>
        </p:txBody>
      </p:sp>
    </p:spTree>
  </p:cSld>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Set it explicitly. The exercise reuses churn_data.py with a different seed, so results will not match today’s numbers exactly - that is intentional, it stops copy-pasted answers from working.</a:t>
            </a:r>
          </a:p>
          <a:p>
            <a:pPr lvl="0" indent="0" marL="0">
              <a:buNone/>
            </a:pPr>
          </a:p>
          <a:p>
            <a:pPr lvl="0" indent="0" marL="0">
              <a:buNone/>
            </a:pPr>
            <a:r>
              <a:rPr/>
              <a:t>Remind them: as in Exercise 1, there are no marks for accuracy. Marks are for methodological correctness, and specifically here for correctly identifying which preprocessing steps needed to be inside the pipeline and demonstrating, with a number, what leaving one out would have cost.</a:t>
            </a:r>
          </a:p>
          <a:p>
            <a:pPr lvl="0" indent="0" marL="0">
              <a:buNone/>
            </a:pPr>
          </a:p>
          <a:p>
            <a:pPr lvl="0" indent="0" marL="0">
              <a:buNone/>
            </a:pPr>
            <a:r>
              <a:rPr/>
              <a:t>Also point them at the quiz - the reasoning-tagged questions are the closest thing to the exam they will see before the sample papers.</a:t>
            </a:r>
          </a:p>
        </p:txBody>
      </p:sp>
      <p:sp>
        <p:nvSpPr>
          <p:cNvPr id="4" name="Slide Number Placeholder 3"/>
          <p:cNvSpPr>
            <a:spLocks noGrp="1"/>
          </p:cNvSpPr>
          <p:nvPr>
            <p:ph type="sldNum" sz="quarter" idx="10"/>
          </p:nvPr>
        </p:nvSpPr>
        <p:spPr/>
        <p:txBody>
          <a:bodyPr/>
          <a:lstStyle/>
          <a:p>
            <a:fld id="{18BDFEC3-8487-43E8-A154-7C12CBC1FFF2}" type="slidenum">
              <a:rPr lang="en-US"/>
              <a:t>47</a:t>
            </a:fld>
            <a:endParaRPr lang="en-US"/>
          </a:p>
        </p:txBody>
      </p:sp>
    </p:spTree>
  </p:cSld>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Set the exercise explicitly and give the deadline - Friday 9 October, at the start of Lesson 3.</a:t>
            </a:r>
          </a:p>
          <a:p>
            <a:pPr lvl="0" indent="0" marL="0">
              <a:buNone/>
            </a:pPr>
          </a:p>
          <a:p>
            <a:pPr lvl="0" indent="0" marL="0">
              <a:buNone/>
            </a:pPr>
            <a:r>
              <a:rPr/>
              <a:t>Point out that it uses the same churn dataset, so the exploration they did today carries over, and that the marks are again on methodology: a pipeline that is correct but modest beats a better score obtained by preparing the full dataset before splitting.</a:t>
            </a:r>
          </a:p>
          <a:p>
            <a:pPr lvl="0" indent="0" marL="0">
              <a:buNone/>
            </a:pPr>
          </a:p>
          <a:p>
            <a:pPr lvl="0" indent="0" marL="0">
              <a:buNone/>
            </a:pPr>
            <a:r>
              <a:rPr/>
              <a:t>Remind them the Lesson 1 exercise is due today if anyone has not handed it in, and that the project topic must be confirmed by Lesson 4 - which is two weeks away, so now is the time to be reading dataset descriptions.</a:t>
            </a:r>
          </a:p>
        </p:txBody>
      </p:sp>
      <p:sp>
        <p:nvSpPr>
          <p:cNvPr id="4" name="Slide Number Placeholder 3"/>
          <p:cNvSpPr>
            <a:spLocks noGrp="1"/>
          </p:cNvSpPr>
          <p:nvPr>
            <p:ph type="sldNum" sz="quarter" idx="10"/>
          </p:nvPr>
        </p:nvSpPr>
        <p:spPr/>
        <p:txBody>
          <a:bodyPr/>
          <a:lstStyle/>
          <a:p>
            <a:fld id="{18BDFEC3-8487-43E8-A154-7C12CBC1FFF2}" type="slidenum">
              <a:rPr lang="en-US"/>
              <a:t>48</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showMasterSp="0">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pic>
        <p:nvPicPr>
          <p:cNvPr id="7" name="Logo 7" descr="univaq_logo.png"/>
          <p:cNvPicPr>
            <a:picLocks noChangeAspect="1"/>
          </p:cNvPicPr>
          <p:nvPr/>
        </p:nvPicPr>
        <p:blipFill>
          <a:blip r:embed="rId2"/>
          <a:stretch>
            <a:fillRect/>
          </a:stretch>
        </p:blipFill>
        <p:spPr>
          <a:xfrm>
            <a:off x="3383280" y="282892"/>
            <a:ext cx="2377440" cy="1037097"/>
          </a:xfrm>
          <a:prstGeom prst="rect">
            <a:avLst/>
          </a:prstGeom>
        </p:spPr>
      </p:pic>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nchor="b"/>
          <a:lstStyle>
            <a:lvl1pPr algn="l">
              <a:defRPr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a:lvl1pPr>
            <a:lvl2pPr>
              <a:defRPr/>
            </a:lvl2pPr>
            <a:lvl3pPr>
              <a:defRPr/>
            </a:lvl3pPr>
            <a:lvl4pPr>
              <a:defRPr/>
            </a:lvl4pPr>
            <a:lvl5pPr>
              <a:defRPr/>
            </a:lvl5pPr>
            <a:lvl6pPr>
              <a:defRPr/>
            </a:lvl6pPr>
            <a:lvl7pPr>
              <a:defRPr/>
            </a:lvl7pPr>
            <a:lvl8pPr>
              <a:defRPr/>
            </a:lvl8pPr>
            <a:lvl9pPr>
              <a:defRPr/>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234440"/>
            <a:ext cx="8229600" cy="822960"/>
          </a:xfrm>
        </p:spPr>
        <p:txBody>
          <a:bodyPr/>
          <a:lstStyle>
            <a:lvl1pPr marL="0" indent="0">
              <a:buNone/>
              <a:defRPr/>
            </a:lvl1pPr>
            <a:lvl2pPr marL="342900" indent="0">
              <a:buNone/>
              <a:defRPr/>
            </a:lvl2pPr>
            <a:lvl3pPr marL="685800" indent="0">
              <a:buNone/>
              <a:defRPr/>
            </a:lvl3pPr>
            <a:lvl4pPr marL="1028700" indent="0">
              <a:buNone/>
              <a:defRPr/>
            </a:lvl4pPr>
            <a:lvl5pPr marL="1371600" indent="0">
              <a:buNone/>
              <a:defRPr/>
            </a:lvl5pPr>
            <a:lvl6pPr marL="1714500" indent="0">
              <a:buNone/>
              <a:defRPr/>
            </a:lvl6pPr>
            <a:lvl7pPr marL="2057400" indent="0">
              <a:buNone/>
              <a:defRPr/>
            </a:lvl7pPr>
            <a:lvl8pPr marL="2400300" indent="0">
              <a:buNone/>
              <a:defRPr/>
            </a:lvl8pPr>
            <a:lvl9pPr marL="2743200" indent="0">
              <a:buNone/>
              <a:defRPr/>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nchor="b"/>
          <a:lstStyle>
            <a:lvl1pPr algn="l">
              <a:defRPr b="1"/>
            </a:lvl1pPr>
          </a:lstStyle>
          <a:p>
            <a:r>
              <a:rPr lang="en-US"/>
              <a:t>Click to edit Master title style</a:t>
            </a:r>
          </a:p>
        </p:txBody>
      </p:sp>
      <p:sp>
        <p:nvSpPr>
          <p:cNvPr id="3" name="Picture Placeholder 2"/>
          <p:cNvSpPr>
            <a:spLocks noGrp="1"/>
          </p:cNvSpPr>
          <p:nvPr>
            <p:ph type="pic" idx="1"/>
          </p:nvPr>
        </p:nvSpPr>
        <p:spPr>
          <a:xfrm>
            <a:off x="457200" y="1234440"/>
            <a:ext cx="8229600" cy="822960"/>
          </a:xfrm>
        </p:spPr>
        <p:txBody>
          <a:bodyPr/>
          <a:lstStyle>
            <a:lvl1pPr marL="0" indent="0">
              <a:buNone/>
              <a:defRPr/>
            </a:lvl1pPr>
            <a:lvl2pPr marL="342900" indent="0">
              <a:buNone/>
              <a:defRPr/>
            </a:lvl2pPr>
            <a:lvl3pPr marL="685800" indent="0">
              <a:buNone/>
              <a:defRPr/>
            </a:lvl3pPr>
            <a:lvl4pPr marL="1028700" indent="0">
              <a:buNone/>
              <a:defRPr/>
            </a:lvl4pPr>
            <a:lvl5pPr marL="1371600" indent="0">
              <a:buNone/>
              <a:defRPr/>
            </a:lvl5pPr>
            <a:lvl6pPr marL="1714500" indent="0">
              <a:buNone/>
              <a:defRPr/>
            </a:lvl6pPr>
            <a:lvl7pPr marL="2057400" indent="0">
              <a:buNone/>
              <a:defRPr/>
            </a:lvl7pPr>
            <a:lvl8pPr marL="2400300" indent="0">
              <a:buNone/>
              <a:defRPr/>
            </a:lvl8pPr>
            <a:lvl9pPr marL="2743200" indent="0">
              <a:buNone/>
              <a:defRPr/>
            </a:lvl9pPr>
          </a:lstStyle>
          <a:p>
            <a:endParaRPr lang="en-US"/>
          </a:p>
        </p:txBody>
      </p:sp>
      <p:sp>
        <p:nvSpPr>
          <p:cNvPr id="4" name="Text Placeholder 3"/>
          <p:cNvSpPr>
            <a:spLocks noGrp="1"/>
          </p:cNvSpPr>
          <p:nvPr>
            <p:ph type="body" sz="half" idx="2"/>
          </p:nvPr>
        </p:nvSpPr>
        <p:spPr>
          <a:xfrm>
            <a:off x="457200" y="1234440"/>
            <a:ext cx="8229600" cy="822960"/>
          </a:xfrm>
        </p:spPr>
        <p:txBody>
          <a:bodyPr/>
          <a:lstStyle>
            <a:lvl1pPr marL="0" indent="0">
              <a:buNone/>
              <a:defRPr/>
            </a:lvl1pPr>
            <a:lvl2pPr marL="342900" indent="0">
              <a:buNone/>
              <a:defRPr/>
            </a:lvl2pPr>
            <a:lvl3pPr marL="685800" indent="0">
              <a:buNone/>
              <a:defRPr/>
            </a:lvl3pPr>
            <a:lvl4pPr marL="1028700" indent="0">
              <a:buNone/>
              <a:defRPr/>
            </a:lvl4pPr>
            <a:lvl5pPr marL="1371600" indent="0">
              <a:buNone/>
              <a:defRPr/>
            </a:lvl5pPr>
            <a:lvl6pPr marL="1714500" indent="0">
              <a:buNone/>
              <a:defRPr/>
            </a:lvl6pPr>
            <a:lvl7pPr marL="2057400" indent="0">
              <a:buNone/>
              <a:defRPr/>
            </a:lvl7pPr>
            <a:lvl8pPr marL="2400300" indent="0">
              <a:buNone/>
              <a:defRPr/>
            </a:lvl8pPr>
            <a:lvl9pPr marL="2743200" indent="0">
              <a:buNone/>
              <a:defRPr/>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 Id="rId13" Type="http://schemas.openxmlformats.org/officeDocument/2006/relationships/image" Target="../media/image1.png"/></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pic>
        <p:nvPicPr>
          <p:cNvPr descr="univaq_logo.png" id="7" name="Logo 7"/>
          <p:cNvPicPr>
            <a:picLocks noChangeAspect="1"/>
          </p:cNvPicPr>
          <p:nvPr/>
        </p:nvPicPr>
        <p:blipFill>
          <a:blip r:embed="rId13"/>
          <a:stretch>
            <a:fillRect/>
          </a:stretch>
        </p:blipFill>
        <p:spPr>
          <a:xfrm>
            <a:off x="7836408" y="4530478"/>
            <a:ext cx="1051560" cy="458716"/>
          </a:xfrm>
          <a:prstGeom prst="rect">
            <a:avLst/>
          </a:prstGeom>
        </p:spPr>
      </p:pic>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5.xml"/><Relationship Id="rId3" Type="http://schemas.openxmlformats.org/officeDocument/2006/relationships/image" Target="../media/image2.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 Id="rId3" Type="http://schemas.openxmlformats.org/officeDocument/2006/relationships/image" Target="../media/image3.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 Id="rId3" Type="http://schemas.openxmlformats.org/officeDocument/2006/relationships/image" Target="../media/image4.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9.xml"/><Relationship Id="rId3" Type="http://schemas.openxmlformats.org/officeDocument/2006/relationships/image" Target="../media/image5.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1.xml"/><Relationship Id="rId3" Type="http://schemas.openxmlformats.org/officeDocument/2006/relationships/image" Target="../media/image6.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2.xml"/><Relationship Id="rId3" Type="http://schemas.openxmlformats.org/officeDocument/2006/relationships/image" Target="../media/image7.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 Id="rId3" Type="http://schemas.openxmlformats.org/officeDocument/2006/relationships/image" Target="../media/image8.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image" Target="../media/image9.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20.xml"/><Relationship Id="rId3" Type="http://schemas.openxmlformats.org/officeDocument/2006/relationships/image" Target="../media/image10.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 Id="rId3" Type="http://schemas.openxmlformats.org/officeDocument/2006/relationships/image" Target="../media/image11.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22.xml"/><Relationship Id="rId3" Type="http://schemas.openxmlformats.org/officeDocument/2006/relationships/image" Target="../media/image12.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23.xml"/><Relationship Id="rId3" Type="http://schemas.openxmlformats.org/officeDocument/2006/relationships/image" Target="../media/image13.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 Id="rId3" Type="http://schemas.openxmlformats.org/officeDocument/2006/relationships/image" Target="../media/image14.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5.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 Id="rId3" Type="http://schemas.openxmlformats.org/officeDocument/2006/relationships/image" Target="../media/image15.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 Id="rId3" Type="http://schemas.openxmlformats.org/officeDocument/2006/relationships/image" Target="../media/image16.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29.xml"/><Relationship Id="rId3" Type="http://schemas.openxmlformats.org/officeDocument/2006/relationships/image" Target="../media/image17.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0.xml"/><Relationship Id="rId3" Type="http://schemas.openxmlformats.org/officeDocument/2006/relationships/image" Target="../media/image18.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1.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32.xml"/><Relationship Id="rId3" Type="http://schemas.openxmlformats.org/officeDocument/2006/relationships/image" Target="../media/image19.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33.xml"/><Relationship Id="rId3" Type="http://schemas.openxmlformats.org/officeDocument/2006/relationships/image" Target="../media/image20.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4.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5.xml"/><Relationship Id="rId3" Type="http://schemas.openxmlformats.org/officeDocument/2006/relationships/image" Target="../media/image21.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6.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37.xml"/><Relationship Id="rId3" Type="http://schemas.openxmlformats.org/officeDocument/2006/relationships/image" Target="../media/image22.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8.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9.xml"/><Relationship Id="rId3" Type="http://schemas.openxmlformats.org/officeDocument/2006/relationships/image" Target="../media/image23.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40.xml"/><Relationship Id="rId3" Type="http://schemas.openxmlformats.org/officeDocument/2006/relationships/image" Target="../media/image24.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1.xml"/><Relationship Id="rId3" Type="http://schemas.openxmlformats.org/officeDocument/2006/relationships/image" Target="../media/image25.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2.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3.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4.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5.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6.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Lesson 2 — Data: Exploration and Preparation</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Technologies for Artificial Intelligence</a:t>
            </a:r>
            <a:br/>
            <a:br/>
            <a:r>
              <a:rPr/>
              <a:t>Fabio Antonini — Università degli Studi dell’Aquila</a:t>
            </a:r>
          </a:p>
        </p:txBody>
      </p:sp>
      <p:sp>
        <p:nvSpPr>
          <p:cNvPr id="4" name="Date Placeholder 3"/>
          <p:cNvSpPr>
            <a:spLocks noGrp="1"/>
          </p:cNvSpPr>
          <p:nvPr>
            <p:ph idx="10" sz="half" type="dt"/>
          </p:nvPr>
        </p:nvSpPr>
        <p:spPr>
          <a:xfrm>
            <a:off x="457200" y="4767263"/>
            <a:ext cx="2133600" cy="273844"/>
          </a:xfrm>
        </p:spPr>
        <p:txBody>
          <a:bodyPr/>
          <a:lstStyle/>
          <a:p>
            <a:pPr lvl="0" indent="0" marL="0">
              <a:buNone/>
            </a:pPr>
            <a:r>
              <a:rPr/>
              <a:t>2 October 2026</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Before we start</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Exercise 1 was due at the start of today’s lesson.</a:t>
            </a:r>
          </a:p>
          <a:p>
            <a:pPr lvl="0"/>
            <a:r>
              <a:rPr/>
              <a:t>The wine-quality workflow, end to end</a:t>
            </a:r>
          </a:p>
          <a:p>
            <a:pPr lvl="0"/>
            <a:r>
              <a:rPr/>
              <a:t>Marked on </a:t>
            </a:r>
            <a:r>
              <a:rPr b="1"/>
              <a:t>methodology</a:t>
            </a:r>
            <a:r>
              <a:rPr/>
              <a:t>, not on accuracy</a:t>
            </a:r>
          </a:p>
          <a:p>
            <a:pPr lvl="0"/>
            <a:r>
              <a:rPr/>
              <a:t>We will look at a few submissions’ framing choices in a moment</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today builds on</a:t>
            </a:r>
          </a:p>
        </p:txBody>
      </p:sp>
      <p:sp>
        <p:nvSpPr>
          <p:cNvPr id="3" name="Content Placeholder 2"/>
          <p:cNvSpPr>
            <a:spLocks noGrp="1"/>
          </p:cNvSpPr>
          <p:nvPr>
            <p:ph idx="1"/>
          </p:nvPr>
        </p:nvSpPr>
        <p:spPr>
          <a:xfrm>
            <a:off x="457200" y="1200151"/>
            <a:ext cx="8229600" cy="3394472"/>
          </a:xfrm>
        </p:spPr>
        <p:txBody>
          <a:bodyPr/>
          <a:lstStyle/>
          <a:p>
            <a:pPr lvl="0"/>
            <a:r>
              <a:rPr/>
              <a:t>Lesson 1’s rule: </a:t>
            </a:r>
            <a:r>
              <a:rPr b="1"/>
              <a:t>nothing is learned before the split</a:t>
            </a:r>
          </a:p>
          <a:p>
            <a:pPr lvl="0"/>
            <a:r>
              <a:rPr/>
              <a:t>Lesson 1’s tool: </a:t>
            </a:r>
            <a:r>
              <a:rPr>
                <a:latin typeface="Courier"/>
              </a:rPr>
              <a:t>Pipeline</a:t>
            </a:r>
            <a:r>
              <a:rPr/>
              <a:t>, so the rule is structural, not just discipline</a:t>
            </a:r>
          </a:p>
          <a:p>
            <a:pPr lvl="0"/>
            <a:r>
              <a:rPr/>
              <a:t>Today: apply both to data that is actually messy</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Today</a:t>
            </a:r>
          </a:p>
        </p:txBody>
      </p:sp>
      <p:sp>
        <p:nvSpPr>
          <p:cNvPr id="3" name="Content Placeholder 2"/>
          <p:cNvSpPr>
            <a:spLocks noGrp="1"/>
          </p:cNvSpPr>
          <p:nvPr>
            <p:ph idx="1"/>
          </p:nvPr>
        </p:nvSpPr>
        <p:spPr>
          <a:xfrm>
            <a:off x="457200" y="1200151"/>
            <a:ext cx="8229600" cy="3394472"/>
          </a:xfrm>
        </p:spPr>
        <p:txBody>
          <a:bodyPr/>
          <a:lstStyle/>
          <a:p>
            <a:pPr lvl="0"/>
            <a:r>
              <a:rPr/>
              <a:t>Exploratory analysis</a:t>
            </a:r>
          </a:p>
          <a:p>
            <a:pPr lvl="0"/>
            <a:r>
              <a:rPr/>
              <a:t>Missing values</a:t>
            </a:r>
          </a:p>
          <a:p>
            <a:pPr lvl="0"/>
            <a:r>
              <a:rPr/>
              <a:t>Outliers</a:t>
            </a:r>
          </a:p>
          <a:p>
            <a:pPr lvl="0"/>
            <a:r>
              <a:rPr/>
              <a:t>Scaling and encoding</a:t>
            </a:r>
          </a:p>
          <a:p>
            <a:pPr lvl="0"/>
            <a:r>
              <a:rPr/>
              <a:t>Feature engineering and pipelines</a:t>
            </a:r>
          </a:p>
          <a:p>
            <a:pPr lvl="0"/>
            <a:r>
              <a:rPr/>
              <a:t>Leakage, in a form nothing warns you about</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One dataset, all lesson long</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2000 synthetic telecom customers. Will they </a:t>
            </a:r>
            <a:r>
              <a:rPr b="1"/>
              <a:t>churn</a:t>
            </a:r>
            <a:r>
              <a:rPr/>
              <a:t>?</a:t>
            </a:r>
          </a:p>
          <a:p>
            <a:pPr lvl="0"/>
            <a:r>
              <a:rPr/>
              <a:t>Numeric: tenure, monthly charges, age, support calls</a:t>
            </a:r>
          </a:p>
          <a:p>
            <a:pPr lvl="0"/>
            <a:r>
              <a:rPr/>
              <a:t>Categorical: contract type, region, zip code (493 levels)</a:t>
            </a:r>
          </a:p>
          <a:p>
            <a:pPr lvl="0"/>
            <a:r>
              <a:rPr/>
              <a:t>Missing values, outliers, and one column built to carry </a:t>
            </a:r>
            <a:r>
              <a:rPr b="1"/>
              <a:t>no signal</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lstStyle/>
          <a:p>
            <a:pPr lvl="0" indent="0" marL="0">
              <a:buNone/>
            </a:pPr>
            <a:r>
              <a:rPr/>
              <a:t>Look before you touch anything</a:t>
            </a:r>
          </a:p>
        </p:txBody>
      </p:sp>
      <p:sp>
        <p:nvSpPr>
          <p:cNvPr id="4" name="Text Placeholder 3"/>
          <p:cNvSpPr>
            <a:spLocks noGrp="1"/>
          </p:cNvSpPr>
          <p:nvPr>
            <p:ph idx="2" sz="half" type="body"/>
          </p:nvPr>
        </p:nvSpPr>
        <p:spPr>
          <a:xfrm>
            <a:off x="457200" y="1183005"/>
            <a:ext cx="8229600" cy="1748790"/>
          </a:xfrm>
        </p:spPr>
        <p:txBody>
          <a:bodyPr/>
          <a:lstStyle/>
          <a:p>
            <a:pPr lvl="0" indent="0" marL="0">
              <a:buNone/>
            </a:pPr>
            <a:r>
              <a:rPr>
                <a:latin typeface="Courier"/>
              </a:rPr>
              <a:t>.info()</a:t>
            </a:r>
            <a:r>
              <a:rPr/>
              <a:t>, </a:t>
            </a:r>
            <a:r>
              <a:rPr>
                <a:latin typeface="Courier"/>
              </a:rPr>
              <a:t>.describe()</a:t>
            </a:r>
            <a:r>
              <a:rPr/>
              <a:t>, class balance, first — always.</a:t>
            </a:r>
          </a:p>
          <a:p>
            <a:pPr lvl="0"/>
            <a:r>
              <a:rPr/>
              <a:t>2000 rows, 8 columns, mixed types</a:t>
            </a:r>
          </a:p>
          <a:p>
            <a:pPr lvl="0"/>
            <a:r>
              <a:rPr/>
              <a:t>Churn rate: </a:t>
            </a:r>
            <a:r>
              <a:rPr b="1"/>
              <a:t>19.4%</a:t>
            </a:r>
            <a:r>
              <a:rPr/>
              <a:t> → baseline accuracy 80.6%</a:t>
            </a:r>
          </a:p>
          <a:p>
            <a:pPr lvl="0"/>
            <a:r>
              <a:rPr>
                <a:latin typeface="Courier"/>
              </a:rPr>
              <a:t>tenure_months</a:t>
            </a:r>
            <a:r>
              <a:rPr/>
              <a:t> max: 999. Not a typo in the slide.</a:t>
            </a:r>
          </a:p>
        </p:txBody>
      </p:sp>
      <p:pic>
        <p:nvPicPr>
          <p:cNvPr descr="numeric_distributions.png" id="0" name="Picture 1"/>
          <p:cNvPicPr>
            <a:picLocks noGrp="1" noChangeAspect="1"/>
          </p:cNvPicPr>
          <p:nvPr/>
        </p:nvPicPr>
        <p:blipFill>
          <a:blip r:embed="rId3"/>
          <a:stretch>
            <a:fillRect/>
          </a:stretch>
        </p:blipFill>
        <p:spPr bwMode="auto">
          <a:xfrm>
            <a:off x="1448931" y="3034665"/>
            <a:ext cx="6246137" cy="1491615"/>
          </a:xfrm>
          <a:prstGeom prst="rect">
            <a:avLst/>
          </a:prstGeom>
          <a:noFill/>
          <a:ln w="9525">
            <a:noFill/>
            <a:headEnd/>
            <a:tailEnd/>
          </a:ln>
        </p:spPr>
      </p:pic>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Where the gaps are</a:t>
            </a:r>
          </a:p>
        </p:txBody>
      </p:sp>
      <p:pic>
        <p:nvPicPr>
          <p:cNvPr descr="missingness_pattern.png" id="0" name="Picture 1"/>
          <p:cNvPicPr>
            <a:picLocks noGrp="1" noChangeAspect="1"/>
          </p:cNvPicPr>
          <p:nvPr/>
        </p:nvPicPr>
        <p:blipFill>
          <a:blip r:embed="rId3"/>
          <a:stretch>
            <a:fillRect/>
          </a:stretch>
        </p:blipFill>
        <p:spPr bwMode="auto">
          <a:xfrm>
            <a:off x="1343961" y="1166099"/>
            <a:ext cx="6456078" cy="3360181"/>
          </a:xfrm>
          <a:prstGeom prst="rect">
            <a:avLst/>
          </a:prstGeom>
          <a:noFill/>
          <a:ln w="9525">
            <a:noFill/>
            <a:headEnd/>
            <a:tailEnd/>
          </a:ln>
        </p:spPr>
      </p:pic>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Three reasons a value is missing</a:t>
            </a:r>
          </a:p>
        </p:txBody>
      </p:sp>
      <p:pic>
        <p:nvPicPr>
          <p:cNvPr descr="missingness_mechanisms.png" id="0" name="Picture 1"/>
          <p:cNvPicPr>
            <a:picLocks noGrp="1" noChangeAspect="1"/>
          </p:cNvPicPr>
          <p:nvPr/>
        </p:nvPicPr>
        <p:blipFill>
          <a:blip r:embed="rId3"/>
          <a:stretch>
            <a:fillRect/>
          </a:stretch>
        </p:blipFill>
        <p:spPr bwMode="auto">
          <a:xfrm>
            <a:off x="457200" y="1576189"/>
            <a:ext cx="8229600" cy="2540000"/>
          </a:xfrm>
          <a:prstGeom prst="rect">
            <a:avLst/>
          </a:prstGeom>
          <a:noFill/>
          <a:ln w="9525">
            <a:noFill/>
            <a:headEnd/>
            <a:tailEnd/>
          </a:ln>
        </p:spPr>
      </p:pic>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age: MCAR</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Some customers just left it blank. Nothing systematic.</a:t>
            </a:r>
          </a:p>
          <a:p>
            <a:pPr lvl="0"/>
            <a:r>
              <a:rPr/>
              <a:t>Safe to impute with a fixed statistic</a:t>
            </a:r>
          </a:p>
          <a:p>
            <a:pPr lvl="0"/>
            <a:r>
              <a:rPr/>
              <a:t>The bias question is not “is this fair” — it is “what does filling it cost”</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lstStyle/>
          <a:p>
            <a:pPr lvl="0" indent="0" marL="0">
              <a:buNone/>
            </a:pPr>
            <a:r>
              <a:rPr/>
              <a:t>What mean imputation actually costs</a:t>
            </a:r>
          </a:p>
        </p:txBody>
      </p:sp>
      <p:sp>
        <p:nvSpPr>
          <p:cNvPr id="4" name="Text Placeholder 3"/>
          <p:cNvSpPr>
            <a:spLocks noGrp="1"/>
          </p:cNvSpPr>
          <p:nvPr>
            <p:ph idx="2" sz="half" type="body"/>
          </p:nvPr>
        </p:nvSpPr>
        <p:spPr>
          <a:xfrm>
            <a:off x="457200" y="1183005"/>
            <a:ext cx="8229600" cy="874395"/>
          </a:xfrm>
        </p:spPr>
        <p:txBody>
          <a:bodyPr/>
          <a:lstStyle/>
          <a:p>
            <a:pPr lvl="0" indent="0" marL="0">
              <a:buNone/>
            </a:pPr>
            <a:r>
              <a:rPr/>
              <a:t>Every correlation involving the imputed column shrinks — even under MCAR.</a:t>
            </a:r>
          </a:p>
        </p:txBody>
      </p:sp>
      <p:pic>
        <p:nvPicPr>
          <p:cNvPr descr="correlation_attenuation.png" id="0" name="Picture 1"/>
          <p:cNvPicPr>
            <a:picLocks noGrp="1" noChangeAspect="1"/>
          </p:cNvPicPr>
          <p:nvPr/>
        </p:nvPicPr>
        <p:blipFill>
          <a:blip r:embed="rId3"/>
          <a:stretch>
            <a:fillRect/>
          </a:stretch>
        </p:blipFill>
        <p:spPr bwMode="auto">
          <a:xfrm>
            <a:off x="2410327" y="2160270"/>
            <a:ext cx="4323345" cy="2366010"/>
          </a:xfrm>
          <a:prstGeom prst="rect">
            <a:avLst/>
          </a:prstGeom>
          <a:noFill/>
          <a:ln w="9525">
            <a:noFill/>
            <a:headEnd/>
            <a:tailEnd/>
          </a:ln>
        </p:spPr>
      </p:pic>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num_support_calls: MAR</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Missing more often for long-tenure customers — not by chance.</a:t>
            </a:r>
          </a:p>
          <a:p>
            <a:pPr lvl="0"/>
            <a:r>
              <a:rPr/>
              <a:t>Treating it as MCAR reweights the sample the wrong way</a:t>
            </a:r>
          </a:p>
          <a:p>
            <a:pPr lvl="0"/>
            <a:r>
              <a:rPr/>
              <a:t>A </a:t>
            </a:r>
            <a:r>
              <a:rPr b="1"/>
              <a:t>missingness indicator</a:t>
            </a:r>
            <a:r>
              <a:rPr/>
              <a:t> column preserves the signal even after filling</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lstStyle/>
          <a:p>
            <a:pPr lvl="0" indent="0" marL="0">
              <a:buNone/>
            </a:pPr>
            <a:r>
              <a:rPr/>
              <a:t>What to do about a gap</a:t>
            </a:r>
          </a:p>
        </p:txBody>
      </p:sp>
      <p:sp>
        <p:nvSpPr>
          <p:cNvPr id="4" name="Text Placeholder 3"/>
          <p:cNvSpPr>
            <a:spLocks noGrp="1"/>
          </p:cNvSpPr>
          <p:nvPr>
            <p:ph idx="2" sz="half" type="body"/>
          </p:nvPr>
        </p:nvSpPr>
        <p:spPr>
          <a:xfrm>
            <a:off x="457200" y="1183005"/>
            <a:ext cx="8229600" cy="1748790"/>
          </a:xfrm>
        </p:spPr>
        <p:txBody>
          <a:bodyPr/>
          <a:lstStyle/>
          <a:p>
            <a:pPr lvl="0"/>
            <a:r>
              <a:rPr b="1"/>
              <a:t>Drop rows</a:t>
            </a:r>
            <a:r>
              <a:rPr/>
              <a:t> — only if few, and only if MCAR</a:t>
            </a:r>
          </a:p>
          <a:p>
            <a:pPr lvl="0"/>
            <a:r>
              <a:rPr b="1"/>
              <a:t>Drop the column</a:t>
            </a:r>
            <a:r>
              <a:rPr/>
              <a:t> — if it is missing too often to help</a:t>
            </a:r>
          </a:p>
          <a:p>
            <a:pPr lvl="0"/>
            <a:r>
              <a:rPr b="1"/>
              <a:t>Impute</a:t>
            </a:r>
            <a:r>
              <a:rPr/>
              <a:t> — mean/median, most-frequent, </a:t>
            </a:r>
            <a:r>
              <a:rPr>
                <a:latin typeface="Courier"/>
              </a:rPr>
              <a:t>KNNImputer</a:t>
            </a:r>
          </a:p>
          <a:p>
            <a:pPr lvl="0"/>
            <a:r>
              <a:rPr b="1"/>
              <a:t>Add a missingness indicator</a:t>
            </a:r>
            <a:r>
              <a:rPr/>
              <a:t> — keeps MAR signal alive</a:t>
            </a:r>
          </a:p>
        </p:txBody>
      </p:sp>
      <p:pic>
        <p:nvPicPr>
          <p:cNvPr descr="missing_data_decision.png" id="0" name="Picture 1"/>
          <p:cNvPicPr>
            <a:picLocks noGrp="1" noChangeAspect="1"/>
          </p:cNvPicPr>
          <p:nvPr/>
        </p:nvPicPr>
        <p:blipFill>
          <a:blip r:embed="rId3"/>
          <a:stretch>
            <a:fillRect/>
          </a:stretch>
        </p:blipFill>
        <p:spPr bwMode="auto">
          <a:xfrm>
            <a:off x="2559821" y="3034665"/>
            <a:ext cx="4024357" cy="1491615"/>
          </a:xfrm>
          <a:prstGeom prst="rect">
            <a:avLst/>
          </a:prstGeom>
          <a:noFill/>
          <a:ln w="9525">
            <a:noFill/>
            <a:headEnd/>
            <a:tailEnd/>
          </a:ln>
        </p:spPr>
      </p:pic>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lstStyle/>
          <a:p>
            <a:pPr lvl="0" indent="0" marL="0">
              <a:buNone/>
            </a:pPr>
            <a:r>
              <a:rPr/>
              <a:t>Outliers, two rules</a:t>
            </a:r>
          </a:p>
        </p:txBody>
      </p:sp>
      <p:sp>
        <p:nvSpPr>
          <p:cNvPr id="4" name="Text Placeholder 3"/>
          <p:cNvSpPr>
            <a:spLocks noGrp="1"/>
          </p:cNvSpPr>
          <p:nvPr>
            <p:ph idx="2" sz="half" type="body"/>
          </p:nvPr>
        </p:nvSpPr>
        <p:spPr>
          <a:xfrm>
            <a:off x="457200" y="1183005"/>
            <a:ext cx="8229600" cy="437197"/>
          </a:xfrm>
        </p:spPr>
        <p:txBody>
          <a:bodyPr/>
          <a:lstStyle/>
          <a:p>
            <a:pPr lvl="0" indent="0" marL="0">
              <a:buNone/>
            </a:pPr>
            <a:r>
              <a:rPr/>
              <a:t>Two standard rules for flagging an unusual value:</a:t>
            </a:r>
          </a:p>
        </p:txBody>
      </p:sp>
      <p:pic>
        <p:nvPicPr>
          <p:cNvPr descr="eq_362884ef2b.png" id="0" name="Picture 1"/>
          <p:cNvPicPr>
            <a:picLocks noGrp="1" noChangeAspect="1"/>
          </p:cNvPicPr>
          <p:nvPr/>
        </p:nvPicPr>
        <p:blipFill>
          <a:blip r:embed="rId3"/>
          <a:stretch>
            <a:fillRect/>
          </a:stretch>
        </p:blipFill>
        <p:spPr bwMode="auto">
          <a:xfrm>
            <a:off x="457207" y="2838073"/>
            <a:ext cx="8229586" cy="573205"/>
          </a:xfrm>
          <a:prstGeom prst="rect">
            <a:avLst/>
          </a:prstGeom>
          <a:noFill/>
          <a:ln w="9525">
            <a:noFill/>
            <a:headEnd/>
            <a:tailEnd/>
          </a:ln>
        </p:spPr>
      </p:pic>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Calibrated to agree — on a normal column</a:t>
            </a:r>
          </a:p>
        </p:txBody>
      </p:sp>
      <p:pic>
        <p:nvPicPr>
          <p:cNvPr descr="outlier_fences.png" id="0" name="Picture 1"/>
          <p:cNvPicPr>
            <a:picLocks noGrp="1" noChangeAspect="1"/>
          </p:cNvPicPr>
          <p:nvPr/>
        </p:nvPicPr>
        <p:blipFill>
          <a:blip r:embed="rId3"/>
          <a:stretch>
            <a:fillRect/>
          </a:stretch>
        </p:blipFill>
        <p:spPr bwMode="auto">
          <a:xfrm>
            <a:off x="1098554" y="1166099"/>
            <a:ext cx="6946891" cy="3360181"/>
          </a:xfrm>
          <a:prstGeom prst="rect">
            <a:avLst/>
          </a:prstGeom>
          <a:noFill/>
          <a:ln w="9525">
            <a:noFill/>
            <a:headEnd/>
            <a:tailEnd/>
          </a:ln>
        </p:spPr>
      </p:pic>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two rules disagree on real data</a:t>
            </a:r>
          </a:p>
        </p:txBody>
      </p:sp>
      <p:pic>
        <p:nvPicPr>
          <p:cNvPr descr="outlier_scatter.png" id="0" name="Picture 1"/>
          <p:cNvPicPr>
            <a:picLocks noGrp="1" noChangeAspect="1"/>
          </p:cNvPicPr>
          <p:nvPr/>
        </p:nvPicPr>
        <p:blipFill>
          <a:blip r:embed="rId3"/>
          <a:stretch>
            <a:fillRect/>
          </a:stretch>
        </p:blipFill>
        <p:spPr bwMode="auto">
          <a:xfrm>
            <a:off x="457200" y="1220589"/>
            <a:ext cx="8229600" cy="3251200"/>
          </a:xfrm>
          <a:prstGeom prst="rect">
            <a:avLst/>
          </a:prstGeom>
          <a:noFill/>
          <a:ln w="9525">
            <a:noFill/>
            <a:headEnd/>
            <a:tailEnd/>
          </a:ln>
        </p:spPr>
      </p:pic>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neither rule can tell you</a:t>
            </a:r>
          </a:p>
        </p:txBody>
      </p:sp>
      <p:sp>
        <p:nvSpPr>
          <p:cNvPr id="3" name="Content Placeholder 2"/>
          <p:cNvSpPr>
            <a:spLocks noGrp="1"/>
          </p:cNvSpPr>
          <p:nvPr>
            <p:ph idx="1"/>
          </p:nvPr>
        </p:nvSpPr>
        <p:spPr>
          <a:xfrm>
            <a:off x="457200" y="1200151"/>
            <a:ext cx="8229600" cy="3394472"/>
          </a:xfrm>
        </p:spPr>
        <p:txBody>
          <a:bodyPr/>
          <a:lstStyle/>
          <a:p>
            <a:pPr lvl="0" indent="0" marL="0">
              <a:buNone/>
            </a:pPr>
            <a:r>
              <a:rPr>
                <a:latin typeface="Courier"/>
              </a:rPr>
              <a:t>tenure_months</a:t>
            </a:r>
            <a:r>
              <a:rPr/>
              <a:t> of </a:t>
            </a:r>
            <a:r>
              <a:rPr b="1"/>
              <a:t>-3</a:t>
            </a:r>
            <a:r>
              <a:rPr/>
              <a:t> is impossible. Neither rule flags it.</a:t>
            </a:r>
          </a:p>
          <a:p>
            <a:pPr lvl="0"/>
            <a:r>
              <a:rPr/>
              <a:t>-3 is not </a:t>
            </a:r>
            <a:r>
              <a:rPr i="1"/>
              <a:t>extreme</a:t>
            </a:r>
            <a:r>
              <a:rPr/>
              <a:t> relative to a column spanning 0–72</a:t>
            </a:r>
          </a:p>
          <a:p>
            <a:pPr lvl="0"/>
            <a:r>
              <a:rPr/>
              <a:t>It is not </a:t>
            </a:r>
            <a:r>
              <a:rPr i="1"/>
              <a:t>unusual</a:t>
            </a:r>
            <a:r>
              <a:rPr/>
              <a:t>. It is </a:t>
            </a:r>
            <a:r>
              <a:rPr i="1"/>
              <a:t>invalid</a:t>
            </a:r>
            <a:r>
              <a:rPr/>
              <a:t> — a different question entirely</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Once something is flagged</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Detection finds candidates. What to do next is a </a:t>
            </a:r>
            <a:r>
              <a:rPr b="1"/>
              <a:t>domain</a:t>
            </a:r>
            <a:r>
              <a:rPr/>
              <a:t> decision.</a:t>
            </a:r>
          </a:p>
          <a:p>
            <a:pPr lvl="0"/>
            <a:r>
              <a:rPr b="1"/>
              <a:t>Cap</a:t>
            </a:r>
            <a:r>
              <a:rPr/>
              <a:t> it at the fence (Winsorise)</a:t>
            </a:r>
          </a:p>
          <a:p>
            <a:pPr lvl="0"/>
            <a:r>
              <a:rPr b="1"/>
              <a:t>Remove</a:t>
            </a:r>
            <a:r>
              <a:rPr/>
              <a:t> the row</a:t>
            </a:r>
          </a:p>
          <a:p>
            <a:pPr lvl="0"/>
            <a:r>
              <a:rPr b="1"/>
              <a:t>Correct</a:t>
            </a:r>
            <a:r>
              <a:rPr/>
              <a:t> it, if the true value is recoverable</a:t>
            </a:r>
          </a:p>
          <a:p>
            <a:pPr lvl="0"/>
            <a:r>
              <a:rPr b="1"/>
              <a:t>Leave</a:t>
            </a:r>
            <a:r>
              <a:rPr/>
              <a:t> it — unusual is not the same as wrong</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Notebook 1, live</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Exploration, missingness mechanisms, both outlier rules — from scratch.</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Break</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Why scale?</a:t>
            </a:r>
          </a:p>
        </p:txBody>
      </p:sp>
      <p:sp>
        <p:nvSpPr>
          <p:cNvPr id="3" name="Content Placeholder 2"/>
          <p:cNvSpPr>
            <a:spLocks noGrp="1"/>
          </p:cNvSpPr>
          <p:nvPr>
            <p:ph idx="1"/>
          </p:nvPr>
        </p:nvSpPr>
        <p:spPr>
          <a:xfrm>
            <a:off x="457200" y="1200151"/>
            <a:ext cx="8229600" cy="3394472"/>
          </a:xfrm>
        </p:spPr>
        <p:txBody>
          <a:bodyPr/>
          <a:lstStyle/>
          <a:p>
            <a:pPr lvl="0" indent="0" marL="0">
              <a:buNone/>
            </a:pPr>
            <a:r>
              <a:rPr>
                <a:latin typeface="Courier"/>
              </a:rPr>
              <a:t>tenure_months</a:t>
            </a:r>
            <a:r>
              <a:rPr/>
              <a:t>: 0–70. </a:t>
            </a:r>
            <a:r>
              <a:rPr>
                <a:latin typeface="Courier"/>
              </a:rPr>
              <a:t>monthly_charges</a:t>
            </a:r>
            <a:r>
              <a:rPr/>
              <a:t>: 15–150.</a:t>
            </a:r>
          </a:p>
          <a:p>
            <a:pPr lvl="0" indent="0" marL="0">
              <a:buNone/>
            </a:pPr>
            <a:r>
              <a:rPr/>
              <a:t>Gradient descent takes </a:t>
            </a:r>
            <a:r>
              <a:rPr b="1"/>
              <a:t>one step size, along every axis, every iteration.</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lstStyle/>
          <a:p>
            <a:pPr lvl="0" indent="0" marL="0">
              <a:buNone/>
            </a:pPr>
            <a:r>
              <a:rPr/>
              <a:t>The Hessian is the feature covariance</a:t>
            </a:r>
          </a:p>
        </p:txBody>
      </p:sp>
      <p:sp>
        <p:nvSpPr>
          <p:cNvPr id="4" name="Text Placeholder 3"/>
          <p:cNvSpPr>
            <a:spLocks noGrp="1"/>
          </p:cNvSpPr>
          <p:nvPr>
            <p:ph idx="2" sz="half" type="body"/>
          </p:nvPr>
        </p:nvSpPr>
        <p:spPr>
          <a:xfrm>
            <a:off x="457200" y="1183005"/>
            <a:ext cx="8229600" cy="874395"/>
          </a:xfrm>
        </p:spPr>
        <p:txBody>
          <a:bodyPr/>
          <a:lstStyle/>
          <a:p>
            <a:pPr lvl="0" indent="0" marL="0">
              <a:buNone/>
            </a:pPr>
            <a:r>
              <a:rPr/>
              <a:t>For uncorrelated, centred features, H is diagonal — the variances sit on it.</a:t>
            </a:r>
          </a:p>
        </p:txBody>
      </p:sp>
      <p:pic>
        <p:nvPicPr>
          <p:cNvPr descr="condition_number_geometry.png" id="0" name="Picture 1"/>
          <p:cNvPicPr>
            <a:picLocks noGrp="1" noChangeAspect="1"/>
          </p:cNvPicPr>
          <p:nvPr/>
        </p:nvPicPr>
        <p:blipFill>
          <a:blip r:embed="rId3"/>
          <a:stretch>
            <a:fillRect/>
          </a:stretch>
        </p:blipFill>
        <p:spPr bwMode="auto">
          <a:xfrm>
            <a:off x="2263417" y="2160270"/>
            <a:ext cx="4617165" cy="2366010"/>
          </a:xfrm>
          <a:prstGeom prst="rect">
            <a:avLst/>
          </a:prstGeom>
          <a:noFill/>
          <a:ln w="9525">
            <a:noFill/>
            <a:headEnd/>
            <a:tailEnd/>
          </a:ln>
        </p:spPr>
      </p:pic>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A 100:1 variance ratio, and what it costs</a:t>
            </a:r>
          </a:p>
        </p:txBody>
      </p:sp>
      <p:pic>
        <p:nvPicPr>
          <p:cNvPr descr="gd_convergence_scaled_vs_unscaled.png" id="0" name="Picture 1"/>
          <p:cNvPicPr>
            <a:picLocks noGrp="1" noChangeAspect="1"/>
          </p:cNvPicPr>
          <p:nvPr/>
        </p:nvPicPr>
        <p:blipFill>
          <a:blip r:embed="rId3"/>
          <a:stretch>
            <a:fillRect/>
          </a:stretch>
        </p:blipFill>
        <p:spPr bwMode="auto">
          <a:xfrm>
            <a:off x="457200" y="1271389"/>
            <a:ext cx="8229600" cy="3149600"/>
          </a:xfrm>
          <a:prstGeom prst="rect">
            <a:avLst/>
          </a:prstGeom>
          <a:noFill/>
          <a:ln w="9525">
            <a:noFill/>
            <a:headEnd/>
            <a:tailEnd/>
          </a:ln>
        </p:spPr>
      </p:pic>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lstStyle/>
          <a:p>
            <a:pPr lvl="0" indent="0" marL="0">
              <a:buNone/>
            </a:pPr>
            <a:r>
              <a:rPr/>
              <a:t>StandardScaler vs MinMaxScaler</a:t>
            </a:r>
          </a:p>
        </p:txBody>
      </p:sp>
      <p:sp>
        <p:nvSpPr>
          <p:cNvPr id="4" name="Text Placeholder 3"/>
          <p:cNvSpPr>
            <a:spLocks noGrp="1"/>
          </p:cNvSpPr>
          <p:nvPr>
            <p:ph idx="2" sz="half" type="body"/>
          </p:nvPr>
        </p:nvSpPr>
        <p:spPr>
          <a:xfrm>
            <a:off x="457200" y="1183005"/>
            <a:ext cx="8229600" cy="874395"/>
          </a:xfrm>
        </p:spPr>
        <p:txBody>
          <a:bodyPr/>
          <a:lstStyle/>
          <a:p>
            <a:pPr lvl="0" indent="0" marL="0">
              <a:buNone/>
            </a:pPr>
            <a:r>
              <a:rPr/>
              <a:t>Two standard choices, both fitted on training data only.</a:t>
            </a:r>
          </a:p>
        </p:txBody>
      </p:sp>
      <p:pic>
        <p:nvPicPr>
          <p:cNvPr descr="scaling_comparison.png" id="0" name="Picture 1"/>
          <p:cNvPicPr>
            <a:picLocks noGrp="1" noChangeAspect="1"/>
          </p:cNvPicPr>
          <p:nvPr/>
        </p:nvPicPr>
        <p:blipFill>
          <a:blip r:embed="rId3"/>
          <a:stretch>
            <a:fillRect/>
          </a:stretch>
        </p:blipFill>
        <p:spPr bwMode="auto">
          <a:xfrm>
            <a:off x="472276" y="2160270"/>
            <a:ext cx="8199448" cy="2366010"/>
          </a:xfrm>
          <a:prstGeom prst="rect">
            <a:avLst/>
          </a:prstGeom>
          <a:noFill/>
          <a:ln w="9525">
            <a:noFill/>
            <a:headEnd/>
            <a:tailEnd/>
          </a:ln>
        </p:spPr>
      </p:pic>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lstStyle/>
          <a:p>
            <a:pPr lvl="0" indent="0" marL="0">
              <a:buNone/>
            </a:pPr>
            <a:r>
              <a:rPr/>
              <a:t>The dummy variable trap</a:t>
            </a:r>
          </a:p>
        </p:txBody>
      </p:sp>
      <p:sp>
        <p:nvSpPr>
          <p:cNvPr id="4" name="Text Placeholder 3"/>
          <p:cNvSpPr>
            <a:spLocks noGrp="1"/>
          </p:cNvSpPr>
          <p:nvPr>
            <p:ph idx="2" sz="half" type="body"/>
          </p:nvPr>
        </p:nvSpPr>
        <p:spPr>
          <a:xfrm>
            <a:off x="457200" y="1183005"/>
            <a:ext cx="8229600" cy="874395"/>
          </a:xfrm>
        </p:spPr>
        <p:txBody>
          <a:bodyPr/>
          <a:lstStyle/>
          <a:p>
            <a:pPr lvl="0" indent="0" marL="0">
              <a:buNone/>
            </a:pPr>
            <a:r>
              <a:rPr/>
              <a:t>One-hot encode all k categories AND fit an intercept:</a:t>
            </a:r>
          </a:p>
        </p:txBody>
      </p:sp>
      <p:pic>
        <p:nvPicPr>
          <p:cNvPr descr="eq_3723e214d0.png" id="0" name="Picture 1"/>
          <p:cNvPicPr>
            <a:picLocks noGrp="1" noChangeAspect="1"/>
          </p:cNvPicPr>
          <p:nvPr/>
        </p:nvPicPr>
        <p:blipFill>
          <a:blip r:embed="rId3"/>
          <a:stretch>
            <a:fillRect/>
          </a:stretch>
        </p:blipFill>
        <p:spPr bwMode="auto">
          <a:xfrm>
            <a:off x="457201" y="2360636"/>
            <a:ext cx="8229597" cy="1965277"/>
          </a:xfrm>
          <a:prstGeom prst="rect">
            <a:avLst/>
          </a:prstGeom>
          <a:noFill/>
          <a:ln w="9525">
            <a:noFill/>
            <a:headEnd/>
            <a:tailEnd/>
          </a:ln>
        </p:spPr>
      </p:pic>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Rank deficient by exactly one</a:t>
            </a:r>
          </a:p>
        </p:txBody>
      </p:sp>
      <p:pic>
        <p:nvPicPr>
          <p:cNvPr descr="dummy_variable_trap.png" id="0" name="Picture 1"/>
          <p:cNvPicPr>
            <a:picLocks noGrp="1" noChangeAspect="1"/>
          </p:cNvPicPr>
          <p:nvPr/>
        </p:nvPicPr>
        <p:blipFill>
          <a:blip r:embed="rId3"/>
          <a:stretch>
            <a:fillRect/>
          </a:stretch>
        </p:blipFill>
        <p:spPr bwMode="auto">
          <a:xfrm>
            <a:off x="702129" y="1166099"/>
            <a:ext cx="7739742" cy="3360181"/>
          </a:xfrm>
          <a:prstGeom prst="rect">
            <a:avLst/>
          </a:prstGeom>
          <a:noFill/>
          <a:ln w="9525">
            <a:noFill/>
            <a:headEnd/>
            <a:tailEnd/>
          </a:ln>
        </p:spPr>
      </p:pic>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Ordinal vs target encoding</a:t>
            </a:r>
          </a:p>
        </p:txBody>
      </p:sp>
      <p:sp>
        <p:nvSpPr>
          <p:cNvPr id="3" name="Content Placeholder 2"/>
          <p:cNvSpPr>
            <a:spLocks noGrp="1"/>
          </p:cNvSpPr>
          <p:nvPr>
            <p:ph idx="1" sz="half"/>
          </p:nvPr>
        </p:nvSpPr>
        <p:spPr>
          <a:xfrm>
            <a:off x="457200" y="1200151"/>
            <a:ext cx="4038600" cy="3394472"/>
          </a:xfrm>
        </p:spPr>
        <p:txBody>
          <a:bodyPr/>
          <a:lstStyle/>
          <a:p>
            <a:pPr lvl="0" indent="0" marL="0">
              <a:buNone/>
            </a:pPr>
            <a:r>
              <a:rPr b="1"/>
              <a:t>Ordinal</a:t>
            </a:r>
          </a:p>
          <a:p>
            <a:pPr lvl="0"/>
            <a:r>
              <a:rPr/>
              <a:t>Categories → integers</a:t>
            </a:r>
          </a:p>
          <a:p>
            <a:pPr lvl="0"/>
            <a:r>
              <a:rPr/>
              <a:t>Only valid if a real </a:t>
            </a:r>
            <a:r>
              <a:rPr b="1"/>
              <a:t>order</a:t>
            </a:r>
            <a:r>
              <a:rPr/>
              <a:t> exists</a:t>
            </a:r>
          </a:p>
          <a:p>
            <a:pPr lvl="0"/>
            <a:r>
              <a:rPr>
                <a:latin typeface="Courier"/>
              </a:rPr>
              <a:t>low</a:t>
            </a:r>
            <a:r>
              <a:rPr/>
              <a:t> &lt; </a:t>
            </a:r>
            <a:r>
              <a:rPr>
                <a:latin typeface="Courier"/>
              </a:rPr>
              <a:t>medium</a:t>
            </a:r>
            <a:r>
              <a:rPr/>
              <a:t> &lt; </a:t>
            </a:r>
            <a:r>
              <a:rPr>
                <a:latin typeface="Courier"/>
              </a:rPr>
              <a:t>high</a:t>
            </a:r>
          </a:p>
        </p:txBody>
      </p:sp>
      <p:sp>
        <p:nvSpPr>
          <p:cNvPr id="4" name="Content Placeholder 3"/>
          <p:cNvSpPr>
            <a:spLocks noGrp="1"/>
          </p:cNvSpPr>
          <p:nvPr>
            <p:ph idx="2" sz="half"/>
          </p:nvPr>
        </p:nvSpPr>
        <p:spPr>
          <a:xfrm>
            <a:off x="4648200" y="1200151"/>
            <a:ext cx="4038600" cy="3394472"/>
          </a:xfrm>
        </p:spPr>
        <p:txBody>
          <a:bodyPr/>
          <a:lstStyle/>
          <a:p>
            <a:pPr lvl="0" indent="0" marL="0">
              <a:buNone/>
            </a:pPr>
            <a:r>
              <a:rPr b="1"/>
              <a:t>Target</a:t>
            </a:r>
          </a:p>
          <a:p>
            <a:pPr lvl="0"/>
            <a:r>
              <a:rPr/>
              <a:t>Category → a statistic of y</a:t>
            </a:r>
          </a:p>
          <a:p>
            <a:pPr lvl="0"/>
            <a:r>
              <a:rPr/>
              <a:t>Compresses any cardinality to one column</a:t>
            </a:r>
          </a:p>
          <a:p>
            <a:pPr lvl="0"/>
            <a:r>
              <a:rPr/>
              <a:t>The dangerous one — next</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Three encodings, three claims</a:t>
            </a:r>
          </a:p>
        </p:txBody>
      </p:sp>
      <p:pic>
        <p:nvPicPr>
          <p:cNvPr descr="encoding_comparison.png" id="0" name="Picture 1"/>
          <p:cNvPicPr>
            <a:picLocks noGrp="1" noChangeAspect="1"/>
          </p:cNvPicPr>
          <p:nvPr/>
        </p:nvPicPr>
        <p:blipFill>
          <a:blip r:embed="rId3"/>
          <a:stretch>
            <a:fillRect/>
          </a:stretch>
        </p:blipFill>
        <p:spPr bwMode="auto">
          <a:xfrm>
            <a:off x="457200" y="1715889"/>
            <a:ext cx="8229600" cy="2260600"/>
          </a:xfrm>
          <a:prstGeom prst="rect">
            <a:avLst/>
          </a:prstGeom>
          <a:noFill/>
          <a:ln w="9525">
            <a:noFill/>
            <a:headEnd/>
            <a:tailEnd/>
          </a:ln>
        </p:spPr>
      </p:pic>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curse of dimensionality, briefly</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One-hot </a:t>
            </a:r>
            <a:r>
              <a:rPr>
                <a:latin typeface="Courier"/>
              </a:rPr>
              <a:t>zip_code</a:t>
            </a:r>
            <a:r>
              <a:rPr/>
              <a:t>: </a:t>
            </a:r>
            <a:r>
              <a:rPr b="1"/>
              <a:t>493</a:t>
            </a:r>
            <a:r>
              <a:rPr/>
              <a:t> new columns, mostly zero.</a:t>
            </a:r>
          </a:p>
          <a:p>
            <a:pPr lvl="0"/>
            <a:r>
              <a:rPr/>
              <a:t>Distance-based methods (Lesson 6): everything looks equidistant</a:t>
            </a:r>
          </a:p>
          <a:p>
            <a:pPr lvl="0"/>
            <a:r>
              <a:rPr/>
              <a:t>More parameters to estimate, same sample size → more variance</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zip_code: 493 levels</a:t>
            </a:r>
          </a:p>
        </p:txBody>
      </p:sp>
      <p:pic>
        <p:nvPicPr>
          <p:cNvPr descr="correlation_heatmap.png" id="0" name="Picture 1"/>
          <p:cNvPicPr>
            <a:picLocks noGrp="1" noChangeAspect="1"/>
          </p:cNvPicPr>
          <p:nvPr/>
        </p:nvPicPr>
        <p:blipFill>
          <a:blip r:embed="rId3"/>
          <a:stretch>
            <a:fillRect/>
          </a:stretch>
        </p:blipFill>
        <p:spPr bwMode="auto">
          <a:xfrm>
            <a:off x="2577286" y="1166099"/>
            <a:ext cx="3989428" cy="3360181"/>
          </a:xfrm>
          <a:prstGeom prst="rect">
            <a:avLst/>
          </a:prstGeom>
          <a:noFill/>
          <a:ln w="9525">
            <a:noFill/>
            <a:headEnd/>
            <a:tailEnd/>
          </a:ln>
        </p:spPr>
      </p:pic>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lstStyle/>
          <a:p>
            <a:pPr lvl="0" indent="0" marL="0">
              <a:buNone/>
            </a:pPr>
            <a:r>
              <a:rPr/>
              <a:t>Restating Lesson 1’s argument</a:t>
            </a:r>
          </a:p>
        </p:txBody>
      </p:sp>
      <p:sp>
        <p:nvSpPr>
          <p:cNvPr id="4" name="Text Placeholder 3"/>
          <p:cNvSpPr>
            <a:spLocks noGrp="1"/>
          </p:cNvSpPr>
          <p:nvPr>
            <p:ph idx="2" sz="half" type="body"/>
          </p:nvPr>
        </p:nvSpPr>
        <p:spPr>
          <a:xfrm>
            <a:off x="457200" y="1183005"/>
            <a:ext cx="8229600" cy="874395"/>
          </a:xfrm>
        </p:spPr>
        <p:txBody>
          <a:bodyPr/>
          <a:lstStyle/>
          <a:p>
            <a:pPr lvl="0" indent="0" marL="0">
              <a:buNone/>
            </a:pPr>
            <a:r>
              <a:rPr/>
              <a:t>f includes </a:t>
            </a:r>
            <a:r>
              <a:rPr b="1"/>
              <a:t>every</a:t>
            </a:r>
            <a:r>
              <a:rPr/>
              <a:t> learned parameter — not just “the model part”.</a:t>
            </a:r>
          </a:p>
        </p:txBody>
      </p:sp>
      <p:pic>
        <p:nvPicPr>
          <p:cNvPr descr="eq_4c26f16b0d.png" id="0" name="Picture 1"/>
          <p:cNvPicPr>
            <a:picLocks noGrp="1" noChangeAspect="1"/>
          </p:cNvPicPr>
          <p:nvPr/>
        </p:nvPicPr>
        <p:blipFill>
          <a:blip r:embed="rId3"/>
          <a:stretch>
            <a:fillRect/>
          </a:stretch>
        </p:blipFill>
        <p:spPr bwMode="auto">
          <a:xfrm>
            <a:off x="457202" y="3036200"/>
            <a:ext cx="8229596" cy="614149"/>
          </a:xfrm>
          <a:prstGeom prst="rect">
            <a:avLst/>
          </a:prstGeom>
          <a:noFill/>
          <a:ln w="9525">
            <a:noFill/>
            <a:headEnd/>
            <a:tailEnd/>
          </a:ln>
        </p:spPr>
      </p:pic>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latin typeface="Courier"/>
              </a:rPr>
              <a:t>ColumnTransformer</a:t>
            </a:r>
            <a:r>
              <a:rPr/>
              <a:t> + </a:t>
            </a:r>
            <a:r>
              <a:rPr>
                <a:latin typeface="Courier"/>
              </a:rPr>
              <a:t>Pipeline</a:t>
            </a:r>
          </a:p>
        </p:txBody>
      </p:sp>
      <p:pic>
        <p:nvPicPr>
          <p:cNvPr descr="pipeline_architecture.png" id="0" name="Picture 1"/>
          <p:cNvPicPr>
            <a:picLocks noGrp="1" noChangeAspect="1"/>
          </p:cNvPicPr>
          <p:nvPr/>
        </p:nvPicPr>
        <p:blipFill>
          <a:blip r:embed="rId3"/>
          <a:stretch>
            <a:fillRect/>
          </a:stretch>
        </p:blipFill>
        <p:spPr bwMode="auto">
          <a:xfrm>
            <a:off x="457200" y="1303139"/>
            <a:ext cx="8229600" cy="3086100"/>
          </a:xfrm>
          <a:prstGeom prst="rect">
            <a:avLst/>
          </a:prstGeom>
          <a:noFill/>
          <a:ln w="9525">
            <a:noFill/>
            <a:headEnd/>
            <a:tailEnd/>
          </a:ln>
        </p:spPr>
      </p:pic>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code</a:t>
            </a:r>
          </a:p>
        </p:txBody>
      </p:sp>
      <p:sp>
        <p:nvSpPr>
          <p:cNvPr id="3" name="Content Placeholder 2"/>
          <p:cNvSpPr>
            <a:spLocks noGrp="1"/>
          </p:cNvSpPr>
          <p:nvPr>
            <p:ph idx="1"/>
          </p:nvPr>
        </p:nvSpPr>
        <p:spPr>
          <a:xfrm>
            <a:off x="457200" y="1200151"/>
            <a:ext cx="8229600" cy="3394472"/>
          </a:xfrm>
        </p:spPr>
        <p:txBody>
          <a:bodyPr/>
          <a:lstStyle/>
          <a:p>
            <a:pPr lvl="0" indent="0">
              <a:buNone/>
            </a:pPr>
            <a:r>
              <a:rPr>
                <a:latin typeface="Courier"/>
              </a:rPr>
              <a:t>prep </a:t>
            </a:r>
            <a:r>
              <a:rPr>
                <a:solidFill>
                  <a:srgbClr val="666666"/>
                </a:solidFill>
                <a:latin typeface="Courier"/>
              </a:rPr>
              <a:t>=</a:t>
            </a:r>
            <a:r>
              <a:rPr>
                <a:latin typeface="Courier"/>
              </a:rPr>
              <a:t> ColumnTransformer([</a:t>
            </a:r>
            <a:br/>
            <a:r>
              <a:rPr>
                <a:latin typeface="Courier"/>
              </a:rPr>
              <a:t>    (</a:t>
            </a:r>
            <a:r>
              <a:rPr>
                <a:solidFill>
                  <a:srgbClr val="4070A0"/>
                </a:solidFill>
                <a:latin typeface="Courier"/>
              </a:rPr>
              <a:t>"num"</a:t>
            </a:r>
            <a:r>
              <a:rPr>
                <a:latin typeface="Courier"/>
              </a:rPr>
              <a:t>, num_pipe, num_cols),</a:t>
            </a:r>
            <a:br/>
            <a:r>
              <a:rPr>
                <a:latin typeface="Courier"/>
              </a:rPr>
              <a:t>    (</a:t>
            </a:r>
            <a:r>
              <a:rPr>
                <a:solidFill>
                  <a:srgbClr val="4070A0"/>
                </a:solidFill>
                <a:latin typeface="Courier"/>
              </a:rPr>
              <a:t>"cat"</a:t>
            </a:r>
            <a:r>
              <a:rPr>
                <a:latin typeface="Courier"/>
              </a:rPr>
              <a:t>, cat_pipe, cat_cols),</a:t>
            </a:r>
            <a:br/>
            <a:r>
              <a:rPr>
                <a:latin typeface="Courier"/>
              </a:rPr>
              <a:t>])</a:t>
            </a:r>
            <a:br/>
            <a:r>
              <a:rPr>
                <a:latin typeface="Courier"/>
              </a:rPr>
              <a:t>model </a:t>
            </a:r>
            <a:r>
              <a:rPr>
                <a:solidFill>
                  <a:srgbClr val="666666"/>
                </a:solidFill>
                <a:latin typeface="Courier"/>
              </a:rPr>
              <a:t>=</a:t>
            </a:r>
            <a:r>
              <a:rPr>
                <a:latin typeface="Courier"/>
              </a:rPr>
              <a:t> Pipeline([(</a:t>
            </a:r>
            <a:r>
              <a:rPr>
                <a:solidFill>
                  <a:srgbClr val="4070A0"/>
                </a:solidFill>
                <a:latin typeface="Courier"/>
              </a:rPr>
              <a:t>"prep"</a:t>
            </a:r>
            <a:r>
              <a:rPr>
                <a:latin typeface="Courier"/>
              </a:rPr>
              <a:t>, prep), (</a:t>
            </a:r>
            <a:r>
              <a:rPr>
                <a:solidFill>
                  <a:srgbClr val="4070A0"/>
                </a:solidFill>
                <a:latin typeface="Courier"/>
              </a:rPr>
              <a:t>"clf"</a:t>
            </a:r>
            <a:r>
              <a:rPr>
                <a:latin typeface="Courier"/>
              </a:rPr>
              <a:t>, clf)])</a:t>
            </a:r>
            <a:br/>
            <a:r>
              <a:rPr>
                <a:latin typeface="Courier"/>
              </a:rPr>
              <a:t>model.fit(X_train, y_train)</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lstStyle/>
          <a:p>
            <a:pPr lvl="0" indent="0" marL="0">
              <a:buNone/>
            </a:pPr>
            <a:r>
              <a:rPr/>
              <a:t>The model, on churn</a:t>
            </a:r>
          </a:p>
        </p:txBody>
      </p:sp>
      <p:sp>
        <p:nvSpPr>
          <p:cNvPr id="4" name="Text Placeholder 3"/>
          <p:cNvSpPr>
            <a:spLocks noGrp="1"/>
          </p:cNvSpPr>
          <p:nvPr>
            <p:ph idx="2" sz="half" type="body"/>
          </p:nvPr>
        </p:nvSpPr>
        <p:spPr>
          <a:xfrm>
            <a:off x="457200" y="1183005"/>
            <a:ext cx="8229600" cy="1748790"/>
          </a:xfrm>
        </p:spPr>
        <p:txBody>
          <a:bodyPr/>
          <a:lstStyle/>
          <a:p>
            <a:pPr lvl="0"/>
            <a:r>
              <a:rPr/>
              <a:t>Baseline: </a:t>
            </a:r>
            <a:r>
              <a:rPr b="1"/>
              <a:t>0.806</a:t>
            </a:r>
          </a:p>
          <a:p>
            <a:pPr lvl="0"/>
            <a:r>
              <a:rPr/>
              <a:t>Model (numeric + low-card categorical, no zip): </a:t>
            </a:r>
            <a:r>
              <a:rPr b="1"/>
              <a:t>0.820</a:t>
            </a:r>
            <a:r>
              <a:rPr/>
              <a:t> accuracy, </a:t>
            </a:r>
            <a:r>
              <a:rPr b="1"/>
              <a:t>0.752</a:t>
            </a:r>
            <a:r>
              <a:rPr/>
              <a:t> AUC</a:t>
            </a:r>
          </a:p>
          <a:p>
            <a:pPr lvl="0" indent="0" marL="0">
              <a:buNone/>
            </a:pPr>
            <a:r>
              <a:rPr/>
              <a:t>Modest accuracy gain. Why?</a:t>
            </a:r>
          </a:p>
        </p:txBody>
      </p:sp>
      <p:pic>
        <p:nvPicPr>
          <p:cNvPr descr="churn_confusion_matrix.png" id="0" name="Picture 1"/>
          <p:cNvPicPr>
            <a:picLocks noGrp="1" noChangeAspect="1"/>
          </p:cNvPicPr>
          <p:nvPr/>
        </p:nvPicPr>
        <p:blipFill>
          <a:blip r:embed="rId3"/>
          <a:stretch>
            <a:fillRect/>
          </a:stretch>
        </p:blipFill>
        <p:spPr bwMode="auto">
          <a:xfrm>
            <a:off x="3785119" y="3034665"/>
            <a:ext cx="1573761" cy="1491615"/>
          </a:xfrm>
          <a:prstGeom prst="rect">
            <a:avLst/>
          </a:prstGeom>
          <a:noFill/>
          <a:ln w="9525">
            <a:noFill/>
            <a:headEnd/>
            <a:tailEnd/>
          </a:ln>
        </p:spPr>
      </p:pic>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lstStyle/>
          <a:p>
            <a:pPr lvl="0" indent="0" marL="0">
              <a:buNone/>
            </a:pPr>
            <a:r>
              <a:rPr/>
              <a:t>Feature engineering</a:t>
            </a:r>
          </a:p>
        </p:txBody>
      </p:sp>
      <p:sp>
        <p:nvSpPr>
          <p:cNvPr id="4" name="Text Placeholder 3"/>
          <p:cNvSpPr>
            <a:spLocks noGrp="1"/>
          </p:cNvSpPr>
          <p:nvPr>
            <p:ph idx="2" sz="half" type="body"/>
          </p:nvPr>
        </p:nvSpPr>
        <p:spPr>
          <a:xfrm>
            <a:off x="457200" y="1183005"/>
            <a:ext cx="8229600" cy="1311592"/>
          </a:xfrm>
        </p:spPr>
        <p:txBody>
          <a:bodyPr/>
          <a:lstStyle/>
          <a:p>
            <a:pPr lvl="0" indent="0" marL="0">
              <a:buNone/>
            </a:pPr>
            <a:r>
              <a:rPr/>
              <a:t>Ratios, interactions, binning — a linear model cannot invent these itself. AUC: 0.752 → 0.754, a modest but real gain.</a:t>
            </a:r>
          </a:p>
        </p:txBody>
      </p:sp>
      <p:pic>
        <p:nvPicPr>
          <p:cNvPr descr="eq_0ab17cabfc.png" id="0" name="Picture 1"/>
          <p:cNvPicPr>
            <a:picLocks noGrp="1" noChangeAspect="1"/>
          </p:cNvPicPr>
          <p:nvPr/>
        </p:nvPicPr>
        <p:blipFill>
          <a:blip r:embed="rId3"/>
          <a:stretch>
            <a:fillRect/>
          </a:stretch>
        </p:blipFill>
        <p:spPr bwMode="auto">
          <a:xfrm>
            <a:off x="457201" y="3111497"/>
            <a:ext cx="8229597" cy="900752"/>
          </a:xfrm>
          <a:prstGeom prst="rect">
            <a:avLst/>
          </a:prstGeom>
          <a:noFill/>
          <a:ln w="9525">
            <a:noFill/>
            <a:headEnd/>
            <a:tailEnd/>
          </a:ln>
        </p:spPr>
      </p:pic>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Notebook 2, live</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Scaling from scratch, the dummy trap, </a:t>
            </a:r>
            <a:r>
              <a:rPr>
                <a:latin typeface="Courier"/>
              </a:rPr>
              <a:t>ColumnTransformer</a:t>
            </a:r>
            <a:r>
              <a:rPr/>
              <a:t>, </a:t>
            </a:r>
            <a:r>
              <a:rPr>
                <a:latin typeface="Courier"/>
              </a:rPr>
              <a:t>Pipeline</a:t>
            </a:r>
            <a:r>
              <a:rPr/>
              <a:t>.</a:t>
            </a:r>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Same rule, broken three ways</a:t>
            </a:r>
          </a:p>
        </p:txBody>
      </p:sp>
      <p:pic>
        <p:nvPicPr>
          <p:cNvPr descr="invisible_leaks.png" id="0" name="Picture 1"/>
          <p:cNvPicPr>
            <a:picLocks noGrp="1" noChangeAspect="1"/>
          </p:cNvPicPr>
          <p:nvPr/>
        </p:nvPicPr>
        <p:blipFill>
          <a:blip r:embed="rId3"/>
          <a:stretch>
            <a:fillRect/>
          </a:stretch>
        </p:blipFill>
        <p:spPr bwMode="auto">
          <a:xfrm>
            <a:off x="632911" y="1166099"/>
            <a:ext cx="7878177" cy="3360181"/>
          </a:xfrm>
          <a:prstGeom prst="rect">
            <a:avLst/>
          </a:prstGeom>
          <a:noFill/>
          <a:ln w="9525">
            <a:noFill/>
            <a:headEnd/>
            <a:tailEnd/>
          </a:ln>
        </p:spPr>
      </p:pic>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Leak 1 — impute before splitting</a:t>
            </a:r>
          </a:p>
        </p:txBody>
      </p:sp>
      <p:sp>
        <p:nvSpPr>
          <p:cNvPr id="3" name="Content Placeholder 2"/>
          <p:cNvSpPr>
            <a:spLocks noGrp="1"/>
          </p:cNvSpPr>
          <p:nvPr>
            <p:ph idx="1"/>
          </p:nvPr>
        </p:nvSpPr>
        <p:spPr>
          <a:xfrm>
            <a:off x="457200" y="1200151"/>
            <a:ext cx="8229600" cy="3394472"/>
          </a:xfrm>
        </p:spPr>
        <p:txBody>
          <a:bodyPr/>
          <a:lstStyle/>
          <a:p>
            <a:pPr lvl="0" indent="0" marL="0">
              <a:buNone/>
            </a:pPr>
            <a:r>
              <a:rPr>
                <a:latin typeface="Courier"/>
              </a:rPr>
              <a:t>KNNImputer</a:t>
            </a:r>
            <a:r>
              <a:rPr/>
              <a:t> fills a gap using </a:t>
            </a:r>
            <a:r>
              <a:rPr b="1"/>
              <a:t>other rows’ values</a:t>
            </a:r>
            <a:r>
              <a:rPr/>
              <a:t>.</a:t>
            </a:r>
          </a:p>
          <a:p>
            <a:pPr lvl="0" indent="0" marL="0">
              <a:buNone/>
            </a:pPr>
            <a:r>
              <a:rPr/>
              <a:t>Fit it on train + test, and some of those rows are in the test set.</a:t>
            </a:r>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lstStyle/>
          <a:p>
            <a:pPr lvl="0" indent="0" marL="0">
              <a:buNone/>
            </a:pPr>
            <a:r>
              <a:rPr/>
              <a:t>The smoking gun</a:t>
            </a:r>
          </a:p>
        </p:txBody>
      </p:sp>
      <p:sp>
        <p:nvSpPr>
          <p:cNvPr id="4" name="Text Placeholder 3"/>
          <p:cNvSpPr>
            <a:spLocks noGrp="1"/>
          </p:cNvSpPr>
          <p:nvPr>
            <p:ph idx="2" sz="half" type="body"/>
          </p:nvPr>
        </p:nvSpPr>
        <p:spPr>
          <a:xfrm>
            <a:off x="457200" y="1183005"/>
            <a:ext cx="8229600" cy="1311592"/>
          </a:xfrm>
        </p:spPr>
        <p:txBody>
          <a:bodyPr/>
          <a:lstStyle/>
          <a:p>
            <a:pPr lvl="0" indent="0" marL="0">
              <a:buNone/>
            </a:pPr>
            <a:r>
              <a:rPr b="1"/>
              <a:t>98 of 128</a:t>
            </a:r>
            <a:r>
              <a:rPr/>
              <a:t> training rows with missing age had a </a:t>
            </a:r>
            <a:r>
              <a:rPr b="1"/>
              <a:t>test-set row</a:t>
            </a:r>
            <a:r>
              <a:rPr/>
              <a:t> among their five nearest neighbours.</a:t>
            </a:r>
          </a:p>
          <a:p>
            <a:pPr lvl="0" indent="0" marL="0">
              <a:buNone/>
            </a:pPr>
            <a:r>
              <a:rPr/>
              <a:t>Nothing raised an error.</a:t>
            </a:r>
          </a:p>
        </p:txBody>
      </p:sp>
      <p:pic>
        <p:nvPicPr>
          <p:cNvPr descr="smoking_gun.png" id="0" name="Picture 1"/>
          <p:cNvPicPr>
            <a:picLocks noGrp="1" noChangeAspect="1"/>
          </p:cNvPicPr>
          <p:nvPr/>
        </p:nvPicPr>
        <p:blipFill>
          <a:blip r:embed="rId3"/>
          <a:stretch>
            <a:fillRect/>
          </a:stretch>
        </p:blipFill>
        <p:spPr bwMode="auto">
          <a:xfrm>
            <a:off x="2193525" y="2597467"/>
            <a:ext cx="4756949" cy="1928813"/>
          </a:xfrm>
          <a:prstGeom prst="rect">
            <a:avLst/>
          </a:prstGeom>
          <a:noFill/>
          <a:ln w="9525">
            <a:noFill/>
            <a:headEnd/>
            <a:tailEnd/>
          </a:ln>
        </p:spPr>
      </p:pic>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Leak 2 — encode before splitting</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Replace </a:t>
            </a:r>
            <a:r>
              <a:rPr>
                <a:latin typeface="Courier"/>
              </a:rPr>
              <a:t>zip_code</a:t>
            </a:r>
            <a:r>
              <a:rPr/>
              <a:t> with the </a:t>
            </a:r>
            <a:r>
              <a:rPr b="1"/>
              <a:t>average churn rate of its own customers</a:t>
            </a:r>
            <a:r>
              <a:rPr/>
              <a:t>, computed before anybody has split anything.</a:t>
            </a:r>
          </a:p>
        </p:txBody>
      </p:sp>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A column with no real signal, encoded three ways</a:t>
            </a:r>
          </a:p>
        </p:txBody>
      </p:sp>
      <p:pic>
        <p:nvPicPr>
          <p:cNvPr descr="target_encoding_leak.png" id="0" name="Picture 1"/>
          <p:cNvPicPr>
            <a:picLocks noGrp="1" noChangeAspect="1"/>
          </p:cNvPicPr>
          <p:nvPr/>
        </p:nvPicPr>
        <p:blipFill>
          <a:blip r:embed="rId3"/>
          <a:stretch>
            <a:fillRect/>
          </a:stretch>
        </p:blipFill>
        <p:spPr bwMode="auto">
          <a:xfrm>
            <a:off x="1853651" y="1166099"/>
            <a:ext cx="5436697" cy="3360181"/>
          </a:xfrm>
          <a:prstGeom prst="rect">
            <a:avLst/>
          </a:prstGeom>
          <a:noFill/>
          <a:ln w="9525">
            <a:noFill/>
            <a:headEnd/>
            <a:tailEnd/>
          </a:ln>
        </p:spPr>
      </p:pic>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lstStyle/>
          <a:p>
            <a:pPr lvl="0" indent="0" marL="0">
              <a:buNone/>
            </a:pPr>
            <a:r>
              <a:rPr/>
              <a:t>Why small groups make it worse</a:t>
            </a:r>
          </a:p>
        </p:txBody>
      </p:sp>
      <p:sp>
        <p:nvSpPr>
          <p:cNvPr id="4" name="Text Placeholder 3"/>
          <p:cNvSpPr>
            <a:spLocks noGrp="1"/>
          </p:cNvSpPr>
          <p:nvPr>
            <p:ph idx="2" sz="half" type="body"/>
          </p:nvPr>
        </p:nvSpPr>
        <p:spPr>
          <a:xfrm>
            <a:off x="457200" y="1183005"/>
            <a:ext cx="8229600" cy="874395"/>
          </a:xfrm>
        </p:spPr>
        <p:txBody>
          <a:bodyPr/>
          <a:lstStyle/>
          <a:p>
            <a:pPr lvl="0" indent="0" marL="0">
              <a:buNone/>
            </a:pPr>
            <a:r>
              <a:rPr/>
              <a:t>The “leave-in” encoding differs from the honest leave-one-out encoding by:</a:t>
            </a:r>
          </a:p>
        </p:txBody>
      </p:sp>
      <p:pic>
        <p:nvPicPr>
          <p:cNvPr descr="eq_2274cba409.png" id="0" name="Picture 1"/>
          <p:cNvPicPr>
            <a:picLocks noGrp="1" noChangeAspect="1"/>
          </p:cNvPicPr>
          <p:nvPr/>
        </p:nvPicPr>
        <p:blipFill>
          <a:blip r:embed="rId3"/>
          <a:stretch>
            <a:fillRect/>
          </a:stretch>
        </p:blipFill>
        <p:spPr bwMode="auto">
          <a:xfrm>
            <a:off x="457201" y="2411815"/>
            <a:ext cx="8229598" cy="1862919"/>
          </a:xfrm>
          <a:prstGeom prst="rect">
            <a:avLst/>
          </a:prstGeom>
          <a:noFill/>
          <a:ln w="9525">
            <a:noFill/>
            <a:headEnd/>
            <a:tailEnd/>
          </a:ln>
        </p:spPr>
      </p:pic>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leak shrinks as 1/n_c</a:t>
            </a:r>
          </a:p>
        </p:txBody>
      </p:sp>
      <p:pic>
        <p:nvPicPr>
          <p:cNvPr descr="leak_shrinks_with_group_size.png" id="0" name="Picture 1"/>
          <p:cNvPicPr>
            <a:picLocks noGrp="1" noChangeAspect="1"/>
          </p:cNvPicPr>
          <p:nvPr/>
        </p:nvPicPr>
        <p:blipFill>
          <a:blip r:embed="rId3"/>
          <a:stretch>
            <a:fillRect/>
          </a:stretch>
        </p:blipFill>
        <p:spPr bwMode="auto">
          <a:xfrm>
            <a:off x="1564198" y="1166099"/>
            <a:ext cx="6015604" cy="3360181"/>
          </a:xfrm>
          <a:prstGeom prst="rect">
            <a:avLst/>
          </a:prstGeom>
          <a:noFill/>
          <a:ln w="9525">
            <a:noFill/>
            <a:headEnd/>
            <a:tailEnd/>
          </a:ln>
        </p:spPr>
      </p:pic>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fix</a:t>
            </a:r>
          </a:p>
        </p:txBody>
      </p:sp>
      <p:sp>
        <p:nvSpPr>
          <p:cNvPr id="3" name="Content Placeholder 2"/>
          <p:cNvSpPr>
            <a:spLocks noGrp="1"/>
          </p:cNvSpPr>
          <p:nvPr>
            <p:ph idx="1"/>
          </p:nvPr>
        </p:nvSpPr>
        <p:spPr>
          <a:xfrm>
            <a:off x="457200" y="1200151"/>
            <a:ext cx="8229600" cy="3394472"/>
          </a:xfrm>
        </p:spPr>
        <p:txBody>
          <a:bodyPr/>
          <a:lstStyle/>
          <a:p>
            <a:pPr lvl="0" indent="0" marL="0">
              <a:buNone/>
            </a:pPr>
            <a:r>
              <a:rPr>
                <a:latin typeface="Courier"/>
              </a:rPr>
              <a:t>sklearn.preprocessing.TargetEncoder</a:t>
            </a:r>
            <a:r>
              <a:rPr/>
              <a:t> — cross-fitted inside the pipeline.</a:t>
            </a:r>
          </a:p>
          <a:p>
            <a:pPr lvl="0" indent="0" marL="0">
              <a:buNone/>
            </a:pPr>
            <a:r>
              <a:rPr/>
              <a:t>Each row’s encoded value comes from </a:t>
            </a:r>
            <a:r>
              <a:rPr b="1"/>
              <a:t>other</a:t>
            </a:r>
            <a:r>
              <a:rPr/>
              <a:t> folds, never its own label.</a:t>
            </a:r>
          </a:p>
        </p:txBody>
      </p:sp>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rule, restated</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Everything that </a:t>
            </a:r>
            <a:r>
              <a:rPr b="1"/>
              <a:t>learns from data</a:t>
            </a:r>
            <a:r>
              <a:rPr/>
              <a:t> belongs inside the fold it is fitted on.</a:t>
            </a:r>
          </a:p>
          <a:p>
            <a:pPr lvl="0" indent="0" marL="0">
              <a:buNone/>
            </a:pPr>
            <a:r>
              <a:rPr/>
              <a:t>A mean. A median. A set of neighbours. A per-category average. A set of bin edges.</a:t>
            </a:r>
          </a:p>
        </p:txBody>
      </p:sp>
    </p:spTree>
  </p:cSld>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Notebook 3, live</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Trace the imputation leak. Watch the encoding leak manufacture 0.89 from noise.</a:t>
            </a:r>
          </a:p>
        </p:txBody>
      </p:sp>
    </p:spTree>
  </p:cSl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we did today</a:t>
            </a:r>
          </a:p>
        </p:txBody>
      </p:sp>
      <p:sp>
        <p:nvSpPr>
          <p:cNvPr id="3" name="Content Placeholder 2"/>
          <p:cNvSpPr>
            <a:spLocks noGrp="1"/>
          </p:cNvSpPr>
          <p:nvPr>
            <p:ph idx="1"/>
          </p:nvPr>
        </p:nvSpPr>
        <p:spPr>
          <a:xfrm>
            <a:off x="457200" y="1200151"/>
            <a:ext cx="8229600" cy="3394472"/>
          </a:xfrm>
        </p:spPr>
        <p:txBody>
          <a:bodyPr/>
          <a:lstStyle/>
          <a:p>
            <a:pPr lvl="0"/>
            <a:r>
              <a:rPr/>
              <a:t>Explored before transforming — types, gaps, shape, correlations</a:t>
            </a:r>
          </a:p>
          <a:p>
            <a:pPr lvl="0"/>
            <a:r>
              <a:rPr/>
              <a:t>Diagnosed </a:t>
            </a:r>
            <a:r>
              <a:rPr i="1"/>
              <a:t>why</a:t>
            </a:r>
            <a:r>
              <a:rPr/>
              <a:t> values are missing, not just </a:t>
            </a:r>
            <a:r>
              <a:rPr i="1"/>
              <a:t>how many</a:t>
            </a:r>
          </a:p>
          <a:p>
            <a:pPr lvl="0"/>
            <a:r>
              <a:rPr/>
              <a:t>Two outlier rules, and what neither can tell you</a:t>
            </a:r>
          </a:p>
          <a:p>
            <a:pPr lvl="0"/>
            <a:r>
              <a:rPr/>
              <a:t>Scaling, encoding, engineering — all inside </a:t>
            </a:r>
            <a:r>
              <a:rPr>
                <a:latin typeface="Courier"/>
              </a:rPr>
              <a:t>Pipeline</a:t>
            </a:r>
          </a:p>
          <a:p>
            <a:pPr lvl="0"/>
            <a:r>
              <a:rPr/>
              <a:t>Two leaks that look nothing like leaking</a:t>
            </a:r>
          </a:p>
        </p:txBody>
      </p:sp>
    </p:spTree>
  </p:cSld>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Homework — due Friday 9 October</a:t>
            </a:r>
          </a:p>
        </p:txBody>
      </p:sp>
      <p:sp>
        <p:nvSpPr>
          <p:cNvPr id="3" name="Content Placeholder 2"/>
          <p:cNvSpPr>
            <a:spLocks noGrp="1"/>
          </p:cNvSpPr>
          <p:nvPr>
            <p:ph idx="1"/>
          </p:nvPr>
        </p:nvSpPr>
        <p:spPr>
          <a:xfrm>
            <a:off x="457200" y="1200151"/>
            <a:ext cx="8229600" cy="3394472"/>
          </a:xfrm>
        </p:spPr>
        <p:txBody>
          <a:bodyPr/>
          <a:lstStyle/>
          <a:p>
            <a:pPr lvl="0" indent="0" marL="0">
              <a:buNone/>
            </a:pPr>
            <a:r>
              <a:rPr>
                <a:latin typeface="Courier"/>
              </a:rPr>
              <a:t>Exercises/02_data_exploration_and_preparation.md</a:t>
            </a:r>
          </a:p>
          <a:p>
            <a:pPr lvl="0" indent="0" marL="0">
              <a:buNone/>
            </a:pPr>
            <a:r>
              <a:rPr/>
              <a:t>Build the full preparation pipeline yourself, and </a:t>
            </a:r>
            <a:r>
              <a:rPr b="1"/>
              <a:t>find a leak on purpose</a:t>
            </a:r>
            <a:r>
              <a:rPr/>
              <a:t> before fixing it.</a:t>
            </a:r>
          </a:p>
        </p:txBody>
      </p:sp>
    </p:spTree>
  </p:cSld>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Before next week</a:t>
            </a:r>
          </a:p>
        </p:txBody>
      </p:sp>
      <p:sp>
        <p:nvSpPr>
          <p:cNvPr id="3" name="Content Placeholder 2"/>
          <p:cNvSpPr>
            <a:spLocks noGrp="1"/>
          </p:cNvSpPr>
          <p:nvPr>
            <p:ph idx="1"/>
          </p:nvPr>
        </p:nvSpPr>
        <p:spPr>
          <a:xfrm>
            <a:off x="457200" y="1200151"/>
            <a:ext cx="8229600" cy="3394472"/>
          </a:xfrm>
        </p:spPr>
        <p:txBody>
          <a:bodyPr/>
          <a:lstStyle/>
          <a:p>
            <a:pPr lvl="0"/>
            <a:r>
              <a:rPr/>
              <a:t>Work the three notebooks in order</a:t>
            </a:r>
          </a:p>
          <a:p>
            <a:pPr lvl="0"/>
            <a:r>
              <a:rPr/>
              <a:t>Read the handout — the derivations are examinable</a:t>
            </a:r>
          </a:p>
          <a:p>
            <a:pPr lvl="0"/>
            <a:r>
              <a:rPr/>
              <a:t>Take the quiz</a:t>
            </a:r>
          </a:p>
          <a:p>
            <a:pPr lvl="0"/>
            <a:r>
              <a:rPr b="1"/>
              <a:t>Do the exercise</a:t>
            </a:r>
          </a:p>
          <a:p>
            <a:pPr lvl="0" indent="0" marL="0">
              <a:buNone/>
            </a:pPr>
            <a:r>
              <a:rPr/>
              <a:t>Next: regression — the first model we derive completely.</a:t>
            </a:r>
          </a:p>
        </p:txBody>
      </p:sp>
    </p:spTree>
  </p:cSld>
</p:sld>
</file>

<file path=ppt/theme/theme1.xml><?xml version="1.0" encoding="utf-8"?>
<a:theme xmlns:a="http://schemas.openxmlformats.org/drawingml/2006/main" name="Office Theme">
  <a:themeElements>
    <a:clrScheme name="Office">
      <a:dk1>
        <a:sysClr val="windowText" lastClr="1A1A1A"/>
      </a:dk1>
      <a:lt1>
        <a:sysClr val="window" lastClr="FFFFFF"/>
      </a:lt1>
      <a:dk2>
        <a:srgbClr val="1F497D"/>
      </a:dk2>
      <a:lt2>
        <a:srgbClr val="EEECE1"/>
      </a:lt2>
      <a:accent1>
        <a:srgbClr val="1F4E79"/>
      </a:accent1>
      <a:accent2>
        <a:srgbClr val="2E7D8A"/>
      </a:accent2>
      <a:accent3>
        <a:srgbClr val="F0BE50"/>
      </a:accent3>
      <a:accent4>
        <a:srgbClr val="4A5568"/>
      </a:accent4>
      <a:accent5>
        <a:srgbClr val="9C4221"/>
      </a:accent5>
      <a:accent6>
        <a:srgbClr val="1A1A1A"/>
      </a:accent6>
      <a:hlink>
        <a:srgbClr val="0000FF"/>
      </a:hlink>
      <a:folHlink>
        <a:srgbClr val="800080"/>
      </a:folHlink>
    </a:clrScheme>
    <a:fontScheme name="Office">
      <a:majorFont>
        <a:latin typeface="Segoe UI Semibold"/>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Segoe U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1A1A1A"/>
      </a:dk1>
      <a:lt1>
        <a:sysClr val="window" lastClr="FFFFFF"/>
      </a:lt1>
      <a:dk2>
        <a:srgbClr val="44546A"/>
      </a:dk2>
      <a:lt2>
        <a:srgbClr val="E7E6E6"/>
      </a:lt2>
      <a:accent1>
        <a:srgbClr val="1F4E79"/>
      </a:accent1>
      <a:accent2>
        <a:srgbClr val="2E7D8A"/>
      </a:accent2>
      <a:accent3>
        <a:srgbClr val="F0BE50"/>
      </a:accent3>
      <a:accent4>
        <a:srgbClr val="4A5568"/>
      </a:accent4>
      <a:accent5>
        <a:srgbClr val="9C4221"/>
      </a:accent5>
      <a:accent6>
        <a:srgbClr val="1A1A1A"/>
      </a:accent6>
      <a:hlink>
        <a:srgbClr val="0563C1"/>
      </a:hlink>
      <a:folHlink>
        <a:srgbClr val="954F72"/>
      </a:folHlink>
    </a:clrScheme>
    <a:fontScheme name="Office">
      <a:majorFont>
        <a:latin typeface="Segoe UI Semibold"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Segoe U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Lesson 2 — Data: Exploration and Preparation</dc:title>
  <dc:creator>Fabio Antonini — Università degli Studi dell’Aquila</dc:creator>
  <cp:keywords/>
  <dcterms:created xsi:type="dcterms:W3CDTF">1980-01-01T00:00:00Z</dcterms:created>
  <dcterms:modified xsi:type="dcterms:W3CDTF">1980-01-01T00:00:00Z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date">
    <vt:lpwstr>2 October 2026</vt:lpwstr>
  </property>
  <property fmtid="{D5CDD505-2E9C-101B-9397-08002B2CF9AE}" pid="3" name="subtitle">
    <vt:lpwstr>Technologies for Artificial Intelligence</vt:lpwstr>
  </property>
</Properties>
</file>