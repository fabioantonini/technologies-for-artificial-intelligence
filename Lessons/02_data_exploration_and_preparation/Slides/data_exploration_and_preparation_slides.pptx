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fifteen minutes going back over what lesson 1 left unclear come before this slide, and the exercise discussion follows them. That order helps: Task 7 of the exercise, the split repeated with ten seeds, is easier to discuss right after seeing again that a test score is one measurement.</a:t>
            </a:r>
          </a:p>
          <a:p>
            <a:pPr lvl="0" indent="0" marL="0">
              <a:buNone/>
            </a:pPr>
          </a:p>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state the idea that frames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what makes the leakage discussion precise rather than vague.</a:t>
            </a:r>
          </a:p>
          <a:p>
            <a:pPr lvl="0" indent="0" marL="0">
              <a:buNone/>
            </a:pPr>
          </a:p>
          <a:p>
            <a:pPr lvl="0" indent="0" marL="0">
              <a:buNone/>
            </a:pPr>
            <a:r>
              <a:rPr/>
              <a:t>Timing: about 25 minutes of slides (6 to 21) before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in the handout after Section 4 has cleaned the outliers.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with respect to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filling the gaps with one constant value weakens every correlation the column has with anything else. The next slide shows by how much.</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The horizontal axis is the fraction of the column filled with the mean, the vertical axis is how much of the original correlation survives.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filling a fraction p with a constant shrinks the variance to (1 - p) times the original, and multiplies every correlation by the square root of (1 - p).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predictable answer is “add an indicator, it keeps the MAR signal”, and the reasoning is sound as far as it goes: the gap rows are the long-tenure ones, and they churn at 12.5% against 19.7%, so the fact of the gap is informative.</a:t>
            </a:r>
          </a:p>
          <a:p>
            <a:pPr lvl="0" indent="0" marL="0">
              <a:buNone/>
            </a:pPr>
          </a:p>
          <a:p>
            <a:pPr lvl="0" indent="0" marL="0">
              <a:buNone/>
            </a:pPr>
            <a:r>
              <a:rPr/>
              <a:t>But under MAR the gap is explained by a column we already hold - that is the definition - so the model already has what the indicator would tell it. Handout Section 3.3 measures it: adding the indicator moves the area under the receiver operating characteristic curve (AUC) from 0.751 to 0.741 - no gain, well inside split-to-split noise. The AUC is defined on slide 39; for now, higher is better and 0.5 is a coin flip. The indicator is worth adding only if being missing tells the model something the other columns cannot - typically when the value is missing not at random (MNAR), because whether it is missing depends on the missing value itself.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because its usual justification is half right. An indicator keeps the fact of the gap in the table after the gap is filled; that fact only helps if no other column already carries it. Under MCAR it carries nothing; under MAR the column that explains the gap is already there; under MNAR the blank may be the only trace left, and that is where the indicator earns its place.</a:t>
            </a:r>
          </a:p>
          <a:p>
            <a:pPr lvl="0" indent="0" marL="0">
              <a:buNone/>
            </a:pPr>
          </a:p>
          <a:p>
            <a:pPr lvl="0" indent="0" marL="0">
              <a:buNone/>
            </a:pPr>
            <a:r>
              <a:rPr/>
              <a:t>Then the line at the bottom: every option except dropping the column learns a statistic, so all of them are fitted on the training data only.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reach for by reflex. It is cheap, but it adds information only when the gap tells the model something no other column does: on this dataset it does not, and the area under the curve goes 0.751 to 0.741 with it.</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quartile rule raises 12 false alarms. Nothing here deletes a row - what to do once something is flagged is handout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the mean and the standard deviation, from the data being measured - including the outliers - and that is the weakness the next slides expose.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put their thresholds in a similar place, not to flag the same points, and even on perfect data Tukey’s rule flags more of them.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their thresholds are close, but out in the tail two thresholds 0.3 standard deviations apart flag 2.6 times as many points.</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the inflated fence ends up beyond them, so it misses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changes, without anyone noticing, which customers the sample represents.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Exploration, missingness mechanisms, both outlier rules: from scratch. The table is the notebook’s map - no scikit-learn yet, only the pandas calls that do the looking, each next to the slides where the idea was introduced.</a:t>
            </a:r>
          </a:p>
          <a:p>
            <a:pPr lvl="0" indent="0" marL="0">
              <a:buNone/>
            </a:pPr>
          </a:p>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Read the update rule on the slide aloud, symbol by symbol. ∇R̂(w) is the gradient: the direction in which the average loss rises fastest, one component per coefficient. The minus sign turns it round, downhill. α, the learning rate, is how far each step goes. Lesson 3 writes the same rule as θ ← θ − α∇J(θ), where θ collects every parameter including the intercept and J is the cost being minimised; same rule, the notation of a lesson that derives it.</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100:1 variance ratio (110:1 as drawn)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slowed down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from Lesson 1 first. Its slide 20 plotted the training error against one number, the threshold t, and the best t was the bottom of that curve. Here the model has two numbers, w1 and w2, so the same average loss becomes a surface over the plane of (w1, w2), and this figure is that surface seen from above: each ring is a contour line, joining coefficient pairs with the same loss. The figure draws an exact paraboloid, the shape of a squared-error loss for a linear model; the logistic loss of the churn model is only approximately this shape, close to its minimum.</a:t>
            </a:r>
          </a:p>
          <a:p>
            <a:pPr lvl="0" indent="0" marL="0">
              <a:buNone/>
            </a:pPr>
          </a:p>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valley - steep across, almost flat along. One step size has to serve both. Long enough to advance along the flat direction and it overshoots the steep one and bounces from one side of the valley to the other; short enough to be safe on the steep one and it crawls along the flat one. Count the dots out loud: twenty-six steps and it is still not at the star.</a:t>
            </a:r>
          </a:p>
          <a:p>
            <a:pPr lvl="0" indent="0" marL="0">
              <a:buNone/>
            </a:pPr>
          </a:p>
          <a:p>
            <a:pPr lvl="0" indent="0" marL="0">
              <a:buNone/>
            </a:pPr>
            <a:r>
              <a:rPr/>
              <a:t>Right: after scaling, the valley is a round bowl and every step points at the minimum.</a:t>
            </a:r>
          </a:p>
          <a:p>
            <a:pPr lvl="0" indent="0" marL="0">
              <a:buNone/>
            </a:pPr>
          </a:p>
          <a:p>
            <a:pPr lvl="0" indent="0" marL="0">
              <a:buNone/>
            </a:pPr>
            <a:r>
              <a:rPr/>
              <a:t>Give them the name without the derivation: how stretched the valley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which number is which before anyone asks: the title’s 100:1 is how the two features were built, spreads of 1 and 10; the sample of 1,000 points measures 110:1, which is the figure notebook 2 prints and the toolbox slide quotes.</a:t>
            </a:r>
          </a:p>
          <a:p>
            <a:pPr lvl="0" indent="0" marL="0">
              <a:buNone/>
            </a:pPr>
          </a:p>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from one side of the valley to the other. Run it ten times as long and it is still in the same band. Worse than slow: a slow run at least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shows what is wrong with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answers the question asked on the previous slide.</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warning on the letter: k here counts the levels of a category. Slide 16 used k for the z-score cut-off, 3. Same letter, two jobs, both declared in the handout’s notation table - say so out loud once.</a:t>
            </a:r>
          </a:p>
          <a:p>
            <a:pPr lvl="0" indent="0" marL="0">
              <a:buNone/>
            </a:pPr>
          </a:p>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on slide 34.</a:t>
            </a:r>
          </a:p>
          <a:p>
            <a:pPr lvl="0" indent="0" marL="0">
              <a:buNone/>
            </a:pPr>
          </a:p>
          <a:p>
            <a:pPr lvl="0" indent="0" marL="0">
              <a:buNone/>
            </a:pPr>
            <a:r>
              <a:rPr/>
              <a:t>The last bullet raises a question rather than closing one.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 one new column for every four rows, from a single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so the estimates get noisier: the overfitting gap of lesson 1 (slide 21) arriving from a new direction. Lesson 5 names it the bias-variance trade-off.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say: notebook 1’s correlation check already suggested this column carries nothing. One-hot encoding it would add 493 mostly-empty columns. The natural alternative - replace each code with the average churn rate of its customers - is exactly the technique the leakage section is about. Leave the question open here; the leakage section answers it.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symbols first: T is the test set, m rows drawn from the distribution D; R-hat of T is the average loss on those rows; R is the expected risk from lesson 1. The equation says that, averaged over all the test sets we might have drawn, the test score equals the true risk.</a:t>
            </a:r>
          </a:p>
          <a:p>
            <a:pPr lvl="0" indent="0" marL="0">
              <a:buNone/>
            </a:pPr>
          </a:p>
          <a:p>
            <a:pPr lvl="0" indent="0" marL="0">
              <a:buNone/>
            </a:pPr>
            <a:r>
              <a:rPr/>
              <a:t>Then say the condition out loud, because it is not written on the slide and it is the whole content: this equality holds ONLY IF f is independent of T.</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handout Section 9, and the leakage section of today’s slides, are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on the previous slide,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next slide’s matrix shows where the errors sit. The area under the receiver operating characteristic curve (AUC), which Lesson 4 builds properly, is read as the chance that a random churner is scored above a random non-churner: 0.5 is a coin flip. At 0.751 it says there is real signal that accuracy is hiding, because it compares churners with non-churners instead of counting rows, so the 80/20 imbalance does not drag it the way it drags accuracy.</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formula in one sentence - total_paid is the monthly charge times the months stayed, with tenure clipped at zero first - and let the three AUCs do the work.</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learns nothing and can be computed anywhere; a learned one must be fitted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right-hand column carries the four numbers to come back with, each next to the calls that produce it. The rest of the table is the map: every scikit-learn name the notebook uses, beside the slides that introduced the idea.</a:t>
            </a:r>
          </a:p>
          <a:p>
            <a:pPr lvl="0" indent="0" marL="0">
              <a:buNone/>
            </a:pPr>
          </a:p>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handout Section 8.1 makes precise and slide 36 stated: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counts how often it happens. Connect it back to Lesson 1: this is the same independence argument, applied to a step nobody thinks of as learning. The imputer learns; therefore it is fitted on the training data only.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barely moved - +0.0007, and negative in 14 of 20 splits - and test information had still reached the training data one imputed value at a time. So the score cannot reveal this leak; only the method can.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inside the pipeline, each training row encoded from the other four parts of the training rows):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symbols first, pointing at each: ȳ_c is the churn rate of zip code c over all its customers, row i included; ȳ_c with (−i) is the same rate with row i left out; y_i is row i’s own label; n_c is how many customers zip code c has - not n, the number of features.</a:t>
            </a:r>
          </a:p>
          <a:p>
            <a:pPr lvl="0" indent="0" marL="0">
              <a:buNone/>
            </a:pPr>
          </a:p>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handout Section 6.3 and slide 34: a column with many levels (high cardinality) has few rows per level, and by this formula few rows per level means a bigger leak. The width problem of one-hot encoding and the leak of target encoding come from the same fact: many levels, few rows in each.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TargetEncoder also applies smoothing: it pulls each group’s churn rate towards the overall churn rate, the more so the smaller the group, so a one-customer zip code barely moves from the overall rate. Smoothing reduces the leak but does not remove it.</a:t>
            </a:r>
          </a:p>
          <a:p>
            <a:pPr lvl="0" indent="0" marL="0">
              <a:buNone/>
            </a:pPr>
          </a:p>
          <a:p>
            <a:pPr lvl="0" indent="0" marL="0">
              <a:buNone/>
            </a:pPr>
            <a:r>
              <a:rPr/>
              <a:t>Say clearly what actually removes it: fitting the encoder on the training rows only, inside the pipeline, exactly as with every other learned step - with TargetEncoder also making sure no row is encoded from its own label.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Trace the imputation leak. Watch the encoding leak manufacture 0.89 from noise. The table puts each leak beside the calls that commit it and the slides that explain it; the fix row is the one to leave on screen.</a:t>
            </a:r>
          </a:p>
          <a:p>
            <a:pPr lvl="0" indent="0" marL="0">
              <a:buNone/>
            </a:pPr>
          </a:p>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accuracy is not what counts, and nothing is marked during the course. If this exercise is the one drawn at the exam, what is discussed is methodological correctness: which preprocessing steps needed to be inside the pipeline, and,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for the week. The exercise was set on the previous slide; say once more that it is discussed at the start of Lesson 3, Friday 16 October.</a:t>
            </a:r>
          </a:p>
          <a:p>
            <a:pPr lvl="0" indent="0" marL="0">
              <a:buNone/>
            </a:pPr>
          </a:p>
          <a:p>
            <a:pPr lvl="0" indent="0" marL="0">
              <a:buNone/>
            </a:pPr>
            <a:r>
              <a:rPr/>
              <a:t>Point out that it uses the same churn generator, so the exploration they did today carries over, and that what counts is again methodology: a pipeline that is correct but modest beats a better score obtained by preparing the full dataset before splitting.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did you predict a class, or a number?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which enforces that rule in the code instead of relying on memory</a:t>
            </a:r>
          </a:p>
          <a:p>
            <a:pPr lvl="0"/>
            <a:r>
              <a:rPr/>
              <a:t>Today: both, on messy data - gaps, extreme values, text categories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that raises no error and looks like a good result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 (cancel their contract)?</a:t>
            </a:r>
          </a:p>
          <a:p>
            <a:pPr lvl="0"/>
            <a:r>
              <a:rPr/>
              <a:t>Numeric: tenure, monthly charges, age, support calls</a:t>
            </a:r>
          </a:p>
          <a:p>
            <a:pPr lvl="0"/>
            <a:r>
              <a:rPr/>
              <a:t>Categorical: contract type, region, zip code (493 different values)</a:t>
            </a:r>
          </a:p>
          <a:p>
            <a:pPr lvl="0"/>
            <a:r>
              <a:rPr/>
              <a:t>Missing values, extreme values, and one column built to have </a:t>
            </a:r>
            <a:r>
              <a:rPr b="1"/>
              <a:t>no relation</a:t>
            </a:r>
            <a:r>
              <a:rPr/>
              <a:t> to churn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First, always: </a:t>
            </a:r>
            <a:r>
              <a:rPr>
                <a:latin typeface="Courier"/>
              </a:rPr>
              <a:t>.info()</a:t>
            </a:r>
            <a:r>
              <a:rPr/>
              <a:t>, </a:t>
            </a:r>
            <a:r>
              <a:rPr>
                <a:latin typeface="Courier"/>
              </a:rPr>
              <a:t>.describe()</a:t>
            </a:r>
            <a:r>
              <a:rPr/>
              <a:t>, and the share of each class.</a:t>
            </a:r>
          </a:p>
          <a:p>
            <a:pPr lvl="0"/>
            <a:r>
              <a:rPr/>
              <a:t>2000 rows, 8 columns, numbers and text</a:t>
            </a:r>
          </a:p>
          <a:p>
            <a:pPr lvl="0"/>
            <a:r>
              <a:rPr/>
              <a:t>Churn rate </a:t>
            </a:r>
            <a:r>
              <a:rPr b="1"/>
              <a:t>19.4%</a:t>
            </a:r>
            <a:r>
              <a:rPr/>
              <a:t>: always predicting “no churn” is right 80.6% of the time</a:t>
            </a:r>
          </a:p>
          <a:p>
            <a:pPr lvl="0"/>
            <a:r>
              <a:rPr>
                <a:latin typeface="Courier"/>
              </a:rPr>
              <a:t>tenure_months</a:t>
            </a:r>
            <a:r>
              <a:rPr/>
              <a:t> reaches 999 months, 83 years: an error in the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Outliers squash two of these four</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missing completely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MCAR, for short: some customers left it blank, for no reason related to any column.</a:t>
            </a:r>
          </a:p>
          <a:p>
            <a:pPr lvl="0"/>
            <a:r>
              <a:rPr/>
              <a:t>Filling the gaps with the mean leaves the mean of </a:t>
            </a:r>
            <a:r>
              <a:rPr>
                <a:latin typeface="Courier"/>
              </a:rPr>
              <a:t>age</a:t>
            </a:r>
            <a:r>
              <a:rPr/>
              <a:t> unbiased</a:t>
            </a:r>
          </a:p>
          <a:p>
            <a:pPr lvl="0"/>
            <a:r>
              <a:rPr/>
              <a:t>So is filling free? The next slide shows what it costs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Filling with the mean weakens every correlation </a:t>
            </a:r>
            <a:r>
              <a:rPr>
                <a:latin typeface="Courier"/>
              </a:rPr>
              <a:t>age</a:t>
            </a:r>
            <a:r>
              <a:rPr/>
              <a:t> has with other columns,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Support calls: missing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MAR, for short: long-tenure customers leave it blank more often.</a:t>
            </a:r>
          </a:p>
          <a:p>
            <a:pPr lvl="0"/>
            <a:r>
              <a:rPr/>
              <a:t>Dropping those rows would remove mostly long-tenure customers</a:t>
            </a:r>
          </a:p>
          <a:p>
            <a:pPr lvl="0"/>
            <a:r>
              <a:rPr/>
              <a:t>A </a:t>
            </a:r>
            <a:r>
              <a:rPr b="1"/>
              <a:t>missingness indicator</a:t>
            </a:r>
            <a:r>
              <a:rPr/>
              <a:t> (1 if missing, 0 if not) adds nothing here: </a:t>
            </a:r>
            <a:r>
              <a:rPr>
                <a:latin typeface="Courier"/>
              </a:rPr>
              <a:t>tenure_months</a:t>
            </a:r>
            <a:r>
              <a:rPr/>
              <a:t> already tells the model which rows tend to have a gap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or most-frequent with </a:t>
            </a:r>
            <a:r>
              <a:rPr>
                <a:latin typeface="Courier"/>
              </a:rPr>
              <a:t>SimpleImputer</a:t>
            </a:r>
            <a:r>
              <a:rPr/>
              <a:t>, neighbours with </a:t>
            </a:r>
            <a:r>
              <a:rPr>
                <a:latin typeface="Courier"/>
              </a:rPr>
              <a:t>KNNImputer</a:t>
            </a:r>
          </a:p>
          <a:p>
            <a:pPr lvl="0"/>
            <a:r>
              <a:rPr b="1"/>
              <a:t>Add a missingness indicator</a:t>
            </a:r>
            <a:r>
              <a:rPr/>
              <a:t>: only if </a:t>
            </a:r>
            <a:r>
              <a:rPr i="1"/>
              <a:t>being missing</a:t>
            </a:r>
            <a:r>
              <a:rPr/>
              <a:t> tells the model something the other columns cannot - typically when missing not at random (MNAR)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Extreme does not mean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A monthly charge of 3,344.7 may be a typo or a corporate account: the numbers alone cannot tell</a:t>
            </a:r>
          </a:p>
          <a:p>
            <a:pPr lvl="0"/>
            <a:r>
              <a:rPr/>
              <a:t>Two rules follow, one on standard deviations, one on quartiles: both only </a:t>
            </a:r>
            <a:r>
              <a:rPr b="1"/>
              <a:t>flag</a:t>
            </a:r>
            <a:r>
              <a:rPr/>
              <a:t> a value for a person to check</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interquartile range (IQR)</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Close fences, very different counts</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Quartile rule: 12 false alarms</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unusual, it is impossible: no tenure is negative. Checking validity needs a rule about the domain, not about the distribution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rules only find candidates. What to do with them is decided by someone who knows the </a:t>
            </a:r>
            <a:r>
              <a:rPr b="1"/>
              <a:t>domain</a:t>
            </a:r>
            <a:r>
              <a:rPr/>
              <a:t>.</a:t>
            </a:r>
          </a:p>
          <a:p>
            <a:pPr lvl="0"/>
            <a:r>
              <a:rPr b="1"/>
              <a:t>Cap</a:t>
            </a:r>
            <a:r>
              <a:rPr/>
              <a:t> it at the rule’s upper limit: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(pandas, no model yet)</a:t>
                      </a:r>
                    </a:p>
                  </a:txBody>
                  <a:tcPr/>
                </a:tc>
              </a:tr>
              <a:tr h="0">
                <a:tc>
                  <a:txBody>
                    <a:bodyPr/>
                    <a:lstStyle/>
                    <a:p>
                      <a:pPr lvl="0" indent="0" marL="0">
                        <a:buNone/>
                      </a:pPr>
                      <a:r>
                        <a:rPr/>
                        <a:t>first look, 6</a:t>
                      </a:r>
                    </a:p>
                  </a:txBody>
                </a:tc>
                <a:tc>
                  <a:txBody>
                    <a:bodyPr/>
                    <a:lstStyle/>
                    <a:p>
                      <a:pPr lvl="0" indent="0" marL="0">
                        <a:buNone/>
                      </a:pPr>
                      <a:r>
                        <a:rPr>
                          <a:latin typeface="Courier"/>
                        </a:rPr>
                        <a:t>df.info()</a:t>
                      </a:r>
                      <a:r>
                        <a:rPr/>
                        <a:t>, </a:t>
                      </a:r>
                      <a:r>
                        <a:rPr>
                          <a:latin typeface="Courier"/>
                        </a:rPr>
                        <a:t>df.describe()</a:t>
                      </a:r>
                    </a:p>
                  </a:txBody>
                </a:tc>
              </a:tr>
              <a:tr h="0">
                <a:tc>
                  <a:txBody>
                    <a:bodyPr/>
                    <a:lstStyle/>
                    <a:p>
                      <a:pPr lvl="0" indent="0" marL="0">
                        <a:buNone/>
                      </a:pPr>
                      <a:r>
                        <a:rPr/>
                        <a:t>distributions, 7</a:t>
                      </a:r>
                    </a:p>
                  </a:txBody>
                </a:tc>
                <a:tc>
                  <a:txBody>
                    <a:bodyPr/>
                    <a:lstStyle/>
                    <a:p>
                      <a:pPr lvl="0" indent="0" marL="0">
                        <a:buNone/>
                      </a:pPr>
                      <a:r>
                        <a:rPr>
                          <a:latin typeface="Courier"/>
                        </a:rPr>
                        <a:t>df.hist()</a:t>
                      </a:r>
                    </a:p>
                  </a:txBody>
                </a:tc>
              </a:tr>
              <a:tr h="0">
                <a:tc>
                  <a:txBody>
                    <a:bodyPr/>
                    <a:lstStyle/>
                    <a:p>
                      <a:pPr lvl="0" indent="0" marL="0">
                        <a:buNone/>
                      </a:pPr>
                      <a:r>
                        <a:rPr/>
                        <a:t>missingness, 8-12</a:t>
                      </a:r>
                    </a:p>
                  </a:txBody>
                </a:tc>
                <a:tc>
                  <a:txBody>
                    <a:bodyPr/>
                    <a:lstStyle/>
                    <a:p>
                      <a:pPr lvl="0" indent="0" marL="0">
                        <a:buNone/>
                      </a:pPr>
                      <a:r>
                        <a:rPr>
                          <a:latin typeface="Courier"/>
                        </a:rPr>
                        <a:t>df.isna().mean()</a:t>
                      </a:r>
                      <a:r>
                        <a:rPr/>
                        <a:t>, and the mean before and after filling</a:t>
                      </a:r>
                    </a:p>
                  </a:txBody>
                </a:tc>
              </a:tr>
              <a:tr h="0">
                <a:tc>
                  <a:txBody>
                    <a:bodyPr/>
                    <a:lstStyle/>
                    <a:p>
                      <a:pPr lvl="0" indent="0" marL="0">
                        <a:buNone/>
                      </a:pPr>
                      <a:r>
                        <a:rPr/>
                        <a:t>outliers from scratch, 15-19</a:t>
                      </a:r>
                    </a:p>
                  </a:txBody>
                </a:tc>
                <a:tc>
                  <a:txBody>
                    <a:bodyPr/>
                    <a:lstStyle/>
                    <a:p>
                      <a:pPr lvl="0" indent="0" marL="0">
                        <a:buNone/>
                      </a:pPr>
                      <a:r>
                        <a:rPr>
                          <a:latin typeface="Courier"/>
                        </a:rPr>
                        <a:t>.mean()</a:t>
                      </a:r>
                      <a:r>
                        <a:rPr/>
                        <a:t> and </a:t>
                      </a:r>
                      <a:r>
                        <a:rPr>
                          <a:latin typeface="Courier"/>
                        </a:rPr>
                        <a:t>.std()</a:t>
                      </a:r>
                      <a:r>
                        <a:rPr/>
                        <a:t> for rule 1, </a:t>
                      </a:r>
                      <a:r>
                        <a:rPr>
                          <a:latin typeface="Courier"/>
                        </a:rPr>
                        <a:t>.quantile([0.25, 0.75])</a:t>
                      </a:r>
                      <a:r>
                        <a:rPr/>
                        <a:t> for rule 2</a:t>
                      </a:r>
                    </a:p>
                  </a:txBody>
                </a:tc>
              </a:tr>
              <a:tr h="0">
                <a:tc>
                  <a:txBody>
                    <a:bodyPr/>
                    <a:lstStyle/>
                    <a:p>
                      <a:pPr lvl="0" indent="0" marL="0">
                        <a:buNone/>
                      </a:pPr>
                      <a:r>
                        <a:rPr/>
                        <a:t>correlations, categories</a:t>
                      </a:r>
                    </a:p>
                  </a:txBody>
                </a:tc>
                <a:tc>
                  <a:txBody>
                    <a:bodyPr/>
                    <a:lstStyle/>
                    <a:p>
                      <a:pPr lvl="0" indent="0" marL="0">
                        <a:buNone/>
                      </a:pPr>
                      <a:r>
                        <a:rPr>
                          <a:latin typeface="Courier"/>
                        </a:rPr>
                        <a:t>df.corr()</a:t>
                      </a:r>
                      <a:r>
                        <a:rPr/>
                        <a:t>, </a:t>
                      </a:r>
                      <a:r>
                        <a:rPr>
                          <a:latin typeface="Courier"/>
                        </a:rPr>
                        <a:t>.value_counts()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choose w₁, w₂ to minimise Lesson 1’s average loss, a paraboloid over (w₁, w₂). Lesson 1’s slide 20 drew it for one number, the threshold</a:t>
            </a:r>
          </a:p>
          <a:p>
            <a:pPr lvl="0"/>
            <a:r>
              <a:rPr b="1"/>
              <a:t>Gradient descent</a:t>
            </a:r>
            <a:r>
              <a:rPr/>
              <a:t> repeats w ← w − α∇R̂(w): a step downhill, its size set by the </a:t>
            </a:r>
            <a:r>
              <a:rPr b="1"/>
              <a:t>learning rate</a:t>
            </a:r>
            <a:r>
              <a:rPr/>
              <a:t> α, for every column. Can one α suit both?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Unequal scales: a narrow valley</a:t>
            </a:r>
          </a:p>
        </p:txBody>
      </p:sp>
      <p:pic>
        <p:nvPicPr>
          <p:cNvPr descr="condition_number_geometry.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(x − μ)/σ and (x − min)/(max − min),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needs numbers, and </a:t>
            </a:r>
            <a:r>
              <a:rPr>
                <a:latin typeface="Courier"/>
              </a:rPr>
              <a:t>"month-to-month"</a:t>
            </a:r>
            <a:r>
              <a:rPr/>
              <a:t> is text: encoding turns it into numbers.</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all different, none closer to another</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replaced by the churn rate of its own category</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equal steps, unequal churn</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no order assumed, but wide</a:t>
            </a:r>
          </a:p>
        </p:txBody>
      </p:sp>
      <p:sp>
        <p:nvSpPr>
          <p:cNvPr id="3" name="Content Placeholder 2"/>
          <p:cNvSpPr>
            <a:spLocks noGrp="1"/>
          </p:cNvSpPr>
          <p:nvPr>
            <p:ph idx="1"/>
          </p:nvPr>
        </p:nvSpPr>
        <p:spPr>
          <a:xfrm>
            <a:off x="457200" y="1200151"/>
            <a:ext cx="8229600" cy="3394472"/>
          </a:xfrm>
        </p:spPr>
        <p:txBody>
          <a:bodyPr/>
          <a:lstStyle/>
          <a:p>
            <a:pPr lvl="0"/>
            <a:r>
              <a:rPr/>
              <a:t>A column with k categories becomes k columns of 0s and 1s, a single 1 per row: </a:t>
            </a:r>
            <a:r>
              <a:rPr>
                <a:latin typeface="Courier"/>
              </a:rPr>
              <a:t>OneHotEncoder</a:t>
            </a:r>
          </a:p>
          <a:p>
            <a:pPr lvl="0"/>
            <a:r>
              <a:rPr/>
              <a:t>No order between categories, all equally far apart: that is why it is the default</a:t>
            </a:r>
          </a:p>
          <a:p>
            <a:pPr lvl="0"/>
            <a:r>
              <a:rPr/>
              <a:t>The price is width: </a:t>
            </a:r>
            <a:r>
              <a:rPr>
                <a:latin typeface="Courier"/>
              </a:rPr>
              <a:t>zip_code</a:t>
            </a:r>
            <a:r>
              <a:rPr/>
              <a:t> would add </a:t>
            </a:r>
            <a:r>
              <a:rPr b="1"/>
              <a:t>493</a:t>
            </a:r>
            <a:r>
              <a:rPr/>
              <a:t> columns to 2,000 rows</a:t>
            </a:r>
          </a:p>
          <a:p>
            <a:pPr lvl="0"/>
            <a:r>
              <a:rPr/>
              <a:t>Target encoding uses one column however many categories there are, but it is computed from the target - which is how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One one-hot column too many</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Most models include a constant column of ones, the </a:t>
            </a:r>
            <a:r>
              <a:rPr b="1"/>
              <a:t>intercept</a:t>
            </a:r>
            <a:r>
              <a:rPr/>
              <a:t>. The k one-hot columns (</a:t>
            </a:r>
            <a:r>
              <a:rPr i="1"/>
              <a:t>dummies</a:t>
            </a:r>
            <a:r>
              <a:rPr/>
              <a:t>) also always add up to 1:</a:t>
            </a:r>
          </a:p>
        </p:txBody>
      </p:sp>
      <p:pic>
        <p:nvPicPr>
          <p:cNvPr descr="eq_3723e214d0.png" id="0" name="Picture 1"/>
          <p:cNvPicPr>
            <a:picLocks noGrp="1" noChangeAspect="1"/>
          </p:cNvPicPr>
          <p:nvPr/>
        </p:nvPicPr>
        <p:blipFill>
          <a:blip r:embed="rId3"/>
          <a:stretch>
            <a:fillRect/>
          </a:stretch>
        </p:blipFill>
        <p:spPr bwMode="auto">
          <a:xfrm>
            <a:off x="457200" y="2620178"/>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 columns, but only rank 3</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Methods based on distances (Lesson 6): all points end up roughly equally far apart</a:t>
            </a:r>
          </a:p>
          <a:p>
            <a:pPr lvl="0"/>
            <a:r>
              <a:rPr/>
              <a:t>More coefficients to estimate from the same 2,000 rows: noisier estimates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Preprocessing is part of f</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f is the whole pipeline: </a:t>
            </a:r>
            <a:r>
              <a:rPr b="1"/>
              <a:t>every</a:t>
            </a:r>
            <a:r>
              <a:rPr/>
              <a:t> number learned from data - the scaler’s means, the imputer’s fill values - not only the model’s coefficients.</a:t>
            </a:r>
          </a:p>
        </p:txBody>
      </p:sp>
      <p:pic>
        <p:nvPicPr>
          <p:cNvPr descr="eq_3460d29d6f.png" id="0" name="Picture 1"/>
          <p:cNvPicPr>
            <a:picLocks noGrp="1" noChangeAspect="1"/>
          </p:cNvPicPr>
          <p:nvPr/>
        </p:nvPicPr>
        <p:blipFill>
          <a:blip r:embed="rId3"/>
          <a:stretch>
            <a:fillRect/>
          </a:stretch>
        </p:blipFill>
        <p:spPr bwMode="auto">
          <a:xfrm>
            <a:off x="1296590" y="3048563"/>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Accuracy: baseline </a:t>
            </a:r>
            <a:r>
              <a:rPr b="1"/>
              <a:t>0.806</a:t>
            </a:r>
            <a:r>
              <a:rPr/>
              <a:t>, model </a:t>
            </a:r>
            <a:r>
              <a:rPr b="1"/>
              <a:t>0.820</a:t>
            </a:r>
            <a:r>
              <a:rPr/>
              <a:t> (numeric + low-cardinality categoricals, no zip)</a:t>
            </a:r>
          </a:p>
          <a:p>
            <a:pPr lvl="0"/>
            <a:r>
              <a:rPr/>
              <a:t>Area under the receiver operating characteristic curve (AUC): </a:t>
            </a:r>
            <a:r>
              <a:rPr b="1"/>
              <a:t>0.751</a:t>
            </a:r>
            <a:r>
              <a:rPr/>
              <a:t>, the chance a random churner scores above a random non-churner; 0.5 is a coin flip</a:t>
            </a:r>
          </a:p>
          <a:p>
            <a:pPr lvl="0"/>
            <a:r>
              <a:rPr/>
              <a:t>In code: </a:t>
            </a:r>
            <a:r>
              <a:rPr>
                <a:latin typeface="Courier"/>
              </a:rPr>
              <a:t>LogisticRegression</a:t>
            </a:r>
            <a:r>
              <a:rPr/>
              <a:t> against </a:t>
            </a:r>
            <a:r>
              <a:rPr>
                <a:latin typeface="Courier"/>
              </a:rPr>
              <a:t>DummyClassifier</a:t>
            </a:r>
            <a:r>
              <a:rPr/>
              <a:t>, </a:t>
            </a:r>
            <a:r>
              <a:rPr>
                <a:latin typeface="Courier"/>
              </a:rPr>
              <a:t>roc_auc_score</a:t>
            </a:r>
          </a:p>
          <a:p>
            <a:pPr lvl="0" indent="0" marL="0">
              <a:buNone/>
            </a:pPr>
            <a:r>
              <a:rPr/>
              <a:t>Accuracy barely beats the baseline.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New columns built from existing ones, which a linear model cannot build itself.</a:t>
            </a:r>
          </a:p>
          <a:p>
            <a:pPr lvl="0" indent="0" marL="0">
              <a:buNone/>
            </a:pPr>
            <a:r>
              <a:rPr>
                <a:latin typeface="Courier"/>
              </a:rPr>
              <a:t>total_paid</a:t>
            </a:r>
            <a:r>
              <a:rPr/>
              <a:t> = charge × months stayed: AUC 0.7514 → 0.7548. Fix the 999s in </a:t>
            </a:r>
            <a:r>
              <a:rPr>
                <a:latin typeface="Courier"/>
              </a:rPr>
              <a:t>tenure_months</a:t>
            </a:r>
            <a:r>
              <a:rPr/>
              <a:t> first and it scores </a:t>
            </a:r>
            <a:r>
              <a:rPr b="1"/>
              <a:t>0.7439</a:t>
            </a:r>
            <a:r>
              <a:rPr/>
              <a:t>: the gain came from the errors.</a:t>
            </a:r>
          </a:p>
          <a:p>
            <a:pPr lvl="0" indent="0" marL="0">
              <a:buNone/>
            </a:pPr>
            <a:r>
              <a:rPr/>
              <a:t>In code: </a:t>
            </a:r>
            <a:r>
              <a:rPr>
                <a:latin typeface="Courier"/>
              </a:rPr>
              <a:t>FunctionTransformer(add_total_paid)</a:t>
            </a:r>
            <a:r>
              <a:rPr/>
              <a:t>, inside the pipeline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why scale, 24-27</a:t>
                      </a:r>
                    </a:p>
                  </a:txBody>
                </a:tc>
                <a:tc>
                  <a:txBody>
                    <a:bodyPr/>
                    <a:lstStyle/>
                    <a:p>
                      <a:pPr lvl="0" indent="0" marL="0">
                        <a:buNone/>
                      </a:pPr>
                      <a:r>
                        <a:rPr/>
                        <a:t>gradient descent by hand → ratio </a:t>
                      </a:r>
                      <a:r>
                        <a:rPr b="1"/>
                        <a:t>110:1</a:t>
                      </a:r>
                      <a:r>
                        <a:rPr/>
                        <a:t> (built as 100:1); rate </a:t>
                      </a:r>
                      <a:r>
                        <a:rPr b="1"/>
                        <a:t>2.0</a:t>
                      </a:r>
                      <a:r>
                        <a:rPr/>
                        <a:t> scaled, </a:t>
                      </a:r>
                      <a:r>
                        <a:rPr b="1"/>
                        <a:t>0.1</a:t>
                      </a:r>
                      <a:r>
                        <a:rPr/>
                        <a:t> raw; raw at 2.0 swings </a:t>
                      </a:r>
                      <a:r>
                        <a:rPr b="1"/>
                        <a:t>0.69 to 8.29</a:t>
                      </a:r>
                    </a:p>
                  </a:txBody>
                </a:tc>
              </a:tr>
              <a:tr h="0">
                <a:tc>
                  <a:txBody>
                    <a:bodyPr/>
                    <a:lstStyle/>
                    <a:p>
                      <a:pPr lvl="0" indent="0" marL="0">
                        <a:buNone/>
                      </a:pPr>
                      <a:r>
                        <a:rPr/>
                        <a:t>encoding, 28-33</a:t>
                      </a:r>
                    </a:p>
                  </a:txBody>
                </a:tc>
                <a:tc>
                  <a:txBody>
                    <a:bodyPr/>
                    <a:lstStyle/>
                    <a:p>
                      <a:pPr lvl="0" indent="0" marL="0">
                        <a:buNone/>
                      </a:pPr>
                      <a:r>
                        <a:rPr>
                          <a:latin typeface="Courier"/>
                        </a:rPr>
                        <a:t>pd.get_dummies</a:t>
                      </a:r>
                      <a:r>
                        <a:rPr/>
                        <a:t>, </a:t>
                      </a:r>
                      <a:r>
                        <a:rPr>
                          <a:latin typeface="Courier"/>
                        </a:rPr>
                        <a:t>np.linalg.matrix_rank</a:t>
                      </a:r>
                      <a:r>
                        <a:rPr/>
                        <a:t> → </a:t>
                      </a:r>
                      <a:r>
                        <a:rPr b="1"/>
                        <a:t>4 columns, rank 3</a:t>
                      </a:r>
                    </a:p>
                  </a:txBody>
                </a:tc>
              </a:tr>
              <a:tr h="0">
                <a:tc>
                  <a:txBody>
                    <a:bodyPr/>
                    <a:lstStyle/>
                    <a:p>
                      <a:pPr lvl="0" indent="0" marL="0">
                        <a:buNone/>
                      </a:pPr>
                      <a:r>
                        <a:rPr/>
                        <a:t>the pipeline, 36-38</a:t>
                      </a:r>
                    </a:p>
                  </a:txBody>
                </a:tc>
                <a:tc>
                  <a:txBody>
                    <a:bodyPr/>
                    <a:lstStyle/>
                    <a:p>
                      <a:pPr lvl="0" indent="0" marL="0">
                        <a:buNone/>
                      </a:pPr>
                      <a:r>
                        <a:rPr>
                          <a:latin typeface="Courier"/>
                        </a:rPr>
                        <a:t>train_test_split</a:t>
                      </a:r>
                      <a:r>
                        <a:rPr/>
                        <a:t>, then </a:t>
                      </a:r>
                      <a:r>
                        <a:rPr>
                          <a:latin typeface="Courier"/>
                        </a:rPr>
                        <a:t>ColumnTransformer</a:t>
                      </a:r>
                      <a:r>
                        <a:rPr/>
                        <a:t> + </a:t>
                      </a:r>
                      <a:r>
                        <a:rPr>
                          <a:latin typeface="Courier"/>
                        </a:rPr>
                        <a:t>Pipeline</a:t>
                      </a:r>
                      <a:r>
                        <a:rPr/>
                        <a:t>: </a:t>
                      </a:r>
                      <a:r>
                        <a:rPr>
                          <a:latin typeface="Courier"/>
                        </a:rPr>
                        <a:t>SimpleImputer</a:t>
                      </a:r>
                      <a:r>
                        <a:rPr/>
                        <a:t>, </a:t>
                      </a:r>
                      <a:r>
                        <a:rPr>
                          <a:latin typeface="Courier"/>
                        </a:rPr>
                        <a:t>StandardScaler</a:t>
                      </a:r>
                      <a:r>
                        <a:rPr/>
                        <a:t>, </a:t>
                      </a:r>
                      <a:r>
                        <a:rPr>
                          <a:latin typeface="Courier"/>
                        </a:rPr>
                        <a:t>OneHotEncoder</a:t>
                      </a:r>
                      <a:r>
                        <a:rPr/>
                        <a:t>, </a:t>
                      </a:r>
                      <a:r>
                        <a:rPr>
                          <a:latin typeface="Courier"/>
                        </a:rPr>
                        <a:t>LogisticRegression</a:t>
                      </a:r>
                    </a:p>
                  </a:txBody>
                </a:tc>
              </a:tr>
              <a:tr h="0">
                <a:tc>
                  <a:txBody>
                    <a:bodyPr/>
                    <a:lstStyle/>
                    <a:p>
                      <a:pPr lvl="0" indent="0" marL="0">
                        <a:buNone/>
                      </a:pPr>
                      <a:r>
                        <a:rPr/>
                        <a:t>the result, 39-40</a:t>
                      </a:r>
                    </a:p>
                  </a:txBody>
                </a:tc>
                <a:tc>
                  <a:txBody>
                    <a:bodyPr/>
                    <a:lstStyle/>
                    <a:p>
                      <a:pPr lvl="0" indent="0" marL="0">
                        <a:buNone/>
                      </a:pPr>
                      <a:r>
                        <a:rPr>
                          <a:latin typeface="Courier"/>
                        </a:rPr>
                        <a:t>DummyClassifier</a:t>
                      </a:r>
                      <a:r>
                        <a:rPr/>
                        <a:t>, </a:t>
                      </a:r>
                      <a:r>
                        <a:rPr>
                          <a:latin typeface="Courier"/>
                        </a:rPr>
                        <a:t>accuracy_score</a:t>
                      </a:r>
                      <a:r>
                        <a:rPr/>
                        <a:t>, </a:t>
                      </a:r>
                      <a:r>
                        <a:rPr>
                          <a:latin typeface="Courier"/>
                        </a:rPr>
                        <a:t>roc_auc_score</a:t>
                      </a:r>
                      <a:r>
                        <a:rPr/>
                        <a:t>, </a:t>
                      </a:r>
                      <a:r>
                        <a:rPr>
                          <a:latin typeface="Courier"/>
                        </a:rPr>
                        <a:t>ConfusionMatrixDisplay</a:t>
                      </a:r>
                    </a:p>
                  </a:txBody>
                </a:tc>
              </a:tr>
              <a:tr h="0">
                <a:tc>
                  <a:txBody>
                    <a:bodyPr/>
                    <a:lstStyle/>
                    <a:p>
                      <a:pPr lvl="0" indent="0" marL="0">
                        <a:buNone/>
                      </a:pPr>
                      <a:r>
                        <a:rPr/>
                        <a:t>feature engineering, 41</a:t>
                      </a:r>
                    </a:p>
                  </a:txBody>
                </a:tc>
                <a:tc>
                  <a:txBody>
                    <a:bodyPr/>
                    <a:lstStyle/>
                    <a:p>
                      <a:pPr lvl="0" indent="0" marL="0">
                        <a:buNone/>
                      </a:pPr>
                      <a:r>
                        <a:rPr>
                          <a:latin typeface="Courier"/>
                        </a:rPr>
                        <a:t>FunctionTransformer</a:t>
                      </a:r>
                      <a:r>
                        <a:rPr/>
                        <a:t> → </a:t>
                      </a:r>
                      <a:r>
                        <a:rPr b="1"/>
                        <a:t>0.7514 → 0.7548 → 0.7439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with the average of the five most similar rows: its </a:t>
            </a:r>
            <a:r>
              <a:rPr b="1"/>
              <a:t>donors</a:t>
            </a:r>
            <a:r>
              <a:rPr/>
              <a:t>.</a:t>
            </a:r>
          </a:p>
          <a:p>
            <a:pPr lvl="0" indent="0" marL="0">
              <a:buNone/>
            </a:pPr>
            <a:r>
              <a:rPr/>
              <a:t>Fit it on training and test rows together, and some donors are test rows: test information enters the training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In code: </a:t>
            </a:r>
            <a:r>
              <a:rPr>
                <a:latin typeface="Courier"/>
              </a:rPr>
              <a:t>nan_euclidean_distances</a:t>
            </a:r>
            <a:r>
              <a:rPr/>
              <a:t>, the distance the imputer itself uses, finds the donors.</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909780" y="1166099"/>
            <a:ext cx="7324439"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on all 2,000 customers, before the split.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of its own label a row sees</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inside the pipeline.</a:t>
            </a:r>
          </a:p>
          <a:p>
            <a:pPr lvl="0" indent="0" marL="0">
              <a:buNone/>
            </a:pPr>
            <a:r>
              <a:rPr/>
              <a:t>It splits the training rows into five parts and encodes each row from the </a:t>
            </a:r>
            <a:r>
              <a:rPr b="1"/>
              <a:t>other four</a:t>
            </a:r>
            <a:r>
              <a:rPr/>
              <a:t>: never from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is fitted on the training rows only, inside the pipeline.</a:t>
            </a:r>
          </a:p>
          <a:p>
            <a:pPr lvl="0" indent="0" marL="0">
              <a:buNone/>
            </a:pPr>
            <a:r>
              <a:rPr/>
              <a:t>For example: a mean, a median, the nearest neighbours, a churn rate per category, the edges of bins.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leak, and its slides</a:t>
                      </a:r>
                    </a:p>
                  </a:txBody>
                  <a:tcPr/>
                </a:tc>
                <a:tc>
                  <a:txBody>
                    <a:bodyPr/>
                    <a:lstStyle/>
                    <a:p>
                      <a:pPr lvl="0" indent="0" marL="0">
                        <a:buNone/>
                      </a:pPr>
                      <a:r>
                        <a:rPr/>
                        <a:t>you call → what it shows</a:t>
                      </a:r>
                    </a:p>
                  </a:txBody>
                  <a:tcPr/>
                </a:tc>
              </a:tr>
              <a:tr h="0">
                <a:tc>
                  <a:txBody>
                    <a:bodyPr/>
                    <a:lstStyle/>
                    <a:p>
                      <a:pPr lvl="0" indent="0" marL="0">
                        <a:buNone/>
                      </a:pPr>
                      <a:r>
                        <a:rPr/>
                        <a:t>imputation, 44-46</a:t>
                      </a:r>
                    </a:p>
                  </a:txBody>
                </a:tc>
                <a:tc>
                  <a:txBody>
                    <a:bodyPr/>
                    <a:lstStyle/>
                    <a:p>
                      <a:pPr lvl="0" indent="0" marL="0">
                        <a:buNone/>
                      </a:pPr>
                      <a:r>
                        <a:rPr>
                          <a:latin typeface="Courier"/>
                        </a:rPr>
                        <a:t>KNNImputer</a:t>
                      </a:r>
                      <a:r>
                        <a:rPr/>
                        <a:t> fitted on every row; </a:t>
                      </a:r>
                      <a:r>
                        <a:rPr>
                          <a:latin typeface="Courier"/>
                        </a:rPr>
                        <a:t>nan_euclidean_distances</a:t>
                      </a:r>
                      <a:r>
                        <a:rPr/>
                        <a:t>, its own metric, names the donors → </a:t>
                      </a:r>
                      <a:r>
                        <a:rPr b="1"/>
                        <a:t>94 of 128</a:t>
                      </a:r>
                    </a:p>
                  </a:txBody>
                </a:tc>
              </a:tr>
              <a:tr h="0">
                <a:tc>
                  <a:txBody>
                    <a:bodyPr/>
                    <a:lstStyle/>
                    <a:p>
                      <a:pPr lvl="0" indent="0" marL="0">
                        <a:buNone/>
                      </a:pPr>
                      <a:r>
                        <a:rPr/>
                        <a:t>encoding, 47-50</a:t>
                      </a:r>
                    </a:p>
                  </a:txBody>
                </a:tc>
                <a:tc>
                  <a:txBody>
                    <a:bodyPr/>
                    <a:lstStyle/>
                    <a:p>
                      <a:pPr lvl="0" indent="0" marL="0">
                        <a:buNone/>
                      </a:pPr>
                      <a:r>
                        <a:rPr/>
                        <a:t>churn rate per </a:t>
                      </a:r>
                      <a:r>
                        <a:rPr>
                          <a:latin typeface="Courier"/>
                        </a:rPr>
                        <a:t>zip_code</a:t>
                      </a:r>
                      <a:r>
                        <a:rPr/>
                        <a:t>, before </a:t>
                      </a:r>
                      <a:r>
                        <a:rPr>
                          <a:latin typeface="Courier"/>
                        </a:rPr>
                        <a:t>train_test_split</a:t>
                      </a:r>
                      <a:r>
                        <a:rPr/>
                        <a:t> → AUC </a:t>
                      </a:r>
                      <a:r>
                        <a:rPr b="1"/>
                        <a:t>0.891</a:t>
                      </a:r>
                      <a:r>
                        <a:rPr/>
                        <a:t> from a column with no signal</a:t>
                      </a:r>
                    </a:p>
                  </a:txBody>
                </a:tc>
              </a:tr>
              <a:tr h="0">
                <a:tc>
                  <a:txBody>
                    <a:bodyPr/>
                    <a:lstStyle/>
                    <a:p>
                      <a:pPr lvl="0" indent="0" marL="0">
                        <a:buNone/>
                      </a:pPr>
                      <a:r>
                        <a:rPr/>
                        <a:t>the fix, 51</a:t>
                      </a:r>
                    </a:p>
                  </a:txBody>
                </a:tc>
                <a:tc>
                  <a:txBody>
                    <a:bodyPr/>
                    <a:lstStyle/>
                    <a:p>
                      <a:pPr lvl="0" indent="0" marL="0">
                        <a:buNone/>
                      </a:pPr>
                      <a:r>
                        <a:rPr>
                          <a:latin typeface="Courier"/>
                        </a:rPr>
                        <a:t>TargetEncoder</a:t>
                      </a:r>
                      <a:r>
                        <a:rPr/>
                        <a:t> inside the </a:t>
                      </a:r>
                      <a:r>
                        <a:rPr>
                          <a:latin typeface="Courier"/>
                        </a:rPr>
                        <a:t>ColumnTransformer</a:t>
                      </a:r>
                      <a:r>
                        <a:rPr/>
                        <a:t> → the honest </a:t>
                      </a:r>
                      <a:r>
                        <a:rPr b="1"/>
                        <a:t>0.751</a:t>
                      </a:r>
                    </a:p>
                  </a:txBody>
                </a:tc>
              </a:tr>
              <a:tr h="0">
                <a:tc>
                  <a:txBody>
                    <a:bodyPr/>
                    <a:lstStyle/>
                    <a:p>
                      <a:pPr lvl="0" indent="0" marL="0">
                        <a:buNone/>
                      </a:pPr>
                      <a:r>
                        <a:rPr/>
                        <a:t>your own split</a:t>
                      </a:r>
                    </a:p>
                  </a:txBody>
                </a:tc>
                <a:tc>
                  <a:txBody>
                    <a:bodyPr/>
                    <a:lstStyle/>
                    <a:p>
                      <a:pPr lvl="0" indent="0" marL="0">
                        <a:buNone/>
                      </a:pPr>
                      <a:r>
                        <a:rPr>
                          <a:latin typeface="Courier"/>
                        </a:rPr>
                        <a:t>clone</a:t>
                      </a:r>
                      <a:r>
                        <a:rPr/>
                        <a:t> both models, refit on a split of your own</a:t>
                      </a:r>
                    </a:p>
                  </a:txBody>
                </a:tc>
              </a:tr>
              <a:tr h="0">
                <a:tc>
                  <a:txBody>
                    <a:bodyPr/>
                    <a:lstStyle/>
                    <a:p>
                      <a:pPr lvl="0" indent="0" marL="0">
                        <a:buNone/>
                      </a:pPr>
                      <a:r>
                        <a:rPr/>
                        <a:t>scored with</a:t>
                      </a:r>
                    </a:p>
                  </a:txBody>
                </a:tc>
                <a:tc>
                  <a:txBody>
                    <a:bodyPr/>
                    <a:lstStyle/>
                    <a:p>
                      <a:pPr lvl="0" indent="0" marL="0">
                        <a:buNone/>
                      </a:pPr>
                      <a:r>
                        <a:rPr>
                          <a:latin typeface="Courier"/>
                        </a:rPr>
                        <a:t>roc_auc_score</a:t>
                      </a:r>
                      <a:r>
                        <a:rPr/>
                        <a:t> throughout</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raise no error and look like good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it has the derivations behind today’s slides</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