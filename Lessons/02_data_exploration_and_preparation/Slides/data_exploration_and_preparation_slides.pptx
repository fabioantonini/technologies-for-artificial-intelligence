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figure already existed in the notebook and is the reason the next forty minutes happen: monthly_charges is bimodal, tenure is nearly uniform, age is skewed and has a gap. Ask what each shape implies before moving on - a bimodal column usually means two populations mixed together.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any mathematics. Ask: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Left: the two features have different spreads, so the cost surface is a narrow ravine - steep across, almost flat along. One step size has to serve both. Long enough to advance along the flat direction and it overshoots the steep one and bounces from wall to wall; short enough to be safe on the steep one and it crawls along the flat one.</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0.752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98 of 128. Not an edge case - the substantial majority of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Ninety-eight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Three quarters of the affected training rows had a test row among the five neighbours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48931" y="3034665"/>
            <a:ext cx="6246137"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 only if few, and only if MCAR</a:t>
            </a:r>
          </a:p>
          <a:p>
            <a:pPr lvl="0"/>
            <a:r>
              <a:rPr b="1"/>
              <a:t>Drop the column</a:t>
            </a:r>
            <a:r>
              <a:rPr/>
              <a:t> — if it is missing too often to help</a:t>
            </a:r>
          </a:p>
          <a:p>
            <a:pPr lvl="0"/>
            <a:r>
              <a:rPr b="1"/>
              <a:t>Impute</a:t>
            </a:r>
            <a:r>
              <a:rPr/>
              <a:t> — mean/median, most-frequent, </a:t>
            </a:r>
            <a:r>
              <a:rPr>
                <a:latin typeface="Courier"/>
              </a:rPr>
              <a:t>KNNImputer</a:t>
            </a:r>
          </a:p>
          <a:p>
            <a:pPr lvl="0"/>
            <a:r>
              <a:rPr b="1"/>
              <a:t>Add a missingness indicator</a:t>
            </a:r>
            <a:r>
              <a:rPr/>
              <a:t> —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Two standard rules for flagging an unusual value — the z-score, and Tukey’s fence built on the interquartile range (IQR):</a:t>
            </a:r>
          </a:p>
        </p:txBody>
      </p:sp>
      <p:pic>
        <p:nvPicPr>
          <p:cNvPr descr="eq_362884ef2b.png" id="0" name="Picture 1"/>
          <p:cNvPicPr>
            <a:picLocks noGrp="1" noChangeAspect="1"/>
          </p:cNvPicPr>
          <p:nvPr/>
        </p:nvPicPr>
        <p:blipFill>
          <a:blip r:embed="rId3"/>
          <a:stretch>
            <a:fillRect/>
          </a:stretch>
        </p:blipFill>
        <p:spPr bwMode="auto">
          <a:xfrm>
            <a:off x="457207" y="3275271"/>
            <a:ext cx="8229586" cy="573205"/>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 on a normal column</a:t>
            </a:r>
          </a:p>
        </p:txBody>
      </p:sp>
      <p:pic>
        <p:nvPicPr>
          <p:cNvPr descr="outlier_fences.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 a different question entirely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 unusual is not the same as wrong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 from scratch.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0–72. </a:t>
            </a:r>
            <a:r>
              <a:rPr>
                <a:latin typeface="Courier"/>
              </a:rPr>
              <a:t>monthly_charges</a:t>
            </a:r>
            <a:r>
              <a:rPr/>
              <a:t>: 15–128.</a:t>
            </a:r>
          </a:p>
          <a:p>
            <a:pPr lvl="0" indent="0" marL="0">
              <a:buNone/>
            </a:pPr>
            <a:r>
              <a:rPr/>
              <a:t>Gradient descent takes </a:t>
            </a:r>
            <a:r>
              <a:rPr b="1"/>
              <a:t>one step size, along every axis, every iteration.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93621" y="1166099"/>
            <a:ext cx="6556757"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 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low-card categorical, no zip): </a:t>
            </a:r>
            <a:r>
              <a:rPr b="1"/>
              <a:t>0.820</a:t>
            </a:r>
            <a:r>
              <a:rPr/>
              <a:t> accuracy, </a:t>
            </a:r>
            <a:r>
              <a:rPr b="1"/>
              <a:t>0.752</a:t>
            </a:r>
            <a:r>
              <a:rPr/>
              <a:t> AUC — area under the receiver operating characteristic curve</a:t>
            </a:r>
          </a:p>
          <a:p>
            <a:pPr lvl="0" indent="0" marL="0">
              <a:buNone/>
            </a:pPr>
            <a:r>
              <a:rPr/>
              <a:t>Modest accuracy gain. Why?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0" y="1182489"/>
            <a:ext cx="8229600" cy="33274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 cross-fitted inside the pipeline.</a:t>
            </a:r>
          </a:p>
          <a:p>
            <a:pPr lvl="0" indent="0" marL="0">
              <a:buNone/>
            </a:pPr>
            <a:r>
              <a:rPr/>
              <a:t>Each row’s encoded value comes from </a:t>
            </a:r>
            <a:r>
              <a:rPr b="1"/>
              <a:t>other</a:t>
            </a:r>
            <a:r>
              <a:rPr/>
              <a:t> folds, never its own label.</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 all inside </a:t>
            </a:r>
            <a:r>
              <a:rPr>
                <a:latin typeface="Courier"/>
              </a:rPr>
              <a:t>Pipeline</a:t>
            </a:r>
          </a:p>
          <a:p>
            <a:pPr lvl="0"/>
            <a:r>
              <a:rPr/>
              <a:t>Two leaks that look nothing like leaking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 the derivations are examinable</a:t>
            </a:r>
          </a:p>
          <a:p>
            <a:pPr lvl="0"/>
            <a:r>
              <a:rPr/>
              <a:t>Take the quiz</a:t>
            </a:r>
          </a:p>
          <a:p>
            <a:pPr lvl="0"/>
            <a:r>
              <a:rPr b="1"/>
              <a:t>Do the exercise</a:t>
            </a:r>
          </a:p>
          <a:p>
            <a:pPr lvl="0" indent="0" marL="0">
              <a:buNone/>
            </a:pPr>
            <a:r>
              <a:rPr/>
              <a:t>Next: regression —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Data: Exploration and Preparation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