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Ask for a show of hands: who treated quality as binary, who kept it as an integer regression problem? Both are defensible if justified; that was the whole point of Task 1.</a:t>
            </a:r>
          </a:p>
          <a:p>
            <a:pPr lvl="0" indent="0" marL="0">
              <a:buNone/>
            </a:pPr>
          </a:p>
          <a:p>
            <a:pPr lvl="0" indent="0" marL="0">
              <a:buNone/>
            </a:pPr>
            <a:r>
              <a:rPr/>
              <a:t>Do not dwell. The purpose of raising it is continuity, not grading feedback - say that detailed feedback comes separately, and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 In 2,000 normal values that is about 5 points against about 14.</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 to 171.3, dragging the z-score fence from 115 out to 593.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 to 17, four paying 112 to 128, outside fences of 17.3 and 110.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22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problem before any mathematics. Ask: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Left: the two features have different spreads, so the cost surface is a narrow ravine - steep across, almost flat along. One step size has to serve both. Long enough to advance along the flat direction and it overshoots the steep one and bounces from wall to wall; short enough to be safe on the steep one and it crawls along the flat one.</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slide as the sentence it is: one-hot encode all k categories AND fit an intercept, and this identity holds for every single row.</a:t>
            </a:r>
          </a:p>
          <a:p>
            <a:pPr lvl="0" indent="0" marL="0">
              <a:buNone/>
            </a:pPr>
          </a:p>
          <a:p>
            <a:pPr lvl="0" indent="0" marL="0">
              <a:buNone/>
            </a:pPr>
            <a:r>
              <a:rPr/>
              <a:t>The k dummy columns always sum to the intercept column, so they are not independent of it: the design matrix loses rank, and the normal equation has no unique solution.</a:t>
            </a:r>
          </a:p>
          <a:p>
            <a:pPr lvl="0" indent="0" marL="0">
              <a:buNone/>
            </a:pPr>
          </a:p>
          <a:p>
            <a:pPr lvl="0" indent="0" marL="0">
              <a:buNone/>
            </a:pPr>
            <a:r>
              <a:rPr/>
              <a:t>Stress that this is not a numerical inconvenience but an identifiability problem. There are infinitely many coefficient vectors that fit equally well, because you can add a constant to every dummy coefficient and subtract it from the intercept without changing a single prediction.</a:t>
            </a:r>
          </a:p>
          <a:p>
            <a:pPr lvl="0" indent="0" marL="0">
              <a:buNone/>
            </a:pPr>
          </a:p>
          <a:p>
            <a:pPr lvl="0" indent="0" marL="0">
              <a:buNone/>
            </a:pPr>
            <a:r>
              <a:rPr/>
              <a:t>Handout Section 6.1 has the proof; notebook 2 confirms it directly with matrix_rank, which is the version they will believe. The next slide shows it as arithmetic.</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number: the rank is short by exactly one, not by an arbitrary amount. That is the signature of a single linear dependence - the sum of the dummies equalling the intercept - rather than of general collinearity.</a:t>
            </a:r>
          </a:p>
          <a:p>
            <a:pPr lvl="0" indent="0" marL="0">
              <a:buNone/>
            </a:pPr>
          </a:p>
          <a:p>
            <a:pPr lvl="0" indent="0" marL="0">
              <a:buNone/>
            </a:pPr>
            <a:r>
              <a:rPr/>
              <a:t>The fix is OneHotEncoder(drop=“first”). The dropped category becomes the reference level, absorbed into the intercept: no information is lost, and full rank is restored.</a:t>
            </a:r>
          </a:p>
          <a:p>
            <a:pPr lvl="0" indent="0" marL="0">
              <a:buNone/>
            </a:pPr>
          </a:p>
          <a:p>
            <a:pPr lvl="0" indent="0" marL="0">
              <a:buNone/>
            </a:pPr>
            <a:r>
              <a:rPr/>
              <a:t>Two caveats worth saying. Tree-based models (Lesson 7) do not need this, because they never invert a design matrix. And regularised models tolerate the rank deficiency, because the penalty term picks one solution out of the infinitely many - which is a good early illustration of what regularisation actually does, and we return to it in Lesson 3.</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encodings of one column, and each makes a different claim.</a:t>
            </a:r>
          </a:p>
          <a:p>
            <a:pPr lvl="0" indent="0" marL="0">
              <a:buNone/>
            </a:pPr>
          </a:p>
          <a:p>
            <a:pPr lvl="0" indent="0" marL="0">
              <a:buNone/>
            </a:pPr>
            <a:r>
              <a:rPr/>
              <a:t>Ordinal claims the categories are equally spaced on a line - fine for small/medium/large, wrong for region. One-hot claims nothing at all, which is why it is the default, and costs k columns: 493 for zip code on 2000 rows. Target claims each category is summarised by its own churn rate, which is compact and, as the next section shows, computed from the labels.</a:t>
            </a:r>
          </a:p>
          <a:p>
            <a:pPr lvl="0" indent="0" marL="0">
              <a:buNone/>
            </a:pPr>
          </a:p>
          <a:p>
            <a:pPr lvl="0" indent="0" marL="0">
              <a:buNone/>
            </a:pPr>
            <a:r>
              <a:rPr/>
              <a:t>The question to leave them with: which claim is true for THIS column? It is a domain question, not a technical one.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column under all three schemes, and each makes a different claim about the world.</a:t>
            </a:r>
          </a:p>
          <a:p>
            <a:pPr lvl="0" indent="0" marL="0">
              <a:buNone/>
            </a:pPr>
          </a:p>
          <a:p>
            <a:pPr lvl="0" indent="0" marL="0">
              <a:buNone/>
            </a:pPr>
            <a:r>
              <a:rPr/>
              <a:t>Ordinal claims the categories are equally spaced along a line - fine for small/medium/large, wrong for region, and the model has no way to tell you it was the wrong claim.</a:t>
            </a:r>
          </a:p>
          <a:p>
            <a:pPr lvl="0" indent="0" marL="0">
              <a:buNone/>
            </a:pPr>
          </a:p>
          <a:p>
            <a:pPr lvl="0" indent="0" marL="0">
              <a:buNone/>
            </a:pPr>
            <a:r>
              <a:rPr/>
              <a:t>One-hot claims nothing at all, which is why it is the default, and pays for that neutrality in columns: 493 of them for zip code, on 2000 rows.</a:t>
            </a:r>
          </a:p>
          <a:p>
            <a:pPr lvl="0" indent="0" marL="0">
              <a:buNone/>
            </a:pPr>
          </a:p>
          <a:p>
            <a:pPr lvl="0" indent="0" marL="0">
              <a:buNone/>
            </a:pPr>
            <a:r>
              <a:rPr/>
              <a:t>Target claims each category is summarised by its own churn rate. Compact, effective - and computed from the labels, which is where the next section begins.</a:t>
            </a:r>
          </a:p>
          <a:p>
            <a:pPr lvl="0" indent="0" marL="0">
              <a:buNone/>
            </a:pPr>
          </a:p>
          <a:p>
            <a:pPr lvl="0" indent="0" marL="0">
              <a:buNone/>
            </a:pPr>
            <a:r>
              <a:rPr/>
              <a:t>The question to leave with them: which claim is true for THIS column? That is a domain question, not a technical one, and no cross-validation score will answer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let anyone in the room call two thousandths a win, and do not call it one yourself. It is a legitimate result, not a failed experiment - the hypothesis that cost intensity matters here was reasonable, it was tested, and the data declined it. Feature engineering is a hypothesis about the domain, not a guarantee. Handout Section 7.</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and the +1 rather than skating over them, because someone will ask. tenure_months holds zeros and, before Section 4’s domain rule, a -3: divide by it raw and you get an infinity and a sign flip.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ratio)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Let them work; circulate.</a:t>
            </a:r>
          </a:p>
          <a:p>
            <a:pPr lvl="0" indent="0" marL="0">
              <a:buNone/>
            </a:pPr>
          </a:p>
          <a:p>
            <a:pPr lvl="0" indent="0" marL="0">
              <a:buNone/>
            </a:pPr>
            <a:r>
              <a:rPr/>
              <a:t>The gradient descent toy is worth running interactively - change the variance ratio live and watch the iteration count move, per the handout’s “try this”. It makes the condition number argument concrete in a way the derivation alone does not.</a:t>
            </a:r>
          </a:p>
          <a:p>
            <a:pPr lvl="0" indent="0" marL="0">
              <a:buNone/>
            </a:pPr>
          </a:p>
          <a:p>
            <a:pPr lvl="0" indent="0" marL="0">
              <a:buNone/>
            </a:pPr>
            <a:r>
              <a:rPr/>
              <a:t>If the room is moving fast, the ColumnTransformer section is where to slow down: it is the piece they will reuse in every exercise and in the project, and getting the column selectors right is fiddlier than it looks.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both leaks inflate the score, neither raises an error, and both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give the deadline - Friday 9 October, 09:00, at the start of Lesson 3.</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 Id="rId3"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 Id="rId3"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due at the start of today’s lesson.</a:t>
            </a:r>
          </a:p>
          <a:p>
            <a:pPr lvl="0"/>
            <a:r>
              <a:rPr/>
              <a:t>The wine-quality workflow, end to end</a:t>
            </a:r>
          </a:p>
          <a:p>
            <a:pPr lvl="0"/>
            <a:r>
              <a:rPr/>
              <a:t>Marked on </a:t>
            </a:r>
            <a:r>
              <a:rPr b="1"/>
              <a:t>methodology</a:t>
            </a:r>
            <a:r>
              <a:rPr/>
              <a:t>, not on accuracy</a:t>
            </a:r>
          </a:p>
          <a:p>
            <a:pPr lvl="0"/>
            <a:r>
              <a:rPr/>
              <a:t>We will look at a few submissions’ framing choices in a moment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of these four have no shape left to read</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most-frequent, </a:t>
            </a:r>
            <a:r>
              <a:rPr>
                <a:latin typeface="Courier"/>
              </a:rPr>
              <a:t>KNNImputer</a:t>
            </a:r>
          </a:p>
          <a:p>
            <a:pPr lvl="0"/>
            <a:r>
              <a:rPr b="1"/>
              <a:t>Add a missingness indicator</a:t>
            </a:r>
            <a:r>
              <a:rPr/>
              <a:t>: keeps MAR signal alive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distance measured in quartiles</a:t>
            </a:r>
          </a:p>
        </p:txBody>
      </p:sp>
      <p:pic>
        <p:nvPicPr>
          <p:cNvPr descr="eq_f508402a31.png" id="0" name="Picture 1"/>
          <p:cNvPicPr>
            <a:picLocks noGrp="1" noChangeAspect="1"/>
          </p:cNvPicPr>
          <p:nvPr/>
        </p:nvPicPr>
        <p:blipFill>
          <a:blip r:embed="rId3"/>
          <a:stretch>
            <a:fillRect/>
          </a:stretch>
        </p:blipFill>
        <p:spPr bwMode="auto">
          <a:xfrm>
            <a:off x="457200" y="2484239"/>
            <a:ext cx="8229600" cy="723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neighbourhood, not the same answer</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robust rule is the one that got it wrong</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(Winsorise)</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from scratch.</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0–72. </a:t>
            </a:r>
            <a:r>
              <a:rPr>
                <a:latin typeface="Courier"/>
              </a:rPr>
              <a:t>monthly_charges</a:t>
            </a:r>
            <a:r>
              <a:rPr/>
              <a:t>: 15–128.</a:t>
            </a:r>
          </a:p>
          <a:p>
            <a:pPr lvl="0" indent="0" marL="0">
              <a:buNone/>
            </a:pPr>
            <a:r>
              <a:rPr/>
              <a:t>Gradient descent takes </a:t>
            </a:r>
            <a:r>
              <a:rPr b="1"/>
              <a:t>one step size, along every axis, every iteration.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99914" y="1166099"/>
            <a:ext cx="6544172"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All k dummies plus an intercept cannot both be free</a:t>
            </a:r>
          </a:p>
        </p:txBody>
      </p:sp>
      <p:pic>
        <p:nvPicPr>
          <p:cNvPr descr="eq_3723e214d0.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vs target encoding</a:t>
            </a:r>
          </a:p>
        </p:txBody>
      </p:sp>
      <p:sp>
        <p:nvSpPr>
          <p:cNvPr id="3" name="Content Placeholder 2"/>
          <p:cNvSpPr>
            <a:spLocks noGrp="1"/>
          </p:cNvSpPr>
          <p:nvPr>
            <p:ph idx="1" sz="half"/>
          </p:nvPr>
        </p:nvSpPr>
        <p:spPr>
          <a:xfrm>
            <a:off x="457200" y="1200151"/>
            <a:ext cx="4038600" cy="3394472"/>
          </a:xfrm>
        </p:spPr>
        <p:txBody>
          <a:bodyPr/>
          <a:lstStyle/>
          <a:p>
            <a:pPr lvl="0" indent="0" marL="0">
              <a:buNone/>
            </a:pPr>
            <a:r>
              <a:rPr b="1"/>
              <a:t>Ordinal</a:t>
            </a:r>
          </a:p>
          <a:p>
            <a:pPr lvl="0"/>
            <a:r>
              <a:rPr/>
              <a:t>Categories → integers</a:t>
            </a:r>
          </a:p>
          <a:p>
            <a:pPr lvl="0"/>
            <a:r>
              <a:rPr/>
              <a:t>Only valid if a real </a:t>
            </a:r>
            <a:r>
              <a:rPr b="1"/>
              <a:t>order</a:t>
            </a:r>
            <a:r>
              <a:rPr/>
              <a:t> exists</a:t>
            </a:r>
          </a:p>
          <a:p>
            <a:pPr lvl="0"/>
            <a:r>
              <a:rPr>
                <a:latin typeface="Courier"/>
              </a:rPr>
              <a:t>low</a:t>
            </a:r>
            <a:r>
              <a:rPr/>
              <a:t> &lt; </a:t>
            </a:r>
            <a:r>
              <a:rPr>
                <a:latin typeface="Courier"/>
              </a:rPr>
              <a:t>medium</a:t>
            </a:r>
            <a:r>
              <a:rPr/>
              <a:t> &lt; </a:t>
            </a:r>
            <a:r>
              <a:rPr>
                <a:latin typeface="Courier"/>
              </a:rPr>
              <a:t>high</a:t>
            </a:r>
          </a:p>
        </p:txBody>
      </p:sp>
      <p:sp>
        <p:nvSpPr>
          <p:cNvPr id="4" name="Content Placeholder 3"/>
          <p:cNvSpPr>
            <a:spLocks noGrp="1"/>
          </p:cNvSpPr>
          <p:nvPr>
            <p:ph idx="2" sz="half"/>
          </p:nvPr>
        </p:nvSpPr>
        <p:spPr>
          <a:xfrm>
            <a:off x="4648200" y="1200151"/>
            <a:ext cx="4038600" cy="3394472"/>
          </a:xfrm>
        </p:spPr>
        <p:txBody>
          <a:bodyPr/>
          <a:lstStyle/>
          <a:p>
            <a:pPr lvl="0" indent="0" marL="0">
              <a:buNone/>
            </a:pPr>
            <a:r>
              <a:rPr b="1"/>
              <a:t>Target</a:t>
            </a:r>
          </a:p>
          <a:p>
            <a:pPr lvl="0"/>
            <a:r>
              <a:rPr/>
              <a:t>Category → a statistic of y</a:t>
            </a:r>
          </a:p>
          <a:p>
            <a:pPr lvl="0"/>
            <a:r>
              <a:rPr/>
              <a:t>Compresses any cardinality to one column</a:t>
            </a:r>
          </a:p>
          <a:p>
            <a:pPr lvl="0"/>
            <a:r>
              <a:rPr/>
              <a:t>The dangerous one comes next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encodings, three claims</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levels</a:t>
            </a:r>
          </a:p>
        </p:txBody>
      </p:sp>
      <p:pic>
        <p:nvPicPr>
          <p:cNvPr descr="onehot_width.png" id="0" name="Picture 1"/>
          <p:cNvPicPr>
            <a:picLocks noGrp="1" noChangeAspect="1"/>
          </p:cNvPicPr>
          <p:nvPr/>
        </p:nvPicPr>
        <p:blipFill>
          <a:blip r:embed="rId3"/>
          <a:stretch>
            <a:fillRect/>
          </a:stretch>
        </p:blipFill>
        <p:spPr bwMode="auto">
          <a:xfrm>
            <a:off x="457200" y="1493639"/>
            <a:ext cx="8229600" cy="27051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4c26f16b0d.png" id="0" name="Picture 1"/>
          <p:cNvPicPr>
            <a:picLocks noGrp="1" noChangeAspect="1"/>
          </p:cNvPicPr>
          <p:nvPr/>
        </p:nvPicPr>
        <p:blipFill>
          <a:blip r:embed="rId3"/>
          <a:stretch>
            <a:fillRect/>
          </a:stretch>
        </p:blipFill>
        <p:spPr bwMode="auto">
          <a:xfrm>
            <a:off x="457207" y="3056672"/>
            <a:ext cx="8229586" cy="573205"/>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the low-cardinality categoricals, no zip): </a:t>
            </a:r>
            <a:r>
              <a:rPr b="1"/>
              <a:t>0.820</a:t>
            </a:r>
            <a:r>
              <a:rPr/>
              <a:t> accuracy, </a:t>
            </a:r>
            <a:r>
              <a:rPr b="1"/>
              <a:t>0.751</a:t>
            </a:r>
            <a:r>
              <a:rPr/>
              <a:t> AUC (area under the receiver operating characteristic curve)</a:t>
            </a:r>
          </a:p>
          <a:p>
            <a:pPr lvl="0" indent="0" marL="0">
              <a:buNone/>
            </a:pPr>
            <a:r>
              <a:rPr/>
              <a:t>Modest accuracy gain. Why?</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Feature engineering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Ratios, interactions, binning: a linear model cannot invent these itself. AUC: 0.751 → 0.754. </a:t>
            </a:r>
            <a:r>
              <a:rPr b="1"/>
              <a:t>Two thousandths: one split cannot tell that from noise.</a:t>
            </a:r>
          </a:p>
        </p:txBody>
      </p:sp>
      <p:pic>
        <p:nvPicPr>
          <p:cNvPr descr="eq_708e41c00f.png" id="0" name="Picture 1"/>
          <p:cNvPicPr>
            <a:picLocks noGrp="1" noChangeAspect="1"/>
          </p:cNvPicPr>
          <p:nvPr/>
        </p:nvPicPr>
        <p:blipFill>
          <a:blip r:embed="rId3"/>
          <a:stretch>
            <a:fillRect/>
          </a:stretch>
        </p:blipFill>
        <p:spPr bwMode="auto">
          <a:xfrm>
            <a:off x="457204" y="3183148"/>
            <a:ext cx="8229591" cy="75745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Scaling from scratch, the dummy trap, </a:t>
            </a:r>
            <a:r>
              <a:rPr>
                <a:latin typeface="Courier"/>
              </a:rPr>
              <a:t>ColumnTransformer</a:t>
            </a:r>
            <a:r>
              <a:rPr/>
              <a:t>, </a:t>
            </a:r>
            <a:r>
              <a:rPr>
                <a:latin typeface="Courier"/>
              </a:rPr>
              <a:t>Pipeline</a:t>
            </a:r>
            <a: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Nothing raised an error.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own disagreement, divided by your group size</a:t>
            </a:r>
          </a:p>
        </p:txBody>
      </p:sp>
      <p:pic>
        <p:nvPicPr>
          <p:cNvPr descr="eq_2274cba409.png" id="0" name="Picture 1"/>
          <p:cNvPicPr>
            <a:picLocks noGrp="1" noChangeAspect="1"/>
          </p:cNvPicPr>
          <p:nvPr/>
        </p:nvPicPr>
        <p:blipFill>
          <a:blip r:embed="rId3"/>
          <a:stretch>
            <a:fillRect/>
          </a:stretch>
        </p:blipFill>
        <p:spPr bwMode="auto">
          <a:xfrm>
            <a:off x="457200" y="1919089"/>
            <a:ext cx="8229600" cy="18542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cross-fitted inside the pipeline.</a:t>
            </a:r>
          </a:p>
          <a:p>
            <a:pPr lvl="0" indent="0" marL="0">
              <a:buNone/>
            </a:pPr>
            <a:r>
              <a:rPr/>
              <a:t>Each row’s encoded value comes from </a:t>
            </a:r>
            <a:r>
              <a:rPr b="1"/>
              <a:t>other</a:t>
            </a:r>
            <a:r>
              <a:rPr/>
              <a:t> folds, never its own label.</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9 October, 09:00</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