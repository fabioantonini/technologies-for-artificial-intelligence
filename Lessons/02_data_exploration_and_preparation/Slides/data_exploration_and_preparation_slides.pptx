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Ask for a show of hands: who treated quality as binary, who kept it as an integer regression problem? Both are defensible if justified; that was the whole point of Task 1.</a:t>
            </a:r>
          </a:p>
          <a:p>
            <a:pPr lvl="0" indent="0" marL="0">
              <a:buNone/>
            </a:pPr>
          </a:p>
          <a:p>
            <a:pPr lvl="0" indent="0" marL="0">
              <a:buNone/>
            </a:pPr>
            <a:r>
              <a:rPr/>
              <a:t>Do not dwell. The purpose of raising it is continuity, not grading feedback - say that detailed feedback comes separately, and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 a laugh at “999” and use it: nobody wrote a bug, somebody’s system recorded an impossible value and nothing caught it before it reached this table. That is the entire subject of Section 4, arriving early.</a:t>
            </a:r>
          </a:p>
          <a:p>
            <a:pPr lvl="0" indent="0" marL="0">
              <a:buNone/>
            </a:pPr>
          </a:p>
          <a:p>
            <a:pPr lvl="0" indent="0" marL="0">
              <a:buNone/>
            </a:pPr>
            <a:r>
              <a:rPr/>
              <a:t>State the baseline the way Lesson 1 insisted: 80.6% is what “always predict no churn” scores. Every later number is measured against that, not against zero.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probability of missing depends on nothing. A blank field for no systematic reason.</a:t>
            </a:r>
          </a:p>
          <a:p>
            <a:pPr lvl="0" indent="0" marL="0">
              <a:buNone/>
            </a:pPr>
          </a:p>
          <a:p>
            <a:pPr lvl="0" indent="0" marL="0">
              <a:buNone/>
            </a:pPr>
            <a:r>
              <a:rPr/>
              <a:t>MAR: depends on something you DO observe. Our num_support_calls is MAR against tenure - long-standing customers’ early call history predates the CRM system. Conditional on tenure, the gap carries no further information.</a:t>
            </a:r>
          </a:p>
          <a:p>
            <a:pPr lvl="0" indent="0" marL="0">
              <a:buNone/>
            </a:pPr>
          </a:p>
          <a:p>
            <a:pPr lvl="0" indent="0" marL="0">
              <a:buNone/>
            </a:pPr>
            <a:r>
              <a:rPr/>
              <a:t>MNAR: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3.2 derives this in full: replacing the missing p-fraction of X with its own mean shrinks Var(X) by (1-p) and Cov(X,Y) by (1-p) too, and the asymmetry between how variance and covariance enter the correlation ratio is where the square root comes from.</a:t>
            </a:r>
          </a:p>
          <a:p>
            <a:pPr lvl="0" indent="0" marL="0">
              <a:buNone/>
            </a:pPr>
          </a:p>
          <a:p>
            <a:pPr lvl="0" indent="0" marL="0">
              <a:buNone/>
            </a:pPr>
            <a:r>
              <a:rPr/>
              <a:t>Give the number: p=0.08 for our age column, attenuation factor √0.92 ≈ 0.96 - small. At p=0.4, it is √0.6 ≈ 0.77 - a genuine relationship substantially erased by a constant. The mechanism is identical either way; only the size changes.</a:t>
            </a:r>
          </a:p>
          <a:p>
            <a:pPr lvl="0" indent="0" marL="0">
              <a:buNone/>
            </a:pPr>
          </a:p>
          <a:p>
            <a:pPr lvl="0" indent="0" marL="0">
              <a:buNone/>
            </a:pPr>
            <a:r>
              <a:rPr/>
              <a:t>This is not an argument against imputation - dropping rows or columns has its own costs, covered in Section 3.3. It is an argument for knowing what you paid.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3.3. Four options, and the choice depends on the mechanism just covered - dropping rows under MAR or MNAR reweights the sample in a direction you may not intend, since the missing rows are not a random subsample.</a:t>
            </a:r>
          </a:p>
          <a:p>
            <a:pPr lvl="0" indent="0" marL="0">
              <a:buNone/>
            </a:pPr>
          </a:p>
          <a:p>
            <a:pPr lvl="0" indent="0" marL="0">
              <a:buNone/>
            </a:pPr>
            <a:r>
              <a:rPr/>
              <a:t>Whichever is chosen, flag the constraint that closes the loop back to Pipeline: the statistic used - a mean, a set of neighbours - is learned from data and must be learned from the training fold only. Section 9 is what happens when that is forgotten.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The z-score standardises and thresholds; Tukey’s rule fences off anything more than 1.5 interquartile ranges past the quartiles.</a:t>
            </a:r>
          </a:p>
          <a:p>
            <a:pPr lvl="0" indent="0" marL="0">
              <a:buNone/>
            </a:pPr>
          </a:p>
          <a:p>
            <a:pPr lvl="0" indent="0" marL="0">
              <a:buNone/>
            </a:pPr>
            <a:r>
              <a:rPr/>
              <a:t>Give the probabilistic reading of each, because it is what makes them more than recipes. Under normality, |z| &gt; 3 flags about 0.27% of a column. And the 1.5 is not arbitrary: for a normal column the IQR is 1.349 sigma, so the fence lands at 2.698 sigma and flags about 0.35% per tail. Tukey chose the constant precisely so the two rules agree on well-behaved data.</a:t>
            </a:r>
          </a:p>
          <a:p>
            <a:pPr lvl="0" indent="0" marL="0">
              <a:buNone/>
            </a:pPr>
          </a:p>
          <a:p>
            <a:pPr lvl="0" indent="0" marL="0">
              <a:buNone/>
            </a:pPr>
            <a:r>
              <a:rPr/>
              <a:t>That agreement is the setup for the next section. Both rules are calibrated on normality; the interesting question is what they do when the data is not normal, and that is where they part company.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 it is chosen so the IQR fence and a 3-sigma z-score fence flag comparable tails on a genuinely normal column. 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monthly_charges: z-score flags 20, IQR flags 32. The z-score rule’s own mean and standard deviation are dragged around by the outliers it is trying to catch - a handful of billing errors inflate s directly, making the rule LESS sensitive exactly when it should be more so. IQR barely moves under the same contamination. That is why IQR is the safer default for skewed, error-prone columns.</a:t>
            </a:r>
          </a:p>
          <a:p>
            <a:pPr lvl="0" indent="0" marL="0">
              <a:buNone/>
            </a:pPr>
          </a:p>
          <a:p>
            <a:pPr lvl="0" indent="0" marL="0">
              <a:buNone/>
            </a:pPr>
            <a:r>
              <a:rPr/>
              <a:t>tenure_months: only 4 flagged on the right panel, all at 999.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25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problem before the mathematics. Ask: if two features live on very different scales, can a single learning rate be right for both directions at once? Let the room reason about it before the derivation.</a:t>
            </a:r>
          </a:p>
          <a:p>
            <a:pPr lvl="0" indent="0" marL="0">
              <a:buNone/>
            </a:pPr>
          </a:p>
          <a:p>
            <a:pPr lvl="0" indent="0" marL="0">
              <a:buNone/>
            </a:pPr>
            <a:r>
              <a:rPr/>
              <a:t>Give them the concrete pair from the dataset: tenure runs 0 to 70, monthly charges 15 to 150. The variances differ by roughly an order of magnitude, and gradient descent takes one step size along every axis simultaneously.</a:t>
            </a:r>
          </a:p>
          <a:p>
            <a:pPr lvl="0" indent="0" marL="0">
              <a:buNone/>
            </a:pPr>
          </a:p>
          <a:p>
            <a:pPr lvl="0" indent="0" marL="0">
              <a:buNone/>
            </a:pPr>
            <a:r>
              <a:rPr/>
              <a:t>Handout Section 5.2 does it properly, and the punchline is worth previewing: the safe learning rate is set by the largest-variance feature, so progress along the smallest-variance direction is throttled by their ratio. The number of iterations scales with the condition number. Scaling is not cosmetic - it changes how long training takes, and sometimes whether it converges at all.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5.2, done exactly for linear regression’s quadratic cost and carried over qualitatively to logistic regression, whose Hessian has the same X-transpose-X structure weighted by p(1-p).</a:t>
            </a:r>
          </a:p>
          <a:p>
            <a:pPr lvl="0" indent="0" marL="0">
              <a:buNone/>
            </a:pPr>
          </a:p>
          <a:p>
            <a:pPr lvl="0" indent="0" marL="0">
              <a:buNone/>
            </a:pPr>
            <a:r>
              <a:rPr/>
              <a:t>The safe step size along axis j is roughly 2/σⱼ². One global learning rate is bounded by the LARGEST variance feature, which makes progress along the smallest-variance direction painfully slow. That ratio is the condition number κ = σ²max / σ²min, and standardising drives it towards 1.</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 it diverges. Same data, same starting point, one rate stable and one exploding.</a:t>
            </a:r>
          </a:p>
          <a:p>
            <a:pPr lvl="0" indent="0" marL="0">
              <a:buNone/>
            </a:pPr>
          </a:p>
          <a:p>
            <a:pPr lvl="0" indent="0" marL="0">
              <a:buNone/>
            </a:pPr>
            <a:r>
              <a:rPr/>
              <a:t>This is a controlled toy (notebook 2), built with exactly a 100:1 variance ratio so the effect is unambiguous - real churn features show the same direction of effect more mildly, since monthly_charges has roughly 3-4 times the spread of tenure_months, not 100 times.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k dummy columns always sum to the intercept column, so they are not independent of it: the design matrix loses rank, and the normal equation has no unique solution.</a:t>
            </a:r>
          </a:p>
          <a:p>
            <a:pPr lvl="0" indent="0" marL="0">
              <a:buNone/>
            </a:pPr>
          </a:p>
          <a:p>
            <a:pPr lvl="0" indent="0" marL="0">
              <a:buNone/>
            </a:pPr>
            <a:r>
              <a:rPr/>
              <a:t>Stress that this is not a numerical inconvenience but an identifiability problem. There are infinitely many coefficient vectors that fit equally well, because you can add a constant to every dummy coefficient and subtract it from the intercept without changing a single prediction.</a:t>
            </a:r>
          </a:p>
          <a:p>
            <a:pPr lvl="0" indent="0" marL="0">
              <a:buNone/>
            </a:pPr>
          </a:p>
          <a:p>
            <a:pPr lvl="0" indent="0" marL="0">
              <a:buNone/>
            </a:pPr>
            <a:r>
              <a:rPr/>
              <a:t>Handout Section 6.1 has the proof; notebook 2 confirms it directly with matrix_rank, which is the version they will believe. The next slide shows it as arithmetic.</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number: the rank is short by exactly one, not by an arbitrary amount. That is the signature of a single linear dependence - the sum of the dummies equalling the intercept - rather than of general collinearity.</a:t>
            </a:r>
          </a:p>
          <a:p>
            <a:pPr lvl="0" indent="0" marL="0">
              <a:buNone/>
            </a:pPr>
          </a:p>
          <a:p>
            <a:pPr lvl="0" indent="0" marL="0">
              <a:buNone/>
            </a:pPr>
            <a:r>
              <a:rPr/>
              <a:t>The fix is OneHotEncoder(drop=“first”). The dropped category becomes the reference level, absorbed into the intercept: no information is lost, and full rank is restored.</a:t>
            </a:r>
          </a:p>
          <a:p>
            <a:pPr lvl="0" indent="0" marL="0">
              <a:buNone/>
            </a:pPr>
          </a:p>
          <a:p>
            <a:pPr lvl="0" indent="0" marL="0">
              <a:buNone/>
            </a:pPr>
            <a:r>
              <a:rPr/>
              <a:t>Two caveats worth saying. Tree-based models (Lesson 7) do not need this, because they never invert a design matrix. And regularised models tolerate the rank deficiency, because the penalty term picks one solution out of the infinitely many - which is a good early illustration of what regularisation actually does, and we return to it in Lesson 3.</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Ordinal encoding on an unordered category (North=0, South=1) tells a model North and South are numerically closer than North and West - meaningless, and actively misleading for anything that uses the number arithmetically.</a:t>
            </a:r>
          </a:p>
          <a:p>
            <a:pPr lvl="0" indent="0" marL="0">
              <a:buNone/>
            </a:pPr>
          </a:p>
          <a:p>
            <a:pPr lvl="0" indent="0" marL="0">
              <a:buNone/>
            </a:pPr>
            <a:r>
              <a:rPr/>
              <a:t>Target encoding is why zip_code is tempting: 493 levels compressed to one predictive-looking column. Say directly: the temptation is exactly what makes it worth a whole section. 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numeric_pipe and categorical_pipe are the impute-then-transform pairs from the diagram; show the full definitions on screen in notebook 2 rather than here. 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this is the first time they meet it on data they have prepared themselves.</a:t>
            </a:r>
          </a:p>
          <a:p>
            <a:pPr lvl="0" indent="0" marL="0">
              <a:buNone/>
            </a:pPr>
          </a:p>
          <a:p>
            <a:pPr lvl="0" indent="0" marL="0">
              <a:buNone/>
            </a:pPr>
            <a:r>
              <a:rPr/>
              <a:t>AUC is unaffected by the imbalance, and at 0.752 it says the model is finding real signal that accuracy is hiding. Two numbers, two different stories about the same model.</a:t>
            </a:r>
          </a:p>
          <a:p>
            <a:pPr lvl="0" indent="0" marL="0">
              <a:buNone/>
            </a:pPr>
          </a:p>
          <a:p>
            <a:pPr lvl="0" indent="0" marL="0">
              <a:buNone/>
            </a:pPr>
            <a:r>
              <a:rPr/>
              <a:t>Worth saying explicitly: had we reported only accuracy, this model would look barely better than the baseline, and someone would reasonably conclude the features were useless. Choosing the metric before seeing results is what Lesson 1 asked for; this is what it buys.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modest gain, and say plainly that this is itself a legitimate result, not a failed experiment - feature engineering is a hypothesis about the domain, not a guarantee. Handout Section 7.</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test row’s missing value can be filled using its own neighbours - which may include rows whose labels the model will later be scored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traceable specifically because we control the ground truth and can look up which rows are in which split. In practice you rarely get this diagnostic; the number here is instead a proof of mechanism, done once so you believe it happens.</a:t>
            </a:r>
          </a:p>
          <a:p>
            <a:pPr lvl="0" indent="0" marL="0">
              <a:buNone/>
            </a:pPr>
          </a:p>
          <a:p>
            <a:pPr lvl="0" indent="0" marL="0">
              <a:buNone/>
            </a:pPr>
            <a:r>
              <a:rPr/>
              <a:t>Downstream effect on this run: AUC 0.7548 (leaky) vs 0.7530 (honest) - small. Land the point deliberately: a leak does not have to be dramatic to be wrong. It is still an optimistic number reported to whoever reads it next.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0.752 -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Z378, one customer, churned=1, encoded value 1.000.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notebook is the payoff of the lesson: three leaks, each measured against an honest pipeline on the same data.</a:t>
            </a:r>
          </a:p>
          <a:p>
            <a:pPr lvl="0" indent="0" marL="0">
              <a:buNone/>
            </a:pPr>
          </a:p>
          <a:p>
            <a:pPr lvl="0" indent="0" marL="0">
              <a:buNone/>
            </a:pPr>
            <a:r>
              <a:rPr/>
              <a:t>The numbers matter less than the pattern - every leak inflates the score, none of them raises an error, and all three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give the deadline - Friday 9 October, at the start of Lesson 3.</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 Id="rId3"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due at the start of today’s lesson.</a:t>
            </a:r>
          </a:p>
          <a:p>
            <a:pPr lvl="0"/>
            <a:r>
              <a:rPr/>
              <a:t>The wine-quality workflow, end to end</a:t>
            </a:r>
          </a:p>
          <a:p>
            <a:pPr lvl="0"/>
            <a:r>
              <a:rPr/>
              <a:t>Marked on </a:t>
            </a:r>
            <a:r>
              <a:rPr b="1"/>
              <a:t>methodology</a:t>
            </a:r>
            <a:r>
              <a:rPr/>
              <a:t>, not on accuracy</a:t>
            </a:r>
          </a:p>
          <a:p>
            <a:pPr lvl="0"/>
            <a:r>
              <a:rPr/>
              <a:t>We will look at a few submissions’ framing choices in a moment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56546" y="1166099"/>
            <a:ext cx="6430908"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 it is “what does filling it cost”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 even under MCAR.</a:t>
            </a:r>
          </a:p>
        </p:txBody>
      </p:sp>
      <p:pic>
        <p:nvPicPr>
          <p:cNvPr descr="eq_5a8674c372.png" id="0" name="Picture 1"/>
          <p:cNvPicPr>
            <a:picLocks noGrp="1" noChangeAspect="1"/>
          </p:cNvPicPr>
          <p:nvPr/>
        </p:nvPicPr>
        <p:blipFill>
          <a:blip r:embed="rId3"/>
          <a:stretch>
            <a:fillRect/>
          </a:stretch>
        </p:blipFill>
        <p:spPr bwMode="auto">
          <a:xfrm>
            <a:off x="457202" y="2790541"/>
            <a:ext cx="8229595" cy="1105468"/>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 only if few, and only if MCAR</a:t>
            </a:r>
          </a:p>
          <a:p>
            <a:pPr lvl="0"/>
            <a:r>
              <a:rPr b="1"/>
              <a:t>Drop the column</a:t>
            </a:r>
            <a:r>
              <a:rPr/>
              <a:t> — if it is missing too often to help</a:t>
            </a:r>
          </a:p>
          <a:p>
            <a:pPr lvl="0"/>
            <a:r>
              <a:rPr b="1"/>
              <a:t>Impute</a:t>
            </a:r>
            <a:r>
              <a:rPr/>
              <a:t> — mean/median, most-frequent, </a:t>
            </a:r>
            <a:r>
              <a:rPr>
                <a:latin typeface="Courier"/>
              </a:rPr>
              <a:t>KNNImputer</a:t>
            </a:r>
          </a:p>
          <a:p>
            <a:pPr lvl="0"/>
            <a:r>
              <a:rPr b="1"/>
              <a:t>Add a missingness indicator</a:t>
            </a:r>
            <a:r>
              <a:rPr/>
              <a:t> — keeps MAR signal alive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Outliers, two rules</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Two standard rules for flagging an unusual value:</a:t>
            </a:r>
          </a:p>
        </p:txBody>
      </p:sp>
      <p:pic>
        <p:nvPicPr>
          <p:cNvPr descr="eq_362884ef2b.png" id="0" name="Picture 1"/>
          <p:cNvPicPr>
            <a:picLocks noGrp="1" noChangeAspect="1"/>
          </p:cNvPicPr>
          <p:nvPr/>
        </p:nvPicPr>
        <p:blipFill>
          <a:blip r:embed="rId3"/>
          <a:stretch>
            <a:fillRect/>
          </a:stretch>
        </p:blipFill>
        <p:spPr bwMode="auto">
          <a:xfrm>
            <a:off x="457207" y="2838073"/>
            <a:ext cx="8229586" cy="573205"/>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Calibrated to agree — on a normal column</a:t>
            </a:r>
          </a:p>
        </p:txBody>
      </p:sp>
      <p:pic>
        <p:nvPicPr>
          <p:cNvPr descr="outlier_fences.png" id="0" name="Picture 1"/>
          <p:cNvPicPr>
            <a:picLocks noGrp="1" noChangeAspect="1"/>
          </p:cNvPicPr>
          <p:nvPr/>
        </p:nvPicPr>
        <p:blipFill>
          <a:blip r:embed="rId3"/>
          <a:stretch>
            <a:fillRect/>
          </a:stretch>
        </p:blipFill>
        <p:spPr bwMode="auto">
          <a:xfrm>
            <a:off x="1098554" y="1166099"/>
            <a:ext cx="6946891"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rules disagree on real data</a:t>
            </a:r>
          </a:p>
        </p:txBody>
      </p:sp>
      <p:pic>
        <p:nvPicPr>
          <p:cNvPr descr="outlier_scatter.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 a different question entirely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(Winsorise)</a:t>
            </a:r>
          </a:p>
          <a:p>
            <a:pPr lvl="0"/>
            <a:r>
              <a:rPr b="1"/>
              <a:t>Remove</a:t>
            </a:r>
            <a:r>
              <a:rPr/>
              <a:t> the row</a:t>
            </a:r>
          </a:p>
          <a:p>
            <a:pPr lvl="0"/>
            <a:r>
              <a:rPr b="1"/>
              <a:t>Correct</a:t>
            </a:r>
            <a:r>
              <a:rPr/>
              <a:t> it, if the true value is recoverable</a:t>
            </a:r>
          </a:p>
          <a:p>
            <a:pPr lvl="0"/>
            <a:r>
              <a:rPr b="1"/>
              <a:t>Leave</a:t>
            </a:r>
            <a:r>
              <a:rPr/>
              <a:t> it — unusual is not the same as wrong</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 from scratch.</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0–70. </a:t>
            </a:r>
            <a:r>
              <a:rPr>
                <a:latin typeface="Courier"/>
              </a:rPr>
              <a:t>monthly_charges</a:t>
            </a:r>
            <a:r>
              <a:rPr/>
              <a:t>: 15–150.</a:t>
            </a:r>
          </a:p>
          <a:p>
            <a:pPr lvl="0" indent="0" marL="0">
              <a:buNone/>
            </a:pPr>
            <a:r>
              <a:rPr/>
              <a:t>Gradient descent takes </a:t>
            </a:r>
            <a:r>
              <a:rPr b="1"/>
              <a:t>one step size, along every axis, every iteration.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Hessian is the feature covariance</a:t>
            </a:r>
          </a:p>
        </p:txBody>
      </p:sp>
      <p:pic>
        <p:nvPicPr>
          <p:cNvPr descr="eq_8b13b51c77.png" id="0" name="Picture 1"/>
          <p:cNvPicPr>
            <a:picLocks noGrp="1" noChangeAspect="1"/>
          </p:cNvPicPr>
          <p:nvPr/>
        </p:nvPicPr>
        <p:blipFill>
          <a:blip r:embed="rId2"/>
          <a:stretch>
            <a:fillRect/>
          </a:stretch>
        </p:blipFill>
        <p:spPr bwMode="auto">
          <a:xfrm>
            <a:off x="457200" y="2198489"/>
            <a:ext cx="8229599" cy="1295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a:xfrm>
            <a:off x="457200" y="1234440"/>
            <a:ext cx="8229600" cy="822960"/>
          </a:xfrm>
        </p:spPr>
        <p:txBody>
          <a:bodyPr/>
          <a:lstStyle/>
          <a:p>
            <a:pPr lvl="0" indent="0" marL="0">
              <a:buNone/>
            </a:pPr>
            <a:r>
              <a:rPr/>
              <a:t>For uncorrelated, centred features, H is diagonal:</a:t>
            </a:r>
          </a:p>
        </p:txBody>
      </p:sp>
      <p:pic>
        <p:nvPicPr>
          <p:cNvPr descr="eq_489fa4802b.png" id="0" name="Picture 1"/>
          <p:cNvPicPr>
            <a:picLocks noGrp="1" noChangeAspect="1"/>
          </p:cNvPicPr>
          <p:nvPr/>
        </p:nvPicPr>
        <p:blipFill>
          <a:blip r:embed="rId3"/>
          <a:stretch>
            <a:fillRect/>
          </a:stretch>
        </p:blipFill>
        <p:spPr bwMode="auto">
          <a:xfrm>
            <a:off x="3568700" y="1955800"/>
            <a:ext cx="5105400" cy="863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dummy variable trap</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One-hot encode all k categories AND fit an intercept:</a:t>
            </a:r>
          </a:p>
        </p:txBody>
      </p:sp>
      <p:pic>
        <p:nvPicPr>
          <p:cNvPr descr="eq_3723e214d0.png" id="0" name="Picture 1"/>
          <p:cNvPicPr>
            <a:picLocks noGrp="1" noChangeAspect="1"/>
          </p:cNvPicPr>
          <p:nvPr/>
        </p:nvPicPr>
        <p:blipFill>
          <a:blip r:embed="rId3"/>
          <a:stretch>
            <a:fillRect/>
          </a:stretch>
        </p:blipFill>
        <p:spPr bwMode="auto">
          <a:xfrm>
            <a:off x="457201" y="2360636"/>
            <a:ext cx="8229597" cy="1965277"/>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702129" y="1166099"/>
            <a:ext cx="7739742"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vs target encoding</a:t>
            </a:r>
          </a:p>
        </p:txBody>
      </p:sp>
      <p:sp>
        <p:nvSpPr>
          <p:cNvPr id="3" name="Content Placeholder 2"/>
          <p:cNvSpPr>
            <a:spLocks noGrp="1"/>
          </p:cNvSpPr>
          <p:nvPr>
            <p:ph idx="1" sz="half"/>
          </p:nvPr>
        </p:nvSpPr>
        <p:spPr>
          <a:xfrm>
            <a:off x="457200" y="1200151"/>
            <a:ext cx="4038600" cy="3394472"/>
          </a:xfrm>
        </p:spPr>
        <p:txBody>
          <a:bodyPr/>
          <a:lstStyle/>
          <a:p>
            <a:pPr lvl="0" indent="0" marL="0">
              <a:buNone/>
            </a:pPr>
            <a:r>
              <a:rPr b="1"/>
              <a:t>Ordinal</a:t>
            </a:r>
          </a:p>
          <a:p>
            <a:pPr lvl="0"/>
            <a:r>
              <a:rPr/>
              <a:t>Categories → integers</a:t>
            </a:r>
          </a:p>
          <a:p>
            <a:pPr lvl="0"/>
            <a:r>
              <a:rPr/>
              <a:t>Only valid if a real </a:t>
            </a:r>
            <a:r>
              <a:rPr b="1"/>
              <a:t>order</a:t>
            </a:r>
            <a:r>
              <a:rPr/>
              <a:t> exists</a:t>
            </a:r>
          </a:p>
          <a:p>
            <a:pPr lvl="0"/>
            <a:r>
              <a:rPr>
                <a:latin typeface="Courier"/>
              </a:rPr>
              <a:t>low</a:t>
            </a:r>
            <a:r>
              <a:rPr/>
              <a:t> &lt; </a:t>
            </a:r>
            <a:r>
              <a:rPr>
                <a:latin typeface="Courier"/>
              </a:rPr>
              <a:t>medium</a:t>
            </a:r>
            <a:r>
              <a:rPr/>
              <a:t> &lt; </a:t>
            </a:r>
            <a:r>
              <a:rPr>
                <a:latin typeface="Courier"/>
              </a:rPr>
              <a:t>high</a:t>
            </a:r>
          </a:p>
        </p:txBody>
      </p:sp>
      <p:sp>
        <p:nvSpPr>
          <p:cNvPr id="4" name="Content Placeholder 3"/>
          <p:cNvSpPr>
            <a:spLocks noGrp="1"/>
          </p:cNvSpPr>
          <p:nvPr>
            <p:ph idx="2" sz="half"/>
          </p:nvPr>
        </p:nvSpPr>
        <p:spPr>
          <a:xfrm>
            <a:off x="4648200" y="1200151"/>
            <a:ext cx="4038600" cy="3394472"/>
          </a:xfrm>
        </p:spPr>
        <p:txBody>
          <a:bodyPr/>
          <a:lstStyle/>
          <a:p>
            <a:pPr lvl="0" indent="0" marL="0">
              <a:buNone/>
            </a:pPr>
            <a:r>
              <a:rPr b="1"/>
              <a:t>Target</a:t>
            </a:r>
          </a:p>
          <a:p>
            <a:pPr lvl="0"/>
            <a:r>
              <a:rPr/>
              <a:t>Category → a statistic of y</a:t>
            </a:r>
          </a:p>
          <a:p>
            <a:pPr lvl="0"/>
            <a:r>
              <a:rPr/>
              <a:t>Compresses any cardinality to one column</a:t>
            </a:r>
          </a:p>
          <a:p>
            <a:pPr lvl="0"/>
            <a:r>
              <a:rPr/>
              <a:t>The dangerous one — 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levels</a:t>
            </a:r>
          </a:p>
        </p:txBody>
      </p:sp>
      <p:pic>
        <p:nvPicPr>
          <p:cNvPr descr="correlation_heatmap.png" id="0" name="Picture 1"/>
          <p:cNvPicPr>
            <a:picLocks noGrp="1" noChangeAspect="1"/>
          </p:cNvPicPr>
          <p:nvPr/>
        </p:nvPicPr>
        <p:blipFill>
          <a:blip r:embed="rId3"/>
          <a:stretch>
            <a:fillRect/>
          </a:stretch>
        </p:blipFill>
        <p:spPr bwMode="auto">
          <a:xfrm>
            <a:off x="2577286" y="1166099"/>
            <a:ext cx="3989428"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 not just “the model part”.</a:t>
            </a:r>
          </a:p>
        </p:txBody>
      </p:sp>
      <p:pic>
        <p:nvPicPr>
          <p:cNvPr descr="eq_4c26f16b0d.png" id="0" name="Picture 1"/>
          <p:cNvPicPr>
            <a:picLocks noGrp="1" noChangeAspect="1"/>
          </p:cNvPicPr>
          <p:nvPr/>
        </p:nvPicPr>
        <p:blipFill>
          <a:blip r:embed="rId3"/>
          <a:stretch>
            <a:fillRect/>
          </a:stretch>
        </p:blipFill>
        <p:spPr bwMode="auto">
          <a:xfrm>
            <a:off x="457202" y="3036200"/>
            <a:ext cx="8229596" cy="614149"/>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r>
              <a:rPr>
                <a:solidFill>
                  <a:srgbClr val="4070A0"/>
                </a:solidFill>
                <a:latin typeface="Courier"/>
              </a:rPr>
              <a:t>"prep"</a:t>
            </a:r>
            <a:r>
              <a:rPr>
                <a:latin typeface="Courier"/>
              </a:rPr>
              <a:t>, prep), (</a:t>
            </a:r>
            <a:r>
              <a:rPr>
                <a:solidFill>
                  <a:srgbClr val="4070A0"/>
                </a:solidFill>
                <a:latin typeface="Courier"/>
              </a:rPr>
              <a:t>"clf"</a:t>
            </a:r>
            <a:r>
              <a:rPr>
                <a:latin typeface="Courier"/>
              </a:rPr>
              <a:t>, clf)])</a:t>
            </a:r>
            <a:br/>
            <a:r>
              <a:rPr>
                <a:latin typeface="Courier"/>
              </a:rPr>
              <a:t>model.fit(X_train, y_train)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low-card categorical, no zip): </a:t>
            </a:r>
            <a:r>
              <a:rPr b="1"/>
              <a:t>0.820</a:t>
            </a:r>
            <a:r>
              <a:rPr/>
              <a:t> accuracy, </a:t>
            </a:r>
            <a:r>
              <a:rPr b="1"/>
              <a:t>0.752</a:t>
            </a:r>
            <a:r>
              <a:rPr/>
              <a:t> AUC</a:t>
            </a:r>
          </a:p>
          <a:p>
            <a:pPr lvl="0" indent="0" marL="0">
              <a:buNone/>
            </a:pPr>
            <a:r>
              <a:rPr/>
              <a:t>Modest accuracy gain. Why?</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Ratios, interactions, binning — a linear model cannot invent these itself. AUC: 0.752 → 0.754, a modest but real gain.</a:t>
            </a:r>
          </a:p>
        </p:txBody>
      </p:sp>
      <p:pic>
        <p:nvPicPr>
          <p:cNvPr descr="eq_0ab17cabfc.png" id="0" name="Picture 1"/>
          <p:cNvPicPr>
            <a:picLocks noGrp="1" noChangeAspect="1"/>
          </p:cNvPicPr>
          <p:nvPr/>
        </p:nvPicPr>
        <p:blipFill>
          <a:blip r:embed="rId3"/>
          <a:stretch>
            <a:fillRect/>
          </a:stretch>
        </p:blipFill>
        <p:spPr bwMode="auto">
          <a:xfrm>
            <a:off x="457201" y="3111497"/>
            <a:ext cx="8229597" cy="900752"/>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98 of 128</a:t>
            </a:r>
            <a:r>
              <a:rPr/>
              <a:t> training rows with missing age had a </a:t>
            </a:r>
            <a:r>
              <a:rPr b="1"/>
              <a:t>test-set row</a:t>
            </a:r>
            <a:r>
              <a:rPr/>
              <a:t> among their five nearest neighbours.</a:t>
            </a:r>
          </a:p>
          <a:p>
            <a:pPr lvl="0" indent="0" marL="0">
              <a:buNone/>
            </a:pPr>
            <a:r>
              <a:rPr/>
              <a:t>Nothing raised an error.</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47359" y="1166099"/>
            <a:ext cx="5449282"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Why small groups make it worse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“leave-in” encoding differs from the honest leave-one-out encoding by:</a:t>
            </a:r>
          </a:p>
        </p:txBody>
      </p:sp>
      <p:pic>
        <p:nvPicPr>
          <p:cNvPr descr="eq_2274cba409.png" id="0" name="Picture 1"/>
          <p:cNvPicPr>
            <a:picLocks noGrp="1" noChangeAspect="1"/>
          </p:cNvPicPr>
          <p:nvPr/>
        </p:nvPicPr>
        <p:blipFill>
          <a:blip r:embed="rId3"/>
          <a:stretch>
            <a:fillRect/>
          </a:stretch>
        </p:blipFill>
        <p:spPr bwMode="auto">
          <a:xfrm>
            <a:off x="457201" y="2411815"/>
            <a:ext cx="8229598" cy="1862919"/>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 cross-fitted inside the pipeline.</a:t>
            </a:r>
          </a:p>
          <a:p>
            <a:pPr lvl="0" indent="0" marL="0">
              <a:buNone/>
            </a:pPr>
            <a:r>
              <a:rPr/>
              <a:t>Each row’s encoded value comes from </a:t>
            </a:r>
            <a:r>
              <a:rPr b="1"/>
              <a:t>other</a:t>
            </a:r>
            <a:r>
              <a:rPr/>
              <a:t> folds, never its own label.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 all inside </a:t>
            </a:r>
            <a:r>
              <a:rPr>
                <a:latin typeface="Courier"/>
              </a:rPr>
              <a:t>Pipeline</a:t>
            </a:r>
          </a:p>
          <a:p>
            <a:pPr lvl="0"/>
            <a:r>
              <a:rPr/>
              <a:t>Two leaks that look nothing like leaking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 the derivations are examinable</a:t>
            </a:r>
          </a:p>
          <a:p>
            <a:pPr lvl="0"/>
            <a:r>
              <a:rPr/>
              <a:t>Take the quiz</a:t>
            </a:r>
          </a:p>
          <a:p>
            <a:pPr lvl="0"/>
            <a:r>
              <a:rPr b="1"/>
              <a:t>Do the exercise</a:t>
            </a:r>
          </a:p>
          <a:p>
            <a:pPr lvl="0" indent="0" marL="0">
              <a:buNone/>
            </a:pPr>
            <a:r>
              <a:rPr/>
              <a:t>Next: regression —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 Data: Exploration and Preparation</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