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figure already existed in the notebook and is the reason the next forty minutes happen: monthly_charges is bimodal, tenure is nearly uniform, age is skewed and has a gap. Ask what each shape implies before moving on - a bimodal column usually means two populations mixed together.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The z-score standardises and thresholds; Tukey’s rule fences off anything more than 1.5 interquartile ranges past the quartiles.</a:t>
            </a:r>
          </a:p>
          <a:p>
            <a:pPr lvl="0" indent="0" marL="0">
              <a:buNone/>
            </a:pPr>
          </a:p>
          <a:p>
            <a:pPr lvl="0" indent="0" marL="0">
              <a:buNone/>
            </a:pPr>
            <a:r>
              <a:rPr/>
              <a:t>Give the probabilistic reading of each, because it is what makes them more than recipes. Under normality, |z| &gt; 3 flags about 0.27% of a column. And the 1.5 is not arbitrary: for a normal column the IQR is 1.349 sigma, so the fence lands at 2.698 sigma and flags about 0.35% per tail. Tukey chose the constant precisely so the two rules agree on well-behaved data.</a:t>
            </a:r>
          </a:p>
          <a:p>
            <a:pPr lvl="0" indent="0" marL="0">
              <a:buNone/>
            </a:pPr>
          </a:p>
          <a:p>
            <a:pPr lvl="0" indent="0" marL="0">
              <a:buNone/>
            </a:pPr>
            <a:r>
              <a:rPr/>
              <a:t>That agreement is the setup for the next section. Both rules are calibrated on normality; the interesting question is what they do when the data is not normal, and that is where they part company.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25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the mathematics. Ask: if two features live on very different scales, can a single learning rate be right for both directions at once? Let the room reason about it before the derivation.</a:t>
            </a:r>
          </a:p>
          <a:p>
            <a:pPr lvl="0" indent="0" marL="0">
              <a:buNone/>
            </a:pPr>
          </a:p>
          <a:p>
            <a:pPr lvl="0" indent="0" marL="0">
              <a:buNone/>
            </a:pPr>
            <a:r>
              <a:rPr/>
              <a:t>Give them the concrete pair from the dataset: tenure runs 0 to 70, monthly charges 15 to 150. The variances differ by roughly an order of magnitude, and gradient descent takes one step size along every axis simultaneously.</a:t>
            </a:r>
          </a:p>
          <a:p>
            <a:pPr lvl="0" indent="0" marL="0">
              <a:buNone/>
            </a:pPr>
          </a:p>
          <a:p>
            <a:pPr lvl="0" indent="0" marL="0">
              <a:buNone/>
            </a:pPr>
            <a:r>
              <a:rPr/>
              <a:t>Handout Section 5.2 does it properly, and the punchline is worth previewing: the safe learning rate is set by the largest-variance feature, so progress along the smallest-variance direction is throttled by their ratio. The number of iterations scales with the condition number. Scaling is not cosmetic - it changes how long training takes, and sometimes whether it converges at all.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the derivation made visible. Left: variances differ, so the bowl is a narrow valley. One step size is bound by the steep axis, so it bounces across the valley while barely advancing along it.</a:t>
            </a:r>
          </a:p>
          <a:p>
            <a:pPr lvl="0" indent="0" marL="0">
              <a:buNone/>
            </a:pPr>
          </a:p>
          <a:p>
            <a:pPr lvl="0" indent="0" marL="0">
              <a:buNone/>
            </a:pPr>
            <a:r>
              <a:rPr/>
              <a:t>Right: after scaling, the bowl is round and every step points at the minimum.</a:t>
            </a:r>
          </a:p>
          <a:p>
            <a:pPr lvl="0" indent="0" marL="0">
              <a:buNone/>
            </a:pPr>
          </a:p>
          <a:p>
            <a:pPr lvl="0" indent="0" marL="0">
              <a:buNone/>
            </a:pPr>
            <a:r>
              <a:rPr/>
              <a:t>Give them the number that governs it - the condition number, the ratio of largest to smallest variance - and say that the iteration count scales with it. Scaling is not cosmetic: it changes how long training takes, and sometimes whether it converges at all.</a:t>
            </a:r>
          </a:p>
          <a:p>
            <a:pPr lvl="0" indent="0" marL="0">
              <a:buNone/>
            </a:pPr>
          </a:p>
          <a:p>
            <a:pPr lvl="0" indent="0" marL="0">
              <a:buNone/>
            </a:pPr>
            <a:r>
              <a:rPr/>
              <a:t>The derivation is Handout Section 5.2: the Hessian of the squared-error cost is the feature covariance matrix, so for uncorrelated centred features it is diagonal with the variances on it. That is why the picture is an axis-aligned ellipse, and why its elongation is the condition number.</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 real churn features show the same direction of effect more mildly, since monthly_charges has roughly 3-4 times the spread of tenure_months, not 100 times.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0.752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test row’s missing value can be filled using its own neighbours - which may include rows whose labels the model will later be scored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98 of 128. Not an edge case - the substantial majority of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0.752 -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notebook is the payoff of the lesson: three leaks, each measured against an honest pipeline on the same data.</a:t>
            </a:r>
          </a:p>
          <a:p>
            <a:pPr lvl="0" indent="0" marL="0">
              <a:buNone/>
            </a:pPr>
          </a:p>
          <a:p>
            <a:pPr lvl="0" indent="0" marL="0">
              <a:buNone/>
            </a:pPr>
            <a:r>
              <a:rPr/>
              <a:t>The numbers matter less than the pattern - every leak inflates the score, none of them raises an error, and all three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Look before you touch anything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latin typeface="Courier"/>
              </a:rPr>
              <a:t>.info()</a:t>
            </a:r>
            <a:r>
              <a:rPr/>
              <a:t>, </a:t>
            </a:r>
            <a:r>
              <a:rPr>
                <a:latin typeface="Courier"/>
              </a:rPr>
              <a:t>.describe()</a:t>
            </a:r>
            <a:r>
              <a:rPr/>
              <a:t>, class balance, first —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pic>
        <p:nvPicPr>
          <p:cNvPr descr="numeric_distributions.png" id="0" name="Picture 1"/>
          <p:cNvPicPr>
            <a:picLocks noGrp="1" noChangeAspect="1"/>
          </p:cNvPicPr>
          <p:nvPr/>
        </p:nvPicPr>
        <p:blipFill>
          <a:blip r:embed="rId3"/>
          <a:stretch>
            <a:fillRect/>
          </a:stretch>
        </p:blipFill>
        <p:spPr bwMode="auto">
          <a:xfrm>
            <a:off x="1448931" y="3034665"/>
            <a:ext cx="6246137" cy="1491615"/>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to do about a gap</a:t>
            </a:r>
          </a:p>
        </p:txBody>
      </p:sp>
      <p:sp>
        <p:nvSpPr>
          <p:cNvPr id="4" name="Text Placeholder 3"/>
          <p:cNvSpPr>
            <a:spLocks noGrp="1"/>
          </p:cNvSpPr>
          <p:nvPr>
            <p:ph idx="2" sz="half" type="body"/>
          </p:nvPr>
        </p:nvSpPr>
        <p:spPr>
          <a:xfrm>
            <a:off x="457200" y="1183005"/>
            <a:ext cx="8229600" cy="1748790"/>
          </a:xfrm>
        </p:spPr>
        <p:txBody>
          <a:bodyPr/>
          <a:lstStyle/>
          <a:p>
            <a:pPr lvl="0"/>
            <a:r>
              <a:rPr b="1"/>
              <a:t>Drop rows</a:t>
            </a:r>
            <a:r>
              <a:rPr/>
              <a:t> — only if few, and only if MCAR</a:t>
            </a:r>
          </a:p>
          <a:p>
            <a:pPr lvl="0"/>
            <a:r>
              <a:rPr b="1"/>
              <a:t>Drop the column</a:t>
            </a:r>
            <a:r>
              <a:rPr/>
              <a:t> — if it is missing too often to help</a:t>
            </a:r>
          </a:p>
          <a:p>
            <a:pPr lvl="0"/>
            <a:r>
              <a:rPr b="1"/>
              <a:t>Impute</a:t>
            </a:r>
            <a:r>
              <a:rPr/>
              <a:t> — mean/median, most-frequent, </a:t>
            </a:r>
            <a:r>
              <a:rPr>
                <a:latin typeface="Courier"/>
              </a:rPr>
              <a:t>KNNImputer</a:t>
            </a:r>
          </a:p>
          <a:p>
            <a:pPr lvl="0"/>
            <a:r>
              <a:rPr b="1"/>
              <a:t>Add a missingness indicator</a:t>
            </a:r>
            <a:r>
              <a:rPr/>
              <a:t> — keeps MAR signal alive</a:t>
            </a:r>
          </a:p>
        </p:txBody>
      </p:sp>
      <p:pic>
        <p:nvPicPr>
          <p:cNvPr descr="missing_data_decision.png" id="0" name="Picture 1"/>
          <p:cNvPicPr>
            <a:picLocks noGrp="1" noChangeAspect="1"/>
          </p:cNvPicPr>
          <p:nvPr/>
        </p:nvPicPr>
        <p:blipFill>
          <a:blip r:embed="rId3"/>
          <a:stretch>
            <a:fillRect/>
          </a:stretch>
        </p:blipFill>
        <p:spPr bwMode="auto">
          <a:xfrm>
            <a:off x="2559821" y="3034665"/>
            <a:ext cx="4024357" cy="1491615"/>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Two standard rules for flagging an unusual value — the z-score, and Tukey’s fence built on the interquartile range (IQR):</a:t>
            </a:r>
          </a:p>
        </p:txBody>
      </p:sp>
      <p:pic>
        <p:nvPicPr>
          <p:cNvPr descr="eq_362884ef2b.png" id="0" name="Picture 1"/>
          <p:cNvPicPr>
            <a:picLocks noGrp="1" noChangeAspect="1"/>
          </p:cNvPicPr>
          <p:nvPr/>
        </p:nvPicPr>
        <p:blipFill>
          <a:blip r:embed="rId3"/>
          <a:stretch>
            <a:fillRect/>
          </a:stretch>
        </p:blipFill>
        <p:spPr bwMode="auto">
          <a:xfrm>
            <a:off x="457207" y="3275271"/>
            <a:ext cx="8229586" cy="57320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 on a normal column</a:t>
            </a:r>
          </a:p>
        </p:txBody>
      </p:sp>
      <p:pic>
        <p:nvPicPr>
          <p:cNvPr descr="outlier_fences.png" id="0" name="Picture 1"/>
          <p:cNvPicPr>
            <a:picLocks noGrp="1" noChangeAspect="1"/>
          </p:cNvPicPr>
          <p:nvPr/>
        </p:nvPicPr>
        <p:blipFill>
          <a:blip r:embed="rId3"/>
          <a:stretch>
            <a:fillRect/>
          </a:stretch>
        </p:blipFill>
        <p:spPr bwMode="auto">
          <a:xfrm>
            <a:off x="1098554" y="1166099"/>
            <a:ext cx="694689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 a different question entirely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 unusual is not the same as wrong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 from scratch.</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0–70. </a:t>
            </a:r>
            <a:r>
              <a:rPr>
                <a:latin typeface="Courier"/>
              </a:rPr>
              <a:t>monthly_charges</a:t>
            </a:r>
            <a:r>
              <a:rPr/>
              <a:t>: 15–150.</a:t>
            </a:r>
          </a:p>
          <a:p>
            <a:pPr lvl="0" indent="0" marL="0">
              <a:buNone/>
            </a:pPr>
            <a:r>
              <a:rPr/>
              <a:t>Gradient descent takes </a:t>
            </a:r>
            <a:r>
              <a:rPr b="1"/>
              <a:t>one step size, along every axis, every iteration.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Hessian is the feature covariance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For uncorrelated, centred features, H is diagonal — the variances sit on it.</a:t>
            </a:r>
          </a:p>
        </p:txBody>
      </p:sp>
      <p:pic>
        <p:nvPicPr>
          <p:cNvPr descr="condition_number_geometry.png" id="0" name="Picture 1"/>
          <p:cNvPicPr>
            <a:picLocks noGrp="1" noChangeAspect="1"/>
          </p:cNvPicPr>
          <p:nvPr/>
        </p:nvPicPr>
        <p:blipFill>
          <a:blip r:embed="rId3"/>
          <a:stretch>
            <a:fillRect/>
          </a:stretch>
        </p:blipFill>
        <p:spPr bwMode="auto">
          <a:xfrm>
            <a:off x="2263417" y="2160270"/>
            <a:ext cx="4617165"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702129" y="1166099"/>
            <a:ext cx="773974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 next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correlation_heatmap.png" id="0" name="Picture 1"/>
          <p:cNvPicPr>
            <a:picLocks noGrp="1" noChangeAspect="1"/>
          </p:cNvPicPr>
          <p:nvPr/>
        </p:nvPicPr>
        <p:blipFill>
          <a:blip r:embed="rId3"/>
          <a:stretch>
            <a:fillRect/>
          </a:stretch>
        </p:blipFill>
        <p:spPr bwMode="auto">
          <a:xfrm>
            <a:off x="2577286" y="1166099"/>
            <a:ext cx="3989428"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model, on churn</a:t>
            </a:r>
          </a:p>
        </p:txBody>
      </p:sp>
      <p:sp>
        <p:nvSpPr>
          <p:cNvPr id="4" name="Text Placeholder 3"/>
          <p:cNvSpPr>
            <a:spLocks noGrp="1"/>
          </p:cNvSpPr>
          <p:nvPr>
            <p:ph idx="2" sz="half" type="body"/>
          </p:nvPr>
        </p:nvSpPr>
        <p:spPr>
          <a:xfrm>
            <a:off x="457200" y="1183005"/>
            <a:ext cx="8229600" cy="2185987"/>
          </a:xfrm>
        </p:spPr>
        <p:txBody>
          <a:bodyPr/>
          <a:lstStyle/>
          <a:p>
            <a:pPr lvl="0"/>
            <a:r>
              <a:rPr/>
              <a:t>Baseline: </a:t>
            </a:r>
            <a:r>
              <a:rPr b="1"/>
              <a:t>0.806</a:t>
            </a:r>
          </a:p>
          <a:p>
            <a:pPr lvl="0"/>
            <a:r>
              <a:rPr/>
              <a:t>Model (numeric + low-card categorical, no zip): </a:t>
            </a:r>
            <a:r>
              <a:rPr b="1"/>
              <a:t>0.820</a:t>
            </a:r>
            <a:r>
              <a:rPr/>
              <a:t> accuracy, </a:t>
            </a:r>
            <a:r>
              <a:rPr b="1"/>
              <a:t>0.752</a:t>
            </a:r>
            <a:r>
              <a:rPr/>
              <a:t> AUC — area under the receiver operating characteristic curve</a:t>
            </a:r>
          </a:p>
          <a:p>
            <a:pPr lvl="0" indent="0" marL="0">
              <a:buNone/>
            </a:pPr>
            <a:r>
              <a:rPr/>
              <a:t>Modest accuracy gain. Why?</a:t>
            </a:r>
          </a:p>
        </p:txBody>
      </p:sp>
      <p:pic>
        <p:nvPicPr>
          <p:cNvPr descr="churn_confusion_matrix.png" id="0" name="Picture 1"/>
          <p:cNvPicPr>
            <a:picLocks noGrp="1" noChangeAspect="1"/>
          </p:cNvPicPr>
          <p:nvPr/>
        </p:nvPicPr>
        <p:blipFill>
          <a:blip r:embed="rId3"/>
          <a:stretch>
            <a:fillRect/>
          </a:stretch>
        </p:blipFill>
        <p:spPr bwMode="auto">
          <a:xfrm>
            <a:off x="4015756" y="3471862"/>
            <a:ext cx="1112487" cy="1054418"/>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 a linear model cannot invent these itself. AUC: 0.752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smoking gun</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pic>
        <p:nvPicPr>
          <p:cNvPr descr="smoking_gun.png" id="0" name="Picture 1"/>
          <p:cNvPicPr>
            <a:picLocks noGrp="1" noChangeAspect="1"/>
          </p:cNvPicPr>
          <p:nvPr/>
        </p:nvPicPr>
        <p:blipFill>
          <a:blip r:embed="rId3"/>
          <a:stretch>
            <a:fillRect/>
          </a:stretch>
        </p:blipFill>
        <p:spPr bwMode="auto">
          <a:xfrm>
            <a:off x="2193525" y="2597467"/>
            <a:ext cx="4756949" cy="1928813"/>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53651" y="1166099"/>
            <a:ext cx="5436697"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 cross-fitted inside the pipeline.</a:t>
            </a:r>
          </a:p>
          <a:p>
            <a:pPr lvl="0" indent="0" marL="0">
              <a:buNone/>
            </a:pPr>
            <a:r>
              <a:rPr/>
              <a:t>Each row’s encoded value comes from </a:t>
            </a:r>
            <a:r>
              <a:rPr b="1"/>
              <a:t>other</a:t>
            </a:r>
            <a:r>
              <a:rPr/>
              <a:t> folds, never its own label.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 all inside </a:t>
            </a:r>
            <a:r>
              <a:rPr>
                <a:latin typeface="Courier"/>
              </a:rPr>
              <a:t>Pipeline</a:t>
            </a:r>
          </a:p>
          <a:p>
            <a:pPr lvl="0"/>
            <a:r>
              <a:rPr/>
              <a:t>Two leaks that look nothing like leaking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 the derivations are examinable</a:t>
            </a:r>
          </a:p>
          <a:p>
            <a:pPr lvl="0"/>
            <a:r>
              <a:rPr/>
              <a:t>Take the quiz</a:t>
            </a:r>
          </a:p>
          <a:p>
            <a:pPr lvl="0"/>
            <a:r>
              <a:rPr b="1"/>
              <a:t>Do the exercise</a:t>
            </a:r>
          </a:p>
          <a:p>
            <a:pPr lvl="0" indent="0" marL="0">
              <a:buNone/>
            </a:pPr>
            <a:r>
              <a:rPr/>
              <a:t>Next: regression —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 Data: Exploration and Preparation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