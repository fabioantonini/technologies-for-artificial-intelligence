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fifteen minutes on what lesson 1 clarified come before this slide; the exercise discussion follows them, and the seed part of it lands better for having just seen that a test score is one measurement.</a:t>
            </a:r>
          </a:p>
          <a:p>
            <a:pPr lvl="0" indent="0" marL="0">
              <a:buNone/>
            </a:pPr>
          </a:p>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25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predictable answer is “add an indicator, it keeps the MAR signal”, and the reasoning is sound as far as it goes: the gap rows are the long-tenure ones, and they churn at 12.5% against 19.7%, so the fact of the gap is informative.</a:t>
            </a:r>
          </a:p>
          <a:p>
            <a:pPr lvl="0" indent="0" marL="0">
              <a:buNone/>
            </a:pPr>
          </a:p>
          <a:p>
            <a:pPr lvl="0" indent="0" marL="0">
              <a:buNone/>
            </a:pPr>
            <a:r>
              <a:rPr/>
              <a:t>But under MAR the gap is explained by a column we already hold - that is the definition - so the model already has what the indicator would tell it. Notebook and handout agree: adding it moves the area under the curve from 0.751 to 0.741, no gain, well inside split-to-split noise. The indicator is worth adding only if being missing tells the model something the other columns cannot - typically when the value is missing not at random (MNAR), because whether it is missing depends on the missing value itself.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because its usual justification is half right. An indicator keeps the fact of the gap in the table after the gap is filled; that fact only helps if no other column already carries it. Under MCAR it carries nothing; under MAR the column that explains the gap is already there; under MNAR the blank may be the only trace left, and that is where the indicator earns its place.</a:t>
            </a:r>
          </a:p>
          <a:p>
            <a:pPr lvl="0" indent="0" marL="0">
              <a:buNone/>
            </a:pPr>
          </a:p>
          <a:p>
            <a:pPr lvl="0" indent="0" marL="0">
              <a:buNone/>
            </a:pPr>
            <a:r>
              <a:rPr/>
              <a:t>Then the line at the bottom: every option except dropping the column learns a statistic, so all of them are fitted on the training data only.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reach for by reflex. It is cheap, but it adds information only when the gap tells the model something no other column does: on this dataset it does not, and the area under the curve goes 0.751 to 0.741 with it.</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17.23 to 171.25, dragging the z-score fence from 115.0 out to 593.0.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15.0 to 16.7, four paying 111.6 to 128.4, outside fences of 17.3 and 110.0.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Exploration, missingness mechanisms, both outlier rules: from scratch. The table is the notebook’s map - no scikit-learn yet, only the pandas calls that do the looking, each next to the slides where the idea was introduced.</a:t>
            </a:r>
          </a:p>
          <a:p>
            <a:pPr lvl="0" indent="0" marL="0">
              <a:buNone/>
            </a:pPr>
          </a:p>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Two cells now open with “Your prediction”: the correlation left after filling 40% with the mean, and how many points each outlier rule flags. Give them a minute to write a number in the cell before running it. The point is to commit to an answer, not to be right; the most useful wrong answer in the room is “the IQR rule, because it flagged more”.</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which number is which before anyone asks: the title’s 100:1 is how the two features were built, spreads of 1 and 10; the sample of 1,000 points measures 110:1, which is the figure notebook 2 prints and the toolbox slide quotes.</a:t>
            </a:r>
          </a:p>
          <a:p>
            <a:pPr lvl="0" indent="0" marL="0">
              <a:buNone/>
            </a:pPr>
          </a:p>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warning on the letter: k here counts the levels of a category. Slide 16 used k for the z-score cut-off, 3. Same letter, two jobs, both declared in the handout’s notation table - say so out loud once.</a:t>
            </a:r>
          </a:p>
          <a:p>
            <a:pPr lvl="0" indent="0" marL="0">
              <a:buNone/>
            </a:pPr>
          </a:p>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condition out loud, because it is no longer written on the slide and it is the whole content: this equality holds ONLY IF f is independent of T. It was on the slide and made the formula too small to read from the back; it belongs in your mouth, not in the image.</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formula was on this slide as a rendered equation and came out at 23pt, the smallest in the course: the column names are long enough that no amount of trimming saves it. It is one sentence to say - total_paid is the monthly charge times the months stayed, with tenure clipped at zero first - and the three AUCs are what does the work in the room.</a:t>
            </a:r>
          </a:p>
          <a:p>
            <a:pPr lvl="0" indent="0" marL="0">
              <a:buNone/>
            </a:pPr>
          </a:p>
          <a:p>
            <a:pPr lvl="0" indent="0" marL="0">
              <a:buNone/>
            </a:pPr>
            <a:r>
              <a:rPr/>
              <a:t>Do not let anyone in the room call three thousandths a win, and do not call it one yourself. Quote the four decimals, 0.7514 against 0.7548: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right-hand column carries the four numbers to come back with, each next to the calls that produce it. The rest of the table is the map: every scikit-learn name the notebook uses, beside the slides that introduced the idea.</a:t>
            </a:r>
          </a:p>
          <a:p>
            <a:pPr lvl="0" indent="0" marL="0">
              <a:buNone/>
            </a:pPr>
          </a:p>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a:p>
            <a:pPr lvl="0" indent="0" marL="0">
              <a:buNone/>
            </a:pPr>
          </a:p>
          <a:p>
            <a:pPr lvl="0" indent="0" marL="0">
              <a:buNone/>
            </a:pPr>
            <a:r>
              <a:rPr/>
              <a:t>Two prediction cells to give a minute each: what learning rate 2.0 does on the raw features (most expect “slower”; it oscillates for ever), and what accuracy the full pipeline reaches against the 0.806 baseline (0.820, which is the cue for why accuracy is the wrong scale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is fitted on the training data only.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symbols first, pointing at each: ȳ_c is the churn rate of zip code c over all its customers, row i included; ȳ_c with (−i) is the same rate with row i left out; y_i is row i’s own label; n_c is how many customers zip code c has - not n, the number of features.</a:t>
            </a:r>
          </a:p>
          <a:p>
            <a:pPr lvl="0" indent="0" marL="0">
              <a:buNone/>
            </a:pPr>
          </a:p>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Trace the imputation leak. Watch the encoding leak manufacture 0.89 from noise. The table puts each leak beside the calls that commit it and the slides that explain it; the fix row is the one to leave on screen.</a:t>
            </a:r>
          </a:p>
          <a:p>
            <a:pPr lvl="0" indent="0" marL="0">
              <a:buNone/>
            </a:pPr>
          </a:p>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neither leak raises an error, and both are things a competent person does by accident. They differ in what they do to the score: the imputation leak contaminates 94 of 128 rows and barely moves the AUC (+0.0007, negative in 14 of 20 splits), so it cannot be caught by its effect; the encoding leak adds 0.14 out of a column with no signal. Three cells ask for a prediction first - how many rows borrow from the test set, how much that leak is worth, what AUC an empty column reaches - give each a minute.</a:t>
            </a:r>
          </a:p>
          <a:p>
            <a:pPr lvl="0" indent="0" marL="0">
              <a:buNone/>
            </a:pPr>
          </a:p>
          <a:p>
            <a:pPr lvl="0" indent="0" marL="0">
              <a:buNone/>
            </a:pPr>
            <a:r>
              <a:rPr/>
              <a:t>Close with section 6, five minutes: everyone sets MY_SEED to their birthday as DDMM, runs the cell and calls out the three numbers; tally them on the board. Expect leak 1 at roughly 70-80% of the rows every time, the leaky encoding always about 0.11-0.15 above the honest one, and the honest AUC itself moving between about 0.74 and 0.80 from one birthday to the next - lesson 5’s lottery, seen a week early.</a:t>
            </a:r>
          </a:p>
          <a:p>
            <a:pPr lvl="0" indent="0" marL="0">
              <a:buNone/>
            </a:pPr>
          </a:p>
          <a:p>
            <a:pPr lvl="0" indent="0" marL="0">
              <a:buNone/>
            </a:pPr>
            <a:r>
              <a:rPr/>
              <a:t>If time is short, the target encoding case is the one to keep: it is the subtlest and the one most likely to appear in their own exercises.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there is, since the exam draws one of their own notebooks and asks why each decision was made.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16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that nothing is handed in: every exercise is kept, because one of the ten is drawn at the exam and discussed from their own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missing completely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MCAR, for short: 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Support calls: missing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MAR, for short: long-tenure customers leave it blank more often.</a:t>
            </a:r>
          </a:p>
          <a:p>
            <a:pPr lvl="0"/>
            <a:r>
              <a:rPr/>
              <a:t>Dropping those rows would remove mostly long-tenure customers</a:t>
            </a:r>
          </a:p>
          <a:p>
            <a:pPr lvl="0"/>
            <a:r>
              <a:rPr/>
              <a:t>A </a:t>
            </a:r>
            <a:r>
              <a:rPr b="1"/>
              <a:t>missingness indicator</a:t>
            </a:r>
            <a:r>
              <a:rPr/>
              <a:t> (1 if missing, 0 if not) adds nothing here: </a:t>
            </a:r>
            <a:r>
              <a:rPr>
                <a:latin typeface="Courier"/>
              </a:rPr>
              <a:t>tenure_months</a:t>
            </a:r>
            <a:r>
              <a:rPr/>
              <a:t> already tells the model which rows tend to have a gap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or most-frequent with </a:t>
            </a:r>
            <a:r>
              <a:rPr>
                <a:latin typeface="Courier"/>
              </a:rPr>
              <a:t>SimpleImputer</a:t>
            </a:r>
            <a:r>
              <a:rPr/>
              <a:t>, neighbours with </a:t>
            </a:r>
            <a:r>
              <a:rPr>
                <a:latin typeface="Courier"/>
              </a:rPr>
              <a:t>KNNImputer</a:t>
            </a:r>
          </a:p>
          <a:p>
            <a:pPr lvl="0"/>
            <a:r>
              <a:rPr b="1"/>
              <a:t>Add a missingness indicator</a:t>
            </a:r>
            <a:r>
              <a:rPr/>
              <a:t>: only if </a:t>
            </a:r>
            <a:r>
              <a:rPr i="1"/>
              <a:t>being missing</a:t>
            </a:r>
            <a:r>
              <a:rPr/>
              <a:t> tells the model something the other columns cannot - typically when missing not at random (MNAR)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(pandas, no model yet)</a:t>
                      </a:r>
                    </a:p>
                  </a:txBody>
                  <a:tcPr/>
                </a:tc>
              </a:tr>
              <a:tr h="0">
                <a:tc>
                  <a:txBody>
                    <a:bodyPr/>
                    <a:lstStyle/>
                    <a:p>
                      <a:pPr lvl="0" indent="0" marL="0">
                        <a:buNone/>
                      </a:pPr>
                      <a:r>
                        <a:rPr/>
                        <a:t>first look, 6</a:t>
                      </a:r>
                    </a:p>
                  </a:txBody>
                </a:tc>
                <a:tc>
                  <a:txBody>
                    <a:bodyPr/>
                    <a:lstStyle/>
                    <a:p>
                      <a:pPr lvl="0" indent="0" marL="0">
                        <a:buNone/>
                      </a:pPr>
                      <a:r>
                        <a:rPr>
                          <a:latin typeface="Courier"/>
                        </a:rPr>
                        <a:t>df.info()</a:t>
                      </a:r>
                      <a:r>
                        <a:rPr/>
                        <a:t>, </a:t>
                      </a:r>
                      <a:r>
                        <a:rPr>
                          <a:latin typeface="Courier"/>
                        </a:rPr>
                        <a:t>df.describe()</a:t>
                      </a:r>
                    </a:p>
                  </a:txBody>
                </a:tc>
              </a:tr>
              <a:tr h="0">
                <a:tc>
                  <a:txBody>
                    <a:bodyPr/>
                    <a:lstStyle/>
                    <a:p>
                      <a:pPr lvl="0" indent="0" marL="0">
                        <a:buNone/>
                      </a:pPr>
                      <a:r>
                        <a:rPr/>
                        <a:t>distributions, 7</a:t>
                      </a:r>
                    </a:p>
                  </a:txBody>
                </a:tc>
                <a:tc>
                  <a:txBody>
                    <a:bodyPr/>
                    <a:lstStyle/>
                    <a:p>
                      <a:pPr lvl="0" indent="0" marL="0">
                        <a:buNone/>
                      </a:pPr>
                      <a:r>
                        <a:rPr>
                          <a:latin typeface="Courier"/>
                        </a:rPr>
                        <a:t>df.hist()</a:t>
                      </a:r>
                    </a:p>
                  </a:txBody>
                </a:tc>
              </a:tr>
              <a:tr h="0">
                <a:tc>
                  <a:txBody>
                    <a:bodyPr/>
                    <a:lstStyle/>
                    <a:p>
                      <a:pPr lvl="0" indent="0" marL="0">
                        <a:buNone/>
                      </a:pPr>
                      <a:r>
                        <a:rPr/>
                        <a:t>missingness, 8-12</a:t>
                      </a:r>
                    </a:p>
                  </a:txBody>
                </a:tc>
                <a:tc>
                  <a:txBody>
                    <a:bodyPr/>
                    <a:lstStyle/>
                    <a:p>
                      <a:pPr lvl="0" indent="0" marL="0">
                        <a:buNone/>
                      </a:pPr>
                      <a:r>
                        <a:rPr>
                          <a:latin typeface="Courier"/>
                        </a:rPr>
                        <a:t>df.isna().mean()</a:t>
                      </a:r>
                      <a:r>
                        <a:rPr/>
                        <a:t>, and the mean before and after filling</a:t>
                      </a:r>
                    </a:p>
                  </a:txBody>
                </a:tc>
              </a:tr>
              <a:tr h="0">
                <a:tc>
                  <a:txBody>
                    <a:bodyPr/>
                    <a:lstStyle/>
                    <a:p>
                      <a:pPr lvl="0" indent="0" marL="0">
                        <a:buNone/>
                      </a:pPr>
                      <a:r>
                        <a:rPr/>
                        <a:t>outliers from scratch, 15-19</a:t>
                      </a:r>
                    </a:p>
                  </a:txBody>
                </a:tc>
                <a:tc>
                  <a:txBody>
                    <a:bodyPr/>
                    <a:lstStyle/>
                    <a:p>
                      <a:pPr lvl="0" indent="0" marL="0">
                        <a:buNone/>
                      </a:pPr>
                      <a:r>
                        <a:rPr>
                          <a:latin typeface="Courier"/>
                        </a:rPr>
                        <a:t>.mean()</a:t>
                      </a:r>
                      <a:r>
                        <a:rPr/>
                        <a:t> and </a:t>
                      </a:r>
                      <a:r>
                        <a:rPr>
                          <a:latin typeface="Courier"/>
                        </a:rPr>
                        <a:t>.std()</a:t>
                      </a:r>
                      <a:r>
                        <a:rPr/>
                        <a:t> for rule 1, </a:t>
                      </a:r>
                      <a:r>
                        <a:rPr>
                          <a:latin typeface="Courier"/>
                        </a:rPr>
                        <a:t>.quantile([0.25, 0.75])</a:t>
                      </a:r>
                      <a:r>
                        <a:rPr/>
                        <a:t> for rule 2</a:t>
                      </a:r>
                    </a:p>
                  </a:txBody>
                </a:tc>
              </a:tr>
              <a:tr h="0">
                <a:tc>
                  <a:txBody>
                    <a:bodyPr/>
                    <a:lstStyle/>
                    <a:p>
                      <a:pPr lvl="0" indent="0" marL="0">
                        <a:buNone/>
                      </a:pPr>
                      <a:r>
                        <a:rPr/>
                        <a:t>correlations, categories</a:t>
                      </a:r>
                    </a:p>
                  </a:txBody>
                </a:tc>
                <a:tc>
                  <a:txBody>
                    <a:bodyPr/>
                    <a:lstStyle/>
                    <a:p>
                      <a:pPr lvl="0" indent="0" marL="0">
                        <a:buNone/>
                      </a:pPr>
                      <a:r>
                        <a:rPr>
                          <a:latin typeface="Courier"/>
                        </a:rPr>
                        <a:t>df.corr()</a:t>
                      </a:r>
                      <a:r>
                        <a:rPr/>
                        <a:t>, </a:t>
                      </a:r>
                      <a:r>
                        <a:rPr>
                          <a:latin typeface="Courier"/>
                        </a:rPr>
                        <a:t>.value_counts()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 the </a:t>
            </a:r>
            <a:r>
              <a:rPr b="1"/>
              <a:t>learning rate</a:t>
            </a:r>
            <a:r>
              <a:rPr/>
              <a:t> -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(x − μ)/σ and (x − min)/(max − min),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 </a:t>
            </a:r>
            <a:r>
              <a:rPr>
                <a:latin typeface="Courier"/>
              </a:rPr>
              <a:t>OneHotEncoder</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3460d29d6f.png" id="0" name="Picture 1"/>
          <p:cNvPicPr>
            <a:picLocks noGrp="1" noChangeAspect="1"/>
          </p:cNvPicPr>
          <p:nvPr/>
        </p:nvPicPr>
        <p:blipFill>
          <a:blip r:embed="rId3"/>
          <a:stretch>
            <a:fillRect/>
          </a:stretch>
        </p:blipFill>
        <p:spPr bwMode="auto">
          <a:xfrm>
            <a:off x="1296590" y="2829964"/>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Accuracy: baseline </a:t>
            </a:r>
            <a:r>
              <a:rPr b="1"/>
              <a:t>0.806</a:t>
            </a:r>
            <a:r>
              <a:rPr/>
              <a:t>, model </a:t>
            </a:r>
            <a:r>
              <a:rPr b="1"/>
              <a:t>0.820</a:t>
            </a:r>
            <a:r>
              <a:rPr/>
              <a:t> (numeric + low-cardinality categoricals, no zip)</a:t>
            </a:r>
          </a:p>
          <a:p>
            <a:pPr lvl="0"/>
            <a:r>
              <a:rPr/>
              <a:t>Area under the receiver operating characteristic curve (AUC): </a:t>
            </a:r>
            <a:r>
              <a:rPr b="1"/>
              <a:t>0.751</a:t>
            </a:r>
            <a:r>
              <a:rPr/>
              <a:t>, the chance a random churner scores above a random non-churner; 0.5 is a coin flip</a:t>
            </a:r>
          </a:p>
          <a:p>
            <a:pPr lvl="0"/>
            <a:r>
              <a:rPr/>
              <a:t>In code: </a:t>
            </a:r>
            <a:r>
              <a:rPr>
                <a:latin typeface="Courier"/>
              </a:rPr>
              <a:t>LogisticRegression</a:t>
            </a:r>
            <a:r>
              <a:rPr/>
              <a:t> against </a:t>
            </a:r>
            <a:r>
              <a:rPr>
                <a:latin typeface="Courier"/>
              </a:rPr>
              <a:t>DummyClassifier</a:t>
            </a:r>
            <a:r>
              <a:rPr/>
              <a:t>, </a:t>
            </a:r>
            <a:r>
              <a:rPr>
                <a:latin typeface="Courier"/>
              </a:rPr>
              <a:t>roc_auc_score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Ratios, interactions, binning: a linear model cannot invent these itself.</a:t>
            </a:r>
          </a:p>
          <a:p>
            <a:pPr lvl="0" indent="0" marL="0">
              <a:buNone/>
            </a:pPr>
            <a:r>
              <a:rPr>
                <a:latin typeface="Courier"/>
              </a:rPr>
              <a:t>total_paid</a:t>
            </a:r>
            <a:r>
              <a:rPr/>
              <a:t> = charge × months stayed. AUC: 0.7514 → 0.7548, under four thousandths. Clean </a:t>
            </a:r>
            <a:r>
              <a:rPr>
                <a:latin typeface="Courier"/>
              </a:rPr>
              <a:t>tenure_months</a:t>
            </a:r>
            <a:r>
              <a:rPr/>
              <a:t> first and the same feature scores </a:t>
            </a:r>
            <a:r>
              <a:rPr b="1"/>
              <a:t>0.7439</a:t>
            </a:r>
            <a:r>
              <a:rPr/>
              <a:t> - the gain was living in the 999s.</a:t>
            </a:r>
          </a:p>
          <a:p>
            <a:pPr lvl="0" indent="0" marL="0">
              <a:buNone/>
            </a:pPr>
            <a:r>
              <a:rPr/>
              <a:t>In code: </a:t>
            </a:r>
            <a:r>
              <a:rPr>
                <a:latin typeface="Courier"/>
              </a:rPr>
              <a:t>FunctionTransformer(add_total_paid)</a:t>
            </a:r>
            <a:r>
              <a:rPr/>
              <a:t>, a step inside the pipeline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why scale, 24-27</a:t>
                      </a:r>
                    </a:p>
                  </a:txBody>
                </a:tc>
                <a:tc>
                  <a:txBody>
                    <a:bodyPr/>
                    <a:lstStyle/>
                    <a:p>
                      <a:pPr lvl="0" indent="0" marL="0">
                        <a:buNone/>
                      </a:pPr>
                      <a:r>
                        <a:rPr/>
                        <a:t>gradient descent by hand → ratio </a:t>
                      </a:r>
                      <a:r>
                        <a:rPr b="1"/>
                        <a:t>110:1</a:t>
                      </a:r>
                      <a:r>
                        <a:rPr/>
                        <a:t> (built as 100:1); rate </a:t>
                      </a:r>
                      <a:r>
                        <a:rPr b="1"/>
                        <a:t>2.0</a:t>
                      </a:r>
                      <a:r>
                        <a:rPr/>
                        <a:t> scaled, </a:t>
                      </a:r>
                      <a:r>
                        <a:rPr b="1"/>
                        <a:t>0.1</a:t>
                      </a:r>
                      <a:r>
                        <a:rPr/>
                        <a:t> raw; raw at 2.0 swings </a:t>
                      </a:r>
                      <a:r>
                        <a:rPr b="1"/>
                        <a:t>0.69 to 8.29</a:t>
                      </a:r>
                    </a:p>
                  </a:txBody>
                </a:tc>
              </a:tr>
              <a:tr h="0">
                <a:tc>
                  <a:txBody>
                    <a:bodyPr/>
                    <a:lstStyle/>
                    <a:p>
                      <a:pPr lvl="0" indent="0" marL="0">
                        <a:buNone/>
                      </a:pPr>
                      <a:r>
                        <a:rPr/>
                        <a:t>encoding, 28-33</a:t>
                      </a:r>
                    </a:p>
                  </a:txBody>
                </a:tc>
                <a:tc>
                  <a:txBody>
                    <a:bodyPr/>
                    <a:lstStyle/>
                    <a:p>
                      <a:pPr lvl="0" indent="0" marL="0">
                        <a:buNone/>
                      </a:pPr>
                      <a:r>
                        <a:rPr>
                          <a:latin typeface="Courier"/>
                        </a:rPr>
                        <a:t>pd.get_dummies</a:t>
                      </a:r>
                      <a:r>
                        <a:rPr/>
                        <a:t>, </a:t>
                      </a:r>
                      <a:r>
                        <a:rPr>
                          <a:latin typeface="Courier"/>
                        </a:rPr>
                        <a:t>np.linalg.matrix_rank</a:t>
                      </a:r>
                      <a:r>
                        <a:rPr/>
                        <a:t> → </a:t>
                      </a:r>
                      <a:r>
                        <a:rPr b="1"/>
                        <a:t>4 columns, rank 3</a:t>
                      </a:r>
                    </a:p>
                  </a:txBody>
                </a:tc>
              </a:tr>
              <a:tr h="0">
                <a:tc>
                  <a:txBody>
                    <a:bodyPr/>
                    <a:lstStyle/>
                    <a:p>
                      <a:pPr lvl="0" indent="0" marL="0">
                        <a:buNone/>
                      </a:pPr>
                      <a:r>
                        <a:rPr/>
                        <a:t>the pipeline, 36-38</a:t>
                      </a:r>
                    </a:p>
                  </a:txBody>
                </a:tc>
                <a:tc>
                  <a:txBody>
                    <a:bodyPr/>
                    <a:lstStyle/>
                    <a:p>
                      <a:pPr lvl="0" indent="0" marL="0">
                        <a:buNone/>
                      </a:pPr>
                      <a:r>
                        <a:rPr>
                          <a:latin typeface="Courier"/>
                        </a:rPr>
                        <a:t>train_test_split</a:t>
                      </a:r>
                      <a:r>
                        <a:rPr/>
                        <a:t>, then </a:t>
                      </a:r>
                      <a:r>
                        <a:rPr>
                          <a:latin typeface="Courier"/>
                        </a:rPr>
                        <a:t>ColumnTransformer</a:t>
                      </a:r>
                      <a:r>
                        <a:rPr/>
                        <a:t> + </a:t>
                      </a:r>
                      <a:r>
                        <a:rPr>
                          <a:latin typeface="Courier"/>
                        </a:rPr>
                        <a:t>Pipeline</a:t>
                      </a:r>
                      <a:r>
                        <a:rPr/>
                        <a:t>: </a:t>
                      </a:r>
                      <a:r>
                        <a:rPr>
                          <a:latin typeface="Courier"/>
                        </a:rPr>
                        <a:t>SimpleImputer</a:t>
                      </a:r>
                      <a:r>
                        <a:rPr/>
                        <a:t>, </a:t>
                      </a:r>
                      <a:r>
                        <a:rPr>
                          <a:latin typeface="Courier"/>
                        </a:rPr>
                        <a:t>StandardScaler</a:t>
                      </a:r>
                      <a:r>
                        <a:rPr/>
                        <a:t>, </a:t>
                      </a:r>
                      <a:r>
                        <a:rPr>
                          <a:latin typeface="Courier"/>
                        </a:rPr>
                        <a:t>OneHotEncoder</a:t>
                      </a:r>
                      <a:r>
                        <a:rPr/>
                        <a:t>, </a:t>
                      </a:r>
                      <a:r>
                        <a:rPr>
                          <a:latin typeface="Courier"/>
                        </a:rPr>
                        <a:t>LogisticRegression</a:t>
                      </a:r>
                    </a:p>
                  </a:txBody>
                </a:tc>
              </a:tr>
              <a:tr h="0">
                <a:tc>
                  <a:txBody>
                    <a:bodyPr/>
                    <a:lstStyle/>
                    <a:p>
                      <a:pPr lvl="0" indent="0" marL="0">
                        <a:buNone/>
                      </a:pPr>
                      <a:r>
                        <a:rPr/>
                        <a:t>the result, 39-40</a:t>
                      </a:r>
                    </a:p>
                  </a:txBody>
                </a:tc>
                <a:tc>
                  <a:txBody>
                    <a:bodyPr/>
                    <a:lstStyle/>
                    <a:p>
                      <a:pPr lvl="0" indent="0" marL="0">
                        <a:buNone/>
                      </a:pPr>
                      <a:r>
                        <a:rPr>
                          <a:latin typeface="Courier"/>
                        </a:rPr>
                        <a:t>DummyClassifier</a:t>
                      </a:r>
                      <a:r>
                        <a:rPr/>
                        <a:t>, </a:t>
                      </a:r>
                      <a:r>
                        <a:rPr>
                          <a:latin typeface="Courier"/>
                        </a:rPr>
                        <a:t>accuracy_score</a:t>
                      </a:r>
                      <a:r>
                        <a:rPr/>
                        <a:t>, </a:t>
                      </a:r>
                      <a:r>
                        <a:rPr>
                          <a:latin typeface="Courier"/>
                        </a:rPr>
                        <a:t>roc_auc_score</a:t>
                      </a:r>
                      <a:r>
                        <a:rPr/>
                        <a:t>, </a:t>
                      </a:r>
                      <a:r>
                        <a:rPr>
                          <a:latin typeface="Courier"/>
                        </a:rPr>
                        <a:t>ConfusionMatrixDisplay</a:t>
                      </a:r>
                    </a:p>
                  </a:txBody>
                </a:tc>
              </a:tr>
              <a:tr h="0">
                <a:tc>
                  <a:txBody>
                    <a:bodyPr/>
                    <a:lstStyle/>
                    <a:p>
                      <a:pPr lvl="0" indent="0" marL="0">
                        <a:buNone/>
                      </a:pPr>
                      <a:r>
                        <a:rPr/>
                        <a:t>feature engineering, 41</a:t>
                      </a:r>
                    </a:p>
                  </a:txBody>
                </a:tc>
                <a:tc>
                  <a:txBody>
                    <a:bodyPr/>
                    <a:lstStyle/>
                    <a:p>
                      <a:pPr lvl="0" indent="0" marL="0">
                        <a:buNone/>
                      </a:pPr>
                      <a:r>
                        <a:rPr>
                          <a:latin typeface="Courier"/>
                        </a:rPr>
                        <a:t>FunctionTransformer</a:t>
                      </a:r>
                      <a:r>
                        <a:rPr/>
                        <a:t> → </a:t>
                      </a:r>
                      <a:r>
                        <a:rPr b="1"/>
                        <a:t>0.7514 → 0.7548 → 0.7439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with the average of the five most similar rows: its </a:t>
            </a:r>
            <a:r>
              <a:rPr b="1"/>
              <a:t>donors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In code: </a:t>
            </a:r>
            <a:r>
              <a:rPr>
                <a:latin typeface="Courier"/>
              </a:rPr>
              <a:t>nan_euclidean_distances</a:t>
            </a:r>
            <a:r>
              <a:rPr/>
              <a:t>, the imputer’s own metric, names the donors.</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inside the pipeline.</a:t>
            </a:r>
          </a:p>
          <a:p>
            <a:pPr lvl="0" indent="0" marL="0">
              <a:buNone/>
            </a:pPr>
            <a:r>
              <a:rPr/>
              <a:t>It splits the training rows into five parts and encodes each row from the </a:t>
            </a:r>
            <a:r>
              <a:rPr b="1"/>
              <a:t>other four</a:t>
            </a:r>
            <a:r>
              <a:rPr/>
              <a:t>: never from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is fitted on the training rows only, inside the pipeline.</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leak, and its slides</a:t>
                      </a:r>
                    </a:p>
                  </a:txBody>
                  <a:tcPr/>
                </a:tc>
                <a:tc>
                  <a:txBody>
                    <a:bodyPr/>
                    <a:lstStyle/>
                    <a:p>
                      <a:pPr lvl="0" indent="0" marL="0">
                        <a:buNone/>
                      </a:pPr>
                      <a:r>
                        <a:rPr/>
                        <a:t>you call → what it shows</a:t>
                      </a:r>
                    </a:p>
                  </a:txBody>
                  <a:tcPr/>
                </a:tc>
              </a:tr>
              <a:tr h="0">
                <a:tc>
                  <a:txBody>
                    <a:bodyPr/>
                    <a:lstStyle/>
                    <a:p>
                      <a:pPr lvl="0" indent="0" marL="0">
                        <a:buNone/>
                      </a:pPr>
                      <a:r>
                        <a:rPr/>
                        <a:t>imputation, 44-46</a:t>
                      </a:r>
                    </a:p>
                  </a:txBody>
                </a:tc>
                <a:tc>
                  <a:txBody>
                    <a:bodyPr/>
                    <a:lstStyle/>
                    <a:p>
                      <a:pPr lvl="0" indent="0" marL="0">
                        <a:buNone/>
                      </a:pPr>
                      <a:r>
                        <a:rPr>
                          <a:latin typeface="Courier"/>
                        </a:rPr>
                        <a:t>KNNImputer</a:t>
                      </a:r>
                      <a:r>
                        <a:rPr/>
                        <a:t> fitted on every row; </a:t>
                      </a:r>
                      <a:r>
                        <a:rPr>
                          <a:latin typeface="Courier"/>
                        </a:rPr>
                        <a:t>nan_euclidean_distances</a:t>
                      </a:r>
                      <a:r>
                        <a:rPr/>
                        <a:t>, its own metric, names the donors → </a:t>
                      </a:r>
                      <a:r>
                        <a:rPr b="1"/>
                        <a:t>94 of 128</a:t>
                      </a:r>
                    </a:p>
                  </a:txBody>
                </a:tc>
              </a:tr>
              <a:tr h="0">
                <a:tc>
                  <a:txBody>
                    <a:bodyPr/>
                    <a:lstStyle/>
                    <a:p>
                      <a:pPr lvl="0" indent="0" marL="0">
                        <a:buNone/>
                      </a:pPr>
                      <a:r>
                        <a:rPr/>
                        <a:t>encoding, 47-50</a:t>
                      </a:r>
                    </a:p>
                  </a:txBody>
                </a:tc>
                <a:tc>
                  <a:txBody>
                    <a:bodyPr/>
                    <a:lstStyle/>
                    <a:p>
                      <a:pPr lvl="0" indent="0" marL="0">
                        <a:buNone/>
                      </a:pPr>
                      <a:r>
                        <a:rPr/>
                        <a:t>churn rate per </a:t>
                      </a:r>
                      <a:r>
                        <a:rPr>
                          <a:latin typeface="Courier"/>
                        </a:rPr>
                        <a:t>zip_code</a:t>
                      </a:r>
                      <a:r>
                        <a:rPr/>
                        <a:t>, before </a:t>
                      </a:r>
                      <a:r>
                        <a:rPr>
                          <a:latin typeface="Courier"/>
                        </a:rPr>
                        <a:t>train_test_split</a:t>
                      </a:r>
                      <a:r>
                        <a:rPr/>
                        <a:t> → AUC </a:t>
                      </a:r>
                      <a:r>
                        <a:rPr b="1"/>
                        <a:t>0.891</a:t>
                      </a:r>
                      <a:r>
                        <a:rPr/>
                        <a:t> from a column with no signal</a:t>
                      </a:r>
                    </a:p>
                  </a:txBody>
                </a:tc>
              </a:tr>
              <a:tr h="0">
                <a:tc>
                  <a:txBody>
                    <a:bodyPr/>
                    <a:lstStyle/>
                    <a:p>
                      <a:pPr lvl="0" indent="0" marL="0">
                        <a:buNone/>
                      </a:pPr>
                      <a:r>
                        <a:rPr/>
                        <a:t>the fix, 51</a:t>
                      </a:r>
                    </a:p>
                  </a:txBody>
                </a:tc>
                <a:tc>
                  <a:txBody>
                    <a:bodyPr/>
                    <a:lstStyle/>
                    <a:p>
                      <a:pPr lvl="0" indent="0" marL="0">
                        <a:buNone/>
                      </a:pPr>
                      <a:r>
                        <a:rPr>
                          <a:latin typeface="Courier"/>
                        </a:rPr>
                        <a:t>TargetEncoder</a:t>
                      </a:r>
                      <a:r>
                        <a:rPr/>
                        <a:t> inside the </a:t>
                      </a:r>
                      <a:r>
                        <a:rPr>
                          <a:latin typeface="Courier"/>
                        </a:rPr>
                        <a:t>ColumnTransformer</a:t>
                      </a:r>
                      <a:r>
                        <a:rPr/>
                        <a:t> → the honest </a:t>
                      </a:r>
                      <a:r>
                        <a:rPr b="1"/>
                        <a:t>0.751</a:t>
                      </a:r>
                    </a:p>
                  </a:txBody>
                </a:tc>
              </a:tr>
              <a:tr h="0">
                <a:tc>
                  <a:txBody>
                    <a:bodyPr/>
                    <a:lstStyle/>
                    <a:p>
                      <a:pPr lvl="0" indent="0" marL="0">
                        <a:buNone/>
                      </a:pPr>
                      <a:r>
                        <a:rPr/>
                        <a:t>your own split</a:t>
                      </a:r>
                    </a:p>
                  </a:txBody>
                </a:tc>
                <a:tc>
                  <a:txBody>
                    <a:bodyPr/>
                    <a:lstStyle/>
                    <a:p>
                      <a:pPr lvl="0" indent="0" marL="0">
                        <a:buNone/>
                      </a:pPr>
                      <a:r>
                        <a:rPr>
                          <a:latin typeface="Courier"/>
                        </a:rPr>
                        <a:t>clone</a:t>
                      </a:r>
                      <a:r>
                        <a:rPr/>
                        <a:t> both models, refit on a split of your own</a:t>
                      </a:r>
                    </a:p>
                  </a:txBody>
                </a:tc>
              </a:tr>
              <a:tr h="0">
                <a:tc>
                  <a:txBody>
                    <a:bodyPr/>
                    <a:lstStyle/>
                    <a:p>
                      <a:pPr lvl="0" indent="0" marL="0">
                        <a:buNone/>
                      </a:pPr>
                      <a:r>
                        <a:rPr/>
                        <a:t>scored with</a:t>
                      </a:r>
                    </a:p>
                  </a:txBody>
                </a:tc>
                <a:tc>
                  <a:txBody>
                    <a:bodyPr/>
                    <a:lstStyle/>
                    <a:p>
                      <a:pPr lvl="0" indent="0" marL="0">
                        <a:buNone/>
                      </a:pPr>
                      <a:r>
                        <a:rPr>
                          <a:latin typeface="Courier"/>
                        </a:rPr>
                        <a:t>roc_auc_score</a:t>
                      </a:r>
                      <a:r>
                        <a:rPr/>
                        <a:t> throughout</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