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with the exercise, briefly - two or three minutes, not a review session. Nothing is collected, so this is the whole of the feedback: ask for a show of hands, who treated quality as binary and who kept it as an integer regression problem. Both are defensible if justified; that was the whole point of Task 1.</a:t>
            </a:r>
          </a:p>
          <a:p>
            <a:pPr lvl="0" indent="0" marL="0">
              <a:buNone/>
            </a:pPr>
          </a:p>
          <a:p>
            <a:pPr lvl="0" indent="0" marL="0">
              <a:buNone/>
            </a:pPr>
            <a:r>
              <a:rPr/>
              <a:t>Say once, here and only here, why it is worth having done: at the exam one of the ten exercises is drawn and they talk through their own notebook for it. Then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land the framing for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the machinery that makes the leakage discussion precise rather than hand-wavy.</a:t>
            </a:r>
          </a:p>
          <a:p>
            <a:pPr lvl="0" indent="0" marL="0">
              <a:buNone/>
            </a:pPr>
          </a:p>
          <a:p>
            <a:pPr lvl="0" indent="0" marL="0">
              <a:buNone/>
            </a:pPr>
            <a:r>
              <a:rPr/>
              <a:t>Timing: roughly 35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numbers off the slide and stop. The plot on the next slide is what makes the 999 mean something, and it needs the whole slide to be legible from the back of the room.</a:t>
            </a:r>
          </a:p>
          <a:p>
            <a:pPr lvl="0" indent="0" marL="0">
              <a:buNone/>
            </a:pPr>
          </a:p>
          <a:p>
            <a:pPr lvl="0" indent="0" marL="0">
              <a:buNone/>
            </a:pPr>
            <a:r>
              <a:rPr/>
              <a:t>Ask, before turning over: what will a histogram of tenure look like, if one customer in the file has 999 months?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describe shapes the room cannot see. On the first two panels there is no shape to read: tenure and monthly_charges are each a single spike at the left, with the axis running out to 1000 and 3500 and nothing drawn out there.</a:t>
            </a:r>
          </a:p>
          <a:p>
            <a:pPr lvl="0" indent="0" marL="0">
              <a:buNone/>
            </a:pPr>
          </a:p>
          <a:p>
            <a:pPr lvl="0" indent="0" marL="0">
              <a:buNone/>
            </a:pPr>
            <a:r>
              <a:rPr/>
              <a:t>That absence IS the slide. Ask them what stretched the axis, and let someone say it: a few values so extreme that every other customer has been squashed into one bar. This is the figure that makes the next forty minutes necessary.</a:t>
            </a:r>
          </a:p>
          <a:p>
            <a:pPr lvl="0" indent="0" marL="0">
              <a:buNone/>
            </a:pPr>
          </a:p>
          <a:p>
            <a:pPr lvl="0" indent="0" marL="0">
              <a:buNone/>
            </a:pPr>
            <a:r>
              <a:rPr/>
              <a:t>Then point at age and num_support_calls, which are on their own honest ranges and do show a distribution - age skewed with a spike at the youngest bound, support calls a Poisson-looking count. That contrast is the argument for cleaning before looking any further, and it is why the same plot reappears after Section 4.</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missing completely at random: probability of missing depends on nothing. A blank field for no systematic reason.</a:t>
            </a:r>
          </a:p>
          <a:p>
            <a:pPr lvl="0" indent="0" marL="0">
              <a:buNone/>
            </a:pPr>
          </a:p>
          <a:p>
            <a:pPr lvl="0" indent="0" marL="0">
              <a:buNone/>
            </a:pPr>
            <a:r>
              <a:rPr/>
              <a:t>MAR, missing at random: depends on something you DO observe. Our num_support_calls is MAR against tenure - long-standing customers’ early call history predates the customer relationship management (CRM) system. Conditional on tenure, the gap carries no further information.</a:t>
            </a:r>
          </a:p>
          <a:p>
            <a:pPr lvl="0" indent="0" marL="0">
              <a:buNone/>
            </a:pPr>
          </a:p>
          <a:p>
            <a:pPr lvl="0" indent="0" marL="0">
              <a:buNone/>
            </a:pPr>
            <a:r>
              <a:rPr/>
              <a:t>MNAR, missing not at random: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Handout Section 3.2 derives it: filling p of the entries with a constant shrinks the variance to (1-p) times the original, and attenuates every correlation the column has with anything else by the square root of (1-p).</a:t>
            </a:r>
          </a:p>
          <a:p>
            <a:pPr lvl="0" indent="0" marL="0">
              <a:buNone/>
            </a:pPr>
          </a:p>
          <a:p>
            <a:pPr lvl="0" indent="0" marL="0">
              <a:buNone/>
            </a:pPr>
            <a:r>
              <a:rPr/>
              <a:t>Have the numbers ready. For age at p = 0.08 the factor is 0.96 - small enough to ignore. At p = 0.4 it is 0.77, which erases nearly a quarter of a genuine relationship. Tell them the practical rule that follows: mean imputation is fine when the gaps are few, and quietly destructive when they are many.</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the correlation is multiplied by the square root of one minus the missing fraction.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that MCAR imputation does not need: add a binary column recording whether the value was missing. It lets a model use the fact of missingness - which, under MAR, is genuinely informative about tenure - even after the gap itself is filled with a number.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adding a binary indicator keeps the MAR signal itself available to the model - the fact that long-tenure customers are more often missing a call count may be more informative than the count would have been.</a:t>
            </a:r>
          </a:p>
          <a:p>
            <a:pPr lvl="0" indent="0" marL="0">
              <a:buNone/>
            </a:pPr>
          </a:p>
          <a:p>
            <a:pPr lvl="0" indent="0" marL="0">
              <a:buNone/>
            </a:pPr>
            <a:r>
              <a:rPr/>
              <a:t>Then the line at the bottom: every option except dropping the column learns a statistic, so all of them belong inside the training fold.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decision path rather than a rule: how much is missing, does the missingness look related to anything, and what does the column cost if it goes.</a:t>
            </a:r>
          </a:p>
          <a:p>
            <a:pPr lvl="0" indent="0" marL="0">
              <a:buNone/>
            </a:pPr>
          </a:p>
          <a:p>
            <a:pPr lvl="0" indent="0" marL="0">
              <a:buNone/>
            </a:pPr>
            <a:r>
              <a:rPr/>
              <a:t>Point out that three of the four branches end somewhere defensible, and that the indicator branch is the one people forget. Adding a column that records that a value was missing costs nothing and keeps the signal alive when the fact of the gap is itself informative - which for anything recorded by a human it usually is.</a:t>
            </a:r>
          </a:p>
          <a:p>
            <a:pPr lvl="0" indent="0" marL="0">
              <a:buNone/>
            </a:pPr>
          </a:p>
          <a:p>
            <a:pPr lvl="0" indent="0" marL="0">
              <a:buNone/>
            </a:pPr>
            <a:r>
              <a:rPr/>
              <a:t>The branch worth warning about is dropping rows. It is the easiest to do and the only one that can quietly change what the sample represents.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Pay off the 999 from slide 6: they have already seen it, and now it gets a name.</a:t>
            </a:r>
          </a:p>
          <a:p>
            <a:pPr lvl="0" indent="0" marL="0">
              <a:buNone/>
            </a:pPr>
          </a:p>
          <a:p>
            <a:pPr lvl="0" indent="0" marL="0">
              <a:buNone/>
            </a:pPr>
            <a:r>
              <a:rPr/>
              <a:t>Put the three reasons to the room before reading them out - ask what could make a customer’s monthly charge 3,344.7 when everyone else is under 128. Someone will say typo; ask whether they are sure, and let the silence do the work. That is the point of the third bullet.</a:t>
            </a:r>
          </a:p>
          <a:p>
            <a:pPr lvl="0" indent="0" marL="0">
              <a:buNone/>
            </a:pPr>
          </a:p>
          <a:p>
            <a:pPr lvl="0" indent="0" marL="0">
              <a:buNone/>
            </a:pPr>
            <a:r>
              <a:rPr/>
              <a:t>The last bullet is the promise the next six slides keep: rule 1 in standard deviations, rule 2 in quartiles, then the slide where they disagree and the slide where the robust one is the one that got it wrong. Nothing here deletes a row - what to do once something is flagged is Section 4.2, and it has no automatic answer.</a:t>
            </a:r>
          </a:p>
          <a:p>
            <a:pPr lvl="0" indent="0" marL="0">
              <a:buNone/>
            </a:pPr>
          </a:p>
          <a:p>
            <a:pPr lvl="0" indent="0" marL="0">
              <a:buNone/>
            </a:pPr>
            <a:r>
              <a:rPr/>
              <a:t>Handout Section 4 opening.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z-score rule. Standardise the column, then flag anything more than k standard deviations from the mean - we use k = 3 throughout.</a:t>
            </a:r>
          </a:p>
          <a:p>
            <a:pPr lvl="0" indent="0" marL="0">
              <a:buNone/>
            </a:pPr>
          </a:p>
          <a:p>
            <a:pPr lvl="0" indent="0" marL="0">
              <a:buNone/>
            </a:pPr>
            <a:r>
              <a:rPr/>
              <a:t>Say what it assumes, because everything in the next three slides follows from it: measuring in standard deviations only means “surprising” if the column is a bell curve. It also computes its own ruler from the data being measured, which is the crack the section prises open.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Tukey’s fence, built on the interquartile range (IQR) - the spread between the first and third quartiles, so the middle half of the data. Flag anything more than 1.5 interquartile ranges past the quartiles.</a:t>
            </a:r>
          </a:p>
          <a:p>
            <a:pPr lvl="0" indent="0" marL="0">
              <a:buNone/>
            </a:pPr>
          </a:p>
          <a:p>
            <a:pPr lvl="0" indent="0" marL="0">
              <a:buNone/>
            </a:pPr>
            <a:r>
              <a:rPr/>
              <a:t>It assumes no shape at all, and its ruler barely moves when a few points are extreme. That sounds strictly better than rule 1. Two slides from now it will be the rule making the mistakes.</a:t>
            </a:r>
          </a:p>
          <a:p>
            <a:pPr lvl="0" indent="0" marL="0">
              <a:buNone/>
            </a:pPr>
          </a:p>
          <a:p>
            <a:pPr lvl="0" indent="0" marL="0">
              <a:buNone/>
            </a:pPr>
            <a:r>
              <a:rPr/>
              <a:t>Now give the probabilistic reading of each, because it is what makes them more than recipes. Under normality |z| &gt; 3 flags 0.27% of a column, both tails together. And the 1.5 is not arbitrary: for a normal column the IQR is 1.349 sigma, so the fence lands at 2.698 sigma - just inside 3. Handout Section 4.1 derives it.</a:t>
            </a:r>
          </a:p>
          <a:p>
            <a:pPr lvl="0" indent="0" marL="0">
              <a:buNone/>
            </a:pPr>
          </a:p>
          <a:p>
            <a:pPr lvl="0" indent="0" marL="0">
              <a:buNone/>
            </a:pPr>
            <a:r>
              <a:rPr/>
              <a:t>Then put the two side by side, counting both tails each time, because this is where people quietly mislead themselves: 0.27% against 0.70%. The fences are 10% apart in position and a factor of 2.6 apart in what they flag.</a:t>
            </a:r>
          </a:p>
          <a:p>
            <a:pPr lvl="0" indent="0" marL="0">
              <a:buNone/>
            </a:pPr>
          </a:p>
          <a:p>
            <a:pPr lvl="0" indent="0" marL="0">
              <a:buNone/>
            </a:pPr>
            <a:r>
              <a:rPr/>
              <a:t>Then make that concrete, because a percentage does not land: take 2,000 values off a perfect bell curve, nothing wrong with any of them. The z-score rule still nominates about 5 and Tukey about 14 - false alarms both, the tail being flagged for being the tail. Say what that means for the twenty real billing errors in this dataset: neither rule can tell the two kinds apart, which is why a flag is a candidate and never a verdict.</a:t>
            </a:r>
          </a:p>
          <a:p>
            <a:pPr lvl="0" indent="0" marL="0">
              <a:buNone/>
            </a:pPr>
          </a:p>
          <a:p>
            <a:pPr lvl="0" indent="0" marL="0">
              <a:buNone/>
            </a:pPr>
            <a:r>
              <a:rPr/>
              <a:t>The moral to state out loud: the two rules were built to sit in the same neighbourhood, not to agree, and even on perfect data Tukey’s is the readier of the two to call something an outlier. The next slide draws it.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a:t>
            </a:r>
          </a:p>
          <a:p>
            <a:pPr lvl="0" indent="0" marL="0">
              <a:buNone/>
            </a:pPr>
          </a:p>
          <a:p>
            <a:pPr lvl="0" indent="0" marL="0">
              <a:buNone/>
            </a:pPr>
            <a:r>
              <a:rPr/>
              <a:t>Work the two panels in order, because the slide is an argument and not an illustration. Left: the two fences are 0.30 sigma apart. Ask the room whether that looks like a difference worth caring about - it does not. Right: the same two rules flag 0.27% and 0.70% of a normal column, a factor of 2.6.</a:t>
            </a:r>
          </a:p>
          <a:p>
            <a:pPr lvl="0" indent="0" marL="0">
              <a:buNone/>
            </a:pPr>
          </a:p>
          <a:p>
            <a:pPr lvl="0" indent="0" marL="0">
              <a:buNone/>
            </a:pPr>
            <a:r>
              <a:rPr/>
              <a:t>The reason is the steepness of the tail. Move a fence in by a third of a standard deviation and you nearly triple the area beyond it. So resist saying “the two rules agree here”: they sit in the same neighbourhood, and out in the tail a neighbourhood is a factor of 2.6.</a:t>
            </a:r>
          </a:p>
          <a:p>
            <a:pPr lvl="0" indent="0" marL="0">
              <a:buNone/>
            </a:pPr>
          </a:p>
          <a:p>
            <a:pPr lvl="0" indent="0" marL="0">
              <a:buNone/>
            </a:pPr>
            <a:r>
              <a:rPr/>
              <a:t>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counts up before the picture is read: 20 genuine billing errors in monthly_charges. The z-score rule flags 20 - all of them, nothing else. Tukey flags 32 - the same 20, plus 12 ordinary customers.</a:t>
            </a:r>
          </a:p>
          <a:p>
            <a:pPr lvl="0" indent="0" marL="0">
              <a:buNone/>
            </a:pPr>
          </a:p>
          <a:p>
            <a:pPr lvl="0" indent="0" marL="0">
              <a:buNone/>
            </a:pPr>
            <a:r>
              <a:rPr/>
              <a:t>Ask the room to predict which rule was damaged by the contamination, then give them the number: the billing errors inflate s from 17.2 to 171.3, dragging the z-score fence from 115 out to 593. The rule was genuinely crippled. It got every error anyway, because the smallest of them is 780 - still past the ruined fence.</a:t>
            </a:r>
          </a:p>
          <a:p>
            <a:pPr lvl="0" indent="0" marL="0">
              <a:buNone/>
            </a:pPr>
          </a:p>
          <a:p>
            <a:pPr lvl="0" indent="0" marL="0">
              <a:buNone/>
            </a:pPr>
            <a:r>
              <a:rPr/>
              <a:t>Meanwhile the twelve Tukey extras are real people on real tariffs: eight paying 15 to 17, four paying 112 to 128, outside fences of 17.3 and 110.</a:t>
            </a:r>
          </a:p>
          <a:p>
            <a:pPr lvl="0" indent="0" marL="0">
              <a:buNone/>
            </a:pPr>
          </a:p>
          <a:p>
            <a:pPr lvl="0" indent="0" marL="0">
              <a:buNone/>
            </a:pPr>
            <a:r>
              <a:rPr/>
              <a:t>The line to land, and it is the whole point of the slide: a detector’s output does not report the detector’s health. The z-score rule was right by luck. Push those errors down towards 200 and its fence sails straight past them, exactly as the theory says. So the lesson is not “prefer IQR” - it is “recompute s without the candidates and see what moved”. Handout Section 4.2.</a:t>
            </a:r>
          </a:p>
          <a:p>
            <a:pPr lvl="0" indent="0" marL="0">
              <a:buNone/>
            </a:pPr>
          </a:p>
          <a:p>
            <a:pPr lvl="0" indent="0" marL="0">
              <a:buNone/>
            </a:pPr>
            <a:r>
              <a:rPr/>
              <a:t>Point at the left panel’s bottom band: those scattered red dots down in the ordinary customers are the twelve.</a:t>
            </a:r>
          </a:p>
          <a:p>
            <a:pPr lvl="0" indent="0" marL="0">
              <a:buNone/>
            </a:pPr>
          </a:p>
          <a:p>
            <a:pPr lvl="0" indent="0" marL="0">
              <a:buNone/>
            </a:pPr>
            <a:r>
              <a:rPr/>
              <a:t>tenure_months, right panel: only 4 flagged, all at 999, and here the two rules agree exactly.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 Winsorising, after Charles Winsor - replaces the value with the fence itself: the billing error of 3,344.7 becomes 110.0, the row keeps every other column it has, and the sample keeps its size. It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silently reweights the sample.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through notebook 1 now, 20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Reconnect to Lesson 1 before anything else, because the vocabulary is already theirs: the empirical risk was the average loss over the rows we hold, and choosing the f that makes it small was the whole definition of learning. What was left open there is HOW you make it small. This is the how.</a:t>
            </a:r>
          </a:p>
          <a:p>
            <a:pPr lvl="0" indent="0" marL="0">
              <a:buNone/>
            </a:pPr>
          </a:p>
          <a:p>
            <a:pPr lvl="0" indent="0" marL="0">
              <a:buNone/>
            </a:pPr>
            <a:r>
              <a:rPr/>
              <a:t>Say what a model’s “numbers” are, once: one coefficient per feature, plus the intercept. Training is a search over those numbers, and every candidate set of them has a loss.</a:t>
            </a:r>
          </a:p>
          <a:p>
            <a:pPr lvl="0" indent="0" marL="0">
              <a:buNone/>
            </a:pPr>
          </a:p>
          <a:p>
            <a:pPr lvl="0" indent="0" marL="0">
              <a:buNone/>
            </a:pPr>
            <a:r>
              <a:rPr/>
              <a:t>Then say what a single step is, because the slide leans on it: gradient descent starts from some numbers, works out for each one whether nudging it up or down lowers the loss, and moves them all at once - each by the same step size, times how steeply the loss falls in that direction. One step size for the whole model, not one per feature. That is the sentence the next slide draws.</a:t>
            </a:r>
          </a:p>
          <a:p>
            <a:pPr lvl="0" indent="0" marL="0">
              <a:buNone/>
            </a:pPr>
          </a:p>
          <a:p>
            <a:pPr lvl="0" indent="0" marL="0">
              <a:buNone/>
            </a:pPr>
            <a:r>
              <a:rPr/>
              <a:t>Ask, before turning over: if two features live on very different scales, can a single step size be right for both directions at once? Let the room reason about it first.</a:t>
            </a:r>
          </a:p>
          <a:p>
            <a:pPr lvl="0" indent="0" marL="0">
              <a:buNone/>
            </a:pPr>
          </a:p>
          <a:p>
            <a:pPr lvl="0" indent="0" marL="0">
              <a:buNone/>
            </a:pPr>
            <a:r>
              <a:rPr/>
              <a:t>Be honest about this dataset, because a sharp student will check: once the outliers of Section 4 are removed, these two columns have comparable spreads - the ratio of their standard deviations is about 0.8. They are not a dramatic case, which is exactly why notebook 2 builds a toy pair with a 110:1 variance ratio to make the effect unambiguous. The point is not that churn data is pathological; it is that you cannot count on it not being.</a:t>
            </a:r>
          </a:p>
          <a:p>
            <a:pPr lvl="0" indent="0" marL="0">
              <a:buNone/>
            </a:pPr>
          </a:p>
          <a:p>
            <a:pPr lvl="0" indent="0" marL="0">
              <a:buNone/>
            </a:pPr>
            <a:r>
              <a:rPr/>
              <a:t>The punchline, which handout Section 5.2 states: the safe step size is set by the feature with the largest spread, so progress along the smallest-spread direction is throttled by their ratio. Scaling is not cosmetic - it changes how long training takes, and sometimes whether it converges at all. The derivation is deliberately NOT here: it belongs with gradient descent itself, Lesson 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one entirely on the picture; there is no algebra on this slide by choice.</a:t>
            </a:r>
          </a:p>
          <a:p>
            <a:pPr lvl="0" indent="0" marL="0">
              <a:buNone/>
            </a:pPr>
          </a:p>
          <a:p>
            <a:pPr lvl="0" indent="0" marL="0">
              <a:buNone/>
            </a:pPr>
            <a:r>
              <a:rPr/>
              <a:t>Read the axes first, and do not skip this - a contour plot of a loss surface is new to most of them and it is not a plot of the data. Neither axis is a column. The horizontal axis is the coefficient the model gives feature 1, the vertical axis is the coefficient it gives feature 2, so every point in the square is one candidate model. The grey rings join the models that fit equally badly, the way contour lines on a map join points of equal altitude. The blue star is the model with the lowest loss - what training is looking for. The rust dots are successive steps, and the line joining them is the search.</a:t>
            </a:r>
          </a:p>
          <a:p>
            <a:pPr lvl="0" indent="0" marL="0">
              <a:buNone/>
            </a:pPr>
          </a:p>
          <a:p>
            <a:pPr lvl="0" indent="0" marL="0">
              <a:buNone/>
            </a:pPr>
            <a:r>
              <a:rPr/>
              <a:t>Left: the two features have different spreads, so the loss surface is a narrow ravine - steep across, almost flat along. One step size has to serve both. Long enough to advance along the flat direction and it overshoots the steep one and bounces from wall to wall; short enough to be safe on the steep one and it crawls along the flat one. Count the dots out loud: twenty-six steps and it is still not at the star.</a:t>
            </a:r>
          </a:p>
          <a:p>
            <a:pPr lvl="0" indent="0" marL="0">
              <a:buNone/>
            </a:pPr>
          </a:p>
          <a:p>
            <a:pPr lvl="0" indent="0" marL="0">
              <a:buNone/>
            </a:pPr>
            <a:r>
              <a:rPr/>
              <a:t>Right: after scaling, the ravine is a bowl and every step points at the minimum.</a:t>
            </a:r>
          </a:p>
          <a:p>
            <a:pPr lvl="0" indent="0" marL="0">
              <a:buNone/>
            </a:pPr>
          </a:p>
          <a:p>
            <a:pPr lvl="0" indent="0" marL="0">
              <a:buNone/>
            </a:pPr>
            <a:r>
              <a:rPr/>
              <a:t>Give them the handle without the derivation: how stretched the ravine is - the ratio of the largest feature variance to the smallest - is called the condition number, and the number of steps you need grows with it.</a:t>
            </a:r>
          </a:p>
          <a:p>
            <a:pPr lvl="0" indent="0" marL="0">
              <a:buNone/>
            </a:pPr>
          </a:p>
          <a:p>
            <a:pPr lvl="0" indent="0" marL="0">
              <a:buNone/>
            </a:pPr>
            <a:r>
              <a:rPr/>
              <a:t>If someone asks WHY the surface has that shape, that is the right question and the honest answer is “Lesson 3, where we derive gradient descent” - its Section 4.4 puts the number on it: standardising the housing design matrix takes the condition number from 285 to 3.4.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it never converges at all.</a:t>
            </a:r>
          </a:p>
          <a:p>
            <a:pPr lvl="0" indent="0" marL="0">
              <a:buNone/>
            </a:pPr>
          </a:p>
          <a:p>
            <a:pPr lvl="0" indent="0" marL="0">
              <a:buNone/>
            </a:pPr>
            <a:r>
              <a:rPr/>
              <a:t>Be precise about the failure if anyone asks, because “diverges” is the word people reach for and it is not what this is. The loss does not climb away to infinity - it swings between 0.69 and 8.29 and stays there, bouncing off one wall of the ravine into the other. Run it for 2000 steps and it is still in the same band. Worse than slow, not better: a slow run finishes.</a:t>
            </a:r>
          </a:p>
          <a:p>
            <a:pPr lvl="0" indent="0" marL="0">
              <a:buNone/>
            </a:pPr>
          </a:p>
          <a:p>
            <a:pPr lvl="0" indent="0" marL="0">
              <a:buNone/>
            </a:pPr>
            <a:r>
              <a:rPr/>
              <a:t>This is a controlled toy (notebook 2), built to a 100:1 variance ratio and landing at 110 once drawn, so the effect is unambiguous. On the real churn columns, once cleaned, the two spreads are within about 20% of each other - so this toy is not exaggerating a big effect in the data, it is manufacturing a clear one to show a mechanism.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by saying what the problem is, because nothing so far has needed it: a model does arithmetic, and a column holding the words “month-to-month” offers nothing to do arithmetic with. It has to become numbers, and there is more than one way to do that.</a:t>
            </a:r>
          </a:p>
          <a:p>
            <a:pPr lvl="0" indent="0" marL="0">
              <a:buNone/>
            </a:pPr>
          </a:p>
          <a:p>
            <a:pPr lvl="0" indent="0" marL="0">
              <a:buNone/>
            </a:pPr>
            <a:r>
              <a:rPr/>
              <a:t>Give them the word: the distinct values a categorical column can take are its levels. contract_type has three, with 2,000 rows spread across them.</a:t>
            </a:r>
          </a:p>
          <a:p>
            <a:pPr lvl="0" indent="0" marL="0">
              <a:buNone/>
            </a:pPr>
          </a:p>
          <a:p>
            <a:pPr lvl="0" indent="0" marL="0">
              <a:buNone/>
            </a:pPr>
            <a:r>
              <a:rPr/>
              <a:t>Then the sentence the whole section hangs on, and it is worth saying slowly: every way of turning a category into numbers makes a claim about the categories. The claim is the part to get right - the code is three lines either way.</a:t>
            </a:r>
          </a:p>
          <a:p>
            <a:pPr lvl="0" indent="0" marL="0">
              <a:buNone/>
            </a:pPr>
          </a:p>
          <a:p>
            <a:pPr lvl="0" indent="0" marL="0">
              <a:buNone/>
            </a:pPr>
            <a:r>
              <a:rPr/>
              <a:t>Point at the churn column before moving on. It does double duty: it is what target encoding will use as the number, and it is the evidence that will convict ordinal encoding two slides from now.</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customer, one contract, three numbers. Read the table a row at a time and let the right-hand column do the work - it is what each encoding is asserting about the world, not about the data type.</a:t>
            </a:r>
          </a:p>
          <a:p>
            <a:pPr lvl="0" indent="0" marL="0">
              <a:buNone/>
            </a:pPr>
          </a:p>
          <a:p>
            <a:pPr lvl="0" indent="0" marL="0">
              <a:buNone/>
            </a:pPr>
            <a:r>
              <a:rPr/>
              <a:t>The middle row is where damage usually happens, and this column shows why the mistake is reasonable: the order is genuine. A one-year contract really does sit between the other two, so ordinal looks safe here in a way it would not for region or zip code.</a:t>
            </a:r>
          </a:p>
          <a:p>
            <a:pPr lvl="0" indent="0" marL="0">
              <a:buNone/>
            </a:pPr>
          </a:p>
          <a:p>
            <a:pPr lvl="0" indent="0" marL="0">
              <a:buNone/>
            </a:pPr>
            <a:r>
              <a:rPr/>
              <a:t>Ask the room which of the three claims is true for THIS column before turning over. It is a domain question, not a technical one, and no cross-validation score will answer it.</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against right panel - that is the whole slide, and it is the answer to the question left hanging.</a:t>
            </a:r>
          </a:p>
          <a:p>
            <a:pPr lvl="0" indent="0" marL="0">
              <a:buNone/>
            </a:pPr>
          </a:p>
          <a:p>
            <a:pPr lvl="0" indent="0" marL="0">
              <a:buNone/>
            </a:pPr>
            <a:r>
              <a:rPr/>
              <a:t>Ordinal spaces the levels 0, 1, 2: equal steps by construction. The churn rates those levels stand in for fall 0.266, 0.137, 0.071, so the first step is 0.129 and the second is 0.066 - the first is nearly twice the second. The encoding asserts a regularity the column does not have, and a linear model has exactly one coefficient with which to believe it.</a:t>
            </a:r>
          </a:p>
          <a:p>
            <a:pPr lvl="0" indent="0" marL="0">
              <a:buNone/>
            </a:pPr>
          </a:p>
          <a:p>
            <a:pPr lvl="0" indent="0" marL="0">
              <a:buNone/>
            </a:pPr>
            <a:r>
              <a:rPr/>
              <a:t>Then the middle panel, which claims nothing at all and pays for that neutrality in columns - the caption says k = 493 for zip_code, and that is the thread into the next three slides.</a:t>
            </a:r>
          </a:p>
          <a:p>
            <a:pPr lvl="0" indent="0" marL="0">
              <a:buNone/>
            </a:pPr>
          </a:p>
          <a:p>
            <a:pPr lvl="0" indent="0" marL="0">
              <a:buNone/>
            </a:pPr>
            <a:r>
              <a:rPr/>
              <a:t>The right panel is computed from the labels. Say that out loud and leave it there: it is the first appearance of the leak the last third of the lesson is about.</a:t>
            </a:r>
          </a:p>
          <a:p>
            <a:pPr lvl="0" indent="0" marL="0">
              <a:buNone/>
            </a:pPr>
          </a:p>
          <a:p>
            <a:pPr lvl="0" indent="0" marL="0">
              <a:buNone/>
            </a:pPr>
            <a:r>
              <a:rPr/>
              <a:t>Handout Section 6.2.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encoding to spend time on, because it is what scikit-learn’s OneHotEncoder does and what the pipeline later in the notebook uses.</a:t>
            </a:r>
          </a:p>
          <a:p>
            <a:pPr lvl="0" indent="0" marL="0">
              <a:buNone/>
            </a:pPr>
          </a:p>
          <a:p>
            <a:pPr lvl="0" indent="0" marL="0">
              <a:buNone/>
            </a:pPr>
            <a:r>
              <a:rPr/>
              <a:t>The mechanics first: k levels, k binary columns, exactly one 1 in every row. No category is closer to any other, which is precisely the neutrality that makes it the safe default.</a:t>
            </a:r>
          </a:p>
          <a:p>
            <a:pPr lvl="0" indent="0" marL="0">
              <a:buNone/>
            </a:pPr>
          </a:p>
          <a:p>
            <a:pPr lvl="0" indent="0" marL="0">
              <a:buNone/>
            </a:pPr>
            <a:r>
              <a:rPr/>
              <a:t>Then the cost, which is the honest trade: k columns. Three is nothing; 493 on 2,000 rows is the curse of dimensionality, two slides from here.</a:t>
            </a:r>
          </a:p>
          <a:p>
            <a:pPr lvl="0" indent="0" marL="0">
              <a:buNone/>
            </a:pPr>
          </a:p>
          <a:p>
            <a:pPr lvl="0" indent="0" marL="0">
              <a:buNone/>
            </a:pPr>
            <a:r>
              <a:rPr/>
              <a:t>The last bullet is the hook, not a conclusion. Target encoding is the obvious escape from the width problem and it is the more dangerous of the two encodings in this entire lesson. Do not resolve it - the leakage section does.</a:t>
            </a:r>
          </a:p>
          <a:p>
            <a:pPr lvl="0" indent="0" marL="0">
              <a:buNone/>
            </a:pPr>
          </a:p>
          <a:p>
            <a:pPr lvl="0" indent="0" marL="0">
              <a:buNone/>
            </a:pPr>
            <a:r>
              <a:rPr/>
              <a:t>One more thing this slide sets up: k columns plus an intercept is one column too many, which the next slide proves.</a:t>
            </a:r>
          </a:p>
          <a:p>
            <a:pPr lvl="0" indent="0" marL="0">
              <a:buNone/>
            </a:pPr>
          </a:p>
          <a:p>
            <a:pPr lvl="0" indent="0" marL="0">
              <a:buNone/>
            </a:pPr>
            <a:r>
              <a:rPr/>
              <a:t>Handout Section 6.1 and 6.2.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the word before using it, because this is the first time in the course they meet it: a model that fits an intercept is carrying one extra column made entirely of ones, so that it has a baseline to work from. That is all they need today - Lesson 3 is where it becomes a coefficient in an equation.</a:t>
            </a:r>
          </a:p>
          <a:p>
            <a:pPr lvl="0" indent="0" marL="0">
              <a:buNone/>
            </a:pPr>
          </a:p>
          <a:p>
            <a:pPr lvl="0" indent="0" marL="0">
              <a:buNone/>
            </a:pPr>
            <a:r>
              <a:rPr/>
              <a:t>Now the redundancy, which needs no model at all. Ask them the survey question from the handout: you record whether someone travels by car, by bus or by bicycle, three yes/no columns, and everyone answered exactly once. How many of those columns do you actually have to read? Two. The third is whatever is left, which means the three columns carry two columns’ worth of information.</a:t>
            </a:r>
          </a:p>
          <a:p>
            <a:pPr lvl="0" indent="0" marL="0">
              <a:buNone/>
            </a:pPr>
          </a:p>
          <a:p>
            <a:pPr lvl="0" indent="0" marL="0">
              <a:buNone/>
            </a:pPr>
            <a:r>
              <a:rPr/>
              <a:t>The slide is that sentence in symbols, plus one step: the k dummies sum to 1 in every row, and a column of ones is exactly what the intercept is. So k dummies and an intercept are k+1 columns carrying k columns’ worth of information, and one of them is spare.</a:t>
            </a:r>
          </a:p>
          <a:p>
            <a:pPr lvl="0" indent="0" marL="0">
              <a:buNone/>
            </a:pPr>
          </a:p>
          <a:p>
            <a:pPr lvl="0" indent="0" marL="0">
              <a:buNone/>
            </a:pPr>
            <a:r>
              <a:rPr/>
              <a:t>Stop there. What exactly breaks - the design matrix losing rank, the normal equation no longer having a unique solution, infinitely many coefficient vectors fitting equally well - is Lesson 3’s machinery, and it is the right place for it. Today’s consequence is practical: pass drop=“first”.</a:t>
            </a:r>
          </a:p>
          <a:p>
            <a:pPr lvl="0" indent="0" marL="0">
              <a:buNone/>
            </a:pPr>
          </a:p>
          <a:p>
            <a:pPr lvl="0" indent="0" marL="0">
              <a:buNone/>
            </a:pPr>
            <a:r>
              <a:rPr/>
              <a:t>Handout Section 6.1 carries the proof for whoever wants it now. The next slide shows the redundancy as a number.</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redundancy counted by numpy rather than argued, which is the version they will believe: matrix_rank on the k+1 columns comes back one short.</a:t>
            </a:r>
          </a:p>
          <a:p>
            <a:pPr lvl="0" indent="0" marL="0">
              <a:buNone/>
            </a:pPr>
          </a:p>
          <a:p>
            <a:pPr lvl="0" indent="0" marL="0">
              <a:buNone/>
            </a:pPr>
            <a:r>
              <a:rPr/>
              <a:t>Point at the number: short by exactly one, not by an arbitrary amount. That is the signature of a single dependence - the dummies summing to the intercept - and not of general collinearity.</a:t>
            </a:r>
          </a:p>
          <a:p>
            <a:pPr lvl="0" indent="0" marL="0">
              <a:buNone/>
            </a:pPr>
          </a:p>
          <a:p>
            <a:pPr lvl="0" indent="0" marL="0">
              <a:buNone/>
            </a:pPr>
            <a:r>
              <a:rPr/>
              <a:t>The fix is OneHotEncoder(drop=“first”). The dropped category becomes the reference level, absorbed into the intercept: no information is lost, because that category is still recoverable as “all the other dummies are 0”.</a:t>
            </a:r>
          </a:p>
          <a:p>
            <a:pPr lvl="0" indent="0" marL="0">
              <a:buNone/>
            </a:pPr>
          </a:p>
          <a:p>
            <a:pPr lvl="0" indent="0" marL="0">
              <a:buNone/>
            </a:pPr>
            <a:r>
              <a:rPr/>
              <a:t>What a rank-deficient matrix does to a fit - infinitely many coefficient vectors that predict identically, and a solver returning whichever one the arithmetic happens to land on - is Lesson 3, once the normal equation exists to say it with. Flag it as coming and move on.</a:t>
            </a:r>
          </a:p>
          <a:p>
            <a:pPr lvl="0" indent="0" marL="0">
              <a:buNone/>
            </a:pPr>
          </a:p>
          <a:p>
            <a:pPr lvl="0" indent="0" marL="0">
              <a:buNone/>
            </a:pPr>
            <a:r>
              <a:rPr/>
              <a:t>Two caveats worth saying now. Tree-based models (Lesson 7) do not need the drop at all. And regularised models tolerate the rank deficiency, because the penalty picks one solution out of the many - which is a good early sketch of what regularisation does, and Lesson 3 returns to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More columns than a quarter of the sample size, for one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which is the bias-variance trade-off from Lesson 1 arriving from a new direction.</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 panel out loud before making any argument with it, because it is a histogram of the 493 codes and nobody reads that off a projector unaided: the horizontal axis is how many customers share one zip code, the vertical axis is how many zip codes that happens to. The tallest bar stands at 3 and 4 - about a hundred codes each - and the whole thing stops at 12.</a:t>
            </a:r>
          </a:p>
          <a:p>
            <a:pPr lvl="0" indent="0" marL="0">
              <a:buNone/>
            </a:pPr>
          </a:p>
          <a:p>
            <a:pPr lvl="0" indent="0" marL="0">
              <a:buNone/>
            </a:pPr>
            <a:r>
              <a:rPr/>
              <a:t>Then point at the zip_code row/column - or its absence, since it is not even numeric yet - and say: notebook 1’s correlation check already suggests this column carries nothing. One-hot encoding it would add 493 mostly-empty columns. The natural alternative - replace each code with the average churn rate of its customers - is exactly the technique the leakage section is about. Do not resolve the tension yet; let it hang until after the break-free run into notebook 2’s pipeline section.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condition out loud, because it is no longer written on the slide and it is the whole content: this equality holds ONLY IF f is independent of T. It was on the slide and made the formula too small to read from the back; it belongs in your mouth, not in the image.</a:t>
            </a:r>
          </a:p>
          <a:p>
            <a:pPr lvl="0" indent="0" marL="0">
              <a:buNone/>
            </a:pPr>
          </a:p>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out loud what the five short names stand for, or someone spends the next minute working it out instead of listening: num_pipe and cat_pipe are the impute-then-transform pairs from the diagram two slides back, num_cols and cat_cols are plain lists of column names, and clf is the classifier. They are abbreviated here only to fit the slide - handout Section 8.2 prints the same block with full names, every import, and both column lists, and it runs as printed.</a:t>
            </a:r>
          </a:p>
          <a:p>
            <a:pPr lvl="0" indent="0" marL="0">
              <a:buNone/>
            </a:pPr>
          </a:p>
          <a:p>
            <a:pPr lvl="0" indent="0" marL="0">
              <a:buNone/>
            </a:pPr>
            <a:r>
              <a:rPr/>
              <a:t>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matrix shows where the errors sit: read the bottom-left cell, the churners the model missed. The area under the receiver operating characteristic curve - AUC, which Lesson 4 builds properly - at 0.751 is unaffected by the imbalance and says there is real signal that accuracy is hiding.</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picture is before reading anything off it: a confusion matrix is a table counting predictions against truth, one cell per combination - predicted stay and did stay, predicted stay and churned, and so on. Lesson 4 gives it its proper treatment; today it is a way of seeing where an accuracy number comes from.</a:t>
            </a:r>
          </a:p>
          <a:p>
            <a:pPr lvl="0" indent="0" marL="0">
              <a:buNone/>
            </a:pPr>
          </a:p>
          <a:p>
            <a:pPr lvl="0" indent="0" marL="0">
              <a:buNone/>
            </a:pPr>
            <a:r>
              <a:rPr/>
              <a:t>The accuracy gain was fourteen thousandths. This is where those errors actually sit, and it explains why the gain is small.</a:t>
            </a:r>
          </a:p>
          <a:p>
            <a:pPr lvl="0" indent="0" marL="0">
              <a:buNone/>
            </a:pPr>
          </a:p>
          <a:p>
            <a:pPr lvl="0" indent="0" marL="0">
              <a:buNone/>
            </a:pPr>
            <a:r>
              <a:rPr/>
              <a:t>Read the bottom row: almost every customer who churned was predicted to stay. The model has learned to predict the majority class slightly more cleverly than the baseline does, and on the class the business would pay to identify it is close to useless.</a:t>
            </a:r>
          </a:p>
          <a:p>
            <a:pPr lvl="0" indent="0" marL="0">
              <a:buNone/>
            </a:pPr>
          </a:p>
          <a:p>
            <a:pPr lvl="0" indent="0" marL="0">
              <a:buNone/>
            </a:pPr>
            <a:r>
              <a:rPr/>
              <a:t>Then connect it back to lesson 1 and its imbalance slide. Same shape, different dataset, and it took a confusion matrix to see it in both cases. Accuracy on its own would have reported this as progress.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formula was on this slide as a rendered equation and came out at 23pt, the smallest in the course: the column names are long enough that no amount of trimming saves it. It is one sentence to say - total_paid is the monthly charge times the months stayed, with tenure clipped at zero first - and the three AUCs are what does the work in the room.</a:t>
            </a:r>
          </a:p>
          <a:p>
            <a:pPr lvl="0" indent="0" marL="0">
              <a:buNone/>
            </a:pPr>
          </a:p>
          <a:p>
            <a:pPr lvl="0" indent="0" marL="0">
              <a:buNone/>
            </a:pPr>
            <a:r>
              <a:rPr/>
              <a:t>Do not let anyone in the room call three thousandths a win, and do not call it one yourself. Quote the four decimals: at three, 0.751 against 0.755 sounds like a difference of 0.004, and the difference is 0.0034. It is a legitimate result, not a failed experiment - the hypothesis that what a customer has been worth so far predicts whether they leave was reasonable, it was tested, and the data declined it. Feature engineering is a hypothesis about the domain, not a guarantee. Handout Section 7.</a:t>
            </a:r>
          </a:p>
          <a:p>
            <a:pPr lvl="0" indent="0" marL="0">
              <a:buNone/>
            </a:pPr>
          </a:p>
          <a:p>
            <a:pPr lvl="0" indent="0" marL="0">
              <a:buNone/>
            </a:pPr>
            <a:r>
              <a:rPr/>
              <a:t>Then the second number, which is the one to spend time on. Rebuild the same column after Section 4’s domain rule - tenure clipped to 0-120, not just at zero - and +0.0034 becomes -0.0075. The gain was never about what the customer paid: 999 months times a billing error of 3,344.7 is a total_paid no real customer could have, and those rows line up with the target well enough to move the score. Multiplying two contaminated columns concentrates the contamination. Say the moral out loud: the order of the steps is part of the method.</a:t>
            </a:r>
          </a:p>
          <a:p>
            <a:pPr lvl="0" indent="0" marL="0">
              <a:buNone/>
            </a:pPr>
          </a:p>
          <a:p>
            <a:pPr lvl="0" indent="0" marL="0">
              <a:buNone/>
            </a:pPr>
            <a:r>
              <a:rPr/>
              <a:t>Then plant the flag for Lesson 5: a difference this small is inside the range a different train/test split would produce on its own, so a single split cannot settle it either way. Reporting it as an improvement is the first step onto exactly the path Lesson 5 exists to close off.</a:t>
            </a:r>
          </a:p>
          <a:p>
            <a:pPr lvl="0" indent="0" marL="0">
              <a:buNone/>
            </a:pPr>
          </a:p>
          <a:p>
            <a:pPr lvl="0" indent="0" marL="0">
              <a:buNone/>
            </a:pPr>
            <a:r>
              <a:rPr/>
              <a:t>Explain the max rather than skating over it, because someone will ask. tenure_months still holds the -3 of Section 4 at this point, and multiplying by it unclipped hands the model a customer who has paid minus two hundred euros. That is Section 4 turning up in Section 7, and it is what feature engineering on real data actually looks like - one line of algebra, three lines of defending it against the column you have.</a:t>
            </a:r>
          </a:p>
          <a:p>
            <a:pPr lvl="0" indent="0" marL="0">
              <a:buNone/>
            </a:pPr>
          </a:p>
          <a:p>
            <a:pPr lvl="0" indent="0" marL="0">
              <a:buNone/>
            </a:pPr>
            <a:r>
              <a:rPr/>
              <a:t>If someone objects to the obvious alternative, monthly_charges divided by tenure_months, they are right to: monthly_charges is already a rate, so dividing it by months again gives euros per month per month. Check the units before trusting a construction.</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product) needs no fold-awareness; a learned one does.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Let them work; circulate.</a:t>
            </a:r>
          </a:p>
          <a:p>
            <a:pPr lvl="0" indent="0" marL="0">
              <a:buNone/>
            </a:pPr>
          </a:p>
          <a:p>
            <a:pPr lvl="0" indent="0" marL="0">
              <a:buNone/>
            </a:pPr>
            <a:r>
              <a:rPr/>
              <a:t>Say what the eight sections are for before they start, because the notebook is long and the middle of it looks like plumbing: sections 3 and 4 are why we scale, 5 and 6 are why we encode and what zip_code costs, 7 is the pipeline that makes the rule true by construction, and 8 is the feature that does not work.</a:t>
            </a:r>
          </a:p>
          <a:p>
            <a:pPr lvl="0" indent="0" marL="0">
              <a:buNone/>
            </a:pPr>
          </a:p>
          <a:p>
            <a:pPr lvl="0" indent="0" marL="0">
              <a:buNone/>
            </a:pPr>
            <a:r>
              <a:rPr/>
              <a:t>The gradient descent toy in section 3 is worth running interactively - change the variance ratio live and watch the iteration count move, per the handout’s “try this”. It makes the condition number argument concrete in a way the derivation alone does not. The number to make them say out loud is the second one on the slide: the raw features do not diverge to infinity, they oscillate between 0.69 and 8.29 and never settle. That is a worse failure than slowness, because nothing errors.</a:t>
            </a:r>
          </a:p>
          <a:p>
            <a:pPr lvl="0" indent="0" marL="0">
              <a:buNone/>
            </a:pPr>
          </a:p>
          <a:p>
            <a:pPr lvl="0" indent="0" marL="0">
              <a:buNone/>
            </a:pPr>
            <a:r>
              <a:rPr/>
              <a:t>Section 5 is the one that lands without discussion: matrix_rank returns 3 for four columns, and short by exactly one is the signature of a single dependence. They believe numpy where they might not believe the algebra.</a:t>
            </a:r>
          </a:p>
          <a:p>
            <a:pPr lvl="0" indent="0" marL="0">
              <a:buNone/>
            </a:pPr>
          </a:p>
          <a:p>
            <a:pPr lvl="0" indent="0" marL="0">
              <a:buNone/>
            </a:pPr>
            <a:r>
              <a:rPr/>
              <a:t>If the room is moving fast, section 7 is where to slow down: ColumnTransformer is the piece they will reuse in every exercise and in the project, and getting the column selectors right is fiddlier than it looks.</a:t>
            </a:r>
          </a:p>
          <a:p>
            <a:pPr lvl="0" indent="0" marL="0">
              <a:buNone/>
            </a:pPr>
          </a:p>
          <a:p>
            <a:pPr lvl="0" indent="0" marL="0">
              <a:buNone/>
            </a:pPr>
            <a:r>
              <a:rPr/>
              <a:t>And leave time for section 8, which is the one they will get wrong on their own data: the engineered feature gains 0.0034, then loses 0.0075 once tenure is cleaned first. Ask them why before telling them.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TRAINING row’s missing age can be filled with a value read off a TEST row - the test set writing into the training data, one gap at a time. Note the imputer never touches a label; it copies feature values. That is enough: those values are what the model then fits on. The imputer did nothing wrong; it was simply shown data it should not have seen.</a:t>
            </a:r>
          </a:p>
          <a:p>
            <a:pPr lvl="0" indent="0" marL="0">
              <a:buNone/>
            </a:pPr>
          </a:p>
          <a:p>
            <a:pPr lvl="0" indent="0" marL="0">
              <a:buNone/>
            </a:pPr>
            <a:r>
              <a:rPr/>
              <a:t>Notebook 3 measures the gap. Connect it back to Lesson 1: this is the same independence argument, applied to a step nobody thinks of as learning. The imputer learns; therefore it belongs inside the training fold.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94 of 128. Not an edge case - nearly three quarters of the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Ninety-four of a hundred and twenty-eight, drawn so the proportion lands.</a:t>
            </a:r>
          </a:p>
          <a:p>
            <a:pPr lvl="0" indent="0" marL="0">
              <a:buNone/>
            </a:pPr>
          </a:p>
          <a:p>
            <a:pPr lvl="0" indent="0" marL="0">
              <a:buNone/>
            </a:pPr>
            <a:r>
              <a:rPr/>
              <a:t>Say what was actually done: the imputer was fitted before the split, so when it filled a missing age it was allowed to look at test rows to decide what to fill it with. Nearly three quarters of the affected training rows had a test row among the five donors it consulted.</a:t>
            </a:r>
          </a:p>
          <a:p>
            <a:pPr lvl="0" indent="0" marL="0">
              <a:buNone/>
            </a:pPr>
          </a:p>
          <a:p>
            <a:pPr lvl="0" indent="0" marL="0">
              <a:buNone/>
            </a:pPr>
            <a:r>
              <a:rPr/>
              <a:t>The sentence to leave hanging is the one from the slide before: nothing raised an error. The notebook ran, the score improved, and the improvement was the test set leaking into the training data one imputed value at a time. This is the argument for the pipeline, made in numbers.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cross-fitted inside the pipeline): 0.751 -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equation out as a sentence: the “leave-in” encoding differs from the honest leave-one-out encoding by the row’s own disagreement with its group, divided by how many people are in it.</a:t>
            </a:r>
          </a:p>
          <a:p>
            <a:pPr lvl="0" indent="0" marL="0">
              <a:buNone/>
            </a:pPr>
          </a:p>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Z472, one customer, churn label 0, encoded value 0.000.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Smoothing pulls each group’s mean towards the global mean, weighted by group size, so a one-customer zip code barely moves from the overall rate. It reduces the leak but does not remove it.</a:t>
            </a:r>
          </a:p>
          <a:p>
            <a:pPr lvl="0" indent="0" marL="0">
              <a:buNone/>
            </a:pPr>
          </a:p>
          <a:p>
            <a:pPr lvl="0" indent="0" marL="0">
              <a:buNone/>
            </a:pPr>
            <a:r>
              <a:rPr/>
              <a:t>Say clearly what actually removes it: fitting the encoder inside the training fold, exactly as with every other learned step.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22 minutes. This notebook is the payoff of the lesson: the two leaks of today, each measured against an honest pipeline on the same data. The third way of breaking the rule, on the earlier diagram, was Lesson 1’s.</a:t>
            </a:r>
          </a:p>
          <a:p>
            <a:pPr lvl="0" indent="0" marL="0">
              <a:buNone/>
            </a:pPr>
          </a:p>
          <a:p>
            <a:pPr lvl="0" indent="0" marL="0">
              <a:buNone/>
            </a:pPr>
            <a:r>
              <a:rPr/>
              <a:t>The numbers matter less than the pattern - both leaks inflate the score, neither raises an error, and both are things a competent person does by accident. Ask them to predict the direction and rough size of each gap before running the cell.</a:t>
            </a:r>
          </a:p>
          <a:p>
            <a:pPr lvl="0" indent="0" marL="0">
              <a:buNone/>
            </a:pPr>
          </a:p>
          <a:p>
            <a:pPr lvl="0" indent="0" marL="0">
              <a:buNone/>
            </a:pPr>
            <a:r>
              <a:rPr/>
              <a:t>If time is short, the target encoding case is the one to keep: it is the subtlest and the one most likely to appear in their own project.</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there are no marks for accuracy. Marks are for methodological correctness, and specifically here for correctly identifying which preprocessing steps needed to be inside the pipeline and demonstrating, with a number, what leaving one out would have cost.</a:t>
            </a:r>
          </a:p>
          <a:p>
            <a:pPr lvl="0" indent="0" marL="0">
              <a:buNone/>
            </a:pPr>
          </a:p>
          <a:p>
            <a:pPr lvl="0" indent="0" marL="0">
              <a:buNone/>
            </a:pPr>
            <a:r>
              <a:rPr/>
              <a:t>Also point them at the quiz - the reasoning-tagged questions are the closest thing to the exam there is, since the exam draws one of their own notebooks and asks why each decision was made.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exercise explicitly and say when it is discussed - the first ten minutes of Lesson 3, Friday 16 October.</a:t>
            </a:r>
          </a:p>
          <a:p>
            <a:pPr lvl="0" indent="0" marL="0">
              <a:buNone/>
            </a:pPr>
          </a:p>
          <a:p>
            <a:pPr lvl="0" indent="0" marL="0">
              <a:buNone/>
            </a:pPr>
            <a:r>
              <a:rPr/>
              <a:t>Point out that it uses the same churn dataset, so the exploration they did today carries over, and that the marks are again on methodology: a pipeline that is correct but modest beats a better score obtained by preparing the full dataset before splitting.</a:t>
            </a:r>
          </a:p>
          <a:p>
            <a:pPr lvl="0" indent="0" marL="0">
              <a:buNone/>
            </a:pPr>
          </a:p>
          <a:p>
            <a:pPr lvl="0" indent="0" marL="0">
              <a:buNone/>
            </a:pPr>
            <a:r>
              <a:rPr/>
              <a:t>Remind them the Lesson 1 exercise is due today if anyone has not handed it in, and that the project topic must be confirmed by Lesson 4 - which is two weeks away, so now is the time to be reading dataset descriptions.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 Id="rId3"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9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set last week. We discuss it now.</a:t>
            </a:r>
          </a:p>
          <a:p>
            <a:pPr lvl="0"/>
            <a:r>
              <a:rPr/>
              <a:t>The wine-quality workflow, end to end</a:t>
            </a:r>
          </a:p>
          <a:p>
            <a:pPr lvl="0"/>
            <a:r>
              <a:rPr/>
              <a:t>What counts is </a:t>
            </a:r>
            <a:r>
              <a:rPr b="1"/>
              <a:t>methodology</a:t>
            </a:r>
            <a:r>
              <a:rPr/>
              <a:t>, not accuracy</a:t>
            </a:r>
          </a:p>
          <a:p>
            <a:pPr lvl="0"/>
            <a:r>
              <a:rPr/>
              <a:t>A show of hands on how you framed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so the rule is structural, not just discipline</a:t>
            </a:r>
          </a:p>
          <a:p>
            <a:pPr lvl="0"/>
            <a:r>
              <a:rPr/>
              <a:t>Today: apply both to data that is actually messy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in a form nothing warns you about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a:t>
            </a:r>
          </a:p>
          <a:p>
            <a:pPr lvl="0"/>
            <a:r>
              <a:rPr/>
              <a:t>Numeric: tenure, monthly charges, age, support calls</a:t>
            </a:r>
          </a:p>
          <a:p>
            <a:pPr lvl="0"/>
            <a:r>
              <a:rPr/>
              <a:t>Categorical: contract type, region, zip code (493 levels)</a:t>
            </a:r>
          </a:p>
          <a:p>
            <a:pPr lvl="0"/>
            <a:r>
              <a:rPr/>
              <a:t>Missing values, outliers, and one column built to carry </a:t>
            </a:r>
            <a:r>
              <a:rPr b="1"/>
              <a:t>no signal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Look before you touch anything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.info()</a:t>
            </a:r>
            <a:r>
              <a:rPr/>
              <a:t>, </a:t>
            </a:r>
            <a:r>
              <a:rPr>
                <a:latin typeface="Courier"/>
              </a:rPr>
              <a:t>.describe()</a:t>
            </a:r>
            <a:r>
              <a:rPr/>
              <a:t>, class balance, first: always.</a:t>
            </a:r>
          </a:p>
          <a:p>
            <a:pPr lvl="0"/>
            <a:r>
              <a:rPr/>
              <a:t>2000 rows, 8 columns, mixed types</a:t>
            </a:r>
          </a:p>
          <a:p>
            <a:pPr lvl="0"/>
            <a:r>
              <a:rPr/>
              <a:t>Churn rate: </a:t>
            </a:r>
            <a:r>
              <a:rPr b="1"/>
              <a:t>19.4%</a:t>
            </a:r>
            <a:r>
              <a:rPr/>
              <a:t> → baseline accuracy 80.6%</a:t>
            </a:r>
          </a:p>
          <a:p>
            <a:pPr lvl="0"/>
            <a:r>
              <a:rPr>
                <a:latin typeface="Courier"/>
              </a:rPr>
              <a:t>tenure_months</a:t>
            </a:r>
            <a:r>
              <a:rPr/>
              <a:t> max: 999. Not a typo in the slide.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of these four have no shape left to read</a:t>
            </a:r>
          </a:p>
        </p:txBody>
      </p:sp>
      <p:pic>
        <p:nvPicPr>
          <p:cNvPr descr="numeric_distributions.png" id="0" name="Picture 1"/>
          <p:cNvPicPr>
            <a:picLocks noGrp="1" noChangeAspect="1"/>
          </p:cNvPicPr>
          <p:nvPr/>
        </p:nvPicPr>
        <p:blipFill>
          <a:blip r:embed="rId3"/>
          <a:stretch>
            <a:fillRect/>
          </a:stretch>
        </p:blipFill>
        <p:spPr bwMode="auto">
          <a:xfrm>
            <a:off x="457200" y="1861939"/>
            <a:ext cx="8229600" cy="1968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MCAR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Some customers just left it blank. Nothing systematic.</a:t>
            </a:r>
          </a:p>
          <a:p>
            <a:pPr lvl="0"/>
            <a:r>
              <a:rPr/>
              <a:t>Safe to impute with a fixed statistic</a:t>
            </a:r>
          </a:p>
          <a:p>
            <a:pPr lvl="0"/>
            <a:r>
              <a:rPr/>
              <a:t>The bias question is not “is this fair”: it is “what does filling it cost”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Every correlation involving the imputed column shrinks,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num_support_calls: MAR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Missing more often for long-tenure customers, not by chance.</a:t>
            </a:r>
          </a:p>
          <a:p>
            <a:pPr lvl="0"/>
            <a:r>
              <a:rPr/>
              <a:t>Treating it as MCAR reweights the sample the wrong way</a:t>
            </a:r>
          </a:p>
          <a:p>
            <a:pPr lvl="0"/>
            <a:r>
              <a:rPr/>
              <a:t>A </a:t>
            </a:r>
            <a:r>
              <a:rPr b="1"/>
              <a:t>missingness indicator</a:t>
            </a:r>
            <a:r>
              <a:rPr/>
              <a:t> column preserves the signal even after filling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only if few, and only if MCAR</a:t>
            </a:r>
          </a:p>
          <a:p>
            <a:pPr lvl="0"/>
            <a:r>
              <a:rPr b="1"/>
              <a:t>Drop the column</a:t>
            </a:r>
            <a:r>
              <a:rPr/>
              <a:t>: if it is missing too often to help</a:t>
            </a:r>
          </a:p>
          <a:p>
            <a:pPr lvl="0"/>
            <a:r>
              <a:rPr b="1"/>
              <a:t>Impute</a:t>
            </a:r>
            <a:r>
              <a:rPr/>
              <a:t>: mean/median, most-frequent, </a:t>
            </a:r>
            <a:r>
              <a:rPr>
                <a:latin typeface="Courier"/>
              </a:rPr>
              <a:t>KNNImputer</a:t>
            </a:r>
          </a:p>
          <a:p>
            <a:pPr lvl="0"/>
            <a:r>
              <a:rPr b="1"/>
              <a:t>Add a missingness indicator</a:t>
            </a:r>
            <a:r>
              <a:rPr/>
              <a:t>: keeps MAR signal alive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four</a:t>
            </a:r>
          </a:p>
        </p:txBody>
      </p:sp>
      <p:pic>
        <p:nvPicPr>
          <p:cNvPr descr="missing_data_decision.png" id="0" name="Picture 1"/>
          <p:cNvPicPr>
            <a:picLocks noGrp="1" noChangeAspect="1"/>
          </p:cNvPicPr>
          <p:nvPr/>
        </p:nvPicPr>
        <p:blipFill>
          <a:blip r:embed="rId3"/>
          <a:stretch>
            <a:fillRect/>
          </a:stretch>
        </p:blipFill>
        <p:spPr bwMode="auto">
          <a:xfrm>
            <a:off x="457200" y="1328539"/>
            <a:ext cx="8229600" cy="3035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outlier is far from the rest - not necessarily wrong</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runs </a:t>
            </a:r>
            <a:r>
              <a:rPr b="1"/>
              <a:t>-3 to 999</a:t>
            </a:r>
            <a:r>
              <a:rPr/>
              <a:t>; ordinary customers sit at 0 to 72</a:t>
            </a:r>
          </a:p>
          <a:p>
            <a:pPr lvl="0"/>
            <a:r>
              <a:rPr/>
              <a:t>Three reasons: a </a:t>
            </a:r>
            <a:r>
              <a:rPr b="1"/>
              <a:t>recording error</a:t>
            </a:r>
            <a:r>
              <a:rPr/>
              <a:t>, a </a:t>
            </a:r>
            <a:r>
              <a:rPr b="1"/>
              <a:t>rare but genuine</a:t>
            </a:r>
            <a:r>
              <a:rPr/>
              <a:t> value, a </a:t>
            </a:r>
            <a:r>
              <a:rPr b="1"/>
              <a:t>different population</a:t>
            </a:r>
          </a:p>
          <a:p>
            <a:pPr lvl="0"/>
            <a:r>
              <a:rPr/>
              <a:t>The arithmetic cannot tell which: 3,344.7 may be a typo or a corporate account</a:t>
            </a:r>
          </a:p>
          <a:p>
            <a:pPr lvl="0"/>
            <a:r>
              <a:rPr/>
              <a:t>Two rules follow - standard deviations, then quartiles - and both only </a:t>
            </a:r>
            <a:r>
              <a:rPr b="1"/>
              <a:t>flag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1: distance in standard deviations, flag beyond k = 3</a:t>
            </a:r>
          </a:p>
        </p:txBody>
      </p:sp>
      <p:pic>
        <p:nvPicPr>
          <p:cNvPr descr="eq_fe122443eb.png" id="0" name="Picture 1"/>
          <p:cNvPicPr>
            <a:picLocks noGrp="1" noChangeAspect="1"/>
          </p:cNvPicPr>
          <p:nvPr/>
        </p:nvPicPr>
        <p:blipFill>
          <a:blip r:embed="rId3"/>
          <a:stretch>
            <a:fillRect/>
          </a:stretch>
        </p:blipFill>
        <p:spPr bwMode="auto">
          <a:xfrm>
            <a:off x="3149925" y="2297549"/>
            <a:ext cx="2844149" cy="109728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2: distance measured in quartiles</a:t>
            </a:r>
          </a:p>
        </p:txBody>
      </p:sp>
      <p:pic>
        <p:nvPicPr>
          <p:cNvPr descr="eq_f508402a31.png" id="0" name="Picture 1"/>
          <p:cNvPicPr>
            <a:picLocks noGrp="1" noChangeAspect="1"/>
          </p:cNvPicPr>
          <p:nvPr/>
        </p:nvPicPr>
        <p:blipFill>
          <a:blip r:embed="rId3"/>
          <a:stretch>
            <a:fillRect/>
          </a:stretch>
        </p:blipFill>
        <p:spPr bwMode="auto">
          <a:xfrm>
            <a:off x="457200" y="2541389"/>
            <a:ext cx="8229600" cy="609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neighbourhood, not the same answer</a:t>
            </a:r>
          </a:p>
        </p:txBody>
      </p:sp>
      <p:pic>
        <p:nvPicPr>
          <p:cNvPr descr="outlier_fences.png" id="0" name="Picture 1"/>
          <p:cNvPicPr>
            <a:picLocks noGrp="1" noChangeAspect="1"/>
          </p:cNvPicPr>
          <p:nvPr/>
        </p:nvPicPr>
        <p:blipFill>
          <a:blip r:embed="rId3"/>
          <a:stretch>
            <a:fillRect/>
          </a:stretch>
        </p:blipFill>
        <p:spPr bwMode="auto">
          <a:xfrm>
            <a:off x="457200" y="1309489"/>
            <a:ext cx="8229600" cy="3073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robust rule is the one that got it wrong</a:t>
            </a:r>
          </a:p>
        </p:txBody>
      </p:sp>
      <p:pic>
        <p:nvPicPr>
          <p:cNvPr descr="outlier_scatter.png" id="0" name="Picture 1"/>
          <p:cNvPicPr>
            <a:picLocks noGrp="1" noChangeAspect="1"/>
          </p:cNvPicPr>
          <p:nvPr/>
        </p:nvPicPr>
        <p:blipFill>
          <a:blip r:embed="rId3"/>
          <a:stretch>
            <a:fillRect/>
          </a:stretch>
        </p:blipFill>
        <p:spPr bwMode="auto">
          <a:xfrm>
            <a:off x="457200" y="1220589"/>
            <a:ext cx="8229600" cy="3251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a:t>
            </a:r>
            <a:r>
              <a:rPr i="1"/>
              <a:t>unusual</a:t>
            </a:r>
            <a:r>
              <a:rPr/>
              <a:t>. It is </a:t>
            </a:r>
            <a:r>
              <a:rPr i="1"/>
              <a:t>invalid</a:t>
            </a:r>
            <a:r>
              <a:rPr/>
              <a:t>: a different question entirely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Detection finds candidates. What to do next is a </a:t>
            </a:r>
            <a:r>
              <a:rPr b="1"/>
              <a:t>domain</a:t>
            </a:r>
            <a:r>
              <a:rPr/>
              <a:t> decision.</a:t>
            </a:r>
          </a:p>
          <a:p>
            <a:pPr lvl="0"/>
            <a:r>
              <a:rPr b="1"/>
              <a:t>Cap</a:t>
            </a:r>
            <a:r>
              <a:rPr/>
              <a:t> it at the fence: 3,344.7 becomes 110.0 (</a:t>
            </a:r>
            <a:r>
              <a:rPr i="1"/>
              <a:t>Winsorising</a:t>
            </a:r>
            <a:r>
              <a:rPr/>
              <a:t>)</a:t>
            </a:r>
          </a:p>
          <a:p>
            <a:pPr lvl="0"/>
            <a:r>
              <a:rPr b="1"/>
              <a:t>Remove</a:t>
            </a:r>
            <a:r>
              <a:rPr/>
              <a:t> the row</a:t>
            </a:r>
          </a:p>
          <a:p>
            <a:pPr lvl="0"/>
            <a:r>
              <a:rPr b="1"/>
              <a:t>Correct</a:t>
            </a:r>
            <a:r>
              <a:rPr/>
              <a:t> it, if the true value is recoverable</a:t>
            </a:r>
          </a:p>
          <a:p>
            <a:pPr lvl="0"/>
            <a:r>
              <a:rPr b="1"/>
              <a:t>Leave</a:t>
            </a:r>
            <a:r>
              <a:rPr/>
              <a:t> it: unusual is not the same as wrong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Exploration, missingness mechanisms, both outlier rules: from scratch.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0–72. </a:t>
            </a:r>
            <a:r>
              <a:rPr>
                <a:latin typeface="Courier"/>
              </a:rPr>
              <a:t>monthly_charges</a:t>
            </a:r>
            <a:r>
              <a:rPr/>
              <a:t>: 15–128</a:t>
            </a:r>
          </a:p>
          <a:p>
            <a:pPr lvl="0"/>
            <a:r>
              <a:rPr b="1"/>
              <a:t>Training</a:t>
            </a:r>
            <a:r>
              <a:rPr/>
              <a:t> = choosing the model’s numbers to make Lesson 1’s average loss small</a:t>
            </a:r>
          </a:p>
          <a:p>
            <a:pPr lvl="0"/>
            <a:r>
              <a:rPr b="1"/>
              <a:t>Gradient descent</a:t>
            </a:r>
            <a:r>
              <a:rPr/>
              <a:t> does it by repeated small steps downhill on that loss</a:t>
            </a:r>
          </a:p>
          <a:p>
            <a:pPr lvl="0"/>
            <a:r>
              <a:rPr/>
              <a:t>One step size, along every axis, every iteration. Can it suit both columns?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ravine, not a bowl</a:t>
            </a:r>
          </a:p>
        </p:txBody>
      </p:sp>
      <p:pic>
        <p:nvPicPr>
          <p:cNvPr descr="condition_number_geometry.png" id="0" name="Picture 1"/>
          <p:cNvPicPr>
            <a:picLocks noGrp="1" noChangeAspect="1"/>
          </p:cNvPicPr>
          <p:nvPr/>
        </p:nvPicPr>
        <p:blipFill>
          <a:blip r:embed="rId3"/>
          <a:stretch>
            <a:fillRect/>
          </a:stretch>
        </p:blipFill>
        <p:spPr bwMode="auto">
          <a:xfrm>
            <a:off x="1262159" y="1166099"/>
            <a:ext cx="6619682"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Two standard choices,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Every encoding makes a claim about the categories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model does arithmetic, and </a:t>
            </a:r>
            <a:r>
              <a:rPr>
                <a:latin typeface="Courier"/>
              </a:rPr>
              <a:t>"month-to-month"</a:t>
            </a:r>
            <a:r>
              <a:rPr/>
              <a:t> offers none.</a:t>
            </a:r>
          </a:p>
        </p:txBody>
      </p:sp>
      <p:graphicFrame>
        <p:nvGraphicFramePr>
          <p:cNvPr id="6" name="Content Placeholder 5"/>
          <p:cNvGraphicFramePr>
            <a:graphicFrameLocks noGrp="1"/>
          </p:cNvGraphicFramePr>
          <p:nvPr>
            <p:ph idx="1"/>
          </p:nvPr>
        </p:nvGraphicFramePr>
        <p:xfrm>
          <a:off x="457200" y="2160270"/>
          <a:ext cx="8229600" cy="43815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contract_type</a:t>
                      </a:r>
                    </a:p>
                  </a:txBody>
                  <a:tcPr/>
                </a:tc>
                <a:tc>
                  <a:txBody>
                    <a:bodyPr/>
                    <a:lstStyle/>
                    <a:p>
                      <a:pPr lvl="0" indent="0" marL="0">
                        <a:buNone/>
                      </a:pPr>
                      <a:r>
                        <a:rPr/>
                        <a:t>rows</a:t>
                      </a:r>
                    </a:p>
                  </a:txBody>
                  <a:tcPr/>
                </a:tc>
                <a:tc>
                  <a:txBody>
                    <a:bodyPr/>
                    <a:lstStyle/>
                    <a:p>
                      <a:pPr lvl="0" indent="0" marL="0">
                        <a:buNone/>
                      </a:pPr>
                      <a:r>
                        <a:rPr/>
                        <a:t>churn rate</a:t>
                      </a:r>
                    </a:p>
                  </a:txBody>
                  <a:tcPr/>
                </a:tc>
              </a:tr>
              <a:tr h="0">
                <a:tc>
                  <a:txBody>
                    <a:bodyPr/>
                    <a:lstStyle/>
                    <a:p>
                      <a:pPr lvl="0" indent="0" marL="0">
                        <a:buNone/>
                      </a:pPr>
                      <a:r>
                        <a:rPr>
                          <a:latin typeface="Courier"/>
                        </a:rPr>
                        <a:t>month-to-month</a:t>
                      </a:r>
                    </a:p>
                  </a:txBody>
                </a:tc>
                <a:tc>
                  <a:txBody>
                    <a:bodyPr/>
                    <a:lstStyle/>
                    <a:p>
                      <a:pPr lvl="0" indent="0" marL="0">
                        <a:buNone/>
                      </a:pPr>
                      <a:r>
                        <a:rPr/>
                        <a:t>1,092</a:t>
                      </a:r>
                    </a:p>
                  </a:txBody>
                </a:tc>
                <a:tc>
                  <a:txBody>
                    <a:bodyPr/>
                    <a:lstStyle/>
                    <a:p>
                      <a:pPr lvl="0" indent="0" marL="0">
                        <a:buNone/>
                      </a:pPr>
                      <a:r>
                        <a:rPr/>
                        <a:t>0.266</a:t>
                      </a:r>
                    </a:p>
                  </a:txBody>
                </a:tc>
              </a:tr>
              <a:tr h="0">
                <a:tc>
                  <a:txBody>
                    <a:bodyPr/>
                    <a:lstStyle/>
                    <a:p>
                      <a:pPr lvl="0" indent="0" marL="0">
                        <a:buNone/>
                      </a:pPr>
                      <a:r>
                        <a:rPr>
                          <a:latin typeface="Courier"/>
                        </a:rPr>
                        <a:t>one-year</a:t>
                      </a:r>
                    </a:p>
                  </a:txBody>
                </a:tc>
                <a:tc>
                  <a:txBody>
                    <a:bodyPr/>
                    <a:lstStyle/>
                    <a:p>
                      <a:pPr lvl="0" indent="0" marL="0">
                        <a:buNone/>
                      </a:pPr>
                      <a:r>
                        <a:rPr/>
                        <a:t>488</a:t>
                      </a:r>
                    </a:p>
                  </a:txBody>
                </a:tc>
                <a:tc>
                  <a:txBody>
                    <a:bodyPr/>
                    <a:lstStyle/>
                    <a:p>
                      <a:pPr lvl="0" indent="0" marL="0">
                        <a:buNone/>
                      </a:pPr>
                      <a:r>
                        <a:rPr/>
                        <a:t>0.137</a:t>
                      </a:r>
                    </a:p>
                  </a:txBody>
                </a:tc>
              </a:tr>
              <a:tr h="0">
                <a:tc>
                  <a:txBody>
                    <a:bodyPr/>
                    <a:lstStyle/>
                    <a:p>
                      <a:pPr lvl="0" indent="0" marL="0">
                        <a:buNone/>
                      </a:pPr>
                      <a:r>
                        <a:rPr>
                          <a:latin typeface="Courier"/>
                        </a:rPr>
                        <a:t>two-year</a:t>
                      </a:r>
                    </a:p>
                  </a:txBody>
                </a:tc>
                <a:tc>
                  <a:txBody>
                    <a:bodyPr/>
                    <a:lstStyle/>
                    <a:p>
                      <a:pPr lvl="0" indent="0" marL="0">
                        <a:buNone/>
                      </a:pPr>
                      <a:r>
                        <a:rPr/>
                        <a:t>420</a:t>
                      </a:r>
                    </a:p>
                  </a:txBody>
                </a:tc>
                <a:tc>
                  <a:txBody>
                    <a:bodyPr/>
                    <a:lstStyle/>
                    <a:p>
                      <a:pPr lvl="0" indent="0" marL="0">
                        <a:buNone/>
                      </a:pPr>
                      <a:r>
                        <a:rPr/>
                        <a:t>0.071</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customer, three encodings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Encoding</a:t>
                      </a:r>
                    </a:p>
                  </a:txBody>
                  <a:tcPr/>
                </a:tc>
                <a:tc>
                  <a:txBody>
                    <a:bodyPr/>
                    <a:lstStyle/>
                    <a:p>
                      <a:pPr lvl="0" indent="0" marL="0">
                        <a:buNone/>
                      </a:pPr>
                      <a:r>
                        <a:rPr/>
                        <a:t>A one-year customer becomes</a:t>
                      </a:r>
                    </a:p>
                  </a:txBody>
                  <a:tcPr/>
                </a:tc>
                <a:tc>
                  <a:txBody>
                    <a:bodyPr/>
                    <a:lstStyle/>
                    <a:p>
                      <a:pPr lvl="0" indent="0" marL="0">
                        <a:buNone/>
                      </a:pPr>
                      <a:r>
                        <a:rPr/>
                        <a:t>What that asserts</a:t>
                      </a:r>
                    </a:p>
                  </a:txBody>
                  <a:tcPr/>
                </a:tc>
              </a:tr>
              <a:tr h="0">
                <a:tc>
                  <a:txBody>
                    <a:bodyPr/>
                    <a:lstStyle/>
                    <a:p>
                      <a:pPr lvl="0" indent="0" marL="0">
                        <a:buNone/>
                      </a:pPr>
                      <a:r>
                        <a:rPr b="1"/>
                        <a:t>One-hot</a:t>
                      </a:r>
                    </a:p>
                  </a:txBody>
                </a:tc>
                <a:tc>
                  <a:txBody>
                    <a:bodyPr/>
                    <a:lstStyle/>
                    <a:p>
                      <a:pPr lvl="0" indent="0" marL="0">
                        <a:buNone/>
                      </a:pPr>
                      <a:r>
                        <a:rPr>
                          <a:latin typeface="Courier"/>
                        </a:rPr>
                        <a:t>[0, 1, 0]</a:t>
                      </a:r>
                    </a:p>
                  </a:txBody>
                </a:tc>
                <a:tc>
                  <a:txBody>
                    <a:bodyPr/>
                    <a:lstStyle/>
                    <a:p>
                      <a:pPr lvl="0" indent="0" marL="0">
                        <a:buNone/>
                      </a:pPr>
                      <a:r>
                        <a:rPr/>
                        <a:t>simply different: no order, no distances</a:t>
                      </a:r>
                    </a:p>
                  </a:txBody>
                </a:tc>
              </a:tr>
              <a:tr h="0">
                <a:tc>
                  <a:txBody>
                    <a:bodyPr/>
                    <a:lstStyle/>
                    <a:p>
                      <a:pPr lvl="0" indent="0" marL="0">
                        <a:buNone/>
                      </a:pPr>
                      <a:r>
                        <a:rPr b="1"/>
                        <a:t>Ordinal</a:t>
                      </a:r>
                    </a:p>
                  </a:txBody>
                </a:tc>
                <a:tc>
                  <a:txBody>
                    <a:bodyPr/>
                    <a:lstStyle/>
                    <a:p>
                      <a:pPr lvl="0" indent="0" marL="0">
                        <a:buNone/>
                      </a:pPr>
                      <a:r>
                        <a:rPr>
                          <a:latin typeface="Courier"/>
                        </a:rPr>
                        <a:t>1</a:t>
                      </a:r>
                    </a:p>
                  </a:txBody>
                </a:tc>
                <a:tc>
                  <a:txBody>
                    <a:bodyPr/>
                    <a:lstStyle/>
                    <a:p>
                      <a:pPr lvl="0" indent="0" marL="0">
                        <a:buNone/>
                      </a:pPr>
                      <a:r>
                        <a:rPr/>
                        <a:t>ordered, </a:t>
                      </a:r>
                      <a:r>
                        <a:rPr b="1"/>
                        <a:t>and</a:t>
                      </a:r>
                      <a:r>
                        <a:rPr/>
                        <a:t> equally spaced</a:t>
                      </a:r>
                    </a:p>
                  </a:txBody>
                </a:tc>
              </a:tr>
              <a:tr h="0">
                <a:tc>
                  <a:txBody>
                    <a:bodyPr/>
                    <a:lstStyle/>
                    <a:p>
                      <a:pPr lvl="0" indent="0" marL="0">
                        <a:buNone/>
                      </a:pPr>
                      <a:r>
                        <a:rPr b="1"/>
                        <a:t>Target</a:t>
                      </a:r>
                    </a:p>
                  </a:txBody>
                </a:tc>
                <a:tc>
                  <a:txBody>
                    <a:bodyPr/>
                    <a:lstStyle/>
                    <a:p>
                      <a:pPr lvl="0" indent="0" marL="0">
                        <a:buNone/>
                      </a:pPr>
                      <a:r>
                        <a:rPr>
                          <a:latin typeface="Courier"/>
                        </a:rPr>
                        <a:t>0.137</a:t>
                      </a:r>
                    </a:p>
                  </a:txBody>
                </a:tc>
                <a:tc>
                  <a:txBody>
                    <a:bodyPr/>
                    <a:lstStyle/>
                    <a:p>
                      <a:pPr lvl="0" indent="0" marL="0">
                        <a:buNone/>
                      </a:pPr>
                      <a:r>
                        <a:rPr/>
                        <a:t>the level’s own average outcome stands in for it</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Equal steps, unequal meaning</a:t>
            </a:r>
          </a:p>
        </p:txBody>
      </p:sp>
      <p:pic>
        <p:nvPicPr>
          <p:cNvPr descr="encoding_comparison.png" id="0" name="Picture 1"/>
          <p:cNvPicPr>
            <a:picLocks noGrp="1" noChangeAspect="1"/>
          </p:cNvPicPr>
          <p:nvPr/>
        </p:nvPicPr>
        <p:blipFill>
          <a:blip r:embed="rId3"/>
          <a:stretch>
            <a:fillRect/>
          </a:stretch>
        </p:blipFill>
        <p:spPr bwMode="auto">
          <a:xfrm>
            <a:off x="457200" y="1601589"/>
            <a:ext cx="8229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One-hot claims nothing, and pays in columns</a:t>
            </a:r>
          </a:p>
        </p:txBody>
      </p:sp>
      <p:sp>
        <p:nvSpPr>
          <p:cNvPr id="3" name="Content Placeholder 2"/>
          <p:cNvSpPr>
            <a:spLocks noGrp="1"/>
          </p:cNvSpPr>
          <p:nvPr>
            <p:ph idx="1"/>
          </p:nvPr>
        </p:nvSpPr>
        <p:spPr>
          <a:xfrm>
            <a:off x="457200" y="1200151"/>
            <a:ext cx="8229600" cy="3394472"/>
          </a:xfrm>
        </p:spPr>
        <p:txBody>
          <a:bodyPr/>
          <a:lstStyle/>
          <a:p>
            <a:pPr lvl="0"/>
            <a:r>
              <a:rPr/>
              <a:t>A column with k levels becomes k binary columns, one 1 per row</a:t>
            </a:r>
          </a:p>
          <a:p>
            <a:pPr lvl="0"/>
            <a:r>
              <a:rPr/>
              <a:t>It asserts no order and no distance - which is why it is the default</a:t>
            </a:r>
          </a:p>
          <a:p>
            <a:pPr lvl="0"/>
            <a:r>
              <a:rPr/>
              <a:t>The price is width: </a:t>
            </a:r>
            <a:r>
              <a:rPr>
                <a:latin typeface="Courier"/>
              </a:rPr>
              <a:t>zip_code</a:t>
            </a:r>
            <a:r>
              <a:rPr/>
              <a:t> would add </a:t>
            </a:r>
            <a:r>
              <a:rPr b="1"/>
              <a:t>493</a:t>
            </a:r>
            <a:r>
              <a:rPr/>
              <a:t> columns to 2,000 rows</a:t>
            </a:r>
          </a:p>
          <a:p>
            <a:pPr lvl="0"/>
            <a:r>
              <a:rPr/>
              <a:t>Target encoding compresses any cardinality into one column - computed from the labels, which is where leakage gets in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All k dummies plus an intercept cannot both be free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Most models carry a column of ones - the </a:t>
            </a:r>
            <a:r>
              <a:rPr b="1"/>
              <a:t>intercept</a:t>
            </a:r>
            <a:r>
              <a:rPr/>
              <a:t> - so they can fit a baseline level.</a:t>
            </a:r>
          </a:p>
        </p:txBody>
      </p:sp>
      <p:pic>
        <p:nvPicPr>
          <p:cNvPr descr="eq_3723e214d0.png" id="0" name="Picture 1"/>
          <p:cNvPicPr>
            <a:picLocks noGrp="1" noChangeAspect="1"/>
          </p:cNvPicPr>
          <p:nvPr/>
        </p:nvPicPr>
        <p:blipFill>
          <a:blip r:embed="rId3"/>
          <a:stretch>
            <a:fillRect/>
          </a:stretch>
        </p:blipFill>
        <p:spPr bwMode="auto">
          <a:xfrm>
            <a:off x="457200" y="2401579"/>
            <a:ext cx="8229599" cy="188339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Rank deficient by exactly one</a:t>
            </a:r>
          </a:p>
        </p:txBody>
      </p:sp>
      <p:pic>
        <p:nvPicPr>
          <p:cNvPr descr="dummy_variable_trap.png" id="0" name="Picture 1"/>
          <p:cNvPicPr>
            <a:picLocks noGrp="1" noChangeAspect="1"/>
          </p:cNvPicPr>
          <p:nvPr/>
        </p:nvPicPr>
        <p:blipFill>
          <a:blip r:embed="rId3"/>
          <a:stretch>
            <a:fillRect/>
          </a:stretch>
        </p:blipFill>
        <p:spPr bwMode="auto">
          <a:xfrm>
            <a:off x="651789" y="1166099"/>
            <a:ext cx="7840422"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Distance-based methods (Lesson 6): everything looks equidistant</a:t>
            </a:r>
          </a:p>
          <a:p>
            <a:pPr lvl="0"/>
            <a:r>
              <a:rPr/>
              <a:t>More parameters to estimate, same sample size → more variance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codes, 2,000 customers</a:t>
            </a:r>
          </a:p>
        </p:txBody>
      </p:sp>
      <p:pic>
        <p:nvPicPr>
          <p:cNvPr descr="onehot_width.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Restating Lesson 1’s argument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 includes </a:t>
            </a:r>
            <a:r>
              <a:rPr b="1"/>
              <a:t>every</a:t>
            </a:r>
            <a:r>
              <a:rPr/>
              <a:t> learned parameter, not just “the model part”.</a:t>
            </a:r>
          </a:p>
        </p:txBody>
      </p:sp>
      <p:pic>
        <p:nvPicPr>
          <p:cNvPr descr="eq_3460d29d6f.png" id="0" name="Picture 1"/>
          <p:cNvPicPr>
            <a:picLocks noGrp="1" noChangeAspect="1"/>
          </p:cNvPicPr>
          <p:nvPr/>
        </p:nvPicPr>
        <p:blipFill>
          <a:blip r:embed="rId3"/>
          <a:stretch>
            <a:fillRect/>
          </a:stretch>
        </p:blipFill>
        <p:spPr bwMode="auto">
          <a:xfrm>
            <a:off x="1296590" y="2829964"/>
            <a:ext cx="6550819" cy="102662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br/>
            <a:r>
              <a:rPr>
                <a:latin typeface="Courier"/>
              </a:rPr>
              <a:t>    (</a:t>
            </a:r>
            <a:r>
              <a:rPr>
                <a:solidFill>
                  <a:srgbClr val="4070A0"/>
                </a:solidFill>
                <a:latin typeface="Courier"/>
              </a:rPr>
              <a:t>"prep"</a:t>
            </a:r>
            <a:r>
              <a:rPr>
                <a:latin typeface="Courier"/>
              </a:rPr>
              <a:t>, prep),</a:t>
            </a:r>
            <a:br/>
            <a:r>
              <a:rPr>
                <a:latin typeface="Courier"/>
              </a:rPr>
              <a:t>    (</a:t>
            </a:r>
            <a:r>
              <a:rPr>
                <a:solidFill>
                  <a:srgbClr val="4070A0"/>
                </a:solidFill>
                <a:latin typeface="Courier"/>
              </a:rPr>
              <a:t>"clf"</a:t>
            </a:r>
            <a:r>
              <a:rPr>
                <a:latin typeface="Courier"/>
              </a:rPr>
              <a:t>, clf),</a:t>
            </a:r>
            <a:br/>
            <a:r>
              <a:rPr>
                <a:latin typeface="Courier"/>
              </a:rPr>
              <a:t>])</a:t>
            </a:r>
            <a:br/>
            <a:r>
              <a:rPr>
                <a:latin typeface="Courier"/>
              </a:rPr>
              <a:t>model.fit(X_train, y_train)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Baseline: </a:t>
            </a:r>
            <a:r>
              <a:rPr b="1"/>
              <a:t>0.806</a:t>
            </a:r>
          </a:p>
          <a:p>
            <a:pPr lvl="0"/>
            <a:r>
              <a:rPr/>
              <a:t>Model (numeric + the low-cardinality categoricals, no zip): </a:t>
            </a:r>
            <a:r>
              <a:rPr b="1"/>
              <a:t>0.820</a:t>
            </a:r>
            <a:r>
              <a:rPr/>
              <a:t> accuracy, </a:t>
            </a:r>
            <a:r>
              <a:rPr b="1"/>
              <a:t>0.751</a:t>
            </a:r>
            <a:r>
              <a:rPr/>
              <a:t> AUC (area under the receiver operating characteristic curve)</a:t>
            </a:r>
          </a:p>
          <a:p>
            <a:pPr lvl="0" indent="0" marL="0">
              <a:buNone/>
            </a:pPr>
            <a:r>
              <a:rPr/>
              <a:t>Modest accuracy gain. Why?</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errors fall</a:t>
            </a:r>
          </a:p>
        </p:txBody>
      </p:sp>
      <p:pic>
        <p:nvPicPr>
          <p:cNvPr descr="churn_confusion_matrix.png" id="0" name="Picture 1"/>
          <p:cNvPicPr>
            <a:picLocks noGrp="1" noChangeAspect="1"/>
          </p:cNvPicPr>
          <p:nvPr/>
        </p:nvPicPr>
        <p:blipFill>
          <a:blip r:embed="rId3"/>
          <a:stretch>
            <a:fillRect/>
          </a:stretch>
        </p:blipFill>
        <p:spPr bwMode="auto">
          <a:xfrm>
            <a:off x="2797522" y="1166099"/>
            <a:ext cx="3548955"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engineering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Ratios, interactions, binning: a linear model cannot invent these itself.</a:t>
            </a:r>
          </a:p>
          <a:p>
            <a:pPr lvl="0" indent="0" marL="0">
              <a:buNone/>
            </a:pPr>
            <a:r>
              <a:rPr>
                <a:latin typeface="Courier"/>
              </a:rPr>
              <a:t>total_paid</a:t>
            </a:r>
            <a:r>
              <a:rPr/>
              <a:t> = charge × months stayed. AUC: 0.7514 → 0.7548, under four thousandths. Clean </a:t>
            </a:r>
            <a:r>
              <a:rPr>
                <a:latin typeface="Courier"/>
              </a:rPr>
              <a:t>tenure_months</a:t>
            </a:r>
            <a:r>
              <a:rPr/>
              <a:t> first and the same feature scores </a:t>
            </a:r>
            <a:r>
              <a:rPr b="1"/>
              <a:t>0.7439</a:t>
            </a:r>
            <a:r>
              <a:rPr/>
              <a:t> - the gain was living in the 999s.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Four numbers to come back with:</a:t>
            </a:r>
          </a:p>
          <a:p>
            <a:pPr lvl="0"/>
            <a:r>
              <a:rPr/>
              <a:t>Variance ratio </a:t>
            </a:r>
            <a:r>
              <a:rPr b="1"/>
              <a:t>110:1</a:t>
            </a:r>
            <a:r>
              <a:rPr/>
              <a:t> - learning rate </a:t>
            </a:r>
            <a:r>
              <a:rPr b="1"/>
              <a:t>2.0</a:t>
            </a:r>
            <a:r>
              <a:rPr/>
              <a:t> scaled, </a:t>
            </a:r>
            <a:r>
              <a:rPr b="1"/>
              <a:t>0.1</a:t>
            </a:r>
            <a:r>
              <a:rPr/>
              <a:t> raw</a:t>
            </a:r>
          </a:p>
          <a:p>
            <a:pPr lvl="0"/>
            <a:r>
              <a:rPr/>
              <a:t>That rate on raw features: loss swings </a:t>
            </a:r>
            <a:r>
              <a:rPr b="1"/>
              <a:t>0.69 to 8.29</a:t>
            </a:r>
            <a:r>
              <a:rPr/>
              <a:t>, for ever</a:t>
            </a:r>
          </a:p>
          <a:p>
            <a:pPr lvl="0"/>
            <a:r>
              <a:rPr/>
              <a:t>k dummies + intercept: </a:t>
            </a:r>
            <a:r>
              <a:rPr b="1"/>
              <a:t>4 columns, rank 3</a:t>
            </a:r>
          </a:p>
          <a:p>
            <a:pPr lvl="0"/>
            <a:r>
              <a:rPr>
                <a:latin typeface="Courier"/>
              </a:rPr>
              <a:t>Pipeline</a:t>
            </a:r>
            <a:r>
              <a:rPr/>
              <a:t>, then </a:t>
            </a:r>
            <a:r>
              <a:rPr>
                <a:latin typeface="Courier"/>
              </a:rPr>
              <a:t>total_paid</a:t>
            </a:r>
            <a:r>
              <a:rPr/>
              <a:t>: </a:t>
            </a:r>
            <a:r>
              <a:rPr b="1"/>
              <a:t>0.7514 → 0.7548 → 0.7439</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using </a:t>
            </a:r>
            <a:r>
              <a:rPr b="1"/>
              <a:t>other rows’ values</a:t>
            </a:r>
            <a:r>
              <a:rPr/>
              <a:t>.</a:t>
            </a:r>
          </a:p>
          <a:p>
            <a:pPr lvl="0" indent="0" marL="0">
              <a:buNone/>
            </a:pPr>
            <a:r>
              <a:rPr/>
              <a:t>Fit it on train + test, and some of those rows are in the test set.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94 of 128</a:t>
            </a:r>
            <a:r>
              <a:rPr/>
              <a:t> training rows with missing age had a </a:t>
            </a:r>
            <a:r>
              <a:rPr b="1"/>
              <a:t>test-set row</a:t>
            </a:r>
            <a:r>
              <a:rPr/>
              <a:t> among the five donors used to fill it.</a:t>
            </a:r>
          </a:p>
          <a:p>
            <a:pPr lvl="0" indent="0" marL="0">
              <a:buNone/>
            </a:pPr>
            <a:r>
              <a:rPr/>
              <a:t>Nothing raised an error.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Leakage, counted</a:t>
            </a:r>
          </a:p>
        </p:txBody>
      </p:sp>
      <p:pic>
        <p:nvPicPr>
          <p:cNvPr descr="smoking_gun.png" id="0" name="Picture 1"/>
          <p:cNvPicPr>
            <a:picLocks noGrp="1" noChangeAspect="1"/>
          </p:cNvPicPr>
          <p:nvPr/>
        </p:nvPicPr>
        <p:blipFill>
          <a:blip r:embed="rId3"/>
          <a:stretch>
            <a:fillRect/>
          </a:stretch>
        </p:blipFill>
        <p:spPr bwMode="auto">
          <a:xfrm>
            <a:off x="457201" y="1176140"/>
            <a:ext cx="8229597" cy="3340099"/>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before anybody has split anything.</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own disagreement, divided by your group size</a:t>
            </a:r>
          </a:p>
        </p:txBody>
      </p:sp>
      <p:pic>
        <p:nvPicPr>
          <p:cNvPr descr="eq_2274cba409.png" id="0" name="Picture 1"/>
          <p:cNvPicPr>
            <a:picLocks noGrp="1" noChangeAspect="1"/>
          </p:cNvPicPr>
          <p:nvPr/>
        </p:nvPicPr>
        <p:blipFill>
          <a:blip r:embed="rId3"/>
          <a:stretch>
            <a:fillRect/>
          </a:stretch>
        </p:blipFill>
        <p:spPr bwMode="auto">
          <a:xfrm>
            <a:off x="1553951" y="2189484"/>
            <a:ext cx="6036097" cy="131341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cross-fitted inside the pipeline.</a:t>
            </a:r>
          </a:p>
          <a:p>
            <a:pPr lvl="0" indent="0" marL="0">
              <a:buNone/>
            </a:pPr>
            <a:r>
              <a:rPr/>
              <a:t>Each row’s encoded value comes from </a:t>
            </a:r>
            <a:r>
              <a:rPr b="1"/>
              <a:t>other</a:t>
            </a:r>
            <a:r>
              <a:rPr/>
              <a:t> folds, never its own label.</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belongs inside the fold it is fitted on.</a:t>
            </a:r>
          </a:p>
          <a:p>
            <a:pPr lvl="0" indent="0" marL="0">
              <a:buNone/>
            </a:pPr>
            <a:r>
              <a:rPr/>
              <a:t>A mean. A median. A set of neighbours. A per-category average. A set of bin edges.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Trace the imputation leak. Watch the encoding leak manufacture 0.89 from noise.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all inside </a:t>
            </a:r>
            <a:r>
              <a:rPr>
                <a:latin typeface="Courier"/>
              </a:rPr>
              <a:t>Pipeline</a:t>
            </a:r>
          </a:p>
          <a:p>
            <a:pPr lvl="0"/>
            <a:r>
              <a:rPr/>
              <a:t>Two leaks that look nothing like leaking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16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the derivations are examinable</a:t>
            </a:r>
          </a:p>
          <a:p>
            <a:pPr lvl="0"/>
            <a:r>
              <a:rPr/>
              <a:t>Take the quiz</a:t>
            </a:r>
          </a:p>
          <a:p>
            <a:pPr lvl="0"/>
            <a:r>
              <a:rPr b="1"/>
              <a:t>Do the exercise</a:t>
            </a:r>
          </a:p>
          <a:p>
            <a:pPr lvl="0" indent="0" marL="0">
              <a:buNone/>
            </a:pPr>
            <a:r>
              <a:rPr/>
              <a:t>Next: regression,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Data Exploration and Preparation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9 October 2026</vt:lpwstr>
  </property>
  <property fmtid="{D5CDD505-2E9C-101B-9397-08002B2CF9AE}" pid="3" name="subtitle">
    <vt:lpwstr>Technologies for Artificial Intelligence</vt:lpwstr>
  </property>
</Properties>
</file>