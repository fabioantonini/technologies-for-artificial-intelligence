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on what lesson 1 clarified come before this slide; the exercise discussion follows them, and the seed part of it lands better for having just seen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land the framing for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the machinery that makes the leakage discussion precise rather than hand-wavy.</a:t>
            </a:r>
          </a:p>
          <a:p>
            <a:pPr lvl="0" indent="0" marL="0">
              <a:buNone/>
            </a:pPr>
          </a:p>
          <a:p>
            <a:pPr lvl="0" indent="0" marL="0">
              <a:buNone/>
            </a:pPr>
            <a:r>
              <a:rPr/>
              <a:t>Timing: roughly 25 minutes to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after Section 4.</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against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Handout Section 3.2 derives it: filling p of the entries with a constant shrinks the variance to (1-p) times the original, and attenuates every correlation the column has with anything else by the square root of (1-p).</a:t>
            </a:r>
          </a:p>
          <a:p>
            <a:pPr lvl="0" indent="0" marL="0">
              <a:buNone/>
            </a:pPr>
          </a:p>
          <a:p>
            <a:pPr lvl="0" indent="0" marL="0">
              <a:buNone/>
            </a:pPr>
            <a:r>
              <a:rPr/>
              <a:t>Have the numbers ready. For age at p = 0.08 the factor is 0.96 - small enough to ignore. At p = 0.4 it is 0.77, which erases nearly a quarter of a genuine relationship. Tell them the practical rule that follows: mean imputation is fine when the gaps are few, and quietly destructive when they are many.</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the correlation is multiplied by the square root of one minus the missing fraction.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that MCAR imputation does not need: add a binary column recording whether the value was missing. It lets a model use the fact of missingness - which, under MAR, is genuinely informative about tenure - even after the gap itself is filled with a number.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adding a binary indicator keeps the MAR signal itself available to the model - the fact that long-tenure customers are more often missing a call count may be more informative than the count would have been.</a:t>
            </a:r>
          </a:p>
          <a:p>
            <a:pPr lvl="0" indent="0" marL="0">
              <a:buNone/>
            </a:pPr>
          </a:p>
          <a:p>
            <a:pPr lvl="0" indent="0" marL="0">
              <a:buNone/>
            </a:pPr>
            <a:r>
              <a:rPr/>
              <a:t>Then the line at the bottom: every option except dropping the column learns a statistic, so all of them belong inside the training fold.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forget. Adding a column that records that a value was missing costs nothing and keeps the signal alive when the fact of the gap is itself informative - which for anything recorded by a human it usually is.</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Pay off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robust one is the one that got it wrong. Nothing here deletes a row - what to do once something is flagged is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from the data being measured, which is the crack the section prises open.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sit in the same neighbourhood, not to agree, and even on perfect data Tukey’s is the readier of the two to call something an outlier.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they sit in the same neighbourhood, and out in the tail a neighbourhood is a factor of 2.6.</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its fence sails straight past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silently reweights the sample.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110:1 variance ratio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throttled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ravine - steep across, almost flat along. One step size has to serve both. Long enough to advance along the flat direction and it overshoots the steep one and bounces from wall to wall; short enough to be safe on the steep one and it crawls along the flat one. Count the dots out loud: twenty-six steps and it is still not at the star.</a:t>
            </a:r>
          </a:p>
          <a:p>
            <a:pPr lvl="0" indent="0" marL="0">
              <a:buNone/>
            </a:pPr>
          </a:p>
          <a:p>
            <a:pPr lvl="0" indent="0" marL="0">
              <a:buNone/>
            </a:pPr>
            <a:r>
              <a:rPr/>
              <a:t>Right: after scaling, the ravine is a bowl and every step points at the minimum.</a:t>
            </a:r>
          </a:p>
          <a:p>
            <a:pPr lvl="0" indent="0" marL="0">
              <a:buNone/>
            </a:pPr>
          </a:p>
          <a:p>
            <a:pPr lvl="0" indent="0" marL="0">
              <a:buNone/>
            </a:pPr>
            <a:r>
              <a:rPr/>
              <a:t>Give them the handle without the derivation: how stretched the ravine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off one wall of the ravine into the other. Run it for 2000 steps and it is still in the same band. Worse than slow, not better: a slow run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will convict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is the answer to the question left hanging.</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two slides from here.</a:t>
            </a:r>
          </a:p>
          <a:p>
            <a:pPr lvl="0" indent="0" marL="0">
              <a:buNone/>
            </a:pPr>
          </a:p>
          <a:p>
            <a:pPr lvl="0" indent="0" marL="0">
              <a:buNone/>
            </a:pPr>
            <a:r>
              <a:rPr/>
              <a:t>The last bullet is the hook, not a conclusion.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More columns than a quarter of the sample size, for one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which is the bias-variance trade-off from Lesson 1 arriving from a new direction.</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point at the zip_code row/column - or its absence, since it is not even numeric yet - and say: notebook 1’s correlation check already suggests this column carries nothing. One-hot encoding it would add 493 mostly-empty columns. The natural alternative - replace each code with the average churn rate of its customers - is exactly the technique the leakage section is about. Do not resolve the tension yet; let it hang until after the break-free run into notebook 2’s pipeline section.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condition out loud, because it is no longer written on the slide and it is the whole content: this equality holds ONLY IF f is independent of T. It was on the slide and made the formula too small to read from the back; it belongs in your mouth, not in the image.</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Section 9 is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two slides back,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matrix shows where the errors sit: read the bottom-left cell, the churners the model missed. The area under the receiver operating characteristic curve - AUC, which Lesson 4 builds properly - at 0.751 is unaffected by the imbalance and says there is real signal that accuracy is hiding.</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formula was on this slide as a rendered equation and came out at 23pt, the smallest in the course: the column names are long enough that no amount of trimming saves it. It is one sentence to say - total_paid is the monthly charge times the months stayed, with tenure clipped at zero first - and the three AUCs are what does the work in the room.</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needs no fold-awareness; a learned one does.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Section 8.1 makes precise: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measures the gap. Connect it back to Lesson 1: this is the same independence argument, applied to a step nobody thinks of as learning. The imputer learns; therefore it belongs inside the training fold.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improved, and the improvement was the test set leaking into the training data one imputed value at a time.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cross-fitted inside the pipeline):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Section 6.3: high cardinality means small groups means a bigger leak by exactly this formula - the curse of dimensionality and the leakage risk are the same underlying fact.</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Smoothing pulls each group’s mean towards the global mean, weighted by group size, so a one-customer zip code barely moves from the overall rate. It reduces the leak but does not remove it.</a:t>
            </a:r>
          </a:p>
          <a:p>
            <a:pPr lvl="0" indent="0" marL="0">
              <a:buNone/>
            </a:pPr>
          </a:p>
          <a:p>
            <a:pPr lvl="0" indent="0" marL="0">
              <a:buNone/>
            </a:pPr>
            <a:r>
              <a:rPr/>
              <a:t>Say clearly what actually removes it: fitting the encoder inside the training fold, exactly as with every other learned step.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there are no marks for accuracy. Marks are for methodological correctness, and specifically here for correctly identifying which preprocessing steps needed to be inside the pipeline and demonstrating,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exercise explicitly and say when it is discussed - the first ten minutes of Lesson 3, Friday 16 October.</a:t>
            </a:r>
          </a:p>
          <a:p>
            <a:pPr lvl="0" indent="0" marL="0">
              <a:buNone/>
            </a:pPr>
          </a:p>
          <a:p>
            <a:pPr lvl="0" indent="0" marL="0">
              <a:buNone/>
            </a:pPr>
            <a:r>
              <a:rPr/>
              <a:t>Point out that it uses the same churn dataset, so the exploration they did today carries over, and that the marks are again on methodology: a pipeline that is correct but modest beats a better score obtained by preparing the full dataset before splitting.</a:t>
            </a:r>
          </a:p>
          <a:p>
            <a:pPr lvl="0" indent="0" marL="0">
              <a:buNone/>
            </a:pPr>
          </a:p>
          <a:p>
            <a:pPr lvl="0" indent="0" marL="0">
              <a:buNone/>
            </a:pPr>
            <a:r>
              <a:rPr/>
              <a:t>Remind them that nothing is handed in: every exercise is kept, because one of the ten is drawn at the exam and discussed from their own notebook.</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on how you framed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so the rule is structural, not just discipline</a:t>
            </a:r>
          </a:p>
          <a:p>
            <a:pPr lvl="0"/>
            <a:r>
              <a:rPr/>
              <a:t>Today: apply both to data that is actually messy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in a form nothing warns you about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a:t>
            </a:r>
          </a:p>
          <a:p>
            <a:pPr lvl="0"/>
            <a:r>
              <a:rPr/>
              <a:t>Numeric: tenure, monthly charges, age, support calls</a:t>
            </a:r>
          </a:p>
          <a:p>
            <a:pPr lvl="0"/>
            <a:r>
              <a:rPr/>
              <a:t>Categorical: contract type, region, zip code (493 levels)</a:t>
            </a:r>
          </a:p>
          <a:p>
            <a:pPr lvl="0"/>
            <a:r>
              <a:rPr/>
              <a:t>Missing values, outliers, and one column built to carry </a:t>
            </a:r>
            <a:r>
              <a:rPr b="1"/>
              <a:t>no signal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.info()</a:t>
            </a:r>
            <a:r>
              <a:rPr/>
              <a:t>, </a:t>
            </a:r>
            <a:r>
              <a:rPr>
                <a:latin typeface="Courier"/>
              </a:rPr>
              <a:t>.describe()</a:t>
            </a:r>
            <a:r>
              <a:rPr/>
              <a:t>, class balance, first: always.</a:t>
            </a:r>
          </a:p>
          <a:p>
            <a:pPr lvl="0"/>
            <a:r>
              <a:rPr/>
              <a:t>2000 rows, 8 columns, mixed types</a:t>
            </a:r>
          </a:p>
          <a:p>
            <a:pPr lvl="0"/>
            <a:r>
              <a:rPr/>
              <a:t>Churn rate: </a:t>
            </a:r>
            <a:r>
              <a:rPr b="1"/>
              <a:t>19.4%</a:t>
            </a:r>
            <a:r>
              <a:rPr/>
              <a:t> → baseline accuracy 80.6%</a:t>
            </a:r>
          </a:p>
          <a:p>
            <a:pPr lvl="0"/>
            <a:r>
              <a:rPr>
                <a:latin typeface="Courier"/>
              </a:rPr>
              <a:t>tenure_months</a:t>
            </a:r>
            <a:r>
              <a:rPr/>
              <a:t> max: 999. Not a typo in the slide.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of these four have no shape left to read</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MCAR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Some customers just left it blank. Nothing systematic.</a:t>
            </a:r>
          </a:p>
          <a:p>
            <a:pPr lvl="0"/>
            <a:r>
              <a:rPr/>
              <a:t>Safe to impute with a fixed statistic</a:t>
            </a:r>
          </a:p>
          <a:p>
            <a:pPr lvl="0"/>
            <a:r>
              <a:rPr/>
              <a:t>The bias question is not “is this fair”: it is “what does filling it cost”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Every correlation involving the imputed column shrinks,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num_support_calls: MAR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Missing more often for long-tenure customers, not by chance.</a:t>
            </a:r>
          </a:p>
          <a:p>
            <a:pPr lvl="0"/>
            <a:r>
              <a:rPr/>
              <a:t>Treating it as MCAR reweights the sample the wrong way</a:t>
            </a:r>
          </a:p>
          <a:p>
            <a:pPr lvl="0"/>
            <a:r>
              <a:rPr/>
              <a:t>A </a:t>
            </a:r>
            <a:r>
              <a:rPr b="1"/>
              <a:t>missingness indicator</a:t>
            </a:r>
            <a:r>
              <a:rPr/>
              <a:t> column preserves the signal even after filling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keeps MAR signal alive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outlier is far from the rest - not necessarily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The arithmetic cannot tell which: 3,344.7 may be a typo or a corporate account</a:t>
            </a:r>
          </a:p>
          <a:p>
            <a:pPr lvl="0"/>
            <a:r>
              <a:rPr/>
              <a:t>Two rules follow - standard deviations, then quartiles - and both only </a:t>
            </a:r>
            <a:r>
              <a:rPr b="1"/>
              <a:t>flag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distance measured in quartiles</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neighbourhood, not the same answer</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robust rule is the one that got it wrong</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a:t>
            </a:r>
            <a:r>
              <a:rPr i="1"/>
              <a:t>unusual</a:t>
            </a:r>
            <a:r>
              <a:rPr/>
              <a:t>. It is </a:t>
            </a:r>
            <a:r>
              <a:rPr i="1"/>
              <a:t>invalid</a:t>
            </a:r>
            <a:r>
              <a:rPr/>
              <a:t>: a different question entirely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Detection finds candidates. What to do next is a </a:t>
            </a:r>
            <a:r>
              <a:rPr b="1"/>
              <a:t>domain</a:t>
            </a:r>
            <a:r>
              <a:rPr/>
              <a:t> decision.</a:t>
            </a:r>
          </a:p>
          <a:p>
            <a:pPr lvl="0"/>
            <a:r>
              <a:rPr b="1"/>
              <a:t>Cap</a:t>
            </a:r>
            <a:r>
              <a:rPr/>
              <a:t> it at the fence: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 choosing the model’s numbers to make Lesson 1’s average loss small</a:t>
            </a:r>
          </a:p>
          <a:p>
            <a:pPr lvl="0"/>
            <a:r>
              <a:rPr b="1"/>
              <a:t>Gradient descent</a:t>
            </a:r>
            <a:r>
              <a:rPr/>
              <a:t> does it by repeated small steps downhill on that loss</a:t>
            </a:r>
          </a:p>
          <a:p>
            <a:pPr lvl="0"/>
            <a:r>
              <a:rPr/>
              <a:t>One step size, along every axis, every iteration. Can it suit both columns?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ravine, not a bowl</a:t>
            </a:r>
          </a:p>
        </p:txBody>
      </p:sp>
      <p:pic>
        <p:nvPicPr>
          <p:cNvPr descr="condition_number_geometry.png" id="0" name="Picture 1"/>
          <p:cNvPicPr>
            <a:picLocks noGrp="1" noChangeAspect="1"/>
          </p:cNvPicPr>
          <p:nvPr/>
        </p:nvPicPr>
        <p:blipFill>
          <a:blip r:embed="rId3"/>
          <a:stretch>
            <a:fillRect/>
          </a:stretch>
        </p:blipFill>
        <p:spPr bwMode="auto">
          <a:xfrm>
            <a:off x="1262159" y="1166099"/>
            <a:ext cx="6619682"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Two standard choices,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does arithmetic, and </a:t>
            </a:r>
            <a:r>
              <a:rPr>
                <a:latin typeface="Courier"/>
              </a:rPr>
              <a:t>"month-to-month"</a:t>
            </a:r>
            <a:r>
              <a:rPr/>
              <a:t> offers none.</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simply different: no order, no distances</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the level’s own average outcome stands in for it</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Equal steps, unequal meaning</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claims nothing, and pays in columns</a:t>
            </a:r>
          </a:p>
        </p:txBody>
      </p:sp>
      <p:sp>
        <p:nvSpPr>
          <p:cNvPr id="3" name="Content Placeholder 2"/>
          <p:cNvSpPr>
            <a:spLocks noGrp="1"/>
          </p:cNvSpPr>
          <p:nvPr>
            <p:ph idx="1"/>
          </p:nvPr>
        </p:nvSpPr>
        <p:spPr>
          <a:xfrm>
            <a:off x="457200" y="1200151"/>
            <a:ext cx="8229600" cy="3394472"/>
          </a:xfrm>
        </p:spPr>
        <p:txBody>
          <a:bodyPr/>
          <a:lstStyle/>
          <a:p>
            <a:pPr lvl="0"/>
            <a:r>
              <a:rPr/>
              <a:t>A column with k levels becomes k binary columns, one 1 per row: </a:t>
            </a:r>
            <a:r>
              <a:rPr>
                <a:latin typeface="Courier"/>
              </a:rPr>
              <a:t>OneHotEncoder</a:t>
            </a:r>
          </a:p>
          <a:p>
            <a:pPr lvl="0"/>
            <a:r>
              <a:rPr/>
              <a:t>It asserts no order and no distance - which is why it is the default</a:t>
            </a:r>
          </a:p>
          <a:p>
            <a:pPr lvl="0"/>
            <a:r>
              <a:rPr/>
              <a:t>The price is width: </a:t>
            </a:r>
            <a:r>
              <a:rPr>
                <a:latin typeface="Courier"/>
              </a:rPr>
              <a:t>zip_code</a:t>
            </a:r>
            <a:r>
              <a:rPr/>
              <a:t> would add </a:t>
            </a:r>
            <a:r>
              <a:rPr b="1"/>
              <a:t>493</a:t>
            </a:r>
            <a:r>
              <a:rPr/>
              <a:t> columns to 2,000 rows</a:t>
            </a:r>
          </a:p>
          <a:p>
            <a:pPr lvl="0"/>
            <a:r>
              <a:rPr/>
              <a:t>Target encoding compresses any cardinality into one column - computed from the labels, which is where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All k dummies plus an intercept cannot both be free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Most models carry a column of ones - the </a:t>
            </a:r>
            <a:r>
              <a:rPr b="1"/>
              <a:t>intercept</a:t>
            </a:r>
            <a:r>
              <a:rPr/>
              <a:t> - so they can fit a baseline level.</a:t>
            </a:r>
          </a:p>
        </p:txBody>
      </p:sp>
      <p:pic>
        <p:nvPicPr>
          <p:cNvPr descr="eq_3723e214d0.png" id="0" name="Picture 1"/>
          <p:cNvPicPr>
            <a:picLocks noGrp="1" noChangeAspect="1"/>
          </p:cNvPicPr>
          <p:nvPr/>
        </p:nvPicPr>
        <p:blipFill>
          <a:blip r:embed="rId3"/>
          <a:stretch>
            <a:fillRect/>
          </a:stretch>
        </p:blipFill>
        <p:spPr bwMode="auto">
          <a:xfrm>
            <a:off x="457200" y="2401579"/>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Rank deficient by exactly one</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Distance-based methods (Lesson 6): everything looks equidistant</a:t>
            </a:r>
          </a:p>
          <a:p>
            <a:pPr lvl="0"/>
            <a:r>
              <a:rPr/>
              <a:t>More parameters to estimate, same sample size → more variance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Restating Lesson 1’s argument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 includes </a:t>
            </a:r>
            <a:r>
              <a:rPr b="1"/>
              <a:t>every</a:t>
            </a:r>
            <a:r>
              <a:rPr/>
              <a:t> learned parameter, not just “the model part”.</a:t>
            </a:r>
          </a:p>
        </p:txBody>
      </p:sp>
      <p:pic>
        <p:nvPicPr>
          <p:cNvPr descr="eq_3460d29d6f.png" id="0" name="Picture 1"/>
          <p:cNvPicPr>
            <a:picLocks noGrp="1" noChangeAspect="1"/>
          </p:cNvPicPr>
          <p:nvPr/>
        </p:nvPicPr>
        <p:blipFill>
          <a:blip r:embed="rId3"/>
          <a:stretch>
            <a:fillRect/>
          </a:stretch>
        </p:blipFill>
        <p:spPr bwMode="auto">
          <a:xfrm>
            <a:off x="1296590" y="2829964"/>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Baseline: </a:t>
            </a:r>
            <a:r>
              <a:rPr b="1"/>
              <a:t>0.806</a:t>
            </a:r>
          </a:p>
          <a:p>
            <a:pPr lvl="0"/>
            <a:r>
              <a:rPr/>
              <a:t>Model (numeric + the low-cardinality categoricals, no zip): </a:t>
            </a:r>
            <a:r>
              <a:rPr b="1"/>
              <a:t>0.820</a:t>
            </a:r>
            <a:r>
              <a:rPr/>
              <a:t> accuracy, </a:t>
            </a:r>
            <a:r>
              <a:rPr b="1"/>
              <a:t>0.751</a:t>
            </a:r>
            <a:r>
              <a:rPr/>
              <a:t> AUC (area under the receiver operating characteristic curve)</a:t>
            </a:r>
          </a:p>
          <a:p>
            <a:pPr lvl="0"/>
            <a:r>
              <a:rPr/>
              <a:t>In code: </a:t>
            </a:r>
            <a:r>
              <a:rPr>
                <a:latin typeface="Courier"/>
              </a:rPr>
              <a:t>LogisticRegression</a:t>
            </a:r>
            <a:r>
              <a:rPr/>
              <a:t> against </a:t>
            </a:r>
            <a:r>
              <a:rPr>
                <a:latin typeface="Courier"/>
              </a:rPr>
              <a:t>DummyClassifier</a:t>
            </a:r>
            <a:r>
              <a:rPr/>
              <a:t>; AUC from </a:t>
            </a:r>
            <a:r>
              <a:rPr>
                <a:latin typeface="Courier"/>
              </a:rPr>
              <a:t>roc_auc_score</a:t>
            </a:r>
          </a:p>
          <a:p>
            <a:pPr lvl="0" indent="0" marL="0">
              <a:buNone/>
            </a:pPr>
            <a:r>
              <a:rPr/>
              <a:t>Modest accuracy gain.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Ratios, interactions, binning: a linear model cannot invent these itself.</a:t>
            </a:r>
          </a:p>
          <a:p>
            <a:pPr lvl="0" indent="0" marL="0">
              <a:buNone/>
            </a:pPr>
            <a:r>
              <a:rPr>
                <a:latin typeface="Courier"/>
              </a:rPr>
              <a:t>total_paid</a:t>
            </a:r>
            <a:r>
              <a:rPr/>
              <a:t> = charge × months stayed. AUC: 0.7514 → 0.7548, under four thousandths. Clean </a:t>
            </a:r>
            <a:r>
              <a:rPr>
                <a:latin typeface="Courier"/>
              </a:rPr>
              <a:t>tenure_months</a:t>
            </a:r>
            <a:r>
              <a:rPr/>
              <a:t> first and the same feature scores </a:t>
            </a:r>
            <a:r>
              <a:rPr b="1"/>
              <a:t>0.7439</a:t>
            </a:r>
            <a:r>
              <a:rPr/>
              <a:t> - the gain was living in the 999s.</a:t>
            </a:r>
          </a:p>
          <a:p>
            <a:pPr lvl="0" indent="0" marL="0">
              <a:buNone/>
            </a:pPr>
            <a:r>
              <a:rPr/>
              <a:t>In code: </a:t>
            </a:r>
            <a:r>
              <a:rPr>
                <a:latin typeface="Courier"/>
              </a:rPr>
              <a:t>FunctionTransformer(add_total_paid)</a:t>
            </a:r>
            <a:r>
              <a:rPr/>
              <a:t>, a step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using </a:t>
            </a:r>
            <a:r>
              <a:rPr b="1"/>
              <a:t>other rows’ values</a:t>
            </a:r>
            <a:r>
              <a:rPr/>
              <a:t>.</a:t>
            </a:r>
          </a:p>
          <a:p>
            <a:pPr lvl="0" indent="0" marL="0">
              <a:buNone/>
            </a:pPr>
            <a:r>
              <a:rPr/>
              <a:t>Fit it on train + test, and some of those rows are in the test set.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imputer’s own metric, names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457201" y="1176140"/>
            <a:ext cx="8229597" cy="3340099"/>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before anybody has split anything.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own disagreement, divided by your group size</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cross-fitted inside the pipeline.</a:t>
            </a:r>
          </a:p>
          <a:p>
            <a:pPr lvl="0" indent="0" marL="0">
              <a:buNone/>
            </a:pPr>
            <a:r>
              <a:rPr/>
              <a:t>Each row’s encoded value comes from </a:t>
            </a:r>
            <a:r>
              <a:rPr b="1"/>
              <a:t>other</a:t>
            </a:r>
            <a:r>
              <a:rPr/>
              <a:t> folds, never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belongs inside the fold it is fitted on.</a:t>
            </a:r>
          </a:p>
          <a:p>
            <a:pPr lvl="0" indent="0" marL="0">
              <a:buNone/>
            </a:pPr>
            <a:r>
              <a:rPr/>
              <a:t>A mean. A median. A set of neighbours. A per-category average. A set of bin edges.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look nothing like leaking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the derivations are examinable</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