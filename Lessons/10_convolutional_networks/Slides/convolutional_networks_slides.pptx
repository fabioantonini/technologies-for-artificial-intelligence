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Two things to listen for: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what is different about it: no lesson follows to discuss it, so this one is worked for the exam alone. It is the last exercise of the course.</a:t>
            </a:r>
          </a:p>
          <a:p>
            <a:pPr lvl="0" indent="0" marL="0">
              <a:buNone/>
            </a:pPr>
          </a:p>
          <a:p>
            <a:pPr lvl="0" indent="0" marL="0">
              <a:buNone/>
            </a:pPr>
            <a:r>
              <a:rPr/>
              <a:t>Draw the consequence for them, because it is not obvious. Every other exercise gets discussed in the room the following week, and that discussion is where they find out whether their reasoning held. This one does not, so if it is the one drawn at the exam they will be defending it cold. The repair is to write the markdown cells as though explaining to someone else, on the day they do it.</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of the project deadline and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4 December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spread</a:t>
            </a:r>
            <a:r>
              <a:rPr/>
              <a:t> reported beside each number, not the number</a:t>
            </a:r>
          </a:p>
          <a:p>
            <a:pPr lvl="0"/>
            <a:r>
              <a:rPr/>
              <a:t>The gap to watch for: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94 of 128</a:t>
            </a:r>
            <a:r>
              <a:rPr/>
              <a:t> imputed rows borrowed from the test set</a:t>
            </a:r>
          </a:p>
          <a:p>
            <a:pPr lvl="0"/>
            <a:r>
              <a:rPr b="1"/>
              <a:t>365</a:t>
            </a:r>
            <a:r>
              <a:rPr/>
              <a:t>: the largest coefficient a 0.01 penalty leaves</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a handful of the 576 pixels matter, the rest is irrelevant</a:t>
            </a:r>
          </a:p>
          <a:p>
            <a:pPr lvl="0"/>
            <a:r>
              <a:rPr b="1"/>
              <a:t>Position-independent</a:t>
            </a:r>
            <a:r>
              <a:rPr/>
              <a:t>: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0a191c8f63.png" id="0" name="Picture 1"/>
          <p:cNvPicPr>
            <a:picLocks noGrp="1" noChangeAspect="1"/>
          </p:cNvPicPr>
          <p:nvPr/>
        </p:nvPicPr>
        <p:blipFill>
          <a:blip r:embed="rId3"/>
          <a:stretch>
            <a:fillRect/>
          </a:stretch>
        </p:blipFill>
        <p:spPr bwMode="auto">
          <a:xfrm>
            <a:off x="457200" y="2160389"/>
            <a:ext cx="8229600" cy="137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44539"/>
            <a:ext cx="8229599" cy="1003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Keras calls this </a:t>
            </a:r>
            <a:r>
              <a:rPr>
                <a:latin typeface="Courier"/>
              </a:rPr>
              <a:t>padding="same"</a:t>
            </a:r>
          </a:p>
          <a:p>
            <a:pPr lvl="0"/>
            <a:r>
              <a:rPr/>
              <a:t>In general, padding = (kernel − 1) / 2 for odd kernels</a:t>
            </a:r>
          </a:p>
          <a:p>
            <a:pPr lvl="0"/>
            <a:r>
              <a:rPr b="1"/>
              <a:t>Stride 2 halves it</a:t>
            </a:r>
            <a:r>
              <a:rPr/>
              <a:t>: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one pixel of shift often changes nothing</a:t>
            </a:r>
          </a:p>
          <a:p>
            <a:pPr lvl="0"/>
            <a:r>
              <a:rPr/>
              <a:t>Enlarges the receptive field: 3×3 after pooling covers 6×6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a few dozen labelled photographs</a:t>
            </a:r>
          </a:p>
          <a:p>
            <a:pPr lvl="0"/>
            <a:r>
              <a:rPr/>
              <a:t>Section 8 says the network needs several hundred</a:t>
            </a:r>
          </a:p>
          <a:p>
            <a:pPr lvl="0"/>
            <a:r>
              <a:rPr/>
              <a:t>Waiting six months is no answer: the line ships now</a:t>
            </a:r>
          </a:p>
          <a:p>
            <a:pPr lvl="0"/>
            <a:r>
              <a:rPr/>
              <a:t>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description</a:t>
            </a:r>
          </a:p>
          <a:p>
            <a:pPr lvl="0"/>
            <a:r>
              <a:rPr b="1"/>
              <a:t>0.9993</a:t>
            </a:r>
            <a:r>
              <a:rPr/>
              <a:t> on the source task: a receipt, not a result</a:t>
            </a:r>
          </a:p>
          <a:p>
            <a:pPr lvl="0"/>
            <a:r>
              <a:rPr/>
              <a:t>Transfer carries what the source </a:t>
            </a:r>
            <a:r>
              <a:rPr b="1"/>
              <a:t>forced</a:t>
            </a:r>
            <a:r>
              <a:rPr/>
              <a:t> it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no cost at all</a:t>
            </a:r>
          </a:p>
          <a:p>
            <a:pPr lvl="0"/>
            <a:r>
              <a:rPr/>
              <a:t>Typing: </a:t>
            </a:r>
            <a:r>
              <a:rPr b="1"/>
              <a:t>0.9970 → 0.9523</a:t>
            </a:r>
            <a:r>
              <a:rPr/>
              <a:t>,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no lesson left to discuss it: work it for the exam</a:t>
            </a:r>
          </a:p>
          <a:p>
            <a:pPr lvl="0"/>
            <a:r>
              <a:rPr>
                <a:latin typeface="Courier"/>
              </a:rPr>
              <a:t>Exercises/10_convolutional_networks.md</a:t>
            </a:r>
          </a:p>
          <a:p>
            <a:pPr lvl="0"/>
            <a:r>
              <a:rPr/>
              <a:t>The one you will have had </a:t>
            </a:r>
            <a:r>
              <a:rPr b="1"/>
              <a:t>least practice defending</a:t>
            </a:r>
          </a:p>
          <a:p>
            <a:pPr lvl="0"/>
            <a:r>
              <a:rPr/>
              <a:t>Write the reasoning down as you go, not afterwards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and good luck with the project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Convolutional Networks and Course Synthesis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4 December 2026</vt:lpwstr>
  </property>
  <property fmtid="{D5CDD505-2E9C-101B-9397-08002B2CF9AE}" pid="3" name="subtitle">
    <vt:lpwstr>Technologies for Artificial Intelligence</vt:lpwstr>
  </property>
</Properties>
</file>