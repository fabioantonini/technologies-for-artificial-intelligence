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the whole three hours before any content. Every model this course has built so far drew a boundary whose shape was fixed before training started. Today the shape itself is learned, and that is the single idea of the lesson.</a:t>
            </a:r>
          </a:p>
          <a:p>
            <a:pPr lvl="0" indent="0" marL="0">
              <a:buNone/>
            </a:pPr>
          </a:p>
          <a:p>
            <a:pPr lvl="0" indent="0" marL="0">
              <a:buNone/>
            </a:pPr>
            <a:r>
              <a:rPr/>
              <a:t>Say what the lesson deliberately leaves out: the matrix form of the training algorithm and the many tricks that make very large networks train. Those are in the advanced version of this lesson, in Advanced/09_neural_networks_advanced/, for anyone curious, and nothing there is examined.</a:t>
            </a:r>
          </a:p>
          <a:p>
            <a:pPr lvl="0" indent="0" marL="0">
              <a:buNone/>
            </a:pPr>
          </a:p>
          <a:p>
            <a:pPr lvl="0" indent="0" marL="0">
              <a:buNone/>
            </a:pPr>
            <a:r>
              <a:rPr/>
              <a:t>Two of today’s three datasets come from a fictional sensor maker, Meridian Instruments; the third is real handwritten digits. 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to collect and nothing to hand back: discuss it. Ask who predicted, before plotting anything, which account book a “flag whatever sits at the edge of the plot” detector would fail on, and what their reason was. Listen for the gap: treating a two-dimensional picture of the principal components as if it showed everything the six columns contain. An anomaly that changes how the columns move together, without making any single column unusual, does not have to sit at the edge of that picture.</a:t>
            </a:r>
          </a:p>
          <a:p>
            <a:pPr lvl="0" indent="0" marL="0">
              <a:buNone/>
            </a:pPr>
          </a:p>
          <a:p>
            <a:pPr lvl="0" indent="0" marL="0">
              <a:buNone/>
            </a:pPr>
            <a:r>
              <a:rPr/>
              <a:t>Link forward deliberately. Today’s models are the easiest in the whole course to make look as if they work: a network with enough units drives its training accuracy towards 1 on almost anything. Every table today carries the number of runs and a spread for that reason, and the sensor scores are read against a ceiling of 0.97, not against 1.</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one-sentence thesis of the lesson, and it is worth saying slowly, because students often arrive believing that what makes a network special is its size. It is not. It is that the family of boundaries is not fixed before training starts.</a:t>
            </a:r>
          </a:p>
          <a:p>
            <a:pPr lvl="0" indent="0" marL="0">
              <a:buNone/>
            </a:pPr>
          </a:p>
          <a:p>
            <a:pPr lvl="0" indent="0" marL="0">
              <a:buNone/>
            </a:pPr>
            <a:r>
              <a:rPr/>
              <a:t>Put the question to the room: lesson 6’s kernel machines also drew curved boundaries, so what is actually different here? The answer is who chose the family of curves. With a kernel you chose it in advance, and if you chose badly no amount of data repairs it. With a hidden layer the data chooses.</a:t>
            </a:r>
          </a:p>
          <a:p>
            <a:pPr lvl="0" indent="0" marL="0">
              <a:buNone/>
            </a:pPr>
          </a:p>
          <a:p>
            <a:pPr lvl="0" indent="0" marL="0">
              <a:buNone/>
            </a:pPr>
            <a:r>
              <a:rPr/>
              <a:t>Handout section 1.</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all three problems at once, because the contrast between them is what keeps this lesson from simply advertising neural networks. The sensor data is generated by Notebooks/instrument_data.py with every rule published, so a model’s result can be compared with the truth.</a:t>
            </a:r>
          </a:p>
          <a:p>
            <a:pPr lvl="0" indent="0" marL="0">
              <a:buNone/>
            </a:pPr>
          </a:p>
          <a:p>
            <a:pPr lvl="0" indent="0" marL="0">
              <a:buNone/>
            </a:pPr>
            <a:r>
              <a:rPr/>
              <a:t>The 3% rig error is the number to keep visible all afternoon. A model that reproduced the true rule perfectly would still disagree with 3% of the recorded verdicts. Ask the room: if the instrument recording the answers is wrong 3% of the time, what is the best accuracy any classifier can be scored at? The answer is 0.97, and every sensor score today is read against it.</a:t>
            </a:r>
          </a:p>
          <a:p>
            <a:pPr lvl="0" indent="0" marL="0">
              <a:buNone/>
            </a:pPr>
          </a:p>
          <a:p>
            <a:pPr lvl="0" indent="0" marL="0">
              <a:buNone/>
            </a:pPr>
            <a:r>
              <a:rPr/>
              <a:t>Announce the number of the lesson now and promise to explain it: 39 points on the sensors and 2.8 on the digits, for the same idea. Why the same hidden layer is worth roughly ten times more on one problem than on the other is the real lesson, and it comes at slide 46. 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on this slide is new mathematics, and saying so out loud is the point: students should feel that they already own the building block, so that the only genuinely new idea today is putting units side by side and one after another.</a:t>
            </a:r>
          </a:p>
          <a:p>
            <a:pPr lvl="0" indent="0" marL="0">
              <a:buNone/>
            </a:pPr>
          </a:p>
          <a:p>
            <a:pPr lvl="0" indent="0" marL="0">
              <a:buNone/>
            </a:pPr>
            <a:r>
              <a:rPr/>
              <a:t>The perceptron of 1958 used a hard step: output 1 or 0, nothing in between. The sigmoid is the smooth version of that step, and it is what lesson 4 used. So a logistic regression model is one neuron - lesson 4’s slide 13 drew it as exactly this unit, so they have seen the picture before.</a:t>
            </a:r>
          </a:p>
          <a:p>
            <a:pPr lvl="0" indent="0" marL="0">
              <a:buNone/>
            </a:pPr>
          </a:p>
          <a:p>
            <a:pPr lvl="0" indent="0" marL="0">
              <a:buNone/>
            </a:pPr>
            <a:r>
              <a:rPr/>
              <a:t>Ask the room: what did lesson 4’s logistic regression boundary look like on a two-feature problem? A straight line. Hold on to that answer; the next five slides depend on it. 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out in words rather than in symbols: take a weighted sum of the inputs with the weights w, add the bias b, and squash the result into the interval from zero to one with the sigmoid. Call the weighted sum plus bias z.</a:t>
            </a:r>
          </a:p>
          <a:p>
            <a:pPr lvl="0" indent="0" marL="0">
              <a:buNone/>
            </a:pPr>
          </a:p>
          <a:p>
            <a:pPr lvl="0" indent="0" marL="0">
              <a:buNone/>
            </a:pPr>
            <a:r>
              <a:rPr/>
              <a:t>The squashing does not change which side of the line a point is on, because the sigmoid only ever increases. The output is exactly 0.5 where z is zero, and the set of points where z is zero is a straight line in two dimensions, a plane in three, a flat hyperplane in general. Everything one unit can express is “which side of this line are you on, and how far”. 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unit drawn two ways, with weights 1 and 2 and bias minus 1. Left: the inputs are weighted and added, a constant input of 1 carries the bias, and the sum z goes through the sigmoid. The small plot shows the sigmoid beside the hard step of the 1958 perceptron; both switch at z equal to zero.</a:t>
            </a:r>
          </a:p>
          <a:p>
            <a:pPr lvl="0" indent="0" marL="0">
              <a:buNone/>
            </a:pPr>
          </a:p>
          <a:p>
            <a:pPr lvl="0" indent="0" marL="0">
              <a:buNone/>
            </a:pPr>
            <a:r>
              <a:rPr/>
              <a:t>Right: the same unit as a map of the input plane. Point at the black line, x1 plus 2 x2 minus 1 equals zero. On that line z is zero and the output is 0.5. The colour on either side is the unit’s verdict. Ask the room: where would a point have to be for the unit to be completely undecided? On the line. 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the first point on the board, slowly: one times one, plus two times one, minus one, gives two; the sigmoid of two is 0.8808. Then let the room do the second point themselves before you show it: z is minus one, and the sigmoid of minus one is 0.2689.</a:t>
            </a:r>
          </a:p>
          <a:p>
            <a:pPr lvl="0" indent="0" marL="0">
              <a:buNone/>
            </a:pPr>
          </a:p>
          <a:p>
            <a:pPr lvl="0" indent="0" marL="0">
              <a:buNone/>
            </a:pPr>
            <a:r>
              <a:rPr/>
              <a:t>The third point is the one to dwell on. It gives z exactly zero and an output of exactly one half, because it lies on the line. Notebook 01 computes these same points in five lines of NumPy, so the room will see these digits printed again in twenty minutes.</a:t>
            </a:r>
          </a:p>
          <a:p>
            <a:pPr lvl="0" indent="0" marL="0">
              <a:buNone/>
            </a:pPr>
          </a:p>
          <a:p>
            <a:pPr lvl="0" indent="0" marL="0">
              <a:buNone/>
            </a:pPr>
            <a:r>
              <a:rPr/>
              <a:t>Handout section 2.1, worked example.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real problem. Each sensor is measured on two calibration axes, and the rule that decides whether it passes involves both offsets together, not each one separately.</a:t>
            </a:r>
          </a:p>
          <a:p>
            <a:pPr lvl="0" indent="0" marL="0">
              <a:buNone/>
            </a:pPr>
          </a:p>
          <a:p>
            <a:pPr lvl="0" indent="0" marL="0">
              <a:buNone/>
            </a:pPr>
            <a:r>
              <a:rPr/>
              <a:t>The split comes first and the scaler is fitted on the training part only: lesson 1’s and lesson 2’s rules, unchanged.</a:t>
            </a:r>
          </a:p>
          <a:p>
            <a:pPr lvl="0" indent="0" marL="0">
              <a:buNone/>
            </a:pPr>
          </a:p>
          <a:p>
            <a:pPr lvl="0" indent="0" marL="0">
              <a:buNone/>
            </a:pPr>
            <a:r>
              <a:rPr/>
              <a:t>The circle is not a teaching choice. Both tolerances are exactly 1.25 times the production spread of their axis: 0.50 decibels against a spread of 0.40, and 3.75 degrees against 3.00. So once each axis is divided by its own spread, a sensor passes when it lies within 1.25 of the centre. Ask the room: can a single straight line separate the inside of a circle from the outside? 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raw measurements, decibels against degrees. Right: the same points after each axis is divided by its own production spread, with the rule that made the labels drawn as a circle.</a:t>
            </a:r>
          </a:p>
          <a:p>
            <a:pPr lvl="0" indent="0" marL="0">
              <a:buNone/>
            </a:pPr>
          </a:p>
          <a:p>
            <a:pPr lvl="0" indent="0" marL="0">
              <a:buNone/>
            </a:pPr>
            <a:r>
              <a:rPr/>
              <a:t>Point at the few wrong-coloured points scattered along the circle. Those are the rig’s 3% of mistaken verdicts: sensors the rig recorded the wrong way round. No model can get those right, which is where the ceiling of 0.97 comes from.</a:t>
            </a:r>
          </a:p>
          <a:p>
            <a:pPr lvl="0" indent="0" marL="0">
              <a:buNone/>
            </a:pPr>
          </a:p>
          <a:p>
            <a:pPr lvl="0" indent="0" marL="0">
              <a:buNone/>
            </a:pPr>
            <a:r>
              <a:rPr/>
              <a:t>Ask before the next slide: what do you expect logistic regression, one line, to score here? Collect a few guesses. 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Logistic regression scores 0.5507, three thousandths above a model that says “accepted” to every sensor.</a:t>
            </a:r>
          </a:p>
          <a:p>
            <a:pPr lvl="0" indent="0" marL="0">
              <a:buNone/>
            </a:pPr>
          </a:p>
          <a:p>
            <a:pPr lvl="0" indent="0" marL="0">
              <a:buNone/>
            </a:pPr>
            <a:r>
              <a:rPr/>
              <a:t>The predictable mistake, and why it is reasonable: a result barely above always saying “accepted” looks like a bug, an optimiser that gave up. Usually that diagnosis would be right. Here it is wrong, and the next slide shows why. Ask the room first: who would start debugging the code at this point? Most hands should go up, and that instinct is a good one in general.</a:t>
            </a:r>
          </a:p>
          <a:p>
            <a:pPr lvl="0" indent="0" marL="0">
              <a:buNone/>
            </a:pPr>
          </a:p>
          <a:p>
            <a:pPr lvl="0" indent="0" marL="0">
              <a:buNone/>
            </a:pPr>
            <a:r>
              <a:rPr/>
              <a:t>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fitted logistic regression on the test sensors, with the true circle dashed. Point at where the line went: almost off the picture, so that nearly everything is called “accepted”.</a:t>
            </a:r>
          </a:p>
          <a:p>
            <a:pPr lvl="0" indent="0" marL="0">
              <a:buNone/>
            </a:pPr>
          </a:p>
          <a:p>
            <a:pPr lvl="0" indent="0" marL="0">
              <a:buNone/>
            </a:pPr>
            <a:r>
              <a:rPr/>
              <a:t>The fit did not fail. The coefficients are 0.0096 and 0.0701 with intercept 0.1892: almost exactly a constant model, and that is the correct answer for a line. The accept region is a disc centred on the origin, so for every accepted sensor there is, on average, a matching one on the opposite side. Whatever a line gains by tilting one way, it gives back on the other side, so the best it can do is barely tilt at all.</a:t>
            </a:r>
          </a:p>
          <a:p>
            <a:pPr lvl="0" indent="0" marL="0">
              <a:buNone/>
            </a:pPr>
          </a:p>
          <a:p>
            <a:pPr lvl="0" indent="0" marL="0">
              <a:buNone/>
            </a:pPr>
            <a:r>
              <a:rPr/>
              <a:t>The sentence to leave in the room: no straight line can enclose a region. Handout section 2.3.</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plainly that the data changes here: we leave the acceptance test and take Meridian’s second problem. 800 sensors, each with two channels whose readings drift. When both channels drift the same way, one global correction removes the drift; when they drift opposite ways, nothing does.</a:t>
            </a:r>
          </a:p>
          <a:p>
            <a:pPr lvl="0" indent="0" marL="0">
              <a:buNone/>
            </a:pPr>
          </a:p>
          <a:p>
            <a:pPr lvl="0" indent="0" marL="0">
              <a:buNone/>
            </a:pPr>
            <a:r>
              <a:rPr/>
              <a:t>Let them look before any rule is stated: four clouds, the correctable ones in two opposite corners. Ask where they would put a straight line to separate the colours. There is no good answer, and that is the next slide. 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exclusive-or is the traditional example, usually presented as an abstract logic puzzle. Insist that this version is a physical situation: a drift that is the same on both channels is removable by one correction, one that is opposite is not, and the rule follows from the electronics rather than from a truth table.</a:t>
            </a:r>
          </a:p>
          <a:p>
            <a:pPr lvl="0" indent="0" marL="0">
              <a:buNone/>
            </a:pPr>
          </a:p>
          <a:p>
            <a:pPr lvl="0" indent="0" marL="0">
              <a:buNone/>
            </a:pPr>
            <a:r>
              <a:rPr/>
              <a:t>The last two bullets are the whole diagnosis. Everything depends on a single number, the sum of the two drifts, and still no single line separates the classes, because the question asked of that number needs two thresholds, not one. Ask the room: how many straight lines would you need to draw by hand to separate these four clouds? Two. Handout sections 3.1 and 3.2.</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network of the next slide, drawn before it is described in words. Two inputs, the drifts a and b. Two hidden units, each a weighted sum followed by a rectified linear unit, drawn as the small kink inside each node. One output unit, the sigmoid of lesson 4.</a:t>
            </a:r>
          </a:p>
          <a:p>
            <a:pPr lvl="0" indent="0" marL="0">
              <a:buNone/>
            </a:pPr>
          </a:p>
          <a:p>
            <a:pPr lvl="0" indent="0" marL="0">
              <a:buNone/>
            </a:pPr>
            <a:r>
              <a:rPr/>
              <a:t>Read the weights off the arrows: the first hidden unit adds a and b and subtracts 1; the second subtracts both and subtracts 1. So the first wakes up only when a plus b is above 1, the second only when it is below minus 1. The output unit adds them with weight 10 each and bias minus 1, then applies the sigmoid. 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moment the lesson turns. Do one cloud centre live on the board, the plus-one plus-one corner: a plus b is 2, so the first hidden unit gives 2 minus 1, which is 1, and the second gives 0. The output’s weighted sum is 10 minus 1, which is 9, and the sigmoid of 9 is 0.9999. Let them check the other three centres themselves against the table in the handout.</a:t>
            </a:r>
          </a:p>
          <a:p>
            <a:pPr lvl="0" indent="0" marL="0">
              <a:buNone/>
            </a:pPr>
          </a:p>
          <a:p>
            <a:pPr lvl="0" indent="0" marL="0">
              <a:buNone/>
            </a:pPr>
            <a:r>
              <a:rPr/>
              <a:t>The ReLU is used here as a tool: the maximum of zero and its input, nothing more. Its properties come back after the break.</a:t>
            </a:r>
          </a:p>
          <a:p>
            <a:pPr lvl="0" indent="0" marL="0">
              <a:buNone/>
            </a:pPr>
          </a:p>
          <a:p>
            <a:pPr lvl="0" indent="0" marL="0">
              <a:buNone/>
            </a:pPr>
            <a:r>
              <a:rPr/>
              <a:t>The sentence to leave in the room: whatever training does, this is the kind of thing it is searching for. Handout section 3.2, worked example.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sensors as measured, which no line separates. Right: the same 800 sensors plotted by what the two hidden units output.</a:t>
            </a:r>
          </a:p>
          <a:p>
            <a:pPr lvl="0" indent="0" marL="0">
              <a:buNone/>
            </a:pPr>
          </a:p>
          <a:p>
            <a:pPr lvl="0" indent="0" marL="0">
              <a:buNone/>
            </a:pPr>
            <a:r>
              <a:rPr/>
              <a:t>Trace one cloud across the two panels with a finger. The two correctable clouds, which sat in opposite corners, have been moved to (1, 0) and (0, 1); both uncorrectable clouds have been stacked on top of each other at the origin. In the right-hand panel a single line separates them easily.</a:t>
            </a:r>
          </a:p>
          <a:p>
            <a:pPr lvl="0" indent="0" marL="0">
              <a:buNone/>
            </a:pPr>
          </a:p>
          <a:p>
            <a:pPr lvl="0" indent="0" marL="0">
              <a:buNone/>
            </a:pPr>
            <a:r>
              <a:rPr/>
              <a:t>Ask the room what the hidden layer classified. The answer is nothing, and that is the next slide. 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idea to carry out of the first half of the lesson, and it is worth more than any algebra that follows. Students tend to picture a network with several layers as a chain of classifiers, each one improving the previous answer. That is not what happens. The hidden layer changes the coordinates in which the data is described, and only the output unit classifies, with a single straight line.</a:t>
            </a:r>
          </a:p>
          <a:p>
            <a:pPr lvl="0" indent="0" marL="0">
              <a:buNone/>
            </a:pPr>
          </a:p>
          <a:p>
            <a:pPr lvl="0" indent="0" marL="0">
              <a:buNone/>
            </a:pPr>
            <a:r>
              <a:rPr/>
              <a:t>Ask the room: in the hand-built network, which unit made the decision? The output unit, and it is the same kind of unit as logistic regression. The only difference is what it was given to look at. 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Computing a network’s output from its input is the forward pass. This is a network with two inputs, four hidden units and one output, with every symbol in its place.</a:t>
            </a:r>
          </a:p>
          <a:p>
            <a:pPr lvl="0" indent="0" marL="0">
              <a:buNone/>
            </a:pPr>
          </a:p>
          <a:p>
            <a:pPr lvl="0" indent="0" marL="0">
              <a:buNone/>
            </a:pPr>
            <a:r>
              <a:rPr/>
              <a:t>Weights live on the edges. The first weight matrix, W with superscript 1, is 2 by 4: one column per hidden unit. Each hidden node holds two numbers, its weighted sum z and its activation a, which is the activation function g applied to z. Point at the bottom row: stacking all m examples as rows turns those per-node numbers into matrices, one row per example. With the 2,250 training sensors, m is 2,250.</a:t>
            </a:r>
          </a:p>
          <a:p>
            <a:pPr lvl="0" indent="0" marL="0">
              <a:buNone/>
            </a:pPr>
          </a:p>
          <a:p>
            <a:pPr lvl="0" indent="0" marL="0">
              <a:buNone/>
            </a:pPr>
            <a:r>
              <a:rPr/>
              <a:t>Ask the room: how many numbers does the first weight matrix hold? Two inputs times four units, eight, plus four biases. 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every symbol once. X is the matrix of inputs, one example per row. The superscript in square brackets is the layer: layer 1 is hidden, layer 2 is the output. W is a weight matrix and b a vector of biases. Z holds the weighted sums, A the activations, and g is the hidden activation, here the ReLU. The weighted sum inside g, XW plus b, is what the handout calls Z with superscript 1. The last step is one more weighted sum, put through the sigmoid.</a:t>
            </a:r>
          </a:p>
          <a:p>
            <a:pPr lvl="0" indent="0" marL="0">
              <a:buNone/>
            </a:pPr>
          </a:p>
          <a:p>
            <a:pPr lvl="0" indent="0" marL="0">
              <a:buNone/>
            </a:pPr>
            <a:r>
              <a:rPr/>
              <a:t>Read it as two sentences: the hidden layer is a set of lines followed by a bend of the ReLU at zero; the output is one more line, followed by a probability. Notebook 01 writes this pass for the hand-built network in two lines of NumPy, relu of D times W1 plus b1, then sigmoid of hidden times W2 plus b2. Handout section 3.3.</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Nobody writes weights by hand in practice. Training starts from small random weights and improves them step by step; how it does that is the second half of the lesson. Here the question is only whether it finds a good answer.</a:t>
            </a:r>
          </a:p>
          <a:p>
            <a:pPr lvl="0" indent="0" marL="0">
              <a:buNone/>
            </a:pPr>
          </a:p>
          <a:p>
            <a:pPr lvl="0" indent="0" marL="0">
              <a:buNone/>
            </a:pPr>
            <a:r>
              <a:rPr/>
              <a:t>The predictable mistake: it is natural to think that if two units can solve a problem, training two units will. The hand-built network showed that two units can. Training finds that solution in only 6 runs of 20; the rest stop at three clouds of four. The median run with two units scores 0.7381.</a:t>
            </a:r>
          </a:p>
          <a:p>
            <a:pPr lvl="0" indent="0" marL="0">
              <a:buNone/>
            </a:pPr>
          </a:p>
          <a:p>
            <a:pPr lvl="0" indent="0" marL="0">
              <a:buNone/>
            </a:pPr>
            <a:r>
              <a:rPr/>
              <a:t>Ask the room why a wider layer would help when two units are already enough. A wider layer gives training more chances to start near a good set of lines, which is why networks used in practice are wider than their task strictly requires. 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training run with two and with four hidden units on the drift problem. Point at the left panel: with two hidden units, training walled off three of the four clouds and stopped there, at about 0.74. The fourth cloud is simply on the wrong side.</a:t>
            </a:r>
          </a:p>
          <a:p>
            <a:pPr lvl="0" indent="0" marL="0">
              <a:buNone/>
            </a:pPr>
          </a:p>
          <a:p>
            <a:pPr lvl="0" indent="0" marL="0">
              <a:buNone/>
            </a:pPr>
            <a:r>
              <a:rPr/>
              <a:t>The right panel, four units, encloses both correctable clouds and scores 1.0000. Nothing about the problem changed between the panels; only the number of hidden units changed, and with it the number of lines training could place.</a:t>
            </a:r>
          </a:p>
          <a:p>
            <a:pPr lvl="0" indent="0" marL="0">
              <a:buNone/>
            </a:pPr>
          </a:p>
          <a:p>
            <a:pPr lvl="0" indent="0" marL="0">
              <a:buNone/>
            </a:pPr>
            <a:r>
              <a:rPr/>
              <a:t>Ask the room: if a model this small can fail like this on a problem this simple, how would you notice on a problem you cannot plot? By running it from several starting points and reading the spread. 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plainly that the data changes back: we leave the drift problem and return to the acceptance test, the circle no line could enclose. Each row is MLPClassifier with one hidden layer of that size, trained five times from different random starting points and scored on the 750 test sensors.</a:t>
            </a:r>
          </a:p>
          <a:p>
            <a:pPr lvl="0" indent="0" marL="0">
              <a:buNone/>
            </a:pPr>
          </a:p>
          <a:p>
            <a:pPr lvl="0" indent="0" marL="0">
              <a:buNone/>
            </a:pPr>
            <a:r>
              <a:rPr/>
              <a:t>Read the worst and best columns, not only the mean. At three and four units the worst run is still 0.7227 while the best is above 0.9: the same story as the drift problem, a few lines can enclose the circle but training does not always find them. At eight units the five runs agree, and the mean, 0.9445, is within three points of the ceiling of 0.97. From one line, 0.5507, that is 39 points: the first half of the lesson’s number.</a:t>
            </a:r>
          </a:p>
          <a:p>
            <a:pPr lvl="0" indent="0" marL="0">
              <a:buNone/>
            </a:pPr>
          </a:p>
          <a:p>
            <a:pPr lvl="0" indent="0" marL="0">
              <a:buNone/>
            </a:pPr>
            <a:r>
              <a:rPr/>
              <a:t>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run at 1, 2, 4 and 8 hidden units, with the true circle dashed.</a:t>
            </a:r>
          </a:p>
          <a:p>
            <a:pPr lvl="0" indent="0" marL="0">
              <a:buNone/>
            </a:pPr>
          </a:p>
          <a:p>
            <a:pPr lvl="0" indent="0" marL="0">
              <a:buNone/>
            </a:pPr>
            <a:r>
              <a:rPr/>
              <a:t>Read the shape of the boundary from left to right. One unit gives one line, exactly like logistic regression. Two give a strip. Four give a four-sided fence. Eight give an eight-sided one, close to the circle.</a:t>
            </a:r>
          </a:p>
          <a:p>
            <a:pPr lvl="0" indent="0" marL="0">
              <a:buNone/>
            </a:pPr>
          </a:p>
          <a:p>
            <a:pPr lvl="0" indent="0" marL="0">
              <a:buNone/>
            </a:pPr>
            <a:r>
              <a:rPr/>
              <a:t>Ask the room to predict what sixteen units would draw before showing the table again: a sixteen-sided fence, closer still, and the table says it buys about one more point. 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eight hidden units of that network, each drawn as its own line, computed from its column of the first weight matrix. In scikit-learn that matrix is coefs_[0], and notebook 01 draws these lines straight from it. The network’s boundary is the black curve.</a:t>
            </a:r>
          </a:p>
          <a:p>
            <a:pPr lvl="0" indent="0" marL="0">
              <a:buNone/>
            </a:pPr>
          </a:p>
          <a:p>
            <a:pPr lvl="0" indent="0" marL="0">
              <a:buNone/>
            </a:pPr>
            <a:r>
              <a:rPr/>
              <a:t>Each line on its own cuts the plane in two, as one unit always does. Point at how the output unit’s weighted vote, over which side of each line a point lies on, encloses a region that no single line could.</a:t>
            </a:r>
          </a:p>
          <a:p>
            <a:pPr lvl="0" indent="0" marL="0">
              <a:buNone/>
            </a:pPr>
          </a:p>
          <a:p>
            <a:pPr lvl="0" indent="0" marL="0">
              <a:buNone/>
            </a:pPr>
            <a:r>
              <a:rPr/>
              <a:t>This is the picture of a hidden layer to take home: several lines and a vote. Handout section 3.4.</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one line to a hidden layer, on Meridian’s sensors. Run Notebooks/01_from_one_line_to_a_hidden_layer.ipynb. 25 minutes.</a:t>
            </a:r>
          </a:p>
          <a:p>
            <a:pPr lvl="0" indent="0" marL="0">
              <a:buNone/>
            </a:pPr>
          </a:p>
          <a:p>
            <a:pPr lvl="0" indent="0" marL="0">
              <a:buNone/>
            </a:pPr>
            <a:r>
              <a:rPr/>
              <a:t>Have them look at the scatter in section 2 before any model is fitted, and predict the logistic regression score out loud before section 3 prints it.</a:t>
            </a:r>
          </a:p>
          <a:p>
            <a:pPr lvl="0" indent="0" marL="0">
              <a:buNone/>
            </a:pPr>
          </a:p>
          <a:p>
            <a:pPr lvl="0" indent="0" marL="0">
              <a:buNone/>
            </a:pPr>
            <a:r>
              <a:rPr/>
              <a:t>If time runs short, keep section 6, the twenty training runs per size on the drift problem. Watching fourteen of twenty two-unit runs stall is what turns “a network that can represent the answer is not always one training finds” from a slogan into a fact.</a:t>
            </a:r>
          </a:p>
          <a:p>
            <a:pPr lvl="0" indent="0" marL="0">
              <a:buNone/>
            </a:pPr>
          </a:p>
          <a:p>
            <a:pPr lvl="0" indent="0" marL="0">
              <a:buNone/>
            </a:pPr>
            <a:r>
              <a:rPr/>
              <a:t>If somebody finishes early: change the number of hidden units in section 7 to 5 or 6 and draw the hidden lines again.</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Twelve minutes. The second half answers the question the first half left open: the hand-built network was written down, and MLPClassifier found good weights on its own. How does training actually find them?</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Training repeats four steps, many times. Predict: a mini-batch of examples goes forward through the network. Measure: the loss says how wrong the predictions are. Blame: backpropagation works out how much each weight contributed to the error. Adjust: every weight moves a little against its blame, scaled by the learning rate.</a:t>
            </a:r>
          </a:p>
          <a:p>
            <a:pPr lvl="0" indent="0" marL="0">
              <a:buNone/>
            </a:pPr>
          </a:p>
          <a:p>
            <a:pPr lvl="0" indent="0" marL="0">
              <a:buNone/>
            </a:pPr>
            <a:r>
              <a:rPr/>
              <a:t>Point at the arrow back to step 1: after the weights move, every prediction, every error and every blame has to be computed again. Only the weights carry over from one round to the next.</a:t>
            </a:r>
          </a:p>
          <a:p>
            <a:pPr lvl="0" indent="0" marL="0">
              <a:buNone/>
            </a:pPr>
          </a:p>
          <a:p>
            <a:pPr lvl="0" indent="0" marL="0">
              <a:buNone/>
            </a:pPr>
            <a:r>
              <a:rPr/>
              <a:t>Ask the room which of the four steps they have already seen in this course. Steps 1, 2 and 4 are lesson 3’s gradient descent; only step 3 is new. Handout section 4.1.</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words that every network library uses, defined here because notebook 02 prints both. A mini-batch is a sample of the training data: each round of the loop looks only at it, so one round is cheap, and the direction it suggests is roughly right on average.</a:t>
            </a:r>
          </a:p>
          <a:p>
            <a:pPr lvl="0" indent="0" marL="0">
              <a:buNone/>
            </a:pPr>
          </a:p>
          <a:p>
            <a:pPr lvl="0" indent="0" marL="0">
              <a:buNone/>
            </a:pPr>
            <a:r>
              <a:rPr/>
              <a:t>Do the arithmetic on the board: 1,077 divided by 32 is 33 and a bit, so 34 mini-batches, the last one smaller. Sixty epochs of 34 rounds each is 2,040 rounds.</a:t>
            </a:r>
          </a:p>
          <a:p>
            <a:pPr lvl="0" indent="0" marL="0">
              <a:buNone/>
            </a:pPr>
          </a:p>
          <a:p>
            <a:pPr lvl="0" indent="0" marL="0">
              <a:buNone/>
            </a:pPr>
            <a:r>
              <a:rPr/>
              <a:t>Ask the room: if each round used all 1,077 images instead, what would change? Each round would be about 34 times more expensive, and there would be only 60 of them. Handout section 4.1.</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on this slide is new either: cross-entropy is the loss lesson 4 used for logistic regression, and the update rule is lesson 3’s gradient descent, with alpha the learning rate.</a:t>
            </a:r>
          </a:p>
          <a:p>
            <a:pPr lvl="0" indent="0" marL="0">
              <a:buNone/>
            </a:pPr>
          </a:p>
          <a:p>
            <a:pPr lvl="0" indent="0" marL="0">
              <a:buNone/>
            </a:pPr>
            <a:r>
              <a:rPr/>
              <a:t>The one result worth stating is the last two bullets. For a sigmoid unit with the cross-entropy loss, the chain rule collapses to something very simple: the blame for the output is the prediction minus the truth, and each weight’s blame is that times the input it carried. The derivation is four lines in the handout, section 4.3; do not do it on the board.</a:t>
            </a:r>
          </a:p>
          <a:p>
            <a:pPr lvl="0" indent="0" marL="0">
              <a:buNone/>
            </a:pPr>
          </a:p>
          <a:p>
            <a:pPr lvl="0" indent="0" marL="0">
              <a:buNone/>
            </a:pPr>
            <a:r>
              <a:rPr/>
              <a:t>Ask the room: if the prediction equals the truth, how far does any weight move? Not at all, because the blame is zero. Handout sections 4.2 and 4.3.</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step, every number shown: forward in blue, blame in rust. The unit is the one from slide 9, weights 1 and 2, bias minus 1. It sees the point (1, 1), whose true label is 0.</a:t>
            </a:r>
          </a:p>
          <a:p>
            <a:pPr lvl="0" indent="0" marL="0">
              <a:buNone/>
            </a:pPr>
          </a:p>
          <a:p>
            <a:pPr lvl="0" indent="0" marL="0">
              <a:buNone/>
            </a:pPr>
            <a:r>
              <a:rPr/>
              <a:t>Walk the forward row first, then the backward arrow, then the last line. Point at the last line: one step moves the prediction from 0.881 to 0.663, towards the true label 0. The figure rounds the new weights to three decimals; the next slide gives them in full.</a:t>
            </a:r>
          </a:p>
          <a:p>
            <a:pPr lvl="0" indent="0" marL="0">
              <a:buNone/>
            </a:pPr>
          </a:p>
          <a:p>
            <a:pPr lvl="0" indent="0" marL="0">
              <a:buNone/>
            </a:pPr>
            <a:r>
              <a:rPr/>
              <a:t>Ask the room before showing the next slide: which way should every weight move when the unit said 0.881 and the truth was 0? Down, because the unit said too much. Handout section 4.3.</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Go through it as arithmetic the room can check with a calculator. The loss for a true label of 0 is minus the logarithm of one minus the prediction: minus log of 0.119, which is 2.127.</a:t>
            </a:r>
          </a:p>
          <a:p>
            <a:pPr lvl="0" indent="0" marL="0">
              <a:buNone/>
            </a:pPr>
          </a:p>
          <a:p>
            <a:pPr lvl="0" indent="0" marL="0">
              <a:buNone/>
            </a:pPr>
            <a:r>
              <a:rPr/>
              <a:t>The blame is 0.881 minus 0, and since both inputs are 1, each weight’s blame is the same 0.881. Half of that, because the learning rate is 0.5, is 0.440. Every weight goes down by 0.440. The new weighted sum is 0.5596 plus 1.5596 minus 1.4404, which is 0.679, and the sigmoid of that is 0.663.</a:t>
            </a:r>
          </a:p>
          <a:p>
            <a:pPr lvl="0" indent="0" marL="0">
              <a:buNone/>
            </a:pPr>
          </a:p>
          <a:p>
            <a:pPr lvl="0" indent="0" marL="0">
              <a:buNone/>
            </a:pPr>
            <a:r>
              <a:rPr/>
              <a:t>One step roughly halved the loss. Ask: what would two thousand such steps, over many examples, do? That is what training is. Handout section 4.3, worked example.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a network, a hidden unit’s weights do not touch the loss directly; they affect it through the output. Point at the direction of the arrows: the error starts at the output and travels back along the same connections the forward pass used.</a:t>
            </a:r>
          </a:p>
          <a:p>
            <a:pPr lvl="0" indent="0" marL="0">
              <a:buNone/>
            </a:pPr>
          </a:p>
          <a:p>
            <a:pPr lvl="0" indent="0" marL="0">
              <a:buNone/>
            </a:pPr>
            <a:r>
              <a:rPr/>
              <a:t>Each hidden unit receives its share of the output’s error, in proportion to the weight connecting it to the output. It scales that share by the slope of its own activation, and passes it further back the same way. One backward sweep gives every weight its blame.</a:t>
            </a:r>
          </a:p>
          <a:p>
            <a:pPr lvl="0" indent="0" marL="0">
              <a:buNone/>
            </a:pPr>
          </a:p>
          <a:p>
            <a:pPr lvl="0" indent="0" marL="0">
              <a:buNone/>
            </a:pPr>
            <a:r>
              <a:rPr/>
              <a:t>Ask the room: a hidden unit connected to the output with a weight of zero, how much blame does it receive? None. Handout section 4.4.</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name sounds technical; the idea is the chain rule of calculus, applied one layer at a time, starting from the output.</a:t>
            </a:r>
          </a:p>
          <a:p>
            <a:pPr lvl="0" indent="0" marL="0">
              <a:buNone/>
            </a:pPr>
          </a:p>
          <a:p>
            <a:pPr lvl="0" indent="0" marL="0">
              <a:buNone/>
            </a:pPr>
            <a:r>
              <a:rPr/>
              <a:t>The fourth bullet is why it matters. A gradient for every weight in the network costs roughly one more prediction. Without that, training a network with thousands of weights would be hopeless.</a:t>
            </a:r>
          </a:p>
          <a:p>
            <a:pPr lvl="0" indent="0" marL="0">
              <a:buNone/>
            </a:pPr>
          </a:p>
          <a:p>
            <a:pPr lvl="0" indent="0" marL="0">
              <a:buNone/>
            </a:pPr>
            <a:r>
              <a:rPr/>
              <a:t>The last bullet sets expectations: in this course nobody writes backpropagation by hand. The libraries do it inside fit. What the room needs is the picture, because the picture explains the two failures in the last part of the lesson, the learning rate and the vanishing gradient. Handout section 4.4.</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network, two hidden layers of 64, trained with plain stochastic gradient descent on the digits for 60 epochs, at three learning rates, one run each.</a:t>
            </a:r>
          </a:p>
          <a:p>
            <a:pPr lvl="0" indent="0" marL="0">
              <a:buNone/>
            </a:pPr>
          </a:p>
          <a:p>
            <a:pPr lvl="0" indent="0" marL="0">
              <a:buNone/>
            </a:pPr>
            <a:r>
              <a:rPr/>
              <a:t>Point at the right panel. At a learning rate of 0.001, accuracy is still climbing when training stops. At 0.5 it settles high. At 2.0 it never leaves 0.1, which is what guessing scores on ten classes.</a:t>
            </a:r>
          </a:p>
          <a:p>
            <a:pPr lvl="0" indent="0" marL="0">
              <a:buNone/>
            </a:pPr>
          </a:p>
          <a:p>
            <a:pPr lvl="0" indent="0" marL="0">
              <a:buNone/>
            </a:pPr>
            <a:r>
              <a:rPr/>
              <a:t>Ask the room to explain the 2.0 curve before you do: every step overshoots the bottom of the valley, so the loss never comes down. Handout section 4.5.</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the mistake and say why it is reasonable. A rate too small gives low accuracy on both the training and the validation data, which is exactly what a network too small looks like, and the natural response is to make the network bigger. That reasoning is sound in general: low training accuracy is the usual sign of a model too simple. Here it is the wrong fix.</a:t>
            </a:r>
          </a:p>
          <a:p>
            <a:pPr lvl="0" indent="0" marL="0">
              <a:buNone/>
            </a:pPr>
          </a:p>
          <a:p>
            <a:pPr lvl="0" indent="0" marL="0">
              <a:buNone/>
            </a:pPr>
            <a:r>
              <a:rPr/>
              <a:t>The final training losses tell the story: 2.0456 at the small rate, 0.0007 at 0.5, and 2.3195 at 2.0. The small rate has simply not finished learning when the 60 epochs run out.</a:t>
            </a:r>
          </a:p>
          <a:p>
            <a:pPr lvl="0" indent="0" marL="0">
              <a:buNone/>
            </a:pPr>
          </a:p>
          <a:p>
            <a:pPr lvl="0" indent="0" marL="0">
              <a:buNone/>
            </a:pPr>
            <a:r>
              <a:rPr/>
              <a:t>Ask the room: what is the cheapest experiment that tells the two diagnoses apart? Change the learning rate by a factor of ten and train again. Handout section 4.5.</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third problem, and the first real data today: 1,797 handwritten digits shipped with scikit-learn, each eight by eight pixels, ten classes. Two training examples of each digit are shown.</a:t>
            </a:r>
          </a:p>
          <a:p>
            <a:pPr lvl="0" indent="0" marL="0">
              <a:buNone/>
            </a:pPr>
          </a:p>
          <a:p>
            <a:pPr lvl="0" indent="0" marL="0">
              <a:buNone/>
            </a:pPr>
            <a:r>
              <a:rPr/>
              <a:t>Point at how coarse they are: some are hard for a person to read. The images are split three ways, as lesson 5 asks: 1,077 to train, 360 to validate and compare designs, 360 to test, touched once at the end. Each pixel is divided by 16 so it lies between 0 and 1.</a:t>
            </a:r>
          </a:p>
          <a:p>
            <a:pPr lvl="0" indent="0" marL="0">
              <a:buNone/>
            </a:pPr>
          </a:p>
          <a:p>
            <a:pPr lvl="0" indent="0" marL="0">
              <a:buNone/>
            </a:pPr>
            <a:r>
              <a:rPr/>
              <a:t>Ask the room: a linear model gives each pixel one weight per digit. How well do you expect that to do here? Keep the guesses for slide 44. 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lines inside Sequential describe the whole network: 64 inputs, one hidden layer of 32 ReLU units, and an output layer of 10 units, one per digit, with softmax. Dense is a layer in which every unit sees every input.</a:t>
            </a:r>
          </a:p>
          <a:p>
            <a:pPr lvl="0" indent="0" marL="0">
              <a:buNone/>
            </a:pPr>
          </a:p>
          <a:p>
            <a:pPr lvl="0" indent="0" marL="0">
              <a:buNone/>
            </a:pPr>
            <a:r>
              <a:rPr/>
              <a:t>compile chooses the loss, cross-entropy for integer class labels, and the optimiser. Adam is a refined form of gradient descent that adapts the step for each weight. fit runs the loop of slide 29 for 60 epochs, in mini-batches of 32, which is Keras’s default size; the notebook also passes the validation images so that both curves are recorded.</a:t>
            </a:r>
          </a:p>
          <a:p>
            <a:pPr lvl="0" indent="0" marL="0">
              <a:buNone/>
            </a:pPr>
          </a:p>
          <a:p>
            <a:pPr lvl="0" indent="0" marL="0">
              <a:buNone/>
            </a:pPr>
            <a:r>
              <a:rPr/>
              <a:t>The title’s 2,410 is worth counting with the room once: the hidden layer has one weight per pixel and unit plus one bias per unit, 64 times 32 plus 32, which is 2,080; the output layer has 32 times 10 plus 10, which is 330. Total 2,410, the number Keras prints. 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it in words: the output layer computes ten numbers per image, one per digit. Exponentiate each one, so they are all positive, then divide by their total, so they add up to 1. The prediction is the digit with the largest probability. They have met it once already: lesson 4’s slide 58 used the same softmax for three classes of drive.</a:t>
            </a:r>
          </a:p>
          <a:p>
            <a:pPr lvl="0" indent="0" marL="0">
              <a:buNone/>
            </a:pPr>
          </a:p>
          <a:p>
            <a:pPr lvl="0" indent="0" marL="0">
              <a:buNone/>
            </a:pPr>
            <a:r>
              <a:rPr/>
              <a:t>With two classes, softmax reduces to the sigmoid: it is the same construction at a different size. And the loss for ten classes is still cross-entropy, minus the logarithm of the probability given to the true class.</a:t>
            </a:r>
          </a:p>
          <a:p>
            <a:pPr lvl="0" indent="0" marL="0">
              <a:buNone/>
            </a:pPr>
          </a:p>
          <a:p>
            <a:pPr lvl="0" indent="0" marL="0">
              <a:buNone/>
            </a:pPr>
            <a:r>
              <a:rPr/>
              <a:t>Ask the room: if all ten scores are equal, what probability does each digit get? One tenth. Handout section 5.3.</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validation images and the ten probabilities the network gives each. Point at the difference: the 6 above gets 0.991 on one digit. The 1 below, which the network gets wrong, has no digit above a third: its most probable answer, a 4, gets 0.323.</a:t>
            </a:r>
          </a:p>
          <a:p>
            <a:pPr lvl="0" indent="0" marL="0">
              <a:buNone/>
            </a:pPr>
          </a:p>
          <a:p>
            <a:pPr lvl="0" indent="0" marL="0">
              <a:buNone/>
            </a:pPr>
            <a:r>
              <a:rPr/>
              <a:t>The predictable mistake: it is tempting to read the largest probability as how likely the prediction is to be right. Softmax says how sure the network is, not how right it is. Notebook 02 also finds a 4 called a 7 with probability 0.920: very sure, and wrong.</a:t>
            </a:r>
          </a:p>
          <a:p>
            <a:pPr lvl="0" indent="0" marL="0">
              <a:buNone/>
            </a:pPr>
          </a:p>
          <a:p>
            <a:pPr lvl="0" indent="0" marL="0">
              <a:buNone/>
            </a:pPr>
            <a:r>
              <a:rPr/>
              <a:t>Ask the room: would you trust a 0.92 from this network on a decision that mattered? Handout section 5.3.</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Loss and accuracy after every epoch, on the training and the validation images, for the network of slide 39, one run.</a:t>
            </a:r>
          </a:p>
          <a:p>
            <a:pPr lvl="0" indent="0" marL="0">
              <a:buNone/>
            </a:pPr>
          </a:p>
          <a:p>
            <a:pPr lvl="0" indent="0" marL="0">
              <a:buNone/>
            </a:pPr>
            <a:r>
              <a:rPr/>
              <a:t>Point at the first ten epochs: almost all the learning happens there. After the first epoch the network scores 0.2667 on the validation images; after 60 it scores 0.9639, getting 13 of the 360 wrong, and 0.9926 on the images it trained on.</a:t>
            </a:r>
          </a:p>
          <a:p>
            <a:pPr lvl="0" indent="0" marL="0">
              <a:buNone/>
            </a:pPr>
          </a:p>
          <a:p>
            <a:pPr lvl="0" indent="0" marL="0">
              <a:buNone/>
            </a:pPr>
            <a:r>
              <a:rPr/>
              <a:t>The training curve ends above the validation curve, as it always will: the network has seen those images. Ask the room: what would it mean if that gap kept growing? That is notebook 03. 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confusion matrix of lesson 4, now with ten classes: which digits are confused with which, on the 360 validation images. The diagonal holds the correct answers.</a:t>
            </a:r>
          </a:p>
          <a:p>
            <a:pPr lvl="0" indent="0" marL="0">
              <a:buNone/>
            </a:pPr>
          </a:p>
          <a:p>
            <a:pPr lvl="0" indent="0" marL="0">
              <a:buNone/>
            </a:pPr>
            <a:r>
              <a:rPr/>
              <a:t>Point off the diagonal: the mistakes are few and scattered, a 4 taken for a 7, a 9 for a 5. Thirteen in all. No single pair dominates, which says the network has no systematic blind spot on this data.</a:t>
            </a:r>
          </a:p>
          <a:p>
            <a:pPr lvl="0" indent="0" marL="0">
              <a:buNone/>
            </a:pPr>
          </a:p>
          <a:p>
            <a:pPr lvl="0" indent="0" marL="0">
              <a:buNone/>
            </a:pPr>
            <a:r>
              <a:rPr/>
              <a:t>Ask the room which confusions they would have predicted from the digit images on slide 38. 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Remove the hidden layer and the network is softmax alone: one weighted sum of the pixels per digit, which is multiclass logistic regression. Three training runs per row.</a:t>
            </a:r>
          </a:p>
          <a:p>
            <a:pPr lvl="0" indent="0" marL="0">
              <a:buNone/>
            </a:pPr>
          </a:p>
          <a:p>
            <a:pPr lvl="0" indent="0" marL="0">
              <a:buNone/>
            </a:pPr>
            <a:r>
              <a:rPr/>
              <a:t>Compare with the guesses from slide 38. The linear model already scores 0.9324. The hidden layer of 32 adds 2.8 points. Doubling it to 64 adds almost nothing, far less than the run-to-run standard deviation, so the 32 and 64 rows cannot be ranked.</a:t>
            </a:r>
          </a:p>
          <a:p>
            <a:pPr lvl="0" indent="0" marL="0">
              <a:buNone/>
            </a:pPr>
          </a:p>
          <a:p>
            <a:pPr lvl="0" indent="0" marL="0">
              <a:buNone/>
            </a:pPr>
            <a:r>
              <a:rPr/>
              <a:t>The single run of slide 42 scored 0.9639; this table averages three runs, and that is the number to quote. Handout section 5.5.</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a hidden layer is worth on each problem, side by side. Left: the sensors, one line against eight hidden units, on the 750 test sensors. Right: the digits, softmax alone against 32 hidden units, on the 360 validation images.</a:t>
            </a:r>
          </a:p>
          <a:p>
            <a:pPr lvl="0" indent="0" marL="0">
              <a:buNone/>
            </a:pPr>
          </a:p>
          <a:p>
            <a:pPr lvl="0" indent="0" marL="0">
              <a:buNone/>
            </a:pPr>
            <a:r>
              <a:rPr/>
              <a:t>Point at the two gaps: 39.4 points on the sensors, 2.8 on the digits. The same idea, worth roughly ten times more on one problem than on the other. The 2.8 is one split of the digits: notebook 2 redraws the split and gets 4.7. The exact figure changes with the split. Its size does not: a few points on the digits, against about 39 on the sensors.</a:t>
            </a:r>
          </a:p>
          <a:p>
            <a:pPr lvl="0" indent="0" marL="0">
              <a:buNone/>
            </a:pPr>
          </a:p>
          <a:p>
            <a:pPr lvl="0" indent="0" marL="0">
              <a:buNone/>
            </a:pPr>
            <a:r>
              <a:rPr/>
              <a:t>Ask the room why, before the next slide gives the answer. Handout section 5.5.</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reason is the shape of each problem. On the sensors the answer depends on the two offsets together: a sensor passes when the pair is near the centre, and no weighted sum of the two can say “near the centre”. On the digits each pixel pushes the answer more or less on its own: ink here suggests a 0, ink there a 1, and a weighted sum of pixels already gets most of the way.</a:t>
            </a:r>
          </a:p>
          <a:p>
            <a:pPr lvl="0" indent="0" marL="0">
              <a:buNone/>
            </a:pPr>
          </a:p>
          <a:p>
            <a:pPr lvl="0" indent="0" marL="0">
              <a:buNone/>
            </a:pPr>
            <a:r>
              <a:rPr/>
              <a:t>Name the mistake and why it is reasonable. Having seen a hidden layer take the sensors from 0.55 to 0.94, it is natural to add one every time. The instinct is sound when inputs act in combination; on data where they act independently it buys little and costs parameters.</a:t>
            </a:r>
          </a:p>
          <a:p>
            <a:pPr lvl="0" indent="0" marL="0">
              <a:buNone/>
            </a:pPr>
          </a:p>
          <a:p>
            <a:pPr lvl="0" indent="0" marL="0">
              <a:buNone/>
            </a:pPr>
            <a:r>
              <a:rPr/>
              <a:t>Ask the room: on a new dataset, what single experiment would tell you which kind it is? Fit the linear model and a small network, and read the gap. Handout section 5.5.</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network in Keras, on handwritten digits. Run Notebooks/02_a_network_in_keras.ipynb. 18 minutes.</a:t>
            </a:r>
          </a:p>
          <a:p>
            <a:pPr lvl="0" indent="0" marL="0">
              <a:buNone/>
            </a:pPr>
          </a:p>
          <a:p>
            <a:pPr lvl="0" indent="0" marL="0">
              <a:buNone/>
            </a:pPr>
            <a:r>
              <a:rPr/>
              <a:t>Have them read the model summary in section 3 and check the parameter count by hand before moving on: 2,080 plus 330.</a:t>
            </a:r>
          </a:p>
          <a:p>
            <a:pPr lvl="0" indent="0" marL="0">
              <a:buNone/>
            </a:pPr>
          </a:p>
          <a:p>
            <a:pPr lvl="0" indent="0" marL="0">
              <a:buNone/>
            </a:pPr>
            <a:r>
              <a:rPr/>
              <a:t>If time runs short, keep section 4: printing the probabilities for one image and finding the most confident mistake convinces more than the slide did.</a:t>
            </a:r>
          </a:p>
          <a:p>
            <a:pPr lvl="0" indent="0" marL="0">
              <a:buNone/>
            </a:pPr>
          </a:p>
          <a:p>
            <a:pPr lvl="0" indent="0" marL="0">
              <a:buNone/>
            </a:pPr>
            <a:r>
              <a:rPr/>
              <a:t>If somebody finishes early: add a second hidden layer of 32 in section 5 and see whether it moves the validation accuracy by more than the standard deviation.</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Notebook 03 trains a much bigger network on much less data: two hidden layers of 512 units on only 300 training digits, for 200 epochs.</a:t>
            </a:r>
          </a:p>
          <a:p>
            <a:pPr lvl="0" indent="0" marL="0">
              <a:buNone/>
            </a:pPr>
          </a:p>
          <a:p>
            <a:pPr lvl="0" indent="0" marL="0">
              <a:buNone/>
            </a:pPr>
            <a:r>
              <a:rPr/>
              <a:t>Left: training accuracy reaches 1.000 within a few epochs and stays there; validation accuracy stays roughly level. Right: point at the validation loss. It is lowest at epoch 13, then climbs for the rest of training.</a:t>
            </a:r>
          </a:p>
          <a:p>
            <a:pPr lvl="0" indent="0" marL="0">
              <a:buNone/>
            </a:pPr>
          </a:p>
          <a:p>
            <a:pPr lvl="0" indent="0" marL="0">
              <a:buNone/>
            </a:pPr>
            <a:r>
              <a:rPr/>
              <a:t>Ask the room: the validation accuracy barely moves, so is anything wrong? The next slide answers. Handout section 6.1.</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network has enough freedom to store the 300 answers outright, and it does. This is lesson 5’s overfitting, seen inside one training run.</a:t>
            </a:r>
          </a:p>
          <a:p>
            <a:pPr lvl="0" indent="0" marL="0">
              <a:buNone/>
            </a:pPr>
          </a:p>
          <a:p>
            <a:pPr lvl="0" indent="0" marL="0">
              <a:buNone/>
            </a:pPr>
            <a:r>
              <a:rPr/>
              <a:t>The point to make slowly is the difference between the two validation curves. Accuracy only asks whether the top answer is right, so it barely moves. The loss also asks how confident the network was, and it climbs, because the network is becoming more and more sure about the validation images it already gets wrong. The loss shows the damage first.</a:t>
            </a:r>
          </a:p>
          <a:p>
            <a:pPr lvl="0" indent="0" marL="0">
              <a:buNone/>
            </a:pPr>
          </a:p>
          <a:p>
            <a:pPr lvl="0" indent="0" marL="0">
              <a:buNone/>
            </a:pPr>
            <a:r>
              <a:rPr/>
              <a:t>Ask the room: which of the two curves would you watch to decide when to stop training? The loss. That is the first remedy. Handout section 6.1.</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standard remedies, both one line of Keras.</a:t>
            </a:r>
          </a:p>
          <a:p>
            <a:pPr lvl="0" indent="0" marL="0">
              <a:buNone/>
            </a:pPr>
          </a:p>
          <a:p>
            <a:pPr lvl="0" indent="0" marL="0">
              <a:buNone/>
            </a:pPr>
            <a:r>
              <a:rPr/>
              <a:t>Early stopping watches the validation loss after every epoch. When it has not improved for a set number of epochs, 25 here, training stops and the weights from the best epoch are put back. It needs a validation set, which is lesson 5’s discipline again.</a:t>
            </a:r>
          </a:p>
          <a:p>
            <a:pPr lvl="0" indent="0" marL="0">
              <a:buNone/>
            </a:pPr>
          </a:p>
          <a:p>
            <a:pPr lvl="0" indent="0" marL="0">
              <a:buNone/>
            </a:pPr>
            <a:r>
              <a:rPr/>
              <a:t>Dropout is stranger. On every training mini-batch, a random 40% of the hidden units are switched off, so the network cannot depend on any one unit and has to spread what it learns. At prediction time every unit is on.</a:t>
            </a:r>
          </a:p>
          <a:p>
            <a:pPr lvl="0" indent="0" marL="0">
              <a:buNone/>
            </a:pPr>
          </a:p>
          <a:p>
            <a:pPr lvl="0" indent="0" marL="0">
              <a:buNone/>
            </a:pPr>
            <a:r>
              <a:rPr/>
              <a:t>Ask the room to predict, before the next slide: which of the two will help more on this network? Handout section 6.2.</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runs each, scored on the 360 test images, which nothing here was chosen against.</a:t>
            </a:r>
          </a:p>
          <a:p>
            <a:pPr lvl="0" indent="0" marL="0">
              <a:buNone/>
            </a:pPr>
          </a:p>
          <a:p>
            <a:pPr lvl="0" indent="0" marL="0">
              <a:buNone/>
            </a:pPr>
            <a:r>
              <a:rPr/>
              <a:t>Read the spread before the means, as lesson 5 taught. The best and worst rows differ by 0.0055, under two standard deviations of the runs. That is enough to say the remedies did not hurt, and not enough to rank them.</a:t>
            </a:r>
          </a:p>
          <a:p>
            <a:pPr lvl="0" indent="0" marL="0">
              <a:buNone/>
            </a:pPr>
          </a:p>
          <a:p>
            <a:pPr lvl="0" indent="0" marL="0">
              <a:buNone/>
            </a:pPr>
            <a:r>
              <a:rPr/>
              <a:t>What early stopping certainly bought is time: 39 epochs instead of 200. On a real problem that is often the reason it is used. Ask the room: if someone reported only the dropout row as “dropout improves accuracy”, what would you ask them? How many runs, and what spread. Handout section 6.2.</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sigmoid and the ReLU. Right: their slopes.</a:t>
            </a:r>
          </a:p>
          <a:p>
            <a:pPr lvl="0" indent="0" marL="0">
              <a:buNone/>
            </a:pPr>
          </a:p>
          <a:p>
            <a:pPr lvl="0" indent="0" marL="0">
              <a:buNone/>
            </a:pPr>
            <a:r>
              <a:rPr/>
              <a:t>Point at the dotted line on the right panel: the sigmoid’s slope is never above one quarter, at its very centre, and much smaller elsewhere. The ReLU’s slope is 1 wherever the unit is active, and 0 where it is not.</a:t>
            </a:r>
          </a:p>
          <a:p>
            <a:pPr lvl="0" indent="0" marL="0">
              <a:buNone/>
            </a:pPr>
          </a:p>
          <a:p>
            <a:pPr lvl="0" indent="0" marL="0">
              <a:buNone/>
            </a:pPr>
            <a:r>
              <a:rPr/>
              <a:t>Remind the room of slide 35: the backward sweep multiplies the blame by the activation’s slope at every layer. Ask: what happens to a number multiplied by at most one quarter, six times over? Handout section 6.3.</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Six hidden layers of 32, identical in everything but the activation, trained with plain stochastic gradient descent at learning rate 0.1 for 80 epochs, one run each.</a:t>
            </a:r>
          </a:p>
          <a:p>
            <a:pPr lvl="0" indent="0" marL="0">
              <a:buNone/>
            </a:pPr>
          </a:p>
          <a:p>
            <a:pPr lvl="0" indent="0" marL="0">
              <a:buNone/>
            </a:pPr>
            <a:r>
              <a:rPr/>
              <a:t>Point at the sigmoid’s line: it sits on 0.1, guessing on ten classes, for all 80 epochs. The ReLU network, same size, same data, same optimiser, learns normally.</a:t>
            </a:r>
          </a:p>
          <a:p>
            <a:pPr lvl="0" indent="0" marL="0">
              <a:buNone/>
            </a:pPr>
          </a:p>
          <a:p>
            <a:pPr lvl="0" indent="0" marL="0">
              <a:buNone/>
            </a:pPr>
            <a:r>
              <a:rPr/>
              <a:t>Ask the room: the code for the two networks differs by one word. Where is the problem? Not in the data, not in the size: in the slope. Handout section 6.3.</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blame that reaches the first layer of a six-layer sigmoid network is at most one four-thousandth of what left the output: too small to move anything. The first layers keep their random starting weights, so the layers after them receive inputs that carry nothing learned, and the network never leaves chance.</a:t>
            </a:r>
          </a:p>
          <a:p>
            <a:pPr lvl="0" indent="0" marL="0">
              <a:buNone/>
            </a:pPr>
          </a:p>
          <a:p>
            <a:pPr lvl="0" indent="0" marL="0">
              <a:buNone/>
            </a:pPr>
            <a:r>
              <a:rPr/>
              <a:t>This is why deep networks use the ReLU. The scores are validation accuracy on the 360 validation digits after 80 epochs.</a:t>
            </a:r>
          </a:p>
          <a:p>
            <a:pPr lvl="0" indent="0" marL="0">
              <a:buNone/>
            </a:pPr>
          </a:p>
          <a:p>
            <a:pPr lvl="0" indent="0" marL="0">
              <a:buNone/>
            </a:pPr>
            <a:r>
              <a:rPr/>
              <a:t>Lesson 10 builds deeper networks, and the problem comes back there. Ask the room: knowing this, which activation would you choose for the hidden layers of any network you build in exercise 9? Handout section 6.3.</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Take one fixed reordering of the 64 pixels and apply it to every image, in training, validation and test alike.</a:t>
            </a:r>
          </a:p>
          <a:p>
            <a:pPr lvl="0" indent="0" marL="0">
              <a:buNone/>
            </a:pPr>
          </a:p>
          <a:p>
            <a:pPr lvl="0" indent="0" marL="0">
              <a:buNone/>
            </a:pPr>
            <a:r>
              <a:rPr/>
              <a:t>Top row: five digits as written. Bottom row: the same five with their pixels shuffled. To a person they are noise.</a:t>
            </a:r>
          </a:p>
          <a:p>
            <a:pPr lvl="0" indent="0" marL="0">
              <a:buNone/>
            </a:pPr>
          </a:p>
          <a:p>
            <a:pPr lvl="0" indent="0" marL="0">
              <a:buNone/>
            </a:pPr>
            <a:r>
              <a:rPr/>
              <a:t>Ask the room to predict what the one-hidden-layer network of slide 39 will score on the shuffled images. Most will expect it to collapse, and that is a reasonable expectation: people read digits through their shapes. Handout section 6.4.</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shuffled score is not lower; the 0.0028 difference is inside the standard deviations of 0.0052 and 0.0035. A dense layer treats the 64 pixels as 64 unrelated numbers: shuffle them the same way every time, and nothing it can see has changed.</a:t>
            </a:r>
          </a:p>
          <a:p>
            <a:pPr lvl="0" indent="0" marL="0">
              <a:buNone/>
            </a:pPr>
          </a:p>
          <a:p>
            <a:pPr lvl="0" indent="0" marL="0">
              <a:buNone/>
            </a:pPr>
            <a:r>
              <a:rPr/>
              <a:t>For a photograph, where neighbouring pixels are the whole point, that is a strange blindness. Say the last bullet slowly and leave it on the screen: lesson 10 opens on exactly this sentence, and it is about networks that do notice.</a:t>
            </a:r>
          </a:p>
          <a:p>
            <a:pPr lvl="0" indent="0" marL="0">
              <a:buNone/>
            </a:pPr>
          </a:p>
          <a:p>
            <a:pPr lvl="0" indent="0" marL="0">
              <a:buNone/>
            </a:pPr>
            <a:r>
              <a:rPr/>
              <a:t>Handout section 6.4.</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Training in practice: the learning rate, memorising, two remedies, the vanishing gradient, and shuffled pixels. Run Notebooks/03_training_in_practice.ipynb. 20 minutes.</a:t>
            </a:r>
          </a:p>
          <a:p>
            <a:pPr lvl="0" indent="0" marL="0">
              <a:buNone/>
            </a:pPr>
          </a:p>
          <a:p>
            <a:pPr lvl="0" indent="0" marL="0">
              <a:buNone/>
            </a:pPr>
            <a:r>
              <a:rPr/>
              <a:t>If time runs short, keep sections 3 and 5: the validation loss climbing while accuracy stays level, and the sigmoid network stuck at 0.1000. Those are the two pictures of training going wrong that the room will meet again.</a:t>
            </a:r>
          </a:p>
          <a:p>
            <a:pPr lvl="0" indent="0" marL="0">
              <a:buNone/>
            </a:pPr>
          </a:p>
          <a:p>
            <a:pPr lvl="0" indent="0" marL="0">
              <a:buNone/>
            </a:pPr>
            <a:r>
              <a:rPr/>
              <a:t>If somebody finishes early: change the learning rate of the six-layer sigmoid network and see whether any rate rescues it.</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Five sentences for the whole afternoon. If time allows, ask the room to say each one back in their own words before you read it.</a:t>
            </a:r>
          </a:p>
          <a:p>
            <a:pPr lvl="0" indent="0" marL="0">
              <a:buNone/>
            </a:pPr>
          </a:p>
          <a:p>
            <a:pPr lvl="0" indent="0" marL="0">
              <a:buNone/>
            </a:pPr>
            <a:r>
              <a:rPr/>
              <a:t>The first two are the first half of the lesson: a unit is a line, and a hidden layer is several lines and a vote that changes the coordinates. The third is the second half: training is a loop, and backpropagation is how the blame reaches every weight. The fourth and fifth are the habits: diagnose the learning rate before the network, and measure what a network is worth before assuming it.</a:t>
            </a:r>
          </a:p>
          <a:p>
            <a:pPr lvl="0" indent="0" marL="0">
              <a:buNone/>
            </a:pPr>
          </a:p>
          <a:p>
            <a:pPr lvl="0" indent="0" marL="0">
              <a:buNone/>
            </a:pPr>
            <a:r>
              <a:rPr/>
              <a:t>Handout summary.</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number to carry out of the room: 39 points against 2.8. Ask them to write it down.</a:t>
            </a:r>
          </a:p>
          <a:p>
            <a:pPr lvl="0" indent="0" marL="0">
              <a:buNone/>
            </a:pPr>
          </a:p>
          <a:p>
            <a:pPr lvl="0" indent="0" marL="0">
              <a:buNone/>
            </a:pPr>
            <a:r>
              <a:rPr/>
              <a:t>It joins the numbers the earlier lessons left behind, and like them it is a warning rather than an advertisement. A network is not better than a linear model in general; it is better when the inputs act in combination, and the only way to know which kind of problem you have is to measure the gap.</a:t>
            </a:r>
          </a:p>
          <a:p>
            <a:pPr lvl="0" indent="0" marL="0">
              <a:buNone/>
            </a:pPr>
          </a:p>
          <a:p>
            <a:pPr lvl="0" indent="0" marL="0">
              <a:buNone/>
            </a:pPr>
            <a:r>
              <a:rPr/>
              <a:t>Exercise 9 asks exactly that, on two datasets nobody has told you the answer for. Handout sections 3.4 and 5.5.</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out loud when it comes back: the first ten minutes of lesson 10, Friday 11 December. Nothing is collected; we discuss it, and at the exam one of the ten exercises is drawn and the student talks through their own notebook.</a:t>
            </a:r>
          </a:p>
          <a:p>
            <a:pPr lvl="0" indent="0" marL="0">
              <a:buNone/>
            </a:pPr>
          </a:p>
          <a:p>
            <a:pPr lvl="0" indent="0" marL="0">
              <a:buNone/>
            </a:pPr>
            <a:r>
              <a:rPr/>
              <a:t>Two standing requirements, both of which today’s material makes easy to forget. Every reported difference needs the number of runs and the spread it was measured against. And every accuracy on Meridian’s data is read against the ceiling of 0.97, not against 1.</a:t>
            </a:r>
          </a:p>
          <a:p>
            <a:pPr lvl="0" indent="0" marL="0">
              <a:buNone/>
            </a:pPr>
          </a:p>
          <a:p>
            <a:pPr lvl="0" indent="0" marL="0">
              <a:buNone/>
            </a:pPr>
            <a:r>
              <a:rPr/>
              <a:t>Next week is convolutional networks: networks that do use which pixel is next to which, the information the shuffled pixels showed a dense network ignores.</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9: Neural Networks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4 December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Agenda</a:t>
            </a:r>
          </a:p>
        </p:txBody>
      </p:sp>
      <p:sp>
        <p:nvSpPr>
          <p:cNvPr id="3" name="Content Placeholder 2"/>
          <p:cNvSpPr>
            <a:spLocks noGrp="1"/>
          </p:cNvSpPr>
          <p:nvPr>
            <p:ph idx="1"/>
          </p:nvPr>
        </p:nvSpPr>
        <p:spPr>
          <a:xfrm>
            <a:off x="457200" y="1200151"/>
            <a:ext cx="8229600" cy="3394472"/>
          </a:xfrm>
        </p:spPr>
        <p:txBody>
          <a:bodyPr/>
          <a:lstStyle/>
          <a:p>
            <a:pPr lvl="0"/>
            <a:r>
              <a:rPr/>
              <a:t>One neuron is one line, and where one line runs out</a:t>
            </a:r>
          </a:p>
          <a:p>
            <a:pPr lvl="0"/>
            <a:r>
              <a:rPr/>
              <a:t>A hidden layer: several lines and a vote</a:t>
            </a:r>
          </a:p>
          <a:p>
            <a:pPr lvl="0"/>
            <a:r>
              <a:rPr/>
              <a:t>How a network learns: the training loop, and one step worked by hand</a:t>
            </a:r>
          </a:p>
          <a:p>
            <a:pPr lvl="0"/>
            <a:r>
              <a:rPr/>
              <a:t>A network in Keras on handwritten digits, and softmax</a:t>
            </a:r>
          </a:p>
          <a:p>
            <a:pPr lvl="0"/>
            <a:r>
              <a:rPr/>
              <a:t>Training in practice: memorising, two remedies, deep sigmoid networks, shuffled pixels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Exercise 8, before we start</a:t>
            </a:r>
          </a:p>
        </p:txBody>
      </p:sp>
      <p:sp>
        <p:nvSpPr>
          <p:cNvPr id="3" name="Content Placeholder 2"/>
          <p:cNvSpPr>
            <a:spLocks noGrp="1"/>
          </p:cNvSpPr>
          <p:nvPr>
            <p:ph idx="1"/>
          </p:nvPr>
        </p:nvSpPr>
        <p:spPr>
          <a:xfrm>
            <a:off x="457200" y="1200151"/>
            <a:ext cx="8229600" cy="3394472"/>
          </a:xfrm>
        </p:spPr>
        <p:txBody>
          <a:bodyPr/>
          <a:lstStyle/>
          <a:p>
            <a:pPr lvl="0"/>
            <a:r>
              <a:rPr/>
              <a:t>Nothing is collected: we discuss it, ten minutes</a:t>
            </a:r>
          </a:p>
          <a:p>
            <a:pPr lvl="0"/>
            <a:r>
              <a:rPr/>
              <a:t>What counts is the </a:t>
            </a:r>
            <a:r>
              <a:rPr b="1"/>
              <a:t>prediction made before plotting</a:t>
            </a:r>
            <a:r>
              <a:rPr/>
              <a:t>, and its reason</a:t>
            </a:r>
          </a:p>
          <a:p>
            <a:pPr lvl="0"/>
            <a:r>
              <a:rPr/>
              <a:t>The common gap: trusting a two-dimensional plot to show every anomaly</a:t>
            </a:r>
          </a:p>
          <a:p>
            <a:pPr lvl="0"/>
            <a:r>
              <a:rPr/>
              <a:t>Today: a network’s high training accuracy, alone, says little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a network adds</a:t>
            </a:r>
          </a:p>
        </p:txBody>
      </p:sp>
      <p:sp>
        <p:nvSpPr>
          <p:cNvPr id="3" name="Content Placeholder 2"/>
          <p:cNvSpPr>
            <a:spLocks noGrp="1"/>
          </p:cNvSpPr>
          <p:nvPr>
            <p:ph idx="1"/>
          </p:nvPr>
        </p:nvSpPr>
        <p:spPr>
          <a:xfrm>
            <a:off x="457200" y="1200151"/>
            <a:ext cx="8229600" cy="3394472"/>
          </a:xfrm>
        </p:spPr>
        <p:txBody>
          <a:bodyPr/>
          <a:lstStyle/>
          <a:p>
            <a:pPr lvl="0"/>
            <a:r>
              <a:rPr/>
              <a:t>Every boundary so far had its </a:t>
            </a:r>
            <a:r>
              <a:rPr b="1"/>
              <a:t>shape fixed in advance</a:t>
            </a:r>
          </a:p>
          <a:p>
            <a:pPr lvl="0"/>
            <a:r>
              <a:rPr/>
              <a:t>Logistic regression: a line; a tree: boxes; a support vector machine: its kernel’s curve</a:t>
            </a:r>
          </a:p>
          <a:p>
            <a:pPr lvl="0"/>
            <a:r>
              <a:rPr/>
              <a:t>Training only chose </a:t>
            </a:r>
            <a:r>
              <a:rPr b="1"/>
              <a:t>where</a:t>
            </a:r>
            <a:r>
              <a:rPr/>
              <a:t> that shape went</a:t>
            </a:r>
          </a:p>
          <a:p>
            <a:pPr lvl="0"/>
            <a:r>
              <a:rPr/>
              <a:t>A neural network learns </a:t>
            </a:r>
            <a:r>
              <a:rPr b="1"/>
              <a:t>the shape itself</a:t>
            </a:r>
          </a:p>
          <a:p>
            <a:pPr lvl="0"/>
            <a:r>
              <a:rPr/>
              <a:t>It is built from one simple part, the unit, repeated in layers: the layers between input and output are </a:t>
            </a:r>
            <a:r>
              <a:rPr b="1"/>
              <a:t>hidden layers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problems, and a ceiling of 0.97</a:t>
            </a:r>
          </a:p>
        </p:txBody>
      </p:sp>
      <p:sp>
        <p:nvSpPr>
          <p:cNvPr id="3" name="Content Placeholder 2"/>
          <p:cNvSpPr>
            <a:spLocks noGrp="1"/>
          </p:cNvSpPr>
          <p:nvPr>
            <p:ph idx="1"/>
          </p:nvPr>
        </p:nvSpPr>
        <p:spPr>
          <a:xfrm>
            <a:off x="457200" y="1200151"/>
            <a:ext cx="8229600" cy="3394472"/>
          </a:xfrm>
        </p:spPr>
        <p:txBody>
          <a:bodyPr/>
          <a:lstStyle/>
          <a:p>
            <a:pPr lvl="0"/>
            <a:r>
              <a:rPr b="1"/>
              <a:t>Acceptance test</a:t>
            </a:r>
            <a:r>
              <a:rPr/>
              <a:t>: 3,000 sensors, pass or fail</a:t>
            </a:r>
          </a:p>
          <a:p>
            <a:pPr lvl="0"/>
            <a:r>
              <a:rPr b="1"/>
              <a:t>Two-channel drift</a:t>
            </a:r>
            <a:r>
              <a:rPr/>
              <a:t>: 800 sensors, correctable or not</a:t>
            </a:r>
          </a:p>
          <a:p>
            <a:pPr lvl="0"/>
            <a:r>
              <a:rPr b="1"/>
              <a:t>Digits</a:t>
            </a:r>
            <a:r>
              <a:rPr/>
              <a:t>: 1,797 handwritten images, 8 × 8 pixels</a:t>
            </a:r>
          </a:p>
          <a:p>
            <a:pPr lvl="0"/>
            <a:r>
              <a:rPr/>
              <a:t>The test rig is wrong on </a:t>
            </a:r>
            <a:r>
              <a:rPr b="1"/>
              <a:t>3%</a:t>
            </a:r>
            <a:r>
              <a:rPr/>
              <a:t> of sensors, so no score can exceed </a:t>
            </a:r>
            <a:r>
              <a:rPr b="1"/>
              <a:t>0.97</a:t>
            </a:r>
          </a:p>
          <a:p>
            <a:pPr lvl="0"/>
            <a:r>
              <a:rPr/>
              <a:t>A hidden layer is worth </a:t>
            </a:r>
            <a:r>
              <a:rPr b="1"/>
              <a:t>39 points</a:t>
            </a:r>
            <a:r>
              <a:rPr/>
              <a:t> on the sensors, </a:t>
            </a:r>
            <a:r>
              <a:rPr b="1"/>
              <a:t>2.8</a:t>
            </a:r>
            <a:r>
              <a:rPr/>
              <a:t> on the digits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perceptron, and a unit you already have</a:t>
            </a:r>
          </a:p>
        </p:txBody>
      </p:sp>
      <p:sp>
        <p:nvSpPr>
          <p:cNvPr id="3" name="Content Placeholder 2"/>
          <p:cNvSpPr>
            <a:spLocks noGrp="1"/>
          </p:cNvSpPr>
          <p:nvPr>
            <p:ph idx="1"/>
          </p:nvPr>
        </p:nvSpPr>
        <p:spPr>
          <a:xfrm>
            <a:off x="457200" y="1200151"/>
            <a:ext cx="8229600" cy="3394472"/>
          </a:xfrm>
        </p:spPr>
        <p:txBody>
          <a:bodyPr/>
          <a:lstStyle/>
          <a:p>
            <a:pPr lvl="0"/>
            <a:r>
              <a:rPr/>
              <a:t>The </a:t>
            </a:r>
            <a:r>
              <a:rPr b="1"/>
              <a:t>perceptron</a:t>
            </a:r>
            <a:r>
              <a:rPr/>
              <a:t> (Rosenblatt, 1958): output 1 if the weighted sum is positive</a:t>
            </a:r>
          </a:p>
          <a:p>
            <a:pPr lvl="0"/>
            <a:r>
              <a:rPr/>
              <a:t>Swap that hard step for lesson 4’s sigmoid</a:t>
            </a:r>
          </a:p>
          <a:p>
            <a:pPr lvl="0"/>
            <a:r>
              <a:rPr/>
              <a:t>The result is one logistic regression unit, </a:t>
            </a:r>
            <a:r>
              <a:rPr>
                <a:latin typeface="Courier"/>
              </a:rPr>
              <a:t>LogisticRegression</a:t>
            </a:r>
          </a:p>
          <a:p>
            <a:pPr lvl="0"/>
            <a:r>
              <a:rPr/>
              <a:t>New today: the unit is a </a:t>
            </a:r>
            <a:r>
              <a:rPr b="1"/>
              <a:t>component</a:t>
            </a:r>
            <a:r>
              <a:rPr/>
              <a:t>, repeated</a:t>
            </a:r>
          </a:p>
          <a:p>
            <a:pPr lvl="0"/>
            <a:r>
              <a:rPr/>
              <a:t>Also called a </a:t>
            </a:r>
            <a:r>
              <a:rPr b="1"/>
              <a:t>unit</a:t>
            </a:r>
            <a:r>
              <a:rPr/>
              <a:t>, or a </a:t>
            </a:r>
            <a:r>
              <a:rPr b="1"/>
              <a:t>neuron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neuron is a line</a:t>
            </a:r>
          </a:p>
        </p:txBody>
      </p:sp>
      <p:pic>
        <p:nvPicPr>
          <p:cNvPr descr="eq_fba59c2ac4.png" id="0" name="Picture 1"/>
          <p:cNvPicPr>
            <a:picLocks noGrp="1" noChangeAspect="1"/>
          </p:cNvPicPr>
          <p:nvPr/>
        </p:nvPicPr>
        <p:blipFill>
          <a:blip r:embed="rId3"/>
          <a:stretch>
            <a:fillRect/>
          </a:stretch>
        </p:blipFill>
        <p:spPr bwMode="auto">
          <a:xfrm>
            <a:off x="457200" y="2439789"/>
            <a:ext cx="8229600" cy="812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neuron, drawn</a:t>
            </a:r>
          </a:p>
        </p:txBody>
      </p:sp>
      <p:pic>
        <p:nvPicPr>
          <p:cNvPr descr="one_neuron.png" id="0" name="Picture 1"/>
          <p:cNvPicPr>
            <a:picLocks noGrp="1" noChangeAspect="1"/>
          </p:cNvPicPr>
          <p:nvPr/>
        </p:nvPicPr>
        <p:blipFill>
          <a:blip r:embed="rId3"/>
          <a:stretch>
            <a:fillRect/>
          </a:stretch>
        </p:blipFill>
        <p:spPr bwMode="auto">
          <a:xfrm>
            <a:off x="645496" y="1166099"/>
            <a:ext cx="7853007" cy="3360181"/>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unit, by hand</a:t>
            </a:r>
          </a:p>
        </p:txBody>
      </p:sp>
      <p:sp>
        <p:nvSpPr>
          <p:cNvPr id="3" name="Content Placeholder 2"/>
          <p:cNvSpPr>
            <a:spLocks noGrp="1"/>
          </p:cNvSpPr>
          <p:nvPr>
            <p:ph idx="1"/>
          </p:nvPr>
        </p:nvSpPr>
        <p:spPr>
          <a:xfrm>
            <a:off x="457200" y="1200151"/>
            <a:ext cx="8229600" cy="3394472"/>
          </a:xfrm>
        </p:spPr>
        <p:txBody>
          <a:bodyPr/>
          <a:lstStyle/>
          <a:p>
            <a:pPr lvl="0"/>
            <a:r>
              <a:rPr/>
              <a:t>Weights w = (1, 2), bias b = −1: the unit’s line is x₁ + 2x₂ − 1 = 0</a:t>
            </a:r>
          </a:p>
          <a:p>
            <a:pPr lvl="0"/>
            <a:r>
              <a:rPr/>
              <a:t>Point (1, 1): z = 1 + 2 − 1 = 2, and ŷ = σ(2) = </a:t>
            </a:r>
            <a:r>
              <a:rPr b="1"/>
              <a:t>0.8808</a:t>
            </a:r>
            <a:r>
              <a:rPr/>
              <a:t>, class 1</a:t>
            </a:r>
          </a:p>
          <a:p>
            <a:pPr lvl="0"/>
            <a:r>
              <a:rPr/>
              <a:t>Point (0, 0): z = −1, and ŷ = </a:t>
            </a:r>
            <a:r>
              <a:rPr b="1"/>
              <a:t>0.2689</a:t>
            </a:r>
            <a:r>
              <a:rPr/>
              <a:t>, class 0</a:t>
            </a:r>
          </a:p>
          <a:p>
            <a:pPr lvl="0"/>
            <a:r>
              <a:rPr/>
              <a:t>Point (1, 0): z = 0, and ŷ = </a:t>
            </a:r>
            <a:r>
              <a:rPr b="1"/>
              <a:t>0.5000</a:t>
            </a:r>
            <a:r>
              <a:rPr/>
              <a:t>: on the line, </a:t>
            </a:r>
            <a:r>
              <a:rPr b="1"/>
              <a:t>undecided</a:t>
            </a:r>
          </a:p>
          <a:p>
            <a:pPr lvl="0"/>
            <a:r>
              <a:rPr/>
              <a:t>The unit’s verdict is which side of its line a point lies 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Meridian’s acceptance test</a:t>
            </a:r>
          </a:p>
        </p:txBody>
      </p:sp>
      <p:sp>
        <p:nvSpPr>
          <p:cNvPr id="3" name="Content Placeholder 2"/>
          <p:cNvSpPr>
            <a:spLocks noGrp="1"/>
          </p:cNvSpPr>
          <p:nvPr>
            <p:ph idx="1"/>
          </p:nvPr>
        </p:nvSpPr>
        <p:spPr>
          <a:xfrm>
            <a:off x="457200" y="1200151"/>
            <a:ext cx="8229600" cy="3394472"/>
          </a:xfrm>
        </p:spPr>
        <p:txBody>
          <a:bodyPr/>
          <a:lstStyle/>
          <a:p>
            <a:pPr lvl="0"/>
            <a:r>
              <a:rPr/>
              <a:t>Each sensor has a gain offset (decibels) and a phase offset (degrees)</a:t>
            </a:r>
          </a:p>
          <a:p>
            <a:pPr lvl="0"/>
            <a:r>
              <a:rPr/>
              <a:t>It passes when both offsets are </a:t>
            </a:r>
            <a:r>
              <a:rPr b="1"/>
              <a:t>jointly</a:t>
            </a:r>
            <a:r>
              <a:rPr/>
              <a:t> small</a:t>
            </a:r>
          </a:p>
          <a:p>
            <a:pPr lvl="0"/>
            <a:r>
              <a:rPr/>
              <a:t>3,000 sensors: </a:t>
            </a:r>
            <a:r>
              <a:rPr>
                <a:latin typeface="Courier"/>
              </a:rPr>
              <a:t>train_test_split</a:t>
            </a:r>
            <a:r>
              <a:rPr/>
              <a:t> keeps 2,250 to train and 750 to test</a:t>
            </a:r>
          </a:p>
          <a:p>
            <a:pPr lvl="0"/>
            <a:r>
              <a:rPr>
                <a:latin typeface="Courier"/>
              </a:rPr>
              <a:t>StandardScaler</a:t>
            </a:r>
            <a:r>
              <a:rPr/>
              <a:t>, fitted on the 2,250 only, divides each axis by its spread (standard deviation)</a:t>
            </a:r>
          </a:p>
          <a:p>
            <a:pPr lvl="0"/>
            <a:r>
              <a:rPr/>
              <a:t>Both tolerances are 1.25 spreads, so a sensor passes inside a </a:t>
            </a:r>
            <a:r>
              <a:rPr b="1"/>
              <a:t>circle of radius 1.25</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2,250 sensors, raw and standardised</a:t>
            </a:r>
          </a:p>
        </p:txBody>
      </p:sp>
      <p:pic>
        <p:nvPicPr>
          <p:cNvPr descr="acceptance_data.png" id="0" name="Picture 1"/>
          <p:cNvPicPr>
            <a:picLocks noGrp="1" noChangeAspect="1"/>
          </p:cNvPicPr>
          <p:nvPr/>
        </p:nvPicPr>
        <p:blipFill>
          <a:blip r:embed="rId3"/>
          <a:stretch>
            <a:fillRect/>
          </a:stretch>
        </p:blipFill>
        <p:spPr bwMode="auto">
          <a:xfrm>
            <a:off x="507062" y="1166099"/>
            <a:ext cx="8129876" cy="3360181"/>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one line is worth</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 scored on the 750 test sensors</a:t>
                      </a:r>
                    </a:p>
                  </a:txBody>
                  <a:tcPr/>
                </a:tc>
                <a:tc>
                  <a:txBody>
                    <a:bodyPr/>
                    <a:lstStyle/>
                    <a:p>
                      <a:pPr lvl="0" indent="0" marL="0">
                        <a:buNone/>
                      </a:pPr>
                      <a:r>
                        <a:rPr/>
                        <a:t>accuracy</a:t>
                      </a:r>
                    </a:p>
                  </a:txBody>
                  <a:tcPr/>
                </a:tc>
              </a:tr>
              <a:tr h="0">
                <a:tc>
                  <a:txBody>
                    <a:bodyPr/>
                    <a:lstStyle/>
                    <a:p>
                      <a:pPr lvl="0" indent="0" marL="0">
                        <a:buNone/>
                      </a:pPr>
                      <a:r>
                        <a:rPr/>
                        <a:t>always predict “accepted”</a:t>
                      </a:r>
                    </a:p>
                  </a:txBody>
                </a:tc>
                <a:tc>
                  <a:txBody>
                    <a:bodyPr/>
                    <a:lstStyle/>
                    <a:p>
                      <a:pPr lvl="0" indent="0" marL="0">
                        <a:buNone/>
                      </a:pPr>
                      <a:r>
                        <a:rPr/>
                        <a:t>0.5480</a:t>
                      </a:r>
                    </a:p>
                  </a:txBody>
                </a:tc>
              </a:tr>
              <a:tr h="0">
                <a:tc>
                  <a:txBody>
                    <a:bodyPr/>
                    <a:lstStyle/>
                    <a:p>
                      <a:pPr lvl="0" indent="0" marL="0">
                        <a:buNone/>
                      </a:pPr>
                      <a:r>
                        <a:rPr/>
                        <a:t>logistic regression: one unit, one line</a:t>
                      </a:r>
                    </a:p>
                  </a:txBody>
                </a:tc>
                <a:tc>
                  <a:txBody>
                    <a:bodyPr/>
                    <a:lstStyle/>
                    <a:p>
                      <a:pPr lvl="0" indent="0" marL="0">
                        <a:buNone/>
                      </a:pPr>
                      <a:r>
                        <a:rPr b="1"/>
                        <a:t>0.5507</a:t>
                      </a:r>
                    </a:p>
                  </a:txBody>
                </a:tc>
              </a:tr>
              <a:tr h="0">
                <a:tc>
                  <a:txBody>
                    <a:bodyPr/>
                    <a:lstStyle/>
                    <a:p>
                      <a:pPr lvl="0" indent="0" marL="0">
                        <a:buNone/>
                      </a:pPr>
                      <a:r>
                        <a:rPr/>
                        <a:t>the rig’s ceiling</a:t>
                      </a:r>
                    </a:p>
                  </a:txBody>
                </a:tc>
                <a:tc>
                  <a:txBody>
                    <a:bodyPr/>
                    <a:lstStyle/>
                    <a:p>
                      <a:pPr lvl="0" indent="0" marL="0">
                        <a:buNone/>
                      </a:pPr>
                      <a:r>
                        <a:rPr/>
                        <a:t>0.9700</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 line encloses a region</a:t>
            </a:r>
          </a:p>
        </p:txBody>
      </p:sp>
      <p:pic>
        <p:nvPicPr>
          <p:cNvPr descr="linear_boundary_fails.png" id="0" name="Picture 1"/>
          <p:cNvPicPr>
            <a:picLocks noGrp="1" noChangeAspect="1"/>
          </p:cNvPicPr>
          <p:nvPr/>
        </p:nvPicPr>
        <p:blipFill>
          <a:blip r:embed="rId3"/>
          <a:stretch>
            <a:fillRect/>
          </a:stretch>
        </p:blipFill>
        <p:spPr bwMode="auto">
          <a:xfrm>
            <a:off x="2929664" y="1166099"/>
            <a:ext cx="3284671" cy="3360181"/>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New data: two drifting channels</a:t>
            </a:r>
          </a:p>
        </p:txBody>
      </p:sp>
      <p:pic>
        <p:nvPicPr>
          <p:cNvPr descr="drift_clouds.png" id="0" name="Picture 1"/>
          <p:cNvPicPr>
            <a:picLocks noGrp="1" noChangeAspect="1"/>
          </p:cNvPicPr>
          <p:nvPr/>
        </p:nvPicPr>
        <p:blipFill>
          <a:blip r:embed="rId3"/>
          <a:stretch>
            <a:fillRect/>
          </a:stretch>
        </p:blipFill>
        <p:spPr bwMode="auto">
          <a:xfrm>
            <a:off x="1356546" y="1166099"/>
            <a:ext cx="6430908" cy="3360181"/>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smallest problem that needs a hidden layer</a:t>
            </a:r>
          </a:p>
        </p:txBody>
      </p:sp>
      <p:sp>
        <p:nvSpPr>
          <p:cNvPr id="3" name="Content Placeholder 2"/>
          <p:cNvSpPr>
            <a:spLocks noGrp="1"/>
          </p:cNvSpPr>
          <p:nvPr>
            <p:ph idx="1"/>
          </p:nvPr>
        </p:nvSpPr>
        <p:spPr>
          <a:xfrm>
            <a:off x="457200" y="1200151"/>
            <a:ext cx="8229600" cy="3394472"/>
          </a:xfrm>
        </p:spPr>
        <p:txBody>
          <a:bodyPr/>
          <a:lstStyle/>
          <a:p>
            <a:pPr lvl="0"/>
            <a:r>
              <a:rPr/>
              <a:t>Correctable when the drifts a and b share a </a:t>
            </a:r>
            <a:r>
              <a:rPr b="1"/>
              <a:t>sign</a:t>
            </a:r>
            <a:r>
              <a:rPr/>
              <a:t>: the exclusive-or (XOR) of the two signs</a:t>
            </a:r>
          </a:p>
          <a:p>
            <a:pPr lvl="0"/>
            <a:r>
              <a:rPr/>
              <a:t>Logistic regression, all 800 sensors: exactly </a:t>
            </a:r>
            <a:r>
              <a:rPr b="1"/>
              <a:t>0.5000</a:t>
            </a:r>
          </a:p>
          <a:p>
            <a:pPr lvl="0"/>
            <a:r>
              <a:rPr/>
              <a:t>Correctable clouds have a + b near ±2; the others near 0</a:t>
            </a:r>
          </a:p>
          <a:p>
            <a:pPr lvl="0"/>
            <a:r>
              <a:rPr/>
              <a:t>The rule “|a + b| is large” needs </a:t>
            </a:r>
            <a:r>
              <a:rPr b="1"/>
              <a:t>two boundaries</a:t>
            </a:r>
          </a:p>
          <a:p>
            <a:pPr lvl="0"/>
            <a:r>
              <a:rPr/>
              <a:t>One line draws one boundary; two hidden units can draw two</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hidden units, drawn</a:t>
            </a:r>
          </a:p>
        </p:txBody>
      </p:sp>
      <p:pic>
        <p:nvPicPr>
          <p:cNvPr descr="two_unit_network.png" id="0" name="Picture 1"/>
          <p:cNvPicPr>
            <a:picLocks noGrp="1" noChangeAspect="1"/>
          </p:cNvPicPr>
          <p:nvPr/>
        </p:nvPicPr>
        <p:blipFill>
          <a:blip r:embed="rId3"/>
          <a:stretch>
            <a:fillRect/>
          </a:stretch>
        </p:blipFill>
        <p:spPr bwMode="auto">
          <a:xfrm>
            <a:off x="1104847" y="1166099"/>
            <a:ext cx="6934306" cy="3360181"/>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units, written down rather than trained</a:t>
            </a:r>
          </a:p>
        </p:txBody>
      </p:sp>
      <p:sp>
        <p:nvSpPr>
          <p:cNvPr id="3" name="Content Placeholder 2"/>
          <p:cNvSpPr>
            <a:spLocks noGrp="1"/>
          </p:cNvSpPr>
          <p:nvPr>
            <p:ph idx="1"/>
          </p:nvPr>
        </p:nvSpPr>
        <p:spPr>
          <a:xfrm>
            <a:off x="457200" y="1200151"/>
            <a:ext cx="8229600" cy="3394472"/>
          </a:xfrm>
        </p:spPr>
        <p:txBody>
          <a:bodyPr/>
          <a:lstStyle/>
          <a:p>
            <a:pPr lvl="0"/>
            <a:r>
              <a:rPr/>
              <a:t>Each hidden unit applies an </a:t>
            </a:r>
            <a:r>
              <a:rPr b="1"/>
              <a:t>activation</a:t>
            </a:r>
            <a:r>
              <a:rPr/>
              <a:t> to its sum z: the rectified linear unit (ReLU), max(0, z)</a:t>
            </a:r>
          </a:p>
          <a:p>
            <a:pPr lvl="0"/>
            <a:r>
              <a:rPr/>
              <a:t>h₁ = max(0, a + b − 1) and h₂ = max(0, −a − b − 1)</a:t>
            </a:r>
          </a:p>
          <a:p>
            <a:pPr lvl="0"/>
            <a:r>
              <a:rPr/>
              <a:t>Output: ŷ = σ(10h₁ + 10h₂ − 1)</a:t>
            </a:r>
          </a:p>
          <a:p>
            <a:pPr lvl="0"/>
            <a:r>
              <a:rPr/>
              <a:t>ŷ at centre (+1, +1): 0.9999; at (+1, −1): 0.2689</a:t>
            </a:r>
          </a:p>
          <a:p>
            <a:pPr lvl="0"/>
            <a:r>
              <a:rPr/>
              <a:t>All 800 sensors, </a:t>
            </a:r>
            <a:r>
              <a:rPr b="1"/>
              <a:t>nothing trained</a:t>
            </a:r>
            <a:r>
              <a:rPr/>
              <a:t>: accuracy </a:t>
            </a:r>
            <a:r>
              <a:rPr b="1"/>
              <a:t>0.9938</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hidden layer actually did</a:t>
            </a:r>
          </a:p>
        </p:txBody>
      </p:sp>
      <p:pic>
        <p:nvPicPr>
          <p:cNvPr descr="xor_hidden_space.png" id="0" name="Picture 1"/>
          <p:cNvPicPr>
            <a:picLocks noGrp="1" noChangeAspect="1"/>
          </p:cNvPicPr>
          <p:nvPr/>
        </p:nvPicPr>
        <p:blipFill>
          <a:blip r:embed="rId3"/>
          <a:stretch>
            <a:fillRect/>
          </a:stretch>
        </p:blipFill>
        <p:spPr bwMode="auto">
          <a:xfrm>
            <a:off x="928658" y="1166099"/>
            <a:ext cx="7286684" cy="3360181"/>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hidden layer classified nothing</a:t>
            </a:r>
          </a:p>
        </p:txBody>
      </p:sp>
      <p:sp>
        <p:nvSpPr>
          <p:cNvPr id="3" name="Content Placeholder 2"/>
          <p:cNvSpPr>
            <a:spLocks noGrp="1"/>
          </p:cNvSpPr>
          <p:nvPr>
            <p:ph idx="1"/>
          </p:nvPr>
        </p:nvSpPr>
        <p:spPr>
          <a:xfrm>
            <a:off x="457200" y="1200151"/>
            <a:ext cx="8229600" cy="3394472"/>
          </a:xfrm>
        </p:spPr>
        <p:txBody>
          <a:bodyPr/>
          <a:lstStyle/>
          <a:p>
            <a:pPr lvl="0"/>
            <a:r>
              <a:rPr/>
              <a:t>The hidden layer </a:t>
            </a:r>
            <a:r>
              <a:rPr b="1"/>
              <a:t>moved the data</a:t>
            </a:r>
          </a:p>
          <a:p>
            <a:pPr lvl="0"/>
            <a:r>
              <a:rPr/>
              <a:t>Correctable clouds went to (1, 0) and (0, 1); the rest to the origin</a:t>
            </a:r>
          </a:p>
          <a:p>
            <a:pPr lvl="0"/>
            <a:r>
              <a:rPr/>
              <a:t>There, the output unit’s </a:t>
            </a:r>
            <a:r>
              <a:rPr b="1"/>
              <a:t>single line</a:t>
            </a:r>
            <a:r>
              <a:rPr/>
              <a:t> is enough</a:t>
            </a:r>
          </a:p>
          <a:p>
            <a:pPr lvl="0"/>
            <a:r>
              <a:rPr/>
              <a:t>Learning such new coordinates from data is called </a:t>
            </a:r>
            <a:r>
              <a:rPr b="1"/>
              <a:t>representation learning</a:t>
            </a:r>
          </a:p>
          <a:p>
            <a:pPr lvl="0"/>
            <a:r>
              <a:rPr/>
              <a:t>Computing the output from the input, layer by layer: the </a:t>
            </a:r>
            <a:r>
              <a:rPr b="1"/>
              <a:t>forward pass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Forward propagation, drawn</a:t>
            </a:r>
          </a:p>
        </p:txBody>
      </p:sp>
      <p:pic>
        <p:nvPicPr>
          <p:cNvPr descr="forward_pass_map.png" id="0" name="Picture 1"/>
          <p:cNvPicPr>
            <a:picLocks noGrp="1" noChangeAspect="1"/>
          </p:cNvPicPr>
          <p:nvPr/>
        </p:nvPicPr>
        <p:blipFill>
          <a:blip r:embed="rId3"/>
          <a:stretch>
            <a:fillRect/>
          </a:stretch>
        </p:blipFill>
        <p:spPr bwMode="auto">
          <a:xfrm>
            <a:off x="1696339" y="1166099"/>
            <a:ext cx="5751321" cy="3360181"/>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Forward propagation, written</a:t>
            </a:r>
          </a:p>
        </p:txBody>
      </p:sp>
      <p:pic>
        <p:nvPicPr>
          <p:cNvPr descr="eq_266b5c188e.png" id="0" name="Picture 1"/>
          <p:cNvPicPr>
            <a:picLocks noGrp="1" noChangeAspect="1"/>
          </p:cNvPicPr>
          <p:nvPr/>
        </p:nvPicPr>
        <p:blipFill>
          <a:blip r:embed="rId3"/>
          <a:stretch>
            <a:fillRect/>
          </a:stretch>
        </p:blipFill>
        <p:spPr bwMode="auto">
          <a:xfrm>
            <a:off x="457208" y="2598540"/>
            <a:ext cx="8229583" cy="495299"/>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Letting training find the weights</a:t>
            </a:r>
          </a:p>
        </p:txBody>
      </p:sp>
      <p:sp>
        <p:nvSpPr>
          <p:cNvPr id="3" name="Content Placeholder 2"/>
          <p:cNvSpPr>
            <a:spLocks noGrp="1"/>
          </p:cNvSpPr>
          <p:nvPr>
            <p:ph idx="1"/>
          </p:nvPr>
        </p:nvSpPr>
        <p:spPr>
          <a:xfrm>
            <a:off x="457200" y="1200151"/>
            <a:ext cx="8229600" cy="3394472"/>
          </a:xfrm>
        </p:spPr>
        <p:txBody>
          <a:bodyPr/>
          <a:lstStyle/>
          <a:p>
            <a:pPr lvl="0"/>
            <a:r>
              <a:rPr>
                <a:latin typeface="Courier"/>
              </a:rPr>
              <a:t>MLPClassifier</a:t>
            </a:r>
            <a:r>
              <a:rPr/>
              <a:t> (multilayer perceptron): one hidden layer, from random weights</a:t>
            </a:r>
          </a:p>
          <a:p>
            <a:pPr lvl="0"/>
            <a:r>
              <a:rPr/>
              <a:t>Drift, 800 sensors, 20 runs per size from different </a:t>
            </a:r>
            <a:r>
              <a:rPr>
                <a:latin typeface="Courier"/>
              </a:rPr>
              <a:t>random_state</a:t>
            </a:r>
            <a:r>
              <a:rPr/>
              <a:t> values</a:t>
            </a:r>
          </a:p>
          <a:p>
            <a:pPr lvl="0"/>
            <a:r>
              <a:rPr/>
              <a:t>Runs reaching 0.99 accuracy: </a:t>
            </a:r>
            <a:r>
              <a:rPr b="1"/>
              <a:t>6 of 20</a:t>
            </a:r>
            <a:r>
              <a:rPr/>
              <a:t> with 2 units, 17 of 20 with 4, all 20 with 8</a:t>
            </a:r>
          </a:p>
          <a:p>
            <a:pPr lvl="0"/>
            <a:r>
              <a:rPr/>
              <a:t>In code: </a:t>
            </a:r>
            <a:r>
              <a:rPr>
                <a:latin typeface="Courier"/>
              </a:rPr>
              <a:t>MLPClassifier(hidden_layer_sizes=(4,))</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units can; training often misses them</a:t>
            </a:r>
          </a:p>
        </p:txBody>
      </p:sp>
      <p:pic>
        <p:nvPicPr>
          <p:cNvPr descr="drift_boundaries.png" id="0" name="Picture 1"/>
          <p:cNvPicPr>
            <a:picLocks noGrp="1" noChangeAspect="1"/>
          </p:cNvPicPr>
          <p:nvPr/>
        </p:nvPicPr>
        <p:blipFill>
          <a:blip r:embed="rId3"/>
          <a:stretch>
            <a:fillRect/>
          </a:stretch>
        </p:blipFill>
        <p:spPr bwMode="auto">
          <a:xfrm>
            <a:off x="1199234" y="1166099"/>
            <a:ext cx="6745531" cy="3360181"/>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Acceptance test: how many hidden units?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hidden units (750 test sensors)</a:t>
                      </a:r>
                    </a:p>
                  </a:txBody>
                  <a:tcPr/>
                </a:tc>
                <a:tc>
                  <a:txBody>
                    <a:bodyPr/>
                    <a:lstStyle/>
                    <a:p>
                      <a:pPr lvl="0" indent="0" marL="0">
                        <a:buNone/>
                      </a:pPr>
                      <a:r>
                        <a:rPr/>
                        <a:t>mean of 5 runs</a:t>
                      </a:r>
                    </a:p>
                  </a:txBody>
                  <a:tcPr/>
                </a:tc>
                <a:tc>
                  <a:txBody>
                    <a:bodyPr/>
                    <a:lstStyle/>
                    <a:p>
                      <a:pPr lvl="0" indent="0" marL="0">
                        <a:buNone/>
                      </a:pPr>
                      <a:r>
                        <a:rPr/>
                        <a:t>worst run</a:t>
                      </a:r>
                    </a:p>
                  </a:txBody>
                  <a:tcPr/>
                </a:tc>
                <a:tc>
                  <a:txBody>
                    <a:bodyPr/>
                    <a:lstStyle/>
                    <a:p>
                      <a:pPr lvl="0" indent="0" marL="0">
                        <a:buNone/>
                      </a:pPr>
                      <a:r>
                        <a:rPr/>
                        <a:t>best run</a:t>
                      </a:r>
                    </a:p>
                  </a:txBody>
                  <a:tcPr/>
                </a:tc>
              </a:tr>
              <a:tr h="0">
                <a:tc>
                  <a:txBody>
                    <a:bodyPr/>
                    <a:lstStyle/>
                    <a:p>
                      <a:pPr lvl="0" indent="0" marL="0">
                        <a:buNone/>
                      </a:pPr>
                      <a:r>
                        <a:rPr/>
                        <a:t>1</a:t>
                      </a:r>
                    </a:p>
                  </a:txBody>
                </a:tc>
                <a:tc>
                  <a:txBody>
                    <a:bodyPr/>
                    <a:lstStyle/>
                    <a:p>
                      <a:pPr lvl="0" indent="0" marL="0">
                        <a:buNone/>
                      </a:pPr>
                      <a:r>
                        <a:rPr/>
                        <a:t>0.6048</a:t>
                      </a:r>
                    </a:p>
                  </a:txBody>
                </a:tc>
                <a:tc>
                  <a:txBody>
                    <a:bodyPr/>
                    <a:lstStyle/>
                    <a:p>
                      <a:pPr lvl="0" indent="0" marL="0">
                        <a:buNone/>
                      </a:pPr>
                      <a:r>
                        <a:rPr/>
                        <a:t>0.5480</a:t>
                      </a:r>
                    </a:p>
                  </a:txBody>
                </a:tc>
                <a:tc>
                  <a:txBody>
                    <a:bodyPr/>
                    <a:lstStyle/>
                    <a:p>
                      <a:pPr lvl="0" indent="0" marL="0">
                        <a:buNone/>
                      </a:pPr>
                      <a:r>
                        <a:rPr/>
                        <a:t>0.6493</a:t>
                      </a:r>
                    </a:p>
                  </a:txBody>
                </a:tc>
              </a:tr>
              <a:tr h="0">
                <a:tc>
                  <a:txBody>
                    <a:bodyPr/>
                    <a:lstStyle/>
                    <a:p>
                      <a:pPr lvl="0" indent="0" marL="0">
                        <a:buNone/>
                      </a:pPr>
                      <a:r>
                        <a:rPr/>
                        <a:t>2</a:t>
                      </a:r>
                    </a:p>
                  </a:txBody>
                </a:tc>
                <a:tc>
                  <a:txBody>
                    <a:bodyPr/>
                    <a:lstStyle/>
                    <a:p>
                      <a:pPr lvl="0" indent="0" marL="0">
                        <a:buNone/>
                      </a:pPr>
                      <a:r>
                        <a:rPr/>
                        <a:t>0.7392</a:t>
                      </a:r>
                    </a:p>
                  </a:txBody>
                </a:tc>
                <a:tc>
                  <a:txBody>
                    <a:bodyPr/>
                    <a:lstStyle/>
                    <a:p>
                      <a:pPr lvl="0" indent="0" marL="0">
                        <a:buNone/>
                      </a:pPr>
                      <a:r>
                        <a:rPr/>
                        <a:t>0.7240</a:t>
                      </a:r>
                    </a:p>
                  </a:txBody>
                </a:tc>
                <a:tc>
                  <a:txBody>
                    <a:bodyPr/>
                    <a:lstStyle/>
                    <a:p>
                      <a:pPr lvl="0" indent="0" marL="0">
                        <a:buNone/>
                      </a:pPr>
                      <a:r>
                        <a:rPr/>
                        <a:t>0.7693</a:t>
                      </a:r>
                    </a:p>
                  </a:txBody>
                </a:tc>
              </a:tr>
              <a:tr h="0">
                <a:tc>
                  <a:txBody>
                    <a:bodyPr/>
                    <a:lstStyle/>
                    <a:p>
                      <a:pPr lvl="0" indent="0" marL="0">
                        <a:buNone/>
                      </a:pPr>
                      <a:r>
                        <a:rPr/>
                        <a:t>3</a:t>
                      </a:r>
                    </a:p>
                  </a:txBody>
                </a:tc>
                <a:tc>
                  <a:txBody>
                    <a:bodyPr/>
                    <a:lstStyle/>
                    <a:p>
                      <a:pPr lvl="0" indent="0" marL="0">
                        <a:buNone/>
                      </a:pPr>
                      <a:r>
                        <a:rPr/>
                        <a:t>0.8120</a:t>
                      </a:r>
                    </a:p>
                  </a:txBody>
                </a:tc>
                <a:tc>
                  <a:txBody>
                    <a:bodyPr/>
                    <a:lstStyle/>
                    <a:p>
                      <a:pPr lvl="0" indent="0" marL="0">
                        <a:buNone/>
                      </a:pPr>
                      <a:r>
                        <a:rPr/>
                        <a:t>0.7227</a:t>
                      </a:r>
                    </a:p>
                  </a:txBody>
                </a:tc>
                <a:tc>
                  <a:txBody>
                    <a:bodyPr/>
                    <a:lstStyle/>
                    <a:p>
                      <a:pPr lvl="0" indent="0" marL="0">
                        <a:buNone/>
                      </a:pPr>
                      <a:r>
                        <a:rPr/>
                        <a:t>0.9160</a:t>
                      </a:r>
                    </a:p>
                  </a:txBody>
                </a:tc>
              </a:tr>
              <a:tr h="0">
                <a:tc>
                  <a:txBody>
                    <a:bodyPr/>
                    <a:lstStyle/>
                    <a:p>
                      <a:pPr lvl="0" indent="0" marL="0">
                        <a:buNone/>
                      </a:pPr>
                      <a:r>
                        <a:rPr/>
                        <a:t>4</a:t>
                      </a:r>
                    </a:p>
                  </a:txBody>
                </a:tc>
                <a:tc>
                  <a:txBody>
                    <a:bodyPr/>
                    <a:lstStyle/>
                    <a:p>
                      <a:pPr lvl="0" indent="0" marL="0">
                        <a:buNone/>
                      </a:pPr>
                      <a:r>
                        <a:rPr/>
                        <a:t>0.8821</a:t>
                      </a:r>
                    </a:p>
                  </a:txBody>
                </a:tc>
                <a:tc>
                  <a:txBody>
                    <a:bodyPr/>
                    <a:lstStyle/>
                    <a:p>
                      <a:pPr lvl="0" indent="0" marL="0">
                        <a:buNone/>
                      </a:pPr>
                      <a:r>
                        <a:rPr/>
                        <a:t>0.7227</a:t>
                      </a:r>
                    </a:p>
                  </a:txBody>
                </a:tc>
                <a:tc>
                  <a:txBody>
                    <a:bodyPr/>
                    <a:lstStyle/>
                    <a:p>
                      <a:pPr lvl="0" indent="0" marL="0">
                        <a:buNone/>
                      </a:pPr>
                      <a:r>
                        <a:rPr/>
                        <a:t>0.9507</a:t>
                      </a:r>
                    </a:p>
                  </a:txBody>
                </a:tc>
              </a:tr>
              <a:tr h="0">
                <a:tc>
                  <a:txBody>
                    <a:bodyPr/>
                    <a:lstStyle/>
                    <a:p>
                      <a:pPr lvl="0" indent="0" marL="0">
                        <a:buNone/>
                      </a:pPr>
                      <a:r>
                        <a:rPr/>
                        <a:t>8</a:t>
                      </a:r>
                    </a:p>
                  </a:txBody>
                </a:tc>
                <a:tc>
                  <a:txBody>
                    <a:bodyPr/>
                    <a:lstStyle/>
                    <a:p>
                      <a:pPr lvl="0" indent="0" marL="0">
                        <a:buNone/>
                      </a:pPr>
                      <a:r>
                        <a:rPr b="1"/>
                        <a:t>0.9445</a:t>
                      </a:r>
                    </a:p>
                  </a:txBody>
                </a:tc>
                <a:tc>
                  <a:txBody>
                    <a:bodyPr/>
                    <a:lstStyle/>
                    <a:p>
                      <a:pPr lvl="0" indent="0" marL="0">
                        <a:buNone/>
                      </a:pPr>
                      <a:r>
                        <a:rPr/>
                        <a:t>0.9387</a:t>
                      </a:r>
                    </a:p>
                  </a:txBody>
                </a:tc>
                <a:tc>
                  <a:txBody>
                    <a:bodyPr/>
                    <a:lstStyle/>
                    <a:p>
                      <a:pPr lvl="0" indent="0" marL="0">
                        <a:buNone/>
                      </a:pPr>
                      <a:r>
                        <a:rPr/>
                        <a:t>0.9493</a:t>
                      </a:r>
                    </a:p>
                  </a:txBody>
                </a:tc>
              </a:tr>
              <a:tr h="0">
                <a:tc>
                  <a:txBody>
                    <a:bodyPr/>
                    <a:lstStyle/>
                    <a:p>
                      <a:pPr lvl="0" indent="0" marL="0">
                        <a:buNone/>
                      </a:pPr>
                      <a:r>
                        <a:rPr/>
                        <a:t>16</a:t>
                      </a:r>
                    </a:p>
                  </a:txBody>
                </a:tc>
                <a:tc>
                  <a:txBody>
                    <a:bodyPr/>
                    <a:lstStyle/>
                    <a:p>
                      <a:pPr lvl="0" indent="0" marL="0">
                        <a:buNone/>
                      </a:pPr>
                      <a:r>
                        <a:rPr/>
                        <a:t>0.9549</a:t>
                      </a:r>
                    </a:p>
                  </a:txBody>
                </a:tc>
                <a:tc>
                  <a:txBody>
                    <a:bodyPr/>
                    <a:lstStyle/>
                    <a:p>
                      <a:pPr lvl="0" indent="0" marL="0">
                        <a:buNone/>
                      </a:pPr>
                      <a:r>
                        <a:rPr/>
                        <a:t>0.9520</a:t>
                      </a:r>
                    </a:p>
                  </a:txBody>
                </a:tc>
                <a:tc>
                  <a:txBody>
                    <a:bodyPr/>
                    <a:lstStyle/>
                    <a:p>
                      <a:pPr lvl="0" indent="0" marL="0">
                        <a:buNone/>
                      </a:pPr>
                      <a:r>
                        <a:rPr/>
                        <a:t>0.9600</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boundary at 1, 2, 4 and 8 units</a:t>
            </a:r>
          </a:p>
        </p:txBody>
      </p:sp>
      <p:pic>
        <p:nvPicPr>
          <p:cNvPr descr="boundaries_by_width.png" id="0" name="Picture 1"/>
          <p:cNvPicPr>
            <a:picLocks noGrp="1" noChangeAspect="1"/>
          </p:cNvPicPr>
          <p:nvPr/>
        </p:nvPicPr>
        <p:blipFill>
          <a:blip r:embed="rId3"/>
          <a:stretch>
            <a:fillRect/>
          </a:stretch>
        </p:blipFill>
        <p:spPr bwMode="auto">
          <a:xfrm>
            <a:off x="457200" y="1658739"/>
            <a:ext cx="8229600" cy="2374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Each hidden unit is a line</a:t>
            </a:r>
          </a:p>
        </p:txBody>
      </p:sp>
      <p:pic>
        <p:nvPicPr>
          <p:cNvPr descr="hidden_lines.png" id="0" name="Picture 1"/>
          <p:cNvPicPr>
            <a:picLocks noGrp="1" noChangeAspect="1"/>
          </p:cNvPicPr>
          <p:nvPr/>
        </p:nvPicPr>
        <p:blipFill>
          <a:blip r:embed="rId3"/>
          <a:stretch>
            <a:fillRect/>
          </a:stretch>
        </p:blipFill>
        <p:spPr bwMode="auto">
          <a:xfrm>
            <a:off x="2929664" y="1166099"/>
            <a:ext cx="3284671" cy="3360181"/>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look first, 10-11</a:t>
                      </a:r>
                    </a:p>
                  </a:txBody>
                </a:tc>
                <a:tc>
                  <a:txBody>
                    <a:bodyPr/>
                    <a:lstStyle/>
                    <a:p>
                      <a:pPr lvl="0" indent="0" marL="0">
                        <a:buNone/>
                      </a:pPr>
                      <a:r>
                        <a:rPr>
                          <a:latin typeface="Courier"/>
                        </a:rPr>
                        <a:t>train_test_split</a:t>
                      </a:r>
                      <a:r>
                        <a:rPr/>
                        <a:t>, </a:t>
                      </a:r>
                      <a:r>
                        <a:rPr>
                          <a:latin typeface="Courier"/>
                        </a:rPr>
                        <a:t>StandardScaler</a:t>
                      </a:r>
                      <a:r>
                        <a:rPr/>
                        <a:t> → 2,250 to train, 750 to test</a:t>
                      </a:r>
                    </a:p>
                  </a:txBody>
                </a:tc>
              </a:tr>
              <a:tr h="0">
                <a:tc>
                  <a:txBody>
                    <a:bodyPr/>
                    <a:lstStyle/>
                    <a:p>
                      <a:pPr lvl="0" indent="0" marL="0">
                        <a:buNone/>
                      </a:pPr>
                      <a:r>
                        <a:rPr/>
                        <a:t>one line, 12-13</a:t>
                      </a:r>
                    </a:p>
                  </a:txBody>
                </a:tc>
                <a:tc>
                  <a:txBody>
                    <a:bodyPr/>
                    <a:lstStyle/>
                    <a:p>
                      <a:pPr lvl="0" indent="0" marL="0">
                        <a:buNone/>
                      </a:pPr>
                      <a:r>
                        <a:rPr>
                          <a:latin typeface="Courier"/>
                        </a:rPr>
                        <a:t>LogisticRegression</a:t>
                      </a:r>
                      <a:r>
                        <a:rPr/>
                        <a:t> → 0.5507 against 0.5480</a:t>
                      </a:r>
                    </a:p>
                  </a:txBody>
                </a:tc>
              </a:tr>
              <a:tr h="0">
                <a:tc>
                  <a:txBody>
                    <a:bodyPr/>
                    <a:lstStyle/>
                    <a:p>
                      <a:pPr lvl="0" indent="0" marL="0">
                        <a:buNone/>
                      </a:pPr>
                      <a:r>
                        <a:rPr/>
                        <a:t>one unit by hand, 7-9</a:t>
                      </a:r>
                    </a:p>
                  </a:txBody>
                </a:tc>
                <a:tc>
                  <a:txBody>
                    <a:bodyPr/>
                    <a:lstStyle/>
                    <a:p>
                      <a:pPr lvl="0" indent="0" marL="0">
                        <a:buNone/>
                      </a:pPr>
                      <a:r>
                        <a:rPr/>
                        <a:t>NumPy only → ŷ = 0.8808 at (1, 1)</a:t>
                      </a:r>
                    </a:p>
                  </a:txBody>
                </a:tc>
              </a:tr>
              <a:tr h="0">
                <a:tc>
                  <a:txBody>
                    <a:bodyPr/>
                    <a:lstStyle/>
                    <a:p>
                      <a:pPr lvl="0" indent="0" marL="0">
                        <a:buNone/>
                      </a:pPr>
                      <a:r>
                        <a:rPr/>
                        <a:t>drift, hand-built network, 14-21</a:t>
                      </a:r>
                    </a:p>
                  </a:txBody>
                </a:tc>
                <a:tc>
                  <a:txBody>
                    <a:bodyPr/>
                    <a:lstStyle/>
                    <a:p>
                      <a:pPr lvl="0" indent="0" marL="0">
                        <a:buNone/>
                      </a:pPr>
                      <a:r>
                        <a:rPr/>
                        <a:t>NumPy only, the two-unit network → 0.9938</a:t>
                      </a:r>
                    </a:p>
                  </a:txBody>
                </a:tc>
              </a:tr>
              <a:tr h="0">
                <a:tc>
                  <a:txBody>
                    <a:bodyPr/>
                    <a:lstStyle/>
                    <a:p>
                      <a:pPr lvl="0" indent="0" marL="0">
                        <a:buNone/>
                      </a:pPr>
                      <a:r>
                        <a:rPr/>
                        <a:t>training finds the weights, 22-23</a:t>
                      </a:r>
                    </a:p>
                  </a:txBody>
                </a:tc>
                <a:tc>
                  <a:txBody>
                    <a:bodyPr/>
                    <a:lstStyle/>
                    <a:p>
                      <a:pPr lvl="0" indent="0" marL="0">
                        <a:buNone/>
                      </a:pPr>
                      <a:r>
                        <a:rPr>
                          <a:latin typeface="Courier"/>
                        </a:rPr>
                        <a:t>MLPClassifier</a:t>
                      </a:r>
                      <a:r>
                        <a:rPr/>
                        <a:t>, 20 runs per size → 6 of 20 at two units</a:t>
                      </a:r>
                    </a:p>
                  </a:txBody>
                </a:tc>
              </a:tr>
              <a:tr h="0">
                <a:tc>
                  <a:txBody>
                    <a:bodyPr/>
                    <a:lstStyle/>
                    <a:p>
                      <a:pPr lvl="0" indent="0" marL="0">
                        <a:buNone/>
                      </a:pPr>
                      <a:r>
                        <a:rPr/>
                        <a:t>widths and hidden lines, 24-26</a:t>
                      </a:r>
                    </a:p>
                  </a:txBody>
                </a:tc>
                <a:tc>
                  <a:txBody>
                    <a:bodyPr/>
                    <a:lstStyle/>
                    <a:p>
                      <a:pPr lvl="0" indent="0" marL="0">
                        <a:buNone/>
                      </a:pPr>
                      <a:r>
                        <a:rPr>
                          <a:latin typeface="Courier"/>
                        </a:rPr>
                        <a:t>MLPClassifier</a:t>
                      </a:r>
                      <a:r>
                        <a:rPr/>
                        <a:t>, then </a:t>
                      </a:r>
                      <a:r>
                        <a:rPr>
                          <a:latin typeface="Courier"/>
                        </a:rPr>
                        <a:t>coefs_[0]</a:t>
                      </a:r>
                      <a:r>
                        <a:rPr/>
                        <a:t> → 0.9445 at eight units</a:t>
                      </a:r>
                    </a:p>
                  </a:txBody>
                </a:tc>
              </a:tr>
              <a:tr h="0">
                <a:tc>
                  <a:txBody>
                    <a:bodyPr/>
                    <a:lstStyle/>
                    <a:p>
                      <a:pPr lvl="0" indent="0" marL="0">
                        <a:buNone/>
                      </a:pPr>
                      <a:r>
                        <a:rPr/>
                        <a:t>what it was worth, 24</a:t>
                      </a:r>
                    </a:p>
                  </a:txBody>
                </a:tc>
                <a:tc>
                  <a:txBody>
                    <a:bodyPr/>
                    <a:lstStyle/>
                    <a:p>
                      <a:pPr lvl="0" indent="0" marL="0">
                        <a:buNone/>
                      </a:pPr>
                      <a:r>
                        <a:rPr/>
                        <a:t>one subtraction → 39.4 points</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Twelve minutes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a network learns: the loop</a:t>
            </a:r>
          </a:p>
        </p:txBody>
      </p:sp>
      <p:pic>
        <p:nvPicPr>
          <p:cNvPr descr="learning_loop.png" id="0" name="Picture 1"/>
          <p:cNvPicPr>
            <a:picLocks noGrp="1" noChangeAspect="1"/>
          </p:cNvPicPr>
          <p:nvPr/>
        </p:nvPicPr>
        <p:blipFill>
          <a:blip r:embed="rId3"/>
          <a:stretch>
            <a:fillRect/>
          </a:stretch>
        </p:blipFill>
        <p:spPr bwMode="auto">
          <a:xfrm>
            <a:off x="872025" y="1166099"/>
            <a:ext cx="7399949" cy="3360181"/>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Mini-batches and epochs</a:t>
            </a:r>
          </a:p>
        </p:txBody>
      </p:sp>
      <p:sp>
        <p:nvSpPr>
          <p:cNvPr id="3" name="Content Placeholder 2"/>
          <p:cNvSpPr>
            <a:spLocks noGrp="1"/>
          </p:cNvSpPr>
          <p:nvPr>
            <p:ph idx="1"/>
          </p:nvPr>
        </p:nvSpPr>
        <p:spPr>
          <a:xfrm>
            <a:off x="457200" y="1200151"/>
            <a:ext cx="8229600" cy="3394472"/>
          </a:xfrm>
        </p:spPr>
        <p:txBody>
          <a:bodyPr/>
          <a:lstStyle/>
          <a:p>
            <a:pPr lvl="0"/>
            <a:r>
              <a:rPr/>
              <a:t>A </a:t>
            </a:r>
            <a:r>
              <a:rPr b="1"/>
              <a:t>mini-batch</a:t>
            </a:r>
            <a:r>
              <a:rPr/>
              <a:t>: a small random group of training examples, 32 in notebook 2</a:t>
            </a:r>
          </a:p>
          <a:p>
            <a:pPr lvl="0"/>
            <a:r>
              <a:rPr/>
              <a:t>Each round of the loop uses one mini-batch</a:t>
            </a:r>
          </a:p>
          <a:p>
            <a:pPr lvl="0"/>
            <a:r>
              <a:rPr/>
              <a:t>An </a:t>
            </a:r>
            <a:r>
              <a:rPr b="1"/>
              <a:t>epoch</a:t>
            </a:r>
            <a:r>
              <a:rPr/>
              <a:t>: one pass through all the mini-batches</a:t>
            </a:r>
          </a:p>
          <a:p>
            <a:pPr lvl="0"/>
            <a:r>
              <a:rPr/>
              <a:t>Digits: 1,077 training images in batches of 32 make </a:t>
            </a:r>
            <a:r>
              <a:rPr b="1"/>
              <a:t>34 per epoch</a:t>
            </a:r>
          </a:p>
          <a:p>
            <a:pPr lvl="0"/>
            <a:r>
              <a:rPr/>
              <a:t>60 epochs make </a:t>
            </a:r>
            <a:r>
              <a:rPr b="1"/>
              <a:t>2,040 rounds</a:t>
            </a:r>
            <a:r>
              <a:rPr/>
              <a:t> of the loop</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loss and the gradient step</a:t>
            </a:r>
          </a:p>
        </p:txBody>
      </p:sp>
      <p:sp>
        <p:nvSpPr>
          <p:cNvPr id="3" name="Content Placeholder 2"/>
          <p:cNvSpPr>
            <a:spLocks noGrp="1"/>
          </p:cNvSpPr>
          <p:nvPr>
            <p:ph idx="1"/>
          </p:nvPr>
        </p:nvSpPr>
        <p:spPr>
          <a:xfrm>
            <a:off x="457200" y="1200151"/>
            <a:ext cx="8229600" cy="3394472"/>
          </a:xfrm>
        </p:spPr>
        <p:txBody>
          <a:bodyPr/>
          <a:lstStyle/>
          <a:p>
            <a:pPr lvl="0"/>
            <a:r>
              <a:rPr/>
              <a:t>Each weight moves against its </a:t>
            </a:r>
            <a:r>
              <a:rPr b="1"/>
              <a:t>gradient</a:t>
            </a:r>
            <a:r>
              <a:rPr/>
              <a:t>: how fast the loss (lesson 4’s cross-entropy) changes as that weight changes</a:t>
            </a:r>
          </a:p>
          <a:p>
            <a:pPr lvl="0"/>
            <a:r>
              <a:rPr/>
              <a:t>w ← w − α · ∂L/∂w, with α the </a:t>
            </a:r>
            <a:r>
              <a:rPr b="1"/>
              <a:t>learning rate</a:t>
            </a:r>
            <a:r>
              <a:rPr/>
              <a:t> (lesson 3)</a:t>
            </a:r>
          </a:p>
          <a:p>
            <a:pPr lvl="0"/>
            <a:r>
              <a:rPr/>
              <a:t>A weight’s gradient is its </a:t>
            </a:r>
            <a:r>
              <a:rPr b="1"/>
              <a:t>blame</a:t>
            </a:r>
            <a:r>
              <a:rPr/>
              <a:t>: its share of the error</a:t>
            </a:r>
          </a:p>
          <a:p>
            <a:pPr lvl="0"/>
            <a:r>
              <a:rPr/>
              <a:t>One sigmoid unit: blame </a:t>
            </a:r>
            <a:r>
              <a:rPr b="1"/>
              <a:t>ŷ − y</a:t>
            </a:r>
            <a:r>
              <a:rPr/>
              <a:t> at the output; each weight’s blame is ŷ − y times its input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step on one unit</a:t>
            </a:r>
          </a:p>
        </p:txBody>
      </p:sp>
      <p:pic>
        <p:nvPicPr>
          <p:cNvPr descr="one_unit_step.png" id="0" name="Picture 1"/>
          <p:cNvPicPr>
            <a:picLocks noGrp="1" noChangeAspect="1"/>
          </p:cNvPicPr>
          <p:nvPr/>
        </p:nvPicPr>
        <p:blipFill>
          <a:blip r:embed="rId3"/>
          <a:stretch>
            <a:fillRect/>
          </a:stretch>
        </p:blipFill>
        <p:spPr bwMode="auto">
          <a:xfrm>
            <a:off x="1369131" y="1166099"/>
            <a:ext cx="6405738" cy="3360181"/>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Reading the step</a:t>
            </a:r>
          </a:p>
        </p:txBody>
      </p:sp>
      <p:sp>
        <p:nvSpPr>
          <p:cNvPr id="3" name="Content Placeholder 2"/>
          <p:cNvSpPr>
            <a:spLocks noGrp="1"/>
          </p:cNvSpPr>
          <p:nvPr>
            <p:ph idx="1"/>
          </p:nvPr>
        </p:nvSpPr>
        <p:spPr>
          <a:xfrm>
            <a:off x="457200" y="1200151"/>
            <a:ext cx="8229600" cy="3394472"/>
          </a:xfrm>
        </p:spPr>
        <p:txBody>
          <a:bodyPr/>
          <a:lstStyle/>
          <a:p>
            <a:pPr lvl="0"/>
            <a:r>
              <a:rPr/>
              <a:t>Unit w = (1, 2), b = −1; input x = (1, 1), true label y = 0</a:t>
            </a:r>
          </a:p>
          <a:p>
            <a:pPr lvl="0"/>
            <a:r>
              <a:rPr/>
              <a:t>Forward: z = 2, ŷ = 0.881, loss </a:t>
            </a:r>
            <a:r>
              <a:rPr b="1"/>
              <a:t>2.127</a:t>
            </a:r>
          </a:p>
          <a:p>
            <a:pPr lvl="0"/>
            <a:r>
              <a:rPr/>
              <a:t>Blame ŷ − y = 0.881 for every weight, since both inputs are 1</a:t>
            </a:r>
          </a:p>
          <a:p>
            <a:pPr lvl="0"/>
            <a:r>
              <a:rPr/>
              <a:t>Step with α = 0.5: each weight down by 0.440, to 0.5596, 1.5596 and −1.4404</a:t>
            </a:r>
          </a:p>
          <a:p>
            <a:pPr lvl="0"/>
            <a:r>
              <a:rPr/>
              <a:t>New ŷ = </a:t>
            </a:r>
            <a:r>
              <a:rPr b="1"/>
              <a:t>0.663</a:t>
            </a:r>
            <a:r>
              <a:rPr/>
              <a:t>, loss down to </a:t>
            </a:r>
            <a:r>
              <a:rPr b="1"/>
              <a:t>1.089</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Backpropagation: blame flows back</a:t>
            </a:r>
          </a:p>
        </p:txBody>
      </p:sp>
      <p:pic>
        <p:nvPicPr>
          <p:cNvPr descr="blame_backwards.png" id="0" name="Picture 1"/>
          <p:cNvPicPr>
            <a:picLocks noGrp="1" noChangeAspect="1"/>
          </p:cNvPicPr>
          <p:nvPr/>
        </p:nvPicPr>
        <p:blipFill>
          <a:blip r:embed="rId3"/>
          <a:stretch>
            <a:fillRect/>
          </a:stretch>
        </p:blipFill>
        <p:spPr bwMode="auto">
          <a:xfrm>
            <a:off x="1432056" y="1166099"/>
            <a:ext cx="6279888" cy="3360181"/>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backpropagation buys</a:t>
            </a:r>
          </a:p>
        </p:txBody>
      </p:sp>
      <p:sp>
        <p:nvSpPr>
          <p:cNvPr id="3" name="Content Placeholder 2"/>
          <p:cNvSpPr>
            <a:spLocks noGrp="1"/>
          </p:cNvSpPr>
          <p:nvPr>
            <p:ph idx="1"/>
          </p:nvPr>
        </p:nvSpPr>
        <p:spPr>
          <a:xfrm>
            <a:off x="457200" y="1200151"/>
            <a:ext cx="8229600" cy="3394472"/>
          </a:xfrm>
        </p:spPr>
        <p:txBody>
          <a:bodyPr/>
          <a:lstStyle/>
          <a:p>
            <a:pPr lvl="0"/>
            <a:r>
              <a:rPr b="1"/>
              <a:t>Backpropagation</a:t>
            </a:r>
            <a:r>
              <a:rPr/>
              <a:t>: the chain rule, applied from the output back</a:t>
            </a:r>
          </a:p>
          <a:p>
            <a:pPr lvl="0"/>
            <a:r>
              <a:rPr/>
              <a:t>Each hidden unit receives a share of the output’s error, in proportion to its weight</a:t>
            </a:r>
          </a:p>
          <a:p>
            <a:pPr lvl="0"/>
            <a:r>
              <a:rPr/>
              <a:t>It multiplies that share by its activation’s slope, then passes it back</a:t>
            </a:r>
          </a:p>
          <a:p>
            <a:pPr lvl="0"/>
            <a:r>
              <a:rPr/>
              <a:t>One backward sweep costs about one forward pass</a:t>
            </a:r>
          </a:p>
          <a:p>
            <a:pPr lvl="0"/>
            <a:r>
              <a:rPr/>
              <a:t>scikit-learn and Keras run it inside </a:t>
            </a:r>
            <a:r>
              <a:rPr>
                <a:latin typeface="Courier"/>
              </a:rPr>
              <a:t>fit</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learning rate, three regimes</a:t>
            </a:r>
          </a:p>
        </p:txBody>
      </p:sp>
      <p:pic>
        <p:nvPicPr>
          <p:cNvPr descr="learning_rate_regimes.png" id="0" name="Picture 1"/>
          <p:cNvPicPr>
            <a:picLocks noGrp="1" noChangeAspect="1"/>
          </p:cNvPicPr>
          <p:nvPr/>
        </p:nvPicPr>
        <p:blipFill>
          <a:blip r:embed="rId3"/>
          <a:stretch>
            <a:fillRect/>
          </a:stretch>
        </p:blipFill>
        <p:spPr bwMode="auto">
          <a:xfrm>
            <a:off x="457200" y="1252339"/>
            <a:ext cx="8229600" cy="31877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Predictable mistake: a rate too small</a:t>
            </a:r>
          </a:p>
        </p:txBody>
      </p:sp>
      <p:sp>
        <p:nvSpPr>
          <p:cNvPr id="3" name="Content Placeholder 2"/>
          <p:cNvSpPr>
            <a:spLocks noGrp="1"/>
          </p:cNvSpPr>
          <p:nvPr>
            <p:ph idx="1"/>
          </p:nvPr>
        </p:nvSpPr>
        <p:spPr>
          <a:xfrm>
            <a:off x="457200" y="1200151"/>
            <a:ext cx="8229600" cy="3394472"/>
          </a:xfrm>
        </p:spPr>
        <p:txBody>
          <a:bodyPr/>
          <a:lstStyle/>
          <a:p>
            <a:pPr lvl="0"/>
            <a:r>
              <a:rPr/>
              <a:t>Two layers of 64, stochastic gradient descent (SGD: one step per mini-batch), 60 epochs, one run per rate</a:t>
            </a:r>
          </a:p>
          <a:p>
            <a:pPr lvl="0"/>
            <a:r>
              <a:rPr/>
              <a:t>Validation digits: 0.4806 at α = 0.001, </a:t>
            </a:r>
            <a:r>
              <a:rPr b="1"/>
              <a:t>0.9722</a:t>
            </a:r>
            <a:r>
              <a:rPr/>
              <a:t> at 0.5, 0.1000 at 2.0</a:t>
            </a:r>
          </a:p>
          <a:p>
            <a:pPr lvl="0"/>
            <a:r>
              <a:rPr/>
              <a:t>A rate too small looks like </a:t>
            </a:r>
            <a:r>
              <a:rPr b="1"/>
              <a:t>a network too small</a:t>
            </a:r>
          </a:p>
          <a:p>
            <a:pPr lvl="0"/>
            <a:r>
              <a:rPr b="1"/>
              <a:t>Try rates a factor of ten apart</a:t>
            </a:r>
            <a:r>
              <a:rPr/>
              <a:t> first</a:t>
            </a:r>
          </a:p>
          <a:p>
            <a:pPr lvl="0"/>
            <a:r>
              <a:rPr/>
              <a:t>In code: </a:t>
            </a:r>
            <a:r>
              <a:rPr>
                <a:latin typeface="Courier"/>
              </a:rPr>
              <a:t>keras.optimizers.SGD(0.5)</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Ten digits, eight by eight pixels</a:t>
            </a:r>
          </a:p>
        </p:txBody>
      </p:sp>
      <p:pic>
        <p:nvPicPr>
          <p:cNvPr descr="digit_examples.png" id="0" name="Picture 1"/>
          <p:cNvPicPr>
            <a:picLocks noGrp="1" noChangeAspect="1"/>
          </p:cNvPicPr>
          <p:nvPr/>
        </p:nvPicPr>
        <p:blipFill>
          <a:blip r:embed="rId3"/>
          <a:stretch>
            <a:fillRect/>
          </a:stretch>
        </p:blipFill>
        <p:spPr bwMode="auto">
          <a:xfrm>
            <a:off x="457200" y="1817489"/>
            <a:ext cx="8229600" cy="20574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network in Keras: 2,410 parameters</a:t>
            </a:r>
          </a:p>
        </p:txBody>
      </p:sp>
      <p:sp>
        <p:nvSpPr>
          <p:cNvPr id="3" name="Content Placeholder 2"/>
          <p:cNvSpPr>
            <a:spLocks noGrp="1"/>
          </p:cNvSpPr>
          <p:nvPr>
            <p:ph idx="1"/>
          </p:nvPr>
        </p:nvSpPr>
        <p:spPr>
          <a:xfrm>
            <a:off x="457200" y="1200151"/>
            <a:ext cx="8229600" cy="3394472"/>
          </a:xfrm>
        </p:spPr>
        <p:txBody>
          <a:bodyPr/>
          <a:lstStyle/>
          <a:p>
            <a:pPr lvl="0"/>
            <a:r>
              <a:rPr b="1"/>
              <a:t>Keras</a:t>
            </a:r>
            <a:r>
              <a:rPr/>
              <a:t>: the network library of lessons 9 and 10</a:t>
            </a:r>
          </a:p>
          <a:p>
            <a:pPr lvl="0"/>
            <a:r>
              <a:rPr>
                <a:latin typeface="Courier"/>
              </a:rPr>
              <a:t>keras.Sequential</a:t>
            </a:r>
            <a:r>
              <a:rPr/>
              <a:t>: the layers in order, </a:t>
            </a:r>
            <a:r>
              <a:rPr>
                <a:latin typeface="Courier"/>
              </a:rPr>
              <a:t>keras.Input</a:t>
            </a:r>
            <a:r>
              <a:rPr/>
              <a:t> then two </a:t>
            </a:r>
            <a:r>
              <a:rPr>
                <a:latin typeface="Courier"/>
              </a:rPr>
              <a:t>layers.Dense</a:t>
            </a:r>
          </a:p>
          <a:p>
            <a:pPr lvl="0"/>
            <a:r>
              <a:rPr/>
              <a:t>A </a:t>
            </a:r>
            <a:r>
              <a:rPr b="1"/>
              <a:t>dense</a:t>
            </a:r>
            <a:r>
              <a:rPr/>
              <a:t> layer: every unit sees every input (32 ReLU, then 10 softmax)</a:t>
            </a:r>
          </a:p>
          <a:p>
            <a:pPr lvl="0"/>
            <a:r>
              <a:rPr>
                <a:latin typeface="Courier"/>
              </a:rPr>
              <a:t>compile</a:t>
            </a:r>
            <a:r>
              <a:rPr/>
              <a:t> picks </a:t>
            </a:r>
            <a:r>
              <a:rPr>
                <a:latin typeface="Courier"/>
              </a:rPr>
              <a:t>Adam</a:t>
            </a:r>
            <a:r>
              <a:rPr/>
              <a:t> (a refined gradient descent); </a:t>
            </a:r>
            <a:r>
              <a:rPr>
                <a:latin typeface="Courier"/>
              </a:rPr>
              <a:t>fit</a:t>
            </a:r>
            <a:r>
              <a:rPr/>
              <a:t> trains</a:t>
            </a:r>
          </a:p>
          <a:p>
            <a:pPr lvl="0"/>
            <a:r>
              <a:rPr/>
              <a:t>Parameters: 64 × 32 + 32 = 2,080, plus 32 × 10 + 10 = 330</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Softmax</a:t>
            </a:r>
          </a:p>
        </p:txBody>
      </p:sp>
      <p:pic>
        <p:nvPicPr>
          <p:cNvPr descr="eq_fcae65ba30.png" id="0" name="Picture 1"/>
          <p:cNvPicPr>
            <a:picLocks noGrp="1" noChangeAspect="1"/>
          </p:cNvPicPr>
          <p:nvPr/>
        </p:nvPicPr>
        <p:blipFill>
          <a:blip r:embed="rId3"/>
          <a:stretch>
            <a:fillRect/>
          </a:stretch>
        </p:blipFill>
        <p:spPr bwMode="auto">
          <a:xfrm>
            <a:off x="1338771" y="1763457"/>
            <a:ext cx="6466457" cy="2165465"/>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Ten scores become ten probabilities</a:t>
            </a:r>
          </a:p>
        </p:txBody>
      </p:sp>
      <p:pic>
        <p:nvPicPr>
          <p:cNvPr descr="softmax_example.png" id="0" name="Picture 1"/>
          <p:cNvPicPr>
            <a:picLocks noGrp="1" noChangeAspect="1"/>
          </p:cNvPicPr>
          <p:nvPr/>
        </p:nvPicPr>
        <p:blipFill>
          <a:blip r:embed="rId3"/>
          <a:stretch>
            <a:fillRect/>
          </a:stretch>
        </p:blipFill>
        <p:spPr bwMode="auto">
          <a:xfrm>
            <a:off x="1539028" y="1166099"/>
            <a:ext cx="6065944" cy="3360181"/>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Training, watched</a:t>
            </a:r>
          </a:p>
        </p:txBody>
      </p:sp>
      <p:pic>
        <p:nvPicPr>
          <p:cNvPr descr="training_curves.png" id="0" name="Picture 1"/>
          <p:cNvPicPr>
            <a:picLocks noGrp="1" noChangeAspect="1"/>
          </p:cNvPicPr>
          <p:nvPr/>
        </p:nvPicPr>
        <p:blipFill>
          <a:blip r:embed="rId3"/>
          <a:stretch>
            <a:fillRect/>
          </a:stretch>
        </p:blipFill>
        <p:spPr bwMode="auto">
          <a:xfrm>
            <a:off x="457200" y="1379339"/>
            <a:ext cx="8229600" cy="29337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it goes wrong</a:t>
            </a:r>
          </a:p>
        </p:txBody>
      </p:sp>
      <p:pic>
        <p:nvPicPr>
          <p:cNvPr descr="softmax_confusion.png" id="0" name="Picture 1"/>
          <p:cNvPicPr>
            <a:picLocks noGrp="1" noChangeAspect="1"/>
          </p:cNvPicPr>
          <p:nvPr/>
        </p:nvPicPr>
        <p:blipFill>
          <a:blip r:embed="rId3"/>
          <a:stretch>
            <a:fillRect/>
          </a:stretch>
        </p:blipFill>
        <p:spPr bwMode="auto">
          <a:xfrm>
            <a:off x="2734598" y="1166099"/>
            <a:ext cx="3674804" cy="3360181"/>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Is the hidden layer worth it here?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architecture, on the 360 validation digits</a:t>
                      </a:r>
                    </a:p>
                  </a:txBody>
                  <a:tcPr/>
                </a:tc>
                <a:tc>
                  <a:txBody>
                    <a:bodyPr/>
                    <a:lstStyle/>
                    <a:p>
                      <a:pPr lvl="0" indent="0" marL="0">
                        <a:buNone/>
                      </a:pPr>
                      <a:r>
                        <a:rPr/>
                        <a:t>parameters</a:t>
                      </a:r>
                    </a:p>
                  </a:txBody>
                  <a:tcPr/>
                </a:tc>
                <a:tc>
                  <a:txBody>
                    <a:bodyPr/>
                    <a:lstStyle/>
                    <a:p>
                      <a:pPr lvl="0" indent="0" marL="0">
                        <a:buNone/>
                      </a:pPr>
                      <a:r>
                        <a:rPr/>
                        <a:t>accuracy, mean of 3 runs</a:t>
                      </a:r>
                    </a:p>
                  </a:txBody>
                  <a:tcPr/>
                </a:tc>
                <a:tc>
                  <a:txBody>
                    <a:bodyPr/>
                    <a:lstStyle/>
                    <a:p>
                      <a:pPr lvl="0" indent="0" marL="0">
                        <a:buNone/>
                      </a:pPr>
                      <a:r>
                        <a:rPr/>
                        <a:t>standard deviation, 3 runs</a:t>
                      </a:r>
                    </a:p>
                  </a:txBody>
                  <a:tcPr/>
                </a:tc>
              </a:tr>
              <a:tr h="0">
                <a:tc>
                  <a:txBody>
                    <a:bodyPr/>
                    <a:lstStyle/>
                    <a:p>
                      <a:pPr lvl="0" indent="0" marL="0">
                        <a:buNone/>
                      </a:pPr>
                      <a:r>
                        <a:rPr/>
                        <a:t>softmax alone, no hidden layer</a:t>
                      </a:r>
                    </a:p>
                  </a:txBody>
                </a:tc>
                <a:tc>
                  <a:txBody>
                    <a:bodyPr/>
                    <a:lstStyle/>
                    <a:p>
                      <a:pPr lvl="0" indent="0" marL="0">
                        <a:buNone/>
                      </a:pPr>
                      <a:r>
                        <a:rPr/>
                        <a:t>650</a:t>
                      </a:r>
                    </a:p>
                  </a:txBody>
                </a:tc>
                <a:tc>
                  <a:txBody>
                    <a:bodyPr/>
                    <a:lstStyle/>
                    <a:p>
                      <a:pPr lvl="0" indent="0" marL="0">
                        <a:buNone/>
                      </a:pPr>
                      <a:r>
                        <a:rPr/>
                        <a:t>0.9324</a:t>
                      </a:r>
                    </a:p>
                  </a:txBody>
                </a:tc>
                <a:tc>
                  <a:txBody>
                    <a:bodyPr/>
                    <a:lstStyle/>
                    <a:p>
                      <a:pPr lvl="0" indent="0" marL="0">
                        <a:buNone/>
                      </a:pPr>
                      <a:r>
                        <a:rPr/>
                        <a:t>0.0035</a:t>
                      </a:r>
                    </a:p>
                  </a:txBody>
                </a:tc>
              </a:tr>
              <a:tr h="0">
                <a:tc>
                  <a:txBody>
                    <a:bodyPr/>
                    <a:lstStyle/>
                    <a:p>
                      <a:pPr lvl="0" indent="0" marL="0">
                        <a:buNone/>
                      </a:pPr>
                      <a:r>
                        <a:rPr/>
                        <a:t>one hidden layer of 32</a:t>
                      </a:r>
                    </a:p>
                  </a:txBody>
                </a:tc>
                <a:tc>
                  <a:txBody>
                    <a:bodyPr/>
                    <a:lstStyle/>
                    <a:p>
                      <a:pPr lvl="0" indent="0" marL="0">
                        <a:buNone/>
                      </a:pPr>
                      <a:r>
                        <a:rPr/>
                        <a:t>2,410</a:t>
                      </a:r>
                    </a:p>
                  </a:txBody>
                </a:tc>
                <a:tc>
                  <a:txBody>
                    <a:bodyPr/>
                    <a:lstStyle/>
                    <a:p>
                      <a:pPr lvl="0" indent="0" marL="0">
                        <a:buNone/>
                      </a:pPr>
                      <a:r>
                        <a:rPr b="1"/>
                        <a:t>0.9602</a:t>
                      </a:r>
                    </a:p>
                  </a:txBody>
                </a:tc>
                <a:tc>
                  <a:txBody>
                    <a:bodyPr/>
                    <a:lstStyle/>
                    <a:p>
                      <a:pPr lvl="0" indent="0" marL="0">
                        <a:buNone/>
                      </a:pPr>
                      <a:r>
                        <a:rPr/>
                        <a:t>0.0052</a:t>
                      </a:r>
                    </a:p>
                  </a:txBody>
                </a:tc>
              </a:tr>
              <a:tr h="0">
                <a:tc>
                  <a:txBody>
                    <a:bodyPr/>
                    <a:lstStyle/>
                    <a:p>
                      <a:pPr lvl="0" indent="0" marL="0">
                        <a:buNone/>
                      </a:pPr>
                      <a:r>
                        <a:rPr/>
                        <a:t>one hidden layer of 64</a:t>
                      </a:r>
                    </a:p>
                  </a:txBody>
                </a:tc>
                <a:tc>
                  <a:txBody>
                    <a:bodyPr/>
                    <a:lstStyle/>
                    <a:p>
                      <a:pPr lvl="0" indent="0" marL="0">
                        <a:buNone/>
                      </a:pPr>
                      <a:r>
                        <a:rPr/>
                        <a:t>4,810</a:t>
                      </a:r>
                    </a:p>
                  </a:txBody>
                </a:tc>
                <a:tc>
                  <a:txBody>
                    <a:bodyPr/>
                    <a:lstStyle/>
                    <a:p>
                      <a:pPr lvl="0" indent="0" marL="0">
                        <a:buNone/>
                      </a:pPr>
                      <a:r>
                        <a:rPr/>
                        <a:t>0.9611</a:t>
                      </a:r>
                    </a:p>
                  </a:txBody>
                </a:tc>
                <a:tc>
                  <a:txBody>
                    <a:bodyPr/>
                    <a:lstStyle/>
                    <a:p>
                      <a:pPr lvl="0" indent="0" marL="0">
                        <a:buNone/>
                      </a:pPr>
                      <a:r>
                        <a:rPr/>
                        <a:t>0.0045</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39 points against 2.8</a:t>
            </a:r>
          </a:p>
        </p:txBody>
      </p:sp>
      <p:pic>
        <p:nvPicPr>
          <p:cNvPr descr="hidden_layer_worth.png" id="0" name="Picture 1"/>
          <p:cNvPicPr>
            <a:picLocks noGrp="1" noChangeAspect="1"/>
          </p:cNvPicPr>
          <p:nvPr/>
        </p:nvPicPr>
        <p:blipFill>
          <a:blip r:embed="rId3"/>
          <a:stretch>
            <a:fillRect/>
          </a:stretch>
        </p:blipFill>
        <p:spPr bwMode="auto">
          <a:xfrm>
            <a:off x="1564198" y="1166099"/>
            <a:ext cx="6015604" cy="3360181"/>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When to reach for a hidden layer</a:t>
            </a:r>
          </a:p>
        </p:txBody>
      </p:sp>
      <p:sp>
        <p:nvSpPr>
          <p:cNvPr id="3" name="Content Placeholder 2"/>
          <p:cNvSpPr>
            <a:spLocks noGrp="1"/>
          </p:cNvSpPr>
          <p:nvPr>
            <p:ph idx="1"/>
          </p:nvPr>
        </p:nvSpPr>
        <p:spPr>
          <a:xfrm>
            <a:off x="457200" y="1200151"/>
            <a:ext cx="8229600" cy="3394472"/>
          </a:xfrm>
        </p:spPr>
        <p:txBody>
          <a:bodyPr/>
          <a:lstStyle/>
          <a:p>
            <a:pPr lvl="0"/>
            <a:r>
              <a:rPr/>
              <a:t>Sensors: the two offsets act </a:t>
            </a:r>
            <a:r>
              <a:rPr b="1"/>
              <a:t>together</a:t>
            </a:r>
          </a:p>
          <a:p>
            <a:pPr lvl="0"/>
            <a:r>
              <a:rPr/>
              <a:t>Digits: each pixel pushes </a:t>
            </a:r>
            <a:r>
              <a:rPr b="1"/>
              <a:t>on its own</a:t>
            </a:r>
          </a:p>
          <a:p>
            <a:pPr lvl="0"/>
            <a:r>
              <a:rPr/>
              <a:t>The predictable mistake: adding a hidden layer every time, </a:t>
            </a:r>
            <a:r>
              <a:rPr b="1"/>
              <a:t>by reflex</a:t>
            </a:r>
          </a:p>
          <a:p>
            <a:pPr lvl="0"/>
            <a:r>
              <a:rPr/>
              <a:t>Digits: 2,410 parameters against 650, for 2.8 points</a:t>
            </a:r>
          </a:p>
          <a:p>
            <a:pPr lvl="0"/>
            <a:r>
              <a:rPr b="1"/>
              <a:t>Fit the linear model first</a:t>
            </a:r>
            <a:r>
              <a:rPr/>
              <a:t>: its gap to a network says whether a network is needed</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the digits, 38</a:t>
                      </a:r>
                    </a:p>
                  </a:txBody>
                </a:tc>
                <a:tc>
                  <a:txBody>
                    <a:bodyPr/>
                    <a:lstStyle/>
                    <a:p>
                      <a:pPr lvl="0" indent="0" marL="0">
                        <a:buNone/>
                      </a:pPr>
                      <a:r>
                        <a:rPr>
                          <a:latin typeface="Courier"/>
                        </a:rPr>
                        <a:t>train_test_split</a:t>
                      </a:r>
                      <a:r>
                        <a:rPr/>
                        <a:t>, twice → 1,077, 360 and 360 images</a:t>
                      </a:r>
                    </a:p>
                  </a:txBody>
                </a:tc>
              </a:tr>
              <a:tr h="0">
                <a:tc>
                  <a:txBody>
                    <a:bodyPr/>
                    <a:lstStyle/>
                    <a:p>
                      <a:pPr lvl="0" indent="0" marL="0">
                        <a:buNone/>
                      </a:pPr>
                      <a:r>
                        <a:rPr/>
                        <a:t>building and training, 29-30, 39, 42</a:t>
                      </a:r>
                    </a:p>
                  </a:txBody>
                </a:tc>
                <a:tc>
                  <a:txBody>
                    <a:bodyPr/>
                    <a:lstStyle/>
                    <a:p>
                      <a:pPr lvl="0" indent="0" marL="0">
                        <a:buNone/>
                      </a:pPr>
                      <a:r>
                        <a:rPr>
                          <a:latin typeface="Courier"/>
                        </a:rPr>
                        <a:t>keras.Sequential</a:t>
                      </a:r>
                      <a:r>
                        <a:rPr/>
                        <a:t>, </a:t>
                      </a:r>
                      <a:r>
                        <a:rPr>
                          <a:latin typeface="Courier"/>
                        </a:rPr>
                        <a:t>keras.Input</a:t>
                      </a:r>
                      <a:r>
                        <a:rPr/>
                        <a:t>, </a:t>
                      </a:r>
                      <a:r>
                        <a:rPr>
                          <a:latin typeface="Courier"/>
                        </a:rPr>
                        <a:t>layers.Dense</a:t>
                      </a:r>
                      <a:r>
                        <a:rPr/>
                        <a:t>, </a:t>
                      </a:r>
                      <a:r>
                        <a:rPr>
                          <a:latin typeface="Courier"/>
                        </a:rPr>
                        <a:t>Adam</a:t>
                      </a:r>
                      <a:r>
                        <a:rPr/>
                        <a:t>, </a:t>
                      </a:r>
                      <a:r>
                        <a:rPr>
                          <a:latin typeface="Courier"/>
                        </a:rPr>
                        <a:t>fit</a:t>
                      </a:r>
                      <a:r>
                        <a:rPr/>
                        <a:t> → 2,410 parameters, 0.9639</a:t>
                      </a:r>
                    </a:p>
                  </a:txBody>
                </a:tc>
              </a:tr>
              <a:tr h="0">
                <a:tc>
                  <a:txBody>
                    <a:bodyPr/>
                    <a:lstStyle/>
                    <a:p>
                      <a:pPr lvl="0" indent="0" marL="0">
                        <a:buNone/>
                      </a:pPr>
                      <a:r>
                        <a:rPr/>
                        <a:t>softmax and confusion matrix, 40-43</a:t>
                      </a:r>
                    </a:p>
                  </a:txBody>
                </a:tc>
                <a:tc>
                  <a:txBody>
                    <a:bodyPr/>
                    <a:lstStyle/>
                    <a:p>
                      <a:pPr lvl="0" indent="0" marL="0">
                        <a:buNone/>
                      </a:pPr>
                      <a:r>
                        <a:rPr>
                          <a:latin typeface="Courier"/>
                        </a:rPr>
                        <a:t>model.predict</a:t>
                      </a:r>
                      <a:r>
                        <a:rPr/>
                        <a:t>, </a:t>
                      </a:r>
                      <a:r>
                        <a:rPr>
                          <a:latin typeface="Courier"/>
                        </a:rPr>
                        <a:t>confusion_matrix</a:t>
                      </a:r>
                      <a:r>
                        <a:rPr/>
                        <a:t> → 13 of 360 wrong</a:t>
                      </a:r>
                    </a:p>
                  </a:txBody>
                </a:tc>
              </a:tr>
              <a:tr h="0">
                <a:tc>
                  <a:txBody>
                    <a:bodyPr/>
                    <a:lstStyle/>
                    <a:p>
                      <a:pPr lvl="0" indent="0" marL="0">
                        <a:buNone/>
                      </a:pPr>
                      <a:r>
                        <a:rPr/>
                        <a:t>is the hidden layer worth it, 44</a:t>
                      </a:r>
                    </a:p>
                  </a:txBody>
                </a:tc>
                <a:tc>
                  <a:txBody>
                    <a:bodyPr/>
                    <a:lstStyle/>
                    <a:p>
                      <a:pPr lvl="0" indent="0" marL="0">
                        <a:buNone/>
                      </a:pPr>
                      <a:r>
                        <a:rPr/>
                        <a:t>three architectures, 3 runs each → 0.9324, 0.9602, 0.9611</a:t>
                      </a:r>
                    </a:p>
                  </a:txBody>
                </a:tc>
              </a:tr>
              <a:tr h="0">
                <a:tc>
                  <a:txBody>
                    <a:bodyPr/>
                    <a:lstStyle/>
                    <a:p>
                      <a:pPr lvl="0" indent="0" marL="0">
                        <a:buNone/>
                      </a:pPr>
                      <a:r>
                        <a:rPr/>
                        <a:t>the number, 45-46</a:t>
                      </a:r>
                    </a:p>
                  </a:txBody>
                </a:tc>
                <a:tc>
                  <a:txBody>
                    <a:bodyPr/>
                    <a:lstStyle/>
                    <a:p>
                      <a:pPr lvl="0" indent="0" marL="0">
                        <a:buNone/>
                      </a:pPr>
                      <a:r>
                        <a:rPr>
                          <a:latin typeface="Courier"/>
                        </a:rPr>
                        <a:t>LogisticRegression</a:t>
                      </a:r>
                      <a:r>
                        <a:rPr/>
                        <a:t>, </a:t>
                      </a:r>
                      <a:r>
                        <a:rPr>
                          <a:latin typeface="Courier"/>
                        </a:rPr>
                        <a:t>MLPClassifier</a:t>
                      </a:r>
                      <a:r>
                        <a:rPr/>
                        <a:t> on the sensors again → 39.4 and 2.8 points; 4.7 on another split</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network that memorises</a:t>
            </a:r>
          </a:p>
        </p:txBody>
      </p:sp>
      <p:pic>
        <p:nvPicPr>
          <p:cNvPr descr="overfitting_curves.png" id="0" name="Picture 1"/>
          <p:cNvPicPr>
            <a:picLocks noGrp="1" noChangeAspect="1"/>
          </p:cNvPicPr>
          <p:nvPr/>
        </p:nvPicPr>
        <p:blipFill>
          <a:blip r:embed="rId3"/>
          <a:stretch>
            <a:fillRect/>
          </a:stretch>
        </p:blipFill>
        <p:spPr bwMode="auto">
          <a:xfrm>
            <a:off x="457200" y="1303139"/>
            <a:ext cx="8229600" cy="30861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Reading the two curves</a:t>
            </a:r>
          </a:p>
        </p:txBody>
      </p:sp>
      <p:sp>
        <p:nvSpPr>
          <p:cNvPr id="3" name="Content Placeholder 2"/>
          <p:cNvSpPr>
            <a:spLocks noGrp="1"/>
          </p:cNvSpPr>
          <p:nvPr>
            <p:ph idx="1"/>
          </p:nvPr>
        </p:nvSpPr>
        <p:spPr>
          <a:xfrm>
            <a:off x="457200" y="1200151"/>
            <a:ext cx="8229600" cy="3394472"/>
          </a:xfrm>
        </p:spPr>
        <p:txBody>
          <a:bodyPr/>
          <a:lstStyle/>
          <a:p>
            <a:pPr lvl="0"/>
            <a:r>
              <a:rPr/>
              <a:t>One run: two layers of 512 on </a:t>
            </a:r>
            <a:r>
              <a:rPr b="1"/>
              <a:t>300 digits</a:t>
            </a:r>
            <a:r>
              <a:rPr/>
              <a:t>: 301,066 parameters</a:t>
            </a:r>
          </a:p>
          <a:p>
            <a:pPr lvl="0"/>
            <a:r>
              <a:rPr/>
              <a:t>Training accuracy </a:t>
            </a:r>
            <a:r>
              <a:rPr b="1"/>
              <a:t>1.000</a:t>
            </a:r>
            <a:r>
              <a:rPr/>
              <a:t>: the 300 answers are stored</a:t>
            </a:r>
          </a:p>
          <a:p>
            <a:pPr lvl="0"/>
            <a:r>
              <a:rPr/>
              <a:t>Validation loss lowest at </a:t>
            </a:r>
            <a:r>
              <a:rPr b="1"/>
              <a:t>epoch 13</a:t>
            </a:r>
            <a:r>
              <a:rPr/>
              <a:t>, 1.4 times that by epoch 200</a:t>
            </a:r>
          </a:p>
          <a:p>
            <a:pPr lvl="0"/>
            <a:r>
              <a:rPr/>
              <a:t>Validation accuracy stays near 0.95 (0.9472 at epoch 200), while the network grows more confident about the answers it gets wrong</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remedies</a:t>
            </a:r>
          </a:p>
        </p:txBody>
      </p:sp>
      <p:sp>
        <p:nvSpPr>
          <p:cNvPr id="3" name="Content Placeholder 2"/>
          <p:cNvSpPr>
            <a:spLocks noGrp="1"/>
          </p:cNvSpPr>
          <p:nvPr>
            <p:ph idx="1"/>
          </p:nvPr>
        </p:nvSpPr>
        <p:spPr>
          <a:xfrm>
            <a:off x="457200" y="1200151"/>
            <a:ext cx="8229600" cy="3394472"/>
          </a:xfrm>
        </p:spPr>
        <p:txBody>
          <a:bodyPr/>
          <a:lstStyle/>
          <a:p>
            <a:pPr lvl="0"/>
            <a:r>
              <a:rPr b="1"/>
              <a:t>Early stopping</a:t>
            </a:r>
            <a:r>
              <a:rPr/>
              <a:t>: stop after 25 epochs with no better validation loss; keep the best weights</a:t>
            </a:r>
          </a:p>
          <a:p>
            <a:pPr lvl="0"/>
            <a:r>
              <a:rPr b="1"/>
              <a:t>Dropout</a:t>
            </a:r>
            <a:r>
              <a:rPr/>
              <a:t>: switch off a random 40% of hidden units on each training mini-batch</a:t>
            </a:r>
          </a:p>
          <a:p>
            <a:pPr lvl="0"/>
            <a:r>
              <a:rPr/>
              <a:t>In code: </a:t>
            </a:r>
            <a:r>
              <a:rPr>
                <a:latin typeface="Courier"/>
              </a:rPr>
              <a:t>EarlyStopping(patience=25, restore_best_weights=True)</a:t>
            </a:r>
          </a:p>
          <a:p>
            <a:pPr lvl="0"/>
            <a:r>
              <a:rPr/>
              <a:t>In code: </a:t>
            </a:r>
            <a:r>
              <a:rPr>
                <a:latin typeface="Courier"/>
              </a:rPr>
              <a:t>layers.Dropout(0.4)</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remedies, measured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method, two layers of 512 on 300 digits</a:t>
                      </a:r>
                    </a:p>
                  </a:txBody>
                  <a:tcPr/>
                </a:tc>
                <a:tc>
                  <a:txBody>
                    <a:bodyPr/>
                    <a:lstStyle/>
                    <a:p>
                      <a:pPr lvl="0" indent="0" marL="0">
                        <a:buNone/>
                      </a:pPr>
                      <a:r>
                        <a:rPr/>
                        <a:t>test accuracy, mean of 3 runs</a:t>
                      </a:r>
                    </a:p>
                  </a:txBody>
                  <a:tcPr/>
                </a:tc>
                <a:tc>
                  <a:txBody>
                    <a:bodyPr/>
                    <a:lstStyle/>
                    <a:p>
                      <a:pPr lvl="0" indent="0" marL="0">
                        <a:buNone/>
                      </a:pPr>
                      <a:r>
                        <a:rPr/>
                        <a:t>standard deviation, 3 runs</a:t>
                      </a:r>
                    </a:p>
                  </a:txBody>
                  <a:tcPr/>
                </a:tc>
                <a:tc>
                  <a:txBody>
                    <a:bodyPr/>
                    <a:lstStyle/>
                    <a:p>
                      <a:pPr lvl="0" indent="0" marL="0">
                        <a:buNone/>
                      </a:pPr>
                      <a:r>
                        <a:rPr/>
                        <a:t>epochs run</a:t>
                      </a:r>
                    </a:p>
                  </a:txBody>
                  <a:tcPr/>
                </a:tc>
              </a:tr>
              <a:tr h="0">
                <a:tc>
                  <a:txBody>
                    <a:bodyPr/>
                    <a:lstStyle/>
                    <a:p>
                      <a:pPr lvl="0" indent="0" marL="0">
                        <a:buNone/>
                      </a:pPr>
                      <a:r>
                        <a:rPr/>
                        <a:t>200 epochs, no remedy</a:t>
                      </a:r>
                    </a:p>
                  </a:txBody>
                </a:tc>
                <a:tc>
                  <a:txBody>
                    <a:bodyPr/>
                    <a:lstStyle/>
                    <a:p>
                      <a:pPr lvl="0" indent="0" marL="0">
                        <a:buNone/>
                      </a:pPr>
                      <a:r>
                        <a:rPr/>
                        <a:t>0.9426</a:t>
                      </a:r>
                    </a:p>
                  </a:txBody>
                </a:tc>
                <a:tc>
                  <a:txBody>
                    <a:bodyPr/>
                    <a:lstStyle/>
                    <a:p>
                      <a:pPr lvl="0" indent="0" marL="0">
                        <a:buNone/>
                      </a:pPr>
                      <a:r>
                        <a:rPr/>
                        <a:t>0.0013</a:t>
                      </a:r>
                    </a:p>
                  </a:txBody>
                </a:tc>
                <a:tc>
                  <a:txBody>
                    <a:bodyPr/>
                    <a:lstStyle/>
                    <a:p>
                      <a:pPr lvl="0" indent="0" marL="0">
                        <a:buNone/>
                      </a:pPr>
                      <a:r>
                        <a:rPr/>
                        <a:t>200</a:t>
                      </a:r>
                    </a:p>
                  </a:txBody>
                </a:tc>
              </a:tr>
              <a:tr h="0">
                <a:tc>
                  <a:txBody>
                    <a:bodyPr/>
                    <a:lstStyle/>
                    <a:p>
                      <a:pPr lvl="0" indent="0" marL="0">
                        <a:buNone/>
                      </a:pPr>
                      <a:r>
                        <a:rPr/>
                        <a:t>early stopping</a:t>
                      </a:r>
                    </a:p>
                  </a:txBody>
                </a:tc>
                <a:tc>
                  <a:txBody>
                    <a:bodyPr/>
                    <a:lstStyle/>
                    <a:p>
                      <a:pPr lvl="0" indent="0" marL="0">
                        <a:buNone/>
                      </a:pPr>
                      <a:r>
                        <a:rPr/>
                        <a:t>0.9463</a:t>
                      </a:r>
                    </a:p>
                  </a:txBody>
                </a:tc>
                <a:tc>
                  <a:txBody>
                    <a:bodyPr/>
                    <a:lstStyle/>
                    <a:p>
                      <a:pPr lvl="0" indent="0" marL="0">
                        <a:buNone/>
                      </a:pPr>
                      <a:r>
                        <a:rPr/>
                        <a:t>0.0035</a:t>
                      </a:r>
                    </a:p>
                  </a:txBody>
                </a:tc>
                <a:tc>
                  <a:txBody>
                    <a:bodyPr/>
                    <a:lstStyle/>
                    <a:p>
                      <a:pPr lvl="0" indent="0" marL="0">
                        <a:buNone/>
                      </a:pPr>
                      <a:r>
                        <a:rPr/>
                        <a:t>39</a:t>
                      </a:r>
                    </a:p>
                  </a:txBody>
                </a:tc>
              </a:tr>
              <a:tr h="0">
                <a:tc>
                  <a:txBody>
                    <a:bodyPr/>
                    <a:lstStyle/>
                    <a:p>
                      <a:pPr lvl="0" indent="0" marL="0">
                        <a:buNone/>
                      </a:pPr>
                      <a:r>
                        <a:rPr/>
                        <a:t>early stopping + dropout 0.4</a:t>
                      </a:r>
                    </a:p>
                  </a:txBody>
                </a:tc>
                <a:tc>
                  <a:txBody>
                    <a:bodyPr/>
                    <a:lstStyle/>
                    <a:p>
                      <a:pPr lvl="0" indent="0" marL="0">
                        <a:buNone/>
                      </a:pPr>
                      <a:r>
                        <a:rPr/>
                        <a:t>0.9481</a:t>
                      </a:r>
                    </a:p>
                  </a:txBody>
                </a:tc>
                <a:tc>
                  <a:txBody>
                    <a:bodyPr/>
                    <a:lstStyle/>
                    <a:p>
                      <a:pPr lvl="0" indent="0" marL="0">
                        <a:buNone/>
                      </a:pPr>
                      <a:r>
                        <a:rPr/>
                        <a:t>0.0035</a:t>
                      </a:r>
                    </a:p>
                  </a:txBody>
                </a:tc>
                <a:tc>
                  <a:txBody>
                    <a:bodyPr/>
                    <a:lstStyle/>
                    <a:p>
                      <a:pPr lvl="0" indent="0" marL="0">
                        <a:buNone/>
                      </a:pPr>
                      <a:r>
                        <a:rPr/>
                        <a:t>50.3</a:t>
                      </a:r>
                    </a:p>
                  </a:txBody>
                </a:tc>
              </a:tr>
            </a:tbl>
          </a:graphicData>
        </a:graphic>
      </p:graphicFrame>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Activations and their slopes</a:t>
            </a:r>
          </a:p>
        </p:txBody>
      </p:sp>
      <p:pic>
        <p:nvPicPr>
          <p:cNvPr descr="activation_functions.png" id="0" name="Picture 1"/>
          <p:cNvPicPr>
            <a:picLocks noGrp="1" noChangeAspect="1"/>
          </p:cNvPicPr>
          <p:nvPr/>
        </p:nvPicPr>
        <p:blipFill>
          <a:blip r:embed="rId3"/>
          <a:stretch>
            <a:fillRect/>
          </a:stretch>
        </p:blipFill>
        <p:spPr bwMode="auto">
          <a:xfrm>
            <a:off x="457200" y="1341239"/>
            <a:ext cx="8229600" cy="30099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Six sigmoid layers never learn</a:t>
            </a:r>
          </a:p>
        </p:txBody>
      </p:sp>
      <p:pic>
        <p:nvPicPr>
          <p:cNvPr descr="deep_training_curves.png" id="0" name="Picture 1"/>
          <p:cNvPicPr>
            <a:picLocks noGrp="1" noChangeAspect="1"/>
          </p:cNvPicPr>
          <p:nvPr/>
        </p:nvPicPr>
        <p:blipFill>
          <a:blip r:embed="rId3"/>
          <a:stretch>
            <a:fillRect/>
          </a:stretch>
        </p:blipFill>
        <p:spPr bwMode="auto">
          <a:xfrm>
            <a:off x="1828481" y="1166099"/>
            <a:ext cx="5487037" cy="3360181"/>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vanishing gradient</a:t>
            </a:r>
          </a:p>
        </p:txBody>
      </p:sp>
      <p:sp>
        <p:nvSpPr>
          <p:cNvPr id="3" name="Content Placeholder 2"/>
          <p:cNvSpPr>
            <a:spLocks noGrp="1"/>
          </p:cNvSpPr>
          <p:nvPr>
            <p:ph idx="1"/>
          </p:nvPr>
        </p:nvSpPr>
        <p:spPr>
          <a:xfrm>
            <a:off x="457200" y="1200151"/>
            <a:ext cx="8229600" cy="3394472"/>
          </a:xfrm>
        </p:spPr>
        <p:txBody>
          <a:bodyPr/>
          <a:lstStyle/>
          <a:p>
            <a:pPr lvl="0"/>
            <a:r>
              <a:rPr/>
              <a:t>Each layer multiplies the blame by its </a:t>
            </a:r>
            <a:r>
              <a:rPr b="1"/>
              <a:t>slope</a:t>
            </a:r>
          </a:p>
          <a:p>
            <a:pPr lvl="0"/>
            <a:r>
              <a:rPr/>
              <a:t>Slope at most 1/4 for the sigmoid; 1 for an active ReLU</a:t>
            </a:r>
          </a:p>
          <a:p>
            <a:pPr lvl="0"/>
            <a:r>
              <a:rPr/>
              <a:t>Six sigmoid layers: at most 0.25⁶ = 1/4096 of the blame reaches the first</a:t>
            </a:r>
          </a:p>
          <a:p>
            <a:pPr lvl="0"/>
            <a:r>
              <a:rPr/>
              <a:t>Six layers of 32, one run: sigmoid </a:t>
            </a:r>
            <a:r>
              <a:rPr b="1"/>
              <a:t>0.1000</a:t>
            </a:r>
            <a:r>
              <a:rPr/>
              <a:t>, ReLU </a:t>
            </a:r>
            <a:r>
              <a:rPr b="1"/>
              <a:t>0.9611</a:t>
            </a:r>
          </a:p>
          <a:p>
            <a:pPr lvl="0"/>
            <a:r>
              <a:rPr/>
              <a:t>This is the </a:t>
            </a:r>
            <a:r>
              <a:rPr b="1"/>
              <a:t>vanishing gradient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Shuffle the pixels</a:t>
            </a:r>
          </a:p>
        </p:txBody>
      </p:sp>
      <p:pic>
        <p:nvPicPr>
          <p:cNvPr descr="permuted_pixels.png" id="0" name="Picture 1"/>
          <p:cNvPicPr>
            <a:picLocks noGrp="1" noChangeAspect="1"/>
          </p:cNvPicPr>
          <p:nvPr/>
        </p:nvPicPr>
        <p:blipFill>
          <a:blip r:embed="rId3"/>
          <a:stretch>
            <a:fillRect/>
          </a:stretch>
        </p:blipFill>
        <p:spPr bwMode="auto">
          <a:xfrm>
            <a:off x="595157" y="1166099"/>
            <a:ext cx="7953686" cy="3360181"/>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Nothing notices</a:t>
            </a:r>
          </a:p>
        </p:txBody>
      </p:sp>
      <p:sp>
        <p:nvSpPr>
          <p:cNvPr id="3" name="Content Placeholder 2"/>
          <p:cNvSpPr>
            <a:spLocks noGrp="1"/>
          </p:cNvSpPr>
          <p:nvPr>
            <p:ph idx="1"/>
          </p:nvPr>
        </p:nvSpPr>
        <p:spPr>
          <a:xfrm>
            <a:off x="457200" y="1200151"/>
            <a:ext cx="8229600" cy="3394472"/>
          </a:xfrm>
        </p:spPr>
        <p:txBody>
          <a:bodyPr/>
          <a:lstStyle/>
          <a:p>
            <a:pPr lvl="0"/>
            <a:r>
              <a:rPr/>
              <a:t>One fixed reordering of the 64 pixels</a:t>
            </a:r>
          </a:p>
          <a:p>
            <a:pPr lvl="0"/>
            <a:r>
              <a:rPr/>
              <a:t>Hidden layer of 32, 3 runs: </a:t>
            </a:r>
            <a:r>
              <a:rPr b="1"/>
              <a:t>0.9602</a:t>
            </a:r>
            <a:r>
              <a:rPr/>
              <a:t> as written, </a:t>
            </a:r>
            <a:r>
              <a:rPr b="1"/>
              <a:t>0.9630</a:t>
            </a:r>
            <a:r>
              <a:rPr/>
              <a:t> shuffled</a:t>
            </a:r>
          </a:p>
          <a:p>
            <a:pPr lvl="0"/>
            <a:r>
              <a:rPr/>
              <a:t>A difference well inside the run-to-run spread</a:t>
            </a:r>
          </a:p>
          <a:p>
            <a:pPr lvl="0"/>
            <a:r>
              <a:rPr/>
              <a:t>A dense layer never uses which pixel is next to which</a:t>
            </a:r>
          </a:p>
          <a:p>
            <a:pPr lvl="0"/>
            <a:r>
              <a:rPr b="1"/>
              <a:t>Permute the pixels consistently and nothing here notices.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the learning rate, 36-37</a:t>
                      </a:r>
                    </a:p>
                  </a:txBody>
                </a:tc>
                <a:tc>
                  <a:txBody>
                    <a:bodyPr/>
                    <a:lstStyle/>
                    <a:p>
                      <a:pPr lvl="0" indent="0" marL="0">
                        <a:buNone/>
                      </a:pPr>
                      <a:r>
                        <a:rPr>
                          <a:latin typeface="Courier"/>
                        </a:rPr>
                        <a:t>keras.optimizers.SGD</a:t>
                      </a:r>
                      <a:r>
                        <a:rPr/>
                        <a:t> at three rates → 0.9722 at α = 0.5</a:t>
                      </a:r>
                    </a:p>
                  </a:txBody>
                </a:tc>
              </a:tr>
              <a:tr h="0">
                <a:tc>
                  <a:txBody>
                    <a:bodyPr/>
                    <a:lstStyle/>
                    <a:p>
                      <a:pPr lvl="0" indent="0" marL="0">
                        <a:buNone/>
                      </a:pPr>
                      <a:r>
                        <a:rPr/>
                        <a:t>memorising, 48-49</a:t>
                      </a:r>
                    </a:p>
                  </a:txBody>
                </a:tc>
                <a:tc>
                  <a:txBody>
                    <a:bodyPr/>
                    <a:lstStyle/>
                    <a:p>
                      <a:pPr lvl="0" indent="0" marL="0">
                        <a:buNone/>
                      </a:pPr>
                      <a:r>
                        <a:rPr/>
                        <a:t>two </a:t>
                      </a:r>
                      <a:r>
                        <a:rPr>
                          <a:latin typeface="Courier"/>
                        </a:rPr>
                        <a:t>Dense</a:t>
                      </a:r>
                      <a:r>
                        <a:rPr/>
                        <a:t> layers of 512 on 300 digits → validation loss lowest at epoch 13</a:t>
                      </a:r>
                    </a:p>
                  </a:txBody>
                </a:tc>
              </a:tr>
              <a:tr h="0">
                <a:tc>
                  <a:txBody>
                    <a:bodyPr/>
                    <a:lstStyle/>
                    <a:p>
                      <a:pPr lvl="0" indent="0" marL="0">
                        <a:buNone/>
                      </a:pPr>
                      <a:r>
                        <a:rPr/>
                        <a:t>two remedies, 50-51</a:t>
                      </a:r>
                    </a:p>
                  </a:txBody>
                </a:tc>
                <a:tc>
                  <a:txBody>
                    <a:bodyPr/>
                    <a:lstStyle/>
                    <a:p>
                      <a:pPr lvl="0" indent="0" marL="0">
                        <a:buNone/>
                      </a:pPr>
                      <a:r>
                        <a:rPr>
                          <a:latin typeface="Courier"/>
                        </a:rPr>
                        <a:t>EarlyStopping</a:t>
                      </a:r>
                      <a:r>
                        <a:rPr/>
                        <a:t>, </a:t>
                      </a:r>
                      <a:r>
                        <a:rPr>
                          <a:latin typeface="Courier"/>
                        </a:rPr>
                        <a:t>Dropout(0.4)</a:t>
                      </a:r>
                      <a:r>
                        <a:rPr/>
                        <a:t>, 3 runs each → 0.9426, 0.9463, 0.9481</a:t>
                      </a:r>
                    </a:p>
                  </a:txBody>
                </a:tc>
              </a:tr>
              <a:tr h="0">
                <a:tc>
                  <a:txBody>
                    <a:bodyPr/>
                    <a:lstStyle/>
                    <a:p>
                      <a:pPr lvl="0" indent="0" marL="0">
                        <a:buNone/>
                      </a:pPr>
                      <a:r>
                        <a:rPr/>
                        <a:t>sigmoid against ReLU, 52-54</a:t>
                      </a:r>
                    </a:p>
                  </a:txBody>
                </a:tc>
                <a:tc>
                  <a:txBody>
                    <a:bodyPr/>
                    <a:lstStyle/>
                    <a:p>
                      <a:pPr lvl="0" indent="0" marL="0">
                        <a:buNone/>
                      </a:pPr>
                      <a:r>
                        <a:rPr/>
                        <a:t>six </a:t>
                      </a:r>
                      <a:r>
                        <a:rPr>
                          <a:latin typeface="Courier"/>
                        </a:rPr>
                        <a:t>Dense</a:t>
                      </a:r>
                      <a:r>
                        <a:rPr/>
                        <a:t> layers of 32 → 0.1000 against 0.9611</a:t>
                      </a:r>
                    </a:p>
                  </a:txBody>
                </a:tc>
              </a:tr>
              <a:tr h="0">
                <a:tc>
                  <a:txBody>
                    <a:bodyPr/>
                    <a:lstStyle/>
                    <a:p>
                      <a:pPr lvl="0" indent="0" marL="0">
                        <a:buNone/>
                      </a:pPr>
                      <a:r>
                        <a:rPr/>
                        <a:t>shuffled pixels, 55-56</a:t>
                      </a:r>
                    </a:p>
                  </a:txBody>
                </a:tc>
                <a:tc>
                  <a:txBody>
                    <a:bodyPr/>
                    <a:lstStyle/>
                    <a:p>
                      <a:pPr lvl="0" indent="0" marL="0">
                        <a:buNone/>
                      </a:pPr>
                      <a:r>
                        <a:rPr/>
                        <a:t>one fixed permutation of the 64 pixels → 0.9602 against 0.9630</a:t>
                      </a:r>
                    </a:p>
                  </a:txBody>
                </a:tc>
              </a:tr>
            </a:tbl>
          </a:graphicData>
        </a:graphic>
      </p:graphicFrame>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take away</a:t>
            </a:r>
          </a:p>
        </p:txBody>
      </p:sp>
      <p:sp>
        <p:nvSpPr>
          <p:cNvPr id="3" name="Content Placeholder 2"/>
          <p:cNvSpPr>
            <a:spLocks noGrp="1"/>
          </p:cNvSpPr>
          <p:nvPr>
            <p:ph idx="1"/>
          </p:nvPr>
        </p:nvSpPr>
        <p:spPr>
          <a:xfrm>
            <a:off x="457200" y="1200151"/>
            <a:ext cx="8229600" cy="3394472"/>
          </a:xfrm>
        </p:spPr>
        <p:txBody>
          <a:bodyPr/>
          <a:lstStyle/>
          <a:p>
            <a:pPr lvl="0"/>
            <a:r>
              <a:rPr b="1"/>
              <a:t>One neuron is one line</a:t>
            </a:r>
            <a:r>
              <a:rPr/>
              <a:t>; a </a:t>
            </a:r>
            <a:r>
              <a:rPr b="1"/>
              <a:t>hidden layer moves the data</a:t>
            </a:r>
          </a:p>
          <a:p>
            <a:pPr lvl="0"/>
            <a:r>
              <a:rPr b="1"/>
              <a:t>Learning is a loop</a:t>
            </a:r>
            <a:r>
              <a:rPr/>
              <a:t>: predict, measure the loss, share out the blame, adjust the weights</a:t>
            </a:r>
          </a:p>
          <a:p>
            <a:pPr lvl="0"/>
            <a:r>
              <a:rPr/>
              <a:t>Low accuracy? First try learning rates ten times apart</a:t>
            </a:r>
          </a:p>
          <a:p>
            <a:pPr lvl="0"/>
            <a:r>
              <a:rPr b="1"/>
              <a:t>Fit the linear model first</a:t>
            </a:r>
            <a:r>
              <a:rPr/>
              <a:t>: its gap to a network says if one is needed</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39 points against 2.8</a:t>
            </a:r>
          </a:p>
        </p:txBody>
      </p:sp>
      <p:sp>
        <p:nvSpPr>
          <p:cNvPr id="3" name="Content Placeholder 2"/>
          <p:cNvSpPr>
            <a:spLocks noGrp="1"/>
          </p:cNvSpPr>
          <p:nvPr>
            <p:ph idx="1"/>
          </p:nvPr>
        </p:nvSpPr>
        <p:spPr>
          <a:xfrm>
            <a:off x="457200" y="1200151"/>
            <a:ext cx="8229600" cy="3394472"/>
          </a:xfrm>
        </p:spPr>
        <p:txBody>
          <a:bodyPr/>
          <a:lstStyle/>
          <a:p>
            <a:pPr lvl="0"/>
            <a:r>
              <a:rPr/>
              <a:t>One hidden layer on the acceptance test: </a:t>
            </a:r>
            <a:r>
              <a:rPr b="1"/>
              <a:t>+39.4 points</a:t>
            </a:r>
            <a:r>
              <a:rPr/>
              <a:t> (8 units, mean of 5 runs, 750 test sensors)</a:t>
            </a:r>
          </a:p>
          <a:p>
            <a:pPr lvl="0"/>
            <a:r>
              <a:rPr/>
              <a:t>One hidden layer on the digits: </a:t>
            </a:r>
            <a:r>
              <a:rPr b="1"/>
              <a:t>+2.8 points</a:t>
            </a:r>
            <a:r>
              <a:rPr/>
              <a:t> (32 units, mean of 3 runs, 360 validation images; 4.7 on another split)</a:t>
            </a:r>
          </a:p>
          <a:p>
            <a:pPr lvl="0"/>
            <a:r>
              <a:rPr/>
              <a:t>On the sensors the offsets act </a:t>
            </a:r>
            <a:r>
              <a:rPr b="1"/>
              <a:t>together</a:t>
            </a:r>
            <a:r>
              <a:rPr/>
              <a:t>; on the digits each pixel acts mostly </a:t>
            </a:r>
            <a:r>
              <a:rPr b="1"/>
              <a:t>on its own</a:t>
            </a:r>
          </a:p>
          <a:p>
            <a:pPr lvl="0"/>
            <a:r>
              <a:rPr/>
              <a:t>What a network is worth depends on the </a:t>
            </a:r>
            <a:r>
              <a:rPr b="1"/>
              <a:t>shape of the problem</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a:t>
            </a:r>
          </a:p>
        </p:txBody>
      </p:sp>
      <p:sp>
        <p:nvSpPr>
          <p:cNvPr id="3" name="Content Placeholder 2"/>
          <p:cNvSpPr>
            <a:spLocks noGrp="1"/>
          </p:cNvSpPr>
          <p:nvPr>
            <p:ph idx="1"/>
          </p:nvPr>
        </p:nvSpPr>
        <p:spPr>
          <a:xfrm>
            <a:off x="457200" y="1200151"/>
            <a:ext cx="8229600" cy="3394472"/>
          </a:xfrm>
        </p:spPr>
        <p:txBody>
          <a:bodyPr/>
          <a:lstStyle/>
          <a:p>
            <a:pPr lvl="0"/>
            <a:r>
              <a:rPr b="1"/>
              <a:t>Exercise 9</a:t>
            </a:r>
            <a:r>
              <a:rPr/>
              <a:t>, discussed at the start of lesson 10, </a:t>
            </a:r>
            <a:r>
              <a:rPr b="1"/>
              <a:t>Friday 11 December</a:t>
            </a:r>
          </a:p>
          <a:p>
            <a:pPr lvl="0"/>
            <a:r>
              <a:rPr>
                <a:latin typeface="Courier"/>
              </a:rPr>
              <a:t>Exercises/09_neural_networks.md</a:t>
            </a:r>
          </a:p>
          <a:p>
            <a:pPr lvl="0"/>
            <a:r>
              <a:rPr/>
              <a:t>Two batches from Meridian’s two final-test stations: on which one is a hidden layer worth it, and why?</a:t>
            </a:r>
          </a:p>
          <a:p>
            <a:pPr lvl="0"/>
            <a:r>
              <a:rPr/>
              <a:t>Next week starts from today’s last finding: permute the pixels consistently and nothing here notices</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 Neural Networks</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4 December 2026</vt:lpwstr>
  </property>
  <property fmtid="{D5CDD505-2E9C-101B-9397-08002B2CF9AE}" pid="3" name="subtitle">
    <vt:lpwstr>Technologies for Artificial Intelligence</vt:lpwstr>
  </property>
</Properties>
</file>