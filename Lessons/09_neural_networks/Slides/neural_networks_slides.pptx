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silhouette score was taken to prove, and listen for it being treated as validation of the clustering, which is precisely the blind spot section 4 of that lesson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selection-bias number in section 2 -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stops this lesson from being propaganda for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the stacking.</a:t>
            </a:r>
          </a:p>
          <a:p>
            <a:pPr lvl="0" indent="0" marL="0">
              <a:buNone/>
            </a:pPr>
          </a:p>
          <a:p>
            <a:pPr lvl="0" indent="0" marL="0">
              <a:buNone/>
            </a:pPr>
            <a:r>
              <a:rPr/>
              <a:t>Land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middle step is gone from the slide to keep the type readable: 1.25 squared over two is 0.78125, and that is the exponent. Do it out loud.</a:t>
            </a:r>
          </a:p>
          <a:p>
            <a:pPr lvl="0" indent="0" marL="0">
              <a:buNone/>
            </a:pPr>
          </a:p>
          <a:p>
            <a:pPr lvl="0" indent="0" marL="0">
              <a:buNone/>
            </a:pPr>
            <a:r>
              <a:rPr/>
              <a:t>For a standard two-dimensional normal the probability of landing inside a circle of radius s is one minus e to the minus s squared over two - a fact worth a moment, since it is the same integral that reappears in section 11 when the lesson computes how well a polygon of a given number of sides could fence this region.</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 at the bottom, which is the real content: even the best line that exists for this population reaches 0.6491, against a reachable 0.97. Three points of the first gap are the fit; thirty-two points of the second are the shape of the model family.</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banks that. That is the honest ceiling for the family.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are statistically unchanged, while any line becomes a different line. A quantity that must be invariant under a symmetry the model cannot represent has nowhere to go.</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deliberate ambush and it is worth pausing on. The brute-force search has none of the features students associate with overfitting: no parameters, no training, no capacity.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it is still not linearly separable,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introduced here as a piece of machinery rather than as a topic: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deep network as a stack of classifiers, each refining the last. It is not. Every layer but the final one is changing coordinates; only the last one classifies.</a:t>
            </a:r>
          </a:p>
          <a:p>
            <a:pPr lvl="0" indent="0" marL="0">
              <a:buNone/>
            </a:pPr>
          </a:p>
          <a:p>
            <a:pPr lvl="0" indent="0" marL="0">
              <a:buNone/>
            </a:pPr>
            <a:r>
              <a:rPr/>
              <a:t>That reading is also what makes the rest of the field intelligible: a convolutional layer, a recurrent layer, an embedding are all answers to the question “what coordinates would make this problem easy”, constrained in different ways.</a:t>
            </a:r>
          </a:p>
          <a:p>
            <a:pPr lvl="0" indent="0" marL="0">
              <a:buNone/>
            </a:pPr>
          </a:p>
          <a:p>
            <a:pPr lvl="0" indent="0" marL="0">
              <a:buNone/>
            </a:pPr>
            <a:r>
              <a:rPr/>
              <a:t>Forward-reference lesson 10 explicitly here, so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acceptance data, with a trained four-unit hidden layer. Left: the four lines those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 independent restarts at each width, on the drift problem. Two units are provably enough - the lesson wrote a two-unit solution down by hand three slides ago and it scored 0.9938 - and plain gradient descent finds something that good in four runs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and from most starting points it is downhill.</a:t>
            </a:r>
          </a:p>
          <a:p>
            <a:pPr lvl="0" indent="0" marL="0">
              <a:buNone/>
            </a:pPr>
          </a:p>
          <a:p>
            <a:pPr lvl="0" indent="0" marL="0">
              <a:buNone/>
            </a:pPr>
            <a:r>
              <a:rPr/>
              <a:t>The consequence is the honest reason production networks are wider than their task requires. The extra units are not extra capacity - they are extra starting points, so that some unit begins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whole of section 9’s subject.</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expressiveness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by broadcasting across rows: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and both are structural. The first is the licence for every batching, sharding and parallelism decision anybody makes later;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the seed of the entire backward pass.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Same idea, one dimension up,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 indicator is worth a beat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depth costs nothing conceptually and everything numerically.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the field exists: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The cell worth protecting if time runs short is the gradient check - watching the worst relative disagreement print as ten to the minus eight lands the previous slide far harder than reading it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there is appetite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The max-subtraction trick is a one-line implementation detail that students will hit for real the first time they write softmax themselves.</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the inputs vote roughly independently.</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the collapse of stacked linear layers is a one-line calculation and it is the reason the whole activation question exists. It is also worth naming the consequence: a network whose units have all saturated or all died has effectively performed that collapse on itself.</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methodological point wearing a numerical costume, and it is the habit worth more than the number. A single measurement of a compounding quantity is a draw from a distribution, and reporting its extreme as the headline is how plausible-looking folklore gets manufactured.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Protect the shrinkage measurement if time is short. Printing the eight per-layer factors themselves, and watching every one of them land between 3.9 and 4.3, is what makes the quarter-bound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a:p>
            <a:pPr lvl="0" indent="0" marL="0">
              <a:buNone/>
            </a:pPr>
          </a:p>
          <a:p>
            <a:pPr lvl="0" indent="0" marL="0">
              <a:buNone/>
            </a:pPr>
            <a:r>
              <a:rPr/>
              <a:t>IF THE CLOCK IS AGAINST YOU, THESE ARE THE THREE TO DROP. This slide, the figure after it, and “How large? Propagate the variance” are the segment’s initialisation block, and it is the only block notebook 3 does not use - that notebook opens on the learning rate and never mentions initialisation. The 0.6887 they would have seen here was measured in notebook 01, two hours ago, so it is not new to them either. The handout carries both halves in full: section 8.1 derives the freeze exactly, 8.2 the variance argument.</a:t>
            </a:r>
          </a:p>
          <a:p>
            <a:pPr lvl="0" indent="0" marL="0">
              <a:buNone/>
            </a:pPr>
          </a:p>
          <a:p>
            <a:pPr lvl="0" indent="0" marL="0">
              <a:buNone/>
            </a:pPr>
            <a:r>
              <a:rPr/>
              <a:t>Dropping the three removes about a fifth of this segment’s spoken content, which is the difference between the material it holds and the time it has. Say out loud that you are skipping them and why - “the handout does this properly and the notebook does not need it” - because a silent skip reads as running out of time, and this one is a decision.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a:p>
            <a:pPr lvl="0" indent="0" marL="0">
              <a:buNone/>
            </a:pPr>
          </a:p>
          <a:p>
            <a:pPr lvl="0" indent="0" marL="0">
              <a:buNone/>
            </a:pPr>
            <a:r>
              <a:rPr/>
              <a:t>Second of the three slides the note on “Zero cannot work” marks as droppable if the clock is against you.</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a:p>
            <a:pPr lvl="0" indent="0" marL="0">
              <a:buNone/>
            </a:pPr>
          </a:p>
          <a:p>
            <a:pPr lvl="0" indent="0" marL="0">
              <a:buNone/>
            </a:pPr>
            <a:r>
              <a:rPr/>
              <a:t>Third of the three slides the note on “Zero cannot work” marks as droppable if the clock is against you. If you keep only one of the three, keep this one - He initialisation is the line they will actually type.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The last bullet is a second instance of the same family.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Land the last bullet rather than the drama.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a third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 marketing table: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curated.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protect.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That is the fifth of these carry-home numbers the course has produced: 77% accuracy on coin-flip labels, 94 of 128 imputed rows that borrowed from the test set, a coefficient of 365 where an unpenalised fit wanted billions, 37 of 40 disguised accounts caught by reconstruction error, and now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10, Friday 27 November.</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20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a:t>
            </a:r>
            <a:r>
              <a:rPr b="1"/>
              <a:t>what the metric could see</a:t>
            </a:r>
            <a:r>
              <a:rPr/>
              <a:t>, not the score itself</a:t>
            </a:r>
          </a:p>
          <a:p>
            <a:pPr lvl="0"/>
            <a:r>
              <a:rPr/>
              <a:t>The gap to watch for: a silhouette reported as endorsement of a clustering, when it can only endorse roundness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unchanged</a:t>
            </a:r>
          </a:p>
          <a:p>
            <a:pPr lvl="0"/>
            <a:r>
              <a:rPr/>
              <a:t>What is new is one word: </a:t>
            </a:r>
            <a:r>
              <a:rPr b="1"/>
              <a:t>component</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39789"/>
            <a:ext cx="8229600" cy="81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2,250 training sensors, 3,000 generated in all</a:t>
            </a:r>
          </a:p>
          <a:p>
            <a:pPr lvl="0"/>
            <a:r>
              <a:rPr/>
              <a:t>So the accept region is the inside of a </a:t>
            </a:r>
            <a:r>
              <a:rPr b="1"/>
              <a:t>closed curve</a:t>
            </a:r>
          </a:p>
          <a:p>
            <a:pPr lvl="0"/>
            <a:r>
              <a:rPr/>
              <a:t>And no straight line encloses anything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Gain tolerance </a:t>
            </a:r>
            <a:r>
              <a:rPr b="1"/>
              <a:t>0.50</a:t>
            </a:r>
            <a:r>
              <a:rPr/>
              <a:t>, production spread </a:t>
            </a:r>
            <a:r>
              <a:rPr b="1"/>
              <a:t>0.40</a:t>
            </a:r>
          </a:p>
          <a:p>
            <a:pPr lvl="0"/>
            <a:r>
              <a:rPr/>
              <a:t>Phase tolerance </a:t>
            </a:r>
            <a:r>
              <a:rPr b="1"/>
              <a:t>3.75</a:t>
            </a:r>
            <a:r>
              <a:rPr/>
              <a:t>, production spread </a:t>
            </a:r>
            <a:r>
              <a:rPr b="1"/>
              <a:t>3.00</a:t>
            </a:r>
          </a:p>
          <a:p>
            <a:pPr lvl="0"/>
            <a:r>
              <a:rPr/>
              <a:t>Both are exactly </a:t>
            </a:r>
            <a:r>
              <a:rPr b="1"/>
              <a:t>1.25 spreads</a:t>
            </a:r>
            <a:r>
              <a:rPr/>
              <a:t>, so standardised, the accept region is a circle of radius 1.25</a:t>
            </a:r>
          </a:p>
          <a:p>
            <a:pPr lvl="0"/>
            <a:r>
              <a:rPr/>
              <a:t>Two units, two tolerances, one shared shape</a:t>
            </a:r>
          </a:p>
          <a:p>
            <a:pPr lvl="0"/>
            <a:r>
              <a:rPr b="1"/>
              <a:t>0.5497</a:t>
            </a:r>
            <a:r>
              <a:rPr/>
              <a:t> of the 3,000 generated units fall inside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fraction of units the circle holds</a:t>
            </a:r>
          </a:p>
        </p:txBody>
      </p:sp>
      <p:pic>
        <p:nvPicPr>
          <p:cNvPr descr="eq_e163dd354e.png" id="0" name="Picture 1"/>
          <p:cNvPicPr>
            <a:picLocks noGrp="1" noChangeAspect="1"/>
          </p:cNvPicPr>
          <p:nvPr/>
        </p:nvPicPr>
        <p:blipFill>
          <a:blip r:embed="rId3"/>
          <a:stretch>
            <a:fillRect/>
          </a:stretch>
        </p:blipFill>
        <p:spPr bwMode="auto">
          <a:xfrm>
            <a:off x="457200" y="2547739"/>
            <a:ext cx="8229600" cy="596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and the correct answer to the question a line can ask</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for the population, with no test set: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Removable only when the two drifts </a:t>
            </a:r>
            <a:r>
              <a:rPr b="1"/>
              <a:t>share a sign</a:t>
            </a:r>
            <a:r>
              <a:rPr/>
              <a:t>; opposite drifts are not</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 each max(0, ·) of the same sum</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constrained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accuracy</a:t>
                      </a:r>
                    </a:p>
                  </a:txBody>
                  <a:tcPr/>
                </a:tc>
                <a:tc>
                  <a:txBody>
                    <a:bodyPr/>
                    <a:lstStyle/>
                    <a:p>
                      <a:pPr lvl="0" indent="0" marL="0">
                        <a:buNone/>
                      </a:pPr>
                      <a:r>
                        <a:rPr/>
                        <a:t>best of 20</a:t>
                      </a:r>
                    </a:p>
                  </a:txBody>
                  <a:tcPr/>
                </a:tc>
                <a:tc>
                  <a:txBody>
                    <a:bodyPr/>
                    <a:lstStyle/>
                    <a:p>
                      <a:pPr lvl="0" indent="0" marL="0">
                        <a:buNone/>
                      </a:pPr>
                      <a:r>
                        <a:rPr/>
                        <a:t>runs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This course puts examples in </a:t>
            </a:r>
            <a:r>
              <a:rPr b="1"/>
              <a:t>rows</a:t>
            </a:r>
            <a:r>
              <a:rPr/>
              <a:t>: as scikit-learn and Keras do</a:t>
            </a:r>
          </a:p>
          <a:p>
            <a:pPr lvl="0"/>
            <a:r>
              <a:rPr/>
              <a:t>Textbooks often use columns, and every transpose flips if you do</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 layer 1</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 layer 1</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 and A, layer 1</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 layer 2</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ŷ</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42939"/>
            <a:ext cx="8229600" cy="1206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301,066 of them, for one step</a:t>
            </a:r>
          </a:p>
          <a:p>
            <a:pPr lvl="0"/>
            <a:r>
              <a:rPr b="1"/>
              <a:t>Differentiate symbolically</a:t>
            </a:r>
            <a:r>
              <a:rPr/>
              <a:t>: the same sub-expressions, thousands of times</a:t>
            </a:r>
          </a:p>
          <a:p>
            <a:pPr lvl="0"/>
            <a:r>
              <a:rPr/>
              <a:t>Both correct. Both unusable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derivative of the cost with respect to a layer’s </a:t>
            </a:r>
            <a:r>
              <a:rPr b="1"/>
              <a:t>pre-activations</a:t>
            </a:r>
          </a:p>
          <a:p>
            <a:pPr lvl="0"/>
            <a:r>
              <a:rPr/>
              <a:t>Given it for one layer: that layer’s weight gradients, </a:t>
            </a:r>
            <a:r>
              <a:rPr b="1"/>
              <a:t>and</a:t>
            </a:r>
            <a:r>
              <a:rPr/>
              <a:t> the layer below</a:t>
            </a:r>
          </a:p>
          <a:p>
            <a:pPr lvl="0"/>
            <a:r>
              <a:rPr/>
              <a:t>One backward sweep produces every gradient in the network</a:t>
            </a:r>
          </a:p>
          <a:p>
            <a:pPr lvl="0"/>
            <a:r>
              <a:rPr b="1"/>
              <a:t>A weight’s gradient is how wrong the layer above was, times what this weight contributed</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2068052" y="2351582"/>
            <a:ext cx="5007895" cy="989214"/>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against a central difference: error of order h²</a:t>
            </a:r>
          </a:p>
          <a:p>
            <a:pPr lvl="0"/>
            <a:r>
              <a:rPr/>
              <a:t>Notebook 01: worst disagreement 1.97 × 10⁻⁸, median 7.83 × 10⁻¹¹</a:t>
            </a:r>
          </a:p>
          <a:p>
            <a:pPr lvl="0"/>
            <a:r>
              <a:rPr b="1"/>
              <a:t>Below 10⁻⁶ believe it; above 10⁻⁴ there is a bug</a:t>
            </a:r>
          </a:p>
          <a:p>
            <a:pPr lvl="0"/>
            <a:r>
              <a:rPr/>
              <a:t>Four lines of code, and not optional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Backpropagation from scratch, gradient-checked before it is trusted</a:t>
            </a:r>
          </a:p>
          <a:p>
            <a:pPr lvl="0"/>
            <a:r>
              <a:rPr/>
              <a:t>The two-unit hand-built network, then the same problem trained from 20 random starts at each width</a:t>
            </a:r>
          </a:p>
          <a:p>
            <a:pPr lvl="0"/>
            <a:r>
              <a:rPr/>
              <a:t>The polygon yardstick: how well could H lines fence a circle?</a:t>
            </a:r>
          </a:p>
          <a:p>
            <a:pPr lvl="0"/>
            <a:r>
              <a:rPr/>
              <a:t>The one initialisation that cannot work, and the cost it converges to</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reduces to the sigmoid: one construction, two sizes</a:t>
            </a:r>
          </a:p>
          <a:p>
            <a:pPr lvl="0"/>
            <a:r>
              <a:rPr/>
              <a:t>The loss is categorical cross-entropy: minus the log probability given to the true class</a:t>
            </a:r>
          </a:p>
          <a:p>
            <a:pPr lvl="0"/>
            <a:r>
              <a:rPr/>
              <a:t>The gradient at the output is again </a:t>
            </a:r>
            <a:r>
              <a:rPr b="1"/>
              <a:t>ŷ − y</a:t>
            </a:r>
            <a:r>
              <a:rPr/>
              <a:t>, so everything derived before the break applies unchanged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1342506" y="1769691"/>
            <a:ext cx="6458988" cy="2152996"/>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the acceptance rule needed two measurements </a:t>
            </a:r>
            <a:r>
              <a:rPr b="1"/>
              <a:t>at once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Initialisation leaves the weight factor near 1, so the derivative decides: </a:t>
            </a:r>
            <a:r>
              <a:rPr b="1"/>
              <a:t>each sigmoid layer divides the gradient by about four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End-to-end ratio, last weight matrix to first: median </a:t>
            </a:r>
            <a:r>
              <a:rPr b="1"/>
              <a:t>3,547</a:t>
            </a:r>
          </a:p>
          <a:p>
            <a:pPr lvl="0"/>
            <a:r>
              <a:rPr/>
              <a:t>Over the same eight seeds it ranges </a:t>
            </a:r>
            <a:r>
              <a:rPr b="1"/>
              <a:t>2,734 to 4,607</a:t>
            </a:r>
          </a:p>
          <a:p>
            <a:pPr lvl="0"/>
            <a:r>
              <a:rPr/>
              <a:t>Quoting the largest reports one draw as a law</a:t>
            </a:r>
          </a:p>
          <a:p>
            <a:pPr lvl="0"/>
            <a:r>
              <a:rPr b="1"/>
              <a:t>The per-layer factor of about 4 is the property</a:t>
            </a:r>
          </a:p>
          <a:p>
            <a:pPr lvl="0"/>
            <a:r>
              <a:rPr/>
              <a:t>By depth: 9.5, 170, 3,553, 46,250 at two, four, six and eight layers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it is </a:t>
            </a:r>
            <a:r>
              <a:rPr i="1"/>
              <a:t>where its derivative is bounded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same network again, this time in six lines of Keras, and the same answer</a:t>
            </a:r>
          </a:p>
          <a:p>
            <a:pPr lvl="0"/>
            <a:r>
              <a:rPr/>
              <a:t>Softmax on ten classes, and the depth comparison behind the table</a:t>
            </a:r>
          </a:p>
          <a:p>
            <a:pPr lvl="0"/>
            <a:r>
              <a:rPr/>
              <a:t>The per-layer gradient shrinkage, measured across eight seeds at five depths</a:t>
            </a:r>
          </a:p>
          <a:p>
            <a:pPr lvl="0"/>
            <a:r>
              <a:rPr/>
              <a:t>How big the random weights should be, and what happens at both extremes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every gradient is exactly zero</a:t>
            </a:r>
          </a:p>
          <a:p>
            <a:pPr lvl="0"/>
            <a:r>
              <a:rPr b="1"/>
              <a:t>Only the output bias ever moves</a:t>
            </a:r>
          </a:p>
          <a:p>
            <a:pPr lvl="0"/>
            <a:r>
              <a:rPr/>
              <a:t>The bias converges to the base rate, so the cost converges to the label entropy: </a:t>
            </a:r>
            <a:r>
              <a:rPr b="1"/>
              <a:t>0.6887 predicted, 0.6887 measured</a:t>
            </a:r>
          </a:p>
          <a:p>
            <a:pPr lvl="0"/>
            <a:r>
              <a:rPr/>
              <a:t>Distinct hidden columns: </a:t>
            </a:r>
            <a:r>
              <a:rPr b="1"/>
              <a:t>1 of 32</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a:t>
            </a:r>
            <a:r>
              <a:rPr b="1"/>
              <a:t>Glorot</a:t>
            </a:r>
            <a:r>
              <a:rPr/>
              <a:t>. ReLU halves it, so it wants 2/n: </a:t>
            </a:r>
            <a:r>
              <a:rPr b="1"/>
              <a:t>He</a:t>
            </a:r>
          </a:p>
          <a:p>
            <a:pPr lvl="0"/>
            <a:r>
              <a:rPr b="1"/>
              <a:t>Too small collapses</a:t>
            </a:r>
            <a:r>
              <a:rPr/>
              <a:t>: indistinguishable from zero by layer 4</a:t>
            </a:r>
          </a:p>
          <a:p>
            <a:pPr lvl="0"/>
            <a:r>
              <a:rPr b="1"/>
              <a:t>Too large saturates</a:t>
            </a:r>
            <a:r>
              <a:rPr/>
              <a:t> rather than exploding: 73% of the last layer past 0.99</a:t>
            </a:r>
          </a:p>
          <a:p>
            <a:pPr lvl="0"/>
            <a:r>
              <a:rPr/>
              <a:t>Glorot loses half its spread over eight layers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accuracy 0.9583 against a best of 0.9667</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noisy, unbiased, vectorises</a:t>
            </a:r>
          </a:p>
          <a:p>
            <a:pPr lvl="0"/>
            <a:r>
              <a:rPr b="1"/>
              <a:t>Momentum</a:t>
            </a:r>
            <a:r>
              <a:rPr/>
              <a:t> averages past gradients: oscillations cancel, and lesson 3’s stretched valley is repaired</a:t>
            </a:r>
          </a:p>
          <a:p>
            <a:pPr lvl="0"/>
            <a:r>
              <a:rPr b="1"/>
              <a:t>Adam (adaptive moment estimation)</a:t>
            </a:r>
            <a:r>
              <a:rPr/>
              <a:t>: a per-parameter step size</a:t>
            </a:r>
          </a:p>
          <a:p>
            <a:pPr lvl="0"/>
            <a:r>
              <a:rPr/>
              <a:t>Which is what makes it forgiving of a badly chosen global α</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learning-rate sweep and the dead-unit count, from scratch</a:t>
            </a:r>
          </a:p>
          <a:p>
            <a:pPr lvl="0"/>
            <a:r>
              <a:rPr/>
              <a:t>Plain descent, momentum and Adam from an identical start</a:t>
            </a:r>
          </a:p>
          <a:p>
            <a:pPr lvl="0"/>
            <a:r>
              <a:rPr b="1"/>
              <a:t>301,066 parameters on 300 examples</a:t>
            </a:r>
            <a:r>
              <a:rPr/>
              <a:t>: memorises, generalises anyway</a:t>
            </a:r>
          </a:p>
          <a:p>
            <a:pPr lvl="0"/>
            <a:r>
              <a:rPr/>
              <a:t>Validation </a:t>
            </a:r>
            <a:r>
              <a:rPr i="1"/>
              <a:t>loss</a:t>
            </a:r>
            <a:r>
              <a:rPr/>
              <a:t> climbs while </a:t>
            </a:r>
            <a:r>
              <a:rPr i="1"/>
              <a:t>accuracy</a:t>
            </a:r>
            <a:r>
              <a:rPr/>
              <a:t> stays flat</a:t>
            </a:r>
          </a:p>
          <a:p>
            <a:pPr lvl="0"/>
            <a:r>
              <a:rPr/>
              <a:t>More data beats more tuning, three to one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discussed at the start of </a:t>
            </a:r>
            <a:r>
              <a:rPr b="1"/>
              <a:t>Friday 27 November</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 November 2026</vt:lpwstr>
  </property>
  <property fmtid="{D5CDD505-2E9C-101B-9397-08002B2CF9AE}" pid="3" name="subtitle">
    <vt:lpwstr>Technologies for Artificial Intelligence</vt:lpwstr>
  </property>
</Properties>
</file>