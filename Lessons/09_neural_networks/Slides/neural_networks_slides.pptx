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8 briefly. One sentence on what went well, one on the recurring gap — several reports quoted a silhouette score as though it validated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stops this lesson from being propaganda for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deliberate ambush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expressiveness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the licence for every batching, sharding and parallelism decision anybody makes later;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depth costs nothing conceptually and everything numerically.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The cell worth protecting if time runs short is the gradient check — watching the worst relative disagreement print as ten to the minus eight lands the previous slide far harder than reading it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methodological point wearing a numerical costume, and it is the habit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Protect the shrinkage measurement if time is short.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The last bullet is a second instance of the same family.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Land the last bullet rather than the drama.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The figure is in handout section 7.4, and notebook 03 reproduces the sweep.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 marketing table: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protect.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That is the fifth of these carry-home numbers the course has produced: 77% accuracy on coin-flip labels, 98 of 128 imputed rows that borrowed from the test set, an overfitted coefficient of 247,514, 37 of 40 disguised accounts caught by reconstruction error, and now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27 November, 23:59, at the start of lesson 10.</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 and exactly where that runs out</a:t>
            </a:r>
          </a:p>
          <a:p>
            <a:pPr lvl="0"/>
            <a:r>
              <a:rPr/>
              <a:t>Forward propagation, and backpropagation derived right to left</a:t>
            </a:r>
          </a:p>
          <a:p>
            <a:pPr lvl="0"/>
            <a:r>
              <a:rPr/>
              <a:t>Softmax, activations, and the vanishing gradient</a:t>
            </a:r>
          </a:p>
          <a:p>
            <a:pPr lvl="0"/>
            <a:r>
              <a:rPr/>
              <a:t>Initialisation, optimisers, regularisation —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returned</a:t>
            </a:r>
          </a:p>
        </p:txBody>
      </p:sp>
      <p:sp>
        <p:nvSpPr>
          <p:cNvPr id="3" name="Content Placeholder 2"/>
          <p:cNvSpPr>
            <a:spLocks noGrp="1"/>
          </p:cNvSpPr>
          <p:nvPr>
            <p:ph idx="1"/>
          </p:nvPr>
        </p:nvSpPr>
        <p:spPr>
          <a:xfrm>
            <a:off x="457200" y="1200151"/>
            <a:ext cx="8229600" cy="3394472"/>
          </a:xfrm>
        </p:spPr>
        <p:txBody>
          <a:bodyPr/>
          <a:lstStyle/>
          <a:p>
            <a:pPr lvl="0"/>
            <a:r>
              <a:rPr/>
              <a:t>Marks were for </a:t>
            </a:r>
            <a:r>
              <a:rPr b="1"/>
              <a:t>what the metric could see</a:t>
            </a:r>
            <a:r>
              <a:rPr/>
              <a:t>, not for the score itself</a:t>
            </a:r>
          </a:p>
          <a:p>
            <a:pPr lvl="0"/>
            <a:r>
              <a:rPr/>
              <a:t>Recurring gap: a silhouette reported as endorsement of a clustering, when it can only endorse roundness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unchanged</a:t>
            </a:r>
          </a:p>
          <a:p>
            <a:pPr lvl="0"/>
            <a:r>
              <a:rPr/>
              <a:t>What is new is one word — </a:t>
            </a:r>
            <a:r>
              <a:rPr b="1"/>
              <a:t>component</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20739"/>
            <a:ext cx="8229600" cy="85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2,250 training sensors, 3,000 generated in all</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a:t>
            </a:r>
            <a:r>
              <a:rPr b="1"/>
              <a:t>0.40</a:t>
            </a:r>
          </a:p>
          <a:p>
            <a:pPr lvl="0"/>
            <a:r>
              <a:rPr/>
              <a:t>Phase tolerance </a:t>
            </a:r>
            <a:r>
              <a:rPr b="1"/>
              <a:t>3.75</a:t>
            </a:r>
            <a:r>
              <a:rPr/>
              <a:t>, production spread </a:t>
            </a:r>
            <a:r>
              <a:rPr b="1"/>
              <a:t>3.00</a:t>
            </a:r>
          </a:p>
          <a:p>
            <a:pPr lvl="0"/>
            <a:r>
              <a:rPr/>
              <a:t>Both are exactly </a:t>
            </a:r>
            <a:r>
              <a:rPr b="1"/>
              <a:t>1.25 spreads</a:t>
            </a:r>
            <a:r>
              <a:rPr/>
              <a:t> —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41bc9429f3.png" id="0" name="Picture 1"/>
          <p:cNvPicPr>
            <a:picLocks noGrp="1" noChangeAspect="1"/>
          </p:cNvPicPr>
          <p:nvPr/>
        </p:nvPicPr>
        <p:blipFill>
          <a:blip r:embed="rId3"/>
          <a:stretch>
            <a:fillRect/>
          </a:stretch>
        </p:blipFill>
        <p:spPr bwMode="auto">
          <a:xfrm>
            <a:off x="457200" y="2585839"/>
            <a:ext cx="8229600" cy="5207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 and the correct answer to the question a line can ask</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for the population, with no test set: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Same-direction drift: removable. Opposite drift: not</a:t>
            </a:r>
          </a:p>
          <a:p>
            <a:pPr lvl="0"/>
            <a:r>
              <a:rPr/>
              <a:t>Correctable when the two drifts </a:t>
            </a:r>
            <a:r>
              <a:rPr b="1"/>
              <a:t>share a sign</a:t>
            </a:r>
          </a:p>
          <a:p>
            <a:pPr lvl="0"/>
            <a:r>
              <a:rPr/>
              <a:t>That is the exclusive-or (XOR) function</a:t>
            </a:r>
          </a:p>
          <a:p>
            <a:pPr lvl="0"/>
            <a:r>
              <a:rPr/>
              <a:t>Four clouds of 200 units; a line scores exactly </a:t>
            </a:r>
            <a:r>
              <a:rPr b="1"/>
              <a:t>0.5000</a:t>
            </a:r>
          </a:p>
          <a:p>
            <a:pPr lvl="0"/>
            <a:r>
              <a:rPr/>
              <a:t>Coding the channels as ± 1, the rule is about |a + b|</a:t>
            </a:r>
          </a:p>
          <a:p>
            <a:pPr lvl="0"/>
            <a:r>
              <a:rPr/>
              <a:t>“Large in absolute value” is the outside of a strip</a:t>
            </a:r>
          </a:p>
          <a:p>
            <a:pPr lvl="0"/>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a:t>Over all 800 units, </a:t>
            </a:r>
            <a:r>
              <a:rPr b="1"/>
              <a:t>nothing trained</a:t>
            </a:r>
            <a:r>
              <a:rPr/>
              <a:t>, it scores </a:t>
            </a:r>
            <a:r>
              <a:rPr b="1"/>
              <a:t>0.9938</a:t>
            </a:r>
          </a:p>
          <a:p>
            <a:pPr lvl="0"/>
            <a:r>
              <a:rPr/>
              <a:t>Chosen by reasoning about the problem, and they work</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constrained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This course puts examples in </a:t>
            </a:r>
            <a:r>
              <a:rPr b="1"/>
              <a:t>rows</a:t>
            </a:r>
            <a:r>
              <a:rPr/>
              <a:t> — as scikit-learn and Keras do</a:t>
            </a:r>
          </a:p>
          <a:p>
            <a:pPr lvl="0"/>
            <a:r>
              <a:rPr/>
              <a:t>Textbooks often use columns, and every transpose flips if you do</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W[¹]</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b[¹]</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Z[¹], A[¹]</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W[²]</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y</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04839"/>
            <a:ext cx="8229600" cy="128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 301,066 of them,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derivative of the cost with respect to a layer’s </a:t>
            </a:r>
            <a:r>
              <a:rPr b="1"/>
              <a:t>pre-activations</a:t>
            </a:r>
          </a:p>
          <a:p>
            <a:pPr lvl="0"/>
            <a:r>
              <a:rPr/>
              <a:t>Given it for one layer: that layer’s weight gradients, </a:t>
            </a:r>
            <a:r>
              <a:rPr b="1"/>
              <a:t>and</a:t>
            </a:r>
            <a:r>
              <a:rPr/>
              <a:t> the layer below</a:t>
            </a:r>
          </a:p>
          <a:p>
            <a:pPr lvl="0"/>
            <a:r>
              <a:rPr/>
              <a:t>One backward sweep produces every gradient in the network</a:t>
            </a:r>
          </a:p>
          <a:p>
            <a:pPr lvl="0"/>
            <a:r>
              <a:rPr b="1"/>
              <a:t>A weight’s gradient is how wrong the layer above was, times what this weight contributed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457202" y="1976240"/>
            <a:ext cx="8229595" cy="1739899"/>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5" y="2408040"/>
            <a:ext cx="8229590" cy="8762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 this is what makes training feasible at all</a:t>
            </a:r>
          </a:p>
          <a:p>
            <a:pPr lvl="0"/>
            <a:r>
              <a:rPr/>
              <a:t>But every layer’s activations must be </a:t>
            </a:r>
            <a:r>
              <a:rPr b="1"/>
              <a:t>stored</a:t>
            </a:r>
          </a:p>
          <a:p>
            <a:pPr lvl="0"/>
            <a:r>
              <a:rPr/>
              <a:t>Memory grows with depth times batch size —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against a central difference — error of order h²</a:t>
            </a:r>
          </a:p>
          <a:p>
            <a:pPr lvl="0"/>
            <a:r>
              <a:rPr/>
              <a:t>Notebook 01: worst disagreement 1.97 × 10⁻⁸, median 7.83 × 10⁻¹¹</a:t>
            </a:r>
          </a:p>
          <a:p>
            <a:pPr lvl="0"/>
            <a:r>
              <a:rPr b="1"/>
              <a:t>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Backpropagation written from scratch, and gradient-checked before it is trusted with anything</a:t>
            </a:r>
          </a:p>
          <a:p>
            <a:pPr lvl="0"/>
            <a:r>
              <a:rPr/>
              <a:t>The two-unit hand-built network, then the same problem trained from 20 random starts at each width</a:t>
            </a:r>
          </a:p>
          <a:p>
            <a:pPr lvl="0"/>
            <a:r>
              <a:rPr/>
              <a:t>The polygon yardstick: how well could H lines possibly fence a circle?</a:t>
            </a:r>
          </a:p>
          <a:p>
            <a:pPr lvl="0"/>
            <a:r>
              <a:rPr/>
              <a:t>The one initialisation that cannot work, and the exact cost it converges to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reduces to the sigmoid — one construction, two sizes</a:t>
            </a:r>
          </a:p>
          <a:p>
            <a:pPr lvl="0"/>
            <a:r>
              <a:rPr/>
              <a:t>The loss is categorical cross-entropy: minus the log probability given to the true class</a:t>
            </a:r>
          </a:p>
          <a:p>
            <a:pPr lvl="0"/>
            <a:r>
              <a:rPr/>
              <a:t>The gradient at the output is again </a:t>
            </a:r>
            <a:r>
              <a:rPr b="1"/>
              <a:t>ŷ − y</a:t>
            </a:r>
            <a:r>
              <a:rPr/>
              <a:t>, so everything derived before the break applies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 the activation is the entire reason depth buys anything</a:t>
            </a:r>
          </a:p>
          <a:p>
            <a:pPr lvl="0"/>
            <a:r>
              <a:rPr/>
              <a:t>The sigmoid’s derivative σ(z)(1 − σ(z)) peaks at </a:t>
            </a:r>
            <a:r>
              <a:rPr b="1"/>
              <a:t>¼</a:t>
            </a:r>
            <a:r>
              <a:rPr/>
              <a:t>, at zero and nowhere else</a:t>
            </a:r>
          </a:p>
          <a:p>
            <a:pPr lvl="0"/>
            <a:r>
              <a:rPr/>
              <a:t>Backpropagation multiplies by it </a:t>
            </a:r>
            <a:r>
              <a:rPr b="1"/>
              <a:t>once per layer</a:t>
            </a:r>
          </a:p>
          <a:p>
            <a:pPr lvl="0"/>
            <a:r>
              <a:rPr/>
              <a:t>Initialisation makes the weight factor about 1, leaving the derivative in charge — so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End-to-end ratio, last weight matrix to first: median </a:t>
            </a:r>
            <a:r>
              <a:rPr b="1"/>
              <a:t>3,547</a:t>
            </a:r>
          </a:p>
          <a:p>
            <a:pPr lvl="0"/>
            <a:r>
              <a:rPr/>
              <a:t>Across the same eight seeds it ranges </a:t>
            </a:r>
            <a:r>
              <a:rPr b="1"/>
              <a:t>2,734 to 4,607</a:t>
            </a:r>
          </a:p>
          <a:p>
            <a:pPr lvl="0"/>
            <a:r>
              <a:rPr/>
              <a:t>Quoting the largest would report one draw as though it were a law</a:t>
            </a:r>
          </a:p>
          <a:p>
            <a:pPr lvl="0"/>
            <a:r>
              <a:rPr b="1"/>
              <a:t>The per-layer factor of about 4 is the property</a:t>
            </a:r>
          </a:p>
          <a:p>
            <a:pPr lvl="0"/>
            <a:r>
              <a:rPr/>
              <a:t>By depth: 9.5 at two layers, 170 at four, 3,553 at six, 46,250 at eight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same network again, this time in six lines of Keras — and the same answer</a:t>
            </a:r>
          </a:p>
          <a:p>
            <a:pPr lvl="0"/>
            <a:r>
              <a:rPr/>
              <a:t>Softmax on ten classes, and the depth comparison behind the table</a:t>
            </a:r>
          </a:p>
          <a:p>
            <a:pPr lvl="0"/>
            <a:r>
              <a:rPr/>
              <a:t>The per-layer gradient shrinkage, measured across eight seeds at five depths</a:t>
            </a:r>
          </a:p>
          <a:p>
            <a:pPr lvl="0"/>
            <a:r>
              <a:rPr/>
              <a:t>How big the random weights should be, and what happens at both extremes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 hidden and output weights both receive exactly zero gradient</a:t>
            </a:r>
          </a:p>
          <a:p>
            <a:pPr lvl="0"/>
            <a:r>
              <a:rPr b="1"/>
              <a:t>Every parameter is frozen except the output bias</a:t>
            </a:r>
          </a:p>
          <a:p>
            <a:pPr lvl="0"/>
            <a:r>
              <a:rPr/>
              <a:t>That bias converges to the base rate, so the cost converges to the label entropy: </a:t>
            </a:r>
            <a:r>
              <a:rPr b="1"/>
              <a:t>0.6887 predicted, 0.6887 measured</a:t>
            </a:r>
          </a:p>
          <a:p>
            <a:pPr lvl="0"/>
            <a:r>
              <a:rPr/>
              <a:t>Distinct hidden columns afterwards: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 </a:t>
            </a:r>
            <a:r>
              <a:rPr b="1"/>
              <a:t>Glorot</a:t>
            </a:r>
            <a:r>
              <a:rPr/>
              <a:t>. The ReLU halves it again, so it wants 2/n — </a:t>
            </a:r>
            <a:r>
              <a:rPr b="1"/>
              <a:t>He</a:t>
            </a:r>
          </a:p>
          <a:p>
            <a:pPr lvl="0"/>
            <a:r>
              <a:rPr b="1"/>
              <a:t>Too small collapses</a:t>
            </a:r>
            <a:r>
              <a:rPr/>
              <a:t>: indistinguishable from zero by layer 4</a:t>
            </a:r>
          </a:p>
          <a:p>
            <a:pPr lvl="0"/>
            <a:r>
              <a:rPr b="1"/>
              <a:t>Too large saturates</a:t>
            </a:r>
            <a:r>
              <a:rPr/>
              <a:t> rather than exploding: 73% of the last layer past 0.99 in absolute value</a:t>
            </a:r>
          </a:p>
          <a:p>
            <a:pPr lvl="0"/>
            <a:r>
              <a:rPr/>
              <a:t>Glorot loses about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noisy, unbiased, vectorises</a:t>
            </a:r>
          </a:p>
          <a:p>
            <a:pPr lvl="0"/>
            <a:r>
              <a:rPr b="1"/>
              <a:t>Momentum</a:t>
            </a:r>
            <a:r>
              <a:rPr/>
              <a:t> averages past gradients — oscillations cancel, and lesson 3’s stretched valley is repaired</a:t>
            </a:r>
          </a:p>
          <a:p>
            <a:pPr lvl="0"/>
            <a:r>
              <a:rPr b="1"/>
              <a:t>Adam (adaptive moment estimation)</a:t>
            </a:r>
            <a:r>
              <a:rPr/>
              <a:t>: a per-parameter step size</a:t>
            </a:r>
          </a:p>
          <a:p>
            <a:pPr lvl="0"/>
            <a:r>
              <a:rPr/>
              <a:t>Which is what makes it forgiving of a badly chosen global α</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learning-rate sweep and the dead-unit count, from scratch</a:t>
            </a:r>
          </a:p>
          <a:p>
            <a:pPr lvl="0"/>
            <a:r>
              <a:rPr/>
              <a:t>Plain descent, momentum and Adam from an identical start</a:t>
            </a:r>
          </a:p>
          <a:p>
            <a:pPr lvl="0"/>
            <a:r>
              <a:rPr b="1"/>
              <a:t>301,066 parameters on 300 examples</a:t>
            </a:r>
            <a:r>
              <a:rPr/>
              <a:t> — memorises, generalises anyway</a:t>
            </a:r>
          </a:p>
          <a:p>
            <a:pPr lvl="0"/>
            <a:r>
              <a:rPr/>
              <a:t>Validation </a:t>
            </a:r>
            <a:r>
              <a:rPr i="1"/>
              <a:t>loss</a:t>
            </a:r>
            <a:r>
              <a:rPr/>
              <a:t> climbs while </a:t>
            </a:r>
            <a:r>
              <a:rPr i="1"/>
              <a:t>accuracy</a:t>
            </a:r>
            <a:r>
              <a:rPr/>
              <a:t> stays flat</a:t>
            </a:r>
          </a:p>
          <a:p>
            <a:pPr lvl="0"/>
            <a:r>
              <a:rPr/>
              <a:t>More data beats more tuning, three to one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 three enclose a region, one never does</a:t>
            </a:r>
          </a:p>
          <a:p>
            <a:pPr lvl="0"/>
            <a:r>
              <a:rPr/>
              <a:t>A hidden layer does not classify: it </a:t>
            </a:r>
            <a:r>
              <a:rPr b="1"/>
              <a:t>moves the data</a:t>
            </a:r>
          </a:p>
          <a:p>
            <a:pPr lvl="0"/>
            <a:r>
              <a:rPr b="1"/>
              <a:t>Backpropagation is the chain rule right to left</a:t>
            </a:r>
            <a:r>
              <a:rPr/>
              <a:t> — so gradient-check it</a:t>
            </a:r>
          </a:p>
          <a:p>
            <a:pPr lvl="0"/>
            <a:r>
              <a:rPr b="1"/>
              <a:t>A sigmoid layer divides the gradient by about four</a:t>
            </a:r>
          </a:p>
          <a:p>
            <a:pPr lvl="0"/>
            <a:r>
              <a:rPr/>
              <a:t>Report a difference with the spread it was measured against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due </a:t>
            </a:r>
            <a:r>
              <a:rPr b="1"/>
              <a:t>Friday 27 November 2026, 23:59</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 Neural Networks</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