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lesson 8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four points of selection bias on slide 16 -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in layers, one feeding the next.</a:t>
            </a:r>
          </a:p>
          <a:p>
            <a:pPr lvl="0" indent="0" marL="0">
              <a:buNone/>
            </a:pPr>
          </a:p>
          <a:p>
            <a:pPr lvl="0" indent="0" marL="0">
              <a:buNone/>
            </a:pPr>
            <a:r>
              <a:rPr/>
              <a:t>Say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a picture, with numbers: w1 = 1, w2 = 2, b = -1. Point at the left half first. Two inputs arrive, each multiplied by its weight; a third input that is always 1 carries the bias, so the bias is just one more weight. The sum z goes through the sigmoid, and out comes y-hat between 0 and 1.</a:t>
            </a:r>
          </a:p>
          <a:p>
            <a:pPr lvl="0" indent="0" marL="0">
              <a:buNone/>
            </a:pPr>
          </a:p>
          <a:p>
            <a:pPr lvl="0" indent="0" marL="0">
              <a:buNone/>
            </a:pPr>
            <a:r>
              <a:rPr/>
              <a:t>The small plot under the sigma node is the sigmoid itself, the gold S-curve: very negative z gives almost 0, very positive z almost 1, and z = 0 gives exactly 0.5. The dashed line is what Rosenblatt’s 1958 perceptron used in its place, a step: output 1 when z is positive, 0 otherwise. Both switch at the same place, z = 0; the sigmoid does it smoothly, which is what lets lesson 4’s gradient descent - and today’s backpropagation - work, since a step has no slope to follow.</a:t>
            </a:r>
          </a:p>
          <a:p>
            <a:pPr lvl="0" indent="0" marL="0">
              <a:buNone/>
            </a:pPr>
          </a:p>
          <a:p>
            <a:pPr lvl="0" indent="0" marL="0">
              <a:buNone/>
            </a:pPr>
            <a:r>
              <a:rPr/>
              <a:t>Then the right half, which is the same unit seen from the data’s side. Colour every point of the input plane by the y-hat the unit gives it. The colour changes smoothly, but the decision changes in one place only: the black line x1 + 2 x2 - 1 = 0, where z is 0 and y-hat is exactly 0.5. Above it the unit says 1, below it 0.</a:t>
            </a:r>
          </a:p>
          <a:p>
            <a:pPr lvl="0" indent="0" marL="0">
              <a:buNone/>
            </a:pPr>
          </a:p>
          <a:p>
            <a:pPr lvl="0" indent="0" marL="0">
              <a:buNone/>
            </a:pPr>
            <a:r>
              <a:rPr/>
              <a:t>Ask the room what changing w2 to -2 would do to the picture - the line tilts the other way - and what changing b would do - it slides the line without turning it. Weights set the direction, the bias sets the position, and nothing a single unit can do bends it. That is the problem the next slides set up.</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middle step is left off the slide so the formula stays large enough to read: 1.25 squared over two is 0.78125, and that is the exponent. Do it out loud.</a:t>
            </a:r>
          </a:p>
          <a:p>
            <a:pPr lvl="0" indent="0" marL="0">
              <a:buNone/>
            </a:pPr>
          </a:p>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gaps, which are the real content. The fitted line is 0.27 points above knowing nothing. The best line that exists for this population would be about 10 points above it, at 0.6491. And even that best line is 32 points below the reachable 0.97. The small gaps are about fitting; the large one is about the shape of the model: no straight line can enclose a circle.</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collects the accuracy of being right there. That is the best any straight line can do on this problem.</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look the same, while any line becomes a different line. So whatever a line gains on one side by tilting, it loses on the opposite side, and the best fit barely tilts at all: it settles on almost the constant answer.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deliberate trap, and it is worth pausing on. The brute-force search has none of the features students associate with overfitting: no parameters, no training, no flexible model.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the one announced on slide 5. Each sensor has two channels, and with temperature both drift. When they drift the same way - both up or both down - one correction removes it; when they drift in opposite ways nothing does.</a:t>
            </a:r>
          </a:p>
          <a:p>
            <a:pPr lvl="0" indent="0" marL="0">
              <a:buNone/>
            </a:pPr>
          </a:p>
          <a:p>
            <a:pPr lvl="0" indent="0" marL="0">
              <a:buNone/>
            </a:pPr>
            <a:r>
              <a:rPr/>
              <a:t>Let them look before any rule is stated: four clouds of 200 units, teal in two opposite corners, rust in the other two. Ask where they would put a straight line.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still no single straight line can separate the classes,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of channels A and B. Two hidden units, each a weighted sum followed by a rectified linear unit (ReLU): max(0, z), zero for any negative input and the input itself otherwise - the little kink drawn inside each node. One output unit, the sigmoid of lesson 4.</a:t>
            </a:r>
          </a:p>
          <a:p>
            <a:pPr lvl="0" indent="0" marL="0">
              <a:buNone/>
            </a:pPr>
          </a:p>
          <a:p>
            <a:pPr lvl="0" indent="0" marL="0">
              <a:buNone/>
            </a:pPr>
            <a:r>
              <a:rPr/>
              <a:t>Read the weights off the arrows: the first unit adds a and b, the second subtracts them, both with bias minus one. So the first wakes up only when a + b is above 1, the second only when it is below minus 1. The output adds them with weight 10 and bias minus 1.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used here as a tool: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network with several layers as a chain of classifiers, each one improving the previous answer. That is not what happens. Every layer except the last changes the coordinates in which the data is described - here the hidden layer moved two clouds to (1, 0) and (0, 1) and stacked the other two at the origin - and only the last layer classifies, with a single straight line.</a:t>
            </a:r>
          </a:p>
          <a:p>
            <a:pPr lvl="0" indent="0" marL="0">
              <a:buNone/>
            </a:pPr>
          </a:p>
          <a:p>
            <a:pPr lvl="0" indent="0" marL="0">
              <a:buNone/>
            </a:pPr>
            <a:r>
              <a:rPr/>
              <a:t>Say that lesson 10 builds on exactly this: a convolutional network also learns new coordinates, but each of its units looks only at a small patch of the image, so most of its weights are fixed at zero. Saying it now means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again: we leave the drift problem and go back to the acceptance test of slides 9 to 16, the circle no straight line could enclose. The network changes too: two inputs, the standardised gain and phase offsets; four hidden units, each a ReLU; one output, the probability that the unit passes.</a:t>
            </a:r>
          </a:p>
          <a:p>
            <a:pPr lvl="0" indent="0" marL="0">
              <a:buNone/>
            </a:pPr>
          </a:p>
          <a:p>
            <a:pPr lvl="0" indent="0" marL="0">
              <a:buNone/>
            </a:pPr>
            <a:r>
              <a:rPr/>
              <a:t>This time nobody writes the weights by hand: they are trained, by the gradient descent of lesson 3, which is why the connections are drawn without numbers. Each hidden unit computes a weighted sum of the two inputs, and the places where that sum is zero form a straight line - so four hidden units means four lines. The next slide draws them. 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network of the previous slide, drawn on the data. Left: the four lines its hidden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drift problem, and a new term to define before reading the table. Training has to start from some weights, and the usual choice is small random numbers: that starting point is the </a:t>
            </a:r>
            <a:r>
              <a:rPr b="1"/>
              <a:t>initialisation</a:t>
            </a:r>
            <a:r>
              <a:rPr/>
              <a:t>. Each row trains the same network 20 times, each time from a different random initialisation, and reports the median result, the best one, and how many of the 20 passed 0.95. The lesson returns to initialisation after the break, where it explains why the weights cannot all start at zero.</a:t>
            </a:r>
          </a:p>
          <a:p>
            <a:pPr lvl="0" indent="0" marL="0">
              <a:buNone/>
            </a:pPr>
          </a:p>
          <a:p>
            <a:pPr lvl="0" indent="0" marL="0">
              <a:buNone/>
            </a:pPr>
            <a:r>
              <a:rPr/>
              <a:t>Two units are enough - the lesson wrote a two-unit solution down by hand five slides ago and it scored 0.9938 - yet plain gradient descent finds something that good in only four starts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no small change of the weights improves it, and most starting points lead down into it.</a:t>
            </a:r>
          </a:p>
          <a:p>
            <a:pPr lvl="0" indent="0" marL="0">
              <a:buNone/>
            </a:pPr>
          </a:p>
          <a:p>
            <a:pPr lvl="0" indent="0" marL="0">
              <a:buNone/>
            </a:pPr>
            <a:r>
              <a:rPr/>
              <a:t>This is the honest reason networks used in practice are wider than their task requires. The extra units are not needed to express the answer - they give training more chances, so that some unit starts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subject of handout section 9, on optimisation.</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whether a network can express the answer,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to every row (NumPy calls this broadcasting):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handout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but both matter. The first is what allows every later decision to process examples in batches, or to split them across machines;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where the whole backward pass starts.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The same cancellation, with more than two classes,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ReLU’s derivative, 1 or 0, is worth a moment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adding layers changes nothing in the formula and a great deal in the numbers it produces.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training networks is possible at all: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Backpropagation from scratch, gradient-checked before it is trusted; the two-unit hand-built network, then the same problem trained from 20 random starts at each width; the polygon yardstick, how well H lines could fence a circle; and the one initialisation that cannot work.</a:t>
            </a:r>
          </a:p>
          <a:p>
            <a:pPr lvl="0" indent="0" marL="0">
              <a:buNone/>
            </a:pPr>
          </a:p>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If time runs short, keep the gradient check: watching the worst relative disagreement print as ten to the minus eight convinces far more than the previous slide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 room is following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Subtracting the largest score before exponentiating (handout section 6.1) is a one-line detail students will need the first time they write softmax themselves: without it the exponentials overflow.</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each input pushes the answer roughly independently of the others.</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several linear layers stacked together are just one linear layer, a one-line calculation, and that is the reason the whole activation question exists. It is also worth naming the consequence: a network whose units are all stuck on their flat ends (saturated) or all output zero (dead) has effectively become that single linear layer.</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about method more than about the number, and the habit is worth more than the number. A single measurement of a compounding quantity is a draw from a distribution, and reporting its extreme as the headline is how plausible but false claims get repeated.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again in six lines of Keras, with the same answer; softmax on ten classes and the depth comparison behind the table; the per-layer gradient shrinkage, measured across eight seeds at five depths; and how big the random weights should be.</a:t>
            </a:r>
          </a:p>
          <a:p>
            <a:pPr lvl="0" indent="0" marL="0">
              <a:buNone/>
            </a:pPr>
          </a:p>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If time is short, keep the shrinkage measurement. Printing the eight per-layer factors themselves, and watching every one of them land between 3.9 and 4.3, is what makes the bound of a quarter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A second instance of the same family is in handout section 9.1: in notebook 01,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Put the weight on the last bullet, not on the word “dead”.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half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an advertisement: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chosen to look good.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learning-rate sweep and the dead-unit count; plain descent, momentum and Adam from an identical start; 301,066 parameters on 300 examples, which memorises and generalises anyway; validation loss climbing while accuracy stays flat; and more data beating more tuning, three to one.</a:t>
            </a:r>
          </a:p>
          <a:p>
            <a:pPr lvl="0" indent="0" marL="0">
              <a:buNone/>
            </a:pPr>
          </a:p>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keep if time runs short.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It joins the numbers the earlier lessons left behind - 77% accuracy on coin-flip labels in lesson 1, a coefficient of 365 where an unpenalised fit wanted billions in lesson 3, 37 of 40 disguised accounts caught by reconstruction error in lesson 8 - as this lesson’s: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2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score taken as proof that a clustering is right, when it only rewards round, well-separated groups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a:t>
            </a:r>
            <a:r>
              <a:rPr>
                <a:latin typeface="Courier"/>
              </a:rPr>
              <a:t>LogisticRegression</a:t>
            </a:r>
          </a:p>
          <a:p>
            <a:pPr lvl="0"/>
            <a:r>
              <a:rPr/>
              <a:t>What is new: the unit becomes a </a:t>
            </a:r>
            <a:r>
              <a:rPr b="1"/>
              <a:t>component</a:t>
            </a:r>
            <a:r>
              <a:rPr/>
              <a:t> of a larger network</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drawn</a:t>
            </a:r>
          </a:p>
        </p:txBody>
      </p:sp>
      <p:pic>
        <p:nvPicPr>
          <p:cNvPr descr="one_neuron.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3,000 sensors: </a:t>
            </a:r>
            <a:r>
              <a:rPr>
                <a:latin typeface="Courier"/>
              </a:rPr>
              <a:t>train_test_split</a:t>
            </a:r>
            <a:r>
              <a:rPr/>
              <a:t> keeps 2,250 to train, then </a:t>
            </a:r>
            <a:r>
              <a:rPr>
                <a:latin typeface="Courier"/>
              </a:rPr>
              <a:t>StandardScaler</a:t>
            </a:r>
          </a:p>
          <a:p>
            <a:pPr lvl="0"/>
            <a:r>
              <a:rPr/>
              <a:t>So the accept region is the inside of a </a:t>
            </a:r>
            <a:r>
              <a:rPr b="1"/>
              <a:t>closed curve</a:t>
            </a:r>
          </a:p>
          <a:p>
            <a:pPr lvl="0"/>
            <a:r>
              <a:rPr/>
              <a:t>And no straight line encloses anything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(standard deviation)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e163dd354e.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no line does much better than that</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computed exactly from the geometry: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One correction removes the drift only when both channels drift </a:t>
            </a:r>
            <a:r>
              <a:rPr b="1"/>
              <a:t>the same way</a:t>
            </a:r>
            <a:r>
              <a:rPr/>
              <a:t> (same sign)</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ReLU(z) = max(0, z), both fed the sum a + b</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with most weights fixed at zero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 to acceptance: four hidden units</a:t>
            </a:r>
          </a:p>
        </p:txBody>
      </p:sp>
      <p:pic>
        <p:nvPicPr>
          <p:cNvPr descr="four_unit_network.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of 20 random starts</a:t>
                      </a:r>
                    </a:p>
                  </a:txBody>
                  <a:tcPr/>
                </a:tc>
                <a:tc>
                  <a:txBody>
                    <a:bodyPr/>
                    <a:lstStyle/>
                    <a:p>
                      <a:pPr lvl="0" indent="0" marL="0">
                        <a:buNone/>
                      </a:pPr>
                      <a:r>
                        <a:rPr/>
                        <a:t>best of 20</a:t>
                      </a:r>
                    </a:p>
                  </a:txBody>
                  <a:tcPr/>
                </a:tc>
                <a:tc>
                  <a:txBody>
                    <a:bodyPr/>
                    <a:lstStyle/>
                    <a:p>
                      <a:pPr lvl="0" indent="0" marL="0">
                        <a:buNone/>
                      </a:pPr>
                      <a:r>
                        <a:rPr/>
                        <a:t>starts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Examples in </a:t>
            </a:r>
            <a:r>
              <a:rPr b="1"/>
              <a:t>rows</a:t>
            </a:r>
            <a:r>
              <a:rPr/>
              <a:t>, as scikit-learn and Keras; in columns every transpose flips</a:t>
            </a:r>
          </a:p>
          <a:p>
            <a:pPr lvl="0"/>
            <a:r>
              <a:rPr/>
              <a:t>In code: </a:t>
            </a:r>
            <a:r>
              <a:rPr>
                <a:latin typeface="Courier"/>
              </a:rPr>
              <a:t>keras.Sequential</a:t>
            </a:r>
            <a:r>
              <a:rPr/>
              <a:t> of a </a:t>
            </a:r>
            <a:r>
              <a:rPr>
                <a:latin typeface="Courier"/>
              </a:rPr>
              <a:t>keras.Input</a:t>
            </a:r>
            <a:r>
              <a:rPr/>
              <a:t> and </a:t>
            </a:r>
            <a:r>
              <a:rPr>
                <a:latin typeface="Courier"/>
              </a:rPr>
              <a:t>layers.Dense</a:t>
            </a:r>
            <a:r>
              <a:rPr/>
              <a:t> layers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for notebook 3’s network of 301,066 parameters, 301,066 passes for one step</a:t>
            </a:r>
          </a:p>
          <a:p>
            <a:pPr lvl="0"/>
            <a:r>
              <a:rPr b="1"/>
              <a:t>Differentiate symbolically</a:t>
            </a:r>
            <a:r>
              <a:rPr/>
              <a:t>: the same sub-expressions, thousands of times</a:t>
            </a:r>
          </a:p>
          <a:p>
            <a:pPr lvl="0"/>
            <a:r>
              <a:rPr/>
              <a:t>Both correct. Both unusable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cost’s derivative for each layer’s </a:t>
            </a:r>
            <a:r>
              <a:rPr b="1"/>
              <a:t>pre-activations</a:t>
            </a:r>
          </a:p>
          <a:p>
            <a:pPr lvl="0"/>
            <a:r>
              <a:rPr/>
              <a:t>From it: that layer’s weight gradients </a:t>
            </a:r>
            <a:r>
              <a:rPr b="1"/>
              <a:t>and</a:t>
            </a:r>
            <a:r>
              <a:rPr/>
              <a:t> the layer below’s, so one backward sweep gives every gradient</a:t>
            </a:r>
          </a:p>
          <a:p>
            <a:pPr lvl="0"/>
            <a:r>
              <a:rPr b="1"/>
              <a:t>A weight’s gradient is how wrong the layer above was, times what this weight contributed</a:t>
            </a:r>
          </a:p>
          <a:p>
            <a:pPr lvl="0"/>
            <a:r>
              <a:rPr/>
              <a:t>Keras automates it with </a:t>
            </a:r>
            <a:r>
              <a:rPr>
                <a:latin typeface="Courier"/>
              </a:rPr>
              <a:t>tf.GradientTape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with (J(θ + h) − J(θ − h)) ÷ 2h: error of order h²</a:t>
            </a:r>
          </a:p>
          <a:p>
            <a:pPr lvl="0"/>
            <a:r>
              <a:rPr/>
              <a:t>Notebook 01: worst disagreement 1.97 × 10⁻⁸, median 7.83 × 10⁻¹¹</a:t>
            </a:r>
          </a:p>
          <a:p>
            <a:pPr lvl="0"/>
            <a:r>
              <a:rPr b="1"/>
              <a:t>Relative error below 10⁻⁶: believe it. Above 10⁻⁴: there is a bug</a:t>
            </a:r>
          </a:p>
          <a:p>
            <a:pPr lvl="0"/>
            <a:r>
              <a:rPr/>
              <a:t>Four lines of code, and not optional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split, then one straight line, 9-16</a:t>
                      </a:r>
                    </a:p>
                  </a:txBody>
                </a:tc>
                <a:tc>
                  <a:txBody>
                    <a:bodyPr/>
                    <a:lstStyle/>
                    <a:p>
                      <a:pPr lvl="0" indent="0" marL="0">
                        <a:buNone/>
                      </a:pPr>
                      <a:r>
                        <a:rPr>
                          <a:latin typeface="Courier"/>
                        </a:rPr>
                        <a:t>train_test_split</a:t>
                      </a:r>
                      <a:r>
                        <a:rPr/>
                        <a:t>, </a:t>
                      </a:r>
                      <a:r>
                        <a:rPr>
                          <a:latin typeface="Courier"/>
                        </a:rPr>
                        <a:t>StandardScaler</a:t>
                      </a:r>
                      <a:r>
                        <a:rPr/>
                        <a:t>, </a:t>
                      </a:r>
                      <a:r>
                        <a:rPr>
                          <a:latin typeface="Courier"/>
                        </a:rPr>
                        <a:t>LogisticRegression</a:t>
                      </a:r>
                      <a:r>
                        <a:rPr/>
                        <a:t> → 0.5507</a:t>
                      </a:r>
                    </a:p>
                  </a:txBody>
                </a:tc>
              </a:tr>
              <a:tr h="0">
                <a:tc>
                  <a:txBody>
                    <a:bodyPr/>
                    <a:lstStyle/>
                    <a:p>
                      <a:pPr lvl="0" indent="0" marL="0">
                        <a:buNone/>
                      </a:pPr>
                      <a:r>
                        <a:rPr/>
                        <a:t>forward, backward, gradient check, 28-43</a:t>
                      </a:r>
                    </a:p>
                  </a:txBody>
                </a:tc>
                <a:tc>
                  <a:txBody>
                    <a:bodyPr/>
                    <a:lstStyle/>
                    <a:p>
                      <a:pPr lvl="0" indent="0" marL="0">
                        <a:buNone/>
                      </a:pPr>
                      <a:r>
                        <a:rPr/>
                        <a:t>NumPy only → untrained cost 0.6721, worst disagreement 1.97 × 10⁻⁸</a:t>
                      </a:r>
                    </a:p>
                  </a:txBody>
                </a:tc>
              </a:tr>
              <a:tr h="0">
                <a:tc>
                  <a:txBody>
                    <a:bodyPr/>
                    <a:lstStyle/>
                    <a:p>
                      <a:pPr lvl="0" indent="0" marL="0">
                        <a:buNone/>
                      </a:pPr>
                      <a:r>
                        <a:rPr/>
                        <a:t>the drift problem, 17-25</a:t>
                      </a:r>
                    </a:p>
                  </a:txBody>
                </a:tc>
                <a:tc>
                  <a:txBody>
                    <a:bodyPr/>
                    <a:lstStyle/>
                    <a:p>
                      <a:pPr lvl="0" indent="0" marL="0">
                        <a:buNone/>
                      </a:pPr>
                      <a:r>
                        <a:rPr/>
                        <a:t>the hand-built network, then 20 restarts per width → 4 of 20 above 0.95 at two units</a:t>
                      </a:r>
                    </a:p>
                  </a:txBody>
                </a:tc>
              </a:tr>
              <a:tr h="0">
                <a:tc>
                  <a:txBody>
                    <a:bodyPr/>
                    <a:lstStyle/>
                    <a:p>
                      <a:pPr lvl="0" indent="0" marL="0">
                        <a:buNone/>
                      </a:pPr>
                      <a:r>
                        <a:rPr/>
                        <a:t>the polygon yardstick, 26</a:t>
                      </a:r>
                    </a:p>
                  </a:txBody>
                </a:tc>
                <a:tc>
                  <a:txBody>
                    <a:bodyPr/>
                    <a:lstStyle/>
                    <a:p>
                      <a:pPr lvl="0" indent="0" marL="0">
                        <a:buNone/>
                      </a:pPr>
                      <a:r>
                        <a:rPr>
                          <a:latin typeface="Courier"/>
                        </a:rPr>
                        <a:t>scipy.integrate</a:t>
                      </a:r>
                      <a:r>
                        <a:rPr/>
                        <a:t> → the best 4-sided fence scores 0.9396</a:t>
                      </a:r>
                    </a:p>
                  </a:txBody>
                </a:tc>
              </a:tr>
              <a:tr h="0">
                <a:tc>
                  <a:txBody>
                    <a:bodyPr/>
                    <a:lstStyle/>
                    <a:p>
                      <a:pPr lvl="0" indent="0" marL="0">
                        <a:buNone/>
                      </a:pPr>
                      <a:r>
                        <a:rPr/>
                        <a:t>zero initialisation, 56-57</a:t>
                      </a:r>
                    </a:p>
                  </a:txBody>
                </a:tc>
                <a:tc>
                  <a:txBody>
                    <a:bodyPr/>
                    <a:lstStyle/>
                    <a:p>
                      <a:pPr lvl="0" indent="0" marL="0">
                        <a:buNone/>
                      </a:pPr>
                      <a:r>
                        <a:rPr/>
                        <a:t>all weights 0 → final cost 0.6887</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is the sigmoid: one construction, two sizes</a:t>
            </a:r>
          </a:p>
          <a:p>
            <a:pPr lvl="0"/>
            <a:r>
              <a:rPr/>
              <a:t>Loss, categorical cross-entropy: −log(probability of the true class), </a:t>
            </a:r>
            <a:r>
              <a:rPr>
                <a:latin typeface="Courier"/>
              </a:rPr>
              <a:t>sparse_categorical_crossentropy</a:t>
            </a:r>
          </a:p>
          <a:p>
            <a:pPr lvl="0"/>
            <a:r>
              <a:rPr/>
              <a:t>The gradient at the output is again </a:t>
            </a:r>
            <a:r>
              <a:rPr b="1"/>
              <a:t>ŷ − y</a:t>
            </a:r>
            <a:r>
              <a:rPr/>
              <a:t>: the backward pass is unchanged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At initialisation the weights multiply it by about 1, so the derivative decides: </a:t>
            </a:r>
            <a:r>
              <a:rPr b="1"/>
              <a:t>each sigmoid layer divides the gradient by about four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Gradient at the last weight matrix ÷ gradient at the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same network in Keras, 28-33</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SGD</a:t>
                      </a:r>
                      <a:r>
                        <a:rPr/>
                        <a:t>; then </a:t>
                      </a:r>
                      <a:r>
                        <a:rPr>
                          <a:latin typeface="Courier"/>
                        </a:rPr>
                        <a:t>compile</a:t>
                      </a:r>
                      <a:r>
                        <a:rPr/>
                        <a:t>, </a:t>
                      </a:r>
                      <a:r>
                        <a:rPr>
                          <a:latin typeface="Courier"/>
                        </a:rPr>
                        <a:t>fit</a:t>
                      </a:r>
                      <a:r>
                        <a:rPr/>
                        <a:t>, </a:t>
                      </a:r>
                      <a:r>
                        <a:rPr>
                          <a:latin typeface="Courier"/>
                        </a:rPr>
                        <a:t>evaluate</a:t>
                      </a:r>
                      <a:r>
                        <a:rPr/>
                        <a:t> → 0.9333</a:t>
                      </a:r>
                    </a:p>
                  </a:txBody>
                </a:tc>
              </a:tr>
              <a:tr h="0">
                <a:tc>
                  <a:txBody>
                    <a:bodyPr/>
                    <a:lstStyle/>
                    <a:p>
                      <a:pPr lvl="0" indent="0" marL="0">
                        <a:buNone/>
                      </a:pPr>
                      <a:r>
                        <a:rPr/>
                        <a:t>ten classes, 45-48</a:t>
                      </a:r>
                    </a:p>
                  </a:txBody>
                </a:tc>
                <a:tc>
                  <a:txBody>
                    <a:bodyPr/>
                    <a:lstStyle/>
                    <a:p>
                      <a:pPr lvl="0" indent="0" marL="0">
                        <a:buNone/>
                      </a:pPr>
                      <a:r>
                        <a:rPr>
                          <a:latin typeface="Courier"/>
                        </a:rPr>
                        <a:t>Dense(10, activation="softmax")</a:t>
                      </a:r>
                      <a:r>
                        <a:rPr/>
                        <a:t>, </a:t>
                      </a:r>
                      <a:r>
                        <a:rPr>
                          <a:latin typeface="Courier"/>
                        </a:rPr>
                        <a:t>Adam</a:t>
                      </a:r>
                      <a:r>
                        <a:rPr/>
                        <a:t>, </a:t>
                      </a:r>
                      <a:r>
                        <a:rPr>
                          <a:latin typeface="Courier"/>
                        </a:rPr>
                        <a:t>Dropout</a:t>
                      </a:r>
                      <a:r>
                        <a:rPr/>
                        <a:t>, </a:t>
                      </a:r>
                      <a:r>
                        <a:rPr>
                          <a:latin typeface="Courier"/>
                        </a:rPr>
                        <a:t>confusion_matrix</a:t>
                      </a:r>
                      <a:r>
                        <a:rPr/>
                        <a:t> → 0.9676 with two layers of 64</a:t>
                      </a:r>
                    </a:p>
                  </a:txBody>
                </a:tc>
              </a:tr>
              <a:tr h="0">
                <a:tc>
                  <a:txBody>
                    <a:bodyPr/>
                    <a:lstStyle/>
                    <a:p>
                      <a:pPr lvl="0" indent="0" marL="0">
                        <a:buNone/>
                      </a:pPr>
                      <a:r>
                        <a:rPr/>
                        <a:t>the shrinkage, measured, 49-52</a:t>
                      </a:r>
                    </a:p>
                  </a:txBody>
                </a:tc>
                <a:tc>
                  <a:txBody>
                    <a:bodyPr/>
                    <a:lstStyle/>
                    <a:p>
                      <a:pPr lvl="0" indent="0" marL="0">
                        <a:buNone/>
                      </a:pPr>
                      <a:r>
                        <a:rPr>
                          <a:latin typeface="Courier"/>
                        </a:rPr>
                        <a:t>tf.GradientTape</a:t>
                      </a:r>
                      <a:r>
                        <a:rPr/>
                        <a:t>, </a:t>
                      </a:r>
                      <a:r>
                        <a:rPr>
                          <a:latin typeface="Courier"/>
                        </a:rPr>
                        <a:t>sparse_categorical_crossentropy</a:t>
                      </a:r>
                      <a:r>
                        <a:rPr/>
                        <a:t> → about 4 per sigmoid layer</a:t>
                      </a:r>
                    </a:p>
                  </a:txBody>
                </a:tc>
              </a:tr>
              <a:tr h="0">
                <a:tc>
                  <a:txBody>
                    <a:bodyPr/>
                    <a:lstStyle/>
                    <a:p>
                      <a:pPr lvl="0" indent="0" marL="0">
                        <a:buNone/>
                      </a:pPr>
                      <a:r>
                        <a:rPr/>
                        <a:t>training six layers, 53-54</a:t>
                      </a:r>
                    </a:p>
                  </a:txBody>
                </a:tc>
                <a:tc>
                  <a:txBody>
                    <a:bodyPr/>
                    <a:lstStyle/>
                    <a:p>
                      <a:pPr lvl="0" indent="0" marL="0">
                        <a:buNone/>
                      </a:pPr>
                      <a:r>
                        <a:rPr>
                          <a:latin typeface="Courier"/>
                        </a:rPr>
                        <a:t>SGD</a:t>
                      </a:r>
                      <a:r>
                        <a:rPr/>
                        <a:t> on three activations → sigmoid 0.1000, tanh 0.9750</a:t>
                      </a:r>
                    </a:p>
                  </a:txBody>
                </a:tc>
              </a:tr>
              <a:tr h="0">
                <a:tc>
                  <a:txBody>
                    <a:bodyPr/>
                    <a:lstStyle/>
                    <a:p>
                      <a:pPr lvl="0" indent="0" marL="0">
                        <a:buNone/>
                      </a:pPr>
                      <a:r>
                        <a:rPr/>
                        <a:t>how big the weights should be, 58</a:t>
                      </a:r>
                    </a:p>
                  </a:txBody>
                </a:tc>
                <a:tc>
                  <a:txBody>
                    <a:bodyPr/>
                    <a:lstStyle/>
                    <a:p>
                      <a:pPr lvl="0" indent="0" marL="0">
                        <a:buNone/>
                      </a:pPr>
                      <a:r>
                        <a:rPr>
                          <a:latin typeface="Courier"/>
                        </a:rPr>
                        <a:t>RandomNormal</a:t>
                      </a:r>
                      <a:r>
                        <a:rPr/>
                        <a:t> at two scales, against Glorot → 73% saturated at N(0, 1)</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and the cost to the cost of always predicting it, the label entropy: </a:t>
            </a:r>
            <a:r>
              <a:rPr b="1"/>
              <a:t>0.6887 predicted, 0.6887 measured</a:t>
            </a:r>
          </a:p>
          <a:p>
            <a:pPr lvl="0"/>
            <a:r>
              <a:rPr/>
              <a:t>Distinct hidden columns: </a:t>
            </a:r>
            <a:r>
              <a:rPr b="1"/>
              <a:t>1 of 32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layer’s tanh units past |a| &gt; 0.99</a:t>
            </a:r>
          </a:p>
          <a:p>
            <a:pPr lvl="0"/>
            <a:r>
              <a:rPr/>
              <a:t>Glorot loses half its spread over eight layers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a:t>
            </a:r>
            <a:r>
              <a:rPr>
                <a:latin typeface="Courier"/>
              </a:rPr>
              <a:t>SGD</a:t>
            </a:r>
            <a:r>
              <a:rPr/>
              <a:t>: a small batch’s gradient, noisy but right on average</a:t>
            </a:r>
          </a:p>
          <a:p>
            <a:pPr lvl="0"/>
            <a:r>
              <a:rPr b="1"/>
              <a:t>Momentum</a:t>
            </a:r>
            <a:r>
              <a:rPr/>
              <a:t>: step along a running average of past gradients</a:t>
            </a:r>
          </a:p>
          <a:p>
            <a:pPr lvl="0"/>
            <a:r>
              <a:rPr b="1"/>
              <a:t>Adam (adaptive moment estimation)</a:t>
            </a:r>
            <a:r>
              <a:rPr/>
              <a:t>, </a:t>
            </a:r>
            <a:r>
              <a:rPr>
                <a:latin typeface="Courier"/>
              </a:rPr>
              <a:t>Adam</a:t>
            </a:r>
            <a:r>
              <a:rPr/>
              <a:t>: each parameter’s step scaled by its own recent gradients, so a badly chosen α matters less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 (</a:t>
                      </a:r>
                      <a:r>
                        <a:rPr>
                          <a:latin typeface="Courier"/>
                        </a:rPr>
                        <a:t>EarlyStopping</a:t>
                      </a:r>
                      <a:r>
                        <a:rPr/>
                        <a:t>: keep the best epoch)</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 (</a:t>
                      </a:r>
                      <a:r>
                        <a:rPr>
                          <a:latin typeface="Courier"/>
                        </a:rPr>
                        <a:t>Dropout</a:t>
                      </a:r>
                      <a:r>
                        <a:rPr/>
                        <a:t>: drop 40% of units per batch)</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 (</a:t>
                      </a:r>
                      <a:r>
                        <a:rPr>
                          <a:latin typeface="Courier"/>
                        </a:rPr>
                        <a:t>l2</a:t>
                      </a:r>
                      <a:r>
                        <a:rPr/>
                        <a:t>: a penalty on squared weights, as Ridge)</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59-61</a:t>
                      </a:r>
                    </a:p>
                  </a:txBody>
                </a:tc>
                <a:tc>
                  <a:txBody>
                    <a:bodyPr/>
                    <a:lstStyle/>
                    <a:p>
                      <a:pPr lvl="0" indent="0" marL="0">
                        <a:buNone/>
                      </a:pPr>
                      <a:r>
                        <a:rPr>
                          <a:latin typeface="Courier"/>
                        </a:rPr>
                        <a:t>SGD(learning_rate=α)</a:t>
                      </a:r>
                      <a:r>
                        <a:rPr/>
                        <a:t> at five rates → best 0.9685 at α = 0.5</a:t>
                      </a:r>
                    </a:p>
                  </a:txBody>
                </a:tc>
              </a:tr>
              <a:tr h="0">
                <a:tc>
                  <a:txBody>
                    <a:bodyPr/>
                    <a:lstStyle/>
                    <a:p>
                      <a:pPr lvl="0" indent="0" marL="0">
                        <a:buNone/>
                      </a:pPr>
                      <a:r>
                        <a:rPr/>
                        <a:t>dead units, 62-63</a:t>
                      </a:r>
                    </a:p>
                  </a:txBody>
                </a:tc>
                <a:tc>
                  <a:txBody>
                    <a:bodyPr/>
                    <a:lstStyle/>
                    <a:p>
                      <a:pPr lvl="0" indent="0" marL="0">
                        <a:buNone/>
                      </a:pPr>
                      <a:r>
                        <a:rPr>
                          <a:latin typeface="Courier"/>
                        </a:rPr>
                        <a:t>keras.Model</a:t>
                      </a:r>
                      <a:r>
                        <a:rPr/>
                        <a:t> to read the hidden layer → 33 of 64 dead at α = 1.0</a:t>
                      </a:r>
                    </a:p>
                  </a:txBody>
                </a:tc>
              </a:tr>
              <a:tr h="0">
                <a:tc>
                  <a:txBody>
                    <a:bodyPr/>
                    <a:lstStyle/>
                    <a:p>
                      <a:pPr lvl="0" indent="0" marL="0">
                        <a:buNone/>
                      </a:pPr>
                      <a:r>
                        <a:rPr/>
                        <a:t>optimisers, 64-65</a:t>
                      </a:r>
                    </a:p>
                  </a:txBody>
                </a:tc>
                <a:tc>
                  <a:txBody>
                    <a:bodyPr/>
                    <a:lstStyle/>
                    <a:p>
                      <a:pPr lvl="0" indent="0" marL="0">
                        <a:buNone/>
                      </a:pPr>
                      <a:r>
                        <a:rPr>
                          <a:latin typeface="Courier"/>
                        </a:rPr>
                        <a:t>SGD</a:t>
                      </a:r>
                      <a:r>
                        <a:rPr/>
                        <a:t>, </a:t>
                      </a:r>
                      <a:r>
                        <a:rPr>
                          <a:latin typeface="Courier"/>
                        </a:rPr>
                        <a:t>SGD(momentum=0.9)</a:t>
                      </a:r>
                      <a:r>
                        <a:rPr/>
                        <a:t>, </a:t>
                      </a:r>
                      <a:r>
                        <a:rPr>
                          <a:latin typeface="Courier"/>
                        </a:rPr>
                        <a:t>Adam</a:t>
                      </a:r>
                      <a:r>
                        <a:rPr/>
                        <a:t> → Adam’s worst run 0.9360</a:t>
                      </a:r>
                    </a:p>
                  </a:txBody>
                </a:tc>
              </a:tr>
              <a:tr h="0">
                <a:tc>
                  <a:txBody>
                    <a:bodyPr/>
                    <a:lstStyle/>
                    <a:p>
                      <a:pPr lvl="0" indent="0" marL="0">
                        <a:buNone/>
                      </a:pPr>
                      <a:r>
                        <a:rPr/>
                        <a:t>memorising, 67</a:t>
                      </a:r>
                    </a:p>
                  </a:txBody>
                </a:tc>
                <a:tc>
                  <a:txBody>
                    <a:bodyPr/>
                    <a:lstStyle/>
                    <a:p>
                      <a:pPr lvl="0" indent="0" marL="0">
                        <a:buNone/>
                      </a:pPr>
                      <a:r>
                        <a:rPr/>
                        <a:t>two layers of 512 on 300 digits, </a:t>
                      </a:r>
                      <a:r>
                        <a:rPr>
                          <a:latin typeface="Courier"/>
                        </a:rPr>
                        <a:t>count_params</a:t>
                      </a:r>
                      <a:r>
                        <a:rPr/>
                        <a:t> → 301,066 parameters</a:t>
                      </a:r>
                    </a:p>
                  </a:txBody>
                </a:tc>
              </a:tr>
              <a:tr h="0">
                <a:tc>
                  <a:txBody>
                    <a:bodyPr/>
                    <a:lstStyle/>
                    <a:p>
                      <a:pPr lvl="0" indent="0" marL="0">
                        <a:buNone/>
                      </a:pPr>
                      <a:r>
                        <a:rPr/>
                        <a:t>regularisers, 66</a:t>
                      </a:r>
                    </a:p>
                  </a:txBody>
                </a:tc>
                <a:tc>
                  <a:txBody>
                    <a:bodyPr/>
                    <a:lstStyle/>
                    <a:p>
                      <a:pPr lvl="0" indent="0" marL="0">
                        <a:buNone/>
                      </a:pPr>
                      <a:r>
                        <a:rPr>
                          <a:latin typeface="Courier"/>
                        </a:rPr>
                        <a:t>EarlyStopping</a:t>
                      </a:r>
                      <a:r>
                        <a:rPr/>
                        <a:t>, </a:t>
                      </a:r>
                      <a:r>
                        <a:rPr>
                          <a:latin typeface="Courier"/>
                        </a:rPr>
                        <a:t>Dropout(0.4)</a:t>
                      </a:r>
                      <a:r>
                        <a:rPr/>
                        <a:t>, </a:t>
                      </a:r>
                      <a:r>
                        <a:rPr>
                          <a:latin typeface="Courier"/>
                        </a:rPr>
                        <a:t>l2(1e-3)</a:t>
                      </a:r>
                      <a:r>
                        <a:rPr/>
                        <a:t> → 0.9411 to 0.9511</a:t>
                      </a:r>
                    </a:p>
                  </a:txBody>
                </a:tc>
              </a:tr>
              <a:tr h="0">
                <a:tc>
                  <a:txBody>
                    <a:bodyPr/>
                    <a:lstStyle/>
                    <a:p>
                      <a:pPr lvl="0" indent="0" marL="0">
                        <a:buNone/>
                      </a:pPr>
                      <a:r>
                        <a:rPr/>
                        <a:t>more data</a:t>
                      </a:r>
                    </a:p>
                  </a:txBody>
                </a:tc>
                <a:tc>
                  <a:txBody>
                    <a:bodyPr/>
                    <a:lstStyle/>
                    <a:p>
                      <a:pPr lvl="0" indent="0" marL="0">
                        <a:buNone/>
                      </a:pPr>
                      <a:r>
                        <a:rPr>
                          <a:latin typeface="Courier"/>
                        </a:rPr>
                        <a:t>train_test_split</a:t>
                      </a:r>
                      <a:r>
                        <a:rPr/>
                        <a:t> at six sizes → +3.2 points from 300 to 1,077 examples</a:t>
                      </a:r>
                    </a:p>
                  </a:txBody>
                </a:tc>
              </a:tr>
            </a:tbl>
          </a:graphicData>
        </a:graphic>
      </p:graphicFrame>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