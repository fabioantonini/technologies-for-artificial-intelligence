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stops this lesson from being propaganda for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middle step is gone from the slide to keep the type readable: 1.25 squared over two is 0.78125, and that is the exponent. Do it out loud.</a:t>
            </a:r>
          </a:p>
          <a:p>
            <a:pPr lvl="0" indent="0" marL="0">
              <a:buNone/>
            </a:pPr>
          </a:p>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deliberate ambush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expressiveness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the licence for every batching, sharding and parallelism decision anybody makes later;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depth costs nothing conceptually and everything numerically.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The cell worth protecting if time runs short is the gradient check - watching the worst relative disagreement print as ten to the minus eight lands the previous slide far harder than reading it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methodological point wearing a numerical costume, and it is the habit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Protect the shrinkage measurement if time is short.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The last bullet is a second instance of the same family.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Land the last bullet rather than the drama.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 marketing table: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protect.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That is the fifth of these carry-home numbers the course has produced: 77% accuracy on coin-flip labels, 94 of 128 imputed rows that borrowed from the test set, a coefficient of 365 where an unpenalised fit wanted billions, 37 of 40 disguised accounts caught by reconstruction error, and now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27 November.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reported as endorsement of a clustering, when it can only endorse roundness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unchanged</a:t>
            </a:r>
          </a:p>
          <a:p>
            <a:pPr lvl="0"/>
            <a:r>
              <a:rPr/>
              <a:t>What is new is one word: </a:t>
            </a:r>
            <a:r>
              <a:rPr b="1"/>
              <a:t>component</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2,250 training sensors, 3,000 generated in all</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e163dd354e.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and the correct answer to the question a line can ask</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for the population, with no test set: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Removable only when the two drifts </a:t>
            </a:r>
            <a:r>
              <a:rPr b="1"/>
              <a:t>share a sign</a:t>
            </a:r>
            <a:r>
              <a:rPr/>
              <a:t>; opposite drifts are not</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constrained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This course puts examples in </a:t>
            </a:r>
            <a:r>
              <a:rPr b="1"/>
              <a:t>rows</a:t>
            </a:r>
            <a:r>
              <a:rPr/>
              <a:t>: as scikit-learn and Keras do</a:t>
            </a:r>
          </a:p>
          <a:p>
            <a:pPr lvl="0"/>
            <a:r>
              <a:rPr/>
              <a:t>Textbooks often use columns, and every transpose flips if you do</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42939"/>
            <a:ext cx="8229600" cy="1206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301,066 of them,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derivative of the cost with respect to a layer’s </a:t>
            </a:r>
            <a:r>
              <a:rPr b="1"/>
              <a:t>pre-activations</a:t>
            </a:r>
          </a:p>
          <a:p>
            <a:pPr lvl="0"/>
            <a:r>
              <a:rPr/>
              <a:t>Given it for one layer: that layer’s weight gradients, </a:t>
            </a:r>
            <a:r>
              <a:rPr b="1"/>
              <a:t>and</a:t>
            </a:r>
            <a:r>
              <a:rPr/>
              <a:t> the layer below</a:t>
            </a:r>
          </a:p>
          <a:p>
            <a:pPr lvl="0"/>
            <a:r>
              <a:rPr/>
              <a:t>One backward sweep produces every gradient in the network</a:t>
            </a:r>
          </a:p>
          <a:p>
            <a:pPr lvl="0"/>
            <a:r>
              <a:rPr b="1"/>
              <a:t>A weight’s gradient is how wrong the layer above was, times what this weight contributed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68052" y="2351582"/>
            <a:ext cx="5007895" cy="989214"/>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against a central difference: error of order h²</a:t>
            </a:r>
          </a:p>
          <a:p>
            <a:pPr lvl="0"/>
            <a:r>
              <a:rPr/>
              <a:t>Notebook 01: worst disagreement 1.97 × 10⁻⁸, median 7.83 × 10⁻¹¹</a:t>
            </a:r>
          </a:p>
          <a:p>
            <a:pPr lvl="0"/>
            <a:r>
              <a:rPr b="1"/>
              <a:t>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Backpropagation from scratch, gradient-checked before it is trusted</a:t>
            </a:r>
          </a:p>
          <a:p>
            <a:pPr lvl="0"/>
            <a:r>
              <a:rPr/>
              <a:t>The two-unit hand-built network, then the same problem trained from 20 random starts at each width</a:t>
            </a:r>
          </a:p>
          <a:p>
            <a:pPr lvl="0"/>
            <a:r>
              <a:rPr/>
              <a:t>The polygon yardstick: how well could H lines fence a circle?</a:t>
            </a:r>
          </a:p>
          <a:p>
            <a:pPr lvl="0"/>
            <a:r>
              <a:rPr/>
              <a:t>The one initialisation that cannot work, and the cost it converges to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reduces to the sigmoid: one construction, two sizes</a:t>
            </a:r>
          </a:p>
          <a:p>
            <a:pPr lvl="0"/>
            <a:r>
              <a:rPr/>
              <a:t>The loss is categorical cross-entropy: minus the log probability given to the true class</a:t>
            </a:r>
          </a:p>
          <a:p>
            <a:pPr lvl="0"/>
            <a:r>
              <a:rPr/>
              <a:t>The gradient at the output is again </a:t>
            </a:r>
            <a:r>
              <a:rPr b="1"/>
              <a:t>ŷ − y</a:t>
            </a:r>
            <a:r>
              <a:rPr/>
              <a:t>, so everything derived before the break applies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42506" y="1769691"/>
            <a:ext cx="6458988" cy="2152996"/>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Initialisation leaves the weight factor near 1, so the derivative decides: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End-to-end ratio, last weight matrix to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same network again, this time in six lines of Keras, and the same answer</a:t>
            </a:r>
          </a:p>
          <a:p>
            <a:pPr lvl="0"/>
            <a:r>
              <a:rPr/>
              <a:t>Softmax on ten classes, and the depth comparison behind the table</a:t>
            </a:r>
          </a:p>
          <a:p>
            <a:pPr lvl="0"/>
            <a:r>
              <a:rPr/>
              <a:t>The per-layer gradient shrinkage, measured across eight seeds at five depths</a:t>
            </a:r>
          </a:p>
          <a:p>
            <a:pPr lvl="0"/>
            <a:r>
              <a:rPr/>
              <a:t>How big the random weights should be, and what happens at both extremes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so the cost converges to the label entropy: </a:t>
            </a:r>
            <a:r>
              <a:rPr b="1"/>
              <a:t>0.6887 predicted, 0.6887 measured</a:t>
            </a:r>
          </a:p>
          <a:p>
            <a:pPr lvl="0"/>
            <a:r>
              <a:rPr/>
              <a:t>Distinct hidden columns: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 past 0.99</a:t>
            </a:r>
          </a:p>
          <a:p>
            <a:pPr lvl="0"/>
            <a:r>
              <a:rPr/>
              <a:t>Glorot loses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noisy, unbiased, vectorises</a:t>
            </a:r>
          </a:p>
          <a:p>
            <a:pPr lvl="0"/>
            <a:r>
              <a:rPr b="1"/>
              <a:t>Momentum</a:t>
            </a:r>
            <a:r>
              <a:rPr/>
              <a:t> averages past gradients: oscillations cancel, and lesson 3’s stretched valley is repaired</a:t>
            </a:r>
          </a:p>
          <a:p>
            <a:pPr lvl="0"/>
            <a:r>
              <a:rPr b="1"/>
              <a:t>Adam (adaptive moment estimation)</a:t>
            </a:r>
            <a:r>
              <a:rPr/>
              <a:t>: a per-parameter step size</a:t>
            </a:r>
          </a:p>
          <a:p>
            <a:pPr lvl="0"/>
            <a:r>
              <a:rPr/>
              <a:t>Which is what makes it forgiving of a badly chosen global α</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learning-rate sweep and the dead-unit count, from scratch</a:t>
            </a:r>
          </a:p>
          <a:p>
            <a:pPr lvl="0"/>
            <a:r>
              <a:rPr/>
              <a:t>Plain descent, momentum and Adam from an identical start</a:t>
            </a:r>
          </a:p>
          <a:p>
            <a:pPr lvl="0"/>
            <a:r>
              <a:rPr b="1"/>
              <a:t>301,066 parameters on 300 examples</a:t>
            </a:r>
            <a:r>
              <a:rPr/>
              <a:t>: memorises, generalises anyway</a:t>
            </a:r>
          </a:p>
          <a:p>
            <a:pPr lvl="0"/>
            <a:r>
              <a:rPr/>
              <a:t>Validation </a:t>
            </a:r>
            <a:r>
              <a:rPr i="1"/>
              <a:t>loss</a:t>
            </a:r>
            <a:r>
              <a:rPr/>
              <a:t> climbs while </a:t>
            </a:r>
            <a:r>
              <a:rPr i="1"/>
              <a:t>accuracy</a:t>
            </a:r>
            <a:r>
              <a:rPr/>
              <a:t> stays flat</a:t>
            </a:r>
          </a:p>
          <a:p>
            <a:pPr lvl="0"/>
            <a:r>
              <a:rPr/>
              <a:t>More data beats more tuning, three to one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27 November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