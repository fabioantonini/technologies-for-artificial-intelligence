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fourth bullet is the assumption the next slide needs: the generator draws each offset from a normal distribution with that spread (instrument_data.py, TRUE_GAIN_SIGMA_DB and TRUE_PHASE_SIGMA_DEG). Divide each axis by its spread and every unit becomes a point of the standard two-dimensional normal, centred on the origin with spread 1 in every direction.</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this number is NOT: it does not come from a model, and nothing has been fitted yet. It is a prediction from probability theory alone, from the previous slide’s assumption that the standardised offsets are a standard two-dimensional normal.</a:t>
            </a:r>
          </a:p>
          <a:p>
            <a:pPr lvl="0" indent="0" marL="0">
              <a:buNone/>
            </a:pPr>
          </a:p>
          <a:p>
            <a:pPr lvl="0" indent="0" marL="0">
              <a:buNone/>
            </a:pPr>
            <a:r>
              <a:rPr/>
              <a:t>Read the symbols: z is one unit’s pair of standardised offsets, the double bars are its distance from the origin. The first formula is the general fact: for a standard two-dimensional normal, the probability of landing inside a circle of radius s is one minus e to the minus s squared over two (handout section 2.2 derives it in three lines, in polar coordinates). The second puts in s = 1.25, the radius of the accept region, so its left side is “the probability that a unit lands inside the circle” - the probability that it passes. 1.25 squared over two is 0.78125, and that is the exponent. Do it out loud.</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t>Why it matters for what follows: a little over half of all units pass, so a model that answers “accepted” for every unit, using no measurement at all, is already right about 55% of the time. That is the first row of the next slide’s table, and the number every straight line will be compared against.</a:t>
            </a:r>
          </a:p>
          <a:p>
            <a:pPr lvl="0" indent="0" marL="0">
              <a:buNone/>
            </a:pPr>
          </a:p>
          <a:p>
            <a:pPr lvl="0" indent="0" marL="0">
              <a:buNone/>
            </a:pPr>
            <a:r>
              <a:rPr/>
              <a:t>The same integral reappears in section 11, when the lesson computes how well a polygon of a given number of sides could fence this region.</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does not use the test set at all. It is the best a straight line can do on the whole population: by the circle’s symmetry every direction is equivalent, so notebook 1 slides one line x1 &lt; a across 400,000 units simulated from the true rule, keeps the best position, and converts to accuracy against the recorded labels with the 3% rig error. Being a simulation it carries about plus or minus 0.001 - the handout’s quadrature gives 0.6500 - which changes nothing: 0.6880 against about 0.65 is still almost 4 points. Handout sections 2.2 and 11.1.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Where 1.1 comes from, if asked: the output is above 0.5 when 10 h1 + 10 h2 - 1 is positive, that is when h1 + h2 &gt; 0.1. At most one hidden unit fires at a time, and the one that fires outputs |a + b| - 1, so the condition is |a + b| - 1 &gt; 0.1, which is |a + b| &gt; 1.1.</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map for the next three slides. It is the acceptance network: two inputs, four hidden units, one output - the same network as the fence slides.</a:t>
            </a:r>
          </a:p>
          <a:p>
            <a:pPr lvl="0" indent="0" marL="0">
              <a:buNone/>
            </a:pPr>
          </a:p>
          <a:p>
            <a:pPr lvl="0" indent="0" marL="0">
              <a:buNone/>
            </a:pPr>
            <a:r>
              <a:rPr/>
              <a:t>Point at the edges first: every arrow carries a weight. The eight arrows into the hidden layer are the eight entries of W1, a 2-by-4 matrix, and each hidden unit owns one column of it - the two weights on its incoming arrows. The four arrows into the output are W2, 4-by-1. Each unit also has a bias.</a:t>
            </a:r>
          </a:p>
          <a:p>
            <a:pPr lvl="0" indent="0" marL="0">
              <a:buNone/>
            </a:pPr>
          </a:p>
          <a:p>
            <a:pPr lvl="0" indent="0" marL="0">
              <a:buNone/>
            </a:pPr>
            <a:r>
              <a:rPr/>
              <a:t>Then the nodes: each holds two numbers. z is the weighted sum arriving at the unit, before anything is squashed - the pre-activation. a is what the unit passes on, a = g(z), with g the ReLU here. The output node does the same with the sigmoid, and its a is y-hat.</a:t>
            </a:r>
          </a:p>
          <a:p>
            <a:pPr lvl="0" indent="0" marL="0">
              <a:buNone/>
            </a:pPr>
          </a:p>
          <a:p>
            <a:pPr lvl="0" indent="0" marL="0">
              <a:buNone/>
            </a:pPr>
            <a:r>
              <a:rPr/>
              <a:t>Then the bottom row, which is the step students miss: those are one example’s numbers. Stack all m examples as rows and z1 to z4 become a row of the matrix Z1, of shape m by 4, and likewise A1; the inputs become X, m by 2. The next two slides are this picture written as matrix products, and the slide after that is the bottom row as a table.</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nothing in the forward pass lets example 3 influence example 7. That is what allows training to process examples in batches, or to split them across machines. Define the term here, because it is new: lesson 3’s gradient descent computed every step’s gradient on all m examples; a mini-batch step computes it on a small random group - 64 in notebook 1 - takes the step, then moves to the next group. The number in each group is the batch size. It works only because examples do not mix: if they could influence one another, the gradient on 64 of them would not approximate the gradient on all of them. The full story, and how batch size interacts with the learning rate, comes back with the optimisers in the last segment (handout section 9.2).</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The untrained network is notebook 1’s: four hidden units with random He initial weights, scored on the 2,250 acceptance training units. The second number is the cost of a model that says 0.5 for every unit, which is minus log of a half, ln 2.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three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three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Tolerances </a:t>
            </a:r>
            <a:r>
              <a:rPr b="1"/>
              <a:t>0.50</a:t>
            </a:r>
            <a:r>
              <a:rPr/>
              <a:t> dB and </a:t>
            </a:r>
            <a:r>
              <a:rPr b="1"/>
              <a:t>3.75</a:t>
            </a:r>
            <a:r>
              <a:rPr/>
              <a:t>°; production spreads (standard deviations) </a:t>
            </a:r>
            <a:r>
              <a:rPr b="1"/>
              <a:t>0.40</a:t>
            </a:r>
            <a:r>
              <a:rPr/>
              <a:t> and </a:t>
            </a:r>
            <a:r>
              <a:rPr b="1"/>
              <a:t>3.00</a:t>
            </a:r>
          </a:p>
          <a:p>
            <a:pPr lvl="0"/>
            <a:r>
              <a:rPr/>
              <a:t>Both are exactly </a:t>
            </a:r>
            <a:r>
              <a:rPr b="1"/>
              <a:t>1.25 spreads</a:t>
            </a:r>
            <a:r>
              <a:rPr/>
              <a:t>, so standardised, the accept region is a circle of radius 1.25</a:t>
            </a:r>
          </a:p>
          <a:p>
            <a:pPr lvl="0"/>
            <a:r>
              <a:rPr/>
              <a:t>Production offsets are </a:t>
            </a:r>
            <a:r>
              <a:rPr b="1"/>
              <a:t>normally distributed</a:t>
            </a:r>
            <a:r>
              <a:rPr/>
              <a:t>: standardised, each unit is a random point of a standard two-dimensional normal</a:t>
            </a:r>
          </a:p>
          <a:p>
            <a:pPr lvl="0"/>
            <a:r>
              <a:rPr b="1"/>
              <a:t>0.5497</a:t>
            </a:r>
            <a:r>
              <a:rPr/>
              <a:t> of the 3,000 generated units fall inside the circle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any model: the share inside, from the normal</a:t>
            </a:r>
          </a:p>
        </p:txBody>
      </p:sp>
      <p:pic>
        <p:nvPicPr>
          <p:cNvPr descr="eq_3638bdf1b5.png" id="0" name="Picture 1"/>
          <p:cNvPicPr>
            <a:picLocks noGrp="1" noChangeAspect="1"/>
          </p:cNvPicPr>
          <p:nvPr/>
        </p:nvPicPr>
        <p:blipFill>
          <a:blip r:embed="rId3"/>
          <a:stretch>
            <a:fillRect/>
          </a:stretch>
        </p:blipFill>
        <p:spPr bwMode="auto">
          <a:xfrm>
            <a:off x="457200" y="2573139"/>
            <a:ext cx="82296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accuracy</a:t>
                      </a:r>
                    </a:p>
                  </a:txBody>
                  <a:tcPr/>
                </a:tc>
              </a:tr>
              <a:tr h="0">
                <a:tc>
                  <a:txBody>
                    <a:bodyPr/>
                    <a:lstStyle/>
                    <a:p>
                      <a:pPr lvl="0" indent="0" marL="0">
                        <a:buNone/>
                      </a:pPr>
                      <a:r>
                        <a:rPr/>
                        <a:t>always predict “accepted”, on the 750 test units</a:t>
                      </a:r>
                    </a:p>
                  </a:txBody>
                </a:tc>
                <a:tc>
                  <a:txBody>
                    <a:bodyPr/>
                    <a:lstStyle/>
                    <a:p>
                      <a:pPr lvl="0" indent="0" marL="0">
                        <a:buNone/>
                      </a:pPr>
                      <a:r>
                        <a:rPr/>
                        <a:t>0.5480</a:t>
                      </a:r>
                    </a:p>
                  </a:txBody>
                </a:tc>
              </a:tr>
              <a:tr h="0">
                <a:tc>
                  <a:txBody>
                    <a:bodyPr/>
                    <a:lstStyle/>
                    <a:p>
                      <a:pPr lvl="0" indent="0" marL="0">
                        <a:buNone/>
                      </a:pPr>
                      <a:r>
                        <a:rPr/>
                        <a:t>fitted logistic regression, on the 750 test units</a:t>
                      </a:r>
                    </a:p>
                  </a:txBody>
                </a:tc>
                <a:tc>
                  <a:txBody>
                    <a:bodyPr/>
                    <a:lstStyle/>
                    <a:p>
                      <a:pPr lvl="0" indent="0" marL="0">
                        <a:buNone/>
                      </a:pPr>
                      <a:r>
                        <a:rPr b="1"/>
                        <a:t>0.5507</a:t>
                      </a:r>
                    </a:p>
                  </a:txBody>
                </a:tc>
              </a:tr>
              <a:tr h="0">
                <a:tc>
                  <a:txBody>
                    <a:bodyPr/>
                    <a:lstStyle/>
                    <a:p>
                      <a:pPr lvl="0" indent="0" marL="0">
                        <a:buNone/>
                      </a:pPr>
                      <a:r>
                        <a:rPr/>
                        <a:t>the best possible straight line, computed from the true distribution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Fitted logistic regression: coefficients </a:t>
            </a:r>
            <a:r>
              <a:rPr b="1"/>
              <a:t>(0.0096, 0.0701)</a:t>
            </a:r>
            <a:r>
              <a:rPr/>
              <a:t>, intercept </a:t>
            </a:r>
            <a:r>
              <a:rPr b="1"/>
              <a:t>0.1892</a:t>
            </a:r>
            <a:r>
              <a:rPr/>
              <a:t>, almost exactly the constant model</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181 directions × 201 offsets × 2 sides = 72,762 lines, all scored on the test set; the winner, </a:t>
            </a:r>
            <a:r>
              <a:rPr b="1"/>
              <a:t>on the data that chose it</a:t>
            </a:r>
            <a:r>
              <a:rPr/>
              <a:t>: 0.6880</a:t>
            </a:r>
          </a:p>
          <a:p>
            <a:pPr lvl="0"/>
            <a:r>
              <a:rPr/>
              <a:t>The honest figure, from the true distribution, not from any test set: </a:t>
            </a:r>
            <a:r>
              <a:rPr b="1"/>
              <a:t>0.6491</a:t>
            </a:r>
            <a:r>
              <a:rPr/>
              <a:t> (±0.001)</a:t>
            </a:r>
          </a:p>
          <a:p>
            <a:pPr lvl="0"/>
            <a:r>
              <a:rPr b="1"/>
              <a:t>Almost 4 points of pure selection bias</a:t>
            </a:r>
          </a:p>
          <a:p>
            <a:pPr lvl="0"/>
            <a:r>
              <a:rPr/>
              <a:t>Nothing was fitted: only a choice made. Lesson 5’s argument again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(drift data)</a:t>
                      </a:r>
                    </a:p>
                  </a:txBody>
                  <a:tcPr/>
                </a:tc>
                <a:tc>
                  <a:txBody>
                    <a:bodyPr/>
                    <a:lstStyle/>
                    <a:p>
                      <a:pPr lvl="0" indent="0" marL="0">
                        <a:buNone/>
                      </a:pPr>
                      <a:r>
                        <a:rPr/>
                        <a:t>median accuracy,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drawn</a:t>
            </a:r>
          </a:p>
        </p:txBody>
      </p:sp>
      <p:pic>
        <p:nvPicPr>
          <p:cNvPr descr="forward_pass_map.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So a step can use a </a:t>
            </a:r>
            <a:r>
              <a:rPr b="1"/>
              <a:t>mini-batch</a:t>
            </a:r>
            <a:r>
              <a:rPr/>
              <a:t>: the gradient on a few examples (64 in notebook 1), not all m</a:t>
            </a:r>
          </a:p>
          <a:p>
            <a:pPr lvl="0"/>
            <a:r>
              <a:rPr b="1"/>
              <a:t>Each column of W⁽¹⁾ is one unit</a:t>
            </a:r>
            <a:r>
              <a:rPr/>
              <a:t>: its weights, and the line it draws</a:t>
            </a:r>
          </a:p>
          <a:p>
            <a:pPr lvl="0"/>
            <a:r>
              <a:rPr/>
              <a:t>So H hidden units are H lines, and the output unit votes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Untrained, the cost is 0.6721; predicting 0.5 for all, ln 2 =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a:t>
            </a:r>
            <a:r>
              <a:rPr b="1"/>
              <a:t>δ</a:t>
            </a:r>
            <a:r>
              <a:rPr/>
              <a:t>, the cost’s derivative with respect to each layer’s </a:t>
            </a:r>
            <a:r>
              <a:rPr b="1"/>
              <a:t>pre-activations</a:t>
            </a:r>
            <a:r>
              <a:rPr/>
              <a:t> Z</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δ: for layer 2, (A⁽¹⁾)ᵀ δ⁽²⁾</a:t>
            </a:r>
          </a:p>
          <a:p>
            <a:pPr lvl="0"/>
            <a:r>
              <a:rPr/>
              <a:t>To step down: multiply δ by the weight matrix above, then elementwise (⊙) by the activation’s derivative g′</a:t>
            </a:r>
          </a:p>
          <a:p>
            <a:pPr lvl="0"/>
            <a:r>
              <a:rPr/>
              <a:t>For the ReLU, g′ is 1 where the pre-activation was positive, 0 elsewhere: a unit silent going forward passes nothing back</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(examples per mini-batch), and memory, not arithmetic, is what usually limits batch size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just trains badly</a:t>
            </a:r>
          </a:p>
          <a:p>
            <a:pPr lvl="0"/>
            <a:r>
              <a:rPr/>
              <a:t>Compare each partial with (J(θ + h) − J(θ − h)) ÷ 2h: error of order h²</a:t>
            </a:r>
          </a:p>
          <a:p>
            <a:pPr lvl="0"/>
            <a:r>
              <a:rPr/>
              <a:t>Relative error = |⁠numerical − analytic|⁠ ÷ (|⁠numerical|⁠ + |⁠analytic|⁠); notebook 01: worst 1.97 × 10⁻⁸, median 7.83 × 10⁻¹¹</a:t>
            </a:r>
          </a:p>
          <a:p>
            <a:pPr lvl="0"/>
            <a:r>
              <a:rPr b="1"/>
              <a:t>Below 10⁻⁶: believe it. Above 10⁻⁴: there is a bug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28-44</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57-58</a:t>
                      </a:r>
                    </a:p>
                  </a:txBody>
                </a:tc>
                <a:tc>
                  <a:txBody>
                    <a:bodyPr/>
                    <a:lstStyle/>
                    <a:p>
                      <a:pPr lvl="0" indent="0" marL="0">
                        <a:buNone/>
                      </a:pPr>
                      <a:r>
                        <a:rPr/>
                        <a:t>all weights 0 → final cost 0.6887</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digits</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r>
              <a:rPr/>
              <a:t>: 0.55 for the line, about 0.94 with a few hidden units</a:t>
            </a:r>
          </a:p>
          <a:p>
            <a:pPr lvl="0"/>
            <a:r>
              <a:rPr/>
              <a:t>Digits vote pixel by pixel: the acceptance rule needed two measurements </a:t>
            </a:r>
            <a:r>
              <a:rPr b="1"/>
              <a:t>at once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Six sigmoid layers, eight seeds: gradient size at the layer nearest the output ÷ at the first layer, median </a:t>
            </a:r>
            <a:r>
              <a:rPr b="1"/>
              <a:t>3,547</a:t>
            </a:r>
          </a:p>
          <a:p>
            <a:pPr lvl="0"/>
            <a:r>
              <a:rPr/>
              <a:t>Over those eight seeds it ranges </a:t>
            </a:r>
            <a:r>
              <a:rPr b="1"/>
              <a:t>2,734 to 4,607</a:t>
            </a:r>
          </a:p>
          <a:p>
            <a:pPr lvl="0"/>
            <a:r>
              <a:rPr/>
              <a:t>Quoting the largest reports one draw as a law</a:t>
            </a:r>
          </a:p>
          <a:p>
            <a:pPr lvl="0"/>
            <a:r>
              <a:rPr b="1"/>
              <a:t>The per-layer factor of about 4 is the property</a:t>
            </a:r>
          </a:p>
          <a:p>
            <a:pPr lvl="0"/>
            <a:r>
              <a:rPr/>
              <a:t>By depth, five seeds each: 9.5, 170, 3,553, 46,250 at two, four, six and eight layers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the sigmoid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and data, </a:t>
            </a:r>
            <a:r>
              <a:rPr b="1"/>
              <a:t>only</a:t>
            </a:r>
            <a:r>
              <a:rPr/>
              <a:t> the activation differs; an </a:t>
            </a:r>
            <a:r>
              <a:rPr b="1"/>
              <a:t>epoch</a:t>
            </a:r>
            <a:r>
              <a:rPr/>
              <a:t> is one pass through the training set</a:t>
            </a:r>
          </a:p>
          <a:p>
            <a:pPr lvl="0"/>
            <a:r>
              <a:rPr/>
              <a:t>Sigmoid: </a:t>
            </a:r>
            <a:r>
              <a:rPr b="1"/>
              <a:t>0.1000</a:t>
            </a:r>
            <a:r>
              <a:rPr/>
              <a:t>, exact chance on ten classes</a:t>
            </a:r>
          </a:p>
          <a:p>
            <a:pPr lvl="0"/>
            <a:r>
              <a:rPr/>
              <a:t>tanh: </a:t>
            </a:r>
            <a:r>
              <a:rPr b="1"/>
              <a:t>0.9750</a:t>
            </a:r>
            <a:r>
              <a:rPr/>
              <a:t>, past 0.85 within 3 epochs</a:t>
            </a:r>
          </a:p>
          <a:p>
            <a:pPr lvl="0"/>
            <a:r>
              <a:rPr/>
              <a:t>ReLU: </a:t>
            </a:r>
            <a:r>
              <a:rPr b="1"/>
              <a:t>0.9611</a:t>
            </a:r>
            <a:r>
              <a:rPr/>
              <a:t>, 9 epochs to get going</a:t>
            </a:r>
          </a:p>
          <a:p>
            <a:pPr lvl="0"/>
            <a:r>
              <a:rPr/>
              <a:t>tanh squashes too, but its derivative reaches 1; the sigmoid’s never exceeds ¼, and that is what kills it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28-34</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46-49</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50-53</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54-55</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59</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a:t>
            </a:r>
            <a:r>
              <a:rPr b="1"/>
              <a:t>only the output bias moves</a:t>
            </a:r>
          </a:p>
          <a:p>
            <a:pPr lvl="0"/>
            <a:r>
              <a:rPr/>
              <a:t>It converges to the base rate, the cost to the label entropy: </a:t>
            </a:r>
            <a:r>
              <a:rPr b="1"/>
              <a:t>0.6887 predicted, 0.6887 measured</a:t>
            </a:r>
          </a:p>
          <a:p>
            <a:pPr lvl="0"/>
            <a:r>
              <a:rPr/>
              <a:t>32 hidden units started at zero end as </a:t>
            </a:r>
            <a:r>
              <a:rPr b="1"/>
              <a:t>1 distinct unit</a:t>
            </a:r>
            <a:r>
              <a:rPr/>
              <a:t>, copied 32 times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Each layer multiplies the variance by n × Var(w): Var(w) = 1/n is </a:t>
            </a:r>
            <a:r>
              <a:rPr b="1"/>
              <a:t>Glorot</a:t>
            </a:r>
            <a:r>
              <a:rPr/>
              <a:t>; for ReLU, 2/n is </a:t>
            </a:r>
            <a:r>
              <a:rPr b="1"/>
              <a:t>He</a:t>
            </a:r>
          </a:p>
          <a:p>
            <a:pPr lvl="0"/>
            <a:r>
              <a:rPr/>
              <a:t>Eight tanh layers of 64, weights of standard deviation 0.01: the signal </a:t>
            </a:r>
            <a:r>
              <a:rPr b="1"/>
              <a:t>collapses</a:t>
            </a:r>
            <a:r>
              <a:rPr/>
              <a:t> to zero by layer 4</a:t>
            </a:r>
          </a:p>
          <a:p>
            <a:pPr lvl="0"/>
            <a:r>
              <a:rPr/>
              <a:t>Standard deviation 1: 73% of the last layer </a:t>
            </a:r>
            <a:r>
              <a:rPr b="1"/>
              <a:t>saturates</a:t>
            </a:r>
            <a:r>
              <a:rPr/>
              <a:t>, |a| &gt; 0.99</a:t>
            </a:r>
          </a:p>
          <a:p>
            <a:pPr lvl="0"/>
            <a:r>
              <a:rPr/>
              <a:t>Glorot keeps half its spread over the eight layers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 two layers of 64, on the digits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 plain SGD, 60 epochs</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One layer of 64, 40 epochs: at α = 1.0, </a:t>
            </a:r>
            <a:r>
              <a:rPr b="1"/>
              <a:t>33 of 64 are dead</a:t>
            </a:r>
            <a:r>
              <a:rPr/>
              <a:t>, validation accuracy 0.9583 against 0.9667 at α = 0.5</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 acceptance data, 16 hidden units</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against the noise-free labels</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on that network</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60-62</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63-64</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65-66</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67</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68</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