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7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notesMaster" Target="notesMasters/notesMaster1.xml"/><Relationship Id="rId73" Type="http://schemas.openxmlformats.org/officeDocument/2006/relationships/presProps" Target="presProps.xml"/><Relationship Id="rId74" Type="http://schemas.openxmlformats.org/officeDocument/2006/relationships/viewProps" Target="viewProps.xml"/><Relationship Id="rId75" Type="http://schemas.openxmlformats.org/officeDocument/2006/relationships/theme" Target="theme/theme1.xml"/><Relationship Id="rId76"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Frame the whole three hours before any content. Every model this course has built so far drew a boundary whose shape was fixed before the data arrived: logistic regression a straight line, a decision tree axis-parallel boxes, a kernel machine a curve out of a family somebody chose when they picked the kernel. Today the shape itself is learned, and that is the single idea of the lesson.</a:t>
            </a:r>
          </a:p>
          <a:p>
            <a:pPr lvl="0" indent="0" marL="0">
              <a:buNone/>
            </a:pPr>
          </a:p>
          <a:p>
            <a:pPr lvl="0" indent="0" marL="0">
              <a:buNone/>
            </a:pPr>
            <a:r>
              <a:rPr/>
              <a:t>Say what the lesson deliberately is not: it is not a survey of architectures, and there is no result here that needs a graphics card. Three hours is enough to derive backpropagation properly, implement it from scratch, and meet the handful of failure modes that account for most of the time anyone ever spends debugging a network. That is a better use of the time than a tour.</a:t>
            </a:r>
          </a:p>
          <a:p>
            <a:pPr lvl="0" indent="0" marL="0">
              <a:buNone/>
            </a:pPr>
          </a:p>
          <a:p>
            <a:pPr lvl="0" indent="0" marL="0">
              <a:buNone/>
            </a:pPr>
            <a:r>
              <a:rPr/>
              <a:t>Two of today’s three datasets come from a fictional sensor maker, Meridian Instruments; the third is real handwritten digits. Handout section 1.</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Nothing to collect and nothing to hand back - discuss it. Ask what the silhouette score was taken to prove, and listen for it being treated as validation of the clustering, which is precisely the blind spot section 4 of lesson 8 was about.</a:t>
            </a:r>
          </a:p>
          <a:p>
            <a:pPr lvl="0" indent="0" marL="0">
              <a:buNone/>
            </a:pPr>
          </a:p>
          <a:p>
            <a:pPr lvl="0" indent="0" marL="0">
              <a:buNone/>
            </a:pPr>
            <a:r>
              <a:rPr/>
              <a:t>Link forward deliberately. Today’s methods are the easiest in the whole course to make </a:t>
            </a:r>
            <a:r>
              <a:rPr i="1"/>
              <a:t>look</a:t>
            </a:r>
            <a:r>
              <a:rPr/>
              <a:t> like they work: a network with enough units will drive its training loss to essentially zero on any dataset you hand it, including one with random labels. Everything in this lesson that reads as caution - the seed-to-seed spreads in every table, the ceiling of 0.97, the four points of selection bias on slide 16 - is there because of that.</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one-sentence thesis of the lesson and it is worth saying slowly, because students often arrive believing that what makes a network special is its size. It is not. It is that the family of boundaries is not fixed before training starts.</a:t>
            </a:r>
          </a:p>
          <a:p>
            <a:pPr lvl="0" indent="0" marL="0">
              <a:buNone/>
            </a:pPr>
          </a:p>
          <a:p>
            <a:pPr lvl="0" indent="0" marL="0">
              <a:buNone/>
            </a:pPr>
            <a:r>
              <a:rPr/>
              <a:t>Put the question to the room: given lesson 6’s kernel machines, which also draw curved boundaries, what is actually different here? The answer is who chose the family - with a kernel you did, in advance, and if you chose badly no amount of data repairs it; with a hidden layer the data chooses.</a:t>
            </a:r>
          </a:p>
          <a:p>
            <a:pPr lvl="0" indent="0" marL="0">
              <a:buNone/>
            </a:pPr>
          </a:p>
          <a:p>
            <a:pPr lvl="0" indent="0" marL="0">
              <a:buNone/>
            </a:pPr>
            <a:r>
              <a:rPr/>
              <a:t>Handout section 1.</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Introduce all three problems at once, because the contrast between them is what keeps this lesson from simply advertising neural networks. On the acceptance data a linear model scores 0.55 and a network 0.94 - a 39-point gap. On the digits a linear model scores 0.93 and the best network here 0.97 - three and a half points. A lesson that only showed problems where networks win would teach the opposite of what is true.</a:t>
            </a:r>
          </a:p>
          <a:p>
            <a:pPr lvl="0" indent="0" marL="0">
              <a:buNone/>
            </a:pPr>
          </a:p>
          <a:p>
            <a:pPr lvl="0" indent="0" marL="0">
              <a:buNone/>
            </a:pPr>
            <a:r>
              <a:rPr/>
              <a:t>The 3% rig error is the number to keep visible all afternoon. The two synthetic datasets publish their generating rules as </a:t>
            </a:r>
            <a:r>
              <a:rPr>
                <a:latin typeface="Courier"/>
              </a:rPr>
              <a:t>TRUE_*</a:t>
            </a:r>
            <a:r>
              <a:rPr/>
              <a:t> constants in </a:t>
            </a:r>
            <a:r>
              <a:rPr>
                <a:latin typeface="Courier"/>
              </a:rPr>
              <a:t>Notebooks/instrument_data.py</a:t>
            </a:r>
            <a:r>
              <a:rPr/>
              <a:t>, which is why this lesson can quote both what a model scores and what it actually learned - a comparison Meridian’s own engineers could never make.</a:t>
            </a:r>
          </a:p>
          <a:p>
            <a:pPr lvl="0" indent="0" marL="0">
              <a:buNone/>
            </a:pPr>
          </a:p>
          <a:p>
            <a:pPr lvl="0" indent="0" marL="0">
              <a:buNone/>
            </a:pPr>
            <a:r>
              <a:rPr/>
              <a:t>Ask the room: if the measuring instrument is wrong 3% of the time, what is the best accuracy any classifier can be </a:t>
            </a:r>
            <a:r>
              <a:rPr i="1"/>
              <a:t>scored</a:t>
            </a:r>
            <a:r>
              <a:rPr/>
              <a:t> at? 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Nothing on this slide is new mathematics, and saying so out loud is the point: students should feel that they already own the building block, so that the only genuinely new idea today is putting units in layers, one feeding the next.</a:t>
            </a:r>
          </a:p>
          <a:p>
            <a:pPr lvl="0" indent="0" marL="0">
              <a:buNone/>
            </a:pPr>
          </a:p>
          <a:p>
            <a:pPr lvl="0" indent="0" marL="0">
              <a:buNone/>
            </a:pPr>
            <a:r>
              <a:rPr/>
              <a:t>Say the last two bullets carefully, because everything in the next twenty minutes depends on them. Everything a single neuron can express is “which side of this line are you on, and how far”. Not “is this point unusual”, not “is this point inside a region” - one side of one line.</a:t>
            </a:r>
          </a:p>
          <a:p>
            <a:pPr lvl="0" indent="0" marL="0">
              <a:buNone/>
            </a:pPr>
          </a:p>
          <a:p>
            <a:pPr lvl="0" indent="0" marL="0">
              <a:buNone/>
            </a:pPr>
            <a:r>
              <a:rPr/>
              <a:t>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it out in words rather than in symbols: take a weighted sum of the inputs, add a bias, squash it into the interval from zero to one. The squashing does not change which side of the line a point is on - the sigmoid is monotone - so the boundary is still exactly the straight line where the weighted sum vanishes.</a:t>
            </a:r>
          </a:p>
          <a:p>
            <a:pPr lvl="0" indent="0" marL="0">
              <a:buNone/>
            </a:pPr>
          </a:p>
          <a:p>
            <a:pPr lvl="0" indent="0" marL="0">
              <a:buNone/>
            </a:pPr>
            <a:r>
              <a:rPr/>
              <a:t>The whole of the next segment is an attempt to solve, with this object, a problem that a line cannot solve. 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previous slide’s formula as a picture, with numbers: w1 = 1, w2 = 2, b = -1. Point at the left half first. Two inputs arrive, each multiplied by its weight; a third input that is always 1 carries the bias, so the bias is just one more weight. The sum z goes through the sigmoid, and out comes y-hat between 0 and 1. Rosenblatt’s 1958 perceptron had a step where the sigmoid is: output 1 when z is positive, 0 otherwise.</a:t>
            </a:r>
          </a:p>
          <a:p>
            <a:pPr lvl="0" indent="0" marL="0">
              <a:buNone/>
            </a:pPr>
          </a:p>
          <a:p>
            <a:pPr lvl="0" indent="0" marL="0">
              <a:buNone/>
            </a:pPr>
            <a:r>
              <a:rPr/>
              <a:t>Then the right half, which is the same unit seen from the data’s side. Colour every point of the input plane by the y-hat the unit gives it. The colour changes smoothly, but the decision changes in one place only: the black line x1 + 2 x2 - 1 = 0, where z is 0 and y-hat is exactly 0.5. Above it the unit says 1, below it 0.</a:t>
            </a:r>
          </a:p>
          <a:p>
            <a:pPr lvl="0" indent="0" marL="0">
              <a:buNone/>
            </a:pPr>
          </a:p>
          <a:p>
            <a:pPr lvl="0" indent="0" marL="0">
              <a:buNone/>
            </a:pPr>
            <a:r>
              <a:rPr/>
              <a:t>Ask the room what changing w2 to -2 would do to the picture - the line tilts the other way - and what changing b would do - it slides the line without turning it. Weights set the direction, the bias sets the position, and nothing a single unit can do bends it. That is the problem the next slides set up.</a:t>
            </a:r>
          </a:p>
          <a:p>
            <a:pPr lvl="0" indent="0" marL="0">
              <a:buNone/>
            </a:pPr>
          </a:p>
          <a:p>
            <a:pPr lvl="0" indent="0" marL="0">
              <a:buNone/>
            </a:pPr>
            <a:r>
              <a:rPr/>
              <a:t>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Describe the physical situation before any picture: this is a real shape of industrial problem, not a toy built to embarrass linear models. The firmware applies one correction, so a unit is usable when the pair of offsets is small together, not when either one is small on its own.</a:t>
            </a:r>
          </a:p>
          <a:p>
            <a:pPr lvl="0" indent="0" marL="0">
              <a:buNone/>
            </a:pPr>
          </a:p>
          <a:p>
            <a:pPr lvl="0" indent="0" marL="0">
              <a:buNone/>
            </a:pPr>
            <a:r>
              <a:rPr/>
              <a:t>Ask the room to predict, before the next slide, what the accept region will look like once each axis is divided by its own production spread. Most will say “a box”, because two tolerances sounds like two independent thresholds. The answer is a circle, and the reason is on the slide after next.</a:t>
            </a:r>
          </a:p>
          <a:p>
            <a:pPr lvl="0" indent="0" marL="0">
              <a:buNone/>
            </a:pPr>
          </a:p>
          <a:p>
            <a:pPr lvl="0" indent="0" marL="0">
              <a:buNone/>
            </a:pPr>
            <a:r>
              <a:rPr/>
              <a:t>Handout section 1.1 and section 2.2.</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panel: the raw measurements in decibels and degrees, which is all Meridian’s engineers ever see. Right panel: the same points after each axis is divided by its own production spread, with the rule that generated the labels drawn on top.</a:t>
            </a:r>
          </a:p>
          <a:p>
            <a:pPr lvl="0" indent="0" marL="0">
              <a:buNone/>
            </a:pPr>
          </a:p>
          <a:p>
            <a:pPr lvl="0" indent="0" marL="0">
              <a:buNone/>
            </a:pPr>
            <a:r>
              <a:rPr/>
              <a:t>Point directly at the wrong-coloured points scattered along the circle. Those are not model errors - nothing has been fitted yet. They are the 3% of verdicts the test rig recorded incorrectly, and they are the reason no score today can exceed 0.97.</a:t>
            </a:r>
          </a:p>
          <a:p>
            <a:pPr lvl="0" indent="0" marL="0">
              <a:buNone/>
            </a:pPr>
          </a:p>
          <a:p>
            <a:pPr lvl="0" indent="0" marL="0">
              <a:buNone/>
            </a:pPr>
            <a:r>
              <a:rPr/>
              <a:t>Let the room look at the right panel and ask the obvious question out loud: where would you put a straight line? 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payoff for the “try this” in the handout: the circle is not an arbitrary teaching choice, it falls out of the two tolerances being the same multiple of their own axis’s spread. Standardising is what makes that visible - in decibels and degrees the region is an ellipse and the coincidence is invisible.</a:t>
            </a:r>
          </a:p>
          <a:p>
            <a:pPr lvl="0" indent="0" marL="0">
              <a:buNone/>
            </a:pPr>
          </a:p>
          <a:p>
            <a:pPr lvl="0" indent="0" marL="0">
              <a:buNone/>
            </a:pPr>
            <a:r>
              <a:rPr/>
              <a:t>The measured 0.5497 is worth stating before the theoretical number on the next slide, so that the comparison runs from data to formula rather than the other way round.</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middle step is left off the slide so the formula stays large enough to read: 1.25 squared over two is 0.78125, and that is the exponent. Do it out loud.</a:t>
            </a:r>
          </a:p>
          <a:p>
            <a:pPr lvl="0" indent="0" marL="0">
              <a:buNone/>
            </a:pPr>
          </a:p>
          <a:p>
            <a:pPr lvl="0" indent="0" marL="0">
              <a:buNone/>
            </a:pPr>
            <a:r>
              <a:rPr/>
              <a:t>For a standard two-dimensional normal the probability of landing inside a circle of radius s is one minus e to the minus s squared over two - a fact worth a moment, since it is the same integral that reappears in section 11 when the lesson computes how well a polygon of a given number of sides could fence this region.</a:t>
            </a:r>
          </a:p>
          <a:p>
            <a:pPr lvl="0" indent="0" marL="0">
              <a:buNone/>
            </a:pPr>
          </a:p>
          <a:p>
            <a:pPr lvl="0" indent="0" marL="0">
              <a:buNone/>
            </a:pPr>
            <a:r>
              <a:rPr/>
              <a:t>0.5422 predicted, 0.5497 measured on 3,000 units. The gap is sampling noise on three thousand draws and nothing else.</a:t>
            </a:r>
          </a:p>
          <a:p>
            <a:pPr lvl="0" indent="0" marL="0">
              <a:buNone/>
            </a:pPr>
          </a:p>
          <a:p>
            <a:pPr lvl="0" indent="0" marL="0">
              <a:buNone/>
            </a:pPr>
            <a:r>
              <a:rPr>
                <a:latin typeface="Courier"/>
              </a:rPr>
              <a:t>Docs/worked_examples.py</a:t>
            </a:r>
            <a:r>
              <a:rPr/>
              <a:t> recomputes this from the raw tolerances rather than from the standardised radius. 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table from the top. A model that ignores its inputs entirely scores 0.5480. Logistic regression, fitted properly on 2,250 examples, scores 0.5507 - 27 ten-thousandths better than knowing nothing.</a:t>
            </a:r>
          </a:p>
          <a:p>
            <a:pPr lvl="0" indent="0" marL="0">
              <a:buNone/>
            </a:pPr>
          </a:p>
          <a:p>
            <a:pPr lvl="0" indent="0" marL="0">
              <a:buNone/>
            </a:pPr>
            <a:r>
              <a:rPr/>
              <a:t>Then read the gaps, which are the real content. The fitted line is 0.27 points above knowing nothing. The best line that exists for this population would be about 10 points above it, at 0.6491. And even that best line is 32 points below the reachable 0.97. The small gaps are about fitting; the large one is about the shape of the model: no straight line can enclose a circle.</a:t>
            </a:r>
          </a:p>
          <a:p>
            <a:pPr lvl="0" indent="0" marL="0">
              <a:buNone/>
            </a:pPr>
          </a:p>
          <a:p>
            <a:pPr lvl="0" indent="0" marL="0">
              <a:buNone/>
            </a:pPr>
            <a:r>
              <a:rPr/>
              <a:t>Ask the room whether they would suspect a bug if they saw 0.5507 come out of their own experiment. Most would, and they would be wrong. 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Solid line: the fitted logistic boundary. Dashed: the best line found by brute-force search over 72,762 candidates.</a:t>
            </a:r>
          </a:p>
          <a:p>
            <a:pPr lvl="0" indent="0" marL="0">
              <a:buNone/>
            </a:pPr>
          </a:p>
          <a:p>
            <a:pPr lvl="0" indent="0" marL="0">
              <a:buNone/>
            </a:pPr>
            <a:r>
              <a:rPr/>
              <a:t>The thing to point at is what the </a:t>
            </a:r>
            <a:r>
              <a:rPr i="1"/>
              <a:t>best</a:t>
            </a:r>
            <a:r>
              <a:rPr/>
              <a:t> line does, because it is not what students expect. It does not attempt to enclose the accept region - it cannot - so it slices off one far tail of the distribution where almost every unit is a reject, and collects the accuracy of being right there. That is the best any straight line can do on this problem.</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slide exists to head off the single most likely wrong diagnosis. A student who sees 0.5507 will reach for the optimiser: more iterations, a different solver, a smaller learning rate, scaling. None of it will help, and the reasoning behind reaching for it is perfectly sound - a score at chance usually does mean something failed to converge.</a:t>
            </a:r>
          </a:p>
          <a:p>
            <a:pPr lvl="0" indent="0" marL="0">
              <a:buNone/>
            </a:pPr>
          </a:p>
          <a:p>
            <a:pPr lvl="0" indent="0" marL="0">
              <a:buNone/>
            </a:pPr>
            <a:r>
              <a:rPr/>
              <a:t>Walk the symmetry argument out loud, because it is a proof and it takes ten seconds: rotate the picture by 180 degrees and the labels look the same, while any line becomes a different line. So whatever a line gains on one side by tilting, it loses on the opposite side, and the best fit barely tilts at all: it settles on almost the constant answer.</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slide is a deliberate trap, and it is worth pausing on. The brute-force search has none of the features students associate with overfitting: no parameters, no training, no flexible model. It picks the best of a list. And picking the best of a long list, then reporting that best, is enough on its own to inflate a score by four points.</a:t>
            </a:r>
          </a:p>
          <a:p>
            <a:pPr lvl="0" indent="0" marL="0">
              <a:buNone/>
            </a:pPr>
          </a:p>
          <a:p>
            <a:pPr lvl="0" indent="0" marL="0">
              <a:buNone/>
            </a:pPr>
            <a:r>
              <a:rPr/>
              <a:t>Ask the room how many candidates they would have to try before the effect becomes serious, and whether they have ever reported the best of several configurations. Almost everyone has.</a:t>
            </a:r>
          </a:p>
          <a:p>
            <a:pPr lvl="0" indent="0" marL="0">
              <a:buNone/>
            </a:pPr>
          </a:p>
          <a:p>
            <a:pPr lvl="0" indent="0" marL="0">
              <a:buNone/>
            </a:pPr>
            <a:r>
              <a:rPr/>
              <a:t>The 0.6491 is computed analytically in handout section 11.1, from the geometry rather than from any sample, which is precisely why it is trustworthy here. 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plainly that the data changes here: we leave the acceptance test and take Meridian’s second problem, the one announced on slide 5. Each sensor has two channels, and with temperature both drift. When they drift the same way - both up or both down - one correction removes it; when they drift in opposite ways nothing does.</a:t>
            </a:r>
          </a:p>
          <a:p>
            <a:pPr lvl="0" indent="0" marL="0">
              <a:buNone/>
            </a:pPr>
          </a:p>
          <a:p>
            <a:pPr lvl="0" indent="0" marL="0">
              <a:buNone/>
            </a:pPr>
            <a:r>
              <a:rPr/>
              <a:t>Let them look before any rule is stated: four clouds of 200 units, teal in two opposite corners, rust in the other two. Ask where they would put a straight line. There is no good answer, and that is the next slide. Handout section 3.1.</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XOR is the traditional example and it is usually presented as an abstract logic puzzle. It is worth insisting that this version is a physical situation: common-mode drift is removable, differential drift is not, and the rule follows from the electronics rather than from a truth table.</a:t>
            </a:r>
          </a:p>
          <a:p>
            <a:pPr lvl="0" indent="0" marL="0">
              <a:buNone/>
            </a:pPr>
          </a:p>
          <a:p>
            <a:pPr lvl="0" indent="0" marL="0">
              <a:buNone/>
            </a:pPr>
            <a:r>
              <a:rPr/>
              <a:t>The last two bullets are the whole diagnosis. The problem is genuinely one-dimensional - everything depends on a single number, the sum of the two drifts - and still no single straight line can separate the classes, because the question asked of that number needs two thresholds rather than one. Say that plainly: it is not about dimension, it is about how many boundaries the answer needs.</a:t>
            </a:r>
          </a:p>
          <a:p>
            <a:pPr lvl="0" indent="0" marL="0">
              <a:buNone/>
            </a:pPr>
          </a:p>
          <a:p>
            <a:pPr lvl="0" indent="0" marL="0">
              <a:buNone/>
            </a:pPr>
            <a:r>
              <a:rPr/>
              <a:t>Handout section 3.1.</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network of the next slide, drawn before it is described in words. Two inputs, the drifts of channels A and B. Two hidden units, each a weighted sum followed by a rectified linear unit (ReLU): max(0, z), zero for any negative input and the input itself otherwise - the little kink drawn inside each node. One output unit, the sigmoid of lesson 4.</a:t>
            </a:r>
          </a:p>
          <a:p>
            <a:pPr lvl="0" indent="0" marL="0">
              <a:buNone/>
            </a:pPr>
          </a:p>
          <a:p>
            <a:pPr lvl="0" indent="0" marL="0">
              <a:buNone/>
            </a:pPr>
            <a:r>
              <a:rPr/>
              <a:t>Read the weights off the arrows: the first unit adds a and b, the second subtracts them, both with bias minus one. So the first wakes up only when a + b is above 1, the second only when it is below minus 1. The output adds them with weight 10 and bias minus 1. Handout section 3.2.</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moment the lesson turns. Write the four hidden weights on the board if there is time - the first weight matrix is a column of ones beside a column of minus ones, both biases minus one, and the output weights are ten and ten. The handout works all four cloud centres through the network by hand in a table; do one row live, the plus-one plus-one corner, and let them check the rest afterwards.</a:t>
            </a:r>
          </a:p>
          <a:p>
            <a:pPr lvl="0" indent="0" marL="0">
              <a:buNone/>
            </a:pPr>
          </a:p>
          <a:p>
            <a:pPr lvl="0" indent="0" marL="0">
              <a:buNone/>
            </a:pPr>
            <a:r>
              <a:rPr/>
              <a:t>The rectified linear unit is used here as a tool: max of zero and the input, nothing more. Its properties get their own segment after the break.</a:t>
            </a:r>
          </a:p>
          <a:p>
            <a:pPr lvl="0" indent="0" marL="0">
              <a:buNone/>
            </a:pPr>
          </a:p>
          <a:p>
            <a:pPr lvl="0" indent="0" marL="0">
              <a:buNone/>
            </a:pPr>
            <a:r>
              <a:rPr/>
              <a:t>The sentence to leave in the room: whatever training does, </a:t>
            </a:r>
            <a:r>
              <a:rPr i="1"/>
              <a:t>this</a:t>
            </a:r>
            <a:r>
              <a:rPr/>
              <a:t> is the kind of thing it is searching for. Handout section 3.2.</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the four clouds in the input space, where no line separates the colours. Right: the same 800 units plotted by what the two hidden units output.</a:t>
            </a:r>
          </a:p>
          <a:p>
            <a:pPr lvl="0" indent="0" marL="0">
              <a:buNone/>
            </a:pPr>
          </a:p>
          <a:p>
            <a:pPr lvl="0" indent="0" marL="0">
              <a:buNone/>
            </a:pPr>
            <a:r>
              <a:rPr/>
              <a:t>Trace one cloud across the two panels with a finger. The two correctable clouds, which sat in opposite corners of the input space, have been moved to (1, 0) and (0, 1); both uncorrectable clouds have been stacked on top of each other at the origin. In the right-hand panel a single line separates them trivially.</a:t>
            </a:r>
          </a:p>
          <a:p>
            <a:pPr lvl="0" indent="0" marL="0">
              <a:buNone/>
            </a:pPr>
          </a:p>
          <a:p>
            <a:pPr lvl="0" indent="0" marL="0">
              <a:buNone/>
            </a:pPr>
            <a:r>
              <a:rPr/>
              <a:t>Ask the room what the hidden layer classified. The answer is nothing - and that is the next slide. Handout section 3.3.</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idea to carry out of the first half of the lesson, and it is worth more than the algebra that follows. Students tend to picture a network with several layers as a chain of classifiers, each one improving the previous answer. That is not what happens. Every layer except the last changes the coordinates in which the data is described - here the hidden layer moved two clouds to (1, 0) and (0, 1) and stacked the other two at the origin - and only the last layer classifies, with a single straight line.</a:t>
            </a:r>
          </a:p>
          <a:p>
            <a:pPr lvl="0" indent="0" marL="0">
              <a:buNone/>
            </a:pPr>
          </a:p>
          <a:p>
            <a:pPr lvl="0" indent="0" marL="0">
              <a:buNone/>
            </a:pPr>
            <a:r>
              <a:rPr/>
              <a:t>Say that lesson 10 builds on exactly this: a convolutional network also learns new coordinates, but each of its units looks only at a small patch of the image, so most of its weights are fixed at zero. Saying it now means next week opens on a question already asked. Handout section 3.3.</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plainly that the data changes again: we leave the drift problem and go back to the acceptance test of slides 9 to 16, the circle no straight line could enclose. The network changes too: two inputs, the standardised gain and phase offsets; four hidden units, each a ReLU; one output, the probability that the unit passes.</a:t>
            </a:r>
          </a:p>
          <a:p>
            <a:pPr lvl="0" indent="0" marL="0">
              <a:buNone/>
            </a:pPr>
          </a:p>
          <a:p>
            <a:pPr lvl="0" indent="0" marL="0">
              <a:buNone/>
            </a:pPr>
            <a:r>
              <a:rPr/>
              <a:t>This time nobody writes the weights by hand: they are trained, by the gradient descent of lesson 3, which is why the connections are drawn without numbers. Each hidden unit computes a weighted sum of the two inputs, and the places where that sum is zero form a straight line - so four hidden units means four lines. The next slide draws them. Handout sections 4.1 and 11.2.</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trained network of the previous slide, drawn on the data. Left: the four lines its hidden units draw, plotted straight from the columns of the first weight matrix - not inferred from predictions, read off the parameters. Right: the decision region the four produce together, with the true circle dashed.</a:t>
            </a:r>
          </a:p>
          <a:p>
            <a:pPr lvl="0" indent="0" marL="0">
              <a:buNone/>
            </a:pPr>
          </a:p>
          <a:p>
            <a:pPr lvl="0" indent="0" marL="0">
              <a:buNone/>
            </a:pPr>
            <a:r>
              <a:rPr/>
              <a:t>This is the picture that makes “a hidden layer of H units is H lines” concrete. Ask the room how many lines they think are needed before the score stops improving; the answer, from the sweep in handout section 11.2, is about three, which surprises most people.</a:t>
            </a:r>
          </a:p>
          <a:p>
            <a:pPr lvl="0" indent="0" marL="0">
              <a:buNone/>
            </a:pPr>
          </a:p>
          <a:p>
            <a:pPr lvl="0" indent="0" marL="0">
              <a:buNone/>
            </a:pPr>
            <a:r>
              <a:rPr/>
              <a:t>Handout sections 4.1 and 11.2.</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Back to the drift problem, and a new term to define before reading the table. Training has to start from some weights, and the usual choice is small random numbers: that starting point is the </a:t>
            </a:r>
            <a:r>
              <a:rPr b="1"/>
              <a:t>initialisation</a:t>
            </a:r>
            <a:r>
              <a:rPr/>
              <a:t>. Each row trains the same network 20 times, each time from a different random initialisation, and reports the median result, the best one, and how many of the 20 passed 0.95. The lesson returns to initialisation after the break, where it explains why the weights cannot all start at zero.</a:t>
            </a:r>
          </a:p>
          <a:p>
            <a:pPr lvl="0" indent="0" marL="0">
              <a:buNone/>
            </a:pPr>
          </a:p>
          <a:p>
            <a:pPr lvl="0" indent="0" marL="0">
              <a:buNone/>
            </a:pPr>
            <a:r>
              <a:rPr/>
              <a:t>Two units are enough - the lesson wrote a two-unit solution down by hand five slides ago and it scored 0.9938 - yet plain gradient descent finds something that good in only four starts out of twenty.</a:t>
            </a:r>
          </a:p>
          <a:p>
            <a:pPr lvl="0" indent="0" marL="0">
              <a:buNone/>
            </a:pPr>
          </a:p>
          <a:p>
            <a:pPr lvl="0" indent="0" marL="0">
              <a:buNone/>
            </a:pPr>
            <a:r>
              <a:rPr/>
              <a:t>The median tells you what goes wrong. 0.7500 is exactly three of the four clouds: the solution you get by spending both lines carving off a single quadrant. It is a local minimum: no small change of the weights improves it, and most starting points lead down into it.</a:t>
            </a:r>
          </a:p>
          <a:p>
            <a:pPr lvl="0" indent="0" marL="0">
              <a:buNone/>
            </a:pPr>
          </a:p>
          <a:p>
            <a:pPr lvl="0" indent="0" marL="0">
              <a:buNone/>
            </a:pPr>
            <a:r>
              <a:rPr/>
              <a:t>This is the honest reason networks used in practice are wider than their task requires. The extra units are not needed to express the answer - they give training more chances, so that some unit starts near a useful line.</a:t>
            </a:r>
          </a:p>
          <a:p>
            <a:pPr lvl="0" indent="0" marL="0">
              <a:buNone/>
            </a:pPr>
          </a:p>
          <a:p>
            <a:pPr lvl="0" indent="0" marL="0">
              <a:buNone/>
            </a:pPr>
            <a:r>
              <a:rPr/>
              <a:t>Handout section 3.4.</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capacity argument in one picture, and it is worth two minutes even though the segment is tight. The purple line is the best fence you could build from that many straight lines - a regular polygon, computed exactly rather than searched for. The blue line is what training actually reaches.</a:t>
            </a:r>
          </a:p>
          <a:p>
            <a:pPr lvl="0" indent="0" marL="0">
              <a:buNone/>
            </a:pPr>
          </a:p>
          <a:p>
            <a:pPr lvl="0" indent="0" marL="0">
              <a:buNone/>
            </a:pPr>
            <a:r>
              <a:rPr/>
              <a:t>Three things to point at. Almost the whole gain arrives by three units: two to three is worth 20 points, three to thirty-two is worth half a point. At three and four units the trained network is </a:t>
            </a:r>
            <a:r>
              <a:rPr i="1"/>
              <a:t>above</a:t>
            </a:r>
            <a:r>
              <a:rPr/>
              <a:t> the polygon, because H lines cut the plane into far more than one polygon and the output unit votes over the pieces. And past six units the trained curve flattens while the polygon curve keeps climbing towards the ceiling - the lines are available and gradient descent does not use them.</a:t>
            </a:r>
          </a:p>
          <a:p>
            <a:pPr lvl="0" indent="0" marL="0">
              <a:buNone/>
            </a:pPr>
          </a:p>
          <a:p>
            <a:pPr lvl="0" indent="0" marL="0">
              <a:buNone/>
            </a:pPr>
            <a:r>
              <a:rPr/>
              <a:t>Ask the room which of the two curves is a statement about the architecture and which is a statement about the optimiser. The gap between them, after six units, is the subject of handout section 9, on optimisation.</a:t>
            </a:r>
          </a:p>
          <a:p>
            <a:pPr lvl="0" indent="0" marL="0">
              <a:buNone/>
            </a:pPr>
          </a:p>
          <a:p>
            <a:pPr lvl="0" indent="0" marL="0">
              <a:buNone/>
            </a:pPr>
            <a:r>
              <a:rPr/>
              <a:t>Handout section 11.2.</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theorem is cited far more often than it is read, and the citation almost always carries an implication the theorem does not license - that a network is guaranteed to work if you make it big enough.</a:t>
            </a:r>
          </a:p>
          <a:p>
            <a:pPr lvl="0" indent="0" marL="0">
              <a:buNone/>
            </a:pPr>
          </a:p>
          <a:p>
            <a:pPr lvl="0" indent="0" marL="0">
              <a:buNone/>
            </a:pPr>
            <a:r>
              <a:rPr/>
              <a:t>Put the question to the room directly: does the theorem say anything at all about training? It does not mention training. It is a statement about the existence of a set of weights, proved without reference to how anybody would obtain them.</a:t>
            </a:r>
          </a:p>
          <a:p>
            <a:pPr lvl="0" indent="0" marL="0">
              <a:buNone/>
            </a:pPr>
          </a:p>
          <a:p>
            <a:pPr lvl="0" indent="0" marL="0">
              <a:buNone/>
            </a:pPr>
            <a:r>
              <a:rPr/>
              <a:t>Its real content is a licence to stop worrying about whether a network can express the answer, and start worrying about optimisation and data, which is exactly what the remaining two hours do. Handout section 3.5.</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convention warning is not pedantry. It is the single most common source of wasted hours when a student implements backpropagation from a textbook while debugging against scikit-learn shapes, and it is worth thirty seconds now to save an evening later.</a:t>
            </a:r>
          </a:p>
          <a:p>
            <a:pPr lvl="0" indent="0" marL="0">
              <a:buNone/>
            </a:pPr>
          </a:p>
          <a:p>
            <a:pPr lvl="0" indent="0" marL="0">
              <a:buNone/>
            </a:pPr>
            <a:r>
              <a:rPr/>
              <a:t>State the architecture once so the two equation slides that follow can be read without narration: inputs, one hidden layer, one output unit, binary classification. Multiclass comes after the break.</a:t>
            </a:r>
          </a:p>
          <a:p>
            <a:pPr lvl="0" indent="0" marL="0">
              <a:buNone/>
            </a:pPr>
          </a:p>
          <a:p>
            <a:pPr lvl="0" indent="0" marL="0">
              <a:buNone/>
            </a:pPr>
            <a:r>
              <a:rPr/>
              <a:t>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bracketed superscript as the layer index, not a power - say it once and it will not confuse anybody again. Z is the pre-activation, the raw weighted sum; A is what comes out after the activation function g.</a:t>
            </a:r>
          </a:p>
          <a:p>
            <a:pPr lvl="0" indent="0" marL="0">
              <a:buNone/>
            </a:pPr>
          </a:p>
          <a:p>
            <a:pPr lvl="0" indent="0" marL="0">
              <a:buNone/>
            </a:pPr>
            <a:r>
              <a:rPr/>
              <a:t>The bias is added to every row (NumPy calls this broadcasting): one bias per hidden unit, the same value for every example. 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second layer is exactly the single neuron from the start of the lesson, with one change: its inputs are no longer the measurements, they are the hidden layer’s outputs. That is the whole architecture.</a:t>
            </a:r>
          </a:p>
          <a:p>
            <a:pPr lvl="0" indent="0" marL="0">
              <a:buNone/>
            </a:pPr>
          </a:p>
          <a:p>
            <a:pPr lvl="0" indent="0" marL="0">
              <a:buNone/>
            </a:pPr>
            <a:r>
              <a:rPr/>
              <a:t>Say the consequence out loud, because it ties back to the drift example: the output unit is still just a line. It has not become cleverer. It is being handed better coordinates. 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Shapes are the cheapest debugging tool in the whole subject, and the habit worth installing is checking them before running anything. A backward pass that produces a gradient of the wrong shape has a bug you can see; one of the right shape may still have a bug, which is why handout section 5.5 exists.</a:t>
            </a:r>
          </a:p>
          <a:p>
            <a:pPr lvl="0" indent="0" marL="0">
              <a:buNone/>
            </a:pPr>
          </a:p>
          <a:p>
            <a:pPr lvl="0" indent="0" marL="0">
              <a:buNone/>
            </a:pPr>
            <a:r>
              <a:rPr/>
              <a:t>Ask the room what shape the gradient of the cost with respect to the first weight matrix must have. The answer - the same shape as the matrix itself - is the check that catches most transpose errors before they cost anything.</a:t>
            </a:r>
          </a:p>
          <a:p>
            <a:pPr lvl="0" indent="0" marL="0">
              <a:buNone/>
            </a:pPr>
          </a:p>
          <a:p>
            <a:pPr lvl="0" indent="0" marL="0">
              <a:buNone/>
            </a:pPr>
            <a:r>
              <a:rPr/>
              <a:t>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facts look like bookkeeping, but both matter. The first is what allows every later decision to process examples in batches, or to split them across machines; if examples could influence one another, computing a gradient on 32 of them would not approximate the gradient on all of them.</a:t>
            </a:r>
          </a:p>
          <a:p>
            <a:pPr lvl="0" indent="0" marL="0">
              <a:buNone/>
            </a:pPr>
          </a:p>
          <a:p>
            <a:pPr lvl="0" indent="0" marL="0">
              <a:buNone/>
            </a:pPr>
            <a:r>
              <a:rPr/>
              <a:t>The second is what makes a hidden layer interpretable at all in two dimensions, and it is the bridge to the fence picture and to the polygon yardstick in handout section 11. Put the question to the room: if a layer of H units is H lines, how many lines does it take to fence a circle well? Answer after the break, in the notebook.</a:t>
            </a:r>
          </a:p>
          <a:p>
            <a:pPr lvl="0" indent="0" marL="0">
              <a:buNone/>
            </a:pPr>
          </a:p>
          <a:p>
            <a:pPr lvl="0" indent="0" marL="0">
              <a:buNone/>
            </a:pPr>
            <a:r>
              <a:rPr/>
              <a:t>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Cross-entropy, unchanged from lesson 4 - say that explicitly, because students expect a new cost to come with a new model and it does not.</a:t>
            </a:r>
          </a:p>
          <a:p>
            <a:pPr lvl="0" indent="0" marL="0">
              <a:buNone/>
            </a:pPr>
          </a:p>
          <a:p>
            <a:pPr lvl="0" indent="0" marL="0">
              <a:buNone/>
            </a:pPr>
            <a:r>
              <a:rPr/>
              <a:t>The two numbers in the title are the sanity check to run before training anything. A network at random initialisation should cost about log 2, roughly 0.693, on a balanced binary problem: it knows essentially nothing, and the cost says so. 0.6721 is that, slightly better than pure ignorance because the classes are not exactly balanced.</a:t>
            </a:r>
          </a:p>
          <a:p>
            <a:pPr lvl="0" indent="0" marL="0">
              <a:buNone/>
            </a:pPr>
          </a:p>
          <a:p>
            <a:pPr lvl="0" indent="0" marL="0">
              <a:buNone/>
            </a:pPr>
            <a:r>
              <a:rPr/>
              <a:t>A network whose initial cost is far from this has a bug, usually in initialisation scale or in the labels, and it is worth ten seconds to check before spending an hour on the training curve. 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Twelve minutes. What comes back after the break is the derivation that makes all of this trainable - and the four-line check that tells you whether you got it right. Worth saying so before they leave the room.</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the problem up as a cost question rather than a calculus question, because that is what it is. The chain rule was never in doubt; what was in doubt for two decades was whether the gradient could be obtained cheaply enough to take millions of steps with it.</a:t>
            </a:r>
          </a:p>
          <a:p>
            <a:pPr lvl="0" indent="0" marL="0">
              <a:buNone/>
            </a:pPr>
          </a:p>
          <a:p>
            <a:pPr lvl="0" indent="0" marL="0">
              <a:buNone/>
            </a:pPr>
            <a:r>
              <a:rPr/>
              <a:t>Say the 301,066 figure slowly - it is a real network from later in this lesson, two hidden layers of 512 units on eight-by-eight digit images - and let the absurdity land: three hundred thousand forward passes to take one step, and you would need thousands of steps.</a:t>
            </a:r>
          </a:p>
          <a:p>
            <a:pPr lvl="0" indent="0" marL="0">
              <a:buNone/>
            </a:pPr>
          </a:p>
          <a:p>
            <a:pPr lvl="0" indent="0" marL="0">
              <a:buNone/>
            </a:pPr>
            <a:r>
              <a:rPr/>
              <a:t>Handout section 5.1.</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fourth bullet is the sentence students should be able to repeat to a friend without writing anything down, and it is worth asking someone to do exactly that before moving on. Both halves matter: how wrong the layer above was, and how much this particular weight contributed. A weight attached to a feature that was zero for every example gets no gradient no matter how wrong the output was - which is precisely the dead-unit failure later in the lesson.</a:t>
            </a:r>
          </a:p>
          <a:p>
            <a:pPr lvl="0" indent="0" marL="0">
              <a:buNone/>
            </a:pPr>
          </a:p>
          <a:p>
            <a:pPr lvl="0" indent="0" marL="0">
              <a:buNone/>
            </a:pPr>
            <a:r>
              <a:rPr/>
              <a:t>Say why the right-to-left order is forced rather than chosen: the error is only known at the output, so information has to travel from there back towards the inputs, and the repeated sub-expressions are exactly what accumulates along the way.</a:t>
            </a:r>
          </a:p>
          <a:p>
            <a:pPr lvl="0" indent="0" marL="0">
              <a:buNone/>
            </a:pPr>
          </a:p>
          <a:p>
            <a:pPr lvl="0" indent="0" marL="0">
              <a:buNone/>
            </a:pPr>
            <a:r>
              <a:rPr/>
              <a:t>Handout section 5.1.</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what this is before saying why it is remarkable: it is the derivative of the cost with respect to the output layer’s pre-activation, one number per example, and it is where the whole backward pass starts.</a:t>
            </a:r>
          </a:p>
          <a:p>
            <a:pPr lvl="0" indent="0" marL="0">
              <a:buNone/>
            </a:pPr>
          </a:p>
          <a:p>
            <a:pPr lvl="0" indent="0" marL="0">
              <a:buNone/>
            </a:pPr>
            <a:r>
              <a:rPr/>
              <a:t>Then say why it is remarkable. Two messy derivatives went into it - the derivative of cross-entropy, which has a fraction with the prediction in the denominator, and the derivative of the sigmoid, which is a product - and what came out is a subtraction. Prediction minus truth, scaled by the number of examples. That is not luck, and the next slide says why.</a:t>
            </a:r>
          </a:p>
          <a:p>
            <a:pPr lvl="0" indent="0" marL="0">
              <a:buNone/>
            </a:pPr>
          </a:p>
          <a:p>
            <a:pPr lvl="0" indent="0" marL="0">
              <a:buNone/>
            </a:pPr>
            <a:r>
              <a:rPr/>
              <a:t>The full derivation, both factors written out, is handout section 5.2.</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slide that turns a pairing students have seen presented as a convention into a piece of engineering. Ask the room what happens, under squared error, to an example the network predicts at 0.999 when the true label is 0. The prediction is as wrong as it can be; the sigmoid derivative there is about 0.001; so the gradient is about a thousand times smaller than it should be, and the network barely learns from its worst mistake.</a:t>
            </a:r>
          </a:p>
          <a:p>
            <a:pPr lvl="0" indent="0" marL="0">
              <a:buNone/>
            </a:pPr>
          </a:p>
          <a:p>
            <a:pPr lvl="0" indent="0" marL="0">
              <a:buNone/>
            </a:pPr>
            <a:r>
              <a:rPr/>
              <a:t>Cross-entropy removes the factor, and the confidently wrong example gets a gradient proportional to how wrong it is. The same cancellation, with more than two classes, is what makes softmax work after the break.</a:t>
            </a:r>
          </a:p>
          <a:p>
            <a:pPr lvl="0" indent="0" marL="0">
              <a:buNone/>
            </a:pPr>
          </a:p>
          <a:p>
            <a:pPr lvl="0" indent="0" marL="0">
              <a:buNone/>
            </a:pPr>
            <a:r>
              <a:rPr/>
              <a:t>Handout section 5.2.</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two multiplications on this slide are the entire algorithm, repeated once per layer. Emphasise that only one of them involves the data at all - the other is the same weight matrix used in the forward pass, transposed. That symmetry is why the backward pass costs about what the forward pass costs.</a:t>
            </a:r>
          </a:p>
          <a:p>
            <a:pPr lvl="0" indent="0" marL="0">
              <a:buNone/>
            </a:pPr>
          </a:p>
          <a:p>
            <a:pPr lvl="0" indent="0" marL="0">
              <a:buNone/>
            </a:pPr>
            <a:r>
              <a:rPr/>
              <a:t>The ReLU’s derivative, 1 or 0, is worth a moment because it comes back twice: it is why the rectified linear unit does not shrink gradients the way a sigmoid does, and it is why a unit can die permanently. Both are in the segment after notebook 02.</a:t>
            </a:r>
          </a:p>
          <a:p>
            <a:pPr lvl="0" indent="0" marL="0">
              <a:buNone/>
            </a:pPr>
          </a:p>
          <a:p>
            <a:pPr lvl="0" indent="0" marL="0">
              <a:buNone/>
            </a:pPr>
            <a:r>
              <a:rPr/>
              <a:t>Handout section 5.3.</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two operations in order. First the matrix product with the transposed weights above, which redistributes the error at the layer above across the units that fed it. Then the circled dot - the elementwise product - with the activation’s derivative, which asks each unit how much it was actually responding when the example came through.</a:t>
            </a:r>
          </a:p>
          <a:p>
            <a:pPr lvl="0" indent="0" marL="0">
              <a:buNone/>
            </a:pPr>
          </a:p>
          <a:p>
            <a:pPr lvl="0" indent="0" marL="0">
              <a:buNone/>
            </a:pPr>
            <a:r>
              <a:rPr/>
              <a:t>This one line is the recursion. Written for a general layer index it is identical, which is why adding layers changes nothing in the formula and a great deal in the numbers it produces. That is the subject of the vanishing-gradient segment.</a:t>
            </a:r>
          </a:p>
          <a:p>
            <a:pPr lvl="0" indent="0" marL="0">
              <a:buNone/>
            </a:pPr>
          </a:p>
          <a:p>
            <a:pPr lvl="0" indent="0" marL="0">
              <a:buNone/>
            </a:pPr>
            <a:r>
              <a:rPr/>
              <a:t>Handout section 5.3.</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halves of this slide get quoted at students later in their careers and neither is obvious, so state them plainly.</a:t>
            </a:r>
          </a:p>
          <a:p>
            <a:pPr lvl="0" indent="0" marL="0">
              <a:buNone/>
            </a:pPr>
          </a:p>
          <a:p>
            <a:pPr lvl="0" indent="0" marL="0">
              <a:buNone/>
            </a:pPr>
            <a:r>
              <a:rPr/>
              <a:t>The first is why training networks is possible at all: if a gradient cost a hundred times a prediction, nothing would have been trainable in 1986 and very little would be trainable now.</a:t>
            </a:r>
          </a:p>
          <a:p>
            <a:pPr lvl="0" indent="0" marL="0">
              <a:buNone/>
            </a:pPr>
          </a:p>
          <a:p>
            <a:pPr lvl="0" indent="0" marL="0">
              <a:buNone/>
            </a:pPr>
            <a:r>
              <a:rPr/>
              <a:t>The second is why anybody has ever had to think about batch size at all. Ask the room what they would expect to run out of first when training a deep network, time or memory. Most say time. The answer in practice is memory, and the reason is on this slide - every activation from the forward pass has to be kept alive until the backward pass consumes it.</a:t>
            </a:r>
          </a:p>
          <a:p>
            <a:pPr lvl="0" indent="0" marL="0">
              <a:buNone/>
            </a:pPr>
          </a:p>
          <a:p>
            <a:pPr lvl="0" indent="0" marL="0">
              <a:buNone/>
            </a:pPr>
            <a:r>
              <a:rPr/>
              <a:t>Handout section 5.4.</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highest-value slide in the lesson measured in hours saved, and it is worth saying why in the strongest terms available: a wrong gradient is the one bug in machine learning that produces no error message, no warning, and a plausible-looking training curve.</a:t>
            </a:r>
          </a:p>
          <a:p>
            <a:pPr lvl="0" indent="0" marL="0">
              <a:buNone/>
            </a:pPr>
          </a:p>
          <a:p>
            <a:pPr lvl="0" indent="0" marL="0">
              <a:buNone/>
            </a:pPr>
            <a:r>
              <a:rPr/>
              <a:t>Ask the room how they would notice. The honest answer is that without this check they would not - they would conclude the architecture was wrong, or the learning rate, or the data, and they would be looking in the wrong place for as long as they had patience.</a:t>
            </a:r>
          </a:p>
          <a:p>
            <a:pPr lvl="0" indent="0" marL="0">
              <a:buNone/>
            </a:pPr>
          </a:p>
          <a:p>
            <a:pPr lvl="0" indent="0" marL="0">
              <a:buNone/>
            </a:pPr>
            <a:r>
              <a:rPr/>
              <a:t>Run it once, on a small network with a handful of examples, whenever a backward pass is written by hand. Handout section 5.5.</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 one of the 21 partial derivatives of a small network: the analytic gradient on one axis, the finite-difference estimate on the other. The points lie on the diagonal to eight decimal places.</a:t>
            </a:r>
          </a:p>
          <a:p>
            <a:pPr lvl="0" indent="0" marL="0">
              <a:buNone/>
            </a:pPr>
          </a:p>
          <a:p>
            <a:pPr lvl="0" indent="0" marL="0">
              <a:buNone/>
            </a:pPr>
            <a:r>
              <a:rPr/>
              <a:t>Say what a failure would look like on this plot, because that is what students will actually meet: a bug rarely displaces every point. It displaces one parameter block - all the biases, say, or one weight matrix - so the picture shows a tight diagonal with a handful of points visibly off it, and the ones off it name the layer with the mistake.</a:t>
            </a:r>
          </a:p>
          <a:p>
            <a:pPr lvl="0" indent="0" marL="0">
              <a:buNone/>
            </a:pPr>
          </a:p>
          <a:p>
            <a:pPr lvl="0" indent="0" marL="0">
              <a:buNone/>
            </a:pPr>
            <a:r>
              <a:rPr/>
              <a:t>Handout section 5.5.</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Backpropagation from scratch, gradient-checked before it is trusted; the two-unit hand-built network, then the same problem trained from 20 random starts at each width; the polygon yardstick, how well H lines could fence a circle; and the one initialisation that cannot work.</a:t>
            </a:r>
          </a:p>
          <a:p>
            <a:pPr lvl="0" indent="0" marL="0">
              <a:buNone/>
            </a:pPr>
          </a:p>
          <a:p>
            <a:pPr lvl="0" indent="0" marL="0">
              <a:buNone/>
            </a:pPr>
            <a:r>
              <a:rPr/>
              <a:t>Run </a:t>
            </a:r>
            <a:r>
              <a:rPr>
                <a:latin typeface="Courier"/>
              </a:rPr>
              <a:t>Notebooks/01_backpropagation_from_scratch.ipynb</a:t>
            </a:r>
            <a:r>
              <a:rPr/>
              <a:t>. Twenty-two minutes.</a:t>
            </a:r>
          </a:p>
          <a:p>
            <a:pPr lvl="0" indent="0" marL="0">
              <a:buNone/>
            </a:pPr>
          </a:p>
          <a:p>
            <a:pPr lvl="0" indent="0" marL="0">
              <a:buNone/>
            </a:pPr>
            <a:r>
              <a:rPr/>
              <a:t>If time runs short, keep the gradient check: watching the worst relative disagreement print as ten to the minus eight convinces far more than the previous slide does.</a:t>
            </a:r>
          </a:p>
          <a:p>
            <a:pPr lvl="0" indent="0" marL="0">
              <a:buNone/>
            </a:pPr>
          </a:p>
          <a:p>
            <a:pPr lvl="0" indent="0" marL="0">
              <a:buNone/>
            </a:pPr>
            <a:r>
              <a:rPr/>
              <a:t>Second priority is the 20-restart sweep at width 2, because seeing sixteen of twenty runs stall at 0.75 is what makes “representable is not findable” a fact rather than a slogan.</a:t>
            </a:r>
          </a:p>
          <a:p>
            <a:pPr lvl="0" indent="0" marL="0">
              <a:buNone/>
            </a:pPr>
          </a:p>
          <a:p>
            <a:pPr lvl="0" indent="0" marL="0">
              <a:buNone/>
            </a:pPr>
            <a:r>
              <a:rPr/>
              <a:t>Have them predict the sign of the disagreement before it prints, and have them run the sweep with their own seed rather than the notebook’s.</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last bullet is the point of the slide, and it is worth deriving on the board if the room is following - it is four lines, using only that the one-hot target sums to one. The full version is handout section 6.2.</a:t>
            </a:r>
          </a:p>
          <a:p>
            <a:pPr lvl="0" indent="0" marL="0">
              <a:buNone/>
            </a:pPr>
          </a:p>
          <a:p>
            <a:pPr lvl="0" indent="0" marL="0">
              <a:buNone/>
            </a:pPr>
            <a:r>
              <a:rPr/>
              <a:t>Say why the coincidence is not a coincidence: sigmoid-with-cross-entropy and softmax-with-cross-entropy are the same construction for two classes and for K classes, and in both the loss was chosen as the one whose derivative cancels the output non-linearity’s. If you ever meet a third output non-linearity, the matching loss is the one that does the same job.</a:t>
            </a:r>
          </a:p>
          <a:p>
            <a:pPr lvl="0" indent="0" marL="0">
              <a:buNone/>
            </a:pPr>
          </a:p>
          <a:p>
            <a:pPr lvl="0" indent="0" marL="0">
              <a:buNone/>
            </a:pPr>
            <a:r>
              <a:rPr/>
              <a:t>Subtracting the largest score before exponentiating (handout section 6.1) is a one-line detail students will need the first time they write softmax themselves: without it the exponentials overflow.</a:t>
            </a:r>
          </a:p>
          <a:p>
            <a:pPr lvl="0" indent="0" marL="0">
              <a:buNone/>
            </a:pPr>
          </a:p>
          <a:p>
            <a:pPr lvl="0" indent="0" marL="0">
              <a:buNone/>
            </a:pPr>
            <a:r>
              <a:rPr/>
              <a:t>Handout section 6.1.</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it in words: exponentiate every score, then divide by the total. The exponential makes everything positive; the division makes it sum to one. Monotone in each score, so the largest score still wins - softmax changes the confidences, never the ranking.</a:t>
            </a:r>
          </a:p>
          <a:p>
            <a:pPr lvl="0" indent="0" marL="0">
              <a:buNone/>
            </a:pPr>
          </a:p>
          <a:p>
            <a:pPr lvl="0" indent="0" marL="0">
              <a:buNone/>
            </a:pPr>
            <a:r>
              <a:rPr/>
              <a:t>Handout section 6.1.</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Handwritten digits, eight by eight, ten classes, five seeds per row. The </a:t>
            </a:r>
            <a:r>
              <a:rPr>
                <a:latin typeface="Courier"/>
              </a:rPr>
              <a:t>sd</a:t>
            </a:r>
            <a:r>
              <a:rPr/>
              <a:t> column is the seed-to-seed standard deviation, and it is on the slide because without it three of these four rows are indistinguishable.</a:t>
            </a:r>
          </a:p>
          <a:p>
            <a:pPr lvl="0" indent="0" marL="0">
              <a:buNone/>
            </a:pPr>
          </a:p>
          <a:p>
            <a:pPr lvl="0" indent="0" marL="0">
              <a:buNone/>
            </a:pPr>
            <a:r>
              <a:rPr/>
              <a:t>Read the first row first: multiclass logistic regression, no hidden layer at all, 650 parameters, 0.9324. That is the baseline every architecture on this table has to beat, and most of them barely do.</a:t>
            </a:r>
          </a:p>
          <a:p>
            <a:pPr lvl="0" indent="0" marL="0">
              <a:buNone/>
            </a:pPr>
          </a:p>
          <a:p>
            <a:pPr lvl="0" indent="0" marL="0">
              <a:buNone/>
            </a:pPr>
            <a:r>
              <a:rPr/>
              <a:t>Ask the room which row they would ship. The next slide is the reading.</a:t>
            </a:r>
          </a:p>
          <a:p>
            <a:pPr lvl="0" indent="0" marL="0">
              <a:buNone/>
            </a:pPr>
          </a:p>
          <a:p>
            <a:pPr lvl="0" indent="0" marL="0">
              <a:buNone/>
            </a:pPr>
            <a:r>
              <a:rPr/>
              <a:t>Handout section 6.3.</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slide that keeps the lesson honest, and it should be delivered without apology. Two thirds of the way through a lesson about neural networks, the headline result on the real dataset is that a linear model was almost as good.</a:t>
            </a:r>
          </a:p>
          <a:p>
            <a:pPr lvl="0" indent="0" marL="0">
              <a:buNone/>
            </a:pPr>
          </a:p>
          <a:p>
            <a:pPr lvl="0" indent="0" marL="0">
              <a:buNone/>
            </a:pPr>
            <a:r>
              <a:rPr/>
              <a:t>The last two bullets are the generalisable part and they belong in the summary table of handout section 12: reach for a hidden layer when the answer depends on inputs jointly, and try the linear model first when each input pushes the answer roughly independently of the others.</a:t>
            </a:r>
          </a:p>
          <a:p>
            <a:pPr lvl="0" indent="0" marL="0">
              <a:buNone/>
            </a:pPr>
          </a:p>
          <a:p>
            <a:pPr lvl="0" indent="0" marL="0">
              <a:buNone/>
            </a:pPr>
            <a:r>
              <a:rPr/>
              <a:t>Put it to the room as a diagnostic question they can ask before training anything: can I imagine a single weighted sum of these features answering this question? If yes, start there.</a:t>
            </a:r>
          </a:p>
          <a:p>
            <a:pPr lvl="0" indent="0" marL="0">
              <a:buNone/>
            </a:pPr>
          </a:p>
          <a:p>
            <a:pPr lvl="0" indent="0" marL="0">
              <a:buNone/>
            </a:pPr>
            <a:r>
              <a:rPr/>
              <a:t>Handout section 6.3.</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number the lesson exists to leave behind, so say it, write it, and come back to it at the close: a sigmoid layer divides the gradient by about four.</a:t>
            </a:r>
          </a:p>
          <a:p>
            <a:pPr lvl="0" indent="0" marL="0">
              <a:buNone/>
            </a:pPr>
          </a:p>
          <a:p>
            <a:pPr lvl="0" indent="0" marL="0">
              <a:buNone/>
            </a:pPr>
            <a:r>
              <a:rPr/>
              <a:t>Take the first two bullets quickly but do not skip them - several linear layers stacked together are just one linear layer, a one-line calculation, and that is the reason the whole activation question exists. It is also worth naming the consequence: a network whose units are all stuck on their flat ends (saturated) or all output zero (dead) has effectively become that single linear layer.</a:t>
            </a:r>
          </a:p>
          <a:p>
            <a:pPr lvl="0" indent="0" marL="0">
              <a:buNone/>
            </a:pPr>
          </a:p>
          <a:p>
            <a:pPr lvl="0" indent="0" marL="0">
              <a:buNone/>
            </a:pPr>
            <a:r>
              <a:rPr/>
              <a:t>Then the ¼. It is not an empirical observation, it is a maximum: the product of a number between zero and one with one minus itself cannot exceed a quarter. Ask the room where that maximum is attained, and why that is the worst possible place for it to be - the answer is at zero, which is exactly where a freshly initialised network’s pre-activations live.</a:t>
            </a:r>
          </a:p>
          <a:p>
            <a:pPr lvl="0" indent="0" marL="0">
              <a:buNone/>
            </a:pPr>
          </a:p>
          <a:p>
            <a:pPr lvl="0" indent="0" marL="0">
              <a:buNone/>
            </a:pPr>
            <a:r>
              <a:rPr/>
              <a:t>Handout sections 7.1 and 7.2.</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panel: three activation functions. Right panel: their derivatives, which is the quantity backpropagation actually multiplies by once per layer - point at the right panel, not the left, because that is where the content is.</a:t>
            </a:r>
          </a:p>
          <a:p>
            <a:pPr lvl="0" indent="0" marL="0">
              <a:buNone/>
            </a:pPr>
          </a:p>
          <a:p>
            <a:pPr lvl="0" indent="0" marL="0">
              <a:buNone/>
            </a:pPr>
            <a:r>
              <a:rPr/>
              <a:t>The horizontal line at a quarter is the subject of the previous slide. Note that tanh is every bit as much a squashing function as the sigmoid - same S shape, same saturation at both ends - and its derivative peaks at 1 rather than a quarter. That difference is the whole story, and it is why the slide after next reports tanh beating the rectified linear unit.</a:t>
            </a:r>
          </a:p>
          <a:p>
            <a:pPr lvl="0" indent="0" marL="0">
              <a:buNone/>
            </a:pPr>
          </a:p>
          <a:p>
            <a:pPr lvl="0" indent="0" marL="0">
              <a:buNone/>
            </a:pPr>
            <a:r>
              <a:rPr/>
              <a:t>Handout section 7.2.</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Gradient norms at every weight matrix of an untrained six-hidden-layer network, on a logarithmic scale, with a band spanning eight random initialisations.</a:t>
            </a:r>
          </a:p>
          <a:p>
            <a:pPr lvl="0" indent="0" marL="0">
              <a:buNone/>
            </a:pPr>
          </a:p>
          <a:p>
            <a:pPr lvl="0" indent="0" marL="0">
              <a:buNone/>
            </a:pPr>
            <a:r>
              <a:rPr/>
              <a:t>Read the slope, not the endpoints. The sigmoid line falls by three and a half orders of magnitude from output to input; tanh and the rectified linear unit are flat. The per-layer factors measured across those eight seeds are 3.90, 3.97, 4.14, 4.05, 3.92, 4.31, 4.06 and 3.86 - all eight between 3.9 and 4.3, scattered around 4 exactly as the bound predicts.</a:t>
            </a:r>
          </a:p>
          <a:p>
            <a:pPr lvl="0" indent="0" marL="0">
              <a:buNone/>
            </a:pPr>
          </a:p>
          <a:p>
            <a:pPr lvl="0" indent="0" marL="0">
              <a:buNone/>
            </a:pPr>
            <a:r>
              <a:rPr/>
              <a:t>Say what this means for the first layer: it is receiving a gradient thousands of times smaller than the last layer’s, so in any fixed number of epochs it effectively does not move. The layers nearest the data, which is where representation learning has to happen, are the ones that learn least.</a:t>
            </a:r>
          </a:p>
          <a:p>
            <a:pPr lvl="0" indent="0" marL="0">
              <a:buNone/>
            </a:pPr>
          </a:p>
          <a:p>
            <a:pPr lvl="0" indent="0" marL="0">
              <a:buNone/>
            </a:pPr>
            <a:r>
              <a:rPr/>
              <a:t>Handout section 7.3.</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slide is about method more than about the number, and the habit is worth more than the number. A single measurement of a compounding quantity is a draw from a distribution, and reporting its extreme as the headline is how plausible but false claims get repeated.</a:t>
            </a:r>
          </a:p>
          <a:p>
            <a:pPr lvl="0" indent="0" marL="0">
              <a:buNone/>
            </a:pPr>
          </a:p>
          <a:p>
            <a:pPr lvl="0" indent="0" marL="0">
              <a:buNone/>
            </a:pPr>
            <a:r>
              <a:rPr/>
              <a:t>Ask the room which number they would put in a report, given the eight measurements. The defensible answers are the per-layer factor, because it is the thing that is actually stable, or the median with its range attached. “4,607-fold” is indefensible and is exactly the kind of number that ends up quoted in a slide deck five years later with no error bar.</a:t>
            </a:r>
          </a:p>
          <a:p>
            <a:pPr lvl="0" indent="0" marL="0">
              <a:buNone/>
            </a:pPr>
          </a:p>
          <a:p>
            <a:pPr lvl="0" indent="0" marL="0">
              <a:buNone/>
            </a:pPr>
            <a:r>
              <a:rPr/>
              <a:t>The last bullet is the sanity check that the mechanism, not just the number, is right: the ratios track four-to-the-depth across four orders of magnitude, and sit slightly below it because the weight matrices give back a little of what the derivative takes.</a:t>
            </a:r>
          </a:p>
          <a:p>
            <a:pPr lvl="0" indent="0" marL="0">
              <a:buNone/>
            </a:pPr>
          </a:p>
          <a:p>
            <a:pPr lvl="0" indent="0" marL="0">
              <a:buNone/>
            </a:pPr>
            <a:r>
              <a:rPr/>
              <a:t>Handout section 7.3.</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last two bullets are why this slide is not a slogan. tanh saturates just as hard as the sigmoid does; it is fine because its derivative peaks at 1 rather than a quarter. If the explanation were “squashing functions are bad”, tanh would have failed too, and it did not.</a:t>
            </a:r>
          </a:p>
          <a:p>
            <a:pPr lvl="0" indent="0" marL="0">
              <a:buNone/>
            </a:pPr>
          </a:p>
          <a:p>
            <a:pPr lvl="0" indent="0" marL="0">
              <a:buNone/>
            </a:pPr>
            <a:r>
              <a:rPr/>
              <a:t>“Use the rectified linear unit” remains reasonable default advice - it is cheaper to compute and does not saturate for large positive input - but on six layers of 32 units those advantages do not show up, and pretending they did would be teaching a slogan instead of a mechanism. Say that out loud; students will meet the slogan everywhere else.</a:t>
            </a:r>
          </a:p>
          <a:p>
            <a:pPr lvl="0" indent="0" marL="0">
              <a:buNone/>
            </a:pPr>
          </a:p>
          <a:p>
            <a:pPr lvl="0" indent="0" marL="0">
              <a:buNone/>
            </a:pPr>
            <a:r>
              <a:rPr/>
              <a:t>Ask the room what they would have concluded from a single run comparing only the sigmoid and the rectified linear unit. The answer is the right conclusion for the wrong reason, which is the least useful kind.</a:t>
            </a:r>
          </a:p>
          <a:p>
            <a:pPr lvl="0" indent="0" marL="0">
              <a:buNone/>
            </a:pPr>
          </a:p>
          <a:p>
            <a:pPr lvl="0" indent="0" marL="0">
              <a:buNone/>
            </a:pPr>
            <a:r>
              <a:rPr/>
              <a:t>Handout section 7.3.</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the previous slide’s numbers on the picture. The flat line at 0.1 is the six-layer sigmoid network: ten classes, exact chance, eighty epochs, and a gradient reaching its first layer some three thousand times weaker than its last. It is not learning slowly. It is not learning.</a:t>
            </a:r>
          </a:p>
          <a:p>
            <a:pPr lvl="0" indent="0" marL="0">
              <a:buNone/>
            </a:pPr>
          </a:p>
          <a:p>
            <a:pPr lvl="0" indent="0" marL="0">
              <a:buNone/>
            </a:pPr>
            <a:r>
              <a:rPr/>
              <a:t>The question for the room: both of the other two curves belong to squashing functions or to a function with a hard corner - so what exactly is the sigmoid guilty of? The answer is the quarter. tanh squashes just as hard and its derivative peaks at one, which is why it is up there with the rectified linear unit rather than down with the sigmoid.</a:t>
            </a:r>
          </a:p>
          <a:p>
            <a:pPr lvl="0" indent="0" marL="0">
              <a:buNone/>
            </a:pPr>
          </a:p>
          <a:p>
            <a:pPr lvl="0" indent="0" marL="0">
              <a:buNone/>
            </a:pPr>
            <a:r>
              <a:rPr/>
              <a:t>Handout section 7.3.</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network again in six lines of Keras, with the same answer; softmax on ten classes and the depth comparison behind the table; the per-layer gradient shrinkage, measured across eight seeds at five depths; and how big the random weights should be.</a:t>
            </a:r>
          </a:p>
          <a:p>
            <a:pPr lvl="0" indent="0" marL="0">
              <a:buNone/>
            </a:pPr>
          </a:p>
          <a:p>
            <a:pPr lvl="0" indent="0" marL="0">
              <a:buNone/>
            </a:pPr>
            <a:r>
              <a:rPr/>
              <a:t>Run </a:t>
            </a:r>
            <a:r>
              <a:rPr>
                <a:latin typeface="Courier"/>
              </a:rPr>
              <a:t>Notebooks/02_keras_softmax_and_depth.ipynb</a:t>
            </a:r>
            <a:r>
              <a:rPr/>
              <a:t>. Twenty minutes.</a:t>
            </a:r>
          </a:p>
          <a:p>
            <a:pPr lvl="0" indent="0" marL="0">
              <a:buNone/>
            </a:pPr>
          </a:p>
          <a:p>
            <a:pPr lvl="0" indent="0" marL="0">
              <a:buNone/>
            </a:pPr>
            <a:r>
              <a:rPr/>
              <a:t>Open by rebuilding notebook 01’s network in Keras and checking it lands in the same place - the point being that the library is a convenience, not a different algorithm, and that they now know what every one of those six lines does.</a:t>
            </a:r>
          </a:p>
          <a:p>
            <a:pPr lvl="0" indent="0" marL="0">
              <a:buNone/>
            </a:pPr>
          </a:p>
          <a:p>
            <a:pPr lvl="0" indent="0" marL="0">
              <a:buNone/>
            </a:pPr>
            <a:r>
              <a:rPr/>
              <a:t>If time is short, keep the shrinkage measurement. Printing the eight per-layer factors themselves, and watching every one of them land between 3.9 and 4.3, is what makes the bound of a quarter a measurement rather than an assertion.</a:t>
            </a:r>
          </a:p>
          <a:p>
            <a:pPr lvl="0" indent="0" marL="0">
              <a:buNone/>
            </a:pPr>
          </a:p>
          <a:p>
            <a:pPr lvl="0" indent="0" marL="0">
              <a:buNone/>
            </a:pPr>
            <a:r>
              <a:rPr/>
              <a:t>Have them change the depth and predict the ratio before running it.</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usual explanation for random initialisation is symmetry - identical units receive identical gradients and stay identical for ever - and that argument is correct and applies to any initialisation that repeats a weight vector.</a:t>
            </a:r>
          </a:p>
          <a:p>
            <a:pPr lvl="0" indent="0" marL="0">
              <a:buNone/>
            </a:pPr>
          </a:p>
          <a:p>
            <a:pPr lvl="0" indent="0" marL="0">
              <a:buNone/>
            </a:pPr>
            <a:r>
              <a:rPr/>
              <a:t>For all-zero weights something stronger happens, and it is worth deriving in two lines because it is exact: the backpropagated signal into the hidden layer is the output weights transposed, which are zero, so it vanishes; and the output weight gradient is the hidden activations transposed, which are also zero. Nothing moves but one bias.</a:t>
            </a:r>
          </a:p>
          <a:p>
            <a:pPr lvl="0" indent="0" marL="0">
              <a:buNone/>
            </a:pPr>
          </a:p>
          <a:p>
            <a:pPr lvl="0" indent="0" marL="0">
              <a:buNone/>
            </a:pPr>
            <a:r>
              <a:rPr/>
              <a:t>The prediction is not approximate. The cost converges to the entropy of the label distribution, 0.6887 at a base rate of 0.5471, and the notebook measures 0.6887. Ask the room why that agreement is exact rather than close - because the mechanism is exact, not statistical.</a:t>
            </a:r>
          </a:p>
          <a:p>
            <a:pPr lvl="0" indent="0" marL="0">
              <a:buNone/>
            </a:pPr>
          </a:p>
          <a:p>
            <a:pPr lvl="0" indent="0" marL="0">
              <a:buNone/>
            </a:pPr>
            <a:r>
              <a:rPr/>
              <a:t>Handout section 8.1.</a:t>
            </a:r>
          </a:p>
          <a:p>
            <a:pPr lvl="0" indent="0" marL="0">
              <a:buNone/>
            </a:pPr>
          </a:p>
          <a:p>
            <a:pPr lvl="0" indent="0" marL="0">
              <a:buNone/>
            </a:pPr>
            <a:r>
              <a:rPr/>
              <a:t>IF THE CLOCK IS AGAINST YOU, THESE ARE THE THREE TO DROP. This slide, the figure after it, and “How large? Propagate the variance” are the segment’s initialisation block, and it is the only block notebook 3 does not use - that notebook opens on the learning rate and never mentions initialisation. The 0.6887 they would have seen here was measured in notebook 01, two hours ago, so it is not new to them either. The handout carries both halves in full: section 8.1 derives the freeze exactly, 8.2 the variance argument.</a:t>
            </a:r>
          </a:p>
          <a:p>
            <a:pPr lvl="0" indent="0" marL="0">
              <a:buNone/>
            </a:pPr>
          </a:p>
          <a:p>
            <a:pPr lvl="0" indent="0" marL="0">
              <a:buNone/>
            </a:pPr>
            <a:r>
              <a:rPr/>
              <a:t>Dropping the three removes about a fifth of this segment’s spoken content, which is the difference between the material it holds and the time it has. Say out loud that you are skipping them and why - “the handout does this properly and the notebook does not need it” - because a silent skip reads as running out of time, and this one is a decision.</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Thirty-two hidden units, identical in data, architecture and learning rate, differing only in where the weights started. The zero-initialised network flattens immediately at the entropy of the label distribution; the randomly initialised one trains.</a:t>
            </a:r>
          </a:p>
          <a:p>
            <a:pPr lvl="0" indent="0" marL="0">
              <a:buNone/>
            </a:pPr>
          </a:p>
          <a:p>
            <a:pPr lvl="0" indent="0" marL="0">
              <a:buNone/>
            </a:pPr>
            <a:r>
              <a:rPr/>
              <a:t>The framing to leave them with: random initialisation is not a heuristic that happens to help. It is what makes the units </a:t>
            </a:r>
            <a:r>
              <a:rPr i="1"/>
              <a:t>different problems to solve</a:t>
            </a:r>
            <a:r>
              <a:rPr/>
              <a:t>. Without it there is one unit in the layer, repeated thirty-two times.</a:t>
            </a:r>
          </a:p>
          <a:p>
            <a:pPr lvl="0" indent="0" marL="0">
              <a:buNone/>
            </a:pPr>
          </a:p>
          <a:p>
            <a:pPr lvl="0" indent="0" marL="0">
              <a:buNone/>
            </a:pPr>
            <a:r>
              <a:rPr/>
              <a:t>Handout section 8.1.</a:t>
            </a:r>
          </a:p>
          <a:p>
            <a:pPr lvl="0" indent="0" marL="0">
              <a:buNone/>
            </a:pPr>
          </a:p>
          <a:p>
            <a:pPr lvl="0" indent="0" marL="0">
              <a:buNone/>
            </a:pPr>
            <a:r>
              <a:rPr/>
              <a:t>Second of the three slides the note on “Zero cannot work” marks as droppable if the clock is against you.</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Give the variance argument in words before any of the numbers: a unit adds up n things, so its output variance is n times the variance of one term, and if that factor is not about 1 then repeating it once per layer gives you a geometric sequence in the depth. That is the entire derivation; the constants 1/n and 2/n follow immediately.</a:t>
            </a:r>
          </a:p>
          <a:p>
            <a:pPr lvl="0" indent="0" marL="0">
              <a:buNone/>
            </a:pPr>
          </a:p>
          <a:p>
            <a:pPr lvl="0" indent="0" marL="0">
              <a:buNone/>
            </a:pPr>
            <a:r>
              <a:rPr/>
              <a:t>The two failure directions are worth contrasting explicitly because students expect “too large” to mean “explodes”. With tanh it cannot explode - the output is bounded by 1 - so it saturates instead, and a saturated layer passes signal forward and nothing backward. That is the vanishing gradient arriving from the other direction, which is a nice thing to notice out loud.</a:t>
            </a:r>
          </a:p>
          <a:p>
            <a:pPr lvl="0" indent="0" marL="0">
              <a:buNone/>
            </a:pPr>
          </a:p>
          <a:p>
            <a:pPr lvl="0" indent="0" marL="0">
              <a:buNone/>
            </a:pPr>
            <a:r>
              <a:rPr/>
              <a:t>Handout section 8.2.</a:t>
            </a:r>
          </a:p>
          <a:p>
            <a:pPr lvl="0" indent="0" marL="0">
              <a:buNone/>
            </a:pPr>
          </a:p>
          <a:p>
            <a:pPr lvl="0" indent="0" marL="0">
              <a:buNone/>
            </a:pPr>
            <a:r>
              <a:rPr/>
              <a:t>Third of the three slides the note on “Zero cannot work” marks as droppable if the clock is against you. If you keep only one of the three, keep this one - He initialisation is the line they will actually type.</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network and the same data at five learning rates, three orders of magnitude apart, five seeds each. The learning rate is the first thing to sweep and the last thing to guess.</a:t>
            </a:r>
          </a:p>
          <a:p>
            <a:pPr lvl="0" indent="0" marL="0">
              <a:buNone/>
            </a:pPr>
          </a:p>
          <a:p>
            <a:pPr lvl="0" indent="0" marL="0">
              <a:buNone/>
            </a:pPr>
            <a:r>
              <a:rPr/>
              <a:t>Read the two ends against each other. At 0.001 the loss is still at 1.9550 when the epochs run out, and the seed-to-seed spread of 0.0794 is twenty times any other row’s - a network that has not settled anywhere. At 2.0 the accuracy is 0.1009, which is exact chance on ten classes: the steps overshoot every minimum they approach.</a:t>
            </a:r>
          </a:p>
          <a:p>
            <a:pPr lvl="0" indent="0" marL="0">
              <a:buNone/>
            </a:pPr>
          </a:p>
          <a:p>
            <a:pPr lvl="0" indent="0" marL="0">
              <a:buNone/>
            </a:pPr>
            <a:r>
              <a:rPr/>
              <a:t>Between “still falling” and “never falls at all” there is about one and a half orders of magnitude of useful range. Handout section 9.1.</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Logarithmic vertical axis, so each gridline is a factor of ten. Walk the three regimes: the top curve is still falling when the epochs run out, the middle band works, and the flat curve at the top is the rate that overshoots every minimum it approaches and never descends at all.</a:t>
            </a:r>
          </a:p>
          <a:p>
            <a:pPr lvl="0" indent="0" marL="0">
              <a:buNone/>
            </a:pPr>
          </a:p>
          <a:p>
            <a:pPr lvl="0" indent="0" marL="0">
              <a:buNone/>
            </a:pPr>
            <a:r>
              <a:rPr/>
              <a:t>The useful range here spans about one and a half orders of magnitude, and it is found by sweeping, not by reasoning. Ask the room what the top curve would look like to someone who did not run this sweep - the answer is “a network that is too small”, which is the next slide.</a:t>
            </a:r>
          </a:p>
          <a:p>
            <a:pPr lvl="0" indent="0" marL="0">
              <a:buNone/>
            </a:pPr>
          </a:p>
          <a:p>
            <a:pPr lvl="0" indent="0" marL="0">
              <a:buNone/>
            </a:pPr>
            <a:r>
              <a:rPr/>
              <a:t>Handout section 9.1.</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named predictable mistake of the segment, and the second bullet is the whole of it. The two situations produce the same symptoms, and the instinct to reach for capacity is not stupid - it is the textbook response to the textbook signature of underfitting. It is simply that the cause is in the optimiser rather than in the architecture, and adding capacity moves you further from the fix.</a:t>
            </a:r>
          </a:p>
          <a:p>
            <a:pPr lvl="0" indent="0" marL="0">
              <a:buNone/>
            </a:pPr>
          </a:p>
          <a:p>
            <a:pPr lvl="0" indent="0" marL="0">
              <a:buNone/>
            </a:pPr>
            <a:r>
              <a:rPr/>
              <a:t>A second instance of the same family is in handout section 9.1: in notebook 01, five runs in eight finished above their own minimum, because a rate that is safe on a flat part of the cost surface is not safe on a sharper part reached later. Ask the room how they would detect that from a training curve - the answer is that the curve turning upward late is the signature, and it is invisible if you only look at the final number.</a:t>
            </a:r>
          </a:p>
          <a:p>
            <a:pPr lvl="0" indent="0" marL="0">
              <a:buNone/>
            </a:pPr>
          </a:p>
          <a:p>
            <a:pPr lvl="0" indent="0" marL="0">
              <a:buNone/>
            </a:pPr>
            <a:r>
              <a:rPr/>
              <a:t>Handout section 9.1.</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second predictable mistake of the lesson, and it follows directly from the first segment doing its job too well. Having watched the sigmoid fail, the natural conclusion is that the rectified linear unit is safe, and the argument for that conclusion is correct as far as it goes.</a:t>
            </a:r>
          </a:p>
          <a:p>
            <a:pPr lvl="0" indent="0" marL="0">
              <a:buNone/>
            </a:pPr>
          </a:p>
          <a:p>
            <a:pPr lvl="0" indent="0" marL="0">
              <a:buNone/>
            </a:pPr>
            <a:r>
              <a:rPr/>
              <a:t>Put the weight on the last bullet, not on the word “dead”. With half the layer dead the survivors absorb the work and accuracy drops by less than one point - nothing in the training curve announces the failure. That is what makes it dangerous: if that layer were your bottleneck, you would be tuning everything except the thing that is actually wrong.</a:t>
            </a:r>
          </a:p>
          <a:p>
            <a:pPr lvl="0" indent="0" marL="0">
              <a:buNone/>
            </a:pPr>
          </a:p>
          <a:p>
            <a:pPr lvl="0" indent="0" marL="0">
              <a:buNone/>
            </a:pPr>
            <a:r>
              <a:rPr/>
              <a:t>Handout section 7.4 carries this measurement, and notebook 03 reproduces the sweep. The picture of it is the next slide, so do not point at anything yet. Ask the room how they would check. Counting units whose activation is zero on every training example takes one line.</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axes, and the point is the disagreement between them. The bars are dead units and they explode at the largest learning rate; the line is validation accuracy and it barely moves.</a:t>
            </a:r>
          </a:p>
          <a:p>
            <a:pPr lvl="0" indent="0" marL="0">
              <a:buNone/>
            </a:pPr>
          </a:p>
          <a:p>
            <a:pPr lvl="0" indent="0" marL="0">
              <a:buNone/>
            </a:pPr>
            <a:r>
              <a:rPr/>
              <a:t>That is what makes this failure worth naming. Nothing in the training curve announces it - accuracy is fine, the loss is fine, and half of the layer has been doing nothing for the whole run. Ask the room how they would ever detect it. The answer is the one measurement on this slide: push the training data through and count the units whose maximum activation over the entire set is exactly zero.</a:t>
            </a:r>
          </a:p>
          <a:p>
            <a:pPr lvl="0" indent="0" marL="0">
              <a:buNone/>
            </a:pPr>
          </a:p>
          <a:p>
            <a:pPr lvl="0" indent="0" marL="0">
              <a:buNone/>
            </a:pPr>
            <a:r>
              <a:rPr/>
              <a:t>Handout section 7.4.</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ideas at speed, because the measured comparison on the next slide is where the content is.</a:t>
            </a:r>
          </a:p>
          <a:p>
            <a:pPr lvl="0" indent="0" marL="0">
              <a:buNone/>
            </a:pPr>
          </a:p>
          <a:p>
            <a:pPr lvl="0" indent="0" marL="0">
              <a:buNone/>
            </a:pPr>
            <a:r>
              <a:rPr/>
              <a:t>The one to spend a sentence on is why batch size and learning rate cannot be tuned independently: a larger batch gives a less noisy gradient, which tolerates a larger step. Students who tune them one at a time will find each sweep contradicting the other.</a:t>
            </a:r>
          </a:p>
          <a:p>
            <a:pPr lvl="0" indent="0" marL="0">
              <a:buNone/>
            </a:pPr>
          </a:p>
          <a:p>
            <a:pPr lvl="0" indent="0" marL="0">
              <a:buNone/>
            </a:pPr>
            <a:r>
              <a:rPr/>
              <a:t>For Adam, the phrase worth remembering is per-parameter step size. A single global learning rate has to serve every coordinate, and coordinates differ enormously in scale - which is exactly the condition-number picture from lesson 3, now with one step size per direction.</a:t>
            </a:r>
          </a:p>
          <a:p>
            <a:pPr lvl="0" indent="0" marL="0">
              <a:buNone/>
            </a:pPr>
          </a:p>
          <a:p>
            <a:pPr lvl="0" indent="0" marL="0">
              <a:buNone/>
            </a:pPr>
            <a:r>
              <a:rPr/>
              <a:t>Handout sections 9.2 and 9.3.</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All three on the acceptance problem, at the width where notebook 01’s plain gradient descent had stalled, five seeds each.</a:t>
            </a:r>
          </a:p>
          <a:p>
            <a:pPr lvl="0" indent="0" marL="0">
              <a:buNone/>
            </a:pPr>
          </a:p>
          <a:p>
            <a:pPr lvl="0" indent="0" marL="0">
              <a:buNone/>
            </a:pPr>
            <a:r>
              <a:rPr/>
              <a:t>Read the </a:t>
            </a:r>
            <a:r>
              <a:rPr>
                <a:latin typeface="Courier"/>
              </a:rPr>
              <a:t>worst of 5</a:t>
            </a:r>
            <a:r>
              <a:rPr/>
              <a:t> column before the mean. Adam’s mean is about a point above plain descent, which is unremarkable; its worst run is more than three points above, and its spread is less than half. What Adam bought is the disappearance of the bad case - which is exactly what notebook 01 spent five restarts buying by hand. Adam in one run matches what plain descent needed five to reach.</a:t>
            </a:r>
          </a:p>
          <a:p>
            <a:pPr lvl="0" indent="0" marL="0">
              <a:buNone/>
            </a:pPr>
          </a:p>
          <a:p>
            <a:pPr lvl="0" indent="0" marL="0">
              <a:buNone/>
            </a:pPr>
            <a:r>
              <a:rPr/>
              <a:t>Now the row nobody would put in an advertisement: </a:t>
            </a:r>
            <a:r>
              <a:rPr b="1"/>
              <a:t>momentum did nothing at all here</a:t>
            </a:r>
            <a:r>
              <a:rPr/>
              <a:t>, a fraction of a point below plain descent and well inside either method’s spread. Say it rather than dropping it. Momentum is a good default, not a guarantee, and a comparison in which every row improves on the last is usually a comparison that has been chosen to look good.</a:t>
            </a:r>
          </a:p>
          <a:p>
            <a:pPr lvl="0" indent="0" marL="0">
              <a:buNone/>
            </a:pPr>
          </a:p>
          <a:p>
            <a:pPr lvl="0" indent="0" marL="0">
              <a:buNone/>
            </a:pPr>
            <a:r>
              <a:rPr/>
              <a:t>The last column is the same networks scored against the true acceptance rule instead of the rig’s recorded verdict - about three points higher throughout, which is the measuring instrument, not the model. Handout sections 9.3 and 11.3.</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Trained with early stopping on validation, best weights restored, scored on a test set that nothing was chosen against, five seeds each. Name the three methods first: early stopping keeps the weights from the best epoch and is the cheapest regulariser there is; L2 adds a penalty on the squared weights, identical in form to Ridge in lesson 3; dropout deletes each unit independently on every training batch and rescales the survivors, so no unit can rely on any other being present.</a:t>
            </a:r>
          </a:p>
          <a:p>
            <a:pPr lvl="0" indent="0" marL="0">
              <a:buNone/>
            </a:pPr>
          </a:p>
          <a:p>
            <a:pPr lvl="0" indent="0" marL="0">
              <a:buNone/>
            </a:pPr>
            <a:r>
              <a:rPr/>
              <a:t>Now read the table the way lesson 5 asks. All three land between 0.7 and 1.0 points above early stopping alone, against a seed-to-seed spread of 0.1 to 0.7 points - one to two standard deviations. </a:t>
            </a:r>
            <a:r>
              <a:rPr b="1"/>
              <a:t>Enough to say they helped, nowhere near enough to rank them.</a:t>
            </a:r>
            <a:r>
              <a:rPr/>
              <a:t> On a single run with one seed you could comfortably have measured the three in any order.</a:t>
            </a:r>
          </a:p>
          <a:p>
            <a:pPr lvl="0" indent="0" marL="0">
              <a:buNone/>
            </a:pPr>
          </a:p>
          <a:p>
            <a:pPr lvl="0" indent="0" marL="0">
              <a:buNone/>
            </a:pPr>
            <a:r>
              <a:rPr/>
              <a:t>The </a:t>
            </a:r>
            <a:r>
              <a:rPr>
                <a:latin typeface="Courier"/>
              </a:rPr>
              <a:t>epochs run</a:t>
            </a:r>
            <a:r>
              <a:rPr/>
              <a:t> column says something the accuracy column cannot: L2 kept validation loss improving for roughly four times as long before early stopping fired. A real qualitative difference, in a comparison whose headline numbers are not separable.</a:t>
            </a:r>
          </a:p>
          <a:p>
            <a:pPr lvl="0" indent="0" marL="0">
              <a:buNone/>
            </a:pPr>
          </a:p>
          <a:p>
            <a:pPr lvl="0" indent="0" marL="0">
              <a:buNone/>
            </a:pPr>
            <a:r>
              <a:rPr/>
              <a:t>Handout section 10.3.</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301,066 parameters on 300 training examples - a thousand parameters per example. On the left, training accuracy reaches 1.000 and stays there: the network has enough freedom to store the answers outright, and it does. Validation accuracy sits near 0.95 and stays there too, which classical bias-variance reasoning from lesson 5 does not lead you to expect.</a:t>
            </a:r>
          </a:p>
          <a:p>
            <a:pPr lvl="0" indent="0" marL="0">
              <a:buNone/>
            </a:pPr>
          </a:p>
          <a:p>
            <a:pPr lvl="0" indent="0" marL="0">
              <a:buNone/>
            </a:pPr>
            <a:r>
              <a:rPr/>
              <a:t>The right panel is the one to dwell on. Validation </a:t>
            </a:r>
            <a:r>
              <a:rPr i="1"/>
              <a:t>loss</a:t>
            </a:r>
            <a:r>
              <a:rPr/>
              <a:t> bottoms out at epoch 13 - the dotted line - and then climbs for the rest of training, while validation </a:t>
            </a:r>
            <a:r>
              <a:rPr i="1"/>
              <a:t>accuracy</a:t>
            </a:r>
            <a:r>
              <a:rPr/>
              <a:t> holds flat and in fact peaks later, at epoch 17. The network is not getting more answers wrong - it is getting steadily more confident about the ones it already has wrong. Accuracy cannot see that; cross-entropy can. Ask the room which of the two they would early-stop on, and why.</a:t>
            </a:r>
          </a:p>
          <a:p>
            <a:pPr lvl="0" indent="0" marL="0">
              <a:buNone/>
            </a:pPr>
          </a:p>
          <a:p>
            <a:pPr lvl="0" indent="0" marL="0">
              <a:buNone/>
            </a:pPr>
            <a:r>
              <a:rPr/>
              <a:t>Handout section 10.1.</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learning-rate sweep and the dead-unit count; plain descent, momentum and Adam from an identical start; 301,066 parameters on 300 examples, which memorises and generalises anyway; validation loss climbing while accuracy stays flat; and more data beating more tuning, three to one.</a:t>
            </a:r>
          </a:p>
          <a:p>
            <a:pPr lvl="0" indent="0" marL="0">
              <a:buNone/>
            </a:pPr>
          </a:p>
          <a:p>
            <a:pPr lvl="0" indent="0" marL="0">
              <a:buNone/>
            </a:pPr>
            <a:r>
              <a:rPr/>
              <a:t>Run </a:t>
            </a:r>
            <a:r>
              <a:rPr>
                <a:latin typeface="Courier"/>
              </a:rPr>
              <a:t>Notebooks/03_training_in_practice.ipynb</a:t>
            </a:r>
            <a:r>
              <a:rPr/>
              <a:t>. Eighteen minutes.</a:t>
            </a:r>
          </a:p>
          <a:p>
            <a:pPr lvl="0" indent="0" marL="0">
              <a:buNone/>
            </a:pPr>
          </a:p>
          <a:p>
            <a:pPr lvl="0" indent="0" marL="0">
              <a:buNone/>
            </a:pPr>
            <a:r>
              <a:rPr/>
              <a:t>Two cells to keep if time runs short. First, the overfitting run: a thousand parameters per training example, training accuracy at exactly 1.0000, and validation accuracy holding near 0.95 anyway. Classical bias–variance reasoning from lesson 5 does not lead you to expect that, and taking it seriously is an open research question - but taking it as licence to stop validating would be a serious mistake.</a:t>
            </a:r>
          </a:p>
          <a:p>
            <a:pPr lvl="0" indent="0" marL="0">
              <a:buNone/>
            </a:pPr>
          </a:p>
          <a:p>
            <a:pPr lvl="0" indent="0" marL="0">
              <a:buNone/>
            </a:pPr>
            <a:r>
              <a:rPr/>
              <a:t>Second, the loss-versus-accuracy divergence, because it is the practical consequence: the network is not getting more answers wrong, it is getting steadily more confident about the ones it already has wrong. Accuracy cannot see that; cross-entropy can.</a:t>
            </a:r>
          </a:p>
          <a:p>
            <a:pPr lvl="0" indent="0" marL="0">
              <a:buNone/>
            </a:pPr>
          </a:p>
          <a:p>
            <a:pPr lvl="0" indent="0" marL="0">
              <a:buNone/>
            </a:pPr>
            <a:r>
              <a:rPr/>
              <a:t>The last bullet is the one to say slowly. More data beat the best regulariser by a factor of three, and unlike every method in the previous segment it is not something you can tune your way to. Handout sections 10.1, 10.3 and 10.4.</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number to carry out of the room is the fourth bullet, and it is worth asking them to write it down: a sigmoid layer divides the gradient by about four, because its derivative cannot exceed a quarter. Not 4,607-fold - that was one draw of a compounding quantity, and the honest version is the per-layer factor.</a:t>
            </a:r>
          </a:p>
          <a:p>
            <a:pPr lvl="0" indent="0" marL="0">
              <a:buNone/>
            </a:pPr>
          </a:p>
          <a:p>
            <a:pPr lvl="0" indent="0" marL="0">
              <a:buNone/>
            </a:pPr>
            <a:r>
              <a:rPr/>
              <a:t>It joins the numbers the earlier lessons left behind - 77% accuracy on coin-flip labels in lesson 1, a coefficient of 365 where an unpenalised fit wanted billions in lesson 3, 37 of 40 disguised accounts caught by reconstruction error in lesson 8 - as this lesson’s: a factor of four per sigmoid layer.</a:t>
            </a:r>
          </a:p>
          <a:p>
            <a:pPr lvl="0" indent="0" marL="0">
              <a:buNone/>
            </a:pPr>
          </a:p>
          <a:p>
            <a:pPr lvl="0" indent="0" marL="0">
              <a:buNone/>
            </a:pPr>
            <a:r>
              <a:rPr/>
              <a:t>If one habit survives today, make it the last bullet. This lesson’s methods produce impressive-looking numbers faster than anything else in the course, and every table today carries a spread beside its mean for that reason.</a:t>
            </a:r>
          </a:p>
          <a:p>
            <a:pPr lvl="0" indent="0" marL="0">
              <a:buNone/>
            </a:pPr>
          </a:p>
          <a:p>
            <a:pPr lvl="0" indent="0" marL="0">
              <a:buNone/>
            </a:pPr>
            <a:r>
              <a:rPr/>
              <a:t>Lesson 10 changes exactly one assumption: everything here treats the 64 pixels of a digit as 64 unrelated numbers, and permuting them consistently would change nothing. That is obviously wrong for an image.</a:t>
            </a:r>
          </a:p>
          <a:p>
            <a:pPr lvl="0" indent="0" marL="0">
              <a:buNone/>
            </a:pPr>
          </a:p>
          <a:p>
            <a:pPr lvl="0" indent="0" marL="0">
              <a:buNone/>
            </a:pPr>
            <a:r>
              <a:rPr/>
              <a:t>Handout section 12 and the summary.</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and say out loud when it comes back: the first ten minutes of lesson 10, Friday 4 December.</a:t>
            </a:r>
          </a:p>
          <a:p>
            <a:pPr lvl="0" indent="0" marL="0">
              <a:buNone/>
            </a:pPr>
          </a:p>
          <a:p>
            <a:pPr lvl="0" indent="0" marL="0">
              <a:buNone/>
            </a:pPr>
            <a:r>
              <a:rPr/>
              <a:t>Two standing requirements, both of which today’s material makes easy to forget. Every reported difference needs the spread it was measured against - one seed is one draw, and this lesson has three separate tables where the seed-to-seed spread is comparable to the effect being reported. And any backward pass written by hand must be gradient-checked before any conclusion is drawn from what it trained; a wrong gradient trains, and it will not tell you.</a:t>
            </a:r>
          </a:p>
          <a:p>
            <a:pPr lvl="0" indent="0" marL="0">
              <a:buNone/>
            </a:pPr>
          </a:p>
          <a:p>
            <a:pPr lvl="0" indent="0" marL="0">
              <a:buNone/>
            </a:pPr>
            <a:r>
              <a:rPr/>
              <a:t>Next week is convolutional networks, which is this lesson’s architecture with one assumption changed. Tell them so, and tell them which assumption: that the inputs have no spatial structure worth exploiting.</a:t>
            </a:r>
          </a:p>
        </p:txBody>
      </p:sp>
      <p:sp>
        <p:nvSpPr>
          <p:cNvPr id="4" name="Slide Number Placeholder 3"/>
          <p:cNvSpPr>
            <a:spLocks noGrp="1"/>
          </p:cNvSpPr>
          <p:nvPr>
            <p:ph type="sldNum" sz="quarter" idx="10"/>
          </p:nvPr>
        </p:nvSpPr>
        <p:spPr/>
        <p:txBody>
          <a:bodyPr/>
          <a:lstStyle/>
          <a:p>
            <a:fld id="{18BDFEC3-8487-43E8-A154-7C12CBC1FFF2}" type="slidenum">
              <a:rPr lang="en-US"/>
              <a:t>70</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8.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image" Target="../media/image9.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image" Target="../media/image10.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image" Target="../media/image1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1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image" Target="../media/image13.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 Id="rId3" Type="http://schemas.openxmlformats.org/officeDocument/2006/relationships/image" Target="../media/image14.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image" Target="../media/image15.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image" Target="../media/image16.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 Id="rId3" Type="http://schemas.openxmlformats.org/officeDocument/2006/relationships/image" Target="../media/image17.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 Id="rId3" Type="http://schemas.openxmlformats.org/officeDocument/2006/relationships/image" Target="../media/image18.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 Id="rId3" Type="http://schemas.openxmlformats.org/officeDocument/2006/relationships/image" Target="../media/image19.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 Id="rId3" Type="http://schemas.openxmlformats.org/officeDocument/2006/relationships/image" Target="../media/image20.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 Id="rId3" Type="http://schemas.openxmlformats.org/officeDocument/2006/relationships/image" Target="../media/image2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 Id="rId3" Type="http://schemas.openxmlformats.org/officeDocument/2006/relationships/image" Target="../media/image22.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 Id="rId3" Type="http://schemas.openxmlformats.org/officeDocument/2006/relationships/image" Target="../media/image23.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 Id="rId3" Type="http://schemas.openxmlformats.org/officeDocument/2006/relationships/image" Target="../media/image24.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 Id="rId3" Type="http://schemas.openxmlformats.org/officeDocument/2006/relationships/image" Target="../media/image25.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5.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6.xml"/><Relationship Id="rId3" Type="http://schemas.openxmlformats.org/officeDocument/2006/relationships/image" Target="../media/image26.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8.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9: Neural Networks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27 November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Agenda</a:t>
            </a:r>
          </a:p>
        </p:txBody>
      </p:sp>
      <p:sp>
        <p:nvSpPr>
          <p:cNvPr id="3" name="Content Placeholder 2"/>
          <p:cNvSpPr>
            <a:spLocks noGrp="1"/>
          </p:cNvSpPr>
          <p:nvPr>
            <p:ph idx="1"/>
          </p:nvPr>
        </p:nvSpPr>
        <p:spPr>
          <a:xfrm>
            <a:off x="457200" y="1200151"/>
            <a:ext cx="8229600" cy="3394472"/>
          </a:xfrm>
        </p:spPr>
        <p:txBody>
          <a:bodyPr/>
          <a:lstStyle/>
          <a:p>
            <a:pPr lvl="0"/>
            <a:r>
              <a:rPr/>
              <a:t>A boundary whose </a:t>
            </a:r>
            <a:r>
              <a:rPr b="1"/>
              <a:t>shape</a:t>
            </a:r>
            <a:r>
              <a:rPr/>
              <a:t> is learned, not chosen in advance</a:t>
            </a:r>
          </a:p>
          <a:p>
            <a:pPr lvl="0"/>
            <a:r>
              <a:rPr/>
              <a:t>One neuron is one line, and exactly where that runs out</a:t>
            </a:r>
          </a:p>
          <a:p>
            <a:pPr lvl="0"/>
            <a:r>
              <a:rPr/>
              <a:t>Forward propagation, and backpropagation derived right to left</a:t>
            </a:r>
          </a:p>
          <a:p>
            <a:pPr lvl="0"/>
            <a:r>
              <a:rPr/>
              <a:t>Softmax, activations, and the vanishing gradient</a:t>
            </a:r>
          </a:p>
          <a:p>
            <a:pPr lvl="0"/>
            <a:r>
              <a:rPr/>
              <a:t>Initialisation, optimisers, regularisation: the failure modes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Exercise 8, before we start</a:t>
            </a:r>
          </a:p>
        </p:txBody>
      </p:sp>
      <p:sp>
        <p:nvSpPr>
          <p:cNvPr id="3" name="Content Placeholder 2"/>
          <p:cNvSpPr>
            <a:spLocks noGrp="1"/>
          </p:cNvSpPr>
          <p:nvPr>
            <p:ph idx="1"/>
          </p:nvPr>
        </p:nvSpPr>
        <p:spPr>
          <a:xfrm>
            <a:off x="457200" y="1200151"/>
            <a:ext cx="8229600" cy="3394472"/>
          </a:xfrm>
        </p:spPr>
        <p:txBody>
          <a:bodyPr/>
          <a:lstStyle/>
          <a:p>
            <a:pPr lvl="0"/>
            <a:r>
              <a:rPr/>
              <a:t>What counts is </a:t>
            </a:r>
            <a:r>
              <a:rPr b="1"/>
              <a:t>what the metric could see</a:t>
            </a:r>
            <a:r>
              <a:rPr/>
              <a:t>, not the score itself</a:t>
            </a:r>
          </a:p>
          <a:p>
            <a:pPr lvl="0"/>
            <a:r>
              <a:rPr/>
              <a:t>The gap to watch for: a silhouette score taken as proof that a clustering is right, when it only rewards round, well-separated groups</a:t>
            </a:r>
          </a:p>
          <a:p>
            <a:pPr lvl="0"/>
            <a:r>
              <a:rPr/>
              <a:t>Today the same obligation returns in a new form: a network will reach a high training accuracy very quickly, and that number on its own says almost nothing</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 network adds</a:t>
            </a:r>
          </a:p>
        </p:txBody>
      </p:sp>
      <p:sp>
        <p:nvSpPr>
          <p:cNvPr id="3" name="Content Placeholder 2"/>
          <p:cNvSpPr>
            <a:spLocks noGrp="1"/>
          </p:cNvSpPr>
          <p:nvPr>
            <p:ph idx="1"/>
          </p:nvPr>
        </p:nvSpPr>
        <p:spPr>
          <a:xfrm>
            <a:off x="457200" y="1200151"/>
            <a:ext cx="8229600" cy="3394472"/>
          </a:xfrm>
        </p:spPr>
        <p:txBody>
          <a:bodyPr/>
          <a:lstStyle/>
          <a:p>
            <a:pPr lvl="0"/>
            <a:r>
              <a:rPr/>
              <a:t>Boundaries so far had a shape </a:t>
            </a:r>
            <a:r>
              <a:rPr b="1"/>
              <a:t>fixed in advance</a:t>
            </a:r>
          </a:p>
          <a:p>
            <a:pPr lvl="0"/>
            <a:r>
              <a:rPr/>
              <a:t>A line; axis-parallel boxes; a curve from a chosen kernel</a:t>
            </a:r>
          </a:p>
          <a:p>
            <a:pPr lvl="0"/>
            <a:r>
              <a:rPr/>
              <a:t>A network learns the </a:t>
            </a:r>
            <a:r>
              <a:rPr b="1"/>
              <a:t>shape of the boundary itself</a:t>
            </a:r>
          </a:p>
          <a:p>
            <a:pPr lvl="0"/>
            <a:r>
              <a:rPr/>
              <a:t>Everything else today makes that possible, or stops it going wrong</a:t>
            </a:r>
          </a:p>
          <a:p>
            <a:pPr lvl="0"/>
            <a:r>
              <a:rPr/>
              <a:t>No architecture tour, no hardware, no network call</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problems, and a ceiling of 0.97</a:t>
            </a:r>
          </a:p>
        </p:txBody>
      </p:sp>
      <p:sp>
        <p:nvSpPr>
          <p:cNvPr id="3" name="Content Placeholder 2"/>
          <p:cNvSpPr>
            <a:spLocks noGrp="1"/>
          </p:cNvSpPr>
          <p:nvPr>
            <p:ph idx="1"/>
          </p:nvPr>
        </p:nvSpPr>
        <p:spPr>
          <a:xfrm>
            <a:off x="457200" y="1200151"/>
            <a:ext cx="8229600" cy="3394472"/>
          </a:xfrm>
        </p:spPr>
        <p:txBody>
          <a:bodyPr/>
          <a:lstStyle/>
          <a:p>
            <a:pPr lvl="0"/>
            <a:r>
              <a:rPr b="1"/>
              <a:t>Acceptance test</a:t>
            </a:r>
            <a:r>
              <a:rPr/>
              <a:t>: two axes, one pass/fail verdict</a:t>
            </a:r>
          </a:p>
          <a:p>
            <a:pPr lvl="0"/>
            <a:r>
              <a:rPr b="1"/>
              <a:t>Two-channel drift</a:t>
            </a:r>
            <a:r>
              <a:rPr/>
              <a:t>: the exclusive-or (XOR) function</a:t>
            </a:r>
          </a:p>
          <a:p>
            <a:pPr lvl="0"/>
            <a:r>
              <a:rPr b="1"/>
              <a:t>Handwritten digits</a:t>
            </a:r>
            <a:r>
              <a:rPr/>
              <a:t>: 1,797 images, ten classes, real</a:t>
            </a:r>
          </a:p>
          <a:p>
            <a:pPr lvl="0"/>
            <a:r>
              <a:rPr/>
              <a:t>The rig is </a:t>
            </a:r>
            <a:r>
              <a:rPr b="1"/>
              <a:t>wrong on 3% of units</a:t>
            </a:r>
            <a:r>
              <a:rPr/>
              <a:t>, so every score today is read against a ceiling of </a:t>
            </a:r>
            <a:r>
              <a:rPr b="1"/>
              <a:t>0.97</a:t>
            </a:r>
          </a:p>
          <a:p>
            <a:pPr lvl="0"/>
            <a:r>
              <a:rPr/>
              <a:t>A line scores </a:t>
            </a:r>
            <a:r>
              <a:rPr b="1"/>
              <a:t>0.55</a:t>
            </a:r>
            <a:r>
              <a:rPr/>
              <a:t> on acceptance and </a:t>
            </a:r>
            <a:r>
              <a:rPr b="1"/>
              <a:t>0.93</a:t>
            </a:r>
            <a:r>
              <a:rPr/>
              <a:t> on digits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perceptron, and a unit you already have</a:t>
            </a:r>
          </a:p>
        </p:txBody>
      </p:sp>
      <p:sp>
        <p:nvSpPr>
          <p:cNvPr id="3" name="Content Placeholder 2"/>
          <p:cNvSpPr>
            <a:spLocks noGrp="1"/>
          </p:cNvSpPr>
          <p:nvPr>
            <p:ph idx="1"/>
          </p:nvPr>
        </p:nvSpPr>
        <p:spPr>
          <a:xfrm>
            <a:off x="457200" y="1200151"/>
            <a:ext cx="8229600" cy="3394472"/>
          </a:xfrm>
        </p:spPr>
        <p:txBody>
          <a:bodyPr/>
          <a:lstStyle/>
          <a:p>
            <a:pPr lvl="0"/>
            <a:r>
              <a:rPr/>
              <a:t>Rosenblatt, 1958: weights, a bias, “output 1 if the sum is positive”</a:t>
            </a:r>
          </a:p>
          <a:p>
            <a:pPr lvl="0"/>
            <a:r>
              <a:rPr/>
              <a:t>Swap the threshold for a sigmoid: lesson 4’s logistic unit, </a:t>
            </a:r>
            <a:r>
              <a:rPr>
                <a:latin typeface="Courier"/>
              </a:rPr>
              <a:t>LogisticRegression</a:t>
            </a:r>
          </a:p>
          <a:p>
            <a:pPr lvl="0"/>
            <a:r>
              <a:rPr/>
              <a:t>What is new: the unit becomes a </a:t>
            </a:r>
            <a:r>
              <a:rPr b="1"/>
              <a:t>component</a:t>
            </a:r>
            <a:r>
              <a:rPr/>
              <a:t> of a larger network</a:t>
            </a:r>
          </a:p>
          <a:p>
            <a:pPr lvl="0"/>
            <a:r>
              <a:rPr/>
              <a:t>Undecided at 0.5 means the weighted sum is zero</a:t>
            </a:r>
          </a:p>
          <a:p>
            <a:pPr lvl="0"/>
            <a:r>
              <a:rPr/>
              <a:t>A line in two dimensions, a hyperplane in general</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neuron is a line</a:t>
            </a:r>
          </a:p>
        </p:txBody>
      </p:sp>
      <p:pic>
        <p:nvPicPr>
          <p:cNvPr descr="eq_fba59c2ac4.png" id="0" name="Picture 1"/>
          <p:cNvPicPr>
            <a:picLocks noGrp="1" noChangeAspect="1"/>
          </p:cNvPicPr>
          <p:nvPr/>
        </p:nvPicPr>
        <p:blipFill>
          <a:blip r:embed="rId3"/>
          <a:stretch>
            <a:fillRect/>
          </a:stretch>
        </p:blipFill>
        <p:spPr bwMode="auto">
          <a:xfrm>
            <a:off x="457200" y="2439789"/>
            <a:ext cx="8229600" cy="8128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neuron, drawn</a:t>
            </a:r>
          </a:p>
        </p:txBody>
      </p:sp>
      <p:pic>
        <p:nvPicPr>
          <p:cNvPr descr="one_neuron.png" id="0" name="Picture 1"/>
          <p:cNvPicPr>
            <a:picLocks noGrp="1" noChangeAspect="1"/>
          </p:cNvPicPr>
          <p:nvPr/>
        </p:nvPicPr>
        <p:blipFill>
          <a:blip r:embed="rId3"/>
          <a:stretch>
            <a:fillRect/>
          </a:stretch>
        </p:blipFill>
        <p:spPr bwMode="auto">
          <a:xfrm>
            <a:off x="563694" y="1166099"/>
            <a:ext cx="8016611" cy="3360181"/>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Meridian’s acceptance test</a:t>
            </a:r>
          </a:p>
        </p:txBody>
      </p:sp>
      <p:sp>
        <p:nvSpPr>
          <p:cNvPr id="3" name="Content Placeholder 2"/>
          <p:cNvSpPr>
            <a:spLocks noGrp="1"/>
          </p:cNvSpPr>
          <p:nvPr>
            <p:ph idx="1"/>
          </p:nvPr>
        </p:nvSpPr>
        <p:spPr>
          <a:xfrm>
            <a:off x="457200" y="1200151"/>
            <a:ext cx="8229600" cy="3394472"/>
          </a:xfrm>
        </p:spPr>
        <p:txBody>
          <a:bodyPr/>
          <a:lstStyle/>
          <a:p>
            <a:pPr lvl="0"/>
            <a:r>
              <a:rPr/>
              <a:t>Two calibration axes: a gain offset in decibels, a phase offset in degrees</a:t>
            </a:r>
          </a:p>
          <a:p>
            <a:pPr lvl="0"/>
            <a:r>
              <a:rPr/>
              <a:t>It passes when both offsets are </a:t>
            </a:r>
            <a:r>
              <a:rPr b="1"/>
              <a:t>jointly</a:t>
            </a:r>
            <a:r>
              <a:rPr/>
              <a:t> small enough for one global firmware correction</a:t>
            </a:r>
          </a:p>
          <a:p>
            <a:pPr lvl="0"/>
            <a:r>
              <a:rPr/>
              <a:t>3,000 sensors: </a:t>
            </a:r>
            <a:r>
              <a:rPr>
                <a:latin typeface="Courier"/>
              </a:rPr>
              <a:t>train_test_split</a:t>
            </a:r>
            <a:r>
              <a:rPr/>
              <a:t> keeps 2,250 to train, then </a:t>
            </a:r>
            <a:r>
              <a:rPr>
                <a:latin typeface="Courier"/>
              </a:rPr>
              <a:t>StandardScaler</a:t>
            </a:r>
          </a:p>
          <a:p>
            <a:pPr lvl="0"/>
            <a:r>
              <a:rPr/>
              <a:t>So the accept region is the inside of a </a:t>
            </a:r>
            <a:r>
              <a:rPr b="1"/>
              <a:t>closed curve</a:t>
            </a:r>
          </a:p>
          <a:p>
            <a:pPr lvl="0"/>
            <a:r>
              <a:rPr/>
              <a:t>And no straight line encloses anything</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2,250 sensors, raw and standardised</a:t>
            </a:r>
          </a:p>
        </p:txBody>
      </p:sp>
      <p:pic>
        <p:nvPicPr>
          <p:cNvPr descr="acceptance_data.png" id="0" name="Picture 1"/>
          <p:cNvPicPr>
            <a:picLocks noGrp="1" noChangeAspect="1"/>
          </p:cNvPicPr>
          <p:nvPr/>
        </p:nvPicPr>
        <p:blipFill>
          <a:blip r:embed="rId3"/>
          <a:stretch>
            <a:fillRect/>
          </a:stretch>
        </p:blipFill>
        <p:spPr bwMode="auto">
          <a:xfrm>
            <a:off x="457200" y="1201539"/>
            <a:ext cx="8229600" cy="32893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circle of radius 1.25</a:t>
            </a:r>
          </a:p>
        </p:txBody>
      </p:sp>
      <p:sp>
        <p:nvSpPr>
          <p:cNvPr id="3" name="Content Placeholder 2"/>
          <p:cNvSpPr>
            <a:spLocks noGrp="1"/>
          </p:cNvSpPr>
          <p:nvPr>
            <p:ph idx="1"/>
          </p:nvPr>
        </p:nvSpPr>
        <p:spPr>
          <a:xfrm>
            <a:off x="457200" y="1200151"/>
            <a:ext cx="8229600" cy="3394472"/>
          </a:xfrm>
        </p:spPr>
        <p:txBody>
          <a:bodyPr/>
          <a:lstStyle/>
          <a:p>
            <a:pPr lvl="0"/>
            <a:r>
              <a:rPr/>
              <a:t>Gain tolerance </a:t>
            </a:r>
            <a:r>
              <a:rPr b="1"/>
              <a:t>0.50</a:t>
            </a:r>
            <a:r>
              <a:rPr/>
              <a:t>, production spread (standard deviation) </a:t>
            </a:r>
            <a:r>
              <a:rPr b="1"/>
              <a:t>0.40</a:t>
            </a:r>
          </a:p>
          <a:p>
            <a:pPr lvl="0"/>
            <a:r>
              <a:rPr/>
              <a:t>Phase tolerance </a:t>
            </a:r>
            <a:r>
              <a:rPr b="1"/>
              <a:t>3.75</a:t>
            </a:r>
            <a:r>
              <a:rPr/>
              <a:t>, production spread </a:t>
            </a:r>
            <a:r>
              <a:rPr b="1"/>
              <a:t>3.00</a:t>
            </a:r>
          </a:p>
          <a:p>
            <a:pPr lvl="0"/>
            <a:r>
              <a:rPr/>
              <a:t>Both are exactly </a:t>
            </a:r>
            <a:r>
              <a:rPr b="1"/>
              <a:t>1.25 spreads</a:t>
            </a:r>
            <a:r>
              <a:rPr/>
              <a:t>, so standardised, the accept region is a circle of radius 1.25</a:t>
            </a:r>
          </a:p>
          <a:p>
            <a:pPr lvl="0"/>
            <a:r>
              <a:rPr/>
              <a:t>Two units, two tolerances, one shared shape</a:t>
            </a:r>
          </a:p>
          <a:p>
            <a:pPr lvl="0"/>
            <a:r>
              <a:rPr b="1"/>
              <a:t>0.5497</a:t>
            </a:r>
            <a:r>
              <a:rPr/>
              <a:t> of the 3,000 generated units fall inside it</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fraction of units the circle holds</a:t>
            </a:r>
          </a:p>
        </p:txBody>
      </p:sp>
      <p:pic>
        <p:nvPicPr>
          <p:cNvPr descr="eq_e163dd354e.png" id="0" name="Picture 1"/>
          <p:cNvPicPr>
            <a:picLocks noGrp="1" noChangeAspect="1"/>
          </p:cNvPicPr>
          <p:nvPr/>
        </p:nvPicPr>
        <p:blipFill>
          <a:blip r:embed="rId3"/>
          <a:stretch>
            <a:fillRect/>
          </a:stretch>
        </p:blipFill>
        <p:spPr bwMode="auto">
          <a:xfrm>
            <a:off x="457200" y="2547739"/>
            <a:ext cx="8229600" cy="5969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one line is worth</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endParaRPr/>
                    </a:p>
                  </a:txBody>
                  <a:tcPr/>
                </a:tc>
                <a:tc>
                  <a:txBody>
                    <a:bodyPr/>
                    <a:lstStyle/>
                    <a:p>
                      <a:pPr lvl="0" indent="0" marL="0">
                        <a:buNone/>
                      </a:pPr>
                      <a:r>
                        <a:rPr/>
                        <a:t>test accuracy</a:t>
                      </a:r>
                    </a:p>
                  </a:txBody>
                  <a:tcPr/>
                </a:tc>
              </a:tr>
              <a:tr h="0">
                <a:tc>
                  <a:txBody>
                    <a:bodyPr/>
                    <a:lstStyle/>
                    <a:p>
                      <a:pPr lvl="0" indent="0" marL="0">
                        <a:buNone/>
                      </a:pPr>
                      <a:r>
                        <a:rPr/>
                        <a:t>always predict “accepted”</a:t>
                      </a:r>
                    </a:p>
                  </a:txBody>
                </a:tc>
                <a:tc>
                  <a:txBody>
                    <a:bodyPr/>
                    <a:lstStyle/>
                    <a:p>
                      <a:pPr lvl="0" indent="0" marL="0">
                        <a:buNone/>
                      </a:pPr>
                      <a:r>
                        <a:rPr/>
                        <a:t>0.5480</a:t>
                      </a:r>
                    </a:p>
                  </a:txBody>
                </a:tc>
              </a:tr>
              <a:tr h="0">
                <a:tc>
                  <a:txBody>
                    <a:bodyPr/>
                    <a:lstStyle/>
                    <a:p>
                      <a:pPr lvl="0" indent="0" marL="0">
                        <a:buNone/>
                      </a:pPr>
                      <a:r>
                        <a:rPr/>
                        <a:t>fitted logistic regression</a:t>
                      </a:r>
                    </a:p>
                  </a:txBody>
                </a:tc>
                <a:tc>
                  <a:txBody>
                    <a:bodyPr/>
                    <a:lstStyle/>
                    <a:p>
                      <a:pPr lvl="0" indent="0" marL="0">
                        <a:buNone/>
                      </a:pPr>
                      <a:r>
                        <a:rPr b="1"/>
                        <a:t>0.5507</a:t>
                      </a:r>
                    </a:p>
                  </a:txBody>
                </a:tc>
              </a:tr>
              <a:tr h="0">
                <a:tc>
                  <a:txBody>
                    <a:bodyPr/>
                    <a:lstStyle/>
                    <a:p>
                      <a:pPr lvl="0" indent="0" marL="0">
                        <a:buNone/>
                      </a:pPr>
                      <a:r>
                        <a:rPr/>
                        <a:t>the best straight line for this population</a:t>
                      </a:r>
                    </a:p>
                  </a:txBody>
                </a:tc>
                <a:tc>
                  <a:txBody>
                    <a:bodyPr/>
                    <a:lstStyle/>
                    <a:p>
                      <a:pPr lvl="0" indent="0" marL="0">
                        <a:buNone/>
                      </a:pPr>
                      <a:r>
                        <a:rPr/>
                        <a:t>0.6491</a:t>
                      </a:r>
                    </a:p>
                  </a:txBody>
                </a:tc>
              </a:tr>
              <a:tr h="0">
                <a:tc>
                  <a:txBody>
                    <a:bodyPr/>
                    <a:lstStyle/>
                    <a:p>
                      <a:pPr lvl="0" indent="0" marL="0">
                        <a:buNone/>
                      </a:pPr>
                      <a:r>
                        <a:rPr/>
                        <a:t>the rig’s ceiling</a:t>
                      </a:r>
                    </a:p>
                  </a:txBody>
                </a:tc>
                <a:tc>
                  <a:txBody>
                    <a:bodyPr/>
                    <a:lstStyle/>
                    <a:p>
                      <a:pPr lvl="0" indent="0" marL="0">
                        <a:buNone/>
                      </a:pPr>
                      <a:r>
                        <a:rPr/>
                        <a:t>0.9700</a:t>
                      </a:r>
                    </a:p>
                  </a:txBody>
                </a:tc>
              </a:tr>
            </a:tbl>
          </a:graphicData>
        </a:graphic>
      </p:graphicFrame>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 line encloses it</a:t>
            </a:r>
          </a:p>
        </p:txBody>
      </p:sp>
      <p:pic>
        <p:nvPicPr>
          <p:cNvPr descr="linear_boundary_fails.png" id="0" name="Picture 1"/>
          <p:cNvPicPr>
            <a:picLocks noGrp="1" noChangeAspect="1"/>
          </p:cNvPicPr>
          <p:nvPr/>
        </p:nvPicPr>
        <p:blipFill>
          <a:blip r:embed="rId3"/>
          <a:stretch>
            <a:fillRect/>
          </a:stretch>
        </p:blipFill>
        <p:spPr bwMode="auto">
          <a:xfrm>
            <a:off x="2583578" y="1166099"/>
            <a:ext cx="3976843" cy="3360181"/>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fit did not fail</a:t>
            </a:r>
          </a:p>
        </p:txBody>
      </p:sp>
      <p:sp>
        <p:nvSpPr>
          <p:cNvPr id="3" name="Content Placeholder 2"/>
          <p:cNvSpPr>
            <a:spLocks noGrp="1"/>
          </p:cNvSpPr>
          <p:nvPr>
            <p:ph idx="1"/>
          </p:nvPr>
        </p:nvSpPr>
        <p:spPr>
          <a:xfrm>
            <a:off x="457200" y="1200151"/>
            <a:ext cx="8229600" cy="3394472"/>
          </a:xfrm>
        </p:spPr>
        <p:txBody>
          <a:bodyPr/>
          <a:lstStyle/>
          <a:p>
            <a:pPr lvl="0"/>
            <a:r>
              <a:rPr/>
              <a:t>Coefficients </a:t>
            </a:r>
            <a:r>
              <a:rPr b="1"/>
              <a:t>(0.0096, 0.0701)</a:t>
            </a:r>
            <a:r>
              <a:rPr/>
              <a:t>, intercept </a:t>
            </a:r>
            <a:r>
              <a:rPr b="1"/>
              <a:t>0.1892</a:t>
            </a:r>
          </a:p>
          <a:p>
            <a:pPr lvl="0"/>
            <a:r>
              <a:rPr/>
              <a:t>Almost exactly the constant model: no line does much better than that</a:t>
            </a:r>
          </a:p>
          <a:p>
            <a:pPr lvl="0"/>
            <a:r>
              <a:rPr/>
              <a:t>Not an optimiser that gave up. The reason is symmetry</a:t>
            </a:r>
          </a:p>
          <a:p>
            <a:pPr lvl="0"/>
            <a:r>
              <a:rPr/>
              <a:t>The accept region is a disc on the origin; every accepted unit has a partner opposite</a:t>
            </a:r>
          </a:p>
          <a:p>
            <a:pPr lvl="0"/>
            <a:r>
              <a:rPr/>
              <a:t>Any tilt gaining accuracy on one side gives it back on the other</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72,762 candidate lines, and 4 points of self-deception</a:t>
            </a:r>
          </a:p>
        </p:txBody>
      </p:sp>
      <p:sp>
        <p:nvSpPr>
          <p:cNvPr id="3" name="Content Placeholder 2"/>
          <p:cNvSpPr>
            <a:spLocks noGrp="1"/>
          </p:cNvSpPr>
          <p:nvPr>
            <p:ph idx="1"/>
          </p:nvPr>
        </p:nvSpPr>
        <p:spPr>
          <a:xfrm>
            <a:off x="457200" y="1200151"/>
            <a:ext cx="8229600" cy="3394472"/>
          </a:xfrm>
        </p:spPr>
        <p:txBody>
          <a:bodyPr/>
          <a:lstStyle/>
          <a:p>
            <a:pPr lvl="0"/>
            <a:r>
              <a:rPr/>
              <a:t>The search tries 72,762 boundaries and scores the winner </a:t>
            </a:r>
            <a:r>
              <a:rPr b="1"/>
              <a:t>on the data that chose it</a:t>
            </a:r>
            <a:r>
              <a:rPr/>
              <a:t>: 0.6880</a:t>
            </a:r>
          </a:p>
          <a:p>
            <a:pPr lvl="0"/>
            <a:r>
              <a:rPr/>
              <a:t>The honest figure, computed exactly from the geometry: </a:t>
            </a:r>
            <a:r>
              <a:rPr b="1"/>
              <a:t>0.6491</a:t>
            </a:r>
          </a:p>
          <a:p>
            <a:pPr lvl="0"/>
            <a:r>
              <a:rPr b="1"/>
              <a:t>Almost 4 points of pure selection bias</a:t>
            </a:r>
          </a:p>
          <a:p>
            <a:pPr lvl="0"/>
            <a:r>
              <a:rPr/>
              <a:t>Nothing was fitted. No parameter estimated. Only a choice made</a:t>
            </a:r>
          </a:p>
          <a:p>
            <a:pPr lvl="0"/>
            <a:r>
              <a:rPr/>
              <a:t>Lesson 5’s argument, inside a lesson-9 experiment</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New data: two drifting channels</a:t>
            </a:r>
          </a:p>
        </p:txBody>
      </p:sp>
      <p:pic>
        <p:nvPicPr>
          <p:cNvPr descr="drift_clouds.png" id="0" name="Picture 1"/>
          <p:cNvPicPr>
            <a:picLocks noGrp="1" noChangeAspect="1"/>
          </p:cNvPicPr>
          <p:nvPr/>
        </p:nvPicPr>
        <p:blipFill>
          <a:blip r:embed="rId3"/>
          <a:stretch>
            <a:fillRect/>
          </a:stretch>
        </p:blipFill>
        <p:spPr bwMode="auto">
          <a:xfrm>
            <a:off x="1356546" y="1166099"/>
            <a:ext cx="6430908" cy="3360181"/>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smallest problem that needs a hidden layer</a:t>
            </a:r>
          </a:p>
        </p:txBody>
      </p:sp>
      <p:sp>
        <p:nvSpPr>
          <p:cNvPr id="3" name="Content Placeholder 2"/>
          <p:cNvSpPr>
            <a:spLocks noGrp="1"/>
          </p:cNvSpPr>
          <p:nvPr>
            <p:ph idx="1"/>
          </p:nvPr>
        </p:nvSpPr>
        <p:spPr>
          <a:xfrm>
            <a:off x="457200" y="1200151"/>
            <a:ext cx="8229600" cy="3394472"/>
          </a:xfrm>
        </p:spPr>
        <p:txBody>
          <a:bodyPr/>
          <a:lstStyle/>
          <a:p>
            <a:pPr lvl="0"/>
            <a:r>
              <a:rPr/>
              <a:t>One correction removes the drift only when both channels drift </a:t>
            </a:r>
            <a:r>
              <a:rPr b="1"/>
              <a:t>the same way</a:t>
            </a:r>
            <a:r>
              <a:rPr/>
              <a:t> (same sign)</a:t>
            </a:r>
          </a:p>
          <a:p>
            <a:pPr lvl="0"/>
            <a:r>
              <a:rPr/>
              <a:t>That is the exclusive-or (XOR) function</a:t>
            </a:r>
          </a:p>
          <a:p>
            <a:pPr lvl="0"/>
            <a:r>
              <a:rPr/>
              <a:t>Four clouds of 200 units; a line scores exactly </a:t>
            </a:r>
            <a:r>
              <a:rPr b="1"/>
              <a:t>0.5000</a:t>
            </a:r>
          </a:p>
          <a:p>
            <a:pPr lvl="0"/>
            <a:r>
              <a:rPr/>
              <a:t>Coding the channels as ±1, the rule is about |a + b|</a:t>
            </a:r>
          </a:p>
          <a:p>
            <a:pPr lvl="0"/>
            <a:r>
              <a:rPr/>
              <a:t>“Large in absolute value” is the outside of a strip: </a:t>
            </a:r>
            <a:r>
              <a:rPr b="1"/>
              <a:t>two boundaries, not one</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hidden units, drawn</a:t>
            </a:r>
          </a:p>
        </p:txBody>
      </p:sp>
      <p:pic>
        <p:nvPicPr>
          <p:cNvPr descr="two_unit_network.png" id="0" name="Picture 1"/>
          <p:cNvPicPr>
            <a:picLocks noGrp="1" noChangeAspect="1"/>
          </p:cNvPicPr>
          <p:nvPr/>
        </p:nvPicPr>
        <p:blipFill>
          <a:blip r:embed="rId3"/>
          <a:stretch>
            <a:fillRect/>
          </a:stretch>
        </p:blipFill>
        <p:spPr bwMode="auto">
          <a:xfrm>
            <a:off x="1104847" y="1166099"/>
            <a:ext cx="6934306" cy="3360181"/>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units, written down rather than trained</a:t>
            </a:r>
          </a:p>
        </p:txBody>
      </p:sp>
      <p:sp>
        <p:nvSpPr>
          <p:cNvPr id="3" name="Content Placeholder 2"/>
          <p:cNvSpPr>
            <a:spLocks noGrp="1"/>
          </p:cNvSpPr>
          <p:nvPr>
            <p:ph idx="1"/>
          </p:nvPr>
        </p:nvSpPr>
        <p:spPr>
          <a:xfrm>
            <a:off x="457200" y="1200151"/>
            <a:ext cx="8229600" cy="3394472"/>
          </a:xfrm>
        </p:spPr>
        <p:txBody>
          <a:bodyPr/>
          <a:lstStyle/>
          <a:p>
            <a:pPr lvl="0"/>
            <a:r>
              <a:rPr/>
              <a:t>Two rectified linear units, ReLU(z) = max(0, z), both fed the sum a + b</a:t>
            </a:r>
          </a:p>
          <a:p>
            <a:pPr lvl="0"/>
            <a:r>
              <a:rPr/>
              <a:t>One fires when a + b &gt; 1, the other when a + b &lt; -1</a:t>
            </a:r>
          </a:p>
          <a:p>
            <a:pPr lvl="0"/>
            <a:r>
              <a:rPr/>
              <a:t>Between them they compute |a + b|, clipped</a:t>
            </a:r>
          </a:p>
          <a:p>
            <a:pPr lvl="0"/>
            <a:r>
              <a:rPr/>
              <a:t>Output weights 10 and 10, bias -1: the rule is |a + b| &gt; 1.1</a:t>
            </a:r>
          </a:p>
          <a:p>
            <a:pPr lvl="0"/>
            <a:r>
              <a:rPr b="1"/>
              <a:t>Nothing trained</a:t>
            </a:r>
            <a:r>
              <a:rPr/>
              <a:t>, and over all 800 units it scores </a:t>
            </a:r>
            <a:r>
              <a:rPr b="1"/>
              <a:t>0.9938</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hidden layer actually did</a:t>
            </a:r>
          </a:p>
        </p:txBody>
      </p:sp>
      <p:pic>
        <p:nvPicPr>
          <p:cNvPr descr="xor_hidden_space.png" id="0" name="Picture 1"/>
          <p:cNvPicPr>
            <a:picLocks noGrp="1" noChangeAspect="1"/>
          </p:cNvPicPr>
          <p:nvPr/>
        </p:nvPicPr>
        <p:blipFill>
          <a:blip r:embed="rId3"/>
          <a:stretch>
            <a:fillRect/>
          </a:stretch>
        </p:blipFill>
        <p:spPr bwMode="auto">
          <a:xfrm>
            <a:off x="708421" y="1166099"/>
            <a:ext cx="7727157" cy="3360181"/>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hidden layer classified nothing</a:t>
            </a:r>
          </a:p>
        </p:txBody>
      </p:sp>
      <p:sp>
        <p:nvSpPr>
          <p:cNvPr id="3" name="Content Placeholder 2"/>
          <p:cNvSpPr>
            <a:spLocks noGrp="1"/>
          </p:cNvSpPr>
          <p:nvPr>
            <p:ph idx="1"/>
          </p:nvPr>
        </p:nvSpPr>
        <p:spPr>
          <a:xfrm>
            <a:off x="457200" y="1200151"/>
            <a:ext cx="8229600" cy="3394472"/>
          </a:xfrm>
        </p:spPr>
        <p:txBody>
          <a:bodyPr/>
          <a:lstStyle/>
          <a:p>
            <a:pPr lvl="0"/>
            <a:r>
              <a:rPr/>
              <a:t>It </a:t>
            </a:r>
            <a:r>
              <a:rPr b="1"/>
              <a:t>moved the data</a:t>
            </a:r>
            <a:r>
              <a:rPr/>
              <a:t> until the output line was enough</a:t>
            </a:r>
          </a:p>
          <a:p>
            <a:pPr lvl="0"/>
            <a:r>
              <a:rPr/>
              <a:t>Correctable clouds to (1,0) and (0,1); the rest to the origin</a:t>
            </a:r>
          </a:p>
          <a:p>
            <a:pPr lvl="0"/>
            <a:r>
              <a:rPr/>
              <a:t>The name for this is </a:t>
            </a:r>
            <a:r>
              <a:rPr b="1"/>
              <a:t>representation learning</a:t>
            </a:r>
          </a:p>
          <a:p>
            <a:pPr lvl="0"/>
            <a:r>
              <a:rPr/>
              <a:t>What is learned: coordinates in which the boundary is simple</a:t>
            </a:r>
          </a:p>
          <a:p>
            <a:pPr lvl="0"/>
            <a:r>
              <a:rPr/>
              <a:t>Lesson 10’s convolutional networks: the same trick, with most weights fixed at zero</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Back to acceptance: four hidden units</a:t>
            </a:r>
          </a:p>
        </p:txBody>
      </p:sp>
      <p:pic>
        <p:nvPicPr>
          <p:cNvPr descr="four_unit_network.png" id="0" name="Picture 1"/>
          <p:cNvPicPr>
            <a:picLocks noGrp="1" noChangeAspect="1"/>
          </p:cNvPicPr>
          <p:nvPr/>
        </p:nvPicPr>
        <p:blipFill>
          <a:blip r:embed="rId3"/>
          <a:stretch>
            <a:fillRect/>
          </a:stretch>
        </p:blipFill>
        <p:spPr bwMode="auto">
          <a:xfrm>
            <a:off x="2029841" y="1166099"/>
            <a:ext cx="5084318" cy="3360181"/>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Four lines enclose a region; one never does</a:t>
            </a:r>
          </a:p>
        </p:txBody>
      </p:sp>
      <p:pic>
        <p:nvPicPr>
          <p:cNvPr descr="four_lines_fence.png" id="0" name="Picture 1"/>
          <p:cNvPicPr>
            <a:picLocks noGrp="1" noChangeAspect="1"/>
          </p:cNvPicPr>
          <p:nvPr/>
        </p:nvPicPr>
        <p:blipFill>
          <a:blip r:embed="rId3"/>
          <a:stretch>
            <a:fillRect/>
          </a:stretch>
        </p:blipFill>
        <p:spPr bwMode="auto">
          <a:xfrm>
            <a:off x="708421" y="1166099"/>
            <a:ext cx="7727157" cy="3360181"/>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Capacity is not the same as findability</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hidden units</a:t>
                      </a:r>
                    </a:p>
                  </a:txBody>
                  <a:tcPr/>
                </a:tc>
                <a:tc>
                  <a:txBody>
                    <a:bodyPr/>
                    <a:lstStyle/>
                    <a:p>
                      <a:pPr lvl="0" indent="0" marL="0">
                        <a:buNone/>
                      </a:pPr>
                      <a:r>
                        <a:rPr/>
                        <a:t>median of 20 random starts</a:t>
                      </a:r>
                    </a:p>
                  </a:txBody>
                  <a:tcPr/>
                </a:tc>
                <a:tc>
                  <a:txBody>
                    <a:bodyPr/>
                    <a:lstStyle/>
                    <a:p>
                      <a:pPr lvl="0" indent="0" marL="0">
                        <a:buNone/>
                      </a:pPr>
                      <a:r>
                        <a:rPr/>
                        <a:t>best of 20</a:t>
                      </a:r>
                    </a:p>
                  </a:txBody>
                  <a:tcPr/>
                </a:tc>
                <a:tc>
                  <a:txBody>
                    <a:bodyPr/>
                    <a:lstStyle/>
                    <a:p>
                      <a:pPr lvl="0" indent="0" marL="0">
                        <a:buNone/>
                      </a:pPr>
                      <a:r>
                        <a:rPr/>
                        <a:t>starts above 0.95</a:t>
                      </a:r>
                    </a:p>
                  </a:txBody>
                  <a:tcPr/>
                </a:tc>
              </a:tr>
              <a:tr h="0">
                <a:tc>
                  <a:txBody>
                    <a:bodyPr/>
                    <a:lstStyle/>
                    <a:p>
                      <a:pPr lvl="0" indent="0" marL="0">
                        <a:buNone/>
                      </a:pPr>
                      <a:r>
                        <a:rPr/>
                        <a:t>2</a:t>
                      </a:r>
                    </a:p>
                  </a:txBody>
                </a:tc>
                <a:tc>
                  <a:txBody>
                    <a:bodyPr/>
                    <a:lstStyle/>
                    <a:p>
                      <a:pPr lvl="0" indent="0" marL="0">
                        <a:buNone/>
                      </a:pPr>
                      <a:r>
                        <a:rPr/>
                        <a:t>0.7500</a:t>
                      </a:r>
                    </a:p>
                  </a:txBody>
                </a:tc>
                <a:tc>
                  <a:txBody>
                    <a:bodyPr/>
                    <a:lstStyle/>
                    <a:p>
                      <a:pPr lvl="0" indent="0" marL="0">
                        <a:buNone/>
                      </a:pPr>
                      <a:r>
                        <a:rPr/>
                        <a:t>0.9975</a:t>
                      </a:r>
                    </a:p>
                  </a:txBody>
                </a:tc>
                <a:tc>
                  <a:txBody>
                    <a:bodyPr/>
                    <a:lstStyle/>
                    <a:p>
                      <a:pPr lvl="0" indent="0" marL="0">
                        <a:buNone/>
                      </a:pPr>
                      <a:r>
                        <a:rPr b="1"/>
                        <a:t>4 of 20</a:t>
                      </a:r>
                    </a:p>
                  </a:txBody>
                </a:tc>
              </a:tr>
              <a:tr h="0">
                <a:tc>
                  <a:txBody>
                    <a:bodyPr/>
                    <a:lstStyle/>
                    <a:p>
                      <a:pPr lvl="0" indent="0" marL="0">
                        <a:buNone/>
                      </a:pPr>
                      <a:r>
                        <a:rPr/>
                        <a:t>3</a:t>
                      </a:r>
                    </a:p>
                  </a:txBody>
                </a:tc>
                <a:tc>
                  <a:txBody>
                    <a:bodyPr/>
                    <a:lstStyle/>
                    <a:p>
                      <a:pPr lvl="0" indent="0" marL="0">
                        <a:buNone/>
                      </a:pPr>
                      <a:r>
                        <a:rPr/>
                        <a:t>1.0000</a:t>
                      </a:r>
                    </a:p>
                  </a:txBody>
                </a:tc>
                <a:tc>
                  <a:txBody>
                    <a:bodyPr/>
                    <a:lstStyle/>
                    <a:p>
                      <a:pPr lvl="0" indent="0" marL="0">
                        <a:buNone/>
                      </a:pPr>
                      <a:r>
                        <a:rPr/>
                        <a:t>1.0000</a:t>
                      </a:r>
                    </a:p>
                  </a:txBody>
                </a:tc>
                <a:tc>
                  <a:txBody>
                    <a:bodyPr/>
                    <a:lstStyle/>
                    <a:p>
                      <a:pPr lvl="0" indent="0" marL="0">
                        <a:buNone/>
                      </a:pPr>
                      <a:r>
                        <a:rPr/>
                        <a:t>15 of 20</a:t>
                      </a:r>
                    </a:p>
                  </a:txBody>
                </a:tc>
              </a:tr>
              <a:tr h="0">
                <a:tc>
                  <a:txBody>
                    <a:bodyPr/>
                    <a:lstStyle/>
                    <a:p>
                      <a:pPr lvl="0" indent="0" marL="0">
                        <a:buNone/>
                      </a:pPr>
                      <a:r>
                        <a:rPr/>
                        <a:t>4</a:t>
                      </a:r>
                    </a:p>
                  </a:txBody>
                </a:tc>
                <a:tc>
                  <a:txBody>
                    <a:bodyPr/>
                    <a:lstStyle/>
                    <a:p>
                      <a:pPr lvl="0" indent="0" marL="0">
                        <a:buNone/>
                      </a:pPr>
                      <a:r>
                        <a:rPr/>
                        <a:t>1.0000</a:t>
                      </a:r>
                    </a:p>
                  </a:txBody>
                </a:tc>
                <a:tc>
                  <a:txBody>
                    <a:bodyPr/>
                    <a:lstStyle/>
                    <a:p>
                      <a:pPr lvl="0" indent="0" marL="0">
                        <a:buNone/>
                      </a:pPr>
                      <a:r>
                        <a:rPr/>
                        <a:t>1.0000</a:t>
                      </a:r>
                    </a:p>
                  </a:txBody>
                </a:tc>
                <a:tc>
                  <a:txBody>
                    <a:bodyPr/>
                    <a:lstStyle/>
                    <a:p>
                      <a:pPr lvl="0" indent="0" marL="0">
                        <a:buNone/>
                      </a:pPr>
                      <a:r>
                        <a:rPr/>
                        <a:t>19 of 20</a:t>
                      </a:r>
                    </a:p>
                  </a:txBody>
                </a:tc>
              </a:tr>
              <a:tr h="0">
                <a:tc>
                  <a:txBody>
                    <a:bodyPr/>
                    <a:lstStyle/>
                    <a:p>
                      <a:pPr lvl="0" indent="0" marL="0">
                        <a:buNone/>
                      </a:pPr>
                      <a:r>
                        <a:rPr/>
                        <a:t>8</a:t>
                      </a:r>
                    </a:p>
                  </a:txBody>
                </a:tc>
                <a:tc>
                  <a:txBody>
                    <a:bodyPr/>
                    <a:lstStyle/>
                    <a:p>
                      <a:pPr lvl="0" indent="0" marL="0">
                        <a:buNone/>
                      </a:pPr>
                      <a:r>
                        <a:rPr/>
                        <a:t>1.0000</a:t>
                      </a:r>
                    </a:p>
                  </a:txBody>
                </a:tc>
                <a:tc>
                  <a:txBody>
                    <a:bodyPr/>
                    <a:lstStyle/>
                    <a:p>
                      <a:pPr lvl="0" indent="0" marL="0">
                        <a:buNone/>
                      </a:pPr>
                      <a:r>
                        <a:rPr/>
                        <a:t>1.0000</a:t>
                      </a:r>
                    </a:p>
                  </a:txBody>
                </a:tc>
                <a:tc>
                  <a:txBody>
                    <a:bodyPr/>
                    <a:lstStyle/>
                    <a:p>
                      <a:pPr lvl="0" indent="0" marL="0">
                        <a:buNone/>
                      </a:pPr>
                      <a:r>
                        <a:rPr/>
                        <a:t>20 of 20</a:t>
                      </a:r>
                    </a:p>
                  </a:txBody>
                </a:tc>
              </a:tr>
            </a:tbl>
          </a:graphicData>
        </a:graphic>
      </p:graphicFrame>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each extra line is actually worth</a:t>
            </a:r>
          </a:p>
        </p:txBody>
      </p:sp>
      <p:pic>
        <p:nvPicPr>
          <p:cNvPr descr="width_sweep.png" id="0" name="Picture 1"/>
          <p:cNvPicPr>
            <a:picLocks noGrp="1" noChangeAspect="1"/>
          </p:cNvPicPr>
          <p:nvPr/>
        </p:nvPicPr>
        <p:blipFill>
          <a:blip r:embed="rId3"/>
          <a:stretch>
            <a:fillRect/>
          </a:stretch>
        </p:blipFill>
        <p:spPr bwMode="auto">
          <a:xfrm>
            <a:off x="2017256" y="1166099"/>
            <a:ext cx="5109488" cy="3360181"/>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Universal approximation, and what it does not promise</a:t>
            </a:r>
          </a:p>
        </p:txBody>
      </p:sp>
      <p:sp>
        <p:nvSpPr>
          <p:cNvPr id="3" name="Content Placeholder 2"/>
          <p:cNvSpPr>
            <a:spLocks noGrp="1"/>
          </p:cNvSpPr>
          <p:nvPr>
            <p:ph idx="1"/>
          </p:nvPr>
        </p:nvSpPr>
        <p:spPr>
          <a:xfrm>
            <a:off x="457200" y="1200151"/>
            <a:ext cx="8229600" cy="3394472"/>
          </a:xfrm>
        </p:spPr>
        <p:txBody>
          <a:bodyPr/>
          <a:lstStyle/>
          <a:p>
            <a:pPr lvl="0"/>
            <a:r>
              <a:rPr/>
              <a:t>Cybenko (1989), Hornik (1991): one hidden layer, enough units, any continuous function</a:t>
            </a:r>
          </a:p>
          <a:p>
            <a:pPr lvl="0"/>
            <a:r>
              <a:rPr/>
              <a:t>Read the quantifiers. It says such a network </a:t>
            </a:r>
            <a:r>
              <a:rPr b="1"/>
              <a:t>exists</a:t>
            </a:r>
          </a:p>
          <a:p>
            <a:pPr lvl="0"/>
            <a:r>
              <a:rPr/>
              <a:t>Nothing about how many units “enough” is</a:t>
            </a:r>
          </a:p>
          <a:p>
            <a:pPr lvl="0"/>
            <a:r>
              <a:rPr/>
              <a:t>Nothing about whether training will find it</a:t>
            </a:r>
          </a:p>
          <a:p>
            <a:pPr lvl="0"/>
            <a:r>
              <a:rPr/>
              <a:t>Nothing about behaviour outside the region</a:t>
            </a:r>
          </a:p>
          <a:p>
            <a:pPr lvl="0"/>
            <a:r>
              <a:rPr/>
              <a:t>Two units sufficed on the drift data: descent missed it 16 times in 20</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Forward propagation: examples in rows</a:t>
            </a:r>
          </a:p>
        </p:txBody>
      </p:sp>
      <p:sp>
        <p:nvSpPr>
          <p:cNvPr id="3" name="Content Placeholder 2"/>
          <p:cNvSpPr>
            <a:spLocks noGrp="1"/>
          </p:cNvSpPr>
          <p:nvPr>
            <p:ph idx="1"/>
          </p:nvPr>
        </p:nvSpPr>
        <p:spPr>
          <a:xfrm>
            <a:off x="457200" y="1200151"/>
            <a:ext cx="8229600" cy="3394472"/>
          </a:xfrm>
        </p:spPr>
        <p:txBody>
          <a:bodyPr/>
          <a:lstStyle/>
          <a:p>
            <a:pPr lvl="0"/>
            <a:r>
              <a:rPr/>
              <a:t>One hidden layer of H units, one output unit, m examples, n inputs</a:t>
            </a:r>
          </a:p>
          <a:p>
            <a:pPr lvl="0"/>
            <a:r>
              <a:rPr/>
              <a:t>Two matrix multiplies, each followed by an elementwise function</a:t>
            </a:r>
          </a:p>
          <a:p>
            <a:pPr lvl="0"/>
            <a:r>
              <a:rPr/>
              <a:t>Examples in </a:t>
            </a:r>
            <a:r>
              <a:rPr b="1"/>
              <a:t>rows</a:t>
            </a:r>
            <a:r>
              <a:rPr/>
              <a:t>, as scikit-learn and Keras; in columns every transpose flips</a:t>
            </a:r>
          </a:p>
          <a:p>
            <a:pPr lvl="0"/>
            <a:r>
              <a:rPr/>
              <a:t>In code: </a:t>
            </a:r>
            <a:r>
              <a:rPr>
                <a:latin typeface="Courier"/>
              </a:rPr>
              <a:t>keras.Sequential</a:t>
            </a:r>
            <a:r>
              <a:rPr/>
              <a:t> of a </a:t>
            </a:r>
            <a:r>
              <a:rPr>
                <a:latin typeface="Courier"/>
              </a:rPr>
              <a:t>keras.Input</a:t>
            </a:r>
            <a:r>
              <a:rPr/>
              <a:t> and </a:t>
            </a:r>
            <a:r>
              <a:rPr>
                <a:latin typeface="Courier"/>
              </a:rPr>
              <a:t>layers.Dense</a:t>
            </a:r>
            <a:r>
              <a:rPr/>
              <a:t> layers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Layer 1: a line per unit, then a non-linearity</a:t>
            </a:r>
          </a:p>
        </p:txBody>
      </p:sp>
      <p:pic>
        <p:nvPicPr>
          <p:cNvPr descr="eq_fb934a08d8.png" id="0" name="Picture 1"/>
          <p:cNvPicPr>
            <a:picLocks noGrp="1" noChangeAspect="1"/>
          </p:cNvPicPr>
          <p:nvPr/>
        </p:nvPicPr>
        <p:blipFill>
          <a:blip r:embed="rId3"/>
          <a:stretch>
            <a:fillRect/>
          </a:stretch>
        </p:blipFill>
        <p:spPr bwMode="auto">
          <a:xfrm>
            <a:off x="457200" y="2541389"/>
            <a:ext cx="8229600" cy="6096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Layer 2: one more line, then a probability</a:t>
            </a:r>
          </a:p>
        </p:txBody>
      </p:sp>
      <p:pic>
        <p:nvPicPr>
          <p:cNvPr descr="eq_234eab1e7a.png" id="0" name="Picture 1"/>
          <p:cNvPicPr>
            <a:picLocks noGrp="1" noChangeAspect="1"/>
          </p:cNvPicPr>
          <p:nvPr/>
        </p:nvPicPr>
        <p:blipFill>
          <a:blip r:embed="rId3"/>
          <a:stretch>
            <a:fillRect/>
          </a:stretch>
        </p:blipFill>
        <p:spPr bwMode="auto">
          <a:xfrm>
            <a:off x="457200" y="2535039"/>
            <a:ext cx="8229600" cy="6223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shapes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symbol</a:t>
                      </a:r>
                    </a:p>
                  </a:txBody>
                  <a:tcPr/>
                </a:tc>
                <a:tc>
                  <a:txBody>
                    <a:bodyPr/>
                    <a:lstStyle/>
                    <a:p>
                      <a:pPr lvl="0" indent="0" marL="0">
                        <a:buNone/>
                      </a:pPr>
                      <a:r>
                        <a:rPr/>
                        <a:t>shape</a:t>
                      </a:r>
                    </a:p>
                  </a:txBody>
                  <a:tcPr/>
                </a:tc>
                <a:tc>
                  <a:txBody>
                    <a:bodyPr/>
                    <a:lstStyle/>
                    <a:p>
                      <a:pPr lvl="0" indent="0" marL="0">
                        <a:buNone/>
                      </a:pPr>
                      <a:r>
                        <a:rPr/>
                        <a:t>what it is</a:t>
                      </a:r>
                    </a:p>
                  </a:txBody>
                  <a:tcPr/>
                </a:tc>
              </a:tr>
              <a:tr h="0">
                <a:tc>
                  <a:txBody>
                    <a:bodyPr/>
                    <a:lstStyle/>
                    <a:p>
                      <a:pPr lvl="0" indent="0" marL="0">
                        <a:buNone/>
                      </a:pPr>
                      <a:r>
                        <a:rPr/>
                        <a:t>X</a:t>
                      </a:r>
                    </a:p>
                  </a:txBody>
                </a:tc>
                <a:tc>
                  <a:txBody>
                    <a:bodyPr/>
                    <a:lstStyle/>
                    <a:p>
                      <a:pPr lvl="0" indent="0" marL="0">
                        <a:buNone/>
                      </a:pPr>
                      <a:r>
                        <a:rPr/>
                        <a:t>m × n</a:t>
                      </a:r>
                    </a:p>
                  </a:txBody>
                </a:tc>
                <a:tc>
                  <a:txBody>
                    <a:bodyPr/>
                    <a:lstStyle/>
                    <a:p>
                      <a:pPr lvl="0" indent="0" marL="0">
                        <a:buNone/>
                      </a:pPr>
                      <a:r>
                        <a:rPr/>
                        <a:t>the design matrix, one example per row</a:t>
                      </a:r>
                    </a:p>
                  </a:txBody>
                </a:tc>
              </a:tr>
              <a:tr h="0">
                <a:tc>
                  <a:txBody>
                    <a:bodyPr/>
                    <a:lstStyle/>
                    <a:p>
                      <a:pPr lvl="0" indent="0" marL="0">
                        <a:buNone/>
                      </a:pPr>
                      <a:r>
                        <a:rPr/>
                        <a:t>W, layer 1</a:t>
                      </a:r>
                    </a:p>
                  </a:txBody>
                </a:tc>
                <a:tc>
                  <a:txBody>
                    <a:bodyPr/>
                    <a:lstStyle/>
                    <a:p>
                      <a:pPr lvl="0" indent="0" marL="0">
                        <a:buNone/>
                      </a:pPr>
                      <a:r>
                        <a:rPr/>
                        <a:t>n × H</a:t>
                      </a:r>
                    </a:p>
                  </a:txBody>
                </a:tc>
                <a:tc>
                  <a:txBody>
                    <a:bodyPr/>
                    <a:lstStyle/>
                    <a:p>
                      <a:pPr lvl="0" indent="0" marL="0">
                        <a:buNone/>
                      </a:pPr>
                      <a:r>
                        <a:rPr/>
                        <a:t>one column per hidden unit</a:t>
                      </a:r>
                    </a:p>
                  </a:txBody>
                </a:tc>
              </a:tr>
              <a:tr h="0">
                <a:tc>
                  <a:txBody>
                    <a:bodyPr/>
                    <a:lstStyle/>
                    <a:p>
                      <a:pPr lvl="0" indent="0" marL="0">
                        <a:buNone/>
                      </a:pPr>
                      <a:r>
                        <a:rPr/>
                        <a:t>b, layer 1</a:t>
                      </a:r>
                    </a:p>
                  </a:txBody>
                </a:tc>
                <a:tc>
                  <a:txBody>
                    <a:bodyPr/>
                    <a:lstStyle/>
                    <a:p>
                      <a:pPr lvl="0" indent="0" marL="0">
                        <a:buNone/>
                      </a:pPr>
                      <a:r>
                        <a:rPr/>
                        <a:t>H</a:t>
                      </a:r>
                    </a:p>
                  </a:txBody>
                </a:tc>
                <a:tc>
                  <a:txBody>
                    <a:bodyPr/>
                    <a:lstStyle/>
                    <a:p>
                      <a:pPr lvl="0" indent="0" marL="0">
                        <a:buNone/>
                      </a:pPr>
                      <a:r>
                        <a:rPr/>
                        <a:t>broadcast across rows</a:t>
                      </a:r>
                    </a:p>
                  </a:txBody>
                </a:tc>
              </a:tr>
              <a:tr h="0">
                <a:tc>
                  <a:txBody>
                    <a:bodyPr/>
                    <a:lstStyle/>
                    <a:p>
                      <a:pPr lvl="0" indent="0" marL="0">
                        <a:buNone/>
                      </a:pPr>
                      <a:r>
                        <a:rPr/>
                        <a:t>Z and A, layer 1</a:t>
                      </a:r>
                    </a:p>
                  </a:txBody>
                </a:tc>
                <a:tc>
                  <a:txBody>
                    <a:bodyPr/>
                    <a:lstStyle/>
                    <a:p>
                      <a:pPr lvl="0" indent="0" marL="0">
                        <a:buNone/>
                      </a:pPr>
                      <a:r>
                        <a:rPr/>
                        <a:t>m × H</a:t>
                      </a:r>
                    </a:p>
                  </a:txBody>
                </a:tc>
                <a:tc>
                  <a:txBody>
                    <a:bodyPr/>
                    <a:lstStyle/>
                    <a:p>
                      <a:pPr lvl="0" indent="0" marL="0">
                        <a:buNone/>
                      </a:pPr>
                      <a:r>
                        <a:rPr/>
                        <a:t>pre-activations and activations</a:t>
                      </a:r>
                    </a:p>
                  </a:txBody>
                </a:tc>
              </a:tr>
              <a:tr h="0">
                <a:tc>
                  <a:txBody>
                    <a:bodyPr/>
                    <a:lstStyle/>
                    <a:p>
                      <a:pPr lvl="0" indent="0" marL="0">
                        <a:buNone/>
                      </a:pPr>
                      <a:r>
                        <a:rPr/>
                        <a:t>W, layer 2</a:t>
                      </a:r>
                    </a:p>
                  </a:txBody>
                </a:tc>
                <a:tc>
                  <a:txBody>
                    <a:bodyPr/>
                    <a:lstStyle/>
                    <a:p>
                      <a:pPr lvl="0" indent="0" marL="0">
                        <a:buNone/>
                      </a:pPr>
                      <a:r>
                        <a:rPr/>
                        <a:t>H × 1</a:t>
                      </a:r>
                    </a:p>
                  </a:txBody>
                </a:tc>
                <a:tc>
                  <a:txBody>
                    <a:bodyPr/>
                    <a:lstStyle/>
                    <a:p>
                      <a:pPr lvl="0" indent="0" marL="0">
                        <a:buNone/>
                      </a:pPr>
                      <a:r>
                        <a:rPr/>
                        <a:t>the output unit’s weights</a:t>
                      </a:r>
                    </a:p>
                  </a:txBody>
                </a:tc>
              </a:tr>
              <a:tr h="0">
                <a:tc>
                  <a:txBody>
                    <a:bodyPr/>
                    <a:lstStyle/>
                    <a:p>
                      <a:pPr lvl="0" indent="0" marL="0">
                        <a:buNone/>
                      </a:pPr>
                      <a:r>
                        <a:rPr/>
                        <a:t>ŷ</a:t>
                      </a:r>
                    </a:p>
                  </a:txBody>
                </a:tc>
                <a:tc>
                  <a:txBody>
                    <a:bodyPr/>
                    <a:lstStyle/>
                    <a:p>
                      <a:pPr lvl="0" indent="0" marL="0">
                        <a:buNone/>
                      </a:pPr>
                      <a:r>
                        <a:rPr/>
                        <a:t>m × 1</a:t>
                      </a:r>
                    </a:p>
                  </a:txBody>
                </a:tc>
                <a:tc>
                  <a:txBody>
                    <a:bodyPr/>
                    <a:lstStyle/>
                    <a:p>
                      <a:pPr lvl="0" indent="0" marL="0">
                        <a:buNone/>
                      </a:pPr>
                      <a:r>
                        <a:rPr/>
                        <a:t>one prediction per example</a:t>
                      </a:r>
                    </a:p>
                  </a:txBody>
                </a:tc>
              </a:tr>
            </a:tbl>
          </a:graphicData>
        </a:graphic>
      </p:graphicFrame>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facts the shapes hand you</a:t>
            </a:r>
          </a:p>
        </p:txBody>
      </p:sp>
      <p:sp>
        <p:nvSpPr>
          <p:cNvPr id="3" name="Content Placeholder 2"/>
          <p:cNvSpPr>
            <a:spLocks noGrp="1"/>
          </p:cNvSpPr>
          <p:nvPr>
            <p:ph idx="1"/>
          </p:nvPr>
        </p:nvSpPr>
        <p:spPr>
          <a:xfrm>
            <a:off x="457200" y="1200151"/>
            <a:ext cx="8229600" cy="3394472"/>
          </a:xfrm>
        </p:spPr>
        <p:txBody>
          <a:bodyPr/>
          <a:lstStyle/>
          <a:p>
            <a:pPr lvl="0"/>
            <a:r>
              <a:rPr b="1"/>
              <a:t>Examples never mix</a:t>
            </a:r>
            <a:r>
              <a:rPr/>
              <a:t>: the row index passes through untouched</a:t>
            </a:r>
          </a:p>
          <a:p>
            <a:pPr lvl="0"/>
            <a:r>
              <a:rPr/>
              <a:t>Nothing lets example 3 influence example 7, which is what makes mini-batching valid</a:t>
            </a:r>
          </a:p>
          <a:p>
            <a:pPr lvl="0"/>
            <a:r>
              <a:rPr b="1"/>
              <a:t>Each column of the first weight matrix is one unit</a:t>
            </a:r>
          </a:p>
          <a:p>
            <a:pPr lvl="0"/>
            <a:r>
              <a:rPr/>
              <a:t>Its weight vector, and the line that unit draws</a:t>
            </a:r>
          </a:p>
          <a:p>
            <a:pPr lvl="0"/>
            <a:r>
              <a:rPr/>
              <a:t>So H hidden units are H lines, and the output unit votes</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An untrained network costs 0.6721; guessing costs 0.6931</a:t>
            </a:r>
          </a:p>
        </p:txBody>
      </p:sp>
      <p:pic>
        <p:nvPicPr>
          <p:cNvPr descr="eq_634f53d373.png" id="0" name="Picture 1"/>
          <p:cNvPicPr>
            <a:picLocks noGrp="1" noChangeAspect="1"/>
          </p:cNvPicPr>
          <p:nvPr/>
        </p:nvPicPr>
        <p:blipFill>
          <a:blip r:embed="rId3"/>
          <a:stretch>
            <a:fillRect/>
          </a:stretch>
        </p:blipFill>
        <p:spPr bwMode="auto">
          <a:xfrm>
            <a:off x="457200" y="2242939"/>
            <a:ext cx="8229600" cy="12065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
        <p:nvSpPr>
          <p:cNvPr id="3" name="Content Placeholder 2"/>
          <p:cNvSpPr>
            <a:spLocks noGrp="1"/>
          </p:cNvSpPr>
          <p:nvPr>
            <p:ph idx="1"/>
          </p:nvPr>
        </p:nvSpPr>
        <p:spPr>
          <a:xfrm>
            <a:off x="457200" y="1200151"/>
            <a:ext cx="8229600" cy="3394472"/>
          </a:xfrm>
        </p:spPr>
        <p:txBody>
          <a:bodyPr/>
          <a:lstStyle/>
          <a:p>
            <a:pPr lvl="0"/>
            <a:r>
              <a:rPr/>
              <a:t>Twelve minutes</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bad ways to get every gradient</a:t>
            </a:r>
          </a:p>
        </p:txBody>
      </p:sp>
      <p:sp>
        <p:nvSpPr>
          <p:cNvPr id="3" name="Content Placeholder 2"/>
          <p:cNvSpPr>
            <a:spLocks noGrp="1"/>
          </p:cNvSpPr>
          <p:nvPr>
            <p:ph idx="1"/>
          </p:nvPr>
        </p:nvSpPr>
        <p:spPr>
          <a:xfrm>
            <a:off x="457200" y="1200151"/>
            <a:ext cx="8229600" cy="3394472"/>
          </a:xfrm>
        </p:spPr>
        <p:txBody>
          <a:bodyPr/>
          <a:lstStyle/>
          <a:p>
            <a:pPr lvl="0"/>
            <a:r>
              <a:rPr/>
              <a:t>We need the derivative of the cost for </a:t>
            </a:r>
            <a:r>
              <a:rPr b="1"/>
              <a:t>every</a:t>
            </a:r>
            <a:r>
              <a:rPr/>
              <a:t> weight and bias</a:t>
            </a:r>
          </a:p>
          <a:p>
            <a:pPr lvl="0"/>
            <a:r>
              <a:rPr b="1"/>
              <a:t>Perturb and re-run</a:t>
            </a:r>
            <a:r>
              <a:rPr/>
              <a:t>: one forward pass per parameter; for notebook 3’s network of 301,066 parameters, 301,066 passes for one step</a:t>
            </a:r>
          </a:p>
          <a:p>
            <a:pPr lvl="0"/>
            <a:r>
              <a:rPr b="1"/>
              <a:t>Differentiate symbolically</a:t>
            </a:r>
            <a:r>
              <a:rPr/>
              <a:t>: the same sub-expressions, thousands of times</a:t>
            </a:r>
          </a:p>
          <a:p>
            <a:pPr lvl="0"/>
            <a:r>
              <a:rPr/>
              <a:t>Both correct. Both unusable</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Compute each repeated piece once, right to left</a:t>
            </a:r>
          </a:p>
        </p:txBody>
      </p:sp>
      <p:sp>
        <p:nvSpPr>
          <p:cNvPr id="3" name="Content Placeholder 2"/>
          <p:cNvSpPr>
            <a:spLocks noGrp="1"/>
          </p:cNvSpPr>
          <p:nvPr>
            <p:ph idx="1"/>
          </p:nvPr>
        </p:nvSpPr>
        <p:spPr>
          <a:xfrm>
            <a:off x="457200" y="1200151"/>
            <a:ext cx="8229600" cy="3394472"/>
          </a:xfrm>
        </p:spPr>
        <p:txBody>
          <a:bodyPr/>
          <a:lstStyle/>
          <a:p>
            <a:pPr lvl="0"/>
            <a:r>
              <a:rPr/>
              <a:t>Carry the cost’s derivative for each layer’s </a:t>
            </a:r>
            <a:r>
              <a:rPr b="1"/>
              <a:t>pre-activations</a:t>
            </a:r>
          </a:p>
          <a:p>
            <a:pPr lvl="0"/>
            <a:r>
              <a:rPr/>
              <a:t>From it: that layer’s weight gradients </a:t>
            </a:r>
            <a:r>
              <a:rPr b="1"/>
              <a:t>and</a:t>
            </a:r>
            <a:r>
              <a:rPr/>
              <a:t> the layer below’s, so one backward sweep gives every gradient</a:t>
            </a:r>
          </a:p>
          <a:p>
            <a:pPr lvl="0"/>
            <a:r>
              <a:rPr b="1"/>
              <a:t>A weight’s gradient is how wrong the layer above was, times what this weight contributed</a:t>
            </a:r>
          </a:p>
          <a:p>
            <a:pPr lvl="0"/>
            <a:r>
              <a:rPr/>
              <a:t>Keras automates it with </a:t>
            </a:r>
            <a:r>
              <a:rPr>
                <a:latin typeface="Courier"/>
              </a:rPr>
              <a:t>tf.GradientTape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output layer collapses to prediction minus truth</a:t>
            </a:r>
          </a:p>
        </p:txBody>
      </p:sp>
      <p:pic>
        <p:nvPicPr>
          <p:cNvPr descr="eq_62410a196c.png" id="0" name="Picture 1"/>
          <p:cNvPicPr>
            <a:picLocks noGrp="1" noChangeAspect="1"/>
          </p:cNvPicPr>
          <p:nvPr/>
        </p:nvPicPr>
        <p:blipFill>
          <a:blip r:embed="rId3"/>
          <a:stretch>
            <a:fillRect/>
          </a:stretch>
        </p:blipFill>
        <p:spPr bwMode="auto">
          <a:xfrm>
            <a:off x="2068052" y="2351582"/>
            <a:ext cx="5007895" cy="989214"/>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sigmoid and cross-entropy belong together</a:t>
            </a:r>
          </a:p>
        </p:txBody>
      </p:sp>
      <p:sp>
        <p:nvSpPr>
          <p:cNvPr id="3" name="Content Placeholder 2"/>
          <p:cNvSpPr>
            <a:spLocks noGrp="1"/>
          </p:cNvSpPr>
          <p:nvPr>
            <p:ph idx="1"/>
          </p:nvPr>
        </p:nvSpPr>
        <p:spPr>
          <a:xfrm>
            <a:off x="457200" y="1200151"/>
            <a:ext cx="8229600" cy="3394472"/>
          </a:xfrm>
        </p:spPr>
        <p:txBody>
          <a:bodyPr/>
          <a:lstStyle/>
          <a:p>
            <a:pPr lvl="0"/>
            <a:r>
              <a:rPr/>
              <a:t>The loss derivative carries a factor 1 over ŷ(1 − ŷ)</a:t>
            </a:r>
          </a:p>
          <a:p>
            <a:pPr lvl="0"/>
            <a:r>
              <a:rPr/>
              <a:t>The sigmoid’s derivative </a:t>
            </a:r>
            <a:r>
              <a:rPr b="1"/>
              <a:t>is</a:t>
            </a:r>
            <a:r>
              <a:rPr/>
              <a:t> ŷ(1 − ŷ)</a:t>
            </a:r>
          </a:p>
          <a:p>
            <a:pPr lvl="0"/>
            <a:r>
              <a:rPr/>
              <a:t>They cancel exactly, leaving </a:t>
            </a:r>
            <a:r>
              <a:rPr b="1"/>
              <a:t>ŷ − y</a:t>
            </a:r>
          </a:p>
          <a:p>
            <a:pPr lvl="0"/>
            <a:r>
              <a:rPr/>
              <a:t>Squared error keeps that factor, and it is near zero exactly when the network is </a:t>
            </a:r>
            <a:r>
              <a:rPr b="1"/>
              <a:t>confidently wrong</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step down, through the activation</a:t>
            </a:r>
          </a:p>
        </p:txBody>
      </p:sp>
      <p:sp>
        <p:nvSpPr>
          <p:cNvPr id="3" name="Content Placeholder 2"/>
          <p:cNvSpPr>
            <a:spLocks noGrp="1"/>
          </p:cNvSpPr>
          <p:nvPr>
            <p:ph idx="1"/>
          </p:nvPr>
        </p:nvSpPr>
        <p:spPr>
          <a:xfrm>
            <a:off x="457200" y="1200151"/>
            <a:ext cx="8229600" cy="3394472"/>
          </a:xfrm>
        </p:spPr>
        <p:txBody>
          <a:bodyPr/>
          <a:lstStyle/>
          <a:p>
            <a:pPr lvl="0"/>
            <a:r>
              <a:rPr/>
              <a:t>Weight gradient = incoming activations, transposed, times the signal above</a:t>
            </a:r>
          </a:p>
          <a:p>
            <a:pPr lvl="0"/>
            <a:r>
              <a:rPr/>
              <a:t>To step down: multiply by the weight matrix above, then by the activation’s derivative</a:t>
            </a:r>
          </a:p>
          <a:p>
            <a:pPr lvl="0"/>
            <a:r>
              <a:rPr/>
              <a:t>For the ReLU that derivative is an indicator: 1 where the pre-activation was positive</a:t>
            </a:r>
          </a:p>
          <a:p>
            <a:pPr lvl="0"/>
            <a:r>
              <a:rPr/>
              <a:t>A unit that contributed nothing forward passes nothing backward</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Backward through one layer</a:t>
            </a:r>
          </a:p>
        </p:txBody>
      </p:sp>
      <p:pic>
        <p:nvPicPr>
          <p:cNvPr descr="eq_6db9f7ee67.png" id="0" name="Picture 1"/>
          <p:cNvPicPr>
            <a:picLocks noGrp="1" noChangeAspect="1"/>
          </p:cNvPicPr>
          <p:nvPr/>
        </p:nvPicPr>
        <p:blipFill>
          <a:blip r:embed="rId3"/>
          <a:stretch>
            <a:fillRect/>
          </a:stretch>
        </p:blipFill>
        <p:spPr bwMode="auto">
          <a:xfrm>
            <a:off x="457200" y="2465189"/>
            <a:ext cx="8229600" cy="762000"/>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backpropagation costs</a:t>
            </a:r>
          </a:p>
        </p:txBody>
      </p:sp>
      <p:sp>
        <p:nvSpPr>
          <p:cNvPr id="3" name="Content Placeholder 2"/>
          <p:cNvSpPr>
            <a:spLocks noGrp="1"/>
          </p:cNvSpPr>
          <p:nvPr>
            <p:ph idx="1"/>
          </p:nvPr>
        </p:nvSpPr>
        <p:spPr>
          <a:xfrm>
            <a:off x="457200" y="1200151"/>
            <a:ext cx="8229600" cy="3394472"/>
          </a:xfrm>
        </p:spPr>
        <p:txBody>
          <a:bodyPr/>
          <a:lstStyle/>
          <a:p>
            <a:pPr lvl="0"/>
            <a:r>
              <a:rPr/>
              <a:t>The backward pass does about the same arithmetic as the forward pass</a:t>
            </a:r>
          </a:p>
          <a:p>
            <a:pPr lvl="0"/>
            <a:r>
              <a:rPr b="1"/>
              <a:t>A gradient costs roughly what a prediction costs</a:t>
            </a:r>
            <a:r>
              <a:rPr/>
              <a:t>: this is what makes training feasible at all</a:t>
            </a:r>
          </a:p>
          <a:p>
            <a:pPr lvl="0"/>
            <a:r>
              <a:rPr/>
              <a:t>But every layer’s activations must be </a:t>
            </a:r>
            <a:r>
              <a:rPr b="1"/>
              <a:t>stored</a:t>
            </a:r>
          </a:p>
          <a:p>
            <a:pPr lvl="0"/>
            <a:r>
              <a:rPr/>
              <a:t>Memory grows with depth times batch size, and memory, not arithmetic, is what usually limits batch size</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Check the gradient before you trust it</a:t>
            </a:r>
          </a:p>
        </p:txBody>
      </p:sp>
      <p:sp>
        <p:nvSpPr>
          <p:cNvPr id="3" name="Content Placeholder 2"/>
          <p:cNvSpPr>
            <a:spLocks noGrp="1"/>
          </p:cNvSpPr>
          <p:nvPr>
            <p:ph idx="1"/>
          </p:nvPr>
        </p:nvSpPr>
        <p:spPr>
          <a:xfrm>
            <a:off x="457200" y="1200151"/>
            <a:ext cx="8229600" cy="3394472"/>
          </a:xfrm>
        </p:spPr>
        <p:txBody>
          <a:bodyPr/>
          <a:lstStyle/>
          <a:p>
            <a:pPr lvl="0"/>
            <a:r>
              <a:rPr/>
              <a:t>A wrong gradient </a:t>
            </a:r>
            <a:r>
              <a:rPr b="1"/>
              <a:t>raises no exception</a:t>
            </a:r>
            <a:r>
              <a:rPr/>
              <a:t>: it trains badly and looks like a modelling problem</a:t>
            </a:r>
          </a:p>
          <a:p>
            <a:pPr lvl="0"/>
            <a:r>
              <a:rPr/>
              <a:t>Compare each partial with (J(θ + h) − J(θ − h)) ÷ 2h: error of order h²</a:t>
            </a:r>
          </a:p>
          <a:p>
            <a:pPr lvl="0"/>
            <a:r>
              <a:rPr/>
              <a:t>Notebook 01: worst disagreement 1.97 × 10⁻⁸, median 7.83 × 10⁻¹¹</a:t>
            </a:r>
          </a:p>
          <a:p>
            <a:pPr lvl="0"/>
            <a:r>
              <a:rPr b="1"/>
              <a:t>Relative error below 10⁻⁶: believe it. Above 10⁻⁴: there is a bug</a:t>
            </a:r>
          </a:p>
          <a:p>
            <a:pPr lvl="0"/>
            <a:r>
              <a:rPr/>
              <a:t>Four lines of code, and not optional</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21 partial derivatives, on the diagonal</a:t>
            </a:r>
          </a:p>
        </p:txBody>
      </p:sp>
      <p:pic>
        <p:nvPicPr>
          <p:cNvPr descr="gradient_check.png" id="0" name="Picture 1"/>
          <p:cNvPicPr>
            <a:picLocks noGrp="1" noChangeAspect="1"/>
          </p:cNvPicPr>
          <p:nvPr/>
        </p:nvPicPr>
        <p:blipFill>
          <a:blip r:embed="rId3"/>
          <a:stretch>
            <a:fillRect/>
          </a:stretch>
        </p:blipFill>
        <p:spPr bwMode="auto">
          <a:xfrm>
            <a:off x="2759768" y="1166099"/>
            <a:ext cx="3624464" cy="3360181"/>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split, then one straight line, 9-16</a:t>
                      </a:r>
                    </a:p>
                  </a:txBody>
                </a:tc>
                <a:tc>
                  <a:txBody>
                    <a:bodyPr/>
                    <a:lstStyle/>
                    <a:p>
                      <a:pPr lvl="0" indent="0" marL="0">
                        <a:buNone/>
                      </a:pPr>
                      <a:r>
                        <a:rPr>
                          <a:latin typeface="Courier"/>
                        </a:rPr>
                        <a:t>train_test_split</a:t>
                      </a:r>
                      <a:r>
                        <a:rPr/>
                        <a:t>, </a:t>
                      </a:r>
                      <a:r>
                        <a:rPr>
                          <a:latin typeface="Courier"/>
                        </a:rPr>
                        <a:t>StandardScaler</a:t>
                      </a:r>
                      <a:r>
                        <a:rPr/>
                        <a:t>, </a:t>
                      </a:r>
                      <a:r>
                        <a:rPr>
                          <a:latin typeface="Courier"/>
                        </a:rPr>
                        <a:t>LogisticRegression</a:t>
                      </a:r>
                      <a:r>
                        <a:rPr/>
                        <a:t> → 0.5507</a:t>
                      </a:r>
                    </a:p>
                  </a:txBody>
                </a:tc>
              </a:tr>
              <a:tr h="0">
                <a:tc>
                  <a:txBody>
                    <a:bodyPr/>
                    <a:lstStyle/>
                    <a:p>
                      <a:pPr lvl="0" indent="0" marL="0">
                        <a:buNone/>
                      </a:pPr>
                      <a:r>
                        <a:rPr/>
                        <a:t>forward, backward, gradient check, 28-43</a:t>
                      </a:r>
                    </a:p>
                  </a:txBody>
                </a:tc>
                <a:tc>
                  <a:txBody>
                    <a:bodyPr/>
                    <a:lstStyle/>
                    <a:p>
                      <a:pPr lvl="0" indent="0" marL="0">
                        <a:buNone/>
                      </a:pPr>
                      <a:r>
                        <a:rPr/>
                        <a:t>NumPy only → untrained cost 0.6721, worst disagreement 1.97 × 10⁻⁸</a:t>
                      </a:r>
                    </a:p>
                  </a:txBody>
                </a:tc>
              </a:tr>
              <a:tr h="0">
                <a:tc>
                  <a:txBody>
                    <a:bodyPr/>
                    <a:lstStyle/>
                    <a:p>
                      <a:pPr lvl="0" indent="0" marL="0">
                        <a:buNone/>
                      </a:pPr>
                      <a:r>
                        <a:rPr/>
                        <a:t>the drift problem, 17-25</a:t>
                      </a:r>
                    </a:p>
                  </a:txBody>
                </a:tc>
                <a:tc>
                  <a:txBody>
                    <a:bodyPr/>
                    <a:lstStyle/>
                    <a:p>
                      <a:pPr lvl="0" indent="0" marL="0">
                        <a:buNone/>
                      </a:pPr>
                      <a:r>
                        <a:rPr/>
                        <a:t>the hand-built network, then 20 restarts per width → 4 of 20 above 0.95 at two units</a:t>
                      </a:r>
                    </a:p>
                  </a:txBody>
                </a:tc>
              </a:tr>
              <a:tr h="0">
                <a:tc>
                  <a:txBody>
                    <a:bodyPr/>
                    <a:lstStyle/>
                    <a:p>
                      <a:pPr lvl="0" indent="0" marL="0">
                        <a:buNone/>
                      </a:pPr>
                      <a:r>
                        <a:rPr/>
                        <a:t>the polygon yardstick, 26</a:t>
                      </a:r>
                    </a:p>
                  </a:txBody>
                </a:tc>
                <a:tc>
                  <a:txBody>
                    <a:bodyPr/>
                    <a:lstStyle/>
                    <a:p>
                      <a:pPr lvl="0" indent="0" marL="0">
                        <a:buNone/>
                      </a:pPr>
                      <a:r>
                        <a:rPr>
                          <a:latin typeface="Courier"/>
                        </a:rPr>
                        <a:t>scipy.integrate</a:t>
                      </a:r>
                      <a:r>
                        <a:rPr/>
                        <a:t> → the best 4-sided fence scores 0.9396</a:t>
                      </a:r>
                    </a:p>
                  </a:txBody>
                </a:tc>
              </a:tr>
              <a:tr h="0">
                <a:tc>
                  <a:txBody>
                    <a:bodyPr/>
                    <a:lstStyle/>
                    <a:p>
                      <a:pPr lvl="0" indent="0" marL="0">
                        <a:buNone/>
                      </a:pPr>
                      <a:r>
                        <a:rPr/>
                        <a:t>zero initialisation, 56-57</a:t>
                      </a:r>
                    </a:p>
                  </a:txBody>
                </a:tc>
                <a:tc>
                  <a:txBody>
                    <a:bodyPr/>
                    <a:lstStyle/>
                    <a:p>
                      <a:pPr lvl="0" indent="0" marL="0">
                        <a:buNone/>
                      </a:pPr>
                      <a:r>
                        <a:rPr/>
                        <a:t>all weights 0 → final cost 0.6887</a:t>
                      </a:r>
                    </a:p>
                  </a:txBody>
                </a:tc>
              </a:tr>
            </a:tbl>
          </a:graphicData>
        </a:graphic>
      </p:graphicFrame>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Ten classes need ten outputs</a:t>
            </a:r>
          </a:p>
        </p:txBody>
      </p:sp>
      <p:sp>
        <p:nvSpPr>
          <p:cNvPr id="3" name="Content Placeholder 2"/>
          <p:cNvSpPr>
            <a:spLocks noGrp="1"/>
          </p:cNvSpPr>
          <p:nvPr>
            <p:ph idx="1"/>
          </p:nvPr>
        </p:nvSpPr>
        <p:spPr>
          <a:xfrm>
            <a:off x="457200" y="1200151"/>
            <a:ext cx="8229600" cy="3394472"/>
          </a:xfrm>
        </p:spPr>
        <p:txBody>
          <a:bodyPr/>
          <a:lstStyle/>
          <a:p>
            <a:pPr lvl="0"/>
            <a:r>
              <a:rPr b="1"/>
              <a:t>Softmax</a:t>
            </a:r>
            <a:r>
              <a:rPr/>
              <a:t> turns K scores into a probability distribution</a:t>
            </a:r>
          </a:p>
          <a:p>
            <a:pPr lvl="0"/>
            <a:r>
              <a:rPr/>
              <a:t>For K = 2 it is the sigmoid: one construction, two sizes</a:t>
            </a:r>
          </a:p>
          <a:p>
            <a:pPr lvl="0"/>
            <a:r>
              <a:rPr/>
              <a:t>Loss, categorical cross-entropy: −log(probability of the true class), </a:t>
            </a:r>
            <a:r>
              <a:rPr>
                <a:latin typeface="Courier"/>
              </a:rPr>
              <a:t>sparse_categorical_crossentropy</a:t>
            </a:r>
          </a:p>
          <a:p>
            <a:pPr lvl="0"/>
            <a:r>
              <a:rPr/>
              <a:t>The gradient at the output is again </a:t>
            </a:r>
            <a:r>
              <a:rPr b="1"/>
              <a:t>ŷ − y</a:t>
            </a:r>
            <a:r>
              <a:rPr/>
              <a:t>: the backward pass is unchanged</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Softmax</a:t>
            </a:r>
          </a:p>
        </p:txBody>
      </p:sp>
      <p:pic>
        <p:nvPicPr>
          <p:cNvPr descr="eq_5ce0302c6a.png" id="0" name="Picture 1"/>
          <p:cNvPicPr>
            <a:picLocks noGrp="1" noChangeAspect="1"/>
          </p:cNvPicPr>
          <p:nvPr/>
        </p:nvPicPr>
        <p:blipFill>
          <a:blip r:embed="rId3"/>
          <a:stretch>
            <a:fillRect/>
          </a:stretch>
        </p:blipFill>
        <p:spPr bwMode="auto">
          <a:xfrm>
            <a:off x="1342506" y="1769691"/>
            <a:ext cx="6458988" cy="2152996"/>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hidden layer is not always the answer</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architecture</a:t>
                      </a:r>
                    </a:p>
                  </a:txBody>
                  <a:tcPr/>
                </a:tc>
                <a:tc>
                  <a:txBody>
                    <a:bodyPr/>
                    <a:lstStyle/>
                    <a:p>
                      <a:pPr lvl="0" indent="0" marL="0">
                        <a:buNone/>
                      </a:pPr>
                      <a:r>
                        <a:rPr/>
                        <a:t>parameters</a:t>
                      </a:r>
                    </a:p>
                  </a:txBody>
                  <a:tcPr/>
                </a:tc>
                <a:tc>
                  <a:txBody>
                    <a:bodyPr/>
                    <a:lstStyle/>
                    <a:p>
                      <a:pPr lvl="0" indent="0" marL="0">
                        <a:buNone/>
                      </a:pPr>
                      <a:r>
                        <a:rPr/>
                        <a:t>validation accuracy</a:t>
                      </a:r>
                    </a:p>
                  </a:txBody>
                  <a:tcPr/>
                </a:tc>
                <a:tc>
                  <a:txBody>
                    <a:bodyPr/>
                    <a:lstStyle/>
                    <a:p>
                      <a:pPr lvl="0" indent="0" marL="0">
                        <a:buNone/>
                      </a:pPr>
                      <a:r>
                        <a:rPr/>
                        <a:t>sd over 5 seeds</a:t>
                      </a:r>
                    </a:p>
                  </a:txBody>
                  <a:tcPr/>
                </a:tc>
              </a:tr>
              <a:tr h="0">
                <a:tc>
                  <a:txBody>
                    <a:bodyPr/>
                    <a:lstStyle/>
                    <a:p>
                      <a:pPr lvl="0" indent="0" marL="0">
                        <a:buNone/>
                      </a:pPr>
                      <a:r>
                        <a:rPr/>
                        <a:t>softmax alone, no hidden layer</a:t>
                      </a:r>
                    </a:p>
                  </a:txBody>
                </a:tc>
                <a:tc>
                  <a:txBody>
                    <a:bodyPr/>
                    <a:lstStyle/>
                    <a:p>
                      <a:pPr lvl="0" indent="0" marL="0">
                        <a:buNone/>
                      </a:pPr>
                      <a:r>
                        <a:rPr/>
                        <a:t>650</a:t>
                      </a:r>
                    </a:p>
                  </a:txBody>
                </a:tc>
                <a:tc>
                  <a:txBody>
                    <a:bodyPr/>
                    <a:lstStyle/>
                    <a:p>
                      <a:pPr lvl="0" indent="0" marL="0">
                        <a:buNone/>
                      </a:pPr>
                      <a:r>
                        <a:rPr/>
                        <a:t>0.9324</a:t>
                      </a:r>
                    </a:p>
                  </a:txBody>
                </a:tc>
                <a:tc>
                  <a:txBody>
                    <a:bodyPr/>
                    <a:lstStyle/>
                    <a:p>
                      <a:pPr lvl="0" indent="0" marL="0">
                        <a:buNone/>
                      </a:pPr>
                      <a:r>
                        <a:rPr/>
                        <a:t>0.0035</a:t>
                      </a:r>
                    </a:p>
                  </a:txBody>
                </a:tc>
              </a:tr>
              <a:tr h="0">
                <a:tc>
                  <a:txBody>
                    <a:bodyPr/>
                    <a:lstStyle/>
                    <a:p>
                      <a:pPr lvl="0" indent="0" marL="0">
                        <a:buNone/>
                      </a:pPr>
                      <a:r>
                        <a:rPr/>
                        <a:t>one hidden layer of 32</a:t>
                      </a:r>
                    </a:p>
                  </a:txBody>
                </a:tc>
                <a:tc>
                  <a:txBody>
                    <a:bodyPr/>
                    <a:lstStyle/>
                    <a:p>
                      <a:pPr lvl="0" indent="0" marL="0">
                        <a:buNone/>
                      </a:pPr>
                      <a:r>
                        <a:rPr/>
                        <a:t>2,410</a:t>
                      </a:r>
                    </a:p>
                  </a:txBody>
                </a:tc>
                <a:tc>
                  <a:txBody>
                    <a:bodyPr/>
                    <a:lstStyle/>
                    <a:p>
                      <a:pPr lvl="0" indent="0" marL="0">
                        <a:buNone/>
                      </a:pPr>
                      <a:r>
                        <a:rPr/>
                        <a:t>0.9602</a:t>
                      </a:r>
                    </a:p>
                  </a:txBody>
                </a:tc>
                <a:tc>
                  <a:txBody>
                    <a:bodyPr/>
                    <a:lstStyle/>
                    <a:p>
                      <a:pPr lvl="0" indent="0" marL="0">
                        <a:buNone/>
                      </a:pPr>
                      <a:r>
                        <a:rPr/>
                        <a:t>0.0052</a:t>
                      </a:r>
                    </a:p>
                  </a:txBody>
                </a:tc>
              </a:tr>
              <a:tr h="0">
                <a:tc>
                  <a:txBody>
                    <a:bodyPr/>
                    <a:lstStyle/>
                    <a:p>
                      <a:pPr lvl="0" indent="0" marL="0">
                        <a:buNone/>
                      </a:pPr>
                      <a:r>
                        <a:rPr/>
                        <a:t>one hidden layer of 64</a:t>
                      </a:r>
                    </a:p>
                  </a:txBody>
                </a:tc>
                <a:tc>
                  <a:txBody>
                    <a:bodyPr/>
                    <a:lstStyle/>
                    <a:p>
                      <a:pPr lvl="0" indent="0" marL="0">
                        <a:buNone/>
                      </a:pPr>
                      <a:r>
                        <a:rPr/>
                        <a:t>4,810</a:t>
                      </a:r>
                    </a:p>
                  </a:txBody>
                </a:tc>
                <a:tc>
                  <a:txBody>
                    <a:bodyPr/>
                    <a:lstStyle/>
                    <a:p>
                      <a:pPr lvl="0" indent="0" marL="0">
                        <a:buNone/>
                      </a:pPr>
                      <a:r>
                        <a:rPr/>
                        <a:t>0.9611</a:t>
                      </a:r>
                    </a:p>
                  </a:txBody>
                </a:tc>
                <a:tc>
                  <a:txBody>
                    <a:bodyPr/>
                    <a:lstStyle/>
                    <a:p>
                      <a:pPr lvl="0" indent="0" marL="0">
                        <a:buNone/>
                      </a:pPr>
                      <a:r>
                        <a:rPr/>
                        <a:t>0.0045</a:t>
                      </a:r>
                    </a:p>
                  </a:txBody>
                </a:tc>
              </a:tr>
              <a:tr h="0">
                <a:tc>
                  <a:txBody>
                    <a:bodyPr/>
                    <a:lstStyle/>
                    <a:p>
                      <a:pPr lvl="0" indent="0" marL="0">
                        <a:buNone/>
                      </a:pPr>
                      <a:r>
                        <a:rPr/>
                        <a:t>two hidden layers of 64</a:t>
                      </a:r>
                    </a:p>
                  </a:txBody>
                </a:tc>
                <a:tc>
                  <a:txBody>
                    <a:bodyPr/>
                    <a:lstStyle/>
                    <a:p>
                      <a:pPr lvl="0" indent="0" marL="0">
                        <a:buNone/>
                      </a:pPr>
                      <a:r>
                        <a:rPr/>
                        <a:t>8,970</a:t>
                      </a:r>
                    </a:p>
                  </a:txBody>
                </a:tc>
                <a:tc>
                  <a:txBody>
                    <a:bodyPr/>
                    <a:lstStyle/>
                    <a:p>
                      <a:pPr lvl="0" indent="0" marL="0">
                        <a:buNone/>
                      </a:pPr>
                      <a:r>
                        <a:rPr/>
                        <a:t>0.9676</a:t>
                      </a:r>
                    </a:p>
                  </a:txBody>
                </a:tc>
                <a:tc>
                  <a:txBody>
                    <a:bodyPr/>
                    <a:lstStyle/>
                    <a:p>
                      <a:pPr lvl="0" indent="0" marL="0">
                        <a:buNone/>
                      </a:pPr>
                      <a:r>
                        <a:rPr/>
                        <a:t>0.0057</a:t>
                      </a:r>
                    </a:p>
                  </a:txBody>
                </a:tc>
              </a:tr>
            </a:tbl>
          </a:graphicData>
        </a:graphic>
      </p:graphicFrame>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Reading that table</a:t>
            </a:r>
          </a:p>
        </p:txBody>
      </p:sp>
      <p:sp>
        <p:nvSpPr>
          <p:cNvPr id="3" name="Content Placeholder 2"/>
          <p:cNvSpPr>
            <a:spLocks noGrp="1"/>
          </p:cNvSpPr>
          <p:nvPr>
            <p:ph idx="1"/>
          </p:nvPr>
        </p:nvSpPr>
        <p:spPr>
          <a:xfrm>
            <a:off x="457200" y="1200151"/>
            <a:ext cx="8229600" cy="3394472"/>
          </a:xfrm>
        </p:spPr>
        <p:txBody>
          <a:bodyPr/>
          <a:lstStyle/>
          <a:p>
            <a:pPr lvl="0"/>
            <a:r>
              <a:rPr/>
              <a:t>No hidden layer at all is within </a:t>
            </a:r>
            <a:r>
              <a:rPr b="1"/>
              <a:t>3.5 points</a:t>
            </a:r>
            <a:r>
              <a:rPr/>
              <a:t> of the best network here</a:t>
            </a:r>
          </a:p>
          <a:p>
            <a:pPr lvl="0"/>
            <a:r>
              <a:rPr/>
              <a:t>The first hidden layer is worth </a:t>
            </a:r>
            <a:r>
              <a:rPr b="1"/>
              <a:t>2.8 points</a:t>
            </a:r>
            <a:r>
              <a:rPr/>
              <a:t>; 32 units to 64, </a:t>
            </a:r>
            <a:r>
              <a:rPr b="1"/>
              <a:t>0.09</a:t>
            </a:r>
          </a:p>
          <a:p>
            <a:pPr lvl="0"/>
            <a:r>
              <a:rPr/>
              <a:t>On the acceptance data the same step was worth </a:t>
            </a:r>
            <a:r>
              <a:rPr b="1"/>
              <a:t>39 points</a:t>
            </a:r>
          </a:p>
          <a:p>
            <a:pPr lvl="0"/>
            <a:r>
              <a:rPr/>
              <a:t>Digits vote pixel by pixel: the acceptance rule needed two measurements </a:t>
            </a:r>
            <a:r>
              <a:rPr b="1"/>
              <a:t>at once</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sigmoid layer divides the gradient by about four</a:t>
            </a:r>
          </a:p>
        </p:txBody>
      </p:sp>
      <p:sp>
        <p:nvSpPr>
          <p:cNvPr id="3" name="Content Placeholder 2"/>
          <p:cNvSpPr>
            <a:spLocks noGrp="1"/>
          </p:cNvSpPr>
          <p:nvPr>
            <p:ph idx="1"/>
          </p:nvPr>
        </p:nvSpPr>
        <p:spPr>
          <a:xfrm>
            <a:off x="457200" y="1200151"/>
            <a:ext cx="8229600" cy="3394472"/>
          </a:xfrm>
        </p:spPr>
        <p:txBody>
          <a:bodyPr/>
          <a:lstStyle/>
          <a:p>
            <a:pPr lvl="0"/>
            <a:r>
              <a:rPr/>
              <a:t>Any number of linear layers composes to one: the activation is the whole reason depth buys anything</a:t>
            </a:r>
          </a:p>
          <a:p>
            <a:pPr lvl="0"/>
            <a:r>
              <a:rPr/>
              <a:t>The sigmoid’s derivative σ(z)(1 − σ(z)) peaks at </a:t>
            </a:r>
            <a:r>
              <a:rPr b="1"/>
              <a:t>¼</a:t>
            </a:r>
            <a:r>
              <a:rPr/>
              <a:t>, at zero only</a:t>
            </a:r>
          </a:p>
          <a:p>
            <a:pPr lvl="0"/>
            <a:r>
              <a:rPr/>
              <a:t>Backpropagation multiplies by it </a:t>
            </a:r>
            <a:r>
              <a:rPr b="1"/>
              <a:t>once per layer</a:t>
            </a:r>
          </a:p>
          <a:p>
            <a:pPr lvl="0"/>
            <a:r>
              <a:rPr/>
              <a:t>At initialisation the weights multiply it by about 1, so the derivative decides: </a:t>
            </a:r>
            <a:r>
              <a:rPr b="1"/>
              <a:t>each sigmoid layer divides the gradient by about four</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activations, and their derivatives</a:t>
            </a:r>
          </a:p>
        </p:txBody>
      </p:sp>
      <p:pic>
        <p:nvPicPr>
          <p:cNvPr descr="activation_functions.png" id="0" name="Picture 1"/>
          <p:cNvPicPr>
            <a:picLocks noGrp="1" noChangeAspect="1"/>
          </p:cNvPicPr>
          <p:nvPr/>
        </p:nvPicPr>
        <p:blipFill>
          <a:blip r:embed="rId3"/>
          <a:stretch>
            <a:fillRect/>
          </a:stretch>
        </p:blipFill>
        <p:spPr bwMode="auto">
          <a:xfrm>
            <a:off x="457200" y="1277739"/>
            <a:ext cx="8229600" cy="3136900"/>
          </a:xfrm>
          <a:prstGeom prst="rect">
            <a:avLst/>
          </a:prstGeom>
          <a:noFill/>
          <a:ln w="9525">
            <a:noFill/>
            <a:headEnd/>
            <a:tailEnd/>
          </a:ln>
        </p:spPr>
      </p:pic>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Six layers of it, measured</a:t>
            </a:r>
          </a:p>
        </p:txBody>
      </p:sp>
      <p:pic>
        <p:nvPicPr>
          <p:cNvPr descr="vanishing_gradients.png" id="0" name="Picture 1"/>
          <p:cNvPicPr>
            <a:picLocks noGrp="1" noChangeAspect="1"/>
          </p:cNvPicPr>
          <p:nvPr/>
        </p:nvPicPr>
        <p:blipFill>
          <a:blip r:embed="rId3"/>
          <a:stretch>
            <a:fillRect/>
          </a:stretch>
        </p:blipFill>
        <p:spPr bwMode="auto">
          <a:xfrm>
            <a:off x="2086473" y="1166099"/>
            <a:ext cx="4971054" cy="3360181"/>
          </a:xfrm>
          <a:prstGeom prst="rect">
            <a:avLst/>
          </a:prstGeom>
          <a:noFill/>
          <a:ln w="9525">
            <a:noFill/>
            <a:headEnd/>
            <a:tailEnd/>
          </a:ln>
        </p:spPr>
      </p:pic>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draw is not a law</a:t>
            </a:r>
          </a:p>
        </p:txBody>
      </p:sp>
      <p:sp>
        <p:nvSpPr>
          <p:cNvPr id="3" name="Content Placeholder 2"/>
          <p:cNvSpPr>
            <a:spLocks noGrp="1"/>
          </p:cNvSpPr>
          <p:nvPr>
            <p:ph idx="1"/>
          </p:nvPr>
        </p:nvSpPr>
        <p:spPr>
          <a:xfrm>
            <a:off x="457200" y="1200151"/>
            <a:ext cx="8229600" cy="3394472"/>
          </a:xfrm>
        </p:spPr>
        <p:txBody>
          <a:bodyPr/>
          <a:lstStyle/>
          <a:p>
            <a:pPr lvl="0"/>
            <a:r>
              <a:rPr/>
              <a:t>Gradient at the last weight matrix ÷ gradient at the first: median </a:t>
            </a:r>
            <a:r>
              <a:rPr b="1"/>
              <a:t>3,547</a:t>
            </a:r>
          </a:p>
          <a:p>
            <a:pPr lvl="0"/>
            <a:r>
              <a:rPr/>
              <a:t>Over the same eight seeds it ranges </a:t>
            </a:r>
            <a:r>
              <a:rPr b="1"/>
              <a:t>2,734 to 4,607</a:t>
            </a:r>
          </a:p>
          <a:p>
            <a:pPr lvl="0"/>
            <a:r>
              <a:rPr/>
              <a:t>Quoting the largest reports one draw as a law</a:t>
            </a:r>
          </a:p>
          <a:p>
            <a:pPr lvl="0"/>
            <a:r>
              <a:rPr b="1"/>
              <a:t>The per-layer factor of about 4 is the property</a:t>
            </a:r>
          </a:p>
          <a:p>
            <a:pPr lvl="0"/>
            <a:r>
              <a:rPr/>
              <a:t>By depth: 9.5, 170, 3,553, 46,250 at two, four, six and eight layers</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Eighty epochs: only one of them never learns</a:t>
            </a:r>
          </a:p>
        </p:txBody>
      </p:sp>
      <p:sp>
        <p:nvSpPr>
          <p:cNvPr id="3" name="Content Placeholder 2"/>
          <p:cNvSpPr>
            <a:spLocks noGrp="1"/>
          </p:cNvSpPr>
          <p:nvPr>
            <p:ph idx="1"/>
          </p:nvPr>
        </p:nvSpPr>
        <p:spPr>
          <a:xfrm>
            <a:off x="457200" y="1200151"/>
            <a:ext cx="8229600" cy="3394472"/>
          </a:xfrm>
        </p:spPr>
        <p:txBody>
          <a:bodyPr/>
          <a:lstStyle/>
          <a:p>
            <a:pPr lvl="0"/>
            <a:r>
              <a:rPr/>
              <a:t>Same six layers, same data, differing </a:t>
            </a:r>
            <a:r>
              <a:rPr b="1"/>
              <a:t>only</a:t>
            </a:r>
            <a:r>
              <a:rPr/>
              <a:t> in the activation</a:t>
            </a:r>
          </a:p>
          <a:p>
            <a:pPr lvl="0"/>
            <a:r>
              <a:rPr/>
              <a:t>Sigmoid: </a:t>
            </a:r>
            <a:r>
              <a:rPr b="1"/>
              <a:t>0.1000</a:t>
            </a:r>
            <a:r>
              <a:rPr/>
              <a:t>, exact chance on ten classes</a:t>
            </a:r>
          </a:p>
          <a:p>
            <a:pPr lvl="0"/>
            <a:r>
              <a:rPr/>
              <a:t>tanh: </a:t>
            </a:r>
            <a:r>
              <a:rPr b="1"/>
              <a:t>0.9750</a:t>
            </a:r>
            <a:r>
              <a:rPr/>
              <a:t>, past 0.85 within 3 epochs</a:t>
            </a:r>
          </a:p>
          <a:p>
            <a:pPr lvl="0"/>
            <a:r>
              <a:rPr/>
              <a:t>Rectified linear unit: </a:t>
            </a:r>
            <a:r>
              <a:rPr b="1"/>
              <a:t>0.9611</a:t>
            </a:r>
            <a:r>
              <a:rPr/>
              <a:t>, 9 epochs to get going</a:t>
            </a:r>
          </a:p>
          <a:p>
            <a:pPr lvl="0"/>
            <a:r>
              <a:rPr/>
              <a:t>What kills the sigmoid is not squashing: it is </a:t>
            </a:r>
            <a:r>
              <a:rPr i="1"/>
              <a:t>where its derivative is bounded</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sigmoid never leaves chance</a:t>
            </a:r>
          </a:p>
        </p:txBody>
      </p:sp>
      <p:pic>
        <p:nvPicPr>
          <p:cNvPr descr="deep_training_curves.png" id="0" name="Picture 1"/>
          <p:cNvPicPr>
            <a:picLocks noGrp="1" noChangeAspect="1"/>
          </p:cNvPicPr>
          <p:nvPr/>
        </p:nvPicPr>
        <p:blipFill>
          <a:blip r:embed="rId3"/>
          <a:stretch>
            <a:fillRect/>
          </a:stretch>
        </p:blipFill>
        <p:spPr bwMode="auto">
          <a:xfrm>
            <a:off x="1979501" y="1166099"/>
            <a:ext cx="5184998" cy="3360181"/>
          </a:xfrm>
          <a:prstGeom prst="rect">
            <a:avLst/>
          </a:prstGeom>
          <a:noFill/>
          <a:ln w="9525">
            <a:noFill/>
            <a:headEnd/>
            <a:tailEnd/>
          </a:ln>
        </p:spPr>
      </p:pic>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the same network in Keras, 28-33</a:t>
                      </a:r>
                    </a:p>
                  </a:txBody>
                </a:tc>
                <a:tc>
                  <a:txBody>
                    <a:bodyPr/>
                    <a:lstStyle/>
                    <a:p>
                      <a:pPr lvl="0" indent="0" marL="0">
                        <a:buNone/>
                      </a:pPr>
                      <a:r>
                        <a:rPr>
                          <a:latin typeface="Courier"/>
                        </a:rPr>
                        <a:t>keras.Sequential</a:t>
                      </a:r>
                      <a:r>
                        <a:rPr/>
                        <a:t>, </a:t>
                      </a:r>
                      <a:r>
                        <a:rPr>
                          <a:latin typeface="Courier"/>
                        </a:rPr>
                        <a:t>keras.Input</a:t>
                      </a:r>
                      <a:r>
                        <a:rPr/>
                        <a:t>, </a:t>
                      </a:r>
                      <a:r>
                        <a:rPr>
                          <a:latin typeface="Courier"/>
                        </a:rPr>
                        <a:t>layers.Dense</a:t>
                      </a:r>
                      <a:r>
                        <a:rPr/>
                        <a:t>, </a:t>
                      </a:r>
                      <a:r>
                        <a:rPr>
                          <a:latin typeface="Courier"/>
                        </a:rPr>
                        <a:t>SGD</a:t>
                      </a:r>
                      <a:r>
                        <a:rPr/>
                        <a:t>; then </a:t>
                      </a:r>
                      <a:r>
                        <a:rPr>
                          <a:latin typeface="Courier"/>
                        </a:rPr>
                        <a:t>compile</a:t>
                      </a:r>
                      <a:r>
                        <a:rPr/>
                        <a:t>, </a:t>
                      </a:r>
                      <a:r>
                        <a:rPr>
                          <a:latin typeface="Courier"/>
                        </a:rPr>
                        <a:t>fit</a:t>
                      </a:r>
                      <a:r>
                        <a:rPr/>
                        <a:t>, </a:t>
                      </a:r>
                      <a:r>
                        <a:rPr>
                          <a:latin typeface="Courier"/>
                        </a:rPr>
                        <a:t>evaluate</a:t>
                      </a:r>
                      <a:r>
                        <a:rPr/>
                        <a:t> → 0.9333</a:t>
                      </a:r>
                    </a:p>
                  </a:txBody>
                </a:tc>
              </a:tr>
              <a:tr h="0">
                <a:tc>
                  <a:txBody>
                    <a:bodyPr/>
                    <a:lstStyle/>
                    <a:p>
                      <a:pPr lvl="0" indent="0" marL="0">
                        <a:buNone/>
                      </a:pPr>
                      <a:r>
                        <a:rPr/>
                        <a:t>ten classes, 45-48</a:t>
                      </a:r>
                    </a:p>
                  </a:txBody>
                </a:tc>
                <a:tc>
                  <a:txBody>
                    <a:bodyPr/>
                    <a:lstStyle/>
                    <a:p>
                      <a:pPr lvl="0" indent="0" marL="0">
                        <a:buNone/>
                      </a:pPr>
                      <a:r>
                        <a:rPr>
                          <a:latin typeface="Courier"/>
                        </a:rPr>
                        <a:t>Dense(10, activation="softmax")</a:t>
                      </a:r>
                      <a:r>
                        <a:rPr/>
                        <a:t>, </a:t>
                      </a:r>
                      <a:r>
                        <a:rPr>
                          <a:latin typeface="Courier"/>
                        </a:rPr>
                        <a:t>Adam</a:t>
                      </a:r>
                      <a:r>
                        <a:rPr/>
                        <a:t>, </a:t>
                      </a:r>
                      <a:r>
                        <a:rPr>
                          <a:latin typeface="Courier"/>
                        </a:rPr>
                        <a:t>Dropout</a:t>
                      </a:r>
                      <a:r>
                        <a:rPr/>
                        <a:t>, </a:t>
                      </a:r>
                      <a:r>
                        <a:rPr>
                          <a:latin typeface="Courier"/>
                        </a:rPr>
                        <a:t>confusion_matrix</a:t>
                      </a:r>
                      <a:r>
                        <a:rPr/>
                        <a:t> → 0.9676 with two layers of 64</a:t>
                      </a:r>
                    </a:p>
                  </a:txBody>
                </a:tc>
              </a:tr>
              <a:tr h="0">
                <a:tc>
                  <a:txBody>
                    <a:bodyPr/>
                    <a:lstStyle/>
                    <a:p>
                      <a:pPr lvl="0" indent="0" marL="0">
                        <a:buNone/>
                      </a:pPr>
                      <a:r>
                        <a:rPr/>
                        <a:t>the shrinkage, measured, 49-52</a:t>
                      </a:r>
                    </a:p>
                  </a:txBody>
                </a:tc>
                <a:tc>
                  <a:txBody>
                    <a:bodyPr/>
                    <a:lstStyle/>
                    <a:p>
                      <a:pPr lvl="0" indent="0" marL="0">
                        <a:buNone/>
                      </a:pPr>
                      <a:r>
                        <a:rPr>
                          <a:latin typeface="Courier"/>
                        </a:rPr>
                        <a:t>tf.GradientTape</a:t>
                      </a:r>
                      <a:r>
                        <a:rPr/>
                        <a:t>, </a:t>
                      </a:r>
                      <a:r>
                        <a:rPr>
                          <a:latin typeface="Courier"/>
                        </a:rPr>
                        <a:t>sparse_categorical_crossentropy</a:t>
                      </a:r>
                      <a:r>
                        <a:rPr/>
                        <a:t> → about 4 per sigmoid layer</a:t>
                      </a:r>
                    </a:p>
                  </a:txBody>
                </a:tc>
              </a:tr>
              <a:tr h="0">
                <a:tc>
                  <a:txBody>
                    <a:bodyPr/>
                    <a:lstStyle/>
                    <a:p>
                      <a:pPr lvl="0" indent="0" marL="0">
                        <a:buNone/>
                      </a:pPr>
                      <a:r>
                        <a:rPr/>
                        <a:t>training six layers, 53-54</a:t>
                      </a:r>
                    </a:p>
                  </a:txBody>
                </a:tc>
                <a:tc>
                  <a:txBody>
                    <a:bodyPr/>
                    <a:lstStyle/>
                    <a:p>
                      <a:pPr lvl="0" indent="0" marL="0">
                        <a:buNone/>
                      </a:pPr>
                      <a:r>
                        <a:rPr>
                          <a:latin typeface="Courier"/>
                        </a:rPr>
                        <a:t>SGD</a:t>
                      </a:r>
                      <a:r>
                        <a:rPr/>
                        <a:t> on three activations → sigmoid 0.1000, tanh 0.9750</a:t>
                      </a:r>
                    </a:p>
                  </a:txBody>
                </a:tc>
              </a:tr>
              <a:tr h="0">
                <a:tc>
                  <a:txBody>
                    <a:bodyPr/>
                    <a:lstStyle/>
                    <a:p>
                      <a:pPr lvl="0" indent="0" marL="0">
                        <a:buNone/>
                      </a:pPr>
                      <a:r>
                        <a:rPr/>
                        <a:t>how big the weights should be, 58</a:t>
                      </a:r>
                    </a:p>
                  </a:txBody>
                </a:tc>
                <a:tc>
                  <a:txBody>
                    <a:bodyPr/>
                    <a:lstStyle/>
                    <a:p>
                      <a:pPr lvl="0" indent="0" marL="0">
                        <a:buNone/>
                      </a:pPr>
                      <a:r>
                        <a:rPr>
                          <a:latin typeface="Courier"/>
                        </a:rPr>
                        <a:t>RandomNormal</a:t>
                      </a:r>
                      <a:r>
                        <a:rPr/>
                        <a:t> at two scales, against Glorot → 73% saturated at N(0, 1)</a:t>
                      </a:r>
                    </a:p>
                  </a:txBody>
                </a:tc>
              </a:tr>
            </a:tbl>
          </a:graphicData>
        </a:graphic>
      </p:graphicFrame>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Zero cannot work</a:t>
            </a:r>
          </a:p>
        </p:txBody>
      </p:sp>
      <p:sp>
        <p:nvSpPr>
          <p:cNvPr id="3" name="Content Placeholder 2"/>
          <p:cNvSpPr>
            <a:spLocks noGrp="1"/>
          </p:cNvSpPr>
          <p:nvPr>
            <p:ph idx="1"/>
          </p:nvPr>
        </p:nvSpPr>
        <p:spPr>
          <a:xfrm>
            <a:off x="457200" y="1200151"/>
            <a:ext cx="8229600" cy="3394472"/>
          </a:xfrm>
        </p:spPr>
        <p:txBody>
          <a:bodyPr/>
          <a:lstStyle/>
          <a:p>
            <a:pPr lvl="0"/>
            <a:r>
              <a:rPr/>
              <a:t>Lesson 3 started from zero, and was right to: those costs are convex</a:t>
            </a:r>
          </a:p>
          <a:p>
            <a:pPr lvl="0"/>
            <a:r>
              <a:rPr/>
              <a:t>All-zero weights </a:t>
            </a:r>
            <a:r>
              <a:rPr b="1"/>
              <a:t>freeze</a:t>
            </a:r>
            <a:r>
              <a:rPr/>
              <a:t> a network: every gradient is exactly zero</a:t>
            </a:r>
          </a:p>
          <a:p>
            <a:pPr lvl="0"/>
            <a:r>
              <a:rPr b="1"/>
              <a:t>Only the output bias ever moves</a:t>
            </a:r>
          </a:p>
          <a:p>
            <a:pPr lvl="0"/>
            <a:r>
              <a:rPr/>
              <a:t>The bias converges to the base rate, and the cost to the cost of always predicting it, the label entropy: </a:t>
            </a:r>
            <a:r>
              <a:rPr b="1"/>
              <a:t>0.6887 predicted, 0.6887 measured</a:t>
            </a:r>
          </a:p>
          <a:p>
            <a:pPr lvl="0"/>
            <a:r>
              <a:rPr/>
              <a:t>Distinct hidden columns: </a:t>
            </a:r>
            <a:r>
              <a:rPr b="1"/>
              <a:t>1 of 32</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Only the starting point differs</a:t>
            </a:r>
          </a:p>
        </p:txBody>
      </p:sp>
      <p:pic>
        <p:nvPicPr>
          <p:cNvPr descr="zero_init_symmetry.png" id="0" name="Picture 1"/>
          <p:cNvPicPr>
            <a:picLocks noGrp="1" noChangeAspect="1"/>
          </p:cNvPicPr>
          <p:nvPr/>
        </p:nvPicPr>
        <p:blipFill>
          <a:blip r:embed="rId3"/>
          <a:stretch>
            <a:fillRect/>
          </a:stretch>
        </p:blipFill>
        <p:spPr bwMode="auto">
          <a:xfrm>
            <a:off x="2017256" y="1166099"/>
            <a:ext cx="5109488" cy="3360181"/>
          </a:xfrm>
          <a:prstGeom prst="rect">
            <a:avLst/>
          </a:prstGeom>
          <a:noFill/>
          <a:ln w="9525">
            <a:noFill/>
            <a:headEnd/>
            <a:tailEnd/>
          </a:ln>
        </p:spPr>
      </p:pic>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large? Propagate the variance</a:t>
            </a:r>
          </a:p>
        </p:txBody>
      </p:sp>
      <p:sp>
        <p:nvSpPr>
          <p:cNvPr id="3" name="Content Placeholder 2"/>
          <p:cNvSpPr>
            <a:spLocks noGrp="1"/>
          </p:cNvSpPr>
          <p:nvPr>
            <p:ph idx="1"/>
          </p:nvPr>
        </p:nvSpPr>
        <p:spPr>
          <a:xfrm>
            <a:off x="457200" y="1200151"/>
            <a:ext cx="8229600" cy="3394472"/>
          </a:xfrm>
        </p:spPr>
        <p:txBody>
          <a:bodyPr/>
          <a:lstStyle/>
          <a:p>
            <a:pPr lvl="0"/>
            <a:r>
              <a:rPr/>
              <a:t>A unit sums n inputs, so variance is multiplied by n × Var(w) each layer</a:t>
            </a:r>
          </a:p>
          <a:p>
            <a:pPr lvl="0"/>
            <a:r>
              <a:rPr/>
              <a:t>Set Var(w) = 1/n: </a:t>
            </a:r>
            <a:r>
              <a:rPr b="1"/>
              <a:t>Glorot</a:t>
            </a:r>
            <a:r>
              <a:rPr/>
              <a:t>. ReLU halves it, so it wants 2/n: </a:t>
            </a:r>
            <a:r>
              <a:rPr b="1"/>
              <a:t>He</a:t>
            </a:r>
          </a:p>
          <a:p>
            <a:pPr lvl="0"/>
            <a:r>
              <a:rPr b="1"/>
              <a:t>Too small collapses</a:t>
            </a:r>
            <a:r>
              <a:rPr/>
              <a:t>: indistinguishable from zero by layer 4</a:t>
            </a:r>
          </a:p>
          <a:p>
            <a:pPr lvl="0"/>
            <a:r>
              <a:rPr b="1"/>
              <a:t>Too large saturates</a:t>
            </a:r>
            <a:r>
              <a:rPr/>
              <a:t> rather than exploding: 73% of the last layer’s tanh units past |a| &gt; 0.99</a:t>
            </a:r>
          </a:p>
          <a:p>
            <a:pPr lvl="0"/>
            <a:r>
              <a:rPr/>
              <a:t>Glorot loses half its spread over eight layers</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learning rate, swept</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α</a:t>
                      </a:r>
                    </a:p>
                  </a:txBody>
                  <a:tcPr/>
                </a:tc>
                <a:tc>
                  <a:txBody>
                    <a:bodyPr/>
                    <a:lstStyle/>
                    <a:p>
                      <a:pPr lvl="0" indent="0" marL="0">
                        <a:buNone/>
                      </a:pPr>
                      <a:r>
                        <a:rPr/>
                        <a:t>final training loss</a:t>
                      </a:r>
                    </a:p>
                  </a:txBody>
                  <a:tcPr/>
                </a:tc>
                <a:tc>
                  <a:txBody>
                    <a:bodyPr/>
                    <a:lstStyle/>
                    <a:p>
                      <a:pPr lvl="0" indent="0" marL="0">
                        <a:buNone/>
                      </a:pPr>
                      <a:r>
                        <a:rPr/>
                        <a:t>validation accuracy</a:t>
                      </a:r>
                    </a:p>
                  </a:txBody>
                  <a:tcPr/>
                </a:tc>
                <a:tc>
                  <a:txBody>
                    <a:bodyPr/>
                    <a:lstStyle/>
                    <a:p>
                      <a:pPr lvl="0" indent="0" marL="0">
                        <a:buNone/>
                      </a:pPr>
                      <a:r>
                        <a:rPr/>
                        <a:t>sd over 5 seeds</a:t>
                      </a:r>
                    </a:p>
                  </a:txBody>
                  <a:tcPr/>
                </a:tc>
              </a:tr>
              <a:tr h="0">
                <a:tc>
                  <a:txBody>
                    <a:bodyPr/>
                    <a:lstStyle/>
                    <a:p>
                      <a:pPr lvl="0" indent="0" marL="0">
                        <a:buNone/>
                      </a:pPr>
                      <a:r>
                        <a:rPr/>
                        <a:t>0.001</a:t>
                      </a:r>
                    </a:p>
                  </a:txBody>
                </a:tc>
                <a:tc>
                  <a:txBody>
                    <a:bodyPr/>
                    <a:lstStyle/>
                    <a:p>
                      <a:pPr lvl="0" indent="0" marL="0">
                        <a:buNone/>
                      </a:pPr>
                      <a:r>
                        <a:rPr/>
                        <a:t>1.9550</a:t>
                      </a:r>
                    </a:p>
                  </a:txBody>
                </a:tc>
                <a:tc>
                  <a:txBody>
                    <a:bodyPr/>
                    <a:lstStyle/>
                    <a:p>
                      <a:pPr lvl="0" indent="0" marL="0">
                        <a:buNone/>
                      </a:pPr>
                      <a:r>
                        <a:rPr/>
                        <a:t>0.5574</a:t>
                      </a:r>
                    </a:p>
                  </a:txBody>
                </a:tc>
                <a:tc>
                  <a:txBody>
                    <a:bodyPr/>
                    <a:lstStyle/>
                    <a:p>
                      <a:pPr lvl="0" indent="0" marL="0">
                        <a:buNone/>
                      </a:pPr>
                      <a:r>
                        <a:rPr/>
                        <a:t>0.0794</a:t>
                      </a:r>
                    </a:p>
                  </a:txBody>
                </a:tc>
              </a:tr>
              <a:tr h="0">
                <a:tc>
                  <a:txBody>
                    <a:bodyPr/>
                    <a:lstStyle/>
                    <a:p>
                      <a:pPr lvl="0" indent="0" marL="0">
                        <a:buNone/>
                      </a:pPr>
                      <a:r>
                        <a:rPr/>
                        <a:t>0.01</a:t>
                      </a:r>
                    </a:p>
                  </a:txBody>
                </a:tc>
                <a:tc>
                  <a:txBody>
                    <a:bodyPr/>
                    <a:lstStyle/>
                    <a:p>
                      <a:pPr lvl="0" indent="0" marL="0">
                        <a:buNone/>
                      </a:pPr>
                      <a:r>
                        <a:rPr/>
                        <a:t>0.1965</a:t>
                      </a:r>
                    </a:p>
                  </a:txBody>
                </a:tc>
                <a:tc>
                  <a:txBody>
                    <a:bodyPr/>
                    <a:lstStyle/>
                    <a:p>
                      <a:pPr lvl="0" indent="0" marL="0">
                        <a:buNone/>
                      </a:pPr>
                      <a:r>
                        <a:rPr/>
                        <a:t>0.9398</a:t>
                      </a:r>
                    </a:p>
                  </a:txBody>
                </a:tc>
                <a:tc>
                  <a:txBody>
                    <a:bodyPr/>
                    <a:lstStyle/>
                    <a:p>
                      <a:pPr lvl="0" indent="0" marL="0">
                        <a:buNone/>
                      </a:pPr>
                      <a:r>
                        <a:rPr/>
                        <a:t>0.0035</a:t>
                      </a:r>
                    </a:p>
                  </a:txBody>
                </a:tc>
              </a:tr>
              <a:tr h="0">
                <a:tc>
                  <a:txBody>
                    <a:bodyPr/>
                    <a:lstStyle/>
                    <a:p>
                      <a:pPr lvl="0" indent="0" marL="0">
                        <a:buNone/>
                      </a:pPr>
                      <a:r>
                        <a:rPr/>
                        <a:t>0.1</a:t>
                      </a:r>
                    </a:p>
                  </a:txBody>
                </a:tc>
                <a:tc>
                  <a:txBody>
                    <a:bodyPr/>
                    <a:lstStyle/>
                    <a:p>
                      <a:pPr lvl="0" indent="0" marL="0">
                        <a:buNone/>
                      </a:pPr>
                      <a:r>
                        <a:rPr/>
                        <a:t>0.0115</a:t>
                      </a:r>
                    </a:p>
                  </a:txBody>
                </a:tc>
                <a:tc>
                  <a:txBody>
                    <a:bodyPr/>
                    <a:lstStyle/>
                    <a:p>
                      <a:pPr lvl="0" indent="0" marL="0">
                        <a:buNone/>
                      </a:pPr>
                      <a:r>
                        <a:rPr/>
                        <a:t>0.9556</a:t>
                      </a:r>
                    </a:p>
                  </a:txBody>
                </a:tc>
                <a:tc>
                  <a:txBody>
                    <a:bodyPr/>
                    <a:lstStyle/>
                    <a:p>
                      <a:pPr lvl="0" indent="0" marL="0">
                        <a:buNone/>
                      </a:pPr>
                      <a:r>
                        <a:rPr/>
                        <a:t>0.0039</a:t>
                      </a:r>
                    </a:p>
                  </a:txBody>
                </a:tc>
              </a:tr>
              <a:tr h="0">
                <a:tc>
                  <a:txBody>
                    <a:bodyPr/>
                    <a:lstStyle/>
                    <a:p>
                      <a:pPr lvl="0" indent="0" marL="0">
                        <a:buNone/>
                      </a:pPr>
                      <a:r>
                        <a:rPr/>
                        <a:t>0.5</a:t>
                      </a:r>
                    </a:p>
                  </a:txBody>
                </a:tc>
                <a:tc>
                  <a:txBody>
                    <a:bodyPr/>
                    <a:lstStyle/>
                    <a:p>
                      <a:pPr lvl="0" indent="0" marL="0">
                        <a:buNone/>
                      </a:pPr>
                      <a:r>
                        <a:rPr/>
                        <a:t>0.0007</a:t>
                      </a:r>
                    </a:p>
                  </a:txBody>
                </a:tc>
                <a:tc>
                  <a:txBody>
                    <a:bodyPr/>
                    <a:lstStyle/>
                    <a:p>
                      <a:pPr lvl="0" indent="0" marL="0">
                        <a:buNone/>
                      </a:pPr>
                      <a:r>
                        <a:rPr b="1"/>
                        <a:t>0.9685</a:t>
                      </a:r>
                    </a:p>
                  </a:txBody>
                </a:tc>
                <a:tc>
                  <a:txBody>
                    <a:bodyPr/>
                    <a:lstStyle/>
                    <a:p>
                      <a:pPr lvl="0" indent="0" marL="0">
                        <a:buNone/>
                      </a:pPr>
                      <a:r>
                        <a:rPr/>
                        <a:t>0.0026</a:t>
                      </a:r>
                    </a:p>
                  </a:txBody>
                </a:tc>
              </a:tr>
              <a:tr h="0">
                <a:tc>
                  <a:txBody>
                    <a:bodyPr/>
                    <a:lstStyle/>
                    <a:p>
                      <a:pPr lvl="0" indent="0" marL="0">
                        <a:buNone/>
                      </a:pPr>
                      <a:r>
                        <a:rPr/>
                        <a:t>2.0</a:t>
                      </a:r>
                    </a:p>
                  </a:txBody>
                </a:tc>
                <a:tc>
                  <a:txBody>
                    <a:bodyPr/>
                    <a:lstStyle/>
                    <a:p>
                      <a:pPr lvl="0" indent="0" marL="0">
                        <a:buNone/>
                      </a:pPr>
                      <a:r>
                        <a:rPr/>
                        <a:t>2.3222</a:t>
                      </a:r>
                    </a:p>
                  </a:txBody>
                </a:tc>
                <a:tc>
                  <a:txBody>
                    <a:bodyPr/>
                    <a:lstStyle/>
                    <a:p>
                      <a:pPr lvl="0" indent="0" marL="0">
                        <a:buNone/>
                      </a:pPr>
                      <a:r>
                        <a:rPr/>
                        <a:t>0.1009</a:t>
                      </a:r>
                    </a:p>
                  </a:txBody>
                </a:tc>
                <a:tc>
                  <a:txBody>
                    <a:bodyPr/>
                    <a:lstStyle/>
                    <a:p>
                      <a:pPr lvl="0" indent="0" marL="0">
                        <a:buNone/>
                      </a:pPr>
                      <a:r>
                        <a:rPr/>
                        <a:t>0.0013</a:t>
                      </a:r>
                    </a:p>
                  </a:txBody>
                </a:tc>
              </a:tr>
            </a:tbl>
          </a:graphicData>
        </a:graphic>
      </p:graphicFrame>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regimes, and a narrow band between them</a:t>
            </a:r>
          </a:p>
        </p:txBody>
      </p:sp>
      <p:pic>
        <p:nvPicPr>
          <p:cNvPr descr="learning_rate_sweep.png" id="0" name="Picture 1"/>
          <p:cNvPicPr>
            <a:picLocks noGrp="1" noChangeAspect="1"/>
          </p:cNvPicPr>
          <p:nvPr/>
        </p:nvPicPr>
        <p:blipFill>
          <a:blip r:embed="rId3"/>
          <a:stretch>
            <a:fillRect/>
          </a:stretch>
        </p:blipFill>
        <p:spPr bwMode="auto">
          <a:xfrm>
            <a:off x="1979501" y="1166099"/>
            <a:ext cx="5184998" cy="3360181"/>
          </a:xfrm>
          <a:prstGeom prst="rect">
            <a:avLst/>
          </a:prstGeom>
          <a:noFill/>
          <a:ln w="9525">
            <a:noFill/>
            <a:headEnd/>
            <a:tailEnd/>
          </a:ln>
        </p:spPr>
      </p:pic>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predictable mistake</a:t>
            </a:r>
          </a:p>
        </p:txBody>
      </p:sp>
      <p:sp>
        <p:nvSpPr>
          <p:cNvPr id="3" name="Content Placeholder 2"/>
          <p:cNvSpPr>
            <a:spLocks noGrp="1"/>
          </p:cNvSpPr>
          <p:nvPr>
            <p:ph idx="1"/>
          </p:nvPr>
        </p:nvSpPr>
        <p:spPr>
          <a:xfrm>
            <a:off x="457200" y="1200151"/>
            <a:ext cx="8229600" cy="3394472"/>
          </a:xfrm>
        </p:spPr>
        <p:txBody>
          <a:bodyPr/>
          <a:lstStyle/>
          <a:p>
            <a:pPr lvl="0"/>
            <a:r>
              <a:rPr/>
              <a:t>Too small, and the loss is still falling when the epochs run out</a:t>
            </a:r>
          </a:p>
          <a:p>
            <a:pPr lvl="0"/>
            <a:r>
              <a:rPr b="1"/>
              <a:t>It looks exactly like a network that is too small</a:t>
            </a:r>
            <a:r>
              <a:rPr/>
              <a:t>: both accuracies low</a:t>
            </a:r>
          </a:p>
          <a:p>
            <a:pPr lvl="0"/>
            <a:r>
              <a:rPr/>
              <a:t>The instinct that follows is sound: low training accuracy really is the signature of underfitting</a:t>
            </a:r>
          </a:p>
          <a:p>
            <a:pPr lvl="0"/>
            <a:r>
              <a:rPr b="1"/>
              <a:t>Vary α over orders of magnitude before touching the architecture</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rectified linear unit has its own failure</a:t>
            </a:r>
          </a:p>
        </p:txBody>
      </p:sp>
      <p:sp>
        <p:nvSpPr>
          <p:cNvPr id="3" name="Content Placeholder 2"/>
          <p:cNvSpPr>
            <a:spLocks noGrp="1"/>
          </p:cNvSpPr>
          <p:nvPr>
            <p:ph idx="1"/>
          </p:nvPr>
        </p:nvSpPr>
        <p:spPr>
          <a:xfrm>
            <a:off x="457200" y="1200151"/>
            <a:ext cx="8229600" cy="3394472"/>
          </a:xfrm>
        </p:spPr>
        <p:txBody>
          <a:bodyPr/>
          <a:lstStyle/>
          <a:p>
            <a:pPr lvl="0"/>
            <a:r>
              <a:rPr/>
              <a:t>Its derivative is exactly 1 on the active side: so, no vanishing gradient</a:t>
            </a:r>
          </a:p>
          <a:p>
            <a:pPr lvl="0"/>
            <a:r>
              <a:rPr/>
              <a:t>But a unit negative for </a:t>
            </a:r>
            <a:r>
              <a:rPr b="1"/>
              <a:t>every</a:t>
            </a:r>
            <a:r>
              <a:rPr/>
              <a:t> example gets zero gradient, for ever</a:t>
            </a:r>
          </a:p>
          <a:p>
            <a:pPr lvl="0"/>
            <a:r>
              <a:rPr b="1"/>
              <a:t>Dead</a:t>
            </a:r>
            <a:r>
              <a:rPr/>
              <a:t>: the gradient that would revive it is the one it cannot receive</a:t>
            </a:r>
          </a:p>
          <a:p>
            <a:pPr lvl="0"/>
            <a:r>
              <a:rPr/>
              <a:t>At α = 1.0, </a:t>
            </a:r>
            <a:r>
              <a:rPr b="1"/>
              <a:t>33 of 64 are dead</a:t>
            </a:r>
            <a:r>
              <a:rPr/>
              <a:t>: accuracy 0.9583 against a best of 0.9667</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Half the layer dead, and almost no visible cost</a:t>
            </a:r>
          </a:p>
        </p:txBody>
      </p:sp>
      <p:pic>
        <p:nvPicPr>
          <p:cNvPr descr="dead_relu.png" id="0" name="Picture 1"/>
          <p:cNvPicPr>
            <a:picLocks noGrp="1" noChangeAspect="1"/>
          </p:cNvPicPr>
          <p:nvPr/>
        </p:nvPicPr>
        <p:blipFill>
          <a:blip r:embed="rId3"/>
          <a:stretch>
            <a:fillRect/>
          </a:stretch>
        </p:blipFill>
        <p:spPr bwMode="auto">
          <a:xfrm>
            <a:off x="1897699" y="1166099"/>
            <a:ext cx="5348602" cy="3360181"/>
          </a:xfrm>
          <a:prstGeom prst="rect">
            <a:avLst/>
          </a:prstGeom>
          <a:noFill/>
          <a:ln w="9525">
            <a:noFill/>
            <a:headEnd/>
            <a:tailEnd/>
          </a:ln>
        </p:spPr>
      </p:pic>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Mini-batches, momentum, and Adam</a:t>
            </a:r>
          </a:p>
        </p:txBody>
      </p:sp>
      <p:sp>
        <p:nvSpPr>
          <p:cNvPr id="3" name="Content Placeholder 2"/>
          <p:cNvSpPr>
            <a:spLocks noGrp="1"/>
          </p:cNvSpPr>
          <p:nvPr>
            <p:ph idx="1"/>
          </p:nvPr>
        </p:nvSpPr>
        <p:spPr>
          <a:xfrm>
            <a:off x="457200" y="1200151"/>
            <a:ext cx="8229600" cy="3394472"/>
          </a:xfrm>
        </p:spPr>
        <p:txBody>
          <a:bodyPr/>
          <a:lstStyle/>
          <a:p>
            <a:pPr lvl="0"/>
            <a:r>
              <a:rPr/>
              <a:t>Mini-batch </a:t>
            </a:r>
            <a:r>
              <a:rPr b="1"/>
              <a:t>stochastic gradient descent (SGD)</a:t>
            </a:r>
            <a:r>
              <a:rPr/>
              <a:t>, </a:t>
            </a:r>
            <a:r>
              <a:rPr>
                <a:latin typeface="Courier"/>
              </a:rPr>
              <a:t>SGD</a:t>
            </a:r>
            <a:r>
              <a:rPr/>
              <a:t>: a small batch’s gradient, noisy but right on average</a:t>
            </a:r>
          </a:p>
          <a:p>
            <a:pPr lvl="0"/>
            <a:r>
              <a:rPr b="1"/>
              <a:t>Momentum</a:t>
            </a:r>
            <a:r>
              <a:rPr/>
              <a:t>: step along a running average of past gradients</a:t>
            </a:r>
          </a:p>
          <a:p>
            <a:pPr lvl="0"/>
            <a:r>
              <a:rPr b="1"/>
              <a:t>Adam (adaptive moment estimation)</a:t>
            </a:r>
            <a:r>
              <a:rPr/>
              <a:t>, </a:t>
            </a:r>
            <a:r>
              <a:rPr>
                <a:latin typeface="Courier"/>
              </a:rPr>
              <a:t>Adam</a:t>
            </a:r>
            <a:r>
              <a:rPr/>
              <a:t>: each parameter’s step scaled by its own recent gradients, so a badly chosen α matters less</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Adam, measured: read the spread before the mean</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645920"/>
                <a:gridCol w="1645920"/>
                <a:gridCol w="1645920"/>
                <a:gridCol w="1645920"/>
                <a:gridCol w="1645920"/>
              </a:tblGrid>
              <a:tr h="0">
                <a:tc>
                  <a:txBody>
                    <a:bodyPr/>
                    <a:lstStyle/>
                    <a:p>
                      <a:pPr lvl="0" indent="0" marL="0">
                        <a:buNone/>
                      </a:pPr>
                      <a:r>
                        <a:rPr/>
                        <a:t>optimiser</a:t>
                      </a:r>
                    </a:p>
                  </a:txBody>
                  <a:tcPr/>
                </a:tc>
                <a:tc>
                  <a:txBody>
                    <a:bodyPr/>
                    <a:lstStyle/>
                    <a:p>
                      <a:pPr lvl="0" indent="0" marL="0">
                        <a:buNone/>
                      </a:pPr>
                      <a:r>
                        <a:rPr/>
                        <a:t>test accuracy</a:t>
                      </a:r>
                    </a:p>
                  </a:txBody>
                  <a:tcPr/>
                </a:tc>
                <a:tc>
                  <a:txBody>
                    <a:bodyPr/>
                    <a:lstStyle/>
                    <a:p>
                      <a:pPr lvl="0" indent="0" marL="0">
                        <a:buNone/>
                      </a:pPr>
                      <a:r>
                        <a:rPr/>
                        <a:t>sd over 5 seeds</a:t>
                      </a:r>
                    </a:p>
                  </a:txBody>
                  <a:tcPr/>
                </a:tc>
                <a:tc>
                  <a:txBody>
                    <a:bodyPr/>
                    <a:lstStyle/>
                    <a:p>
                      <a:pPr lvl="0" indent="0" marL="0">
                        <a:buNone/>
                      </a:pPr>
                      <a:r>
                        <a:rPr/>
                        <a:t>worst of 5</a:t>
                      </a:r>
                    </a:p>
                  </a:txBody>
                  <a:tcPr/>
                </a:tc>
                <a:tc>
                  <a:txBody>
                    <a:bodyPr/>
                    <a:lstStyle/>
                    <a:p>
                      <a:pPr lvl="0" indent="0" marL="0">
                        <a:buNone/>
                      </a:pPr>
                      <a:r>
                        <a:rPr/>
                        <a:t>vs the true rule</a:t>
                      </a:r>
                    </a:p>
                  </a:txBody>
                  <a:tcPr/>
                </a:tc>
              </a:tr>
              <a:tr h="0">
                <a:tc>
                  <a:txBody>
                    <a:bodyPr/>
                    <a:lstStyle/>
                    <a:p>
                      <a:pPr lvl="0" indent="0" marL="0">
                        <a:buNone/>
                      </a:pPr>
                      <a:r>
                        <a:rPr/>
                        <a:t>plain gradient descent</a:t>
                      </a:r>
                    </a:p>
                  </a:txBody>
                </a:tc>
                <a:tc>
                  <a:txBody>
                    <a:bodyPr/>
                    <a:lstStyle/>
                    <a:p>
                      <a:pPr lvl="0" indent="0" marL="0">
                        <a:buNone/>
                      </a:pPr>
                      <a:r>
                        <a:rPr/>
                        <a:t>0.9389</a:t>
                      </a:r>
                    </a:p>
                  </a:txBody>
                </a:tc>
                <a:tc>
                  <a:txBody>
                    <a:bodyPr/>
                    <a:lstStyle/>
                    <a:p>
                      <a:pPr lvl="0" indent="0" marL="0">
                        <a:buNone/>
                      </a:pPr>
                      <a:r>
                        <a:rPr/>
                        <a:t>0.0184</a:t>
                      </a:r>
                    </a:p>
                  </a:txBody>
                </a:tc>
                <a:tc>
                  <a:txBody>
                    <a:bodyPr/>
                    <a:lstStyle/>
                    <a:p>
                      <a:pPr lvl="0" indent="0" marL="0">
                        <a:buNone/>
                      </a:pPr>
                      <a:r>
                        <a:rPr/>
                        <a:t>0.9027</a:t>
                      </a:r>
                    </a:p>
                  </a:txBody>
                </a:tc>
                <a:tc>
                  <a:txBody>
                    <a:bodyPr/>
                    <a:lstStyle/>
                    <a:p>
                      <a:pPr lvl="0" indent="0" marL="0">
                        <a:buNone/>
                      </a:pPr>
                      <a:r>
                        <a:rPr/>
                        <a:t>0.9685</a:t>
                      </a:r>
                    </a:p>
                  </a:txBody>
                </a:tc>
              </a:tr>
              <a:tr h="0">
                <a:tc>
                  <a:txBody>
                    <a:bodyPr/>
                    <a:lstStyle/>
                    <a:p>
                      <a:pPr lvl="0" indent="0" marL="0">
                        <a:buNone/>
                      </a:pPr>
                      <a:r>
                        <a:rPr/>
                        <a:t>with momentum 0.9</a:t>
                      </a:r>
                    </a:p>
                  </a:txBody>
                </a:tc>
                <a:tc>
                  <a:txBody>
                    <a:bodyPr/>
                    <a:lstStyle/>
                    <a:p>
                      <a:pPr lvl="0" indent="0" marL="0">
                        <a:buNone/>
                      </a:pPr>
                      <a:r>
                        <a:rPr/>
                        <a:t>0.9349</a:t>
                      </a:r>
                    </a:p>
                  </a:txBody>
                </a:tc>
                <a:tc>
                  <a:txBody>
                    <a:bodyPr/>
                    <a:lstStyle/>
                    <a:p>
                      <a:pPr lvl="0" indent="0" marL="0">
                        <a:buNone/>
                      </a:pPr>
                      <a:r>
                        <a:rPr/>
                        <a:t>0.0094</a:t>
                      </a:r>
                    </a:p>
                  </a:txBody>
                </a:tc>
                <a:tc>
                  <a:txBody>
                    <a:bodyPr/>
                    <a:lstStyle/>
                    <a:p>
                      <a:pPr lvl="0" indent="0" marL="0">
                        <a:buNone/>
                      </a:pPr>
                      <a:r>
                        <a:rPr/>
                        <a:t>0.9173</a:t>
                      </a:r>
                    </a:p>
                  </a:txBody>
                </a:tc>
                <a:tc>
                  <a:txBody>
                    <a:bodyPr/>
                    <a:lstStyle/>
                    <a:p>
                      <a:pPr lvl="0" indent="0" marL="0">
                        <a:buNone/>
                      </a:pPr>
                      <a:r>
                        <a:rPr/>
                        <a:t>0.9645</a:t>
                      </a:r>
                    </a:p>
                  </a:txBody>
                </a:tc>
              </a:tr>
              <a:tr h="0">
                <a:tc>
                  <a:txBody>
                    <a:bodyPr/>
                    <a:lstStyle/>
                    <a:p>
                      <a:pPr lvl="0" indent="0" marL="0">
                        <a:buNone/>
                      </a:pPr>
                      <a:r>
                        <a:rPr/>
                        <a:t>Adam</a:t>
                      </a:r>
                    </a:p>
                  </a:txBody>
                </a:tc>
                <a:tc>
                  <a:txBody>
                    <a:bodyPr/>
                    <a:lstStyle/>
                    <a:p>
                      <a:pPr lvl="0" indent="0" marL="0">
                        <a:buNone/>
                      </a:pPr>
                      <a:r>
                        <a:rPr b="1"/>
                        <a:t>0.9485</a:t>
                      </a:r>
                    </a:p>
                  </a:txBody>
                </a:tc>
                <a:tc>
                  <a:txBody>
                    <a:bodyPr/>
                    <a:lstStyle/>
                    <a:p>
                      <a:pPr lvl="0" indent="0" marL="0">
                        <a:buNone/>
                      </a:pPr>
                      <a:r>
                        <a:rPr/>
                        <a:t>0.0072</a:t>
                      </a:r>
                    </a:p>
                  </a:txBody>
                </a:tc>
                <a:tc>
                  <a:txBody>
                    <a:bodyPr/>
                    <a:lstStyle/>
                    <a:p>
                      <a:pPr lvl="0" indent="0" marL="0">
                        <a:buNone/>
                      </a:pPr>
                      <a:r>
                        <a:rPr/>
                        <a:t>0.9360</a:t>
                      </a:r>
                    </a:p>
                  </a:txBody>
                </a:tc>
                <a:tc>
                  <a:txBody>
                    <a:bodyPr/>
                    <a:lstStyle/>
                    <a:p>
                      <a:pPr lvl="0" indent="0" marL="0">
                        <a:buNone/>
                      </a:pPr>
                      <a:r>
                        <a:rPr/>
                        <a:t>0.9792</a:t>
                      </a:r>
                    </a:p>
                  </a:txBody>
                </a:tc>
              </a:tr>
            </a:tbl>
          </a:graphicData>
        </a:graphic>
      </p:graphicFrame>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regularisers, and what they bought</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645920"/>
                <a:gridCol w="1645920"/>
                <a:gridCol w="1645920"/>
                <a:gridCol w="1645920"/>
                <a:gridCol w="1645920"/>
              </a:tblGrid>
              <a:tr h="0">
                <a:tc>
                  <a:txBody>
                    <a:bodyPr/>
                    <a:lstStyle/>
                    <a:p>
                      <a:pPr lvl="0" indent="0" marL="0">
                        <a:buNone/>
                      </a:pPr>
                      <a:r>
                        <a:rPr/>
                        <a:t>method</a:t>
                      </a:r>
                    </a:p>
                  </a:txBody>
                  <a:tcPr/>
                </a:tc>
                <a:tc>
                  <a:txBody>
                    <a:bodyPr/>
                    <a:lstStyle/>
                    <a:p>
                      <a:pPr lvl="0" indent="0" marL="0">
                        <a:buNone/>
                      </a:pPr>
                      <a:r>
                        <a:rPr/>
                        <a:t>test accuracy</a:t>
                      </a:r>
                    </a:p>
                  </a:txBody>
                  <a:tcPr/>
                </a:tc>
                <a:tc>
                  <a:txBody>
                    <a:bodyPr/>
                    <a:lstStyle/>
                    <a:p>
                      <a:pPr lvl="0" indent="0" marL="0">
                        <a:buNone/>
                      </a:pPr>
                      <a:r>
                        <a:rPr/>
                        <a:t>sd over 5 seeds</a:t>
                      </a:r>
                    </a:p>
                  </a:txBody>
                  <a:tcPr/>
                </a:tc>
                <a:tc>
                  <a:txBody>
                    <a:bodyPr/>
                    <a:lstStyle/>
                    <a:p>
                      <a:pPr lvl="0" indent="0" marL="0">
                        <a:buNone/>
                      </a:pPr>
                      <a:r>
                        <a:rPr/>
                        <a:t>train − test gap</a:t>
                      </a:r>
                    </a:p>
                  </a:txBody>
                  <a:tcPr/>
                </a:tc>
                <a:tc>
                  <a:txBody>
                    <a:bodyPr/>
                    <a:lstStyle/>
                    <a:p>
                      <a:pPr lvl="0" indent="0" marL="0">
                        <a:buNone/>
                      </a:pPr>
                      <a:r>
                        <a:rPr/>
                        <a:t>epochs run</a:t>
                      </a:r>
                    </a:p>
                  </a:txBody>
                  <a:tcPr/>
                </a:tc>
              </a:tr>
              <a:tr h="0">
                <a:tc>
                  <a:txBody>
                    <a:bodyPr/>
                    <a:lstStyle/>
                    <a:p>
                      <a:pPr lvl="0" indent="0" marL="0">
                        <a:buNone/>
                      </a:pPr>
                      <a:r>
                        <a:rPr/>
                        <a:t>early stopping only (</a:t>
                      </a:r>
                      <a:r>
                        <a:rPr>
                          <a:latin typeface="Courier"/>
                        </a:rPr>
                        <a:t>EarlyStopping</a:t>
                      </a:r>
                      <a:r>
                        <a:rPr/>
                        <a:t>: keep the best epoch)</a:t>
                      </a:r>
                    </a:p>
                  </a:txBody>
                </a:tc>
                <a:tc>
                  <a:txBody>
                    <a:bodyPr/>
                    <a:lstStyle/>
                    <a:p>
                      <a:pPr lvl="0" indent="0" marL="0">
                        <a:buNone/>
                      </a:pPr>
                      <a:r>
                        <a:rPr/>
                        <a:t>0.9411</a:t>
                      </a:r>
                    </a:p>
                  </a:txBody>
                </a:tc>
                <a:tc>
                  <a:txBody>
                    <a:bodyPr/>
                    <a:lstStyle/>
                    <a:p>
                      <a:pPr lvl="0" indent="0" marL="0">
                        <a:buNone/>
                      </a:pPr>
                      <a:r>
                        <a:rPr/>
                        <a:t>0.0069</a:t>
                      </a:r>
                    </a:p>
                  </a:txBody>
                </a:tc>
                <a:tc>
                  <a:txBody>
                    <a:bodyPr/>
                    <a:lstStyle/>
                    <a:p>
                      <a:pPr lvl="0" indent="0" marL="0">
                        <a:buNone/>
                      </a:pPr>
                      <a:r>
                        <a:rPr/>
                        <a:t>0.0589</a:t>
                      </a:r>
                    </a:p>
                  </a:txBody>
                </a:tc>
                <a:tc>
                  <a:txBody>
                    <a:bodyPr/>
                    <a:lstStyle/>
                    <a:p>
                      <a:pPr lvl="0" indent="0" marL="0">
                        <a:buNone/>
                      </a:pPr>
                      <a:r>
                        <a:rPr/>
                        <a:t>38.8</a:t>
                      </a:r>
                    </a:p>
                  </a:txBody>
                </a:tc>
              </a:tr>
              <a:tr h="0">
                <a:tc>
                  <a:txBody>
                    <a:bodyPr/>
                    <a:lstStyle/>
                    <a:p>
                      <a:pPr lvl="0" indent="0" marL="0">
                        <a:buNone/>
                      </a:pPr>
                      <a:r>
                        <a:rPr/>
                        <a:t>+ dropout 0.4 (</a:t>
                      </a:r>
                      <a:r>
                        <a:rPr>
                          <a:latin typeface="Courier"/>
                        </a:rPr>
                        <a:t>Dropout</a:t>
                      </a:r>
                      <a:r>
                        <a:rPr/>
                        <a:t>: drop 40% of units per batch)</a:t>
                      </a:r>
                    </a:p>
                  </a:txBody>
                </a:tc>
                <a:tc>
                  <a:txBody>
                    <a:bodyPr/>
                    <a:lstStyle/>
                    <a:p>
                      <a:pPr lvl="0" indent="0" marL="0">
                        <a:buNone/>
                      </a:pPr>
                      <a:r>
                        <a:rPr/>
                        <a:t>0.9483</a:t>
                      </a:r>
                    </a:p>
                  </a:txBody>
                </a:tc>
                <a:tc>
                  <a:txBody>
                    <a:bodyPr/>
                    <a:lstStyle/>
                    <a:p>
                      <a:pPr lvl="0" indent="0" marL="0">
                        <a:buNone/>
                      </a:pPr>
                      <a:r>
                        <a:rPr/>
                        <a:t>0.0038</a:t>
                      </a:r>
                    </a:p>
                  </a:txBody>
                </a:tc>
                <a:tc>
                  <a:txBody>
                    <a:bodyPr/>
                    <a:lstStyle/>
                    <a:p>
                      <a:pPr lvl="0" indent="0" marL="0">
                        <a:buNone/>
                      </a:pPr>
                      <a:r>
                        <a:rPr/>
                        <a:t>0.0503</a:t>
                      </a:r>
                    </a:p>
                  </a:txBody>
                </a:tc>
                <a:tc>
                  <a:txBody>
                    <a:bodyPr/>
                    <a:lstStyle/>
                    <a:p>
                      <a:pPr lvl="0" indent="0" marL="0">
                        <a:buNone/>
                      </a:pPr>
                      <a:r>
                        <a:rPr/>
                        <a:t>48.8</a:t>
                      </a:r>
                    </a:p>
                  </a:txBody>
                </a:tc>
              </a:tr>
              <a:tr h="0">
                <a:tc>
                  <a:txBody>
                    <a:bodyPr/>
                    <a:lstStyle/>
                    <a:p>
                      <a:pPr lvl="0" indent="0" marL="0">
                        <a:buNone/>
                      </a:pPr>
                      <a:r>
                        <a:rPr/>
                        <a:t>+ L2 10⁻³ (</a:t>
                      </a:r>
                      <a:r>
                        <a:rPr>
                          <a:latin typeface="Courier"/>
                        </a:rPr>
                        <a:t>l2</a:t>
                      </a:r>
                      <a:r>
                        <a:rPr/>
                        <a:t>: a penalty on squared weights, as Ridge)</a:t>
                      </a:r>
                    </a:p>
                  </a:txBody>
                </a:tc>
                <a:tc>
                  <a:txBody>
                    <a:bodyPr/>
                    <a:lstStyle/>
                    <a:p>
                      <a:pPr lvl="0" indent="0" marL="0">
                        <a:buNone/>
                      </a:pPr>
                      <a:r>
                        <a:rPr/>
                        <a:t>0.9478</a:t>
                      </a:r>
                    </a:p>
                  </a:txBody>
                </a:tc>
                <a:tc>
                  <a:txBody>
                    <a:bodyPr/>
                    <a:lstStyle/>
                    <a:p>
                      <a:pPr lvl="0" indent="0" marL="0">
                        <a:buNone/>
                      </a:pPr>
                      <a:r>
                        <a:rPr/>
                        <a:t>0.0011</a:t>
                      </a:r>
                    </a:p>
                  </a:txBody>
                </a:tc>
                <a:tc>
                  <a:txBody>
                    <a:bodyPr/>
                    <a:lstStyle/>
                    <a:p>
                      <a:pPr lvl="0" indent="0" marL="0">
                        <a:buNone/>
                      </a:pPr>
                      <a:r>
                        <a:rPr/>
                        <a:t>0.0522</a:t>
                      </a:r>
                    </a:p>
                  </a:txBody>
                </a:tc>
                <a:tc>
                  <a:txBody>
                    <a:bodyPr/>
                    <a:lstStyle/>
                    <a:p>
                      <a:pPr lvl="0" indent="0" marL="0">
                        <a:buNone/>
                      </a:pPr>
                      <a:r>
                        <a:rPr/>
                        <a:t>198.4</a:t>
                      </a:r>
                    </a:p>
                  </a:txBody>
                </a:tc>
              </a:tr>
              <a:tr h="0">
                <a:tc>
                  <a:txBody>
                    <a:bodyPr/>
                    <a:lstStyle/>
                    <a:p>
                      <a:pPr lvl="0" indent="0" marL="0">
                        <a:buNone/>
                      </a:pPr>
                      <a:r>
                        <a:rPr/>
                        <a:t>+ dropout and L2</a:t>
                      </a:r>
                    </a:p>
                  </a:txBody>
                </a:tc>
                <a:tc>
                  <a:txBody>
                    <a:bodyPr/>
                    <a:lstStyle/>
                    <a:p>
                      <a:pPr lvl="0" indent="0" marL="0">
                        <a:buNone/>
                      </a:pPr>
                      <a:r>
                        <a:rPr b="1"/>
                        <a:t>0.9511</a:t>
                      </a:r>
                    </a:p>
                  </a:txBody>
                </a:tc>
                <a:tc>
                  <a:txBody>
                    <a:bodyPr/>
                    <a:lstStyle/>
                    <a:p>
                      <a:pPr lvl="0" indent="0" marL="0">
                        <a:buNone/>
                      </a:pPr>
                      <a:r>
                        <a:rPr/>
                        <a:t>0.0045</a:t>
                      </a:r>
                    </a:p>
                  </a:txBody>
                </a:tc>
                <a:tc>
                  <a:txBody>
                    <a:bodyPr/>
                    <a:lstStyle/>
                    <a:p>
                      <a:pPr lvl="0" indent="0" marL="0">
                        <a:buNone/>
                      </a:pPr>
                      <a:r>
                        <a:rPr/>
                        <a:t>0.0489</a:t>
                      </a:r>
                    </a:p>
                  </a:txBody>
                </a:tc>
                <a:tc>
                  <a:txBody>
                    <a:bodyPr/>
                    <a:lstStyle/>
                    <a:p>
                      <a:pPr lvl="0" indent="0" marL="0">
                        <a:buNone/>
                      </a:pPr>
                      <a:r>
                        <a:rPr/>
                        <a:t>161.6</a:t>
                      </a:r>
                    </a:p>
                  </a:txBody>
                </a:tc>
              </a:tr>
            </a:tbl>
          </a:graphicData>
        </a:graphic>
      </p:graphicFrame>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It memorises the training set, and generalises anyway</a:t>
            </a:r>
          </a:p>
        </p:txBody>
      </p:sp>
      <p:pic>
        <p:nvPicPr>
          <p:cNvPr descr="overfitting_curves.png" id="0" name="Picture 1"/>
          <p:cNvPicPr>
            <a:picLocks noGrp="1" noChangeAspect="1"/>
          </p:cNvPicPr>
          <p:nvPr/>
        </p:nvPicPr>
        <p:blipFill>
          <a:blip r:embed="rId3"/>
          <a:stretch>
            <a:fillRect/>
          </a:stretch>
        </p:blipFill>
        <p:spPr bwMode="auto">
          <a:xfrm>
            <a:off x="457200" y="1271389"/>
            <a:ext cx="8229600" cy="3149600"/>
          </a:xfrm>
          <a:prstGeom prst="rect">
            <a:avLst/>
          </a:prstGeom>
          <a:noFill/>
          <a:ln w="9525">
            <a:noFill/>
            <a:headEnd/>
            <a:tailEnd/>
          </a:ln>
        </p:spPr>
      </p:pic>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the learning rate, 59-61</a:t>
                      </a:r>
                    </a:p>
                  </a:txBody>
                </a:tc>
                <a:tc>
                  <a:txBody>
                    <a:bodyPr/>
                    <a:lstStyle/>
                    <a:p>
                      <a:pPr lvl="0" indent="0" marL="0">
                        <a:buNone/>
                      </a:pPr>
                      <a:r>
                        <a:rPr>
                          <a:latin typeface="Courier"/>
                        </a:rPr>
                        <a:t>SGD(learning_rate=α)</a:t>
                      </a:r>
                      <a:r>
                        <a:rPr/>
                        <a:t> at five rates → best 0.9685 at α = 0.5</a:t>
                      </a:r>
                    </a:p>
                  </a:txBody>
                </a:tc>
              </a:tr>
              <a:tr h="0">
                <a:tc>
                  <a:txBody>
                    <a:bodyPr/>
                    <a:lstStyle/>
                    <a:p>
                      <a:pPr lvl="0" indent="0" marL="0">
                        <a:buNone/>
                      </a:pPr>
                      <a:r>
                        <a:rPr/>
                        <a:t>dead units, 62-63</a:t>
                      </a:r>
                    </a:p>
                  </a:txBody>
                </a:tc>
                <a:tc>
                  <a:txBody>
                    <a:bodyPr/>
                    <a:lstStyle/>
                    <a:p>
                      <a:pPr lvl="0" indent="0" marL="0">
                        <a:buNone/>
                      </a:pPr>
                      <a:r>
                        <a:rPr>
                          <a:latin typeface="Courier"/>
                        </a:rPr>
                        <a:t>keras.Model</a:t>
                      </a:r>
                      <a:r>
                        <a:rPr/>
                        <a:t> to read the hidden layer → 33 of 64 dead at α = 1.0</a:t>
                      </a:r>
                    </a:p>
                  </a:txBody>
                </a:tc>
              </a:tr>
              <a:tr h="0">
                <a:tc>
                  <a:txBody>
                    <a:bodyPr/>
                    <a:lstStyle/>
                    <a:p>
                      <a:pPr lvl="0" indent="0" marL="0">
                        <a:buNone/>
                      </a:pPr>
                      <a:r>
                        <a:rPr/>
                        <a:t>optimisers, 64-65</a:t>
                      </a:r>
                    </a:p>
                  </a:txBody>
                </a:tc>
                <a:tc>
                  <a:txBody>
                    <a:bodyPr/>
                    <a:lstStyle/>
                    <a:p>
                      <a:pPr lvl="0" indent="0" marL="0">
                        <a:buNone/>
                      </a:pPr>
                      <a:r>
                        <a:rPr>
                          <a:latin typeface="Courier"/>
                        </a:rPr>
                        <a:t>SGD</a:t>
                      </a:r>
                      <a:r>
                        <a:rPr/>
                        <a:t>, </a:t>
                      </a:r>
                      <a:r>
                        <a:rPr>
                          <a:latin typeface="Courier"/>
                        </a:rPr>
                        <a:t>SGD(momentum=0.9)</a:t>
                      </a:r>
                      <a:r>
                        <a:rPr/>
                        <a:t>, </a:t>
                      </a:r>
                      <a:r>
                        <a:rPr>
                          <a:latin typeface="Courier"/>
                        </a:rPr>
                        <a:t>Adam</a:t>
                      </a:r>
                      <a:r>
                        <a:rPr/>
                        <a:t> → Adam’s worst run 0.9360</a:t>
                      </a:r>
                    </a:p>
                  </a:txBody>
                </a:tc>
              </a:tr>
              <a:tr h="0">
                <a:tc>
                  <a:txBody>
                    <a:bodyPr/>
                    <a:lstStyle/>
                    <a:p>
                      <a:pPr lvl="0" indent="0" marL="0">
                        <a:buNone/>
                      </a:pPr>
                      <a:r>
                        <a:rPr/>
                        <a:t>memorising, 67</a:t>
                      </a:r>
                    </a:p>
                  </a:txBody>
                </a:tc>
                <a:tc>
                  <a:txBody>
                    <a:bodyPr/>
                    <a:lstStyle/>
                    <a:p>
                      <a:pPr lvl="0" indent="0" marL="0">
                        <a:buNone/>
                      </a:pPr>
                      <a:r>
                        <a:rPr/>
                        <a:t>two layers of 512 on 300 digits, </a:t>
                      </a:r>
                      <a:r>
                        <a:rPr>
                          <a:latin typeface="Courier"/>
                        </a:rPr>
                        <a:t>count_params</a:t>
                      </a:r>
                      <a:r>
                        <a:rPr/>
                        <a:t> → 301,066 parameters</a:t>
                      </a:r>
                    </a:p>
                  </a:txBody>
                </a:tc>
              </a:tr>
              <a:tr h="0">
                <a:tc>
                  <a:txBody>
                    <a:bodyPr/>
                    <a:lstStyle/>
                    <a:p>
                      <a:pPr lvl="0" indent="0" marL="0">
                        <a:buNone/>
                      </a:pPr>
                      <a:r>
                        <a:rPr/>
                        <a:t>regularisers, 66</a:t>
                      </a:r>
                    </a:p>
                  </a:txBody>
                </a:tc>
                <a:tc>
                  <a:txBody>
                    <a:bodyPr/>
                    <a:lstStyle/>
                    <a:p>
                      <a:pPr lvl="0" indent="0" marL="0">
                        <a:buNone/>
                      </a:pPr>
                      <a:r>
                        <a:rPr>
                          <a:latin typeface="Courier"/>
                        </a:rPr>
                        <a:t>EarlyStopping</a:t>
                      </a:r>
                      <a:r>
                        <a:rPr/>
                        <a:t>, </a:t>
                      </a:r>
                      <a:r>
                        <a:rPr>
                          <a:latin typeface="Courier"/>
                        </a:rPr>
                        <a:t>Dropout(0.4)</a:t>
                      </a:r>
                      <a:r>
                        <a:rPr/>
                        <a:t>, </a:t>
                      </a:r>
                      <a:r>
                        <a:rPr>
                          <a:latin typeface="Courier"/>
                        </a:rPr>
                        <a:t>l2(1e-3)</a:t>
                      </a:r>
                      <a:r>
                        <a:rPr/>
                        <a:t> → 0.9411 to 0.9511</a:t>
                      </a:r>
                    </a:p>
                  </a:txBody>
                </a:tc>
              </a:tr>
              <a:tr h="0">
                <a:tc>
                  <a:txBody>
                    <a:bodyPr/>
                    <a:lstStyle/>
                    <a:p>
                      <a:pPr lvl="0" indent="0" marL="0">
                        <a:buNone/>
                      </a:pPr>
                      <a:r>
                        <a:rPr/>
                        <a:t>more data</a:t>
                      </a:r>
                    </a:p>
                  </a:txBody>
                </a:tc>
                <a:tc>
                  <a:txBody>
                    <a:bodyPr/>
                    <a:lstStyle/>
                    <a:p>
                      <a:pPr lvl="0" indent="0" marL="0">
                        <a:buNone/>
                      </a:pPr>
                      <a:r>
                        <a:rPr>
                          <a:latin typeface="Courier"/>
                        </a:rPr>
                        <a:t>train_test_split</a:t>
                      </a:r>
                      <a:r>
                        <a:rPr/>
                        <a:t> at six sizes → +3.2 points from 300 to 1,077 examples</a:t>
                      </a:r>
                    </a:p>
                  </a:txBody>
                </a:tc>
              </a:tr>
            </a:tbl>
          </a:graphicData>
        </a:graphic>
      </p:graphicFrame>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take away</a:t>
            </a:r>
          </a:p>
        </p:txBody>
      </p:sp>
      <p:sp>
        <p:nvSpPr>
          <p:cNvPr id="3" name="Content Placeholder 2"/>
          <p:cNvSpPr>
            <a:spLocks noGrp="1"/>
          </p:cNvSpPr>
          <p:nvPr>
            <p:ph idx="1"/>
          </p:nvPr>
        </p:nvSpPr>
        <p:spPr>
          <a:xfrm>
            <a:off x="457200" y="1200151"/>
            <a:ext cx="8229600" cy="3394472"/>
          </a:xfrm>
        </p:spPr>
        <p:txBody>
          <a:bodyPr/>
          <a:lstStyle/>
          <a:p>
            <a:pPr lvl="0"/>
            <a:r>
              <a:rPr b="1"/>
              <a:t>A neuron is a line</a:t>
            </a:r>
            <a:r>
              <a:rPr/>
              <a:t>: three enclose a region, one never does</a:t>
            </a:r>
          </a:p>
          <a:p>
            <a:pPr lvl="0"/>
            <a:r>
              <a:rPr/>
              <a:t>A hidden layer </a:t>
            </a:r>
            <a:r>
              <a:rPr b="1"/>
              <a:t>moves the data</a:t>
            </a:r>
            <a:r>
              <a:rPr/>
              <a:t>; it does not classify</a:t>
            </a:r>
          </a:p>
          <a:p>
            <a:pPr lvl="0"/>
            <a:r>
              <a:rPr b="1"/>
              <a:t>Backpropagation is the chain rule</a:t>
            </a:r>
            <a:r>
              <a:rPr/>
              <a:t> - so gradient-check it</a:t>
            </a:r>
          </a:p>
          <a:p>
            <a:pPr lvl="0"/>
            <a:r>
              <a:rPr b="1"/>
              <a:t>A sigmoid layer divides the gradient by about four</a:t>
            </a:r>
          </a:p>
          <a:p>
            <a:pPr lvl="0"/>
            <a:r>
              <a:rPr/>
              <a:t>Report a difference with its spread</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a:t>
            </a:r>
          </a:p>
        </p:txBody>
      </p:sp>
      <p:sp>
        <p:nvSpPr>
          <p:cNvPr id="3" name="Content Placeholder 2"/>
          <p:cNvSpPr>
            <a:spLocks noGrp="1"/>
          </p:cNvSpPr>
          <p:nvPr>
            <p:ph idx="1"/>
          </p:nvPr>
        </p:nvSpPr>
        <p:spPr>
          <a:xfrm>
            <a:off x="457200" y="1200151"/>
            <a:ext cx="8229600" cy="3394472"/>
          </a:xfrm>
        </p:spPr>
        <p:txBody>
          <a:bodyPr/>
          <a:lstStyle/>
          <a:p>
            <a:pPr lvl="0"/>
            <a:r>
              <a:rPr b="1"/>
              <a:t>Exercise 9</a:t>
            </a:r>
            <a:r>
              <a:rPr/>
              <a:t>, discussed at the start of </a:t>
            </a:r>
            <a:r>
              <a:rPr b="1"/>
              <a:t>Friday 4 December</a:t>
            </a:r>
          </a:p>
          <a:p>
            <a:pPr lvl="0"/>
            <a:r>
              <a:rPr>
                <a:latin typeface="Courier"/>
              </a:rPr>
              <a:t>Exercises/09_neural_networks.md</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9: Neural Networks</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27 November 2026</vt:lpwstr>
  </property>
  <property fmtid="{D5CDD505-2E9C-101B-9397-08002B2CF9AE}" pid="3" name="subtitle">
    <vt:lpwstr>Technologies for Artificial Intelligence</vt:lpwstr>
  </property>
</Properties>
</file>