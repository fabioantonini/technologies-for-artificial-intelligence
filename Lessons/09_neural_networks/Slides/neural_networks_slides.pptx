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The first formula is the general fact: for a standard two-dimensional normal, the probability of landing inside a circle of radius s is one minus e to the minus s squared over two (handout section 2.2 derives it in three lines, in polar coordinates). The second puts in s = 1.25, the radius of the accept region, so its left side is “the probability that a unit lands inside the circle” - the probability that it passes.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does not use the test set at all. It is the best a straight line can do on the whole population: by the circle’s symmetry every direction is equivalent, so notebook 1 slides one line x1 &lt; a across 400,000 units simulated from the true rule, keeps the best position, and converts to accuracy against the recorded labels with the 3% rig error. Being a simulation it carries about plus or minus 0.001 - the handout’s quadrature gives 0.6500 - which changes nothing: 0.6880 against about 0.65 is still almost 4 points. Handout sections 2.2 and 11.1.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Where 1.1 comes from, if asked: the output is above 0.5 when 10 h1 + 10 h2 - 1 is positive, that is when h1 + h2 &gt; 0.1. At most one hidden unit fires at a time, and the one that fires outputs |a + b| - 1, so the condition is |a + b| - 1 &gt; 0.1, which is |a + b| &gt; 1.1.</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map for the next three slides. It is the acceptance network: two inputs, four hidden units, one output - the same network as the fence slides.</a:t>
            </a:r>
          </a:p>
          <a:p>
            <a:pPr lvl="0" indent="0" marL="0">
              <a:buNone/>
            </a:pPr>
          </a:p>
          <a:p>
            <a:pPr lvl="0" indent="0" marL="0">
              <a:buNone/>
            </a:pPr>
            <a:r>
              <a:rPr/>
              <a:t>Point at the edges first: every arrow carries a weight. The eight arrows into the hidden layer are the eight entries of W1, a 2-by-4 matrix, and each hidden unit owns one column of it - the two weights on its incoming arrows. The four arrows into the output are W2, 4-by-1. Each unit also has a bias.</a:t>
            </a:r>
          </a:p>
          <a:p>
            <a:pPr lvl="0" indent="0" marL="0">
              <a:buNone/>
            </a:pPr>
          </a:p>
          <a:p>
            <a:pPr lvl="0" indent="0" marL="0">
              <a:buNone/>
            </a:pPr>
            <a:r>
              <a:rPr/>
              <a:t>Then the nodes: each holds two numbers. z is the weighted sum arriving at the unit, before anything is squashed - the pre-activation. a is what the unit passes on, a = g(z), with g the ReLU here. The output node does the same with the sigmoid, and its a is y-hat.</a:t>
            </a:r>
          </a:p>
          <a:p>
            <a:pPr lvl="0" indent="0" marL="0">
              <a:buNone/>
            </a:pPr>
          </a:p>
          <a:p>
            <a:pPr lvl="0" indent="0" marL="0">
              <a:buNone/>
            </a:pPr>
            <a:r>
              <a:rPr/>
              <a:t>Then the bottom row, which is the step students miss: those are one example’s numbers. Stack all m examples as rows and z1 to z4 become a row of the matrix Z1, of shape m by 4, and likewise A1; the inputs become X, m by 2. The next two slides are this picture written as matrix products, and the slide after that is the bottom row as a table.</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The untrained network is notebook 1’s: four hidden units with random He initial weights, scored on the 2,250 acceptance training units. The second number is the cost of a model that says 0.5 for every unit, which is minus log of a half, ln 2.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three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three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3638bdf1b5.png" id="0" name="Picture 1"/>
          <p:cNvPicPr>
            <a:picLocks noGrp="1" noChangeAspect="1"/>
          </p:cNvPicPr>
          <p:nvPr/>
        </p:nvPicPr>
        <p:blipFill>
          <a:blip r:embed="rId3"/>
          <a:stretch>
            <a:fillRect/>
          </a:stretch>
        </p:blipFill>
        <p:spPr bwMode="auto">
          <a:xfrm>
            <a:off x="457200" y="2573139"/>
            <a:ext cx="82296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accuracy</a:t>
                      </a:r>
                    </a:p>
                  </a:txBody>
                  <a:tcPr/>
                </a:tc>
              </a:tr>
              <a:tr h="0">
                <a:tc>
                  <a:txBody>
                    <a:bodyPr/>
                    <a:lstStyle/>
                    <a:p>
                      <a:pPr lvl="0" indent="0" marL="0">
                        <a:buNone/>
                      </a:pPr>
                      <a:r>
                        <a:rPr/>
                        <a:t>always predict “accepted”, on the 750 test units</a:t>
                      </a:r>
                    </a:p>
                  </a:txBody>
                </a:tc>
                <a:tc>
                  <a:txBody>
                    <a:bodyPr/>
                    <a:lstStyle/>
                    <a:p>
                      <a:pPr lvl="0" indent="0" marL="0">
                        <a:buNone/>
                      </a:pPr>
                      <a:r>
                        <a:rPr/>
                        <a:t>0.5480</a:t>
                      </a:r>
                    </a:p>
                  </a:txBody>
                </a:tc>
              </a:tr>
              <a:tr h="0">
                <a:tc>
                  <a:txBody>
                    <a:bodyPr/>
                    <a:lstStyle/>
                    <a:p>
                      <a:pPr lvl="0" indent="0" marL="0">
                        <a:buNone/>
                      </a:pPr>
                      <a:r>
                        <a:rPr/>
                        <a:t>fitted logistic regression, on the 750 test units</a:t>
                      </a:r>
                    </a:p>
                  </a:txBody>
                </a:tc>
                <a:tc>
                  <a:txBody>
                    <a:bodyPr/>
                    <a:lstStyle/>
                    <a:p>
                      <a:pPr lvl="0" indent="0" marL="0">
                        <a:buNone/>
                      </a:pPr>
                      <a:r>
                        <a:rPr b="1"/>
                        <a:t>0.5507</a:t>
                      </a:r>
                    </a:p>
                  </a:txBody>
                </a:tc>
              </a:tr>
              <a:tr h="0">
                <a:tc>
                  <a:txBody>
                    <a:bodyPr/>
                    <a:lstStyle/>
                    <a:p>
                      <a:pPr lvl="0" indent="0" marL="0">
                        <a:buNone/>
                      </a:pPr>
                      <a:r>
                        <a:rPr/>
                        <a:t>the best possible straight line, computed from the true distribution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Fitted logistic regression: coefficients </a:t>
            </a:r>
            <a:r>
              <a:rPr b="1"/>
              <a:t>(0.0096, 0.0701)</a:t>
            </a:r>
            <a:r>
              <a:rPr/>
              <a:t>, intercept </a:t>
            </a:r>
            <a:r>
              <a:rPr b="1"/>
              <a:t>0.1892</a:t>
            </a:r>
            <a:r>
              <a:rPr/>
              <a:t>, almost exactly the constant model</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181 directions × 201 offsets × 2 sides = 72,762 lines, all scored on the test set; the winner, </a:t>
            </a:r>
            <a:r>
              <a:rPr b="1"/>
              <a:t>on the data that chose it</a:t>
            </a:r>
            <a:r>
              <a:rPr/>
              <a:t>: 0.6880</a:t>
            </a:r>
          </a:p>
          <a:p>
            <a:pPr lvl="0"/>
            <a:r>
              <a:rPr/>
              <a:t>The honest figure, from the true distribution, not from any test set: </a:t>
            </a:r>
            <a:r>
              <a:rPr b="1"/>
              <a:t>0.6491</a:t>
            </a:r>
            <a:r>
              <a:rPr/>
              <a:t> (±0.001)</a:t>
            </a:r>
          </a:p>
          <a:p>
            <a:pPr lvl="0"/>
            <a:r>
              <a:rPr b="1"/>
              <a:t>Almost 4 points of pure selection bias</a:t>
            </a:r>
          </a:p>
          <a:p>
            <a:pPr lvl="0"/>
            <a:r>
              <a:rPr/>
              <a:t>Nothing was fitted: only a choice made. Lesson 5’s argument again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(drift data)</a:t>
                      </a:r>
                    </a:p>
                  </a:txBody>
                  <a:tcPr/>
                </a:tc>
                <a:tc>
                  <a:txBody>
                    <a:bodyPr/>
                    <a:lstStyle/>
                    <a:p>
                      <a:pPr lvl="0" indent="0" marL="0">
                        <a:buNone/>
                      </a:pPr>
                      <a:r>
                        <a:rPr/>
                        <a:t>median accuracy,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drawn</a:t>
            </a:r>
          </a:p>
        </p:txBody>
      </p:sp>
      <p:pic>
        <p:nvPicPr>
          <p:cNvPr descr="forward_pass_map.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Untrained, the cost is 0.6721; predicting 0.5 for all, ln 2 =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a:t>
            </a:r>
            <a:r>
              <a:rPr b="1"/>
              <a:t>δ</a:t>
            </a:r>
            <a:r>
              <a:rPr/>
              <a:t>, the cost’s derivative with respect to each layer’s </a:t>
            </a:r>
            <a:r>
              <a:rPr b="1"/>
              <a:t>pre-activations</a:t>
            </a:r>
            <a:r>
              <a:rPr/>
              <a:t> Z</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δ: for layer 2, (A⁽¹⁾)ᵀ δ⁽²⁾</a:t>
            </a:r>
          </a:p>
          <a:p>
            <a:pPr lvl="0"/>
            <a:r>
              <a:rPr/>
              <a:t>To step down: multiply δ by the weight matrix above, then elementwise (⊙) by the activation’s derivative g′</a:t>
            </a:r>
          </a:p>
          <a:p>
            <a:pPr lvl="0"/>
            <a:r>
              <a:rPr/>
              <a:t>For the ReLU, g′ is 1 where the pre-activation was positive, 0 elsewhere: a unit silent going forward passes nothing back</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just trains badly</a:t>
            </a:r>
          </a:p>
          <a:p>
            <a:pPr lvl="0"/>
            <a:r>
              <a:rPr/>
              <a:t>Compare each partial with (J(θ + h) − J(θ − h)) ÷ 2h: error of order h²</a:t>
            </a:r>
          </a:p>
          <a:p>
            <a:pPr lvl="0"/>
            <a:r>
              <a:rPr/>
              <a:t>Relative error = |⁠numerical − analytic|⁠ ÷ (|⁠numerical|⁠ + |⁠analytic|⁠); notebook 01: worst 1.97 × 10⁻⁸, median 7.83 × 10⁻¹¹</a:t>
            </a:r>
          </a:p>
          <a:p>
            <a:pPr lvl="0"/>
            <a:r>
              <a:rPr b="1"/>
              <a:t>Below 10⁻⁶: believe it. Above 10⁻⁴: there is a bug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28-44</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57-58</a:t>
                      </a:r>
                    </a:p>
                  </a:txBody>
                </a:tc>
                <a:tc>
                  <a:txBody>
                    <a:bodyPr/>
                    <a:lstStyle/>
                    <a:p>
                      <a:pPr lvl="0" indent="0" marL="0">
                        <a:buNone/>
                      </a:pPr>
                      <a:r>
                        <a:rPr/>
                        <a:t>all weights 0 → final cost 0.6887</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digits</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r>
              <a:rPr/>
              <a:t>: 0.55 for the line, about 0.94 with a few hidden units</a:t>
            </a:r>
          </a:p>
          <a:p>
            <a:pPr lvl="0"/>
            <a:r>
              <a:rPr/>
              <a:t>Digits vote pixel by pixel: the acceptance rule needed two measurements </a:t>
            </a:r>
            <a:r>
              <a:rPr b="1"/>
              <a:t>at once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Six sigmoid layers, eight seeds: gradient size at the layer nearest the output ÷ at the first layer, median </a:t>
            </a:r>
            <a:r>
              <a:rPr b="1"/>
              <a:t>3,547</a:t>
            </a:r>
          </a:p>
          <a:p>
            <a:pPr lvl="0"/>
            <a:r>
              <a:rPr/>
              <a:t>Over those eight seeds it ranges </a:t>
            </a:r>
            <a:r>
              <a:rPr b="1"/>
              <a:t>2,734 to 4,607</a:t>
            </a:r>
          </a:p>
          <a:p>
            <a:pPr lvl="0"/>
            <a:r>
              <a:rPr/>
              <a:t>Quoting the largest reports one draw as a law</a:t>
            </a:r>
          </a:p>
          <a:p>
            <a:pPr lvl="0"/>
            <a:r>
              <a:rPr b="1"/>
              <a:t>The per-layer factor of about 4 is the property</a:t>
            </a:r>
          </a:p>
          <a:p>
            <a:pPr lvl="0"/>
            <a:r>
              <a:rPr/>
              <a:t>By depth, five seeds each: 9.5, 170, 3,553, 46,250 at two, four, six and eight layers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three activations: only the sigmoid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tanh squashes too, but its derivative reaches 1; the sigmoid’s never exceeds ¼, and that is what kills it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28-34</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46-49</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50-53</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54-55</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59</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a:t>
            </a:r>
            <a:r>
              <a:rPr b="1"/>
              <a:t>only the output bias moves</a:t>
            </a:r>
          </a:p>
          <a:p>
            <a:pPr lvl="0"/>
            <a:r>
              <a:rPr/>
              <a:t>It converges to the base rate, the cost to the label entropy: </a:t>
            </a:r>
            <a:r>
              <a:rPr b="1"/>
              <a:t>0.6887 predicted, 0.6887 measured</a:t>
            </a:r>
          </a:p>
          <a:p>
            <a:pPr lvl="0"/>
            <a:r>
              <a:rPr/>
              <a:t>32 hidden units started at zero end as </a:t>
            </a:r>
            <a:r>
              <a:rPr b="1"/>
              <a:t>1 distinct unit</a:t>
            </a:r>
            <a:r>
              <a:rPr/>
              <a:t>, copied 32 times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Each layer multiplies the variance by n × Var(w): Var(w) = 1/n is </a:t>
            </a:r>
            <a:r>
              <a:rPr b="1"/>
              <a:t>Glorot</a:t>
            </a:r>
            <a:r>
              <a:rPr/>
              <a:t>; for ReLU, 2/n is </a:t>
            </a:r>
            <a:r>
              <a:rPr b="1"/>
              <a:t>He</a:t>
            </a:r>
          </a:p>
          <a:p>
            <a:pPr lvl="0"/>
            <a:r>
              <a:rPr/>
              <a:t>Eight tanh layers of 64, weights of standard deviation 0.01: the signal </a:t>
            </a:r>
            <a:r>
              <a:rPr b="1"/>
              <a:t>collapses</a:t>
            </a:r>
            <a:r>
              <a:rPr/>
              <a:t> to zero by layer 4</a:t>
            </a:r>
          </a:p>
          <a:p>
            <a:pPr lvl="0"/>
            <a:r>
              <a:rPr/>
              <a:t>Standard deviation 1: 73% of the last layer </a:t>
            </a:r>
            <a:r>
              <a:rPr b="1"/>
              <a:t>saturates</a:t>
            </a:r>
            <a:r>
              <a:rPr/>
              <a:t>, |a| &gt; 0.99</a:t>
            </a:r>
          </a:p>
          <a:p>
            <a:pPr lvl="0"/>
            <a:r>
              <a:rPr/>
              <a:t>Glorot keeps half its spread over the eight layers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 two layers of 64, on the digits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 plain SGD, 60 epochs</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One layer of 64, 40 epochs: at α = 1.0, </a:t>
            </a:r>
            <a:r>
              <a:rPr b="1"/>
              <a:t>33 of 64 are dead</a:t>
            </a:r>
            <a:r>
              <a:rPr/>
              <a:t>, validation accuracy 0.9583 against 0.9667 at α = 0.5</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 acceptance data, 16 hidden units</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against the noise-free labels</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on that network</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60-62</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63-64</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65-66</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67</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68</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