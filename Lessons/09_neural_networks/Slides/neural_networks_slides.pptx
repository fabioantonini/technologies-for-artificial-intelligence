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lesson 8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four points of selection bias on slide 16 -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in layers, one feeding the next.</a:t>
            </a:r>
          </a:p>
          <a:p>
            <a:pPr lvl="0" indent="0" marL="0">
              <a:buNone/>
            </a:pPr>
          </a:p>
          <a:p>
            <a:pPr lvl="0" indent="0" marL="0">
              <a:buNone/>
            </a:pPr>
            <a:r>
              <a:rPr/>
              <a:t>Say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a picture, with numbers: w1 = 1, w2 = 2, b = -1. Point at the left half first. Two inputs arrive, each multiplied by its weight; a third input that is always 1 carries the bias, so the bias is just one more weight. The sum z goes through the sigmoid, and out comes y-hat between 0 and 1.</a:t>
            </a:r>
          </a:p>
          <a:p>
            <a:pPr lvl="0" indent="0" marL="0">
              <a:buNone/>
            </a:pPr>
          </a:p>
          <a:p>
            <a:pPr lvl="0" indent="0" marL="0">
              <a:buNone/>
            </a:pPr>
            <a:r>
              <a:rPr/>
              <a:t>The small plot under the sigma node is the sigmoid itself, the gold S-curve: very negative z gives almost 0, very positive z almost 1, and z = 0 gives exactly 0.5. The dashed line is what Rosenblatt’s 1958 perceptron used in its place, a step: output 1 when z is positive, 0 otherwise. Both switch at the same place, z = 0; the sigmoid does it smoothly, which is what lets lesson 4’s gradient descent - and today’s backpropagation - work, since a step has no slope to follow.</a:t>
            </a:r>
          </a:p>
          <a:p>
            <a:pPr lvl="0" indent="0" marL="0">
              <a:buNone/>
            </a:pPr>
          </a:p>
          <a:p>
            <a:pPr lvl="0" indent="0" marL="0">
              <a:buNone/>
            </a:pPr>
            <a:r>
              <a:rPr/>
              <a:t>Then the right half, which is the same unit seen from the data’s side. Colour every point of the input plane by the y-hat the unit gives it. The colour changes smoothly, but the decision changes in one place only: the black line x1 + 2 x2 - 1 = 0, where z is 0 and y-hat is exactly 0.5. Above it the unit says 1, below it 0.</a:t>
            </a:r>
          </a:p>
          <a:p>
            <a:pPr lvl="0" indent="0" marL="0">
              <a:buNone/>
            </a:pPr>
          </a:p>
          <a:p>
            <a:pPr lvl="0" indent="0" marL="0">
              <a:buNone/>
            </a:pPr>
            <a:r>
              <a:rPr/>
              <a:t>Ask the room what changing w2 to -2 would do to the picture - the line tilts the other way - and what changing b would do - it slides the line without turning it. Weights set the direction, the bias sets the position, and nothing a single unit can do bends it. That is the problem the next slides set up.</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fourth bullet is the assumption the next slide needs: the generator draws each offset from a normal distribution with that spread (instrument_data.py, TRUE_GAIN_SIGMA_DB and TRUE_PHASE_SIGMA_DEG). Divide each axis by its spread and every unit becomes a point of the standard two-dimensional normal, centred on the origin with spread 1 in every direction.</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what this number is NOT: it does not come from a model, and nothing has been fitted yet. It is a prediction from probability theory alone, from the previous slide’s assumption that the standardised offsets are a standard two-dimensional normal.</a:t>
            </a:r>
          </a:p>
          <a:p>
            <a:pPr lvl="0" indent="0" marL="0">
              <a:buNone/>
            </a:pPr>
          </a:p>
          <a:p>
            <a:pPr lvl="0" indent="0" marL="0">
              <a:buNone/>
            </a:pPr>
            <a:r>
              <a:rPr/>
              <a:t>Read the symbols: z is one unit’s pair of standardised offsets, the double bars are its distance from the origin. The first formula is the general fact: for a standard two-dimensional normal, the probability of landing inside a circle of radius s is one minus e to the minus s squared over two (handout section 2.2 derives it in three lines, in polar coordinates). The second puts in s = 1.25, the radius of the accept region, so its left side is “the probability that a unit lands inside the circle” - the probability that it passes. 1.25 squared over two is 0.78125, and that is the exponent. Do it out loud.</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t>Why it matters for what follows: a little over half of all units pass, so a model that answers “accepted” for every unit, using no measurement at all, is already right about 55% of the time. That is the first row of the next slide’s table, and the number every straight line will be compared against.</a:t>
            </a:r>
          </a:p>
          <a:p>
            <a:pPr lvl="0" indent="0" marL="0">
              <a:buNone/>
            </a:pPr>
          </a:p>
          <a:p>
            <a:pPr lvl="0" indent="0" marL="0">
              <a:buNone/>
            </a:pPr>
            <a:r>
              <a:rPr/>
              <a:t>The same integral reappears in section 11, when the lesson computes how well a polygon of a given number of sides could fence this region.</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gaps, which are the real content. The fitted line is 0.27 points above knowing nothing. The best line that exists for this population would be about 10 points above it, at 0.6491. And even that best line is 32 points below the reachable 0.97. The small gaps are about fitting; the large one is about the shape of the model: no straight line can enclose a circle.</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collects the accuracy of being right there. That is the best any straight line can do on this problem.</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look the same, while any line becomes a different line. So whatever a line gains on one side by tilting, it loses on the opposite side, and the best fit barely tilts at all: it settles on almost the constant answer.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flexible model.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still no single straight line can separate the classes,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used here as a tool: max of zero and the input, nothing more. Its properties get their own segment after the break.</a:t>
            </a:r>
          </a:p>
          <a:p>
            <a:pPr lvl="0" indent="0" marL="0">
              <a:buNone/>
            </a:pPr>
          </a:p>
          <a:p>
            <a:pPr lvl="0" indent="0" marL="0">
              <a:buNone/>
            </a:pPr>
            <a:r>
              <a:rPr/>
              <a:t>Where 1.1 comes from, if asked: the output is above 0.5 when 10 h1 + 10 h2 - 1 is positive, that is when h1 + h2 &gt; 0.1. At most one hidden unit fires at a time, and the one that fires outputs |a + b| - 1, so the condition is |a + b| - 1 &gt; 0.1, which is |a + b| &gt; 1.1.</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network with several layers as a chain of classifiers, each one improving the previous answer. That is not what happens. Every layer except the last changes the coordinates in which the data is described - here the hidden layer moved two clouds to (1, 0) and (0, 1) and stacked the other two at the origin - and only the last layer classifies, with a single straight line.</a:t>
            </a:r>
          </a:p>
          <a:p>
            <a:pPr lvl="0" indent="0" marL="0">
              <a:buNone/>
            </a:pPr>
          </a:p>
          <a:p>
            <a:pPr lvl="0" indent="0" marL="0">
              <a:buNone/>
            </a:pPr>
            <a:r>
              <a:rPr/>
              <a:t>Say that lesson 10 builds on exactly this: a convolutional network also learns new coordinates, but each of its units looks only at a small patch of the image, so most of its weights are fixed at zero. Saying it now means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again: we leave the drift problem and go back to the acceptance test of slides 9 to 16, the circle no straight line could enclose. The network changes too: two inputs, the standardised gain and phase offsets; four hidden units, each a ReLU; one output, the probability that the unit passes.</a:t>
            </a:r>
          </a:p>
          <a:p>
            <a:pPr lvl="0" indent="0" marL="0">
              <a:buNone/>
            </a:pPr>
          </a:p>
          <a:p>
            <a:pPr lvl="0" indent="0" marL="0">
              <a:buNone/>
            </a:pPr>
            <a:r>
              <a:rPr/>
              <a:t>This time nobody writes the weights by hand: they are trained, by the gradient descent of lesson 3, which is why the connections are drawn without numbers. Each hidden unit computes a weighted sum of the two inputs, and the places where that sum is zero form a straight line - so four hidden units means four lines. The next slide draws them. 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network of the previous slide, drawn on the data. Left: the four lines its hidden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drift problem, and a new term to define before reading the table. Training has to start from some weights, and the usual choice is small random numbers: that starting point is the </a:t>
            </a:r>
            <a:r>
              <a:rPr b="1"/>
              <a:t>initialisation</a:t>
            </a:r>
            <a:r>
              <a:rPr/>
              <a:t>. Each row trains the same network 20 times, each time from a different random initialisation, and reports the median result, the best one, and how many of the 20 passed 0.95. The lesson returns to initialisation after the break, where it explains why the weights cannot all start at zero.</a:t>
            </a:r>
          </a:p>
          <a:p>
            <a:pPr lvl="0" indent="0" marL="0">
              <a:buNone/>
            </a:pPr>
          </a:p>
          <a:p>
            <a:pPr lvl="0" indent="0" marL="0">
              <a:buNone/>
            </a:pPr>
            <a:r>
              <a:rPr/>
              <a:t>Two units are enough - the lesson wrote a two-unit solution down by hand five slides ago and it scored 0.9938 - yet plain gradient descent finds something that good in only four starts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no small change of the weights improves it, and most starting points lead down into it.</a:t>
            </a:r>
          </a:p>
          <a:p>
            <a:pPr lvl="0" indent="0" marL="0">
              <a:buNone/>
            </a:pPr>
          </a:p>
          <a:p>
            <a:pPr lvl="0" indent="0" marL="0">
              <a:buNone/>
            </a:pPr>
            <a:r>
              <a:rPr/>
              <a:t>This is the honest reason networks used in practice are wider than their task requires. The extra units are not needed to express the answer - they give training more chances, so that some unit starts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subject of handout section 9, on optimisation.</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to every row (NumPy calls this broadcasting):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handout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but both matter.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The untrained network is notebook 1’s: four hidden units with random He initial weights, scored on the 2,250 acceptance training units. The second number is the cost of a model that says 0.5 for every unit, which is minus log of a half, ln 2.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where the whole backward pass starts.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The same cancellation, with more than two classes,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ReLU’s derivative, 1 or 0, is worth a moment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training networks is possible at all: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 room is following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Subtracting the largest score before exponentiating (handout section 6.1) is a one-line detail students will need the first time they write softmax themselves: without it the exponentials overflow.</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three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each input pushes the answer roughly independently of the others.</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several linear layers stacked together are just one linear layer, a one-line calculation, and that is the reason the whole activation question exists. It is also worth naming the consequence: a network whose units are all stuck on their flat ends (saturated) or all output zero (dead) has effectively become that single linear layer.</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 but false claims get repeated.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bound of a quarter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three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half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chosen to look good.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2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Tolerances </a:t>
            </a:r>
            <a:r>
              <a:rPr b="1"/>
              <a:t>0.50</a:t>
            </a:r>
            <a:r>
              <a:rPr/>
              <a:t> dB and </a:t>
            </a:r>
            <a:r>
              <a:rPr b="1"/>
              <a:t>3.75</a:t>
            </a:r>
            <a:r>
              <a:rPr/>
              <a:t>°; production spreads (standard deviations) </a:t>
            </a:r>
            <a:r>
              <a:rPr b="1"/>
              <a:t>0.40</a:t>
            </a:r>
            <a:r>
              <a:rPr/>
              <a:t> and </a:t>
            </a:r>
            <a:r>
              <a:rPr b="1"/>
              <a:t>3.00</a:t>
            </a:r>
          </a:p>
          <a:p>
            <a:pPr lvl="0"/>
            <a:r>
              <a:rPr/>
              <a:t>Both are exactly </a:t>
            </a:r>
            <a:r>
              <a:rPr b="1"/>
              <a:t>1.25 spreads</a:t>
            </a:r>
            <a:r>
              <a:rPr/>
              <a:t>, so standardised, the accept region is a circle of radius 1.25</a:t>
            </a:r>
          </a:p>
          <a:p>
            <a:pPr lvl="0"/>
            <a:r>
              <a:rPr/>
              <a:t>Production offsets are </a:t>
            </a:r>
            <a:r>
              <a:rPr b="1"/>
              <a:t>normally distributed</a:t>
            </a:r>
            <a:r>
              <a:rPr/>
              <a:t>: standardised, each unit is a random point of a standard two-dimensional normal</a:t>
            </a:r>
          </a:p>
          <a:p>
            <a:pPr lvl="0"/>
            <a:r>
              <a:rPr b="1"/>
              <a:t>0.5497</a:t>
            </a:r>
            <a:r>
              <a:rPr/>
              <a:t> of the 3,000 generated units fall inside the circle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any model: the share inside, from the normal</a:t>
            </a:r>
          </a:p>
        </p:txBody>
      </p:sp>
      <p:pic>
        <p:nvPicPr>
          <p:cNvPr descr="eq_3638bdf1b5.png" id="0" name="Picture 1"/>
          <p:cNvPicPr>
            <a:picLocks noGrp="1" noChangeAspect="1"/>
          </p:cNvPicPr>
          <p:nvPr/>
        </p:nvPicPr>
        <p:blipFill>
          <a:blip r:embed="rId3"/>
          <a:stretch>
            <a:fillRect/>
          </a:stretch>
        </p:blipFill>
        <p:spPr bwMode="auto">
          <a:xfrm>
            <a:off x="457200" y="2573139"/>
            <a:ext cx="8229600" cy="546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accuracy</a:t>
                      </a:r>
                    </a:p>
                  </a:txBody>
                  <a:tcPr/>
                </a:tc>
              </a:tr>
              <a:tr h="0">
                <a:tc>
                  <a:txBody>
                    <a:bodyPr/>
                    <a:lstStyle/>
                    <a:p>
                      <a:pPr lvl="0" indent="0" marL="0">
                        <a:buNone/>
                      </a:pPr>
                      <a:r>
                        <a:rPr/>
                        <a:t>always predict “accepted”, on the 750 test units</a:t>
                      </a:r>
                    </a:p>
                  </a:txBody>
                </a:tc>
                <a:tc>
                  <a:txBody>
                    <a:bodyPr/>
                    <a:lstStyle/>
                    <a:p>
                      <a:pPr lvl="0" indent="0" marL="0">
                        <a:buNone/>
                      </a:pPr>
                      <a:r>
                        <a:rPr/>
                        <a:t>0.5480</a:t>
                      </a:r>
                    </a:p>
                  </a:txBody>
                </a:tc>
              </a:tr>
              <a:tr h="0">
                <a:tc>
                  <a:txBody>
                    <a:bodyPr/>
                    <a:lstStyle/>
                    <a:p>
                      <a:pPr lvl="0" indent="0" marL="0">
                        <a:buNone/>
                      </a:pPr>
                      <a:r>
                        <a:rPr/>
                        <a:t>fitted logistic regression, on the 750 test units</a:t>
                      </a:r>
                    </a:p>
                  </a:txBody>
                </a:tc>
                <a:tc>
                  <a:txBody>
                    <a:bodyPr/>
                    <a:lstStyle/>
                    <a:p>
                      <a:pPr lvl="0" indent="0" marL="0">
                        <a:buNone/>
                      </a:pPr>
                      <a:r>
                        <a:rPr b="1"/>
                        <a:t>0.5507</a:t>
                      </a:r>
                    </a:p>
                  </a:txBody>
                </a:tc>
              </a:tr>
              <a:tr h="0">
                <a:tc>
                  <a:txBody>
                    <a:bodyPr/>
                    <a:lstStyle/>
                    <a:p>
                      <a:pPr lvl="0" indent="0" marL="0">
                        <a:buNone/>
                      </a:pPr>
                      <a:r>
                        <a:rPr/>
                        <a:t>the best possible straight line, computed from the true distribution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Fitted logistic regression: coefficients </a:t>
            </a:r>
            <a:r>
              <a:rPr b="1"/>
              <a:t>(0.0096, 0.0701)</a:t>
            </a:r>
            <a:r>
              <a:rPr/>
              <a:t>, intercept </a:t>
            </a:r>
            <a:r>
              <a:rPr b="1"/>
              <a:t>0.1892</a:t>
            </a:r>
            <a:r>
              <a:rPr/>
              <a:t>, almost exactly the constant model</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181 directions × 201 offsets × 2 sides = 72,762 lines, all scored on the test set; the winner, </a:t>
            </a:r>
            <a:r>
              <a:rPr b="1"/>
              <a:t>on the data that chose it</a:t>
            </a:r>
            <a:r>
              <a:rPr/>
              <a:t>: 0.6880</a:t>
            </a:r>
          </a:p>
          <a:p>
            <a:pPr lvl="0"/>
            <a:r>
              <a:rPr/>
              <a:t>The honest figure, computed exactly from the geometry: </a:t>
            </a:r>
            <a:r>
              <a:rPr b="1"/>
              <a:t>0.6491</a:t>
            </a:r>
          </a:p>
          <a:p>
            <a:pPr lvl="0"/>
            <a:r>
              <a:rPr b="1"/>
              <a:t>Almost 4 points of pure selection bias</a:t>
            </a:r>
          </a:p>
          <a:p>
            <a:pPr lvl="0"/>
            <a:r>
              <a:rPr/>
              <a:t>Nothing was fitted: only a choice made. Lesson 5’s argument again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 to acceptance: four hidden units</a:t>
            </a:r>
          </a:p>
        </p:txBody>
      </p:sp>
      <p:pic>
        <p:nvPicPr>
          <p:cNvPr descr="four_unit_network.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 (drift data)</a:t>
                      </a:r>
                    </a:p>
                  </a:txBody>
                  <a:tcPr/>
                </a:tc>
                <a:tc>
                  <a:txBody>
                    <a:bodyPr/>
                    <a:lstStyle/>
                    <a:p>
                      <a:pPr lvl="0" indent="0" marL="0">
                        <a:buNone/>
                      </a:pPr>
                      <a:r>
                        <a:rPr/>
                        <a:t>median accuracy, 20 random starts</a:t>
                      </a:r>
                    </a:p>
                  </a:txBody>
                  <a:tcPr/>
                </a:tc>
                <a:tc>
                  <a:txBody>
                    <a:bodyPr/>
                    <a:lstStyle/>
                    <a:p>
                      <a:pPr lvl="0" indent="0" marL="0">
                        <a:buNone/>
                      </a:pPr>
                      <a:r>
                        <a:rPr/>
                        <a:t>best of 20</a:t>
                      </a:r>
                    </a:p>
                  </a:txBody>
                  <a:tcPr/>
                </a:tc>
                <a:tc>
                  <a:txBody>
                    <a:bodyPr/>
                    <a:lstStyle/>
                    <a:p>
                      <a:pPr lvl="0" indent="0" marL="0">
                        <a:buNone/>
                      </a:pPr>
                      <a:r>
                        <a:rPr/>
                        <a:t>starts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Untrained, the cost is 0.6721; predicting 0.5 for all, ln 2 =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a:t>
            </a:r>
            <a:r>
              <a:rPr b="1"/>
              <a:t>δ</a:t>
            </a:r>
            <a:r>
              <a:rPr/>
              <a:t>, the cost’s derivative with respect to each layer’s </a:t>
            </a:r>
            <a:r>
              <a:rPr b="1"/>
              <a:t>pre-activations</a:t>
            </a:r>
            <a:r>
              <a:rPr/>
              <a:t> Z</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δ: for layer 2, (A⁽¹⁾)ᵀ δ⁽²⁾</a:t>
            </a:r>
          </a:p>
          <a:p>
            <a:pPr lvl="0"/>
            <a:r>
              <a:rPr/>
              <a:t>To step down: multiply δ by the weight matrix above, then elementwise (⊙) by the activation’s derivative g′</a:t>
            </a:r>
          </a:p>
          <a:p>
            <a:pPr lvl="0"/>
            <a:r>
              <a:rPr/>
              <a:t>For the ReLU, g′ is 1 where the pre-activation was positive, 0 elsewhere: a unit silent going forward passes nothing back</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just trains badly</a:t>
            </a:r>
          </a:p>
          <a:p>
            <a:pPr lvl="0"/>
            <a:r>
              <a:rPr/>
              <a:t>Compare each partial with (J(θ + h) − J(θ − h)) ÷ 2h: error of order h²</a:t>
            </a:r>
          </a:p>
          <a:p>
            <a:pPr lvl="0"/>
            <a:r>
              <a:rPr/>
              <a:t>Relative error = |⁠numerical − analytic|⁠ ÷ (|⁠numerical|⁠ + |⁠analytic|⁠); notebook 01: worst 1.97 × 10⁻⁸, median 7.83 × 10⁻¹¹</a:t>
            </a:r>
          </a:p>
          <a:p>
            <a:pPr lvl="0"/>
            <a:r>
              <a:rPr b="1"/>
              <a:t>Below 10⁻⁶: believe it. Above 10⁻⁴: there is a bug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9-16</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28-43</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17-25</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26</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56-57</a:t>
                      </a:r>
                    </a:p>
                  </a:txBody>
                </a:tc>
                <a:tc>
                  <a:txBody>
                    <a:bodyPr/>
                    <a:lstStyle/>
                    <a:p>
                      <a:pPr lvl="0" indent="0" marL="0">
                        <a:buNone/>
                      </a:pPr>
                      <a:r>
                        <a:rPr/>
                        <a:t>all weights 0 → final cost 0.6887</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 on the digits</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r>
              <a:rPr/>
              <a:t>: 0.55 for the line, about 0.94 with a few hidden units</a:t>
            </a:r>
          </a:p>
          <a:p>
            <a:pPr lvl="0"/>
            <a:r>
              <a:rPr/>
              <a:t>Digits vote pixel by pixel: the acceptance rule needed two measurements </a:t>
            </a:r>
            <a:r>
              <a:rPr b="1"/>
              <a:t>at once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Six sigmoid layers, eight seeds: gradient size at the layer nearest the output ÷ at the first layer, median </a:t>
            </a:r>
            <a:r>
              <a:rPr b="1"/>
              <a:t>3,547</a:t>
            </a:r>
          </a:p>
          <a:p>
            <a:pPr lvl="0"/>
            <a:r>
              <a:rPr/>
              <a:t>Over those eight seeds it ranges </a:t>
            </a:r>
            <a:r>
              <a:rPr b="1"/>
              <a:t>2,734 to 4,607</a:t>
            </a:r>
          </a:p>
          <a:p>
            <a:pPr lvl="0"/>
            <a:r>
              <a:rPr/>
              <a:t>Quoting the largest reports one draw as a law</a:t>
            </a:r>
          </a:p>
          <a:p>
            <a:pPr lvl="0"/>
            <a:r>
              <a:rPr b="1"/>
              <a:t>The per-layer factor of about 4 is the property</a:t>
            </a:r>
          </a:p>
          <a:p>
            <a:pPr lvl="0"/>
            <a:r>
              <a:rPr/>
              <a:t>By depth, five seeds each: 9.5, 170, 3,553, 46,250 at two, four, six and eight layers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three activations: only the sigmoid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tanh squashes too, but its derivative reaches 1; the sigmoid’s never exceeds ¼, and that is what kills it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28-33</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45-48</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49-52</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53-54</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58</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a:t>
            </a:r>
            <a:r>
              <a:rPr b="1"/>
              <a:t>only the output bias moves</a:t>
            </a:r>
          </a:p>
          <a:p>
            <a:pPr lvl="0"/>
            <a:r>
              <a:rPr/>
              <a:t>It converges to the base rate, the cost to the label entropy: </a:t>
            </a:r>
            <a:r>
              <a:rPr b="1"/>
              <a:t>0.6887 predicted, 0.6887 measured</a:t>
            </a:r>
          </a:p>
          <a:p>
            <a:pPr lvl="0"/>
            <a:r>
              <a:rPr/>
              <a:t>32 hidden units started at zero end as </a:t>
            </a:r>
            <a:r>
              <a:rPr b="1"/>
              <a:t>1 distinct unit</a:t>
            </a:r>
            <a:r>
              <a:rPr/>
              <a:t>, copied 32 times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Each layer multiplies the variance by n × Var(w): Var(w) = 1/n is </a:t>
            </a:r>
            <a:r>
              <a:rPr b="1"/>
              <a:t>Glorot</a:t>
            </a:r>
            <a:r>
              <a:rPr/>
              <a:t>; for ReLU, 2/n is </a:t>
            </a:r>
            <a:r>
              <a:rPr b="1"/>
              <a:t>He</a:t>
            </a:r>
          </a:p>
          <a:p>
            <a:pPr lvl="0"/>
            <a:r>
              <a:rPr/>
              <a:t>Eight tanh layers of 64, weights of standard deviation 0.01: the signal </a:t>
            </a:r>
            <a:r>
              <a:rPr b="1"/>
              <a:t>collapses</a:t>
            </a:r>
            <a:r>
              <a:rPr/>
              <a:t> to zero by layer 4</a:t>
            </a:r>
          </a:p>
          <a:p>
            <a:pPr lvl="0"/>
            <a:r>
              <a:rPr/>
              <a:t>Standard deviation 1: 73% of the last layer </a:t>
            </a:r>
            <a:r>
              <a:rPr b="1"/>
              <a:t>saturates</a:t>
            </a:r>
            <a:r>
              <a:rPr/>
              <a:t>, |a| &gt; 0.99</a:t>
            </a:r>
          </a:p>
          <a:p>
            <a:pPr lvl="0"/>
            <a:r>
              <a:rPr/>
              <a:t>Glorot keeps half its spread over the eight layers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 two layers of 64, on the digits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 plain SGD, 60 epochs</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One layer of 64, 40 epochs: at α = 1.0, </a:t>
            </a:r>
            <a:r>
              <a:rPr b="1"/>
              <a:t>33 of 64 are dead</a:t>
            </a:r>
            <a:r>
              <a:rPr/>
              <a:t>, validation accuracy 0.9583 against 0.9667 at α = 0.5</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 acceptance data, 16 hidden units</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against the noise-free labels</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on that network</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59-61</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62-63</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64-65</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66</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67</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