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this is a discussion. Ask who picked which family and why, and listen for the common gap: a cross-validated score quoted without any check of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 in the sum is the fraction of the group belonging to one class,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subscripts are before reading the formula: P, L and R are the parent group and its two children, the same three the handout names in words, and the m terms are how many examples are in each. The two m terms are the sizes of the left and right children, and they add to the parent’s. Read it as: what the parent’s impurity was, minus what is left after the split, weighted by how the group was divided.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arithmetic, drawn. The curve is 2p(1-p): zero for a pure group, 0.5 for a fifty-fifty one. The black dot is all 1,200 applicants at p = 0.387, impurity 0.474. The split sends 971 left, at p = 0.256, and 229 right, at p = 0.939 - teal and rust.</a:t>
            </a:r>
          </a:p>
          <a:p>
            <a:pPr lvl="0" indent="0" marL="0">
              <a:buNone/>
            </a:pPr>
          </a:p>
          <a:p>
            <a:pPr lvl="0" indent="0" marL="0">
              <a:buNone/>
            </a:pPr>
            <a:r>
              <a:rPr/>
              <a:t>The gold square is the two children averaged by size, 0.3305, and it sits on the dotted straight line between them. Point at the bulge: the curve lies above every such line, so any split that separates the classes at all lowers the weighted impurity. The gap, 0.144, is the gain, and the tree takes whichever split makes it largest.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 often each of the 1,200 loans turns up in one bootstrap sample, blue, against the limit e^-1 / k!, gold. The first bar is the out-of-bag share: 0.366 here, 0.368 in the limit. The rest are rows drawn once, twice, three times.</a:t>
            </a:r>
          </a:p>
          <a:p>
            <a:pPr lvl="0" indent="0" marL="0">
              <a:buNone/>
            </a:pPr>
          </a:p>
          <a:p>
            <a:pPr lvl="0" indent="0" marL="0">
              <a:buNone/>
            </a:pPr>
            <a:r>
              <a:rPr/>
              <a:t>The point to make: about one row in four appears two or more times. Every tree sees a different mix of repeats and absences, and that is where their disagreement - the raw material of bagging - comes from.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curves: the variance of an average of B trees, as a share of one tree’s, for rho = 0, 0.2, 0.5 and 0.8.</a:t>
            </a:r>
          </a:p>
          <a:p>
            <a:pPr lvl="0" indent="0" marL="0">
              <a:buNone/>
            </a:pPr>
          </a:p>
          <a:p>
            <a:pPr lvl="0" indent="0" marL="0">
              <a:buNone/>
            </a:pPr>
            <a:r>
              <a:rPr/>
              <a:t>Only the rho = 0 curve goes to zero. Every other one flattens onto its dotted floor: at rho = 0.5, ten trees keep 0.550 of one tree’s variance and a hundred keep 0.505. Ask the room what the curves say about adding trees past fifty - almost nothing - and what the only remaining lever is: lower rho. That is the random forest, two slides on.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Fₜ is the previous ensemble plus a scaled correction from the newest tree, hₜ. Read it left to right: start flat, then keep adding small, scaled corrections.</a:t>
            </a:r>
          </a:p>
          <a:p>
            <a:pPr lvl="0" indent="0" marL="0">
              <a:buNone/>
            </a:pPr>
          </a:p>
          <a:p>
            <a:pPr lvl="0" indent="0" marL="0">
              <a:buNone/>
            </a:pPr>
            <a:r>
              <a:rPr/>
              <a:t>Do not derive anything further here - the next slide states what hₜ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Give them the first step in numbers, because it makes y - p concrete. The ensemble starts at the base rate’s log-odds, F0 = log(0.387 / 0.613) = -0.461, which predicts 0.387 for everyone. The first tree is fit to y - p: +0.613 for every applicant who defaulted, -0.387 for every one who repaid.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 coefficient of 365 where an unpenalised fit wanted billions,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8, Friday 20 November.</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which family</a:t>
            </a:r>
            <a:r>
              <a:rPr/>
              <a:t>, not the winning score</a:t>
            </a:r>
          </a:p>
          <a:p>
            <a:pPr lvl="0"/>
            <a:r>
              <a:rPr/>
              <a:t>The gap to watch for: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so “as pure as possible” has a target to maximise against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2162991" y="1815411"/>
            <a:ext cx="4818018" cy="2061556"/>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a split that purifies nine points and dumps one troublemaker into its own leaf is not free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e6f67b5356.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ΔG is judged one split at a time, never jointly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a:p>
            <a:pPr lvl="0"/>
            <a:r>
              <a:rPr/>
              <a:t>971 applicants left (0.256 defaulted), 229 right (0.939): gain </a:t>
            </a:r>
            <a:r>
              <a:rPr b="1"/>
              <a:t>0.144</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root split, on the Gini curve</a:t>
            </a:r>
          </a:p>
        </p:txBody>
      </p:sp>
      <p:pic>
        <p:nvPicPr>
          <p:cNvPr descr="gini_root_split.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few questions, only the coarsest structure. High bias, low variance</a:t>
            </a:r>
          </a:p>
          <a:p>
            <a:pPr lvl="0"/>
            <a:r>
              <a:rPr b="1"/>
              <a:t>Deep tree</a:t>
            </a:r>
            <a:r>
              <a:rPr/>
              <a:t>: enough questions to isolate almost any subset, down to single points. At full depth, training accuracy is </a:t>
            </a:r>
            <a:r>
              <a:rPr b="1"/>
              <a:t>exactly 1.000 on any dataset</a:t>
            </a:r>
            <a:r>
              <a:rPr/>
              <a:t>, including one with no structure at all</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every leaf at level d splits before any leaf reaches d+1, useful or not</a:t>
            </a:r>
          </a:p>
          <a:p>
            <a:pPr lvl="0"/>
            <a:r>
              <a:rPr>
                <a:latin typeface="Courier"/>
              </a:rPr>
              <a:t>max_leaf_nodes</a:t>
            </a:r>
            <a:r>
              <a:rPr/>
              <a:t> grows it </a:t>
            </a:r>
            <a:r>
              <a:rPr b="1"/>
              <a:t>best-first</a:t>
            </a:r>
            <a:r>
              <a:rPr/>
              <a:t>: always expanding whichever leaf offers the largest ΔG</a:t>
            </a:r>
          </a:p>
          <a:p>
            <a:pPr lvl="0"/>
            <a:r>
              <a:rPr/>
              <a:t>With </a:t>
            </a:r>
            <a:r>
              <a:rPr>
                <a:latin typeface="Courier"/>
              </a:rPr>
              <a:t>max_leaf_nodes = 9</a:t>
            </a:r>
            <a:r>
              <a:rPr/>
              <a:t>: </a:t>
            </a:r>
            <a:r>
              <a:rPr b="1"/>
              <a:t>90.8%</a:t>
            </a:r>
            <a:r>
              <a:rPr/>
              <a:t> training accuracy, every threshold recognisable: 28 the income floor, 0.82 the debt ceiling</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A tree’s mistakes differ across resamples, as just measured, so </a:t>
            </a:r>
            <a:r>
              <a:rPr b="1"/>
              <a:t>many trees, averaged</a:t>
            </a:r>
            <a:r>
              <a:rPr/>
              <a:t> should partly cancel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only what surrounds it is new</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bootstrap sample, counted</a:t>
            </a:r>
          </a:p>
        </p:txBody>
      </p:sp>
      <p:pic>
        <p:nvPicPr>
          <p:cNvPr descr="bootstrap_counts.png" id="0" name="Picture 1"/>
          <p:cNvPicPr>
            <a:picLocks noGrp="1" noChangeAspect="1"/>
          </p:cNvPicPr>
          <p:nvPr/>
        </p:nvPicPr>
        <p:blipFill>
          <a:blip r:embed="rId3"/>
          <a:stretch>
            <a:fillRect/>
          </a:stretch>
        </p:blipFill>
        <p:spPr bwMode="auto">
          <a:xfrm>
            <a:off x="1652292" y="1166099"/>
            <a:ext cx="5839415"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agreement to within their own noise, not to every decimal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Averaging stops at a floor</a:t>
            </a:r>
          </a:p>
        </p:txBody>
      </p:sp>
      <p:pic>
        <p:nvPicPr>
          <p:cNvPr descr="variance_floor.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different trees see different features at the same point, lowering ρ</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the impurity reduction each feature is responsible for, summed over every tree and split</a:t>
            </a:r>
          </a:p>
          <a:p>
            <a:pPr lvl="0"/>
            <a:r>
              <a:rPr/>
              <a:t>Tempting to read as “the forest tells you which features matter” - and with only the two real features here, it does exactly that</a:t>
            </a:r>
          </a:p>
          <a:p>
            <a:pPr lvl="0"/>
            <a:r>
              <a:rPr/>
              <a:t>The question: what happens once most of the columns carry </a:t>
            </a:r>
            <a:r>
              <a:rPr b="1"/>
              <a:t>nothing</a:t>
            </a:r>
            <a:r>
              <a:rPr/>
              <a: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depth 2 or 3, a </a:t>
            </a:r>
            <a:r>
              <a:rPr b="1"/>
              <a:t>weak learner</a:t>
            </a:r>
          </a:p>
          <a:p>
            <a:pPr lvl="0"/>
            <a:r>
              <a:rPr/>
              <a:t>The learning rate α sets </a:t>
            </a:r>
            <a:r>
              <a:rPr b="1"/>
              <a:t>how much</a:t>
            </a:r>
            <a:r>
              <a:rPr/>
              <a:t> of each new tree’s correction is actually applied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8" y="2598540"/>
            <a:ext cx="8229583" cy="495299"/>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Fₜ₋₁(x)</a:t>
            </a:r>
          </a:p>
          <a:p>
            <a:pPr lvl="0"/>
            <a:r>
              <a:rPr/>
              <a:t>This is a special case of a more general idea: </a:t>
            </a:r>
            <a:r>
              <a:rPr b="1"/>
              <a:t>functional gradient descent</a:t>
            </a:r>
            <a:r>
              <a:rPr/>
              <a:t>: hₜ approximates the negative gradient of the loss with respect to Fₜ₋₁</a:t>
            </a:r>
          </a:p>
          <a:p>
            <a:pPr lvl="0"/>
            <a:r>
              <a:rPr/>
              <a:t>For squared error, “fit the residual” and “fit the negative gradient” coincide exactly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0.897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0.882</a:t>
                      </a:r>
                    </a:p>
                  </a:txBody>
                </a:tc>
              </a:tr>
              <a:tr h="0">
                <a:tc>
                  <a:txBody>
                    <a:bodyPr/>
                    <a:lstStyle/>
                    <a:p>
                      <a:pPr lvl="0" indent="0" marL="0">
                        <a:buNone/>
                      </a:pPr>
                      <a:r>
                        <a:rPr/>
                        <a:t>Gradient boosting, 30 trees</a:t>
                      </a:r>
                    </a:p>
                  </a:txBody>
                </a:tc>
                <a:tc>
                  <a:txBody>
                    <a:bodyPr/>
                    <a:lstStyle/>
                    <a:p>
                      <a:pPr lvl="0" indent="0" marL="0">
                        <a:buNone/>
                      </a:pPr>
                      <a:r>
                        <a:rPr/>
                        <a:t>0.897</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 point and a half of the others: </a:t>
            </a:r>
            <a:r>
              <a:rPr b="1"/>
              <a:t>which strategy</a:t>
            </a:r>
            <a:r>
              <a:rPr/>
              <a:t> matters far less than </a:t>
            </a:r>
            <a:r>
              <a:rPr b="1"/>
              <a:t>whether you ensemble at all</a:t>
            </a:r>
          </a:p>
          <a:p>
            <a:pPr lvl="0"/>
            <a:r>
              <a:rPr/>
              <a:t>The tuned single tree is close behind, 0.882 against 0.911, and the only model here a person can read</a:t>
            </a:r>
          </a:p>
          <a:p>
            <a:pPr lvl="0"/>
            <a:r>
              <a:rPr/>
              <a:t>The </a:t>
            </a:r>
            <a:r>
              <a:rPr b="1"/>
              <a:t>unconstrained tree is the worst model on the list</a:t>
            </a:r>
            <a:r>
              <a:rPr/>
              <a:t>, despite being the most flexible one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no explicit train/test split needed</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discussed at the start of </a:t>
            </a:r>
            <a:r>
              <a:rPr b="1"/>
              <a:t>Friday 20 November</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