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what changes and what doesn’t. Lessons 3 and 4 fit a line. Lesson 6 offered three ways of bending a boundary a line cannot draw. Today adds a fourth kind of model, built on a different basic step: comparing one feature with a threshold, where k-nearest neighbours measured distances and the support vector machine computed kernels. It then spends most of the three hours on a different question: not “does a tree work”, but “what happens when you build more than one”.</a:t>
            </a:r>
          </a:p>
          <a:p>
            <a:pPr lvl="0" indent="0" marL="0">
              <a:buNone/>
            </a:pPr>
          </a:p>
          <a:p>
            <a:pPr lvl="0" indent="0" marL="0">
              <a:buNone/>
            </a:pPr>
            <a:r>
              <a:rPr/>
              <a:t>Tell them the punchline early, without the number yet: a single tree is one of the few models in this course a person with no mathematics background can read end to end, and it is also, on its own, a mediocre model. Ensembles of trees are what most tabular-data competitions are still won with, and the reason is the subject of today.</a:t>
            </a:r>
          </a:p>
          <a:p>
            <a:pPr lvl="0" indent="0" marL="0">
              <a:buNone/>
            </a:pPr>
          </a:p>
          <a:p>
            <a:pPr lvl="0" indent="0" marL="0">
              <a:buNone/>
            </a:pPr>
            <a:r>
              <a:rPr/>
              <a:t>Handout section 1 sets this framing out in full.</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to collect and nothing to hand back - this is a discussion. Ask who picked which family and why, and listen for the common gap: a cross-validated score quoted without any check of whether the model’s assumption, such as within-class independence, actually held on that data.</a:t>
            </a:r>
          </a:p>
          <a:p>
            <a:pPr lvl="0" indent="0" marL="0">
              <a:buNone/>
            </a:pPr>
          </a:p>
          <a:p>
            <a:pPr lvl="0" indent="0" marL="0">
              <a:buNone/>
            </a:pPr>
            <a:r>
              <a:rPr/>
              <a:t>Link forward explicitly: today introduces a family with its own convenient assumption - that the columns you feed a random forest are all worth listening to - and by the end of the lesson you will have measured exactly how badly that assumption can fail.</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Describe the physical logic before the picture. A bank’s rule here is closer to a checklist than a smooth function: almost nobody is approved below an income floor or above a debt ceiling, and there are two further regions where income and debt are each unremarkable on their own but risky in combination.</a:t>
            </a:r>
          </a:p>
          <a:p>
            <a:pPr lvl="0" indent="0" marL="0">
              <a:buNone/>
            </a:pPr>
          </a:p>
          <a:p>
            <a:pPr lvl="0" indent="0" marL="0">
              <a:buNone/>
            </a:pPr>
            <a:r>
              <a:rPr/>
              <a:t>Ask the room what shape that logic implies before you show the scatter. The useful answer is: not one connected region, so no single straight line can separate the classes - a different failure from lesson 6’s disc-in-a-ring, but a failure of the same kind.</a:t>
            </a:r>
          </a:p>
          <a:p>
            <a:pPr lvl="0" indent="0" marL="0">
              <a:buNone/>
            </a:pPr>
          </a:p>
          <a:p>
            <a:pPr lvl="0" indent="0" marL="0">
              <a:buNone/>
            </a:pPr>
            <a:r>
              <a:rPr/>
              <a:t>Why “about” 0.93: each label is flipped with probability 7%, so 0.93 is what the true rule scores on average. In this particular sample 85 of the 1,200 labels were flipped, so the rule itself scores 1,115 / 1,200 = 0.929, and a cross-validated score can land a little either side of the ceiling by chance.</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it sit for a moment before pointing anything out. Then trace the shape out loud: a strip of low income on one edge, a strip of high debt on another, and two disconnected rectangles in the interior where neither reading alone is remarkable.</a:t>
            </a:r>
          </a:p>
          <a:p>
            <a:pPr lvl="0" indent="0" marL="0">
              <a:buNone/>
            </a:pPr>
          </a:p>
          <a:p>
            <a:pPr lvl="0" indent="0" marL="0">
              <a:buNone/>
            </a:pPr>
            <a:r>
              <a:rPr/>
              <a:t>Ask for a straight line that separates repaid from defaulted, exactly as you did with the pumps in lesson 6. This time there is a difference worth naming: unlike the pumps, the class you would have to isolate is not even one connected region, so “no line separates them” is true for a different reason than a ring around a disc.</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Unlike lesson 6’s pumps, logistic regression clears the baseline by a wide margin here - it has learned something. Two of the four risky regions, the low-income strip and the high-debt strip, get riskier steadily as one feature moves in one direction, and a straight boundary handles that kind of effect reasonably well.</a:t>
            </a:r>
          </a:p>
          <a:p>
            <a:pPr lvl="0" indent="0" marL="0">
              <a:buNone/>
            </a:pPr>
          </a:p>
          <a:p>
            <a:pPr lvl="0" indent="0" marL="0">
              <a:buNone/>
            </a:pPr>
            <a:r>
              <a:rPr/>
              <a:t>What it cannot do is wall off the two interior islands without cutting into healthy territory everywhere else. Ask the room what kind of boundary could close that gap, and let a few guesses land before moving on - a threshold rule, applied more than once, is exactly the answer the rest of the lesson builds.</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algorithm as one sentence and let it sit - it really is that short. Contrast it explicitly with lessons 3 and 4: no cost function is minimised over a continuous parameter, there is no gradient step. The tree still learns from the data - which feature to ask about and where to put each threshold - but it learns them by trying candidates and keeping the best, not by descending a slope. A tree is a sequence of yes/no questions, chosen one at a time.</a:t>
            </a:r>
          </a:p>
          <a:p>
            <a:pPr lvl="0" indent="0" marL="0">
              <a:buNone/>
            </a:pPr>
          </a:p>
          <a:p>
            <a:pPr lvl="0" indent="0" marL="0">
              <a:buNone/>
            </a:pPr>
            <a:r>
              <a:rPr/>
              <a:t>The word to stress is “greedy”. At every step the tree takes whichever split helps most immediately, with no mechanism for looking two levels ahead. Tell them to hold onto that word - it is what explains, later this hour, why a shallow tree can miss the interior islands entirely even though the information to find them is right there in the data.</a:t>
            </a:r>
          </a:p>
          <a:p>
            <a:pPr lvl="0" indent="0" marL="0">
              <a:buNone/>
            </a:pPr>
          </a:p>
          <a:p>
            <a:pPr lvl="0" indent="0" marL="0">
              <a:buNone/>
            </a:pPr>
            <a:r>
              <a:rPr/>
              <a:t>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previous slide’s sentence, run three times on the loan data. Each column is one more round; on top the cuts in the plane, the new ones in gold, and underneath the tree that asks the same questions. Point at the two halves of each column in turn: every gold line on top is a gold box underneath.</a:t>
            </a:r>
          </a:p>
          <a:p>
            <a:pPr lvl="0" indent="0" marL="0">
              <a:buNone/>
            </a:pPr>
          </a:p>
          <a:p>
            <a:pPr lvl="0" indent="0" marL="0">
              <a:buNone/>
            </a:pPr>
            <a:r>
              <a:rPr/>
              <a:t>Step 1: of every possible single question, debt ratio at or below 0.82 is the one that leaves the two groups purest - 971 applicants at 26% default against 229 at 94%. Do not say why it is the best yet; the next slides give the number that ranks it.</a:t>
            </a:r>
          </a:p>
          <a:p>
            <a:pPr lvl="0" indent="0" marL="0">
              <a:buNone/>
            </a:pPr>
          </a:p>
          <a:p>
            <a:pPr lvl="0" indent="0" marL="0">
              <a:buNone/>
            </a:pPr>
            <a:r>
              <a:rPr/>
              <a:t>Step 2 is the word “recursive” made visible. The tree now asks a question inside each group, and the two questions are different - income on the left, debt again on the right - because each group is searched on its own, without regard to the other. That is “independently” in the sentence.</a:t>
            </a:r>
          </a:p>
          <a:p>
            <a:pPr lvl="0" indent="0" marL="0">
              <a:buNone/>
            </a:pPr>
          </a:p>
          <a:p>
            <a:pPr lvl="0" indent="0" marL="0">
              <a:buNone/>
            </a:pPr>
            <a:r>
              <a:rPr/>
              <a:t>Step 3 is where to slow down, because it shows greed. On the right, one split sets aside a single applicant from 68 others - the cut at 0.948, a thousandth above the 0.947 one, so in the plane the two gold lines lie on top of each other. Someone will ask why the tree asks about debt twice. The two thresholds are different questions: exactly one applicant has a debt ratio between 0.947 and 0.948, that applicant repaid, and the tree spent a whole split on separating them. Another split divides 160 applicants into groups at 90% and 97% default - both groups are still predicted “default”, so that cut changes no decision at all. Each was the best available move at that node; the tree has no way to ask whether it was worth making. And neither interior island has appeared yet: three rounds were spent on the easy strips. Hold that thought - it is the “what greedy misses” slide in ten minutes.</a:t>
            </a:r>
          </a:p>
          <a:p>
            <a:pPr lvl="0" indent="0" marL="0">
              <a:buNone/>
            </a:pPr>
          </a:p>
          <a:p>
            <a:pPr lvl="0" indent="0" marL="0">
              <a:buNone/>
            </a:pPr>
            <a:r>
              <a:rPr/>
              <a:t>The printout of every node is in notebook 1, section 2. 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any symbol appears, ask the room what “pure” should mean for a group of examples. Most will land close to the right answer on their own: a group where everyone shares a label needs nothing further, and a fifty-fifty split is as bad as it gets.</a:t>
            </a:r>
          </a:p>
          <a:p>
            <a:pPr lvl="0" indent="0" marL="0">
              <a:buNone/>
            </a:pPr>
          </a:p>
          <a:p>
            <a:pPr lvl="0" indent="0" marL="0">
              <a:buNone/>
            </a:pPr>
            <a:r>
              <a:rPr/>
              <a:t>Say plainly that the standard choice for classification is called the Gini impurity, and that it is not a probability of misclassification - it is the probability that two examples drawn at random with replacement from the group, and labelled according to the group’s own class frequencies, would disagree.</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p in the sum is the fraction of the group belonging to one class, across C classes. Do not derive anything here - state what it does: subtract, from one, the chance two examples share a class if drawn independently from the group’s own frequencies. A pure group scores zero; a maximally mixed one scores as high as the formula allows.</a:t>
            </a:r>
          </a:p>
          <a:p>
            <a:pPr lvl="0" indent="0" marL="0">
              <a:buNone/>
            </a:pPr>
          </a:p>
          <a:p>
            <a:pPr lvl="0" indent="0" marL="0">
              <a:buNone/>
            </a:pPr>
            <a:r>
              <a:rPr/>
              <a:t>Give them a moment to notice the formula asks nothing about </a:t>
            </a:r>
            <a:r>
              <a:rPr i="1"/>
              <a:t>which</a:t>
            </a:r>
            <a:r>
              <a:rPr/>
              <a:t> class is common, only about how mixed the group is - that symmetry matters later, when a split is chosen purely by how much it reduces this number.</a:t>
            </a:r>
          </a:p>
          <a:p>
            <a:pPr lvl="0" indent="0" marL="0">
              <a:buNone/>
            </a:pPr>
          </a:p>
          <a:p>
            <a:pPr lvl="0" indent="0" marL="0">
              <a:buNone/>
            </a:pPr>
            <a:r>
              <a:rPr/>
              <a:t>Handout section 2.2 has the full definition.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classes is the case that matters for this dataset, and the formula collapses to something with an obvious shape: zero at the extremes, a single peak at fifty-fifty. Ask the room to sanity-check the peak location before you confirm it - it is the point where a random guess is least useful.</a:t>
            </a:r>
          </a:p>
          <a:p>
            <a:pPr lvl="0" indent="0" marL="0">
              <a:buNone/>
            </a:pPr>
          </a:p>
          <a:p>
            <a:pPr lvl="0" indent="0" marL="0">
              <a:buNone/>
            </a:pPr>
            <a:r>
              <a:rPr/>
              <a:t>Give them the concrete number: on the full loan dataset, 38.7% defaulted, so p = 0.387 and G(parent) = 2 × 0.387 × 0.613 = 0.474. That is the impurity every candidate root split is measured against.</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up the idea in words before the formula: a split is only useful if the two resulting groups are, taken together, purer than the one group was. The weighting matters because a split that isolates one awkward point while leaving the rest exactly as mixed as before should not score as well as one that improves the picture broadly.</a:t>
            </a:r>
          </a:p>
          <a:p>
            <a:pPr lvl="0" indent="0" marL="0">
              <a:buNone/>
            </a:pPr>
          </a:p>
          <a:p>
            <a:pPr lvl="0" indent="0" marL="0">
              <a:buNone/>
            </a:pPr>
            <a:r>
              <a:rPr/>
              <a:t>Work the last bullet through. Cut a single example off a mixed group of 1,200. The one-example child is pure, impurity 0; the other child is as mixed as the parent was. A plain average of the two is half the parent’s impurity, so the split would look like a large gain. Weighted by size, the pure child counts for 1/1,200 of the average and the other child for the rest, so the average is almost exactly the parent’s impurity again, and the gain is close to zero.</a:t>
            </a:r>
          </a:p>
          <a:p>
            <a:pPr lvl="0" indent="0" marL="0">
              <a:buNone/>
            </a:pPr>
          </a:p>
          <a:p>
            <a:pPr lvl="0" indent="0" marL="0">
              <a:buNone/>
            </a:pPr>
            <a:r>
              <a:rPr/>
              <a:t>Ask what could go wrong if you </a:t>
            </a:r>
            <a:r>
              <a:rPr i="1"/>
              <a:t>didn’t</a:t>
            </a:r>
            <a:r>
              <a:rPr/>
              <a:t> weight by group size - the answer is that a tree would happily carve off tiny, perfectly pure single-point groups at every step, which is exactly the overfitting behaviour the depth table shows in a few minutes.</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what the symbols are before reading the formula: P, L and R are the parent group and its two children, as on the previous slide. Each G is the Gini impurity of one group, and each m is the number of examples in it; the two children’s m add up to the parent’s. Read it as: the parent’s impurity, minus the children’s impurities averaged with weights equal to the share of the parent that went to each child. ΔG (delta G) is the gain. The tree keeps whichever candidate split makes ΔG largest.</a:t>
            </a:r>
          </a:p>
          <a:p>
            <a:pPr lvl="0" indent="0" marL="0">
              <a:buNone/>
            </a:pPr>
          </a:p>
          <a:p>
            <a:pPr lvl="0" indent="0" marL="0">
              <a:buNone/>
            </a:pPr>
            <a:r>
              <a:rPr/>
              <a:t>No derivation needed here - the formula is exactly the weighted comparison the previous slide described in words. Handout section 2.2 has it worked through on the loan data’s actual root split.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exhaustive-search part of the algorithm, and it is worth being concrete about the cost: every feature, every possible threshold, at every node, all the way down. It is brute force, and on a dataset this size it is cheap.</a:t>
            </a:r>
          </a:p>
          <a:p>
            <a:pPr lvl="0" indent="0" marL="0">
              <a:buNone/>
            </a:pPr>
          </a:p>
          <a:p>
            <a:pPr lvl="0" indent="0" marL="0">
              <a:buNone/>
            </a:pPr>
            <a:r>
              <a:rPr/>
              <a:t>The last bullet is the one to slow down on. A feature that only helps in combination with a second split further down the tree can be - and in this dataset’s two interior islands, is - invisible to a shallow search, because ΔG is never evaluated for two splits together.</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the numbers once: parent impurity 0.474, and the winning split is the debt ceiling, found by brute-force search with no hint about how the data was generated. The children’s impurities, 2p(1 - p) at their own default rates, are 0.3814 for the left child and 0.1148 for the right. Their average weighted by size is 971/1,200 × 0.3814 + 229/1,200 × 0.1148 = 0.3305, and the gain is the parent’s 0.4743 minus that, 0.1438, which rounds to 0.144. Use four decimals if you work it on the board: with the impurities rounded to the slide’s 0.381 and 0.115, the weighted average comes out at 0.3302, and someone will notice. That agreement with the known generating rule is the first piece of evidence that the algorithm is doing something sensible.</a:t>
            </a:r>
          </a:p>
          <a:p>
            <a:pPr lvl="0" indent="0" marL="0">
              <a:buNone/>
            </a:pPr>
          </a:p>
          <a:p>
            <a:pPr lvl="0" indent="0" marL="0">
              <a:buNone/>
            </a:pPr>
            <a:r>
              <a:rPr/>
              <a:t>Ask the room why finding the debt ceiling by blind search, with no knowledge of how the data was built, is a stronger check than it might first appear - the answer is that it rules out the split being an artefact of how the search was coded, since nothing in the algorithm knows the generating rule.</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previous slide’s arithmetic, drawn. The curve is 2p(1-p): zero for a pure group, 0.5 for a fifty-fifty one. The black dot is all 1,200 applicants at p = 0.387, impurity 0.474. The split sends 971 left, at p = 0.256, and 229 right, at p = 0.939 - teal and rust.</a:t>
            </a:r>
          </a:p>
          <a:p>
            <a:pPr lvl="0" indent="0" marL="0">
              <a:buNone/>
            </a:pPr>
          </a:p>
          <a:p>
            <a:pPr lvl="0" indent="0" marL="0">
              <a:buNone/>
            </a:pPr>
            <a:r>
              <a:rPr/>
              <a:t>The gold square is the two children averaged by size, 0.3305, and it sits on the dotted straight line between them. Point at the bulge: the curve lies above every such line, so any split that separates the classes at all lowers the weighted impurity. The gap, 0.144, is the gain, and the tree takes whichever split makes it largest. 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check notebook 1 runs live, and it matters for trust rather than for novelty: once the from-scratch version is shown to agree with scikit-learn exactly, every later result in the lesson - obtained with scikit-learn - inherits that confidence.</a:t>
            </a:r>
          </a:p>
          <a:p>
            <a:pPr lvl="0" indent="0" marL="0">
              <a:buNone/>
            </a:pPr>
          </a:p>
          <a:p>
            <a:pPr lvl="0" indent="0" marL="0">
              <a:buNone/>
            </a:pPr>
            <a:r>
              <a:rPr/>
              <a:t>Two questions to pre-empt. Why predictions and not accuracy? Because two different trees can get the same number of applicants wrong while getting different applicants wrong; identical predictions, one by one, rule that out. Identical predictions do not by themselves prove the two trees are identical node by node - two different trees can agree on every row they are shown - but the notebook also prints the same root split, debt ratio at 0.82, from both. And why on the training data, after lesson 5? Because this checks the code, not the model: the question is whether two programs make the same decisions from the same rows, and the rows they learned from are exactly the right ones to ask it on. No accuracy here is a claim about new applicants.</a:t>
            </a:r>
          </a:p>
          <a:p>
            <a:pPr lvl="0" indent="0" marL="0">
              <a:buNone/>
            </a:pPr>
          </a:p>
          <a:p>
            <a:pPr lvl="0" indent="0" marL="0">
              <a:buNone/>
            </a:pPr>
            <a:r>
              <a:rPr/>
              <a:t>Point out the “Try this” box in the handout: computing Gini impurity for the income-floor subgroup alone and comparing it against the full dataset’s 0.474 is a two-line exercise that makes the impurity number concrete rather than abstract.</a:t>
            </a:r>
          </a:p>
          <a:p>
            <a:pPr lvl="0" indent="0" marL="0">
              <a:buNone/>
            </a:pPr>
          </a:p>
          <a:p>
            <a:pPr lvl="0" indent="0" marL="0">
              <a:buNone/>
            </a:pPr>
            <a:r>
              <a:rPr/>
              <a:t>Handout section 2.2, and the “Try this” box that follows it.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the Gini segment with the limitation, because it sets up everything that follows. Ask the room: if the debt ceiling and the income floor are the two easiest wins, what happens to the two interior islands, which need </a:t>
            </a:r>
            <a:r>
              <a:rPr i="1"/>
              <a:t>two</a:t>
            </a:r>
            <a:r>
              <a:rPr/>
              <a:t> conditions at once to identify?</a:t>
            </a:r>
          </a:p>
          <a:p>
            <a:pPr lvl="0" indent="0" marL="0">
              <a:buNone/>
            </a:pPr>
          </a:p>
          <a:p>
            <a:pPr lvl="0" indent="0" marL="0">
              <a:buNone/>
            </a:pPr>
            <a:r>
              <a:rPr/>
              <a:t>The honest answer is that a shallow tree simply cannot see them - not because the information isn’t there, but because greedy search only ever commits to the best split available at each individual step. Depth is what buys the tree enough steps to eventually stumble onto them, which is exactly where the next segment goes.</a:t>
            </a:r>
          </a:p>
          <a:p>
            <a:pPr lvl="0" indent="0" marL="0">
              <a:buNone/>
            </a:pPr>
          </a:p>
          <a:p>
            <a:pPr lvl="0" indent="0" marL="0">
              <a:buNone/>
            </a:pPr>
            <a:r>
              <a:rPr/>
              <a:t>Handout sections 2.2 and 3.</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the dial explicitly and connect it to lesson 6: k in k-nearest neighbours traded bias against variance directly, and depth is a tree’s version of the same knob.</a:t>
            </a:r>
          </a:p>
          <a:p>
            <a:pPr lvl="0" indent="0" marL="0">
              <a:buNone/>
            </a:pPr>
          </a:p>
          <a:p>
            <a:pPr lvl="0" indent="0" marL="0">
              <a:buNone/>
            </a:pPr>
            <a:r>
              <a:rPr/>
              <a:t>The training-accuracy-1.000 claim is the one to make them justify. Ask why an unconstrained tree gets every training point right - the answer is that splitting does not have to stop until every leaf is pure, at worst one example per leaf, which it then “predicts” perfectly by definition. The one exception is the condition on the slide: two applicants with identical income and debt but different outcomes can never be split apart, so one of them stays wrong. With two continuous features drawn at random, as here, that does not happen. That number demonstrates the model class can memorise, not that anything has been learned - the same reading lesson 6 gave k = 1’s training accuracy.</a:t>
            </a:r>
          </a:p>
          <a:p>
            <a:pPr lvl="0" indent="0" marL="0">
              <a:buNone/>
            </a:pPr>
          </a:p>
          <a:p>
            <a:pPr lvl="0" indent="0" marL="0">
              <a:buNone/>
            </a:pPr>
            <a:r>
              <a:rPr/>
              <a:t>Handout section 3.</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two columns against each other, never in isolation, exactly as lesson 5 taught. Training accuracy climbs monotonically towards 1.000. Cross-validated accuracy rises, peaks at depth 8, and then falls back - even though the model keeps getting strictly more flexible.</a:t>
            </a:r>
          </a:p>
          <a:p>
            <a:pPr lvl="0" indent="0" marL="0">
              <a:buNone/>
            </a:pPr>
          </a:p>
          <a:p>
            <a:pPr lvl="0" indent="0" marL="0">
              <a:buNone/>
            </a:pPr>
            <a:r>
              <a:rPr/>
              <a:t>Ask which column they would have picked a tree by, if they had only seen the training column. The far right, the unconstrained tree, looks unbeatable on that evidence and is in fact the worst honest model on this table.</a:t>
            </a:r>
          </a:p>
          <a:p>
            <a:pPr lvl="0" indent="0" marL="0">
              <a:buNone/>
            </a:pPr>
          </a:p>
          <a:p>
            <a:pPr lvl="0" indent="0" marL="0">
              <a:buNone/>
            </a:pPr>
            <a:r>
              <a:rPr/>
              <a:t>The unconstrained tree loses </a:t>
            </a:r>
            <a:r>
              <a:rPr b="1"/>
              <a:t>3 points</a:t>
            </a:r>
            <a:r>
              <a:rPr/>
              <a:t> of cross-validated accuracy relative to the depth-8 peak, for a training score nobody should have trusted in the first place. Handout section 3.</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Point at the two curves in order: training climbing steadily towards the top, cross-validated rising and then turning over. The peak is where the tree is deep enough to isolate both stressed islands and shallow enough to leave the flipped labels as errors rather than as leaves of their own.</a:t>
            </a:r>
          </a:p>
          <a:p>
            <a:pPr lvl="0" indent="0" marL="0">
              <a:buNone/>
            </a:pPr>
          </a:p>
          <a:p>
            <a:pPr lvl="0" indent="0" marL="0">
              <a:buNone/>
            </a:pPr>
            <a:r>
              <a:rPr/>
              <a:t>Say plainly what past the peak is buying: every extra split is spent fitting some of the 7% of labels this dataset deliberately flips, and a flipped label has no pattern to learn. A tree that classifies it “correctly” on training data has memorised it, not generalised.</a:t>
            </a:r>
          </a:p>
          <a:p>
            <a:pPr lvl="0" indent="0" marL="0">
              <a:buNone/>
            </a:pPr>
          </a:p>
          <a:p>
            <a:pPr lvl="0" indent="0" marL="0">
              <a:buNone/>
            </a:pPr>
            <a:r>
              <a:rPr/>
              <a:t>The gold dashed line is the noise ceiling from the dataset slide, 0.93: one minus the 7% of flipped labels.</a:t>
            </a:r>
          </a:p>
          <a:p>
            <a:pPr lvl="0" indent="0" marL="0">
              <a:buNone/>
            </a:pPr>
          </a:p>
          <a:p>
            <a:pPr lvl="0" indent="0" marL="0">
              <a:buNone/>
            </a:pPr>
            <a:r>
              <a:rPr/>
              <a:t>This is not the first time this course has shown a curve bend this way: lesson 3’s test error turned back up as the polynomial degree grew, and lesson 6’s k-nearest neighbours did the same as k shrank towards 1. Handout section 3.</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to right: at depth 2 every applicant answers at most two questions. The tree asks three in all - it is exactly the tree of step 2 on slide 8 - but the third, on the right, splits 229 high-debt applicants into two groups that are both predicted “default”, so it changes no prediction and draws no line. What the boundary shows is the income floor and the debt ceiling - the two biggest, easiest-to-find regions - and neither interior island is visible at all. At depth 8 both islands appear as clean rectangles, close to the rule that generated the data. At full depth the boundary has grown a fringe of tiny rectangles chasing individual flipped labels.</a:t>
            </a:r>
          </a:p>
          <a:p>
            <a:pPr lvl="0" indent="0" marL="0">
              <a:buNone/>
            </a:pPr>
          </a:p>
          <a:p>
            <a:pPr lvl="0" indent="0" marL="0">
              <a:buNone/>
            </a:pPr>
            <a:r>
              <a:rPr/>
              <a:t>Make the point explicit: the full-depth boundary is not a smoother version of the depth-8 boundary. It is a noisier one, built out of the same mechanism that gave the unconstrained tree its perfect training score.</a:t>
            </a:r>
          </a:p>
          <a:p>
            <a:pPr lvl="0" indent="0" marL="0">
              <a:buNone/>
            </a:pPr>
          </a:p>
          <a:p>
            <a:pPr lvl="0" indent="0" marL="0">
              <a:buNone/>
            </a:pPr>
            <a:r>
              <a:rPr/>
              <a:t>Ask the room which of the three they would trust on a loan applicant they had never seen. Handout section 3.</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readability half of the story. The two knobs limit different things. A depth cap limits how long any one path can be, and inside that cap every node that can be split is split - slide 22’s depth-2 tree spent one of its three questions on a split that changed no prediction. A leaf budget limits how many leaves the whole tree may have, and spends them one at a time on whichever leaf gains most. For a tree meant to be read rather than merely scored, the budget is the better knob: a small number of splits goes to the ones that matter most.</a:t>
            </a:r>
          </a:p>
          <a:p>
            <a:pPr lvl="0" indent="0" marL="0">
              <a:buNone/>
            </a:pPr>
          </a:p>
          <a:p>
            <a:pPr lvl="0" indent="0" marL="0">
              <a:buNone/>
            </a:pPr>
            <a:r>
              <a:rPr/>
              <a:t>The nine-leaf tree is worth reading aloud as a sequence of if/else statements - that is the entire model, and it is the thing k-nearest neighbours and support vector machines cannot offer at all. For a decision that has to be justified to the person it affects, that can matter as much as accuracy.</a:t>
            </a:r>
          </a:p>
          <a:p>
            <a:pPr lvl="0" indent="0" marL="0">
              <a:buNone/>
            </a:pPr>
          </a:p>
          <a:p>
            <a:pPr lvl="0" indent="0" marL="0">
              <a:buNone/>
            </a:pPr>
            <a:r>
              <a:rPr/>
              <a:t>Handout section 4.</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instability that ensembles turn into raw material. The strongest split barely moves between the two samples, 0.820 against 0.819, because the evidence behind it is overwhelming: each tree sees 780 applicants, and on the full data the debt ceiling separates 26% default from 94%, a contrast no sample of that size can hide. Every later split is made inside a smaller group, supported by far fewer applicants, and those splits are what actually determine a tree’s shape.</a:t>
            </a:r>
          </a:p>
          <a:p>
            <a:pPr lvl="0" indent="0" marL="0">
              <a:buNone/>
            </a:pPr>
          </a:p>
          <a:p>
            <a:pPr lvl="0" indent="0" marL="0">
              <a:buNone/>
            </a:pPr>
            <a:r>
              <a:rPr/>
              <a:t>Ask the room what 11.7% disagreement between two trees fit to overlapping samples of the same applicants implies about trusting any single tree’s exact boundary. The answer is the whole of the next segment: a single tree’s instability looks like a flaw, and it is about to become a strength.</a:t>
            </a:r>
          </a:p>
          <a:p>
            <a:pPr lvl="0" indent="0" marL="0">
              <a:buNone/>
            </a:pPr>
          </a:p>
          <a:p>
            <a:pPr lvl="0" indent="0" marL="0">
              <a:buNone/>
            </a:pPr>
            <a:r>
              <a:rPr/>
              <a:t>Handout section 4.</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table is the notebook’s map: each section, the calls it makes, the slides that introduced the idea, and the number to come back with. Decision trees from scratch, checked against scikit-learn; depth swept, the boundaries drawn, and the instability measured.</a:t>
            </a:r>
          </a:p>
          <a:p>
            <a:pPr lvl="0" indent="0" marL="0">
              <a:buNone/>
            </a:pPr>
          </a:p>
          <a:p>
            <a:pPr lvl="0" indent="0" marL="0">
              <a:buNone/>
            </a:pPr>
            <a:r>
              <a:rPr/>
              <a:t>Run Notebooks/01_decision_trees_from_scratch.ipynb. Twenty minutes.</a:t>
            </a:r>
          </a:p>
          <a:p>
            <a:pPr lvl="0" indent="0" marL="0">
              <a:buNone/>
            </a:pPr>
          </a:p>
          <a:p>
            <a:pPr lvl="0" indent="0" marL="0">
              <a:buNone/>
            </a:pPr>
            <a:r>
              <a:rPr/>
              <a:t>Have them watch the from-scratch implementation confirm the debt-ceiling root split before scikit-learn’s version ever runs - the point is that the agreement is not assumed, it is checked, at every depth.</a:t>
            </a:r>
          </a:p>
          <a:p>
            <a:pPr lvl="0" indent="0" marL="0">
              <a:buNone/>
            </a:pPr>
          </a:p>
          <a:p>
            <a:pPr lvl="0" indent="0" marL="0">
              <a:buNone/>
            </a:pPr>
            <a:r>
              <a:rPr/>
              <a:t>The cell worth protecting if time is short is the two-tree resampling comparison at the end: the notebook prints an agreement of 0.883, which is the 11.7% disagreement of the previous slide, and seeing it appear on their own screen lands harder than reading it off a slide.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Twelve minutes. The next segment is where the lesson’s real content starts - one tree’s instability, turned into an ensemble’s strength - so they need to come back with that framing fresh.</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the logic before the name. Two slides before the break measured that two trees fit to overlapping samples disagree on more than a tenth of predictions. If those disagreements are close to random, averaging many such trees should cancel some of them out - that is the entire idea behind bagging, bootstrap aggregating.</a:t>
            </a:r>
          </a:p>
          <a:p>
            <a:pPr lvl="0" indent="0" marL="0">
              <a:buNone/>
            </a:pPr>
          </a:p>
          <a:p>
            <a:pPr lvl="0" indent="0" marL="0">
              <a:buNone/>
            </a:pPr>
            <a:r>
              <a:rPr/>
              <a:t>Say that the tree algorithm itself is unchanged: bagging reuses the first hour’s tree as it is, and only what surrounds it is new.</a:t>
            </a:r>
          </a:p>
          <a:p>
            <a:pPr lvl="0" indent="0" marL="0">
              <a:buNone/>
            </a:pPr>
          </a:p>
          <a:p>
            <a:pPr lvl="0" indent="0" marL="0">
              <a:buNone/>
            </a:pPr>
            <a:r>
              <a:rPr/>
              <a:t>Be precise about “with replacement”: some rows appear more than once in a given sample, some not at all. That leftover fraction is not wasted - it becomes free validation data, on slide 30.</a:t>
            </a:r>
          </a:p>
          <a:p>
            <a:pPr lvl="0" indent="0" marL="0">
              <a:buNone/>
            </a:pPr>
          </a:p>
          <a:p>
            <a:pPr lvl="0" indent="0" marL="0">
              <a:buNone/>
            </a:pPr>
            <a:r>
              <a:rPr/>
              <a:t>One detail of the In code line, if asked: scikit-learn’s </a:t>
            </a:r>
            <a:r>
              <a:rPr>
                <a:latin typeface="Courier"/>
              </a:rPr>
              <a:t>BaggingClassifier</a:t>
            </a:r>
            <a:r>
              <a:rPr/>
              <a:t> does not count votes, it averages the trees’ predicted probabilities. With fully grown trees the two are the same thing: every leaf is pure, so each tree’s probability is 0 or 1, and averaging 0s and 1s is counting votes. So notebook 2’s own majority-vote version and scikit-learn’s apply the same rule. They do not use the same trees - each draws its own bootstrap samples - and still they make the same prediction for all 360 test applicants, 0.872 both: with 100 trees, the luck of any one sample is outvoted.</a:t>
            </a:r>
          </a:p>
          <a:p>
            <a:pPr lvl="0" indent="0" marL="0">
              <a:buNone/>
            </a:pPr>
          </a:p>
          <a:p>
            <a:pPr lvl="0" indent="0" marL="0">
              <a:buNone/>
            </a:pPr>
            <a:r>
              <a:rPr/>
              <a:t>Handout section 5.</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 one line of reasoning, not the limit. Each draw misses a given row with probability 1 - 1/m, and the m draws are independent, so the row is missed by all of them with probability (1 - 1/m) to the power m. At m = 1,200 that is 0.3677; as m grows it tends to 1/e, 0.368, which is the standard exponential limit worked out in handout section 5.1. What matters here is the consequence: every bootstrap tree automatically leaves out over a third of the rows, and never sees them.</a:t>
            </a:r>
          </a:p>
          <a:p>
            <a:pPr lvl="0" indent="0" marL="0">
              <a:buNone/>
            </a:pPr>
          </a:p>
          <a:p>
            <a:pPr lvl="0" indent="0" marL="0">
              <a:buNone/>
            </a:pPr>
            <a:r>
              <a:rPr/>
              <a:t>A predictable slip: “so each tree is trained on 63.2% of the data, 759 rows”. It is reasonable, because 63.2% is the number on the slide. But the sample still has 1,200 draws: about 759 different rows, and the other 441 draws are repeats of rows already drawn. The tree sees 1,200 rows, some of them twice or three times - the next slide counts them.</a:t>
            </a:r>
          </a:p>
          <a:p>
            <a:pPr lvl="0" indent="0" marL="0">
              <a:buNone/>
            </a:pPr>
          </a:p>
          <a:p>
            <a:pPr lvl="0" indent="0" marL="0">
              <a:buNone/>
            </a:pPr>
            <a:r>
              <a:rPr/>
              <a:t>Ask the room what that leftover third is good for. The answer is slide 30, after the counts: it is validation data for exactly the trees that never saw it.</a:t>
            </a:r>
          </a:p>
          <a:p>
            <a:pPr lvl="0" indent="0" marL="0">
              <a:buNone/>
            </a:pPr>
          </a:p>
          <a:p>
            <a:pPr lvl="0" indent="0" marL="0">
              <a:buNone/>
            </a:pPr>
            <a:r>
              <a:rPr/>
              <a:t>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 often each of the 1,200 loans turns up in one bootstrap sample, blue, against the limit e^-1 / k!, gold. The first bar is the out-of-bag share: 0.366 here, 0.368 in the limit. The rest are rows drawn once, twice, three times.</a:t>
            </a:r>
          </a:p>
          <a:p>
            <a:pPr lvl="0" indent="0" marL="0">
              <a:buNone/>
            </a:pPr>
          </a:p>
          <a:p>
            <a:pPr lvl="0" indent="0" marL="0">
              <a:buNone/>
            </a:pPr>
            <a:r>
              <a:rPr/>
              <a:t>Where the gold bars come from, if asked: the number of times one row is drawn counts successes in 1,200 draws, each with probability 1/1,200. As the number of draws grows with the chance kept at one per row, that count follows the Poisson distribution with mean 1, which gives a fraction e^-1 / k! of rows drawn exactly k times: 0.368 never, 0.368 once, 0.184 twice, 0.061 three times.</a:t>
            </a:r>
          </a:p>
          <a:p>
            <a:pPr lvl="0" indent="0" marL="0">
              <a:buNone/>
            </a:pPr>
          </a:p>
          <a:p>
            <a:pPr lvl="0" indent="0" marL="0">
              <a:buNone/>
            </a:pPr>
            <a:r>
              <a:rPr/>
              <a:t>The point to make: about one row in four appears two or more times. Every tree sees a different mix of repeats and absences, and that is where their disagreement - the raw material of bagging - comes from. 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forest here comes four slides before its definition: a random forest is bagging with one extra rule, which slide 34 gives, and scikit-learn computes the OOB score for it with </a:t>
            </a:r>
            <a:r>
              <a:rPr>
                <a:latin typeface="Courier"/>
              </a:rPr>
              <a:t>oob_score=True</a:t>
            </a:r>
            <a:r>
              <a:rPr/>
              <a:t>. For this slide, read it as “300 bagged trees”.</a:t>
            </a:r>
          </a:p>
          <a:p>
            <a:pPr lvl="0" indent="0" marL="0">
              <a:buNone/>
            </a:pPr>
          </a:p>
          <a:p>
            <a:pPr lvl="0" indent="0" marL="0">
              <a:buNone/>
            </a:pPr>
            <a:r>
              <a:rPr/>
              <a:t>The agreement is the point, but be careful how you sell it. On this seed the two numbers match to four decimal places, and that is luck: over twelve seeds the typical gap is 0.0026 and the worst is 0.0075. What is not luck is that they track each other well inside cross-validation’s own ±0.021 spread, because the OOB score works like cross-validation: every row is scored only by models that never saw it. The bookkeeping differs. In 5-fold cross-validation each fold is scored by a whole forest trained without that fold. Out-of-bag, each row is scored by the trees whose bootstrap sample missed it - about a third of the forest, and a different third for each row. There is no single out-of-bag set.</a:t>
            </a:r>
          </a:p>
          <a:p>
            <a:pPr lvl="0" indent="0" marL="0">
              <a:buNone/>
            </a:pPr>
          </a:p>
          <a:p>
            <a:pPr lvl="0" indent="0" marL="0">
              <a:buNone/>
            </a:pPr>
            <a:r>
              <a:rPr/>
              <a:t>Worth pausing on, because it is a habit rather than a fact: </a:t>
            </a:r>
            <a:r>
              <a:rPr b="1"/>
              <a:t>a single coincidence is not evidence of a law.</a:t>
            </a:r>
            <a:r>
              <a:rPr/>
              <a:t> If you catch yourself saying “exactly”, run it again with another seed. They will need that reflex in their own exercises, and it is cheaper to learn it here.</a:t>
            </a:r>
          </a:p>
          <a:p>
            <a:pPr lvl="0" indent="0" marL="0">
              <a:buNone/>
            </a:pPr>
          </a:p>
          <a:p>
            <a:pPr lvl="0" indent="0" marL="0">
              <a:buNone/>
            </a:pPr>
            <a:r>
              <a:rPr/>
              <a:t>Then make the practical consequence explicit: with a bagged ensemble you get a trustworthy estimate of generalisation for free, without setting aside a separate validation set at all - just not one to read to the fourth decimal.</a:t>
            </a:r>
          </a:p>
          <a:p>
            <a:pPr lvl="0" indent="0" marL="0">
              <a:buNone/>
            </a:pPr>
          </a:p>
          <a:p>
            <a:pPr lvl="0" indent="0" marL="0">
              <a:buNone/>
            </a:pPr>
            <a:r>
              <a:rPr/>
              <a:t>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the headline, not the algebra - the covariance expansion behind this is in handout section 5.2, and it does not belong on a slide. Read the formula on the slide in two pieces: the first term, sigma squared over B, shrinks as trees are added; the second, (B - 1)/B times rho sigma squared, grows towards rho sigma squared and stays there. The two consequences are what matter: there is a floor variance cannot fall below, set by how correlated the trees are with each other, and averaging is a variance tool only, powerless against a systematic mistake shared by every tree.</a:t>
            </a:r>
          </a:p>
          <a:p>
            <a:pPr lvl="0" indent="0" marL="0">
              <a:buNone/>
            </a:pPr>
          </a:p>
          <a:p>
            <a:pPr lvl="0" indent="0" marL="0">
              <a:buNone/>
            </a:pPr>
            <a:r>
              <a:rPr/>
              <a:t>That second point is worth a beat: bagging does nothing for a tree that is too shallow to represent the rule in the first place. It cleans up noise, it does not add capability. The bullet is worded with care on purpose. For an average of numbers, averaging leaves the bias exactly where it was. A vote between classifiers is not an average of numbers, and it can change which side of the boundary a point falls on - which is why, two slides on, bagging raises the mean accuracy and not only narrows the spread. What no amount of voting can do is fix a mistake that every tree makes.</a:t>
            </a:r>
          </a:p>
          <a:p>
            <a:pPr lvl="0" indent="0" marL="0">
              <a:buNone/>
            </a:pPr>
          </a:p>
          <a:p>
            <a:pPr lvl="0" indent="0" marL="0">
              <a:buNone/>
            </a:pPr>
            <a:r>
              <a:rPr/>
              <a:t>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previous slide’s formula as curves: the variance of an average of B trees, as a share of one tree’s, for rho = 0, 0.2, 0.5 and 0.8.</a:t>
            </a:r>
          </a:p>
          <a:p>
            <a:pPr lvl="0" indent="0" marL="0">
              <a:buNone/>
            </a:pPr>
          </a:p>
          <a:p>
            <a:pPr lvl="0" indent="0" marL="0">
              <a:buNone/>
            </a:pPr>
            <a:r>
              <a:rPr/>
              <a:t>Only the rho = 0 curve goes to zero. Every other one flattens onto its dotted floor: at rho = 0.5, ten trees keep 0.550 of one tree’s variance and a hundred keep 0.505. Ask the room what the curves say about adding trees past fifty - almost nothing - and what the only remaining lever is: lower rho. That is the random forest, two slides on. 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Across 30 random 70/30 splits of the loan data, both numbers moved in the predicted direction. The mean rose, because bagging also averages out some of a deep tree’s overfitting; the spread fell, which is what the formula of slide 31 leads us to expect. Say precisely what was measured, because it is not the formula’s quantity: the formula is about the variance of one prediction over bootstrap samples, while this table is the spread of test accuracy over 30 different train/test splits, which also carries the luck of which applicants landed in each test set. The measurement is consistent with the formula, not a direct check of it.</a:t>
            </a:r>
          </a:p>
          <a:p>
            <a:pPr lvl="0" indent="0" marL="0">
              <a:buNone/>
            </a:pPr>
          </a:p>
          <a:p>
            <a:pPr lvl="0" indent="0" marL="0">
              <a:buNone/>
            </a:pPr>
            <a:r>
              <a:rPr/>
              <a:t>Ask the room to name which of the two changes matters more for trusting a single deployed model - the tighter spread, because it means the number you report is less likely to be a lucky split.</a:t>
            </a:r>
          </a:p>
          <a:p>
            <a:pPr lvl="0" indent="0" marL="0">
              <a:buNone/>
            </a:pPr>
          </a:p>
          <a:p>
            <a:pPr lvl="0" indent="0" marL="0">
              <a:buNone/>
            </a:pPr>
            <a:r>
              <a:rPr/>
              <a:t>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Connect this directly to the previous slide’s algebra: if the floor is ρσ², the only way to push it lower is to push ρ down, and bootstrap resampling alone only does that partially, because every bagged tree still gets to see the full feature list.</a:t>
            </a:r>
          </a:p>
          <a:p>
            <a:pPr lvl="0" indent="0" marL="0">
              <a:buNone/>
            </a:pPr>
          </a:p>
          <a:p>
            <a:pPr lvl="0" indent="0" marL="0">
              <a:buNone/>
            </a:pPr>
            <a:r>
              <a:rPr/>
              <a:t>The random forest’s one change is a restriction, not an addition: at each split, only a random handful of candidate features is even offered. That forces disagreement between trees at the same point in the tree, purely by denying them the same menu.</a:t>
            </a:r>
          </a:p>
          <a:p>
            <a:pPr lvl="0" indent="0" marL="0">
              <a:buNone/>
            </a:pPr>
          </a:p>
          <a:p>
            <a:pPr lvl="0" indent="0" marL="0">
              <a:buNone/>
            </a:pPr>
            <a:r>
              <a:rPr/>
              <a:t>Handout section 6.</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30 random 70/30 splits as the bagging table, now with the random forest added and drawn rather than tabulated (notebook 2, section 3). Each dot is one split’s test accuracy; the box holds the middle half of the 30, the red line is the median.</a:t>
            </a:r>
          </a:p>
          <a:p>
            <a:pPr lvl="0" indent="0" marL="0">
              <a:buNone/>
            </a:pPr>
          </a:p>
          <a:p>
            <a:pPr lvl="0" indent="0" marL="0">
              <a:buNone/>
            </a:pPr>
            <a:r>
              <a:rPr/>
              <a:t>Read it left to right: the boxes rise and narrow together. In numbers, the means are 0.856, 0.902 and 0.908, and the standard deviations 0.0185, 0.0153 and 0.0137. The random forest beats plain bagging on both counts - a better mean and a tighter spread - consistent with ρ having fallen further, as the restriction on the previous slide predicts. The step from bagging to the forest is much smaller than the step from one tree to bagging: averaging did most of the work, decorrelating added a little more.</a:t>
            </a:r>
          </a:p>
          <a:p>
            <a:pPr lvl="0" indent="0" marL="0">
              <a:buNone/>
            </a:pPr>
          </a:p>
          <a:p>
            <a:pPr lvl="0" indent="0" marL="0">
              <a:buNone/>
            </a:pPr>
            <a:r>
              <a:rPr/>
              <a:t>Say plainly what has and hasn’t changed: nothing about the splitting rule is different from the first hour’s trees. The only change across the three boxes is what surrounds the tree - resampling, then also restricting the feature menu.</a:t>
            </a:r>
          </a:p>
          <a:p>
            <a:pPr lvl="0" indent="0" marL="0">
              <a:buNone/>
            </a:pPr>
          </a:p>
          <a:p>
            <a:pPr lvl="0" indent="0" marL="0">
              <a:buNone/>
            </a:pPr>
            <a:r>
              <a:rPr/>
              <a:t>Handout section 6.</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the definition plainly, then set up the experiment. With just income and debt ratio in the dataset, feature importance is a clean, correct answer - both real features get essentially all the credit, because there is nothing else to compete with them.</a:t>
            </a:r>
          </a:p>
          <a:p>
            <a:pPr lvl="0" indent="0" marL="0">
              <a:buNone/>
            </a:pPr>
          </a:p>
          <a:p>
            <a:pPr lvl="0" indent="0" marL="0">
              <a:buNone/>
            </a:pPr>
            <a:r>
              <a:rPr/>
              <a:t>Ask the room to predict what happens as you add columns of pure noise - </a:t>
            </a:r>
            <a:r>
              <a:rPr>
                <a:latin typeface="Courier"/>
              </a:rPr>
              <a:t>np.random.normal</a:t>
            </a:r>
            <a:r>
              <a:rPr/>
              <a:t>, wired to nothing. Most will predict the noise columns get close to zero importance, because averaging over hundreds of trees should wash out anything with no signal. Do not confirm or deny yet - the next slide is the answer.</a:t>
            </a:r>
          </a:p>
          <a:p>
            <a:pPr lvl="0" indent="0" marL="0">
              <a:buNone/>
            </a:pPr>
          </a:p>
          <a:p>
            <a:pPr lvl="0" indent="0" marL="0">
              <a:buNone/>
            </a:pPr>
            <a:r>
              <a:rPr/>
              <a:t>Handout section 7.</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what is plotted before pointing at it (notebook 2, section 5): a 300-tree random forest on the loan data with 0, 5 and 20 columns of random numbers added. Red, left axis: cross-validated accuracy. Blue, right axis: the share of the forest’s importance that lands on the noise columns.</a:t>
            </a:r>
          </a:p>
          <a:p>
            <a:pPr lvl="0" indent="0" marL="0">
              <a:buNone/>
            </a:pPr>
          </a:p>
          <a:p>
            <a:pPr lvl="0" indent="0" marL="0">
              <a:buNone/>
            </a:pPr>
            <a:r>
              <a:rPr/>
              <a:t>Follow the blue line, slowly, and let the last point sit before explaining anything: 0% with no noise, 33.9% with 5 columns, 54.5% with 20. With 20 pure-noise columns against 2 real features, more than half of the forest’s own importance scores land on columns that are </a:t>
            </a:r>
            <a:r>
              <a:rPr>
                <a:latin typeface="Courier"/>
              </a:rPr>
              <a:t>np.random.normal</a:t>
            </a:r>
            <a:r>
              <a:rPr/>
              <a:t> noise by construction. The red line falls at the same time, from 0.912 to 0.837, but gently: nothing in the accuracy warns that the importances have gone wrong.</a:t>
            </a:r>
          </a:p>
          <a:p>
            <a:pPr lvl="0" indent="0" marL="0">
              <a:buNone/>
            </a:pPr>
          </a:p>
          <a:p>
            <a:pPr lvl="0" indent="0" marL="0">
              <a:buNone/>
            </a:pPr>
            <a:r>
              <a:rPr/>
              <a:t>Name the instinct this breaks, and defend it before moving on: expecting an average over hundreds of trees to wash out noise is entirely reasonable - the variance-reduction result of the averaging slides is real and measured, and it does point the same way. It reduces the variance of the </a:t>
            </a:r>
            <a:r>
              <a:rPr i="1"/>
              <a:t>prediction</a:t>
            </a:r>
            <a:r>
              <a:rPr/>
              <a:t>. It does not guarantee small importance for irrelevant columns. Two things hand credit to noise, and slide 54 takes them apart: the random, incomplete menu at each split, and the deep splits on small groups, where some noise column always lowers the impurity a little by chance.</a:t>
            </a:r>
          </a:p>
          <a:p>
            <a:pPr lvl="0" indent="0" marL="0">
              <a:buNone/>
            </a:pPr>
          </a:p>
          <a:p>
            <a:pPr lvl="0" indent="0" marL="0">
              <a:buNone/>
            </a:pPr>
            <a:r>
              <a:rPr/>
              <a:t>The mechanism is in handout section 7. The practical consequence to leave them with: treat a random forest’s importances as suggestive, not definitive, when real features are few against many candidate columns - and check them, which is the next slide.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the method and say its recipe before pointing at the figure. </a:t>
            </a:r>
            <a:r>
              <a:rPr b="1"/>
              <a:t>Permutation importance</a:t>
            </a:r>
            <a:r>
              <a:rPr/>
              <a:t>: take a fitted model and data it was not trained on; shuffle the values of one column, so that column no longer says anything about the applicant in its row; score the model again. The accuracy lost is that column’s importance. Repeat for every column. If the model never really used a column, shuffling it costs nothing.</a:t>
            </a:r>
          </a:p>
          <a:p>
            <a:pPr lvl="0" indent="0" marL="0">
              <a:buNone/>
            </a:pPr>
          </a:p>
          <a:p>
            <a:pPr lvl="0" indent="0" marL="0">
              <a:buNone/>
            </a:pPr>
            <a:r>
              <a:rPr/>
              <a:t>The figure is the 20-noise-column forest, trained on 70% of the applicants and checked on the other 30% (notebook 2, section 6). Left, the importance the forest reports for itself: more than half of it on the twenty noise columns. Right, the same 22 columns by permutation: debt ratio costs 0.18 of accuracy when shuffled, income 0.09, and every noise column costs almost nothing - between 0.003 lost and 0.002 gained.</a:t>
            </a:r>
          </a:p>
          <a:p>
            <a:pPr lvl="0" indent="0" marL="0">
              <a:buNone/>
            </a:pPr>
          </a:p>
          <a:p>
            <a:pPr lvl="0" indent="0" marL="0">
              <a:buNone/>
            </a:pPr>
            <a:r>
              <a:rPr/>
              <a:t>Two things to stress. Almost nothing, not exactly nothing: shuffling is random and the test set is finite, so a useless column moves the score by a few thousandths either way. And held-out data is what makes the check honest: on the training rows a deep forest has memorised its noise columns, and shuffling them would cost something there.</a:t>
            </a:r>
          </a:p>
          <a:p>
            <a:pPr lvl="0" indent="0" marL="0">
              <a:buNone/>
            </a:pPr>
          </a:p>
          <a:p>
            <a:pPr lvl="0" indent="0" marL="0">
              <a:buNone/>
            </a:pPr>
            <a:r>
              <a:rPr/>
              <a:t>The check costs one function call. The lesson to leave: a ranking the model reports about itself is a claim; shuffling on held-out data is the test of it. Handout section 7.1.</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table is the notebook’s map: bagging from scratch and against scikit-learn, the out-of-bag score checked against cross-validation, the variance measured over 30 splits, the noise-column experiment, and the permutation check of the previous slide. Section 4 of the notebook is reading only, which is why the table skips it.</a:t>
            </a:r>
          </a:p>
          <a:p>
            <a:pPr lvl="0" indent="0" marL="0">
              <a:buNone/>
            </a:pPr>
          </a:p>
          <a:p>
            <a:pPr lvl="0" indent="0" marL="0">
              <a:buNone/>
            </a:pPr>
            <a:r>
              <a:rPr/>
              <a:t>Run Notebooks/02_bagging_and_random_forests.ipynb. Eighteen minutes.</a:t>
            </a:r>
          </a:p>
          <a:p>
            <a:pPr lvl="0" indent="0" marL="0">
              <a:buNone/>
            </a:pPr>
          </a:p>
          <a:p>
            <a:pPr lvl="0" indent="0" marL="0">
              <a:buNone/>
            </a:pPr>
            <a:r>
              <a:rPr/>
              <a:t>The cell to protect is the noise-column sweep. Let them add the columns themselves and watch the importance share climb - reading the number off a slide does not land the same way as watching it happen.</a:t>
            </a:r>
          </a:p>
          <a:p>
            <a:pPr lvl="0" indent="0" marL="0">
              <a:buNone/>
            </a:pPr>
          </a:p>
          <a:p>
            <a:pPr lvl="0" indent="0" marL="0">
              <a:buNone/>
            </a:pPr>
            <a:r>
              <a:rPr/>
              <a:t>If time allows, section 6 also tries </a:t>
            </a:r>
            <a:r>
              <a:rPr>
                <a:latin typeface="Courier"/>
              </a:rPr>
              <a:t>max_features=None</a:t>
            </a:r>
            <a:r>
              <a:rPr/>
              <a:t> instead of the default </a:t>
            </a:r>
            <a:r>
              <a:rPr>
                <a:latin typeface="Courier"/>
              </a:rPr>
              <a:t>"sqrt"</a:t>
            </a:r>
            <a:r>
              <a:rPr/>
              <a:t>: every split sees all 22 columns. Ask them to predict the noise share before running it. Most will say it falls to about zero, since the real features are now always on offer. It falls only to 28%, and the accuracy rises from 0.837 to 0.897. Slide 54 explains both.</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Contrast the two strategies directly, because the difference is the whole segment. Bagging and random forests are parallel: every tree is grown once, independently, and combined only at prediction time. Boosting is sequential: tree t exists specifically because of what trees 1 through t-1 still got wrong.</a:t>
            </a:r>
          </a:p>
          <a:p>
            <a:pPr lvl="0" indent="0" marL="0">
              <a:buNone/>
            </a:pPr>
          </a:p>
          <a:p>
            <a:pPr lvl="0" indent="0" marL="0">
              <a:buNone/>
            </a:pPr>
            <a:r>
              <a:rPr/>
              <a:t>Slow down on “regression tree”, because it is new. “Shallow” means depth 2 or 3 here. Everything so far this lesson was a classification tree: leaves vote, splits are scored by Gini. A boosted tree is fit to corrections, which are numbers like +0.613 or -0.387, not classes, so it is the regression version of the same algorithm: the same greedy search over features and thresholds, but each leaf predicts the average correction of the examples in it, and a split is scored by how much it lowers the squared error around those averages. Even </a:t>
            </a:r>
            <a:r>
              <a:rPr>
                <a:latin typeface="Courier"/>
              </a:rPr>
              <a:t>GradientBoostingClassifier</a:t>
            </a:r>
            <a:r>
              <a:rPr/>
              <a:t> grows regression trees inside.</a:t>
            </a:r>
          </a:p>
          <a:p>
            <a:pPr lvl="0" indent="0" marL="0">
              <a:buNone/>
            </a:pPr>
          </a:p>
          <a:p>
            <a:pPr lvl="0" indent="0" marL="0">
              <a:buNone/>
            </a:pPr>
            <a:r>
              <a:rPr/>
              <a:t>A predictable slip, worth naming now: “the final task is classification, so each boosted tree votes default or repaid, like a tree in a forest”. It is reasonable - every ensemble so far was made of trees that vote. But a boosted tree never outputs a class. It outputs a correction that is added to a running score, and only the final score is turned into a class.</a:t>
            </a:r>
          </a:p>
          <a:p>
            <a:pPr lvl="0" indent="0" marL="0">
              <a:buNone/>
            </a:pPr>
          </a:p>
          <a:p>
            <a:pPr lvl="0" indent="0" marL="0">
              <a:buNone/>
            </a:pPr>
            <a:r>
              <a:rPr/>
              <a:t>Name α carefully and tie it to the course’s shared notation - this is the same symbol as lesson 3’s gradient descent learning rate, doing an analogous job: how large a step each correction takes.</a:t>
            </a:r>
          </a:p>
          <a:p>
            <a:pPr lvl="0" indent="0" marL="0">
              <a:buNone/>
            </a:pPr>
          </a:p>
          <a:p>
            <a:pPr lvl="0" indent="0" marL="0">
              <a:buNone/>
            </a:pPr>
            <a:r>
              <a:rPr/>
              <a:t>Handout section 8.</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F₀ is the flat starting guess: the best single constant for the loss being used. For squared error, as on this slide and the next three, that is the mean of the target; for classification it will be the log-odds of the base rate (slide 45). Each subsequent Fₜ is the previous ensemble plus a scaled correction from the newest tree, hₜ. Read it left to right: start flat, then keep adding small, scaled corrections.</a:t>
            </a:r>
          </a:p>
          <a:p>
            <a:pPr lvl="0" indent="0" marL="0">
              <a:buNone/>
            </a:pPr>
          </a:p>
          <a:p>
            <a:pPr lvl="0" indent="0" marL="0">
              <a:buNone/>
            </a:pPr>
            <a:r>
              <a:rPr/>
              <a:t>Do not derive anything further here - the next slide states what hₜ is actually fit to. Handout section 8.</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 code line is the whole from-scratch loop of notebook 3, section 1: fit a depth-2 regression tree to the residuals, add 0.3 times its predictions to the running prediction, repeat sixty times.</a:t>
            </a:r>
          </a:p>
          <a:p>
            <a:pPr lvl="0" indent="0" marL="0">
              <a:buNone/>
            </a:pPr>
          </a:p>
          <a:p>
            <a:pPr lvl="0" indent="0" marL="0">
              <a:buNone/>
            </a:pPr>
            <a:r>
              <a:rPr/>
              <a:t>State the result without the calculus. For plain squared-error regression, what a new tree corrects is literally the residual - the gap between the truth and the ensemble’s current prediction. That is intuitive on its own and does not need a derivative to justify.</a:t>
            </a:r>
          </a:p>
          <a:p>
            <a:pPr lvl="0" indent="0" marL="0">
              <a:buNone/>
            </a:pPr>
          </a:p>
          <a:p>
            <a:pPr lvl="0" indent="0" marL="0">
              <a:buNone/>
            </a:pPr>
            <a:r>
              <a:rPr/>
              <a:t>The second bullet is the generalisation that pays off in the very next segment: the same recipe - fit a tree to the negative gradient of whatever loss you’re using - covers classification too, once the loss changes from squared error to something else. The one line of algebra connecting the two is on the slide; handout section 8 sets it out.</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new toy dataset, so say what it is before anything else: 200 points on one input x, whose true value is a three-level step function plus a gentle sine wave (the black line), observed with noise (the grey dots). Sixty depth-2 trees, learning rate 0.3, are fit to it. Walk through the coloured curves in order.</a:t>
            </a:r>
          </a:p>
          <a:p>
            <a:pPr lvl="0" indent="0" marL="0">
              <a:buNone/>
            </a:pPr>
          </a:p>
          <a:p>
            <a:pPr lvl="0" indent="0" marL="0">
              <a:buNone/>
            </a:pPr>
            <a:r>
              <a:rPr/>
              <a:t>Say the numbers as you point: one tree barely moves the flat starting guess. Five trees sketch the coarse shape. Twenty trace the step function closely - the ensemble’s best point, on the next slide. By sixty, the ensemble is tracking individual noisy observations as well as the underlying shape.</a:t>
            </a:r>
          </a:p>
          <a:p>
            <a:pPr lvl="0" indent="0" marL="0">
              <a:buNone/>
            </a:pPr>
          </a:p>
          <a:p>
            <a:pPr lvl="0" indent="0" marL="0">
              <a:buNone/>
            </a:pPr>
            <a:r>
              <a:rPr/>
              <a:t>Handout section 8.</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Put a number on each curve of the previous slide. Twenty trees is the sweet spot; by sixty the error against the true, noise-free function has risen again, even though the ensemble is still adding trees that reduce error on the </a:t>
            </a:r>
            <a:r>
              <a:rPr i="1"/>
              <a:t>training</a:t>
            </a:r>
            <a:r>
              <a:rPr/>
              <a:t> residuals.</a:t>
            </a:r>
          </a:p>
          <a:p>
            <a:pPr lvl="0" indent="0" marL="0">
              <a:buNone/>
            </a:pPr>
          </a:p>
          <a:p>
            <a:pPr lvl="0" indent="0" marL="0">
              <a:buNone/>
            </a:pPr>
            <a:r>
              <a:rPr/>
              <a:t>Name what this is: the same overfitting story as the unconstrained single tree of the depth table, reached by a completely different route - not one tree grown too deep, but too many shallow trees each chasing whatever residual noise is left.</a:t>
            </a:r>
          </a:p>
          <a:p>
            <a:pPr lvl="0" indent="0" marL="0">
              <a:buNone/>
            </a:pPr>
          </a:p>
          <a:p>
            <a:pPr lvl="0" indent="0" marL="0">
              <a:buNone/>
            </a:pPr>
            <a:r>
              <a:rPr/>
              <a:t>Handout section 8.</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the result, not the chain rule behind it - the handout carries the full derivative. What matters for this course is the connection: boosting for classification fits a sequence of small trees to y - p, one correction at a time, rather than adjusting a fixed set of linear coefficients against the same quantity in one continuous descent.</a:t>
            </a:r>
          </a:p>
          <a:p>
            <a:pPr lvl="0" indent="0" marL="0">
              <a:buNone/>
            </a:pPr>
          </a:p>
          <a:p>
            <a:pPr lvl="0" indent="0" marL="0">
              <a:buNone/>
            </a:pPr>
            <a:r>
              <a:rPr/>
              <a:t>Ask the room to name what’s genuinely different between this and lesson 4’s logistic regression, given they’re descending against the same quantity. The answer: lesson 4 moves a fixed number of coefficients; boosting adds entirely new trees, so the model’s structure itself grows with training rather than staying fixed.</a:t>
            </a:r>
          </a:p>
          <a:p>
            <a:pPr lvl="0" indent="0" marL="0">
              <a:buNone/>
            </a:pPr>
          </a:p>
          <a:p>
            <a:pPr lvl="0" indent="0" marL="0">
              <a:buNone/>
            </a:pPr>
            <a:r>
              <a:rPr/>
              <a:t>The sigma here is lesson 4’s logistic function, 1 / (1 + e^-F), not the sigma squared of the variance slides: the slide says so, say it aloud once too, since the same letter has just meant something else.</a:t>
            </a:r>
          </a:p>
          <a:p>
            <a:pPr lvl="0" indent="0" marL="0">
              <a:buNone/>
            </a:pPr>
          </a:p>
          <a:p>
            <a:pPr lvl="0" indent="0" marL="0">
              <a:buNone/>
            </a:pPr>
            <a:r>
              <a:rPr/>
              <a:t>Give them the first step in numbers, because it makes y - p concrete. The ensemble starts at the base rate’s log-odds: 464 of the 1,200 defaulted, so F0 = log(464 / 736) = -0.461, which the logistic function turns back into 0.387 for everyone. The first tree is fit to y - p: +0.613 for every applicant who defaulted, -0.387 for every one who repaid.</a:t>
            </a:r>
          </a:p>
          <a:p>
            <a:pPr lvl="0" indent="0" marL="0">
              <a:buNone/>
            </a:pPr>
          </a:p>
          <a:p>
            <a:pPr lvl="0" indent="0" marL="0">
              <a:buNone/>
            </a:pPr>
            <a:r>
              <a:rPr/>
              <a:t>A predictable slip: “so the update is p plus alpha times (y - p)”. It is reasonable, because y - p is a difference of probabilities. But the trees correct the score F, not p: F moves by alpha times the tree’s output, and only then does the logistic function turn the new F into a new p. That is what keeps p between 0 and 1 however large the corrections add up.</a:t>
            </a:r>
          </a:p>
          <a:p>
            <a:pPr lvl="0" indent="0" marL="0">
              <a:buNone/>
            </a:pPr>
          </a:p>
          <a:p>
            <a:pPr lvl="0" indent="0" marL="0">
              <a:buNone/>
            </a:pPr>
            <a:r>
              <a:rPr/>
              <a:t>One detail, if someone has read scikit-learn’s source. The tree’s splits are chosen on y - p exactly as described. The number written in each leaf is then recomputed: the sum of y - p over the leaf divided by the sum of p(1 - p), one Newton step on the log-loss rather than the plain mean. The splits come from the residuals; the size of each step takes the curvature of the loss into account. Handout section 9 has it in one sentence; nothing in the lesson depends on it.</a:t>
            </a:r>
          </a:p>
          <a:p>
            <a:pPr lvl="0" indent="0" marL="0">
              <a:buNone/>
            </a:pPr>
          </a:p>
          <a:p>
            <a:pPr lvl="0" indent="0" marL="0">
              <a:buNone/>
            </a:pPr>
            <a:r>
              <a:rPr/>
              <a:t>Handout section 9.</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 number and let it sit against everything shown so far this lesson: 0.902, from a method run at scikit-learn’s defaults, no tuning at all. Ask the room to recall the single tuned tree’s number from the depth table, 0.882 at depth 8, and note that boosting has already passed it without being told anything about depth.</a:t>
            </a:r>
          </a:p>
          <a:p>
            <a:pPr lvl="0" indent="0" marL="0">
              <a:buNone/>
            </a:pPr>
          </a:p>
          <a:p>
            <a:pPr lvl="0" indent="0" marL="0">
              <a:buNone/>
            </a:pPr>
            <a:r>
              <a:rPr/>
              <a:t>The rest of this segment is what happens when boosting is </a:t>
            </a:r>
            <a:r>
              <a:rPr i="1"/>
              <a:t>not</a:t>
            </a:r>
            <a:r>
              <a:rPr/>
              <a:t> left at sensible defaults.</a:t>
            </a:r>
          </a:p>
          <a:p>
            <a:pPr lvl="0" indent="0" marL="0">
              <a:buNone/>
            </a:pPr>
          </a:p>
          <a:p>
            <a:pPr lvl="0" indent="0" marL="0">
              <a:buNone/>
            </a:pPr>
            <a:r>
              <a:rPr/>
              <a:t>Handout section 9.</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Unlike bagging, boosting keeps reducing its training loss for as long as it runs, because every new tree is built specifically to reduce what remains - including the 7% of labels that are noise by construction. There is nothing in the algorithm itself that says “stop”. Be exact about which quantity: the log-loss on the training data never goes up, while training accuracy only follows it on the whole - fit to all 1,200 applicants with 800 trees, it dips at a handful of individual steps, too small to show in this table (handout section 10).</a:t>
            </a:r>
          </a:p>
          <a:p>
            <a:pPr lvl="0" indent="0" marL="0">
              <a:buNone/>
            </a:pPr>
          </a:p>
          <a:p>
            <a:pPr lvl="0" indent="0" marL="0">
              <a:buNone/>
            </a:pPr>
            <a:r>
              <a:rPr/>
              <a:t>Point at the peak, 30 trees, and then at 800: training accuracy reached 1.000 by 200 trees and stayed there, and cross-validated accuracy has drifted down from 0.897 to 0.890, under a point, since the peak. Contrast the size of that drop with the unconstrained single tree of the depth table, which lost three points past its own peak - boosting’s overfitting is real but gentler.</a:t>
            </a:r>
          </a:p>
          <a:p>
            <a:pPr lvl="0" indent="0" marL="0">
              <a:buNone/>
            </a:pPr>
          </a:p>
          <a:p>
            <a:pPr lvl="0" indent="0" marL="0">
              <a:buNone/>
            </a:pPr>
            <a:r>
              <a:rPr/>
              <a:t>Handout section 10.</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curves again, the same shape of story as the depth curve earlier this lesson but reached by adding trees instead of depth. Training reaches 1.000 by around 200 trees and sits there. Cross-validated accuracy climbs quickly, peaks near 30 trees, and drifts down over the following 770.</a:t>
            </a:r>
          </a:p>
          <a:p>
            <a:pPr lvl="0" indent="0" marL="0">
              <a:buNone/>
            </a:pPr>
          </a:p>
          <a:p>
            <a:pPr lvl="0" indent="0" marL="0">
              <a:buNone/>
            </a:pPr>
            <a:r>
              <a:rPr/>
              <a:t>The point worth making explicit: the damage per added tree here is small and easy to miss on a single run - which is why the number of trees has to be chosen on held-out data, never left to run, even though the overfit is gentler than a single unconstrained tree’s. There are two ways to choose it. This lesson cross-validated a list of tree counts and kept the best, 30. The other is early stopping, which the deck has not shown, so say what it is: set aside part of the training data, watch the score on it as trees are added, and stop once it has not improved for a number of rounds. In scikit-learn that is the </a:t>
            </a:r>
            <a:r>
              <a:rPr>
                <a:latin typeface="Courier"/>
              </a:rPr>
              <a:t>n_iter_no_change</a:t>
            </a:r>
            <a:r>
              <a:rPr/>
              <a:t> argument of </a:t>
            </a:r>
            <a:r>
              <a:rPr>
                <a:latin typeface="Courier"/>
              </a:rPr>
              <a:t>GradientBoostingClassifier</a:t>
            </a:r>
            <a:r>
              <a:rPr/>
              <a:t>.</a:t>
            </a:r>
          </a:p>
          <a:p>
            <a:pPr lvl="0" indent="0" marL="0">
              <a:buNone/>
            </a:pPr>
          </a:p>
          <a:p>
            <a:pPr lvl="0" indent="0" marL="0">
              <a:buNone/>
            </a:pPr>
            <a:r>
              <a:rPr/>
              <a:t>Handout section 10.</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Learning rate and tree count are not independent - both control how much total correction the ensemble applies, so they trade off against each other. At α = 0.02, 120 trees haven’t finished fitting the signal: training accuracy is still under 0.89. At α = 1.00, the ensemble has memorised the training set completely and given back more than two points of cross-validated accuracy for it, 0.902 down to 0.878.</a:t>
            </a:r>
          </a:p>
          <a:p>
            <a:pPr lvl="0" indent="0" marL="0">
              <a:buNone/>
            </a:pPr>
          </a:p>
          <a:p>
            <a:pPr lvl="0" indent="0" marL="0">
              <a:buNone/>
            </a:pPr>
            <a:r>
              <a:rPr/>
              <a:t>The best setting sits in between - large enough to make real progress within the tree budget, small enough that any one correction is easy to outvote if it turns out to be wrong. Ask the room which direction they’d guess is “more regularised” before revealing that it’s the </a:t>
            </a:r>
            <a:r>
              <a:rPr i="1"/>
              <a:t>small</a:t>
            </a:r>
            <a:r>
              <a:rPr/>
              <a:t> α side, the same kind of inverted-direction trap lesson 6’s C was.</a:t>
            </a:r>
          </a:p>
          <a:p>
            <a:pPr lvl="0" indent="0" marL="0">
              <a:buNone/>
            </a:pPr>
          </a:p>
          <a:p>
            <a:pPr lvl="0" indent="0" marL="0">
              <a:buNone/>
            </a:pPr>
            <a:r>
              <a:rPr/>
              <a:t>A predictable slip: “only alpha times the number of trees matters, so half the learning rate with twice the trees gives the same model”. It is reasonable - the notes above just said both knobs set the total correction. But they are not interchangeable: each tree is fit to what the ensemble before it still gets wrong, so many small steps follow a different path from a few large ones. A large step overshoots on the noisy labels and the next trees spend themselves undoing it; a small step lets later trees outvote an early mistake. The trade-off is real, the equivalence is not.</a:t>
            </a:r>
          </a:p>
          <a:p>
            <a:pPr lvl="0" indent="0" marL="0">
              <a:buNone/>
            </a:pPr>
          </a:p>
          <a:p>
            <a:pPr lvl="0" indent="0" marL="0">
              <a:buNone/>
            </a:pPr>
            <a:r>
              <a:rPr/>
              <a:t>Handout section 10.</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table is the notebook’s map: boosting from scratch on the residuals, then scikit-learn’s classifier, the tree-count and learning-rate sweeps, and the leaderboard of the next slide.</a:t>
            </a:r>
          </a:p>
          <a:p>
            <a:pPr lvl="0" indent="0" marL="0">
              <a:buNone/>
            </a:pPr>
          </a:p>
          <a:p>
            <a:pPr lvl="0" indent="0" marL="0">
              <a:buNone/>
            </a:pPr>
            <a:r>
              <a:rPr/>
              <a:t>Run Notebooks/03_gradient_boosting.ipynb. Eighteen minutes.</a:t>
            </a:r>
          </a:p>
          <a:p>
            <a:pPr lvl="0" indent="0" marL="0">
              <a:buNone/>
            </a:pPr>
          </a:p>
          <a:p>
            <a:pPr lvl="0" indent="0" marL="0">
              <a:buNone/>
            </a:pPr>
            <a:r>
              <a:rPr/>
              <a:t>The cell to protect is the residual sweep at 1, 5, 20 and 60 trees - seeing the ensemble’s fit against the true function rise and then fall again, in real time, is the most direct experience of boosting’s overfitting available in this course.</a:t>
            </a:r>
          </a:p>
          <a:p>
            <a:pPr lvl="0" indent="0" marL="0">
              <a:buNone/>
            </a:pPr>
          </a:p>
          <a:p>
            <a:pPr lvl="0" indent="0" marL="0">
              <a:buNone/>
            </a:pPr>
            <a:r>
              <a:rPr/>
              <a:t>If time is short, skip the learning-rate sweep live and set it as reading - the table is in handout section 10.</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from this lesson, cross-validated the same way. Read down the column and let the pattern speak before naming it: every ensemble method - bagging, the random forest, gradient boosting - lands within about a point and a half of the others, and all three sit closer to the ceiling than either single tree.</a:t>
            </a:r>
          </a:p>
          <a:p>
            <a:pPr lvl="0" indent="0" marL="0">
              <a:buNone/>
            </a:pPr>
          </a:p>
          <a:p>
            <a:pPr lvl="0" indent="0" marL="0">
              <a:buNone/>
            </a:pPr>
            <a:r>
              <a:rPr/>
              <a:t>The ceiling itself: 1 minus the 7% of labels deliberately flipped. No method reaches it, and none should - a model that classified the flipped labels “correctly” would be modelling the noise, not the rule.</a:t>
            </a:r>
          </a:p>
          <a:p>
            <a:pPr lvl="0" indent="0" marL="0">
              <a:buNone/>
            </a:pPr>
          </a:p>
          <a:p>
            <a:pPr lvl="0" indent="0" marL="0">
              <a:buNone/>
            </a:pPr>
            <a:r>
              <a:rPr/>
              <a:t>One honest caveat, in lesson 5’s terms. The depth of 8 and the 30 boosted trees were picked because they scored best on these same five folds, so those two rows are slightly optimistic; nested cross-validation would remove that. Bagging and the random forest ran at their defaults, chose nothing, and are not affected - and they are still on top.</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three findings as a set - together they are this lesson’s real content, more than any single accuracy number.</a:t>
            </a:r>
          </a:p>
          <a:p>
            <a:pPr lvl="0" indent="0" marL="0">
              <a:buNone/>
            </a:pPr>
          </a:p>
          <a:p>
            <a:pPr lvl="0" indent="0" marL="0">
              <a:buNone/>
            </a:pPr>
            <a:r>
              <a:rPr/>
              <a:t>The third finding is the one to land hardest, because it repeats a pattern they have now seen with several different methods: flexibility without a stopping rule is not an advantage. Ask the room to name the earlier occurrences before you do - the degree-12 polynomial in lesson 3, k = 1 in lesson 6, and, earlier today, the boosted ensemble that kept adding trees past its peak.</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table to photograph, exactly as lesson 6 closed with one. Work down it and attach today’s evidence to each row rather than leaving it as generic advice: the nine-leaf tree for the first row, the leaderboard for the second, the tree-count and learning-rate tables for the third, the noise experiment for the fourth, the out-of-bag slide for the fifth.</a:t>
            </a:r>
          </a:p>
          <a:p>
            <a:pPr lvl="0" indent="0" marL="0">
              <a:buNone/>
            </a:pPr>
          </a:p>
          <a:p>
            <a:pPr lvl="0" indent="0" marL="0">
              <a:buNone/>
            </a:pPr>
            <a:r>
              <a:rPr/>
              <a:t>The fourth row is worth a sentence of its own, tying back to the noise experiment: with two real features among 22 columns and 1,200 rows, more than half the importance already landed on noise. Many rows do not protect against it; what matters is how many useless columns compete at each split. Permutation importance, the check, was slide 38; the next slide comes back to it.</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number to carry out of the room. Say it once more, slowly: with twenty pure-noise columns against two real features, more than half of a random forest’s importance mass sat on columns wired to nothing.</a:t>
            </a:r>
          </a:p>
          <a:p>
            <a:pPr lvl="0" indent="0" marL="0">
              <a:buNone/>
            </a:pPr>
          </a:p>
          <a:p>
            <a:pPr lvl="0" indent="0" marL="0">
              <a:buNone/>
            </a:pPr>
            <a:r>
              <a:rPr/>
              <a:t>Ask them to write it down - derivations fade, this kind of number tends not to. Every lesson so far has left one of these - lesson 1’s 77% accuracy on coin-flip labels, lesson 3’s coefficient of 365 where an unpenalised fit wanted billions - and this is lesson 7’s.</a:t>
            </a:r>
          </a:p>
          <a:p>
            <a:pPr lvl="0" indent="0" marL="0">
              <a:buNone/>
            </a:pPr>
          </a:p>
          <a:p>
            <a:pPr lvl="0" indent="0" marL="0">
              <a:buNone/>
            </a:pPr>
            <a:r>
              <a:rPr/>
              <a:t>The second and third bullets are the mechanism, and there are two causes, not one. Take them in order.</a:t>
            </a:r>
          </a:p>
          <a:p>
            <a:pPr lvl="0" indent="0" marL="0">
              <a:buNone/>
            </a:pPr>
          </a:p>
          <a:p>
            <a:pPr lvl="0" indent="0" marL="0">
              <a:buNone/>
            </a:pPr>
            <a:r>
              <a:rPr/>
              <a:t>The menu. The square root of 22, rounded down, is 4, so each split chooses among 4 random columns. The chance that all 4 come from the 20 noise columns is 4,845 / 7,315 = 0.662: two splits in three offer no real feature. At those splits the tree still has to pick something, and it picks the noise column that happens to separate the classes best.</a:t>
            </a:r>
          </a:p>
          <a:p>
            <a:pPr lvl="0" indent="0" marL="0">
              <a:buNone/>
            </a:pPr>
          </a:p>
          <a:p>
            <a:pPr lvl="0" indent="0" marL="0">
              <a:buNone/>
            </a:pPr>
            <a:r>
              <a:rPr/>
              <a:t>Small groups. The menu is not the whole story, and notebook 2 shows it: with </a:t>
            </a:r>
            <a:r>
              <a:rPr>
                <a:latin typeface="Courier"/>
              </a:rPr>
              <a:t>max_features=None</a:t>
            </a:r>
            <a:r>
              <a:rPr/>
              <a:t>, every split offered all 22 columns, the noise share falls from 54.5% to 28%, not to zero. Deep in a tree a node holds a handful of applicants, and among twenty columns of random numbers one will almost always separate a handful of applicants a little better than income or debt can, purely by chance. Every such split credits noise.</a:t>
            </a:r>
          </a:p>
          <a:p>
            <a:pPr lvl="0" indent="0" marL="0">
              <a:buNone/>
            </a:pPr>
          </a:p>
          <a:p>
            <a:pPr lvl="0" indent="0" marL="0">
              <a:buNone/>
            </a:pPr>
            <a:r>
              <a:rPr/>
              <a:t>Most will predict the noise share falls to zero with the full menu, and the reasoning is sound as far as it goes - a real feature is now always there to be chosen near the root. It is the bottom of the trees that it misses. The same run raised the accuracy from 0.837 to 0.897: with 20 useless columns out of 22, the random menu costs more accuracy than decorrelating the trees buys back. The default is a good default, not a law.</a:t>
            </a:r>
          </a:p>
          <a:p>
            <a:pPr lvl="0" indent="0" marL="0">
              <a:buNone/>
            </a:pPr>
          </a:p>
          <a:p>
            <a:pPr lvl="0" indent="0" marL="0">
              <a:buNone/>
            </a:pPr>
            <a:r>
              <a:rPr/>
              <a:t>The last bullet sends them back to the check of slide 38: shuffling a column on held-out data costs the two real features 0.09 and 0.18 of accuracy, and each noise column almost nothing.</a:t>
            </a:r>
          </a:p>
          <a:p>
            <a:pPr lvl="0" indent="0" marL="0">
              <a:buNone/>
            </a:pPr>
          </a:p>
          <a:p>
            <a:pPr lvl="0" indent="0" marL="0">
              <a:buNone/>
            </a:pPr>
            <a:r>
              <a:rPr/>
              <a:t>Handout section 7 has the full mechanism.</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on the same shape as lesson 6’s summary: a handful of numbers that carry the lesson’s argument without needing the mathematics behind them re-derived.</a:t>
            </a:r>
          </a:p>
          <a:p>
            <a:pPr lvl="0" indent="0" marL="0">
              <a:buNone/>
            </a:pPr>
          </a:p>
          <a:p>
            <a:pPr lvl="0" indent="0" marL="0">
              <a:buNone/>
            </a:pPr>
            <a:r>
              <a:rPr/>
              <a:t>If they remember one habit from today, make it this: before trusting a random forest’s importance ranking, ask how many of the columns could plausibly matter at all - many useless columns are what hand credit to noise, and the accuracy score gives no warning - and then check the ranking by shuffling on held-out data, as slide 38 did.</a:t>
            </a:r>
          </a:p>
          <a:p>
            <a:pPr lvl="0" indent="0" marL="0">
              <a:buNone/>
            </a:pPr>
          </a:p>
          <a:p>
            <a:pPr lvl="0" indent="0" marL="0">
              <a:buNone/>
            </a:pPr>
            <a:r>
              <a:rPr/>
              <a:t>Next lesson turns from labelled data to unlabelled data. Every model so far learned from examples whose answer was known: a price, a class, a default. Lesson 8 asks what structure there is in data when nobody has given the answer at all.</a:t>
            </a:r>
          </a:p>
          <a:p>
            <a:pPr lvl="0" indent="0" marL="0">
              <a:buNone/>
            </a:pPr>
          </a:p>
          <a:p>
            <a:pPr lvl="0" indent="0" marL="0">
              <a:buNone/>
            </a:pPr>
            <a:r>
              <a:rPr/>
              <a:t>Handout summary and notation table.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out loud when it comes back: the first ten minutes of lesson 8, Friday 20 November.</a:t>
            </a:r>
          </a:p>
          <a:p>
            <a:pPr lvl="0" indent="0" marL="0">
              <a:buNone/>
            </a:pPr>
          </a:p>
          <a:p>
            <a:pPr lvl="0" indent="0" marL="0">
              <a:buNone/>
            </a:pPr>
            <a:r>
              <a:rPr/>
              <a:t>Remind them of the standing rule from lesson 5: every reported number needs a cross-validated spread, and any feature-importance claim needs the check this lesson just demonstrated - a random forest’s importance ranking is a claim to be verified, not a fact to be quoted.</a:t>
            </a:r>
          </a:p>
          <a:p>
            <a:pPr lvl="0" indent="0" marL="0">
              <a:buNone/>
            </a:pPr>
          </a:p>
          <a:p>
            <a:pPr lvl="0" indent="0" marL="0">
              <a:buNone/>
            </a:pPr>
            <a:r>
              <a:rPr/>
              <a:t>Next week: unsupervised learning, the first lesson in which the data comes with no labels at all.</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7: Trees and Ensembles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13 November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Agenda</a:t>
            </a:r>
          </a:p>
        </p:txBody>
      </p:sp>
      <p:sp>
        <p:nvSpPr>
          <p:cNvPr id="3" name="Content Placeholder 2"/>
          <p:cNvSpPr>
            <a:spLocks noGrp="1"/>
          </p:cNvSpPr>
          <p:nvPr>
            <p:ph idx="1"/>
          </p:nvPr>
        </p:nvSpPr>
        <p:spPr>
          <a:xfrm>
            <a:off x="457200" y="1200151"/>
            <a:ext cx="8229600" cy="3394472"/>
          </a:xfrm>
        </p:spPr>
        <p:txBody>
          <a:bodyPr/>
          <a:lstStyle/>
          <a:p>
            <a:pPr lvl="0"/>
            <a:r>
              <a:rPr/>
              <a:t>A fourth family, built on a threshold</a:t>
            </a:r>
          </a:p>
          <a:p>
            <a:pPr lvl="0"/>
            <a:r>
              <a:rPr/>
              <a:t>Decision trees, and why one alone is mediocre</a:t>
            </a:r>
          </a:p>
          <a:p>
            <a:pPr lvl="0"/>
            <a:r>
              <a:rPr/>
              <a:t>Depth as the bias-variance dial, again</a:t>
            </a:r>
          </a:p>
          <a:p>
            <a:pPr lvl="0"/>
            <a:r>
              <a:rPr/>
              <a:t>Bagging and random forests</a:t>
            </a:r>
          </a:p>
          <a:p>
            <a:pPr lvl="0"/>
            <a:r>
              <a:rPr/>
              <a:t>Feature importance, and its limits</a:t>
            </a:r>
          </a:p>
          <a:p>
            <a:pPr lvl="0"/>
            <a:r>
              <a:rPr/>
              <a:t>Gradient boosting</a:t>
            </a:r>
          </a:p>
          <a:p>
            <a:pPr lvl="0"/>
            <a:r>
              <a:rPr/>
              <a:t>Choosing among trees, forests and boosting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Exercise 6, before we start</a:t>
            </a:r>
          </a:p>
        </p:txBody>
      </p:sp>
      <p:sp>
        <p:nvSpPr>
          <p:cNvPr id="3" name="Content Placeholder 2"/>
          <p:cNvSpPr>
            <a:spLocks noGrp="1"/>
          </p:cNvSpPr>
          <p:nvPr>
            <p:ph idx="1"/>
          </p:nvPr>
        </p:nvSpPr>
        <p:spPr>
          <a:xfrm>
            <a:off x="457200" y="1200151"/>
            <a:ext cx="8229600" cy="3394472"/>
          </a:xfrm>
        </p:spPr>
        <p:txBody>
          <a:bodyPr/>
          <a:lstStyle/>
          <a:p>
            <a:pPr lvl="0"/>
            <a:r>
              <a:rPr/>
              <a:t>What counts is the </a:t>
            </a:r>
            <a:r>
              <a:rPr b="1"/>
              <a:t>defence of which family</a:t>
            </a:r>
            <a:r>
              <a:rPr/>
              <a:t>, not the winning score</a:t>
            </a:r>
          </a:p>
          <a:p>
            <a:pPr lvl="0"/>
            <a:r>
              <a:rPr/>
              <a:t>The gap to watch for: a strong accuracy number with no check of </a:t>
            </a:r>
            <a:r>
              <a:rPr i="1"/>
              <a:t>why</a:t>
            </a:r>
            <a:r>
              <a:rPr/>
              <a:t> the assumption behind it held</a:t>
            </a:r>
          </a:p>
          <a:p>
            <a:pPr lvl="0"/>
            <a:r>
              <a:rPr/>
              <a:t>Today’s models come with the same obligation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1,200 loan applicants, two figures each</a:t>
            </a:r>
          </a:p>
        </p:txBody>
      </p:sp>
      <p:sp>
        <p:nvSpPr>
          <p:cNvPr id="3" name="Content Placeholder 2"/>
          <p:cNvSpPr>
            <a:spLocks noGrp="1"/>
          </p:cNvSpPr>
          <p:nvPr>
            <p:ph idx="1"/>
          </p:nvPr>
        </p:nvSpPr>
        <p:spPr>
          <a:xfrm>
            <a:off x="457200" y="1200151"/>
            <a:ext cx="8229600" cy="3394472"/>
          </a:xfrm>
        </p:spPr>
        <p:txBody>
          <a:bodyPr/>
          <a:lstStyle/>
          <a:p>
            <a:pPr lvl="0"/>
            <a:r>
              <a:rPr/>
              <a:t>Income in thousands of euros a year, and debt-to-income ratio</a:t>
            </a:r>
          </a:p>
          <a:p>
            <a:pPr lvl="0"/>
            <a:r>
              <a:rPr/>
              <a:t>Underwriting is a </a:t>
            </a:r>
            <a:r>
              <a:rPr b="1"/>
              <a:t>checklist</a:t>
            </a:r>
            <a:r>
              <a:rPr/>
              <a:t>: an income floor, a debt ceiling, and two “stressed” combinations, each figure ordinary alone but risky together</a:t>
            </a:r>
          </a:p>
          <a:p>
            <a:pPr lvl="0"/>
            <a:r>
              <a:rPr b="1"/>
              <a:t>7%</a:t>
            </a:r>
            <a:r>
              <a:rPr/>
              <a:t> of labels flipped: no honest model beats about </a:t>
            </a:r>
            <a:r>
              <a:rPr b="1"/>
              <a:t>0.93</a:t>
            </a:r>
            <a:r>
              <a:rPr/>
              <a:t>, the </a:t>
            </a:r>
            <a:r>
              <a:rPr b="1"/>
              <a:t>noise ceiling</a:t>
            </a:r>
          </a:p>
          <a:p>
            <a:pPr lvl="0"/>
            <a:r>
              <a:rPr b="1"/>
              <a:t>38.7%</a:t>
            </a:r>
            <a:r>
              <a:rPr/>
              <a:t> defaulted, so the majority baseline is </a:t>
            </a:r>
            <a:r>
              <a:rPr b="1"/>
              <a:t>0.613</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Four disconnected risky regions</a:t>
            </a:r>
          </a:p>
        </p:txBody>
      </p:sp>
      <p:pic>
        <p:nvPicPr>
          <p:cNvPr descr="loan_scatter.png" id="0" name="Picture 1"/>
          <p:cNvPicPr>
            <a:picLocks noGrp="1" noChangeAspect="1"/>
          </p:cNvPicPr>
          <p:nvPr/>
        </p:nvPicPr>
        <p:blipFill>
          <a:blip r:embed="rId3"/>
          <a:stretch>
            <a:fillRect/>
          </a:stretch>
        </p:blipFill>
        <p:spPr bwMode="auto">
          <a:xfrm>
            <a:off x="2445144" y="1166099"/>
            <a:ext cx="4253712" cy="3360181"/>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 straight line separates them</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Model</a:t>
                      </a:r>
                    </a:p>
                  </a:txBody>
                  <a:tcPr/>
                </a:tc>
                <a:tc>
                  <a:txBody>
                    <a:bodyPr/>
                    <a:lstStyle/>
                    <a:p>
                      <a:pPr lvl="0" indent="0" marL="0">
                        <a:buNone/>
                      </a:pPr>
                      <a:r>
                        <a:rPr/>
                        <a:t>Cross-validated accuracy</a:t>
                      </a:r>
                    </a:p>
                  </a:txBody>
                  <a:tcPr/>
                </a:tc>
              </a:tr>
              <a:tr h="0">
                <a:tc>
                  <a:txBody>
                    <a:bodyPr/>
                    <a:lstStyle/>
                    <a:p>
                      <a:pPr lvl="0" indent="0" marL="0">
                        <a:buNone/>
                      </a:pPr>
                      <a:r>
                        <a:rPr/>
                        <a:t>Always predict the majority class</a:t>
                      </a:r>
                    </a:p>
                  </a:txBody>
                </a:tc>
                <a:tc>
                  <a:txBody>
                    <a:bodyPr/>
                    <a:lstStyle/>
                    <a:p>
                      <a:pPr lvl="0" indent="0" marL="0">
                        <a:buNone/>
                      </a:pPr>
                      <a:r>
                        <a:rPr/>
                        <a:t>0.613</a:t>
                      </a:r>
                    </a:p>
                  </a:txBody>
                </a:tc>
              </a:tr>
              <a:tr h="0">
                <a:tc>
                  <a:txBody>
                    <a:bodyPr/>
                    <a:lstStyle/>
                    <a:p>
                      <a:pPr lvl="0" indent="0" marL="0">
                        <a:buNone/>
                      </a:pPr>
                      <a:r>
                        <a:rPr/>
                        <a:t>Logistic regression</a:t>
                      </a:r>
                    </a:p>
                  </a:txBody>
                </a:tc>
                <a:tc>
                  <a:txBody>
                    <a:bodyPr/>
                    <a:lstStyle/>
                    <a:p>
                      <a:pPr lvl="0" indent="0" marL="0">
                        <a:buNone/>
                      </a:pPr>
                      <a:r>
                        <a:rPr b="1"/>
                        <a:t>0.748 ± 0.030</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whole algorithm, in one sentence</a:t>
            </a:r>
          </a:p>
        </p:txBody>
      </p:sp>
      <p:sp>
        <p:nvSpPr>
          <p:cNvPr id="3" name="Content Placeholder 2"/>
          <p:cNvSpPr>
            <a:spLocks noGrp="1"/>
          </p:cNvSpPr>
          <p:nvPr>
            <p:ph idx="1"/>
          </p:nvPr>
        </p:nvSpPr>
        <p:spPr>
          <a:xfrm>
            <a:off x="457200" y="1200151"/>
            <a:ext cx="8229600" cy="3394472"/>
          </a:xfrm>
        </p:spPr>
        <p:txBody>
          <a:bodyPr/>
          <a:lstStyle/>
          <a:p>
            <a:pPr lvl="0"/>
            <a:r>
              <a:rPr/>
              <a:t>Find the (feature, threshold) split that makes the two groups </a:t>
            </a:r>
            <a:r>
              <a:rPr b="1"/>
              <a:t>as pure as possible</a:t>
            </a:r>
          </a:p>
          <a:p>
            <a:pPr lvl="0"/>
            <a:r>
              <a:rPr/>
              <a:t>Apply it; repeat on each group, independently</a:t>
            </a:r>
          </a:p>
          <a:p>
            <a:pPr lvl="0"/>
            <a:r>
              <a:rPr/>
              <a:t>Stop at a depth limit, a pure group, or too few examples to split</a:t>
            </a:r>
          </a:p>
          <a:p>
            <a:pPr lvl="0"/>
            <a:r>
              <a:rPr/>
              <a:t>No coefficients and no gradient: each threshold is chosen by </a:t>
            </a:r>
            <a:r>
              <a:rPr b="1"/>
              <a:t>searching</a:t>
            </a:r>
            <a:r>
              <a:rPr/>
              <a:t> the data</a:t>
            </a:r>
          </a:p>
          <a:p>
            <a:pPr lvl="0"/>
            <a:r>
              <a:rPr b="1"/>
              <a:t>Greedy</a:t>
            </a:r>
            <a:r>
              <a:rPr/>
              <a:t>: whichever split helps most </a:t>
            </a:r>
            <a:r>
              <a:rPr i="1"/>
              <a:t>right now</a:t>
            </a:r>
            <a:r>
              <a:rPr/>
              <a:t>, with no lookahead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algorithm, drawn</a:t>
            </a:r>
          </a:p>
        </p:txBody>
      </p:sp>
      <p:pic>
        <p:nvPicPr>
          <p:cNvPr descr="tree_growth.png" id="0" name="Picture 1"/>
          <p:cNvPicPr>
            <a:picLocks noGrp="1" noChangeAspect="1"/>
          </p:cNvPicPr>
          <p:nvPr/>
        </p:nvPicPr>
        <p:blipFill>
          <a:blip r:embed="rId3"/>
          <a:stretch>
            <a:fillRect/>
          </a:stretch>
        </p:blipFill>
        <p:spPr bwMode="auto">
          <a:xfrm>
            <a:off x="1073385" y="1166099"/>
            <a:ext cx="6997230" cy="3360181"/>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pure is a group of examples?</a:t>
            </a:r>
          </a:p>
        </p:txBody>
      </p:sp>
      <p:sp>
        <p:nvSpPr>
          <p:cNvPr id="3" name="Content Placeholder 2"/>
          <p:cNvSpPr>
            <a:spLocks noGrp="1"/>
          </p:cNvSpPr>
          <p:nvPr>
            <p:ph idx="1"/>
          </p:nvPr>
        </p:nvSpPr>
        <p:spPr>
          <a:xfrm>
            <a:off x="457200" y="1200151"/>
            <a:ext cx="8229600" cy="3394472"/>
          </a:xfrm>
        </p:spPr>
        <p:txBody>
          <a:bodyPr/>
          <a:lstStyle/>
          <a:p>
            <a:pPr lvl="0"/>
            <a:r>
              <a:rPr/>
              <a:t>A leaf that is all one class needs no more questions</a:t>
            </a:r>
          </a:p>
          <a:p>
            <a:pPr lvl="0"/>
            <a:r>
              <a:rPr/>
              <a:t>A leaf split evenly between classes is the worst case: a coin flip</a:t>
            </a:r>
          </a:p>
          <a:p>
            <a:pPr lvl="0"/>
            <a:r>
              <a:rPr b="1"/>
              <a:t>Impurity</a:t>
            </a:r>
            <a:r>
              <a:rPr/>
              <a:t> is a number that captures this: 0 for a pure group, highest for an even mix. “As pure as possible” then means “with the lowest impurity”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Gini impurity</a:t>
            </a:r>
          </a:p>
        </p:txBody>
      </p:sp>
      <p:pic>
        <p:nvPicPr>
          <p:cNvPr descr="eq_f823b12014.png" id="0" name="Picture 1"/>
          <p:cNvPicPr>
            <a:picLocks noGrp="1" noChangeAspect="1"/>
          </p:cNvPicPr>
          <p:nvPr/>
        </p:nvPicPr>
        <p:blipFill>
          <a:blip r:embed="rId3"/>
          <a:stretch>
            <a:fillRect/>
          </a:stretch>
        </p:blipFill>
        <p:spPr bwMode="auto">
          <a:xfrm>
            <a:off x="2162991" y="1815411"/>
            <a:ext cx="4818018" cy="2061556"/>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For two classes, one number</a:t>
            </a:r>
          </a:p>
        </p:txBody>
      </p:sp>
      <p:sp>
        <p:nvSpPr>
          <p:cNvPr id="3" name="Content Placeholder 2"/>
          <p:cNvSpPr>
            <a:spLocks noGrp="1"/>
          </p:cNvSpPr>
          <p:nvPr>
            <p:ph idx="1"/>
          </p:nvPr>
        </p:nvSpPr>
        <p:spPr>
          <a:xfrm>
            <a:off x="457200" y="1200151"/>
            <a:ext cx="8229600" cy="3394472"/>
          </a:xfrm>
        </p:spPr>
        <p:txBody>
          <a:bodyPr/>
          <a:lstStyle/>
          <a:p>
            <a:pPr lvl="0"/>
            <a:r>
              <a:rPr/>
              <a:t>G = 2p(1-p), where p is the fraction of one class</a:t>
            </a:r>
          </a:p>
          <a:p>
            <a:pPr lvl="0"/>
            <a:r>
              <a:rPr b="1"/>
              <a:t>0</a:t>
            </a:r>
            <a:r>
              <a:rPr/>
              <a:t> when the group is pure (p = 0 or p = 1)</a:t>
            </a:r>
          </a:p>
          <a:p>
            <a:pPr lvl="0"/>
            <a:r>
              <a:rPr b="1"/>
              <a:t>0.5</a:t>
            </a:r>
            <a:r>
              <a:rPr/>
              <a:t>, the maximum, at p = 0.5</a:t>
            </a:r>
          </a:p>
          <a:p>
            <a:pPr lvl="0"/>
            <a:r>
              <a:rPr/>
              <a:t>On the full 1,200 applicants, p = 0.387 gives G = 0.474</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gain a split buys</a:t>
            </a:r>
          </a:p>
        </p:txBody>
      </p:sp>
      <p:sp>
        <p:nvSpPr>
          <p:cNvPr id="3" name="Content Placeholder 2"/>
          <p:cNvSpPr>
            <a:spLocks noGrp="1"/>
          </p:cNvSpPr>
          <p:nvPr>
            <p:ph idx="1"/>
          </p:nvPr>
        </p:nvSpPr>
        <p:spPr>
          <a:xfrm>
            <a:off x="457200" y="1200151"/>
            <a:ext cx="8229600" cy="3394472"/>
          </a:xfrm>
        </p:spPr>
        <p:txBody>
          <a:bodyPr/>
          <a:lstStyle/>
          <a:p>
            <a:pPr lvl="0"/>
            <a:r>
              <a:rPr/>
              <a:t>A candidate split divides a parent group P into a left child L and a right child R; </a:t>
            </a:r>
            <a:r>
              <a:rPr i="1"/>
              <a:t>m</a:t>
            </a:r>
            <a:r>
              <a:rPr/>
              <a:t> counts the examples in each</a:t>
            </a:r>
          </a:p>
          <a:p>
            <a:pPr lvl="0"/>
            <a:r>
              <a:rPr/>
              <a:t>Worth taking if the children are, </a:t>
            </a:r>
            <a:r>
              <a:rPr b="1"/>
              <a:t>on average, purer</a:t>
            </a:r>
            <a:r>
              <a:rPr/>
              <a:t> than the parent</a:t>
            </a:r>
          </a:p>
          <a:p>
            <a:pPr lvl="0"/>
            <a:r>
              <a:rPr/>
              <a:t>The average is </a:t>
            </a:r>
            <a:r>
              <a:rPr b="1"/>
              <a:t>weighted by size</a:t>
            </a:r>
            <a:r>
              <a:rPr/>
              <a:t>: one example cut off alone would halve a plain average, and barely moves a weighted one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reduction in impurity</a:t>
            </a:r>
          </a:p>
        </p:txBody>
      </p:sp>
      <p:pic>
        <p:nvPicPr>
          <p:cNvPr descr="eq_e6f67b5356.png" id="0" name="Picture 1"/>
          <p:cNvPicPr>
            <a:picLocks noGrp="1" noChangeAspect="1"/>
          </p:cNvPicPr>
          <p:nvPr/>
        </p:nvPicPr>
        <p:blipFill>
          <a:blip r:embed="rId3"/>
          <a:stretch>
            <a:fillRect/>
          </a:stretch>
        </p:blipFill>
        <p:spPr bwMode="auto">
          <a:xfrm>
            <a:off x="457204" y="2363590"/>
            <a:ext cx="8229591" cy="965199"/>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Scanning for the best split</a:t>
            </a:r>
          </a:p>
        </p:txBody>
      </p:sp>
      <p:sp>
        <p:nvSpPr>
          <p:cNvPr id="3" name="Content Placeholder 2"/>
          <p:cNvSpPr>
            <a:spLocks noGrp="1"/>
          </p:cNvSpPr>
          <p:nvPr>
            <p:ph idx="1"/>
          </p:nvPr>
        </p:nvSpPr>
        <p:spPr>
          <a:xfrm>
            <a:off x="457200" y="1200151"/>
            <a:ext cx="8229600" cy="3394472"/>
          </a:xfrm>
        </p:spPr>
        <p:txBody>
          <a:bodyPr/>
          <a:lstStyle/>
          <a:p>
            <a:pPr lvl="0"/>
            <a:r>
              <a:rPr/>
              <a:t>For a continuous feature, scan </a:t>
            </a:r>
            <a:r>
              <a:rPr b="1"/>
              <a:t>every midpoint</a:t>
            </a:r>
            <a:r>
              <a:rPr/>
              <a:t> between adjacent sorted values as a candidate threshold</a:t>
            </a:r>
          </a:p>
          <a:p>
            <a:pPr lvl="0"/>
            <a:r>
              <a:rPr/>
              <a:t>Do this for </a:t>
            </a:r>
            <a:r>
              <a:rPr b="1"/>
              <a:t>every feature</a:t>
            </a:r>
            <a:r>
              <a:rPr/>
              <a:t>; keep the best pair</a:t>
            </a:r>
          </a:p>
          <a:p>
            <a:pPr lvl="0"/>
            <a:r>
              <a:rPr/>
              <a:t>Repeat the search inside each child</a:t>
            </a:r>
          </a:p>
          <a:p>
            <a:pPr lvl="0"/>
            <a:r>
              <a:rPr b="1"/>
              <a:t>Greedy</a:t>
            </a:r>
            <a:r>
              <a:rPr/>
              <a:t>: ΔG is judged one split at a time, never jointly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Worked example: the root split</a:t>
            </a:r>
          </a:p>
        </p:txBody>
      </p:sp>
      <p:sp>
        <p:nvSpPr>
          <p:cNvPr id="3" name="Content Placeholder 2"/>
          <p:cNvSpPr>
            <a:spLocks noGrp="1"/>
          </p:cNvSpPr>
          <p:nvPr>
            <p:ph idx="1"/>
          </p:nvPr>
        </p:nvSpPr>
        <p:spPr>
          <a:xfrm>
            <a:off x="457200" y="1200151"/>
            <a:ext cx="8229600" cy="3394472"/>
          </a:xfrm>
        </p:spPr>
        <p:txBody>
          <a:bodyPr/>
          <a:lstStyle/>
          <a:p>
            <a:pPr lvl="0"/>
            <a:r>
              <a:rPr/>
              <a:t>p = 0.387 defaulted, so the parent group’s impurity is </a:t>
            </a:r>
            <a:r>
              <a:rPr b="1"/>
              <a:t>0.474</a:t>
            </a:r>
          </a:p>
          <a:p>
            <a:pPr lvl="0"/>
            <a:r>
              <a:rPr/>
              <a:t>Exhaustive search finds </a:t>
            </a:r>
            <a:r>
              <a:rPr>
                <a:latin typeface="Courier"/>
              </a:rPr>
              <a:t>debt_ratio &lt;= 0.82</a:t>
            </a:r>
            <a:r>
              <a:rPr/>
              <a:t>: the </a:t>
            </a:r>
            <a:r>
              <a:rPr b="1"/>
              <a:t>debt ceiling</a:t>
            </a:r>
            <a:r>
              <a:rPr/>
              <a:t> the data was built with</a:t>
            </a:r>
          </a:p>
          <a:p>
            <a:pPr lvl="0"/>
            <a:r>
              <a:rPr/>
              <a:t>971 applicants left (0.256 defaulted, impurity 0.381), 229 right (0.939, impurity 0.115)</a:t>
            </a:r>
          </a:p>
          <a:p>
            <a:pPr lvl="0"/>
            <a:r>
              <a:rPr/>
              <a:t>Weighted by size, the children average 0.3305 against the parent’s 0.4743: gain </a:t>
            </a:r>
            <a:r>
              <a:rPr b="1"/>
              <a:t>0.144</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root split, on the Gini curve</a:t>
            </a:r>
          </a:p>
        </p:txBody>
      </p:sp>
      <p:pic>
        <p:nvPicPr>
          <p:cNvPr descr="gini_root_split.png" id="0" name="Picture 1"/>
          <p:cNvPicPr>
            <a:picLocks noGrp="1" noChangeAspect="1"/>
          </p:cNvPicPr>
          <p:nvPr/>
        </p:nvPicPr>
        <p:blipFill>
          <a:blip r:embed="rId3"/>
          <a:stretch>
            <a:fillRect/>
          </a:stretch>
        </p:blipFill>
        <p:spPr bwMode="auto">
          <a:xfrm>
            <a:off x="1834774" y="1166099"/>
            <a:ext cx="5474452" cy="3360181"/>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Checked against scikit-learn</a:t>
            </a:r>
          </a:p>
        </p:txBody>
      </p:sp>
      <p:sp>
        <p:nvSpPr>
          <p:cNvPr id="3" name="Content Placeholder 2"/>
          <p:cNvSpPr>
            <a:spLocks noGrp="1"/>
          </p:cNvSpPr>
          <p:nvPr>
            <p:ph idx="1"/>
          </p:nvPr>
        </p:nvSpPr>
        <p:spPr>
          <a:xfrm>
            <a:off x="457200" y="1200151"/>
            <a:ext cx="8229600" cy="3394472"/>
          </a:xfrm>
        </p:spPr>
        <p:txBody>
          <a:bodyPr/>
          <a:lstStyle/>
          <a:p>
            <a:pPr lvl="0"/>
            <a:r>
              <a:rPr/>
              <a:t>The from-scratch implementation and scikit-learn’s </a:t>
            </a:r>
            <a:r>
              <a:rPr>
                <a:latin typeface="Courier"/>
              </a:rPr>
              <a:t>DecisionTreeClassifier</a:t>
            </a:r>
            <a:r>
              <a:rPr/>
              <a:t> make </a:t>
            </a:r>
            <a:r>
              <a:rPr b="1"/>
              <a:t>the same prediction for all 1,200 applicants</a:t>
            </a:r>
            <a:r>
              <a:rPr/>
              <a:t>, at every depth tested</a:t>
            </a:r>
          </a:p>
          <a:p>
            <a:pPr lvl="0"/>
            <a:r>
              <a:rPr/>
              <a:t>Not a coincidence: both search the same space by the same greedy rule</a:t>
            </a:r>
          </a:p>
          <a:p>
            <a:pPr lvl="0"/>
            <a:r>
              <a:rPr/>
              <a:t>From here on, the notebooks use scikit-learn’s implementation: the same algorithm, compiled, not a different one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greedy misses</a:t>
            </a:r>
          </a:p>
        </p:txBody>
      </p:sp>
      <p:sp>
        <p:nvSpPr>
          <p:cNvPr id="3" name="Content Placeholder 2"/>
          <p:cNvSpPr>
            <a:spLocks noGrp="1"/>
          </p:cNvSpPr>
          <p:nvPr>
            <p:ph idx="1"/>
          </p:nvPr>
        </p:nvSpPr>
        <p:spPr>
          <a:xfrm>
            <a:off x="457200" y="1200151"/>
            <a:ext cx="8229600" cy="3394472"/>
          </a:xfrm>
        </p:spPr>
        <p:txBody>
          <a:bodyPr/>
          <a:lstStyle/>
          <a:p>
            <a:pPr lvl="0"/>
            <a:r>
              <a:rPr/>
              <a:t>The search never asks “which pair of splits helps most together”: only “which single split helps most right now”</a:t>
            </a:r>
          </a:p>
          <a:p>
            <a:pPr lvl="0"/>
            <a:r>
              <a:rPr/>
              <a:t>A feature that only pays off </a:t>
            </a:r>
            <a:r>
              <a:rPr b="1"/>
              <a:t>in combination</a:t>
            </a:r>
            <a:r>
              <a:rPr/>
              <a:t> with a later split can be invisible to a shallow tree</a:t>
            </a:r>
          </a:p>
          <a:p>
            <a:pPr lvl="0"/>
            <a:r>
              <a:rPr/>
              <a:t>Exactly what happens to this dataset’s two interior “stressed” islands, covered next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Depth is the bias-variance dial</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max_depth</a:t>
            </a:r>
            <a:r>
              <a:rPr/>
              <a:t>: the most questions </a:t>
            </a:r>
            <a:r>
              <a:rPr b="1"/>
              <a:t>one applicant</a:t>
            </a:r>
            <a:r>
              <a:rPr/>
              <a:t> answers</a:t>
            </a:r>
          </a:p>
          <a:p>
            <a:pPr lvl="0"/>
            <a:r>
              <a:rPr b="1"/>
              <a:t>Shallow tree</a:t>
            </a:r>
            <a:r>
              <a:rPr/>
              <a:t>: few questions, only the coarsest structure. High bias, low variance</a:t>
            </a:r>
          </a:p>
          <a:p>
            <a:pPr lvl="0"/>
            <a:r>
              <a:rPr b="1"/>
              <a:t>Deep tree</a:t>
            </a:r>
            <a:r>
              <a:rPr/>
              <a:t>: enough questions to isolate single points. Training accuracy </a:t>
            </a:r>
            <a:r>
              <a:rPr b="1"/>
              <a:t>exactly 1.000</a:t>
            </a:r>
            <a:r>
              <a:rPr/>
              <a:t>, even on data with no structure, unless two examples share every feature value but not the label</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Measured, at seven depths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latin typeface="Courier"/>
                        </a:rPr>
                        <a:t>max_depth</a:t>
                      </a:r>
                    </a:p>
                  </a:txBody>
                  <a:tcPr/>
                </a:tc>
                <a:tc>
                  <a:txBody>
                    <a:bodyPr/>
                    <a:lstStyle/>
                    <a:p>
                      <a:pPr lvl="0" indent="0" marL="0">
                        <a:buNone/>
                      </a:pPr>
                      <a:r>
                        <a:rPr/>
                        <a:t>Training accuracy</a:t>
                      </a:r>
                    </a:p>
                  </a:txBody>
                  <a:tcPr/>
                </a:tc>
                <a:tc>
                  <a:txBody>
                    <a:bodyPr/>
                    <a:lstStyle/>
                    <a:p>
                      <a:pPr lvl="0" indent="0" marL="0">
                        <a:buNone/>
                      </a:pPr>
                      <a:r>
                        <a:rPr/>
                        <a:t>Cross-validated accuracy</a:t>
                      </a:r>
                    </a:p>
                  </a:txBody>
                  <a:tcPr/>
                </a:tc>
              </a:tr>
              <a:tr h="0">
                <a:tc>
                  <a:txBody>
                    <a:bodyPr/>
                    <a:lstStyle/>
                    <a:p>
                      <a:pPr lvl="0" indent="0" marL="0">
                        <a:buNone/>
                      </a:pPr>
                      <a:r>
                        <a:rPr/>
                        <a:t>2</a:t>
                      </a:r>
                    </a:p>
                  </a:txBody>
                </a:tc>
                <a:tc>
                  <a:txBody>
                    <a:bodyPr/>
                    <a:lstStyle/>
                    <a:p>
                      <a:pPr lvl="0" indent="0" marL="0">
                        <a:buNone/>
                      </a:pPr>
                      <a:r>
                        <a:rPr/>
                        <a:t>0.840</a:t>
                      </a:r>
                    </a:p>
                  </a:txBody>
                </a:tc>
                <a:tc>
                  <a:txBody>
                    <a:bodyPr/>
                    <a:lstStyle/>
                    <a:p>
                      <a:pPr lvl="0" indent="0" marL="0">
                        <a:buNone/>
                      </a:pPr>
                      <a:r>
                        <a:rPr/>
                        <a:t>0.836 ± 0.024</a:t>
                      </a:r>
                    </a:p>
                  </a:txBody>
                </a:tc>
              </a:tr>
              <a:tr h="0">
                <a:tc>
                  <a:txBody>
                    <a:bodyPr/>
                    <a:lstStyle/>
                    <a:p>
                      <a:pPr lvl="0" indent="0" marL="0">
                        <a:buNone/>
                      </a:pPr>
                      <a:r>
                        <a:rPr/>
                        <a:t>4</a:t>
                      </a:r>
                    </a:p>
                  </a:txBody>
                </a:tc>
                <a:tc>
                  <a:txBody>
                    <a:bodyPr/>
                    <a:lstStyle/>
                    <a:p>
                      <a:pPr lvl="0" indent="0" marL="0">
                        <a:buNone/>
                      </a:pPr>
                      <a:r>
                        <a:rPr/>
                        <a:t>0.843</a:t>
                      </a:r>
                    </a:p>
                  </a:txBody>
                </a:tc>
                <a:tc>
                  <a:txBody>
                    <a:bodyPr/>
                    <a:lstStyle/>
                    <a:p>
                      <a:pPr lvl="0" indent="0" marL="0">
                        <a:buNone/>
                      </a:pPr>
                      <a:r>
                        <a:rPr/>
                        <a:t>0.827 ± 0.025</a:t>
                      </a:r>
                    </a:p>
                  </a:txBody>
                </a:tc>
              </a:tr>
              <a:tr h="0">
                <a:tc>
                  <a:txBody>
                    <a:bodyPr/>
                    <a:lstStyle/>
                    <a:p>
                      <a:pPr lvl="0" indent="0" marL="0">
                        <a:buNone/>
                      </a:pPr>
                      <a:r>
                        <a:rPr/>
                        <a:t>6</a:t>
                      </a:r>
                    </a:p>
                  </a:txBody>
                </a:tc>
                <a:tc>
                  <a:txBody>
                    <a:bodyPr/>
                    <a:lstStyle/>
                    <a:p>
                      <a:pPr lvl="0" indent="0" marL="0">
                        <a:buNone/>
                      </a:pPr>
                      <a:r>
                        <a:rPr/>
                        <a:t>0.898</a:t>
                      </a:r>
                    </a:p>
                  </a:txBody>
                </a:tc>
                <a:tc>
                  <a:txBody>
                    <a:bodyPr/>
                    <a:lstStyle/>
                    <a:p>
                      <a:pPr lvl="0" indent="0" marL="0">
                        <a:buNone/>
                      </a:pPr>
                      <a:r>
                        <a:rPr/>
                        <a:t>0.866 ± 0.016</a:t>
                      </a:r>
                    </a:p>
                  </a:txBody>
                </a:tc>
              </a:tr>
              <a:tr h="0">
                <a:tc>
                  <a:txBody>
                    <a:bodyPr/>
                    <a:lstStyle/>
                    <a:p>
                      <a:pPr lvl="0" indent="0" marL="0">
                        <a:buNone/>
                      </a:pPr>
                      <a:r>
                        <a:rPr b="1"/>
                        <a:t>8</a:t>
                      </a:r>
                    </a:p>
                  </a:txBody>
                </a:tc>
                <a:tc>
                  <a:txBody>
                    <a:bodyPr/>
                    <a:lstStyle/>
                    <a:p>
                      <a:pPr lvl="0" indent="0" marL="0">
                        <a:buNone/>
                      </a:pPr>
                      <a:r>
                        <a:rPr/>
                        <a:t>0.951</a:t>
                      </a:r>
                    </a:p>
                  </a:txBody>
                </a:tc>
                <a:tc>
                  <a:txBody>
                    <a:bodyPr/>
                    <a:lstStyle/>
                    <a:p>
                      <a:pPr lvl="0" indent="0" marL="0">
                        <a:buNone/>
                      </a:pPr>
                      <a:r>
                        <a:rPr b="1"/>
                        <a:t>0.882 ± 0.010</a:t>
                      </a:r>
                    </a:p>
                  </a:txBody>
                </a:tc>
              </a:tr>
              <a:tr h="0">
                <a:tc>
                  <a:txBody>
                    <a:bodyPr/>
                    <a:lstStyle/>
                    <a:p>
                      <a:pPr lvl="0" indent="0" marL="0">
                        <a:buNone/>
                      </a:pPr>
                      <a:r>
                        <a:rPr/>
                        <a:t>12</a:t>
                      </a:r>
                    </a:p>
                  </a:txBody>
                </a:tc>
                <a:tc>
                  <a:txBody>
                    <a:bodyPr/>
                    <a:lstStyle/>
                    <a:p>
                      <a:pPr lvl="0" indent="0" marL="0">
                        <a:buNone/>
                      </a:pPr>
                      <a:r>
                        <a:rPr/>
                        <a:t>0.986</a:t>
                      </a:r>
                    </a:p>
                  </a:txBody>
                </a:tc>
                <a:tc>
                  <a:txBody>
                    <a:bodyPr/>
                    <a:lstStyle/>
                    <a:p>
                      <a:pPr lvl="0" indent="0" marL="0">
                        <a:buNone/>
                      </a:pPr>
                      <a:r>
                        <a:rPr/>
                        <a:t>0.862 ± 0.018</a:t>
                      </a:r>
                    </a:p>
                  </a:txBody>
                </a:tc>
              </a:tr>
              <a:tr h="0">
                <a:tc>
                  <a:txBody>
                    <a:bodyPr/>
                    <a:lstStyle/>
                    <a:p>
                      <a:pPr lvl="0" indent="0" marL="0">
                        <a:buNone/>
                      </a:pPr>
                      <a:r>
                        <a:rPr/>
                        <a:t>16</a:t>
                      </a:r>
                    </a:p>
                  </a:txBody>
                </a:tc>
                <a:tc>
                  <a:txBody>
                    <a:bodyPr/>
                    <a:lstStyle/>
                    <a:p>
                      <a:pPr lvl="0" indent="0" marL="0">
                        <a:buNone/>
                      </a:pPr>
                      <a:r>
                        <a:rPr/>
                        <a:t>0.993</a:t>
                      </a:r>
                    </a:p>
                  </a:txBody>
                </a:tc>
                <a:tc>
                  <a:txBody>
                    <a:bodyPr/>
                    <a:lstStyle/>
                    <a:p>
                      <a:pPr lvl="0" indent="0" marL="0">
                        <a:buNone/>
                      </a:pPr>
                      <a:r>
                        <a:rPr/>
                        <a:t>0.852 ± 0.021</a:t>
                      </a:r>
                    </a:p>
                  </a:txBody>
                </a:tc>
              </a:tr>
              <a:tr h="0">
                <a:tc>
                  <a:txBody>
                    <a:bodyPr/>
                    <a:lstStyle/>
                    <a:p>
                      <a:pPr lvl="0" indent="0" marL="0">
                        <a:buNone/>
                      </a:pPr>
                      <a:r>
                        <a:rPr/>
                        <a:t>unconstrained</a:t>
                      </a:r>
                    </a:p>
                  </a:txBody>
                </a:tc>
                <a:tc>
                  <a:txBody>
                    <a:bodyPr/>
                    <a:lstStyle/>
                    <a:p>
                      <a:pPr lvl="0" indent="0" marL="0">
                        <a:buNone/>
                      </a:pPr>
                      <a:r>
                        <a:rPr b="1"/>
                        <a:t>1.000</a:t>
                      </a:r>
                    </a:p>
                  </a:txBody>
                </a:tc>
                <a:tc>
                  <a:txBody>
                    <a:bodyPr/>
                    <a:lstStyle/>
                    <a:p>
                      <a:pPr lvl="0" indent="0" marL="0">
                        <a:buNone/>
                      </a:pPr>
                      <a:r>
                        <a:rPr/>
                        <a:t>0.852 ± 0.021</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curve bends downward</a:t>
            </a:r>
          </a:p>
        </p:txBody>
      </p:sp>
      <p:pic>
        <p:nvPicPr>
          <p:cNvPr descr="depth_curve.png" id="0" name="Picture 1"/>
          <p:cNvPicPr>
            <a:picLocks noGrp="1" noChangeAspect="1"/>
          </p:cNvPicPr>
          <p:nvPr/>
        </p:nvPicPr>
        <p:blipFill>
          <a:blip r:embed="rId3"/>
          <a:stretch>
            <a:fillRect/>
          </a:stretch>
        </p:blipFill>
        <p:spPr bwMode="auto">
          <a:xfrm>
            <a:off x="2130520" y="1166099"/>
            <a:ext cx="4882959" cy="3360181"/>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same rule, three depths</a:t>
            </a:r>
          </a:p>
        </p:txBody>
      </p:sp>
      <p:pic>
        <p:nvPicPr>
          <p:cNvPr descr="tree_boundaries.png" id="0" name="Picture 1"/>
          <p:cNvPicPr>
            <a:picLocks noGrp="1" noChangeAspect="1"/>
          </p:cNvPicPr>
          <p:nvPr/>
        </p:nvPicPr>
        <p:blipFill>
          <a:blip r:embed="rId3"/>
          <a:stretch>
            <a:fillRect/>
          </a:stretch>
        </p:blipFill>
        <p:spPr bwMode="auto">
          <a:xfrm>
            <a:off x="457200" y="1499989"/>
            <a:ext cx="8229600" cy="26924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Reading a tree, and the knob that keeps it small</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max_depth</a:t>
            </a:r>
            <a:r>
              <a:rPr/>
              <a:t> </a:t>
            </a:r>
            <a:r>
              <a:rPr b="1"/>
              <a:t>caps every path</a:t>
            </a:r>
            <a:r>
              <a:rPr/>
              <a:t>: each node above the cap is split if it can be, worth it or not</a:t>
            </a:r>
          </a:p>
          <a:p>
            <a:pPr lvl="0"/>
            <a:r>
              <a:rPr>
                <a:latin typeface="Courier"/>
              </a:rPr>
              <a:t>max_leaf_nodes</a:t>
            </a:r>
            <a:r>
              <a:rPr/>
              <a:t> is a </a:t>
            </a:r>
            <a:r>
              <a:rPr b="1"/>
              <a:t>budget of leaves</a:t>
            </a:r>
            <a:r>
              <a:rPr/>
              <a:t>, spent on the largest ΔG first</a:t>
            </a:r>
          </a:p>
          <a:p>
            <a:pPr lvl="0"/>
            <a:r>
              <a:rPr>
                <a:latin typeface="Courier"/>
              </a:rPr>
              <a:t>max_leaf_nodes = 9</a:t>
            </a:r>
            <a:r>
              <a:rPr/>
              <a:t>: </a:t>
            </a:r>
            <a:r>
              <a:rPr b="1"/>
              <a:t>90.8%</a:t>
            </a:r>
            <a:r>
              <a:rPr/>
              <a:t> training accuracy; thresholds 28 (income floor) and 0.82 (debt ceiling)</a:t>
            </a:r>
          </a:p>
          <a:p>
            <a:pPr lvl="0"/>
            <a:r>
              <a:rPr/>
              <a:t>In code: </a:t>
            </a:r>
            <a:r>
              <a:rPr>
                <a:latin typeface="Courier"/>
              </a:rPr>
              <a:t>export_text(tree)</a:t>
            </a:r>
            <a:r>
              <a:rPr/>
              <a:t> prints the tree as if/else rules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tree that doesn’t stay still</a:t>
            </a:r>
          </a:p>
        </p:txBody>
      </p:sp>
      <p:sp>
        <p:nvSpPr>
          <p:cNvPr id="3" name="Content Placeholder 2"/>
          <p:cNvSpPr>
            <a:spLocks noGrp="1"/>
          </p:cNvSpPr>
          <p:nvPr>
            <p:ph idx="1"/>
          </p:nvPr>
        </p:nvSpPr>
        <p:spPr>
          <a:xfrm>
            <a:off x="457200" y="1200151"/>
            <a:ext cx="8229600" cy="3394472"/>
          </a:xfrm>
        </p:spPr>
        <p:txBody>
          <a:bodyPr/>
          <a:lstStyle/>
          <a:p>
            <a:pPr lvl="0"/>
            <a:r>
              <a:rPr/>
              <a:t>Two trees at </a:t>
            </a:r>
            <a:r>
              <a:rPr>
                <a:latin typeface="Courier"/>
              </a:rPr>
              <a:t>max_depth = 6</a:t>
            </a:r>
            <a:r>
              <a:rPr/>
              <a:t>, each on a random 65% of the applicants (no replacement)</a:t>
            </a:r>
          </a:p>
          <a:p>
            <a:pPr lvl="0"/>
            <a:r>
              <a:rPr/>
              <a:t>The debt ceiling, the strongest split, agrees to within </a:t>
            </a:r>
            <a:r>
              <a:rPr b="1"/>
              <a:t>0.001</a:t>
            </a:r>
          </a:p>
          <a:p>
            <a:pPr lvl="0"/>
            <a:r>
              <a:rPr/>
              <a:t>The trees grow </a:t>
            </a:r>
            <a:r>
              <a:rPr b="1"/>
              <a:t>31 and 33 leaves</a:t>
            </a:r>
            <a:r>
              <a:rPr/>
              <a:t>, and </a:t>
            </a:r>
            <a:r>
              <a:rPr b="1"/>
              <a:t>disagree on 11.7%</a:t>
            </a:r>
            <a:r>
              <a:rPr/>
              <a:t> of predictions on the full dataset</a:t>
            </a:r>
          </a:p>
          <a:p>
            <a:pPr lvl="0"/>
            <a:r>
              <a:rPr/>
              <a:t>The strongest split is stable; the weaker ones, which shape most of the tree, are not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1. look at it first, 4-6</a:t>
                      </a:r>
                    </a:p>
                  </a:txBody>
                </a:tc>
                <a:tc>
                  <a:txBody>
                    <a:bodyPr/>
                    <a:lstStyle/>
                    <a:p>
                      <a:pPr lvl="0" indent="0" marL="0">
                        <a:buNone/>
                      </a:pPr>
                      <a:r>
                        <a:rPr>
                          <a:latin typeface="Courier"/>
                        </a:rPr>
                        <a:t>make_pipeline(StandardScaler(), LogisticRegression())</a:t>
                      </a:r>
                      <a:r>
                        <a:rPr/>
                        <a:t> in </a:t>
                      </a:r>
                      <a:r>
                        <a:rPr>
                          <a:latin typeface="Courier"/>
                        </a:rPr>
                        <a:t>cross_val_score(..., cv=StratifiedKFold(5))</a:t>
                      </a:r>
                      <a:r>
                        <a:rPr/>
                        <a:t> → 0.613 against 0.748</a:t>
                      </a:r>
                    </a:p>
                  </a:txBody>
                </a:tc>
              </a:tr>
              <a:tr h="0">
                <a:tc>
                  <a:txBody>
                    <a:bodyPr/>
                    <a:lstStyle/>
                    <a:p>
                      <a:pPr lvl="0" indent="0" marL="0">
                        <a:buNone/>
                      </a:pPr>
                      <a:r>
                        <a:rPr/>
                        <a:t>2. a tree, split by split, 7-18</a:t>
                      </a:r>
                    </a:p>
                  </a:txBody>
                </a:tc>
                <a:tc>
                  <a:txBody>
                    <a:bodyPr/>
                    <a:lstStyle/>
                    <a:p>
                      <a:pPr lvl="0" indent="0" marL="0">
                        <a:buNone/>
                      </a:pPr>
                      <a:r>
                        <a:rPr/>
                        <a:t>your own </a:t>
                      </a:r>
                      <a:r>
                        <a:rPr>
                          <a:latin typeface="Courier"/>
                        </a:rPr>
                        <a:t>gini</a:t>
                      </a:r>
                      <a:r>
                        <a:rPr/>
                        <a:t> and </a:t>
                      </a:r>
                      <a:r>
                        <a:rPr>
                          <a:latin typeface="Courier"/>
                        </a:rPr>
                        <a:t>best_split</a:t>
                      </a:r>
                      <a:r>
                        <a:rPr/>
                        <a:t>, then </a:t>
                      </a:r>
                      <a:r>
                        <a:rPr>
                          <a:latin typeface="Courier"/>
                        </a:rPr>
                        <a:t>DecisionTreeClassifier(max_depth=d)</a:t>
                      </a:r>
                      <a:r>
                        <a:rPr/>
                        <a:t> → 100.0% identical predictions; gain 0.1438</a:t>
                      </a:r>
                    </a:p>
                  </a:txBody>
                </a:tc>
              </a:tr>
              <a:tr h="0">
                <a:tc>
                  <a:txBody>
                    <a:bodyPr/>
                    <a:lstStyle/>
                    <a:p>
                      <a:pPr lvl="0" indent="0" marL="0">
                        <a:buNone/>
                      </a:pPr>
                      <a:r>
                        <a:rPr/>
                        <a:t>3. the depth dial, 19-22</a:t>
                      </a:r>
                    </a:p>
                  </a:txBody>
                </a:tc>
                <a:tc>
                  <a:txBody>
                    <a:bodyPr/>
                    <a:lstStyle/>
                    <a:p>
                      <a:pPr lvl="0" indent="0" marL="0">
                        <a:buNone/>
                      </a:pPr>
                      <a:r>
                        <a:rPr>
                          <a:latin typeface="Courier"/>
                        </a:rPr>
                        <a:t>DecisionTreeClassifier(max_depth=d)</a:t>
                      </a:r>
                      <a:r>
                        <a:rPr/>
                        <a:t> in </a:t>
                      </a:r>
                      <a:r>
                        <a:rPr>
                          <a:latin typeface="Courier"/>
                        </a:rPr>
                        <a:t>cross_val_score</a:t>
                      </a:r>
                      <a:r>
                        <a:rPr/>
                        <a:t> → peak 0.882 at depth 8</a:t>
                      </a:r>
                    </a:p>
                  </a:txBody>
                </a:tc>
              </a:tr>
              <a:tr h="0">
                <a:tc>
                  <a:txBody>
                    <a:bodyPr/>
                    <a:lstStyle/>
                    <a:p>
                      <a:pPr lvl="0" indent="0" marL="0">
                        <a:buNone/>
                      </a:pPr>
                      <a:r>
                        <a:rPr/>
                        <a:t>4. what a tree costs, 23-24</a:t>
                      </a:r>
                    </a:p>
                  </a:txBody>
                </a:tc>
                <a:tc>
                  <a:txBody>
                    <a:bodyPr/>
                    <a:lstStyle/>
                    <a:p>
                      <a:pPr lvl="0" indent="0" marL="0">
                        <a:buNone/>
                      </a:pPr>
                      <a:r>
                        <a:rPr>
                          <a:latin typeface="Courier"/>
                        </a:rPr>
                        <a:t>DecisionTreeClassifier(max_leaf_nodes=9)</a:t>
                      </a:r>
                      <a:r>
                        <a:rPr/>
                        <a:t>, </a:t>
                      </a:r>
                      <a:r>
                        <a:rPr>
                          <a:latin typeface="Courier"/>
                        </a:rPr>
                        <a:t>export_text</a:t>
                      </a:r>
                      <a:r>
                        <a:rPr/>
                        <a:t> → 0.908; two trees agree on 0.883</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
        <p:nvSpPr>
          <p:cNvPr id="3" name="Content Placeholder 2"/>
          <p:cNvSpPr>
            <a:spLocks noGrp="1"/>
          </p:cNvSpPr>
          <p:nvPr>
            <p:ph idx="1"/>
          </p:nvPr>
        </p:nvSpPr>
        <p:spPr>
          <a:xfrm>
            <a:off x="457200" y="1200151"/>
            <a:ext cx="8229600" cy="3394472"/>
          </a:xfrm>
        </p:spPr>
        <p:txBody>
          <a:bodyPr/>
          <a:lstStyle/>
          <a:p>
            <a:pPr lvl="0"/>
            <a:r>
              <a:rPr/>
              <a:t>Twelve minutes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Bagging: averaging away the instability</a:t>
            </a:r>
          </a:p>
        </p:txBody>
      </p:sp>
      <p:sp>
        <p:nvSpPr>
          <p:cNvPr id="3" name="Content Placeholder 2"/>
          <p:cNvSpPr>
            <a:spLocks noGrp="1"/>
          </p:cNvSpPr>
          <p:nvPr>
            <p:ph idx="1"/>
          </p:nvPr>
        </p:nvSpPr>
        <p:spPr>
          <a:xfrm>
            <a:off x="457200" y="1200151"/>
            <a:ext cx="8229600" cy="3394472"/>
          </a:xfrm>
        </p:spPr>
        <p:txBody>
          <a:bodyPr/>
          <a:lstStyle/>
          <a:p>
            <a:pPr lvl="0"/>
            <a:r>
              <a:rPr/>
              <a:t>Trees differ across samples, so </a:t>
            </a:r>
            <a:r>
              <a:rPr b="1"/>
              <a:t>many trees, averaged</a:t>
            </a:r>
            <a:r>
              <a:rPr/>
              <a:t> should partly cancel their mistakes</a:t>
            </a:r>
          </a:p>
          <a:p>
            <a:pPr lvl="0"/>
            <a:r>
              <a:rPr b="1"/>
              <a:t>Bootstrap sample</a:t>
            </a:r>
            <a:r>
              <a:rPr/>
              <a:t>: m rows drawn </a:t>
            </a:r>
            <a:r>
              <a:rPr b="1"/>
              <a:t>with replacement</a:t>
            </a:r>
            <a:r>
              <a:rPr/>
              <a:t> from the m training rows</a:t>
            </a:r>
          </a:p>
          <a:p>
            <a:pPr lvl="0"/>
            <a:r>
              <a:rPr/>
              <a:t>One tree per sample, </a:t>
            </a:r>
            <a:r>
              <a:rPr>
                <a:latin typeface="Courier"/>
              </a:rPr>
              <a:t>n_estimators</a:t>
            </a:r>
            <a:r>
              <a:rPr/>
              <a:t> times; predict by </a:t>
            </a:r>
            <a:r>
              <a:rPr b="1"/>
              <a:t>majority vote</a:t>
            </a:r>
            <a:r>
              <a:rPr/>
              <a:t>. That is </a:t>
            </a:r>
            <a:r>
              <a:rPr b="1"/>
              <a:t>bagging</a:t>
            </a:r>
            <a:r>
              <a:rPr/>
              <a:t>: bootstrap aggregating</a:t>
            </a:r>
          </a:p>
          <a:p>
            <a:pPr lvl="0"/>
            <a:r>
              <a:rPr/>
              <a:t>In code: </a:t>
            </a:r>
            <a:r>
              <a:rPr>
                <a:latin typeface="Courier"/>
              </a:rPr>
              <a:t>BaggingClassifier()</a:t>
            </a:r>
            <a:r>
              <a:rPr/>
              <a:t>, whose default model is a decision tree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much data one bootstrap sample sees</a:t>
            </a:r>
          </a:p>
        </p:txBody>
      </p:sp>
      <p:sp>
        <p:nvSpPr>
          <p:cNvPr id="3" name="Content Placeholder 2"/>
          <p:cNvSpPr>
            <a:spLocks noGrp="1"/>
          </p:cNvSpPr>
          <p:nvPr>
            <p:ph idx="1"/>
          </p:nvPr>
        </p:nvSpPr>
        <p:spPr>
          <a:xfrm>
            <a:off x="457200" y="1200151"/>
            <a:ext cx="8229600" cy="3394472"/>
          </a:xfrm>
        </p:spPr>
        <p:txBody>
          <a:bodyPr/>
          <a:lstStyle/>
          <a:p>
            <a:pPr lvl="0"/>
            <a:r>
              <a:rPr/>
              <a:t>One row is missed by all m draws with probability (1 - 1/m)ᵐ, which tends to e⁻¹ ≈ 0.368 as m grows</a:t>
            </a:r>
          </a:p>
          <a:p>
            <a:pPr lvl="0"/>
            <a:r>
              <a:rPr/>
              <a:t>So about </a:t>
            </a:r>
            <a:r>
              <a:rPr b="1"/>
              <a:t>63.2%</a:t>
            </a:r>
            <a:r>
              <a:rPr/>
              <a:t> of the distinct rows are drawn at least once</a:t>
            </a:r>
          </a:p>
          <a:p>
            <a:pPr lvl="0"/>
            <a:r>
              <a:rPr/>
              <a:t>The remaining </a:t>
            </a:r>
            <a:r>
              <a:rPr b="1"/>
              <a:t>36.8%</a:t>
            </a:r>
            <a:r>
              <a:rPr/>
              <a:t> are left out entirely: called </a:t>
            </a:r>
            <a:r>
              <a:rPr b="1"/>
              <a:t>out-of-bag (OOB)</a:t>
            </a:r>
          </a:p>
          <a:p>
            <a:pPr lvl="0"/>
            <a:r>
              <a:rPr/>
              <a:t>At m = 1,200: a single simulated draw left out 36.6% of rows, close to the limit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bootstrap sample, counted</a:t>
            </a:r>
          </a:p>
        </p:txBody>
      </p:sp>
      <p:pic>
        <p:nvPicPr>
          <p:cNvPr descr="bootstrap_counts.png" id="0" name="Picture 1"/>
          <p:cNvPicPr>
            <a:picLocks noGrp="1" noChangeAspect="1"/>
          </p:cNvPicPr>
          <p:nvPr/>
        </p:nvPicPr>
        <p:blipFill>
          <a:blip r:embed="rId3"/>
          <a:stretch>
            <a:fillRect/>
          </a:stretch>
        </p:blipFill>
        <p:spPr bwMode="auto">
          <a:xfrm>
            <a:off x="1652292" y="1166099"/>
            <a:ext cx="5839415" cy="3360181"/>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Out-of-bag: free validation</a:t>
            </a:r>
          </a:p>
        </p:txBody>
      </p:sp>
      <p:sp>
        <p:nvSpPr>
          <p:cNvPr id="3" name="Content Placeholder 2"/>
          <p:cNvSpPr>
            <a:spLocks noGrp="1"/>
          </p:cNvSpPr>
          <p:nvPr>
            <p:ph idx="1"/>
          </p:nvPr>
        </p:nvSpPr>
        <p:spPr>
          <a:xfrm>
            <a:off x="457200" y="1200151"/>
            <a:ext cx="8229600" cy="3394472"/>
          </a:xfrm>
        </p:spPr>
        <p:txBody>
          <a:bodyPr/>
          <a:lstStyle/>
          <a:p>
            <a:pPr lvl="0"/>
            <a:r>
              <a:rPr/>
              <a:t>Predict each row by a vote of only the trees that never saw it: the accuracy of those votes is the </a:t>
            </a:r>
            <a:r>
              <a:rPr b="1"/>
              <a:t>OOB score</a:t>
            </a:r>
            <a:r>
              <a:rPr/>
              <a:t>, with no rows set aside</a:t>
            </a:r>
          </a:p>
          <a:p>
            <a:pPr lvl="0"/>
            <a:r>
              <a:rPr/>
              <a:t>A 300-tree random forest (bagged trees plus one rule, slide 34): OOB </a:t>
            </a:r>
            <a:r>
              <a:rPr b="1"/>
              <a:t>0.9117</a:t>
            </a:r>
            <a:r>
              <a:rPr/>
              <a:t>; 5-fold cross-validation </a:t>
            </a:r>
            <a:r>
              <a:rPr b="1"/>
              <a:t>0.9117 ± 0.021</a:t>
            </a:r>
          </a:p>
          <a:p>
            <a:pPr lvl="0"/>
            <a:r>
              <a:rPr/>
              <a:t>The four-decimal match is </a:t>
            </a:r>
            <a:r>
              <a:rPr b="1"/>
              <a:t>luck</a:t>
            </a:r>
            <a:r>
              <a:rPr/>
              <a:t>: over twelve seeds the two differ by 0.0026 on average, well inside ±0.021</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averaging reduces variance</a:t>
            </a:r>
          </a:p>
        </p:txBody>
      </p:sp>
      <p:sp>
        <p:nvSpPr>
          <p:cNvPr id="3" name="Content Placeholder 2"/>
          <p:cNvSpPr>
            <a:spLocks noGrp="1"/>
          </p:cNvSpPr>
          <p:nvPr>
            <p:ph idx="1"/>
          </p:nvPr>
        </p:nvSpPr>
        <p:spPr>
          <a:xfrm>
            <a:off x="457200" y="1200151"/>
            <a:ext cx="8229600" cy="3394472"/>
          </a:xfrm>
        </p:spPr>
        <p:txBody>
          <a:bodyPr/>
          <a:lstStyle/>
          <a:p>
            <a:pPr lvl="0"/>
            <a:r>
              <a:rPr/>
              <a:t>Model each tree’s prediction as noisy, with variance σ² over the bootstrap sample it drew, and let ρ be the correlation between two trees</a:t>
            </a:r>
          </a:p>
          <a:p>
            <a:pPr lvl="0"/>
            <a:r>
              <a:rPr/>
              <a:t>The average of B trees has variance σ²/B + ρσ² (B-1)/B: a </a:t>
            </a:r>
            <a:r>
              <a:rPr b="1"/>
              <a:t>floor</a:t>
            </a:r>
            <a:r>
              <a:rPr/>
              <a:t> of ρσ², </a:t>
            </a:r>
            <a:r>
              <a:rPr b="1"/>
              <a:t>not zero</a:t>
            </a:r>
            <a:r>
              <a:rPr/>
              <a:t>: more trees soon buy little</a:t>
            </a:r>
          </a:p>
          <a:p>
            <a:pPr lvl="0"/>
            <a:r>
              <a:rPr/>
              <a:t>Averaging </a:t>
            </a:r>
            <a:r>
              <a:rPr b="1"/>
              <a:t>cannot repair an error every tree shares</a:t>
            </a:r>
            <a:r>
              <a:rPr/>
              <a:t>: trees too shallow for the rule stay too shallow, however many are averaged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Averaging stops at a floor</a:t>
            </a:r>
          </a:p>
        </p:txBody>
      </p:sp>
      <p:pic>
        <p:nvPicPr>
          <p:cNvPr descr="variance_floor.png" id="0" name="Picture 1"/>
          <p:cNvPicPr>
            <a:picLocks noGrp="1" noChangeAspect="1"/>
          </p:cNvPicPr>
          <p:nvPr/>
        </p:nvPicPr>
        <p:blipFill>
          <a:blip r:embed="rId3"/>
          <a:stretch>
            <a:fillRect/>
          </a:stretch>
        </p:blipFill>
        <p:spPr bwMode="auto">
          <a:xfrm>
            <a:off x="1708924" y="1166099"/>
            <a:ext cx="5726151" cy="3360181"/>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Bagging, measured</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Model</a:t>
                      </a:r>
                    </a:p>
                  </a:txBody>
                  <a:tcPr/>
                </a:tc>
                <a:tc>
                  <a:txBody>
                    <a:bodyPr/>
                    <a:lstStyle/>
                    <a:p>
                      <a:pPr lvl="0" indent="0" marL="0">
                        <a:buNone/>
                      </a:pPr>
                      <a:r>
                        <a:rPr/>
                        <a:t>Mean test accuracy, 30 random 70/30 splits</a:t>
                      </a:r>
                    </a:p>
                  </a:txBody>
                  <a:tcPr/>
                </a:tc>
                <a:tc>
                  <a:txBody>
                    <a:bodyPr/>
                    <a:lstStyle/>
                    <a:p>
                      <a:pPr lvl="0" indent="0" marL="0">
                        <a:buNone/>
                      </a:pPr>
                      <a:r>
                        <a:rPr/>
                        <a:t>Standard deviation across the 30</a:t>
                      </a:r>
                    </a:p>
                  </a:txBody>
                  <a:tcPr/>
                </a:tc>
              </a:tr>
              <a:tr h="0">
                <a:tc>
                  <a:txBody>
                    <a:bodyPr/>
                    <a:lstStyle/>
                    <a:p>
                      <a:pPr lvl="0" indent="0" marL="0">
                        <a:buNone/>
                      </a:pPr>
                      <a:r>
                        <a:rPr/>
                        <a:t>Single unconstrained tree</a:t>
                      </a:r>
                    </a:p>
                  </a:txBody>
                </a:tc>
                <a:tc>
                  <a:txBody>
                    <a:bodyPr/>
                    <a:lstStyle/>
                    <a:p>
                      <a:pPr lvl="0" indent="0" marL="0">
                        <a:buNone/>
                      </a:pPr>
                      <a:r>
                        <a:rPr/>
                        <a:t>0.856</a:t>
                      </a:r>
                    </a:p>
                  </a:txBody>
                </a:tc>
                <a:tc>
                  <a:txBody>
                    <a:bodyPr/>
                    <a:lstStyle/>
                    <a:p>
                      <a:pPr lvl="0" indent="0" marL="0">
                        <a:buNone/>
                      </a:pPr>
                      <a:r>
                        <a:rPr/>
                        <a:t>0.0185</a:t>
                      </a:r>
                    </a:p>
                  </a:txBody>
                </a:tc>
              </a:tr>
              <a:tr h="0">
                <a:tc>
                  <a:txBody>
                    <a:bodyPr/>
                    <a:lstStyle/>
                    <a:p>
                      <a:pPr lvl="0" indent="0" marL="0">
                        <a:buNone/>
                      </a:pPr>
                      <a:r>
                        <a:rPr/>
                        <a:t>Bagging, 100 trees</a:t>
                      </a:r>
                    </a:p>
                  </a:txBody>
                </a:tc>
                <a:tc>
                  <a:txBody>
                    <a:bodyPr/>
                    <a:lstStyle/>
                    <a:p>
                      <a:pPr lvl="0" indent="0" marL="0">
                        <a:buNone/>
                      </a:pPr>
                      <a:r>
                        <a:rPr b="1"/>
                        <a:t>0.902</a:t>
                      </a:r>
                    </a:p>
                  </a:txBody>
                </a:tc>
                <a:tc>
                  <a:txBody>
                    <a:bodyPr/>
                    <a:lstStyle/>
                    <a:p>
                      <a:pPr lvl="0" indent="0" marL="0">
                        <a:buNone/>
                      </a:pPr>
                      <a:r>
                        <a:rPr b="1"/>
                        <a:t>0.0153</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Random forests: decorrelating the trees</a:t>
            </a:r>
          </a:p>
        </p:txBody>
      </p:sp>
      <p:sp>
        <p:nvSpPr>
          <p:cNvPr id="3" name="Content Placeholder 2"/>
          <p:cNvSpPr>
            <a:spLocks noGrp="1"/>
          </p:cNvSpPr>
          <p:nvPr>
            <p:ph idx="1"/>
          </p:nvPr>
        </p:nvSpPr>
        <p:spPr>
          <a:xfrm>
            <a:off x="457200" y="1200151"/>
            <a:ext cx="8229600" cy="3394472"/>
          </a:xfrm>
        </p:spPr>
        <p:txBody>
          <a:bodyPr/>
          <a:lstStyle/>
          <a:p>
            <a:pPr lvl="0"/>
            <a:r>
              <a:rPr/>
              <a:t>The floor is ρσ²: lowering it means making the trees agree </a:t>
            </a:r>
            <a:r>
              <a:rPr b="1"/>
              <a:t>less</a:t>
            </a:r>
          </a:p>
          <a:p>
            <a:pPr lvl="0"/>
            <a:r>
              <a:rPr/>
              <a:t>Bagged trees see </a:t>
            </a:r>
            <a:r>
              <a:rPr b="1"/>
              <a:t>every feature</a:t>
            </a:r>
            <a:r>
              <a:rPr/>
              <a:t>, so a strong one pulls them all the same way</a:t>
            </a:r>
          </a:p>
          <a:p>
            <a:pPr lvl="0"/>
            <a:r>
              <a:rPr/>
              <a:t>A </a:t>
            </a:r>
            <a:r>
              <a:rPr b="1"/>
              <a:t>random forest</a:t>
            </a:r>
            <a:r>
              <a:rPr/>
              <a:t> offers each split a random subset of </a:t>
            </a:r>
            <a:r>
              <a:rPr>
                <a:latin typeface="Courier"/>
              </a:rPr>
              <a:t>max_features</a:t>
            </a:r>
            <a:r>
              <a:rPr/>
              <a:t> (default √n, rounded down), lowering ρ</a:t>
            </a:r>
          </a:p>
          <a:p>
            <a:pPr lvl="0"/>
            <a:r>
              <a:rPr/>
              <a:t>In code: </a:t>
            </a:r>
            <a:r>
              <a:rPr>
                <a:latin typeface="Courier"/>
              </a:rPr>
              <a:t>RandomForestClassifier()</a:t>
            </a:r>
            <a:r>
              <a:rPr/>
              <a:t>, 100 trees by default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Random forests, measured</a:t>
            </a:r>
          </a:p>
        </p:txBody>
      </p:sp>
      <p:pic>
        <p:nvPicPr>
          <p:cNvPr descr="ensemble_variance.png" id="0" name="Picture 1"/>
          <p:cNvPicPr>
            <a:picLocks noGrp="1" noChangeAspect="1"/>
          </p:cNvPicPr>
          <p:nvPr/>
        </p:nvPicPr>
        <p:blipFill>
          <a:blip r:embed="rId3"/>
          <a:stretch>
            <a:fillRect/>
          </a:stretch>
        </p:blipFill>
        <p:spPr bwMode="auto">
          <a:xfrm>
            <a:off x="2029841" y="1166099"/>
            <a:ext cx="5084318" cy="3360181"/>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Feature importance: what the forest claims to tell you</a:t>
            </a:r>
          </a:p>
        </p:txBody>
      </p:sp>
      <p:sp>
        <p:nvSpPr>
          <p:cNvPr id="3" name="Content Placeholder 2"/>
          <p:cNvSpPr>
            <a:spLocks noGrp="1"/>
          </p:cNvSpPr>
          <p:nvPr>
            <p:ph idx="1"/>
          </p:nvPr>
        </p:nvSpPr>
        <p:spPr>
          <a:xfrm>
            <a:off x="457200" y="1200151"/>
            <a:ext cx="8229600" cy="3394472"/>
          </a:xfrm>
        </p:spPr>
        <p:txBody>
          <a:bodyPr/>
          <a:lstStyle/>
          <a:p>
            <a:pPr lvl="0"/>
            <a:r>
              <a:rPr b="1"/>
              <a:t>Feature importance</a:t>
            </a:r>
            <a:r>
              <a:rPr/>
              <a:t>: the impurity reduction credited to each feature over every tree and split, scaled to add up to 1</a:t>
            </a:r>
          </a:p>
          <a:p>
            <a:pPr lvl="0"/>
            <a:r>
              <a:rPr/>
              <a:t>With only the two real features here, it names exactly those two</a:t>
            </a:r>
          </a:p>
          <a:p>
            <a:pPr lvl="0"/>
            <a:r>
              <a:rPr/>
              <a:t>What happens once we add columns of random numbers, unrelated to default?</a:t>
            </a:r>
          </a:p>
          <a:p>
            <a:pPr lvl="0"/>
            <a:r>
              <a:rPr/>
              <a:t>In code: </a:t>
            </a:r>
            <a:r>
              <a:rPr>
                <a:latin typeface="Courier"/>
              </a:rPr>
              <a:t>forest.feature_importances_</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More columns, more noise</a:t>
            </a:r>
          </a:p>
        </p:txBody>
      </p:sp>
      <p:pic>
        <p:nvPicPr>
          <p:cNvPr descr="noise_importance.png" id="0" name="Picture 1"/>
          <p:cNvPicPr>
            <a:picLocks noGrp="1" noChangeAspect="1"/>
          </p:cNvPicPr>
          <p:nvPr/>
        </p:nvPicPr>
        <p:blipFill>
          <a:blip r:embed="rId3"/>
          <a:stretch>
            <a:fillRect/>
          </a:stretch>
        </p:blipFill>
        <p:spPr bwMode="auto">
          <a:xfrm>
            <a:off x="2029841" y="1166099"/>
            <a:ext cx="5084318" cy="3360181"/>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Permutation importance</a:t>
            </a:r>
          </a:p>
        </p:txBody>
      </p:sp>
      <p:pic>
        <p:nvPicPr>
          <p:cNvPr descr="permutation_importance.png" id="0" name="Picture 1"/>
          <p:cNvPicPr>
            <a:picLocks noGrp="1" noChangeAspect="1"/>
          </p:cNvPicPr>
          <p:nvPr/>
        </p:nvPicPr>
        <p:blipFill>
          <a:blip r:embed="rId3"/>
          <a:stretch>
            <a:fillRect/>
          </a:stretch>
        </p:blipFill>
        <p:spPr bwMode="auto">
          <a:xfrm>
            <a:off x="1771849" y="1166099"/>
            <a:ext cx="5600301" cy="3360181"/>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1. bagging from scratch, 27</a:t>
                      </a:r>
                    </a:p>
                  </a:txBody>
                </a:tc>
                <a:tc>
                  <a:txBody>
                    <a:bodyPr/>
                    <a:lstStyle/>
                    <a:p>
                      <a:pPr lvl="0" indent="0" marL="0">
                        <a:buNone/>
                      </a:pPr>
                      <a:r>
                        <a:rPr>
                          <a:latin typeface="Courier"/>
                        </a:rPr>
                        <a:t>train_test_split</a:t>
                      </a:r>
                      <a:r>
                        <a:rPr/>
                        <a:t>, your bagging against </a:t>
                      </a:r>
                      <a:r>
                        <a:rPr>
                          <a:latin typeface="Courier"/>
                        </a:rPr>
                        <a:t>BaggingClassifier</a:t>
                      </a:r>
                      <a:r>
                        <a:rPr/>
                        <a:t>, </a:t>
                      </a:r>
                      <a:r>
                        <a:rPr>
                          <a:latin typeface="Courier"/>
                        </a:rPr>
                        <a:t>accuracy_score</a:t>
                      </a:r>
                      <a:r>
                        <a:rPr/>
                        <a:t> → 0.872 and 0.872</a:t>
                      </a:r>
                    </a:p>
                  </a:txBody>
                </a:tc>
              </a:tr>
              <a:tr h="0">
                <a:tc>
                  <a:txBody>
                    <a:bodyPr/>
                    <a:lstStyle/>
                    <a:p>
                      <a:pPr lvl="0" indent="0" marL="0">
                        <a:buNone/>
                      </a:pPr>
                      <a:r>
                        <a:rPr/>
                        <a:t>2. why averaging works, 28-32</a:t>
                      </a:r>
                    </a:p>
                  </a:txBody>
                </a:tc>
                <a:tc>
                  <a:txBody>
                    <a:bodyPr/>
                    <a:lstStyle/>
                    <a:p>
                      <a:pPr lvl="0" indent="0" marL="0">
                        <a:buNone/>
                      </a:pPr>
                      <a:r>
                        <a:rPr>
                          <a:latin typeface="Courier"/>
                        </a:rPr>
                        <a:t>oob_score=True</a:t>
                      </a:r>
                      <a:r>
                        <a:rPr/>
                        <a:t>: </a:t>
                      </a:r>
                      <a:r>
                        <a:rPr>
                          <a:latin typeface="Courier"/>
                        </a:rPr>
                        <a:t>.oob_score_</a:t>
                      </a:r>
                      <a:r>
                        <a:rPr/>
                        <a:t> against </a:t>
                      </a:r>
                      <a:r>
                        <a:rPr>
                          <a:latin typeface="Courier"/>
                        </a:rPr>
                        <a:t>cross_val_score</a:t>
                      </a:r>
                      <a:r>
                        <a:rPr/>
                        <a:t> → 0.9117 both; 0.0026 over 12 seeds</a:t>
                      </a:r>
                    </a:p>
                  </a:txBody>
                </a:tc>
              </a:tr>
              <a:tr h="0">
                <a:tc>
                  <a:txBody>
                    <a:bodyPr/>
                    <a:lstStyle/>
                    <a:p>
                      <a:pPr lvl="0" indent="0" marL="0">
                        <a:buNone/>
                      </a:pPr>
                      <a:r>
                        <a:rPr/>
                        <a:t>3. variance, measured, 33-35</a:t>
                      </a:r>
                    </a:p>
                  </a:txBody>
                </a:tc>
                <a:tc>
                  <a:txBody>
                    <a:bodyPr/>
                    <a:lstStyle/>
                    <a:p>
                      <a:pPr lvl="0" indent="0" marL="0">
                        <a:buNone/>
                      </a:pPr>
                      <a:r>
                        <a:rPr/>
                        <a:t>tree, </a:t>
                      </a:r>
                      <a:r>
                        <a:rPr>
                          <a:latin typeface="Courier"/>
                        </a:rPr>
                        <a:t>BaggingClassifier</a:t>
                      </a:r>
                      <a:r>
                        <a:rPr/>
                        <a:t>, </a:t>
                      </a:r>
                      <a:r>
                        <a:rPr>
                          <a:latin typeface="Courier"/>
                        </a:rPr>
                        <a:t>RandomForestClassifier</a:t>
                      </a:r>
                      <a:r>
                        <a:rPr/>
                        <a:t>, 30 splits → spread 0.0185, 0.0153, 0.0137</a:t>
                      </a:r>
                    </a:p>
                  </a:txBody>
                </a:tc>
              </a:tr>
              <a:tr h="0">
                <a:tc>
                  <a:txBody>
                    <a:bodyPr/>
                    <a:lstStyle/>
                    <a:p>
                      <a:pPr lvl="0" indent="0" marL="0">
                        <a:buNone/>
                      </a:pPr>
                      <a:r>
                        <a:rPr/>
                        <a:t>5. feature importance, 36-37</a:t>
                      </a:r>
                    </a:p>
                  </a:txBody>
                </a:tc>
                <a:tc>
                  <a:txBody>
                    <a:bodyPr/>
                    <a:lstStyle/>
                    <a:p>
                      <a:pPr lvl="0" indent="0" marL="0">
                        <a:buNone/>
                      </a:pPr>
                      <a:r>
                        <a:rPr>
                          <a:latin typeface="Courier"/>
                        </a:rPr>
                        <a:t>.feature_importances_</a:t>
                      </a:r>
                      <a:r>
                        <a:rPr/>
                        <a:t>, 0 to 20 noise columns → 54.5% on noise</a:t>
                      </a:r>
                    </a:p>
                  </a:txBody>
                </a:tc>
              </a:tr>
              <a:tr h="0">
                <a:tc>
                  <a:txBody>
                    <a:bodyPr/>
                    <a:lstStyle/>
                    <a:p>
                      <a:pPr lvl="0" indent="0" marL="0">
                        <a:buNone/>
                      </a:pPr>
                      <a:r>
                        <a:rPr/>
                        <a:t>6. checking the importances, 38</a:t>
                      </a:r>
                    </a:p>
                  </a:txBody>
                </a:tc>
                <a:tc>
                  <a:txBody>
                    <a:bodyPr/>
                    <a:lstStyle/>
                    <a:p>
                      <a:pPr lvl="0" indent="0" marL="0">
                        <a:buNone/>
                      </a:pPr>
                      <a:r>
                        <a:rPr>
                          <a:latin typeface="Courier"/>
                        </a:rPr>
                        <a:t>permutation_importance</a:t>
                      </a:r>
                      <a:r>
                        <a:rPr/>
                        <a:t>, test split → real 0.09 and 0.18, noise ≈ 0</a:t>
                      </a:r>
                    </a:p>
                  </a:txBody>
                </a:tc>
              </a:tr>
            </a:tbl>
          </a:graphicData>
        </a:graphic>
      </p:graphicFrame>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Gradient boosting: correcting mistakes in sequence</a:t>
            </a:r>
          </a:p>
        </p:txBody>
      </p:sp>
      <p:sp>
        <p:nvSpPr>
          <p:cNvPr id="3" name="Content Placeholder 2"/>
          <p:cNvSpPr>
            <a:spLocks noGrp="1"/>
          </p:cNvSpPr>
          <p:nvPr>
            <p:ph idx="1"/>
          </p:nvPr>
        </p:nvSpPr>
        <p:spPr>
          <a:xfrm>
            <a:off x="457200" y="1200151"/>
            <a:ext cx="8229600" cy="3394472"/>
          </a:xfrm>
        </p:spPr>
        <p:txBody>
          <a:bodyPr/>
          <a:lstStyle/>
          <a:p>
            <a:pPr lvl="0"/>
            <a:r>
              <a:rPr/>
              <a:t>Bagging and random forests build trees </a:t>
            </a:r>
            <a:r>
              <a:rPr b="1"/>
              <a:t>independently</a:t>
            </a:r>
            <a:r>
              <a:rPr/>
              <a:t>, then average</a:t>
            </a:r>
          </a:p>
          <a:p>
            <a:pPr lvl="0"/>
            <a:r>
              <a:rPr b="1"/>
              <a:t>Boosting</a:t>
            </a:r>
            <a:r>
              <a:rPr/>
              <a:t> builds them </a:t>
            </a:r>
            <a:r>
              <a:rPr b="1"/>
              <a:t>in sequence</a:t>
            </a:r>
            <a:r>
              <a:rPr/>
              <a:t>: each new tree corrects what the trees so far got wrong</a:t>
            </a:r>
          </a:p>
          <a:p>
            <a:pPr lvl="0"/>
            <a:r>
              <a:rPr/>
              <a:t>Each is a shallow </a:t>
            </a:r>
            <a:r>
              <a:rPr b="1"/>
              <a:t>regression tree</a:t>
            </a:r>
            <a:r>
              <a:rPr/>
              <a:t>, a </a:t>
            </a:r>
            <a:r>
              <a:rPr b="1"/>
              <a:t>weak learner</a:t>
            </a:r>
            <a:r>
              <a:rPr/>
              <a:t>: it predicts a number, a correction, not a class</a:t>
            </a:r>
          </a:p>
          <a:p>
            <a:pPr lvl="0"/>
            <a:r>
              <a:rPr/>
              <a:t>The learning rate α sets </a:t>
            </a:r>
            <a:r>
              <a:rPr b="1"/>
              <a:t>how much</a:t>
            </a:r>
            <a:r>
              <a:rPr/>
              <a:t> of each correction is applied</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Building the ensemble, one tree at a time, for squared error</a:t>
            </a:r>
          </a:p>
        </p:txBody>
      </p:sp>
      <p:pic>
        <p:nvPicPr>
          <p:cNvPr descr="eq_97e08db35a.png" id="0" name="Picture 1"/>
          <p:cNvPicPr>
            <a:picLocks noGrp="1" noChangeAspect="1"/>
          </p:cNvPicPr>
          <p:nvPr/>
        </p:nvPicPr>
        <p:blipFill>
          <a:blip r:embed="rId3"/>
          <a:stretch>
            <a:fillRect/>
          </a:stretch>
        </p:blipFill>
        <p:spPr bwMode="auto">
          <a:xfrm>
            <a:off x="457208" y="2598540"/>
            <a:ext cx="8229583" cy="495299"/>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each tree is fit to</a:t>
            </a:r>
          </a:p>
        </p:txBody>
      </p:sp>
      <p:sp>
        <p:nvSpPr>
          <p:cNvPr id="3" name="Content Placeholder 2"/>
          <p:cNvSpPr>
            <a:spLocks noGrp="1"/>
          </p:cNvSpPr>
          <p:nvPr>
            <p:ph idx="1"/>
          </p:nvPr>
        </p:nvSpPr>
        <p:spPr>
          <a:xfrm>
            <a:off x="457200" y="1200151"/>
            <a:ext cx="8229600" cy="3394472"/>
          </a:xfrm>
        </p:spPr>
        <p:txBody>
          <a:bodyPr/>
          <a:lstStyle/>
          <a:p>
            <a:pPr lvl="0"/>
            <a:r>
              <a:rPr/>
              <a:t>For squared error, what remains unexplained is the </a:t>
            </a:r>
            <a:r>
              <a:rPr b="1"/>
              <a:t>residual</a:t>
            </a:r>
            <a:r>
              <a:rPr/>
              <a:t>, y - Fₜ₋₁(x)</a:t>
            </a:r>
          </a:p>
          <a:p>
            <a:pPr lvl="0"/>
            <a:r>
              <a:rPr/>
              <a:t>In general, </a:t>
            </a:r>
            <a:r>
              <a:rPr b="1"/>
              <a:t>functional gradient descent</a:t>
            </a:r>
            <a:r>
              <a:rPr/>
              <a:t>: hₜ approximates the negative gradient of the loss with respect to Fₜ₋₁</a:t>
            </a:r>
          </a:p>
          <a:p>
            <a:pPr lvl="0"/>
            <a:r>
              <a:rPr/>
              <a:t>With L = ½(y - F)², -∂L/∂F = y - F: the two coincide</a:t>
            </a:r>
          </a:p>
          <a:p>
            <a:pPr lvl="0"/>
            <a:r>
              <a:rPr/>
              <a:t>In code: </a:t>
            </a:r>
            <a:r>
              <a:rPr>
                <a:latin typeface="Courier"/>
              </a:rPr>
              <a:t>DecisionTreeRegressor(max_depth=2)</a:t>
            </a:r>
            <a:r>
              <a:rPr/>
              <a:t>, fit to </a:t>
            </a:r>
            <a:r>
              <a:rPr>
                <a:latin typeface="Courier"/>
              </a:rPr>
              <a:t>y - prediction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step plus a sine wave, fit by 60 shallow trees</a:t>
            </a:r>
          </a:p>
        </p:txBody>
      </p:sp>
      <p:pic>
        <p:nvPicPr>
          <p:cNvPr descr="boosting_residuals.png" id="0" name="Picture 1"/>
          <p:cNvPicPr>
            <a:picLocks noGrp="1" noChangeAspect="1"/>
          </p:cNvPicPr>
          <p:nvPr/>
        </p:nvPicPr>
        <p:blipFill>
          <a:blip r:embed="rId3"/>
          <a:stretch>
            <a:fillRect/>
          </a:stretch>
        </p:blipFill>
        <p:spPr bwMode="auto">
          <a:xfrm>
            <a:off x="2067595" y="1166099"/>
            <a:ext cx="5008809" cy="3360181"/>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Reading the picture</a:t>
            </a:r>
          </a:p>
        </p:txBody>
      </p:sp>
      <p:sp>
        <p:nvSpPr>
          <p:cNvPr id="3" name="Content Placeholder 2"/>
          <p:cNvSpPr>
            <a:spLocks noGrp="1"/>
          </p:cNvSpPr>
          <p:nvPr>
            <p:ph idx="1"/>
          </p:nvPr>
        </p:nvSpPr>
        <p:spPr>
          <a:xfrm>
            <a:off x="457200" y="1200151"/>
            <a:ext cx="8229600" cy="3394472"/>
          </a:xfrm>
        </p:spPr>
        <p:txBody>
          <a:bodyPr/>
          <a:lstStyle/>
          <a:p>
            <a:pPr lvl="0"/>
            <a:r>
              <a:rPr b="1"/>
              <a:t>1 tree</a:t>
            </a:r>
            <a:r>
              <a:rPr/>
              <a:t>: mean squared error (MSE) against the true function 0.395, barely moves the flat guess</a:t>
            </a:r>
          </a:p>
          <a:p>
            <a:pPr lvl="0"/>
            <a:r>
              <a:rPr b="1"/>
              <a:t>5 trees</a:t>
            </a:r>
            <a:r>
              <a:rPr/>
              <a:t>: MSE 0.068, the coarse shape appears</a:t>
            </a:r>
          </a:p>
          <a:p>
            <a:pPr lvl="0"/>
            <a:r>
              <a:rPr b="1"/>
              <a:t>20 trees</a:t>
            </a:r>
            <a:r>
              <a:rPr/>
              <a:t>: MSE </a:t>
            </a:r>
            <a:r>
              <a:rPr b="1"/>
              <a:t>0.012</a:t>
            </a:r>
            <a:r>
              <a:rPr/>
              <a:t>, the ensemble’s best point</a:t>
            </a:r>
          </a:p>
          <a:p>
            <a:pPr lvl="0"/>
            <a:r>
              <a:rPr b="1"/>
              <a:t>60 trees</a:t>
            </a:r>
            <a:r>
              <a:rPr/>
              <a:t>: MSE rises back to 0.018, tracking noise, not signal</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Classification: the same idea, a different gradient</a:t>
            </a:r>
          </a:p>
        </p:txBody>
      </p:sp>
      <p:sp>
        <p:nvSpPr>
          <p:cNvPr id="3" name="Content Placeholder 2"/>
          <p:cNvSpPr>
            <a:spLocks noGrp="1"/>
          </p:cNvSpPr>
          <p:nvPr>
            <p:ph idx="1"/>
          </p:nvPr>
        </p:nvSpPr>
        <p:spPr>
          <a:xfrm>
            <a:off x="457200" y="1200151"/>
            <a:ext cx="8229600" cy="3394472"/>
          </a:xfrm>
        </p:spPr>
        <p:txBody>
          <a:bodyPr/>
          <a:lstStyle/>
          <a:p>
            <a:pPr lvl="0"/>
            <a:r>
              <a:rPr/>
              <a:t>y is 0 or 1; the score F becomes a probability through lesson 4’s logistic function, p = σ(F) (this σ is not the σ² of the variance slides)</a:t>
            </a:r>
          </a:p>
          <a:p>
            <a:pPr lvl="0"/>
            <a:r>
              <a:rPr/>
              <a:t>The loss is lesson 4’s </a:t>
            </a:r>
            <a:r>
              <a:rPr b="1"/>
              <a:t>log-loss</a:t>
            </a:r>
          </a:p>
          <a:p>
            <a:pPr lvl="0"/>
            <a:r>
              <a:rPr/>
              <a:t>Each tree fits the </a:t>
            </a:r>
            <a:r>
              <a:rPr b="1"/>
              <a:t>pseudo-residual</a:t>
            </a:r>
            <a:r>
              <a:rPr/>
              <a:t> y - p, the negative gradient: lesson 4’s error term</a:t>
            </a:r>
          </a:p>
          <a:p>
            <a:pPr lvl="0"/>
            <a:r>
              <a:rPr/>
              <a:t>Start: p = 0.387 for all, so the first tree fits +0.613 to defaulters and −0.387 to the rest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 the loan data</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GradientBoostingClassifier</a:t>
            </a:r>
            <a:r>
              <a:rPr/>
              <a:t>, defaults: </a:t>
            </a:r>
            <a:r>
              <a:rPr b="1"/>
              <a:t>100 trees</a:t>
            </a:r>
            <a:r>
              <a:rPr/>
              <a:t>, learning rate α = 0.1</a:t>
            </a:r>
          </a:p>
          <a:p>
            <a:pPr lvl="0"/>
            <a:r>
              <a:rPr/>
              <a:t>Reaches </a:t>
            </a:r>
            <a:r>
              <a:rPr b="1"/>
              <a:t>0.902 ± 0.020</a:t>
            </a:r>
            <a:r>
              <a:rPr/>
              <a:t> cross-validated accuracy</a:t>
            </a:r>
          </a:p>
          <a:p>
            <a:pPr lvl="0"/>
            <a:r>
              <a:rPr/>
              <a:t>Already ahead of any single tree from earlier in the lesson</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Boosting never stops fitting on its own</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latin typeface="Courier"/>
                        </a:rPr>
                        <a:t>n_estimators</a:t>
                      </a:r>
                      <a:r>
                        <a:rPr/>
                        <a:t> (α = 0.3, depth 3)</a:t>
                      </a:r>
                    </a:p>
                  </a:txBody>
                  <a:tcPr/>
                </a:tc>
                <a:tc>
                  <a:txBody>
                    <a:bodyPr/>
                    <a:lstStyle/>
                    <a:p>
                      <a:pPr lvl="0" indent="0" marL="0">
                        <a:buNone/>
                      </a:pPr>
                      <a:r>
                        <a:rPr/>
                        <a:t>Training accuracy</a:t>
                      </a:r>
                    </a:p>
                  </a:txBody>
                  <a:tcPr/>
                </a:tc>
                <a:tc>
                  <a:txBody>
                    <a:bodyPr/>
                    <a:lstStyle/>
                    <a:p>
                      <a:pPr lvl="0" indent="0" marL="0">
                        <a:buNone/>
                      </a:pPr>
                      <a:r>
                        <a:rPr/>
                        <a:t>Cross-validated accuracy</a:t>
                      </a:r>
                    </a:p>
                  </a:txBody>
                  <a:tcPr/>
                </a:tc>
              </a:tr>
              <a:tr h="0">
                <a:tc>
                  <a:txBody>
                    <a:bodyPr/>
                    <a:lstStyle/>
                    <a:p>
                      <a:pPr lvl="0" indent="0" marL="0">
                        <a:buNone/>
                      </a:pPr>
                      <a:r>
                        <a:rPr/>
                        <a:t>5</a:t>
                      </a:r>
                    </a:p>
                  </a:txBody>
                </a:tc>
                <a:tc>
                  <a:txBody>
                    <a:bodyPr/>
                    <a:lstStyle/>
                    <a:p>
                      <a:pPr lvl="0" indent="0" marL="0">
                        <a:buNone/>
                      </a:pPr>
                      <a:r>
                        <a:rPr/>
                        <a:t>0.840</a:t>
                      </a:r>
                    </a:p>
                  </a:txBody>
                </a:tc>
                <a:tc>
                  <a:txBody>
                    <a:bodyPr/>
                    <a:lstStyle/>
                    <a:p>
                      <a:pPr lvl="0" indent="0" marL="0">
                        <a:buNone/>
                      </a:pPr>
                      <a:r>
                        <a:rPr/>
                        <a:t>0.846 ± 0.025</a:t>
                      </a:r>
                    </a:p>
                  </a:txBody>
                </a:tc>
              </a:tr>
              <a:tr h="0">
                <a:tc>
                  <a:txBody>
                    <a:bodyPr/>
                    <a:lstStyle/>
                    <a:p>
                      <a:pPr lvl="0" indent="0" marL="0">
                        <a:buNone/>
                      </a:pPr>
                      <a:r>
                        <a:rPr/>
                        <a:t>10</a:t>
                      </a:r>
                    </a:p>
                  </a:txBody>
                </a:tc>
                <a:tc>
                  <a:txBody>
                    <a:bodyPr/>
                    <a:lstStyle/>
                    <a:p>
                      <a:pPr lvl="0" indent="0" marL="0">
                        <a:buNone/>
                      </a:pPr>
                      <a:r>
                        <a:rPr/>
                        <a:t>0.888</a:t>
                      </a:r>
                    </a:p>
                  </a:txBody>
                </a:tc>
                <a:tc>
                  <a:txBody>
                    <a:bodyPr/>
                    <a:lstStyle/>
                    <a:p>
                      <a:pPr lvl="0" indent="0" marL="0">
                        <a:buNone/>
                      </a:pPr>
                      <a:r>
                        <a:rPr/>
                        <a:t>0.870 ± 0.024</a:t>
                      </a:r>
                    </a:p>
                  </a:txBody>
                </a:tc>
              </a:tr>
              <a:tr h="0">
                <a:tc>
                  <a:txBody>
                    <a:bodyPr/>
                    <a:lstStyle/>
                    <a:p>
                      <a:pPr lvl="0" indent="0" marL="0">
                        <a:buNone/>
                      </a:pPr>
                      <a:r>
                        <a:rPr/>
                        <a:t>20</a:t>
                      </a:r>
                    </a:p>
                  </a:txBody>
                </a:tc>
                <a:tc>
                  <a:txBody>
                    <a:bodyPr/>
                    <a:lstStyle/>
                    <a:p>
                      <a:pPr lvl="0" indent="0" marL="0">
                        <a:buNone/>
                      </a:pPr>
                      <a:r>
                        <a:rPr/>
                        <a:t>0.930</a:t>
                      </a:r>
                    </a:p>
                  </a:txBody>
                </a:tc>
                <a:tc>
                  <a:txBody>
                    <a:bodyPr/>
                    <a:lstStyle/>
                    <a:p>
                      <a:pPr lvl="0" indent="0" marL="0">
                        <a:buNone/>
                      </a:pPr>
                      <a:r>
                        <a:rPr/>
                        <a:t>0.895 ± 0.027</a:t>
                      </a:r>
                    </a:p>
                  </a:txBody>
                </a:tc>
              </a:tr>
              <a:tr h="0">
                <a:tc>
                  <a:txBody>
                    <a:bodyPr/>
                    <a:lstStyle/>
                    <a:p>
                      <a:pPr lvl="0" indent="0" marL="0">
                        <a:buNone/>
                      </a:pPr>
                      <a:r>
                        <a:rPr b="1"/>
                        <a:t>30</a:t>
                      </a:r>
                    </a:p>
                  </a:txBody>
                </a:tc>
                <a:tc>
                  <a:txBody>
                    <a:bodyPr/>
                    <a:lstStyle/>
                    <a:p>
                      <a:pPr lvl="0" indent="0" marL="0">
                        <a:buNone/>
                      </a:pPr>
                      <a:r>
                        <a:rPr/>
                        <a:t>0.948</a:t>
                      </a:r>
                    </a:p>
                  </a:txBody>
                </a:tc>
                <a:tc>
                  <a:txBody>
                    <a:bodyPr/>
                    <a:lstStyle/>
                    <a:p>
                      <a:pPr lvl="0" indent="0" marL="0">
                        <a:buNone/>
                      </a:pPr>
                      <a:r>
                        <a:rPr b="1"/>
                        <a:t>0.897 ± 0.020</a:t>
                      </a:r>
                    </a:p>
                  </a:txBody>
                </a:tc>
              </a:tr>
              <a:tr h="0">
                <a:tc>
                  <a:txBody>
                    <a:bodyPr/>
                    <a:lstStyle/>
                    <a:p>
                      <a:pPr lvl="0" indent="0" marL="0">
                        <a:buNone/>
                      </a:pPr>
                      <a:r>
                        <a:rPr/>
                        <a:t>80</a:t>
                      </a:r>
                    </a:p>
                  </a:txBody>
                </a:tc>
                <a:tc>
                  <a:txBody>
                    <a:bodyPr/>
                    <a:lstStyle/>
                    <a:p>
                      <a:pPr lvl="0" indent="0" marL="0">
                        <a:buNone/>
                      </a:pPr>
                      <a:r>
                        <a:rPr/>
                        <a:t>0.978</a:t>
                      </a:r>
                    </a:p>
                  </a:txBody>
                </a:tc>
                <a:tc>
                  <a:txBody>
                    <a:bodyPr/>
                    <a:lstStyle/>
                    <a:p>
                      <a:pPr lvl="0" indent="0" marL="0">
                        <a:buNone/>
                      </a:pPr>
                      <a:r>
                        <a:rPr/>
                        <a:t>0.893 ± 0.012</a:t>
                      </a:r>
                    </a:p>
                  </a:txBody>
                </a:tc>
              </a:tr>
              <a:tr h="0">
                <a:tc>
                  <a:txBody>
                    <a:bodyPr/>
                    <a:lstStyle/>
                    <a:p>
                      <a:pPr lvl="0" indent="0" marL="0">
                        <a:buNone/>
                      </a:pPr>
                      <a:r>
                        <a:rPr/>
                        <a:t>200</a:t>
                      </a:r>
                    </a:p>
                  </a:txBody>
                </a:tc>
                <a:tc>
                  <a:txBody>
                    <a:bodyPr/>
                    <a:lstStyle/>
                    <a:p>
                      <a:pPr lvl="0" indent="0" marL="0">
                        <a:buNone/>
                      </a:pPr>
                      <a:r>
                        <a:rPr/>
                        <a:t>1.000</a:t>
                      </a:r>
                    </a:p>
                  </a:txBody>
                </a:tc>
                <a:tc>
                  <a:txBody>
                    <a:bodyPr/>
                    <a:lstStyle/>
                    <a:p>
                      <a:pPr lvl="0" indent="0" marL="0">
                        <a:buNone/>
                      </a:pPr>
                      <a:r>
                        <a:rPr/>
                        <a:t>0.895 ± 0.017</a:t>
                      </a:r>
                    </a:p>
                  </a:txBody>
                </a:tc>
              </a:tr>
              <a:tr h="0">
                <a:tc>
                  <a:txBody>
                    <a:bodyPr/>
                    <a:lstStyle/>
                    <a:p>
                      <a:pPr lvl="0" indent="0" marL="0">
                        <a:buNone/>
                      </a:pPr>
                      <a:r>
                        <a:rPr/>
                        <a:t>800</a:t>
                      </a:r>
                    </a:p>
                  </a:txBody>
                </a:tc>
                <a:tc>
                  <a:txBody>
                    <a:bodyPr/>
                    <a:lstStyle/>
                    <a:p>
                      <a:pPr lvl="0" indent="0" marL="0">
                        <a:buNone/>
                      </a:pPr>
                      <a:r>
                        <a:rPr/>
                        <a:t>1.000</a:t>
                      </a:r>
                    </a:p>
                  </a:txBody>
                </a:tc>
                <a:tc>
                  <a:txBody>
                    <a:bodyPr/>
                    <a:lstStyle/>
                    <a:p>
                      <a:pPr lvl="0" indent="0" marL="0">
                        <a:buNone/>
                      </a:pPr>
                      <a:r>
                        <a:rPr/>
                        <a:t>0.890 ± 0.019</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Training climbs to 1.000 and stays; the honest curve turns over first</a:t>
            </a:r>
          </a:p>
        </p:txBody>
      </p:sp>
      <p:pic>
        <p:nvPicPr>
          <p:cNvPr descr="gbm_learning_curve.png" id="0" name="Picture 1"/>
          <p:cNvPicPr>
            <a:picLocks noGrp="1" noChangeAspect="1"/>
          </p:cNvPicPr>
          <p:nvPr/>
        </p:nvPicPr>
        <p:blipFill>
          <a:blip r:embed="rId3"/>
          <a:stretch>
            <a:fillRect/>
          </a:stretch>
        </p:blipFill>
        <p:spPr bwMode="auto">
          <a:xfrm>
            <a:off x="2130520" y="1166099"/>
            <a:ext cx="4882959" cy="3360181"/>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Fixing 120 trees, varying only the learning rate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Learning rate α</a:t>
                      </a:r>
                    </a:p>
                  </a:txBody>
                  <a:tcPr/>
                </a:tc>
                <a:tc>
                  <a:txBody>
                    <a:bodyPr/>
                    <a:lstStyle/>
                    <a:p>
                      <a:pPr lvl="0" indent="0" marL="0">
                        <a:buNone/>
                      </a:pPr>
                      <a:r>
                        <a:rPr/>
                        <a:t>Training accuracy</a:t>
                      </a:r>
                    </a:p>
                  </a:txBody>
                  <a:tcPr/>
                </a:tc>
                <a:tc>
                  <a:txBody>
                    <a:bodyPr/>
                    <a:lstStyle/>
                    <a:p>
                      <a:pPr lvl="0" indent="0" marL="0">
                        <a:buNone/>
                      </a:pPr>
                      <a:r>
                        <a:rPr/>
                        <a:t>Cross-validated accuracy</a:t>
                      </a:r>
                    </a:p>
                  </a:txBody>
                  <a:tcPr/>
                </a:tc>
              </a:tr>
              <a:tr h="0">
                <a:tc>
                  <a:txBody>
                    <a:bodyPr/>
                    <a:lstStyle/>
                    <a:p>
                      <a:pPr lvl="0" indent="0" marL="0">
                        <a:buNone/>
                      </a:pPr>
                      <a:r>
                        <a:rPr/>
                        <a:t>0.02</a:t>
                      </a:r>
                    </a:p>
                  </a:txBody>
                </a:tc>
                <a:tc>
                  <a:txBody>
                    <a:bodyPr/>
                    <a:lstStyle/>
                    <a:p>
                      <a:pPr lvl="0" indent="0" marL="0">
                        <a:buNone/>
                      </a:pPr>
                      <a:r>
                        <a:rPr/>
                        <a:t>0.888</a:t>
                      </a:r>
                    </a:p>
                  </a:txBody>
                </a:tc>
                <a:tc>
                  <a:txBody>
                    <a:bodyPr/>
                    <a:lstStyle/>
                    <a:p>
                      <a:pPr lvl="0" indent="0" marL="0">
                        <a:buNone/>
                      </a:pPr>
                      <a:r>
                        <a:rPr/>
                        <a:t>0.872 ± 0.025</a:t>
                      </a:r>
                    </a:p>
                  </a:txBody>
                </a:tc>
              </a:tr>
              <a:tr h="0">
                <a:tc>
                  <a:txBody>
                    <a:bodyPr/>
                    <a:lstStyle/>
                    <a:p>
                      <a:pPr lvl="0" indent="0" marL="0">
                        <a:buNone/>
                      </a:pPr>
                      <a:r>
                        <a:rPr/>
                        <a:t>0.05</a:t>
                      </a:r>
                    </a:p>
                  </a:txBody>
                </a:tc>
                <a:tc>
                  <a:txBody>
                    <a:bodyPr/>
                    <a:lstStyle/>
                    <a:p>
                      <a:pPr lvl="0" indent="0" marL="0">
                        <a:buNone/>
                      </a:pPr>
                      <a:r>
                        <a:rPr/>
                        <a:t>0.914</a:t>
                      </a:r>
                    </a:p>
                  </a:txBody>
                </a:tc>
                <a:tc>
                  <a:txBody>
                    <a:bodyPr/>
                    <a:lstStyle/>
                    <a:p>
                      <a:pPr lvl="0" indent="0" marL="0">
                        <a:buNone/>
                      </a:pPr>
                      <a:r>
                        <a:rPr/>
                        <a:t>0.897 ± 0.022</a:t>
                      </a:r>
                    </a:p>
                  </a:txBody>
                </a:tc>
              </a:tr>
              <a:tr h="0">
                <a:tc>
                  <a:txBody>
                    <a:bodyPr/>
                    <a:lstStyle/>
                    <a:p>
                      <a:pPr lvl="0" indent="0" marL="0">
                        <a:buNone/>
                      </a:pPr>
                      <a:r>
                        <a:rPr b="1"/>
                        <a:t>0.10</a:t>
                      </a:r>
                    </a:p>
                  </a:txBody>
                </a:tc>
                <a:tc>
                  <a:txBody>
                    <a:bodyPr/>
                    <a:lstStyle/>
                    <a:p>
                      <a:pPr lvl="0" indent="0" marL="0">
                        <a:buNone/>
                      </a:pPr>
                      <a:r>
                        <a:rPr/>
                        <a:t>0.939</a:t>
                      </a:r>
                    </a:p>
                  </a:txBody>
                </a:tc>
                <a:tc>
                  <a:txBody>
                    <a:bodyPr/>
                    <a:lstStyle/>
                    <a:p>
                      <a:pPr lvl="0" indent="0" marL="0">
                        <a:buNone/>
                      </a:pPr>
                      <a:r>
                        <a:rPr b="1"/>
                        <a:t>0.902 ± 0.022</a:t>
                      </a:r>
                    </a:p>
                  </a:txBody>
                </a:tc>
              </a:tr>
              <a:tr h="0">
                <a:tc>
                  <a:txBody>
                    <a:bodyPr/>
                    <a:lstStyle/>
                    <a:p>
                      <a:pPr lvl="0" indent="0" marL="0">
                        <a:buNone/>
                      </a:pPr>
                      <a:r>
                        <a:rPr/>
                        <a:t>0.30</a:t>
                      </a:r>
                    </a:p>
                  </a:txBody>
                </a:tc>
                <a:tc>
                  <a:txBody>
                    <a:bodyPr/>
                    <a:lstStyle/>
                    <a:p>
                      <a:pPr lvl="0" indent="0" marL="0">
                        <a:buNone/>
                      </a:pPr>
                      <a:r>
                        <a:rPr/>
                        <a:t>0.994</a:t>
                      </a:r>
                    </a:p>
                  </a:txBody>
                </a:tc>
                <a:tc>
                  <a:txBody>
                    <a:bodyPr/>
                    <a:lstStyle/>
                    <a:p>
                      <a:pPr lvl="0" indent="0" marL="0">
                        <a:buNone/>
                      </a:pPr>
                      <a:r>
                        <a:rPr/>
                        <a:t>0.895 ± 0.020</a:t>
                      </a:r>
                    </a:p>
                  </a:txBody>
                </a:tc>
              </a:tr>
              <a:tr h="0">
                <a:tc>
                  <a:txBody>
                    <a:bodyPr/>
                    <a:lstStyle/>
                    <a:p>
                      <a:pPr lvl="0" indent="0" marL="0">
                        <a:buNone/>
                      </a:pPr>
                      <a:r>
                        <a:rPr/>
                        <a:t>1.00</a:t>
                      </a:r>
                    </a:p>
                  </a:txBody>
                </a:tc>
                <a:tc>
                  <a:txBody>
                    <a:bodyPr/>
                    <a:lstStyle/>
                    <a:p>
                      <a:pPr lvl="0" indent="0" marL="0">
                        <a:buNone/>
                      </a:pPr>
                      <a:r>
                        <a:rPr/>
                        <a:t>1.000</a:t>
                      </a:r>
                    </a:p>
                  </a:txBody>
                </a:tc>
                <a:tc>
                  <a:txBody>
                    <a:bodyPr/>
                    <a:lstStyle/>
                    <a:p>
                      <a:pPr lvl="0" indent="0" marL="0">
                        <a:buNone/>
                      </a:pPr>
                      <a:r>
                        <a:rPr/>
                        <a:t>0.878 ± 0.020</a:t>
                      </a:r>
                    </a:p>
                  </a:txBody>
                </a:tc>
              </a:tr>
            </a:tbl>
          </a:graphicData>
        </a:graphic>
      </p:graphicFrame>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1. boosting from scratch, 40-44</a:t>
                      </a:r>
                    </a:p>
                  </a:txBody>
                </a:tc>
                <a:tc>
                  <a:txBody>
                    <a:bodyPr/>
                    <a:lstStyle/>
                    <a:p>
                      <a:pPr lvl="0" indent="0" marL="0">
                        <a:buNone/>
                      </a:pPr>
                      <a:r>
                        <a:rPr>
                          <a:latin typeface="Courier"/>
                        </a:rPr>
                        <a:t>DecisionTreeRegressor(max_depth=2)</a:t>
                      </a:r>
                      <a:r>
                        <a:rPr/>
                        <a:t> on the residuals, 60 times → MSE 0.0119 at 20 trees</a:t>
                      </a:r>
                    </a:p>
                  </a:txBody>
                </a:tc>
              </a:tr>
              <a:tr h="0">
                <a:tc>
                  <a:txBody>
                    <a:bodyPr/>
                    <a:lstStyle/>
                    <a:p>
                      <a:pPr lvl="0" indent="0" marL="0">
                        <a:buNone/>
                      </a:pPr>
                      <a:r>
                        <a:rPr/>
                        <a:t>2. classification, 45-46</a:t>
                      </a:r>
                    </a:p>
                  </a:txBody>
                </a:tc>
                <a:tc>
                  <a:txBody>
                    <a:bodyPr/>
                    <a:lstStyle/>
                    <a:p>
                      <a:pPr lvl="0" indent="0" marL="0">
                        <a:buNone/>
                      </a:pPr>
                      <a:r>
                        <a:rPr>
                          <a:latin typeface="Courier"/>
                        </a:rPr>
                        <a:t>GradientBoostingClassifier()</a:t>
                      </a:r>
                      <a:r>
                        <a:rPr/>
                        <a:t> in </a:t>
                      </a:r>
                      <a:r>
                        <a:rPr>
                          <a:latin typeface="Courier"/>
                        </a:rPr>
                        <a:t>cross_val_score</a:t>
                      </a:r>
                      <a:r>
                        <a:rPr/>
                        <a:t> → F0 = −0.461; 0.902</a:t>
                      </a:r>
                    </a:p>
                  </a:txBody>
                </a:tc>
              </a:tr>
              <a:tr h="0">
                <a:tc>
                  <a:txBody>
                    <a:bodyPr/>
                    <a:lstStyle/>
                    <a:p>
                      <a:pPr lvl="0" indent="0" marL="0">
                        <a:buNone/>
                      </a:pPr>
                      <a:r>
                        <a:rPr/>
                        <a:t>3. more trees, 47-48</a:t>
                      </a:r>
                    </a:p>
                  </a:txBody>
                </a:tc>
                <a:tc>
                  <a:txBody>
                    <a:bodyPr/>
                    <a:lstStyle/>
                    <a:p>
                      <a:pPr lvl="0" indent="0" marL="0">
                        <a:buNone/>
                      </a:pPr>
                      <a:r>
                        <a:rPr/>
                        <a:t>the same, </a:t>
                      </a:r>
                      <a:r>
                        <a:rPr>
                          <a:latin typeface="Courier"/>
                        </a:rPr>
                        <a:t>learning_rate=0.3</a:t>
                      </a:r>
                      <a:r>
                        <a:rPr/>
                        <a:t>, </a:t>
                      </a:r>
                      <a:r>
                        <a:rPr>
                          <a:latin typeface="Courier"/>
                        </a:rPr>
                        <a:t>n_estimators</a:t>
                      </a:r>
                      <a:r>
                        <a:rPr/>
                        <a:t> from 5 to 800 → peak 0.897 at 30</a:t>
                      </a:r>
                    </a:p>
                  </a:txBody>
                </a:tc>
              </a:tr>
              <a:tr h="0">
                <a:tc>
                  <a:txBody>
                    <a:bodyPr/>
                    <a:lstStyle/>
                    <a:p>
                      <a:pPr lvl="0" indent="0" marL="0">
                        <a:buNone/>
                      </a:pPr>
                      <a:r>
                        <a:rPr/>
                        <a:t>4. learning rate, 49</a:t>
                      </a:r>
                    </a:p>
                  </a:txBody>
                </a:tc>
                <a:tc>
                  <a:txBody>
                    <a:bodyPr/>
                    <a:lstStyle/>
                    <a:p>
                      <a:pPr lvl="0" indent="0" marL="0">
                        <a:buNone/>
                      </a:pPr>
                      <a:r>
                        <a:rPr/>
                        <a:t>the same with </a:t>
                      </a:r>
                      <a:r>
                        <a:rPr>
                          <a:latin typeface="Courier"/>
                        </a:rPr>
                        <a:t>n_estimators=120</a:t>
                      </a:r>
                      <a:r>
                        <a:rPr/>
                        <a:t> and </a:t>
                      </a:r>
                      <a:r>
                        <a:rPr>
                          <a:latin typeface="Courier"/>
                        </a:rPr>
                        <a:t>learning_rate</a:t>
                      </a:r>
                      <a:r>
                        <a:rPr/>
                        <a:t> from 0.02 to 1.0 → best 0.902 at 0.1</a:t>
                      </a:r>
                    </a:p>
                  </a:txBody>
                </a:tc>
              </a:tr>
              <a:tr h="0">
                <a:tc>
                  <a:txBody>
                    <a:bodyPr/>
                    <a:lstStyle/>
                    <a:p>
                      <a:pPr lvl="0" indent="0" marL="0">
                        <a:buNone/>
                      </a:pPr>
                      <a:r>
                        <a:rPr/>
                        <a:t>5. leaderboard, 51</a:t>
                      </a:r>
                    </a:p>
                  </a:txBody>
                </a:tc>
                <a:tc>
                  <a:txBody>
                    <a:bodyPr/>
                    <a:lstStyle/>
                    <a:p>
                      <a:pPr lvl="0" indent="0" marL="0">
                        <a:buNone/>
                      </a:pPr>
                      <a:r>
                        <a:rPr/>
                        <a:t>every model in one </a:t>
                      </a:r>
                      <a:r>
                        <a:rPr>
                          <a:latin typeface="Courier"/>
                        </a:rPr>
                        <a:t>cross_val_score</a:t>
                      </a:r>
                      <a:r>
                        <a:rPr/>
                        <a:t> loop → random forest 0.911</a:t>
                      </a:r>
                    </a:p>
                  </a:txBody>
                </a:tc>
              </a:tr>
            </a:tbl>
          </a:graphicData>
        </a:graphic>
      </p:graphicFrame>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Every method, on the same five folds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Model</a:t>
                      </a:r>
                    </a:p>
                  </a:txBody>
                  <a:tcPr/>
                </a:tc>
                <a:tc>
                  <a:txBody>
                    <a:bodyPr/>
                    <a:lstStyle/>
                    <a:p>
                      <a:pPr lvl="0" indent="0" marL="0">
                        <a:buNone/>
                      </a:pPr>
                      <a:r>
                        <a:rPr/>
                        <a:t>Cross-validated accuracy</a:t>
                      </a:r>
                    </a:p>
                  </a:txBody>
                  <a:tcPr/>
                </a:tc>
              </a:tr>
              <a:tr h="0">
                <a:tc>
                  <a:txBody>
                    <a:bodyPr/>
                    <a:lstStyle/>
                    <a:p>
                      <a:pPr lvl="0" indent="0" marL="0">
                        <a:buNone/>
                      </a:pPr>
                      <a:r>
                        <a:rPr/>
                        <a:t>Majority baseline</a:t>
                      </a:r>
                    </a:p>
                  </a:txBody>
                </a:tc>
                <a:tc>
                  <a:txBody>
                    <a:bodyPr/>
                    <a:lstStyle/>
                    <a:p>
                      <a:pPr lvl="0" indent="0" marL="0">
                        <a:buNone/>
                      </a:pPr>
                      <a:r>
                        <a:rPr/>
                        <a:t>0.613</a:t>
                      </a:r>
                    </a:p>
                  </a:txBody>
                </a:tc>
              </a:tr>
              <a:tr h="0">
                <a:tc>
                  <a:txBody>
                    <a:bodyPr/>
                    <a:lstStyle/>
                    <a:p>
                      <a:pPr lvl="0" indent="0" marL="0">
                        <a:buNone/>
                      </a:pPr>
                      <a:r>
                        <a:rPr/>
                        <a:t>Logistic regression</a:t>
                      </a:r>
                    </a:p>
                  </a:txBody>
                </a:tc>
                <a:tc>
                  <a:txBody>
                    <a:bodyPr/>
                    <a:lstStyle/>
                    <a:p>
                      <a:pPr lvl="0" indent="0" marL="0">
                        <a:buNone/>
                      </a:pPr>
                      <a:r>
                        <a:rPr/>
                        <a:t>0.748</a:t>
                      </a:r>
                    </a:p>
                  </a:txBody>
                </a:tc>
              </a:tr>
              <a:tr h="0">
                <a:tc>
                  <a:txBody>
                    <a:bodyPr/>
                    <a:lstStyle/>
                    <a:p>
                      <a:pPr lvl="0" indent="0" marL="0">
                        <a:buNone/>
                      </a:pPr>
                      <a:r>
                        <a:rPr/>
                        <a:t>Single tree, unconstrained</a:t>
                      </a:r>
                    </a:p>
                  </a:txBody>
                </a:tc>
                <a:tc>
                  <a:txBody>
                    <a:bodyPr/>
                    <a:lstStyle/>
                    <a:p>
                      <a:pPr lvl="0" indent="0" marL="0">
                        <a:buNone/>
                      </a:pPr>
                      <a:r>
                        <a:rPr/>
                        <a:t>0.852</a:t>
                      </a:r>
                    </a:p>
                  </a:txBody>
                </a:tc>
              </a:tr>
              <a:tr h="0">
                <a:tc>
                  <a:txBody>
                    <a:bodyPr/>
                    <a:lstStyle/>
                    <a:p>
                      <a:pPr lvl="0" indent="0" marL="0">
                        <a:buNone/>
                      </a:pPr>
                      <a:r>
                        <a:rPr/>
                        <a:t>Single tree, </a:t>
                      </a:r>
                      <a:r>
                        <a:rPr>
                          <a:latin typeface="Courier"/>
                        </a:rPr>
                        <a:t>max_depth = 8</a:t>
                      </a:r>
                    </a:p>
                  </a:txBody>
                </a:tc>
                <a:tc>
                  <a:txBody>
                    <a:bodyPr/>
                    <a:lstStyle/>
                    <a:p>
                      <a:pPr lvl="0" indent="0" marL="0">
                        <a:buNone/>
                      </a:pPr>
                      <a:r>
                        <a:rPr/>
                        <a:t>0.882</a:t>
                      </a:r>
                    </a:p>
                  </a:txBody>
                </a:tc>
              </a:tr>
              <a:tr h="0">
                <a:tc>
                  <a:txBody>
                    <a:bodyPr/>
                    <a:lstStyle/>
                    <a:p>
                      <a:pPr lvl="0" indent="0" marL="0">
                        <a:buNone/>
                      </a:pPr>
                      <a:r>
                        <a:rPr/>
                        <a:t>Gradient boosting, 30 trees</a:t>
                      </a:r>
                    </a:p>
                  </a:txBody>
                </a:tc>
                <a:tc>
                  <a:txBody>
                    <a:bodyPr/>
                    <a:lstStyle/>
                    <a:p>
                      <a:pPr lvl="0" indent="0" marL="0">
                        <a:buNone/>
                      </a:pPr>
                      <a:r>
                        <a:rPr/>
                        <a:t>0.897</a:t>
                      </a:r>
                    </a:p>
                  </a:txBody>
                </a:tc>
              </a:tr>
              <a:tr h="0">
                <a:tc>
                  <a:txBody>
                    <a:bodyPr/>
                    <a:lstStyle/>
                    <a:p>
                      <a:pPr lvl="0" indent="0" marL="0">
                        <a:buNone/>
                      </a:pPr>
                      <a:r>
                        <a:rPr/>
                        <a:t>Bagging, 100 trees</a:t>
                      </a:r>
                    </a:p>
                  </a:txBody>
                </a:tc>
                <a:tc>
                  <a:txBody>
                    <a:bodyPr/>
                    <a:lstStyle/>
                    <a:p>
                      <a:pPr lvl="0" indent="0" marL="0">
                        <a:buNone/>
                      </a:pPr>
                      <a:r>
                        <a:rPr/>
                        <a:t>0.904</a:t>
                      </a:r>
                    </a:p>
                  </a:txBody>
                </a:tc>
              </a:tr>
              <a:tr h="0">
                <a:tc>
                  <a:txBody>
                    <a:bodyPr/>
                    <a:lstStyle/>
                    <a:p>
                      <a:pPr lvl="0" indent="0" marL="0">
                        <a:buNone/>
                      </a:pPr>
                      <a:r>
                        <a:rPr b="1"/>
                        <a:t>Random forest, 100 trees</a:t>
                      </a:r>
                    </a:p>
                  </a:txBody>
                </a:tc>
                <a:tc>
                  <a:txBody>
                    <a:bodyPr/>
                    <a:lstStyle/>
                    <a:p>
                      <a:pPr lvl="0" indent="0" marL="0">
                        <a:buNone/>
                      </a:pPr>
                      <a:r>
                        <a:rPr b="1"/>
                        <a:t>0.911</a:t>
                      </a:r>
                    </a:p>
                  </a:txBody>
                </a:tc>
              </a:tr>
              <a:tr h="0">
                <a:tc>
                  <a:txBody>
                    <a:bodyPr/>
                    <a:lstStyle/>
                    <a:p>
                      <a:pPr lvl="0" indent="0" marL="0">
                        <a:buNone/>
                      </a:pPr>
                      <a:r>
                        <a:rPr i="1"/>
                        <a:t>noise ceiling</a:t>
                      </a:r>
                    </a:p>
                  </a:txBody>
                </a:tc>
                <a:tc>
                  <a:txBody>
                    <a:bodyPr/>
                    <a:lstStyle/>
                    <a:p>
                      <a:pPr lvl="0" indent="0" marL="0">
                        <a:buNone/>
                      </a:pPr>
                      <a:r>
                        <a:rPr i="1"/>
                        <a:t>≈ 0.93</a:t>
                      </a:r>
                    </a:p>
                  </a:txBody>
                </a:tc>
              </a:tr>
            </a:tbl>
          </a:graphicData>
        </a:graphic>
      </p:graphicFrame>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findings</a:t>
            </a:r>
          </a:p>
        </p:txBody>
      </p:sp>
      <p:sp>
        <p:nvSpPr>
          <p:cNvPr id="3" name="Content Placeholder 2"/>
          <p:cNvSpPr>
            <a:spLocks noGrp="1"/>
          </p:cNvSpPr>
          <p:nvPr>
            <p:ph idx="1"/>
          </p:nvPr>
        </p:nvSpPr>
        <p:spPr>
          <a:xfrm>
            <a:off x="457200" y="1200151"/>
            <a:ext cx="8229600" cy="3394472"/>
          </a:xfrm>
        </p:spPr>
        <p:txBody>
          <a:bodyPr/>
          <a:lstStyle/>
          <a:p>
            <a:pPr lvl="0"/>
            <a:r>
              <a:rPr b="1"/>
              <a:t>On this dataset</a:t>
            </a:r>
            <a:r>
              <a:rPr/>
              <a:t>, the ensembles land within 1.5 points of each other: </a:t>
            </a:r>
            <a:r>
              <a:rPr b="1"/>
              <a:t>whether you ensemble</a:t>
            </a:r>
            <a:r>
              <a:rPr/>
              <a:t> matters more than </a:t>
            </a:r>
            <a:r>
              <a:rPr b="1"/>
              <a:t>which</a:t>
            </a:r>
          </a:p>
          <a:p>
            <a:pPr lvl="0"/>
            <a:r>
              <a:rPr/>
              <a:t>The tuned single tree is close behind, 0.882 against 0.911, and the only model here a person can read</a:t>
            </a:r>
          </a:p>
          <a:p>
            <a:pPr lvl="0"/>
            <a:r>
              <a:rPr/>
              <a:t>The </a:t>
            </a:r>
            <a:r>
              <a:rPr b="1"/>
              <a:t>unconstrained tree is the worst</a:t>
            </a:r>
            <a:r>
              <a:rPr/>
              <a:t>, though the most flexible</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to choose, in practice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Situation</a:t>
                      </a:r>
                    </a:p>
                  </a:txBody>
                  <a:tcPr/>
                </a:tc>
                <a:tc>
                  <a:txBody>
                    <a:bodyPr/>
                    <a:lstStyle/>
                    <a:p>
                      <a:pPr lvl="0" indent="0" marL="0">
                        <a:buNone/>
                      </a:pPr>
                      <a:r>
                        <a:rPr/>
                        <a:t>Reach for</a:t>
                      </a:r>
                    </a:p>
                  </a:txBody>
                  <a:tcPr/>
                </a:tc>
              </a:tr>
              <a:tr h="0">
                <a:tc>
                  <a:txBody>
                    <a:bodyPr/>
                    <a:lstStyle/>
                    <a:p>
                      <a:pPr lvl="0" indent="0" marL="0">
                        <a:buNone/>
                      </a:pPr>
                      <a:r>
                        <a:rPr/>
                        <a:t>The decision must be explained to the person it affects</a:t>
                      </a:r>
                    </a:p>
                  </a:txBody>
                </a:tc>
                <a:tc>
                  <a:txBody>
                    <a:bodyPr/>
                    <a:lstStyle/>
                    <a:p>
                      <a:pPr lvl="0" indent="0" marL="0">
                        <a:buNone/>
                      </a:pPr>
                      <a:r>
                        <a:rPr/>
                        <a:t>A single tree, small enough to read; if even that is too opaque, none of these models</a:t>
                      </a:r>
                    </a:p>
                  </a:txBody>
                </a:tc>
              </a:tr>
              <a:tr h="0">
                <a:tc>
                  <a:txBody>
                    <a:bodyPr/>
                    <a:lstStyle/>
                    <a:p>
                      <a:pPr lvl="0" indent="0" marL="0">
                        <a:buNone/>
                      </a:pPr>
                      <a:r>
                        <a:rPr/>
                        <a:t>Tabular data, accuracy matters most, no explanation required</a:t>
                      </a:r>
                    </a:p>
                  </a:txBody>
                </a:tc>
                <a:tc>
                  <a:txBody>
                    <a:bodyPr/>
                    <a:lstStyle/>
                    <a:p>
                      <a:pPr lvl="0" indent="0" marL="0">
                        <a:buNone/>
                      </a:pPr>
                      <a:r>
                        <a:rPr/>
                        <a:t>A random forest: the best score here, at its default settings</a:t>
                      </a:r>
                    </a:p>
                  </a:txBody>
                </a:tc>
              </a:tr>
              <a:tr h="0">
                <a:tc>
                  <a:txBody>
                    <a:bodyPr/>
                    <a:lstStyle/>
                    <a:p>
                      <a:pPr lvl="0" indent="0" marL="0">
                        <a:buNone/>
                      </a:pPr>
                      <a:r>
                        <a:rPr/>
                        <a:t>Accuracy matters, and there is time to tune the number of trees and the learning rate together</a:t>
                      </a:r>
                    </a:p>
                  </a:txBody>
                </a:tc>
                <a:tc>
                  <a:txBody>
                    <a:bodyPr/>
                    <a:lstStyle/>
                    <a:p>
                      <a:pPr lvl="0" indent="0" marL="0">
                        <a:buNone/>
                      </a:pPr>
                      <a:r>
                        <a:rPr/>
                        <a:t>Gradient boosting, tuned on validation data</a:t>
                      </a:r>
                    </a:p>
                  </a:txBody>
                </a:tc>
              </a:tr>
              <a:tr h="0">
                <a:tc>
                  <a:txBody>
                    <a:bodyPr/>
                    <a:lstStyle/>
                    <a:p>
                      <a:pPr lvl="0" indent="0" marL="0">
                        <a:buNone/>
                      </a:pPr>
                      <a:r>
                        <a:rPr/>
                        <a:t>Many columns, few of them informative</a:t>
                      </a:r>
                    </a:p>
                  </a:txBody>
                </a:tc>
                <a:tc>
                  <a:txBody>
                    <a:bodyPr/>
                    <a:lstStyle/>
                    <a:p>
                      <a:pPr lvl="0" indent="0" marL="0">
                        <a:buNone/>
                      </a:pPr>
                      <a:r>
                        <a:rPr/>
                        <a:t>Any tree method, but check its importances by permutation</a:t>
                      </a:r>
                    </a:p>
                  </a:txBody>
                </a:tc>
              </a:tr>
              <a:tr h="0">
                <a:tc>
                  <a:txBody>
                    <a:bodyPr/>
                    <a:lstStyle/>
                    <a:p>
                      <a:pPr lvl="0" indent="0" marL="0">
                        <a:buNone/>
                      </a:pPr>
                      <a:r>
                        <a:rPr/>
                        <a:t>Too few rows to set a validation set aside</a:t>
                      </a:r>
                    </a:p>
                  </a:txBody>
                </a:tc>
                <a:tc>
                  <a:txBody>
                    <a:bodyPr/>
                    <a:lstStyle/>
                    <a:p>
                      <a:pPr lvl="0" indent="0" marL="0">
                        <a:buNone/>
                      </a:pPr>
                      <a:r>
                        <a:rPr/>
                        <a:t>A random forest, judged by its out-of-bag score</a:t>
                      </a:r>
                    </a:p>
                  </a:txBody>
                </a:tc>
              </a:tr>
            </a:tbl>
          </a:graphicData>
        </a:graphic>
      </p:graphicFrame>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54% of the importance landed on noise</a:t>
            </a:r>
          </a:p>
        </p:txBody>
      </p:sp>
      <p:sp>
        <p:nvSpPr>
          <p:cNvPr id="3" name="Content Placeholder 2"/>
          <p:cNvSpPr>
            <a:spLocks noGrp="1"/>
          </p:cNvSpPr>
          <p:nvPr>
            <p:ph idx="1"/>
          </p:nvPr>
        </p:nvSpPr>
        <p:spPr>
          <a:xfrm>
            <a:off x="457200" y="1200151"/>
            <a:ext cx="8229600" cy="3394472"/>
          </a:xfrm>
        </p:spPr>
        <p:txBody>
          <a:bodyPr/>
          <a:lstStyle/>
          <a:p>
            <a:pPr lvl="0"/>
            <a:r>
              <a:rPr/>
              <a:t>20 noise columns, 2 real ones: not small, not a bug</a:t>
            </a:r>
          </a:p>
          <a:p>
            <a:pPr lvl="0"/>
            <a:r>
              <a:rPr b="1"/>
              <a:t>The menu</a:t>
            </a:r>
            <a:r>
              <a:rPr/>
              <a:t>: 4 of 22 columns per split; in two splits of three (0.662), no real feature</a:t>
            </a:r>
          </a:p>
          <a:p>
            <a:pPr lvl="0"/>
            <a:r>
              <a:rPr b="1"/>
              <a:t>Small groups</a:t>
            </a:r>
            <a:r>
              <a:rPr/>
              <a:t>: with all 22 on offer, noise still takes </a:t>
            </a:r>
            <a:r>
              <a:rPr b="1"/>
              <a:t>28%</a:t>
            </a:r>
            <a:r>
              <a:rPr/>
              <a:t>, from deep splits</a:t>
            </a:r>
          </a:p>
          <a:p>
            <a:pPr lvl="0"/>
            <a:r>
              <a:rPr/>
              <a:t>The check: </a:t>
            </a:r>
            <a:r>
              <a:rPr b="1"/>
              <a:t>permutation importance</a:t>
            </a:r>
            <a:r>
              <a:rPr/>
              <a:t>, slide 38</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take away</a:t>
            </a:r>
          </a:p>
        </p:txBody>
      </p:sp>
      <p:sp>
        <p:nvSpPr>
          <p:cNvPr id="3" name="Content Placeholder 2"/>
          <p:cNvSpPr>
            <a:spLocks noGrp="1"/>
          </p:cNvSpPr>
          <p:nvPr>
            <p:ph idx="1"/>
          </p:nvPr>
        </p:nvSpPr>
        <p:spPr>
          <a:xfrm>
            <a:off x="457200" y="1200151"/>
            <a:ext cx="8229600" cy="3394472"/>
          </a:xfrm>
        </p:spPr>
        <p:txBody>
          <a:bodyPr/>
          <a:lstStyle/>
          <a:p>
            <a:pPr lvl="0"/>
            <a:r>
              <a:rPr/>
              <a:t>A tree splits greedily on Gini impurity, matching scikit-learn</a:t>
            </a:r>
          </a:p>
          <a:p>
            <a:pPr lvl="0"/>
            <a:r>
              <a:rPr/>
              <a:t>Depth is the bias-variance dial: accuracy peaked at </a:t>
            </a:r>
            <a:r>
              <a:rPr b="1"/>
              <a:t>depth 8</a:t>
            </a:r>
          </a:p>
          <a:p>
            <a:pPr lvl="0"/>
            <a:r>
              <a:rPr/>
              <a:t>Bootstrap resampling leaves </a:t>
            </a:r>
            <a:r>
              <a:rPr b="1"/>
              <a:t>36.8%</a:t>
            </a:r>
            <a:r>
              <a:rPr/>
              <a:t> of rows out-of-bag: free validation</a:t>
            </a:r>
          </a:p>
          <a:p>
            <a:pPr lvl="0"/>
            <a:r>
              <a:rPr b="1"/>
              <a:t>54% of a random forest’s importance landed on 20 noise columns</a:t>
            </a:r>
            <a:r>
              <a:rPr/>
              <a:t>, today’s number</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a:t>
            </a:r>
          </a:p>
        </p:txBody>
      </p:sp>
      <p:sp>
        <p:nvSpPr>
          <p:cNvPr id="3" name="Content Placeholder 2"/>
          <p:cNvSpPr>
            <a:spLocks noGrp="1"/>
          </p:cNvSpPr>
          <p:nvPr>
            <p:ph idx="1"/>
          </p:nvPr>
        </p:nvSpPr>
        <p:spPr>
          <a:xfrm>
            <a:off x="457200" y="1200151"/>
            <a:ext cx="8229600" cy="3394472"/>
          </a:xfrm>
        </p:spPr>
        <p:txBody>
          <a:bodyPr/>
          <a:lstStyle/>
          <a:p>
            <a:pPr lvl="0"/>
            <a:r>
              <a:rPr b="1"/>
              <a:t>Exercise 7</a:t>
            </a:r>
            <a:r>
              <a:rPr/>
              <a:t>, discussed at the start of </a:t>
            </a:r>
            <a:r>
              <a:rPr b="1"/>
              <a:t>Friday 20 November</a:t>
            </a:r>
          </a:p>
          <a:p>
            <a:pPr lvl="0"/>
            <a:r>
              <a:rPr>
                <a:latin typeface="Courier"/>
              </a:rPr>
              <a:t>Exercises/07_trees_and_ensembles.md</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7: Trees and Ensembles</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13 November 2026</vt:lpwstr>
  </property>
  <property fmtid="{D5CDD505-2E9C-101B-9397-08002B2CF9AE}" pid="3" name="subtitle">
    <vt:lpwstr>Technologies for Artificial Intelligence</vt:lpwstr>
  </property>
</Properties>
</file>