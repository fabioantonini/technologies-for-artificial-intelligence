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6 quickly - a sentence on what the class did well (most picked a defensible family) and a sentence on the common gap (several reports quoted a cross-validated score without ever checking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pc is the fraction of the group belonging to class c,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mL and mR are the sizes of the two children, mP = mL + mR. Read it as: what the parent’s impurity was, minus what is left after the split, weighted by how the group was divided. The tree keeps whichever candidate split makes Δ 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 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Ft is the previous ensemble plus a scaled correction from the newest tree, ht. Read it left to right: start flat, then keep adding small, scaled corrections.</a:t>
            </a:r>
          </a:p>
          <a:p>
            <a:pPr lvl="0" indent="0" marL="0">
              <a:buNone/>
            </a:pPr>
          </a:p>
          <a:p>
            <a:pPr lvl="0" indent="0" marL="0">
              <a:buNone/>
            </a:pPr>
            <a:r>
              <a:rPr/>
              <a:t>Do not derive anything further here - the next slide states what ht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13 November, 23:59 - the same date lesson 8 begins.</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which family</a:t>
            </a:r>
            <a:r>
              <a:rPr/>
              <a:t>, not for the winning score</a:t>
            </a:r>
          </a:p>
          <a:p>
            <a:pPr lvl="0"/>
            <a:r>
              <a:rPr/>
              <a:t>The recurring gap: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683251" y="1166099"/>
            <a:ext cx="7777497"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 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 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If a tree’s mistakes are somewhat random: different across resamples, as just measured: </a:t>
            </a:r>
            <a:r>
              <a:rPr b="1"/>
              <a:t>many trees, averaged</a:t>
            </a:r>
            <a:r>
              <a:rPr/>
              <a:t>, should partly cancel them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total impurity reduction each feature is responsible for, summed and averaged across every tree and every split</a:t>
            </a:r>
          </a:p>
          <a:p>
            <a:pPr lvl="0"/>
            <a:r>
              <a:rPr/>
              <a:t>Tempting to read as “the forest tells you which features matter”</a:t>
            </a:r>
          </a:p>
          <a:p>
            <a:pPr lvl="0"/>
            <a:r>
              <a:rPr/>
              <a:t>With only the two real features in this dataset,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Ft₋₁(x)</a:t>
            </a:r>
          </a:p>
          <a:p>
            <a:pPr lvl="0"/>
            <a:r>
              <a:rPr/>
              <a:t>This is a special case of a more general idea: </a:t>
            </a:r>
            <a:r>
              <a:rPr b="1"/>
              <a:t>functional gradient descent</a:t>
            </a:r>
            <a:r>
              <a:rPr/>
              <a:t>: ht approximates the negative gradient of the loss with respect to Ft₋₁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about a point and a half of the others, </a:t>
            </a:r>
            <a:r>
              <a:rPr b="1"/>
              <a:t>which strategy</a:t>
            </a:r>
            <a:r>
              <a:rPr/>
              <a:t> you pick matters far less than </a:t>
            </a:r>
            <a:r>
              <a:rPr b="1"/>
              <a:t>whether you ensemble at all</a:t>
            </a:r>
          </a:p>
          <a:p>
            <a:pPr lvl="0"/>
            <a:r>
              <a:rPr/>
              <a:t>The single tuned tree is not far behind, at 0.883 against 0.911, and it is the only model on the table a person could read start to finish</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verified to the </a:t>
            </a:r>
            <a:r>
              <a:rPr b="1"/>
              <a:t>fourth decimal place</a:t>
            </a:r>
            <a:r>
              <a:rPr/>
              <a:t> against scikit-learn</a:t>
            </a:r>
          </a:p>
          <a:p>
            <a:pPr lvl="0"/>
            <a:r>
              <a:rPr/>
              <a:t>Depth is the bias-variance dial: accuracy peaked at </a:t>
            </a:r>
            <a:r>
              <a:rPr b="1"/>
              <a:t>depth 8</a:t>
            </a:r>
            <a:r>
              <a:rPr/>
              <a:t>, three points above the unconstrained tree</a:t>
            </a:r>
          </a:p>
          <a:p>
            <a:pPr lvl="0"/>
            <a:r>
              <a:rPr/>
              <a:t>Bootstrap resampling leaves </a:t>
            </a:r>
            <a:r>
              <a:rPr b="1"/>
              <a:t>36.8%</a:t>
            </a:r>
            <a:r>
              <a:rPr/>
              <a:t> of rows out-of-bag, free validation</a:t>
            </a:r>
          </a:p>
          <a:p>
            <a:pPr lvl="0"/>
            <a:r>
              <a:rPr b="1"/>
              <a:t>54% of a random forest’s importance landed on 20 noise columns</a:t>
            </a:r>
            <a:r>
              <a:rPr/>
              <a:t>, today’s number worth remembering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due </a:t>
            </a:r>
            <a:r>
              <a:rPr b="1"/>
              <a:t>Friday 13 November 2026, 23:59</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