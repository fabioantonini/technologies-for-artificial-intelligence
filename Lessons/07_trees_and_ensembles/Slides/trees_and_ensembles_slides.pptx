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primitive — a threshold, not a distance or an inner product — and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6 quickly — a sentence on what the class did well (most picked a defensible family) and a sentence on the common gap (several reports quoted a cross-validated score without ever checking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Three of the four risky regions are monotonic in at least one feature, and a linear boundary handles monotonic effects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pc is the fraction of the group belonging to class c,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section 3 measures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mL and mR are the sizes of the two children, mP = mL + mR. Read it as: what the parent’s impurity was, minus what is left after the split, weighted by how the group was divided. The tree keeps whichever candidate split makes Δ 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 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always, on any data — the answer is that splitting never has to stop until every leaf holds one example, which it then “predicts” perfectly by definition.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This is the second time this course has shown a curve bend this way — lesson 3’s Lasso penalty was the first.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the tree affords only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For a tree meant to be read rather than merely scored, best-first growth is the better knob: a small budget of splits goes to the ones that matter most, instead of being spent uniformly across every branch regardless of whether it’s worth it.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under resampling, because the evidence behind it — 1,200 points supporting the debt ceiling — is overwhelming. Everything weaker than that is supported by far fewer points, and those splits are what actually determine a tree’s shape.</a:t>
            </a:r>
          </a:p>
          <a:p>
            <a:pPr lvl="0" indent="0" marL="0">
              <a:buNone/>
            </a:pPr>
          </a:p>
          <a:p>
            <a:pPr lvl="0" indent="0" marL="0">
              <a:buNone/>
            </a:pPr>
            <a:r>
              <a:rPr/>
              <a:t>Ask the room what 11.7% disagreement between two trees fit to almost the same data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printing the 11.7% disagreement figure themselves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Section 4 just measured that two trees on overlapping resamples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Be precise about “with replacement”: some rows appear more than once in a given sample, some not at all. That leftover fraction is not wasted — it becomes free validation data, on the next slide.</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do not derive it — the limit that gives 63.2%/36.8% is a standard exponential limit, worked out in full in the handout, and it does not belong on a slide. What matters here is the consequence: every bootstrap tree automatically leaves out over a third of the data it never saw, for free.</a:t>
            </a:r>
          </a:p>
          <a:p>
            <a:pPr lvl="0" indent="0" marL="0">
              <a:buNone/>
            </a:pPr>
          </a:p>
          <a:p>
            <a:pPr lvl="0" indent="0" marL="0">
              <a:buNone/>
            </a:pPr>
            <a:r>
              <a:rPr/>
              <a:t>Ask the room what that leftover third is good for. The answer is the next slide: it is validation data for exactly the one tree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OOB score </a:t>
            </a:r>
            <a:r>
              <a:rPr i="1"/>
              <a:t>is</a:t>
            </a:r>
            <a:r>
              <a:rPr/>
              <a:t> cross-validation with different bookkeeping — each tree supplying its own held-out fold, the rows it never bootstrapped, instead of the dataset being split up front.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the handout, and it does not belong on a slide.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independent 70/30 splits of the loan data, both numbers moved in the predicted direction. The mean rose, because bagging also averages out some of a deep tree’s overfitting; the spread fell, which is exactly what the previous slide’s formula says averaging correlated estimators should do.</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30 splits as the bagging comparison. The random forest beats plain bagging on both counts — a better mean and a tighter spread — consistent with ρ having fallen further, exactly as the restriction on the previous slide predicts.</a:t>
            </a:r>
          </a:p>
          <a:p>
            <a:pPr lvl="0" indent="0" marL="0">
              <a:buNone/>
            </a:pPr>
          </a:p>
          <a:p>
            <a:pPr lvl="0" indent="0" marL="0">
              <a:buNone/>
            </a:pPr>
            <a:r>
              <a:rPr/>
              <a:t>Say plainly what has and hasn’t changed: nothing about the splitting rule is different from section 2. The only change across all three rows of this table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let the bottom row sit before explaining anything. With 20 pure-noise columns against 2 real features, more than half of the forest’s own importance scores land on columns that are </a:t>
            </a:r>
            <a:r>
              <a:rPr>
                <a:latin typeface="Courier"/>
              </a:rPr>
              <a:t>np.random.normal</a:t>
            </a:r>
            <a:r>
              <a:rPr/>
              <a:t> noise by construction.</a:t>
            </a:r>
          </a:p>
          <a:p>
            <a:pPr lvl="0" indent="0" marL="0">
              <a:buNone/>
            </a:pPr>
          </a:p>
          <a:p>
            <a:pPr lvl="0" indent="0" marL="0">
              <a:buNone/>
            </a:pPr>
            <a:r>
              <a:rPr/>
              <a:t>Name the instinct this breaks, and defend it before moving on: expecting an average over hundreds of trees to wash out noise is entirely reasonable — the variance-reduction result from section 5.2 is real and measured, and it does point the same way. It reduces the variance of the </a:t>
            </a:r>
            <a:r>
              <a:rPr i="1"/>
              <a:t>prediction</a:t>
            </a:r>
            <a:r>
              <a:rPr/>
              <a:t>. It does not guarantee small importance for irrelevant columns, because the very restriction that decorrelates the trees — a random, incomplete menu at each split — is what occasionally hands a split to noise with nothing better on offer.</a:t>
            </a:r>
          </a:p>
          <a:p>
            <a:pPr lvl="0" indent="0" marL="0">
              <a:buNone/>
            </a:pPr>
          </a:p>
          <a:p>
            <a:pPr lvl="0" indent="0" marL="0">
              <a:buNone/>
            </a:pPr>
            <a:r>
              <a:rPr/>
              <a:t>The mechanism is exact and is in handout section 7. The practical consequence to leave them with: treat a random forest’s importances as suggestive, not definitive, when real features are few against many candidate columns.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have them try </a:t>
            </a:r>
            <a:r>
              <a:rPr>
                <a:latin typeface="Courier"/>
              </a:rPr>
              <a:t>max_features=None</a:t>
            </a:r>
            <a:r>
              <a:rPr/>
              <a:t> instead of the default </a:t>
            </a:r>
            <a:r>
              <a:rPr>
                <a:latin typeface="Courier"/>
              </a:rPr>
              <a:t>"sqrt"</a:t>
            </a:r>
            <a:r>
              <a:rPr/>
              <a:t> and predict what happens to the noise share before running it — it should fall, at the cost of the decorrelation that made the forest work in the first place.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mean of the target. Each subsequent Ft is the previous ensemble plus a scaled correction from the newest tree, ht. Read it left to right: start flat, then keep adding small, scaled corrections.</a:t>
            </a:r>
          </a:p>
          <a:p>
            <a:pPr lvl="0" indent="0" marL="0">
              <a:buNone/>
            </a:pPr>
          </a:p>
          <a:p>
            <a:pPr lvl="0" indent="0" marL="0">
              <a:buNone/>
            </a:pPr>
            <a:r>
              <a:rPr/>
              <a:t>Do not derive anything further here — the next slide states what ht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Handout section 8 has the one line of algebra connecting the two.</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Sixty depth-2 trees, learning rate 0.3, fit to a step function plus a gentle sine wave, observed with noise. Walk through the panels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panel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from section 3,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section 3 — 0.882 at depth 8 —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training error for as long as it runs, because every new tree is built specifically to reduce what remains — including the 7% of labels that are noise by construction. There is nothing in the algorithm itself that says “stop”.</a:t>
            </a:r>
          </a:p>
          <a:p>
            <a:pPr lvl="0" indent="0" marL="0">
              <a:buNone/>
            </a:pPr>
          </a:p>
          <a:p>
            <a:pPr lvl="0" indent="0" marL="0">
              <a:buNone/>
            </a:pPr>
            <a:r>
              <a:rPr/>
              <a:t>Point at the peak, 30 trees, and then at 800: training accuracy has been at 1.000 since well before 200, and cross-validated accuracy has drifted down by about a point since the peak. Contrast the size of that drop with section 3’s unconstrained tree,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exactly why early stopping matters for boosting rather than being optional, even though the overfit is gentler than a single unconstrained tree’s.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several points of cross-validated accuracy for it.</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they’ve now seen four times with four different methods: flexibility without a stopping rule is not an advantage. Ask the room to name the earlier three occurrences before you do — k = 1 in lesson 6, an unregularised fit in lesson 3, and today’s own unconstrained tree from section 3.</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a:t>
            </a:r>
          </a:p>
          <a:p>
            <a:pPr lvl="0" indent="0" marL="0">
              <a:buNone/>
            </a:pPr>
          </a:p>
          <a:p>
            <a:pPr lvl="0" indent="0" marL="0">
              <a:buNone/>
            </a:pPr>
            <a:r>
              <a:rPr/>
              <a:t>The fourth row is worth a sentence of its own, tying back to the noise experiment: with few real features against many candidate columns, trust importances less as the column count grows past what the data can support.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It is the fourth lesson this course has produced one of these: coin flip labels, borrowed test-set values, an overfit coefficient of 247,514, and now this.</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candidate columns compete for attention at each split, because that number — not the accuracy score — is what decides how much noise gets credit it didn’t earn.</a:t>
            </a:r>
          </a:p>
          <a:p>
            <a:pPr lvl="0" indent="0" marL="0">
              <a:buNone/>
            </a:pPr>
          </a:p>
          <a:p>
            <a:pPr lvl="0" indent="0" marL="0">
              <a:buNone/>
            </a:pPr>
            <a:r>
              <a:rPr/>
              <a:t>Next lesson turns from labelled data to unlabelled data — a fourth question this course asks of a dataset, after “what’s the relationship”, “which class”, and “how do you know you’re not fooling yourself”: what structure is there when nobody has told you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13 November, 23:59 — the same date lesson 8 begins.</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this course asks of data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returned</a:t>
            </a:r>
          </a:p>
        </p:txBody>
      </p:sp>
      <p:sp>
        <p:nvSpPr>
          <p:cNvPr id="3" name="Content Placeholder 2"/>
          <p:cNvSpPr>
            <a:spLocks noGrp="1"/>
          </p:cNvSpPr>
          <p:nvPr>
            <p:ph idx="1"/>
          </p:nvPr>
        </p:nvSpPr>
        <p:spPr>
          <a:xfrm>
            <a:off x="457200" y="1200151"/>
            <a:ext cx="8229600" cy="3394472"/>
          </a:xfrm>
        </p:spPr>
        <p:txBody>
          <a:bodyPr/>
          <a:lstStyle/>
          <a:p>
            <a:pPr lvl="0"/>
            <a:r>
              <a:rPr/>
              <a:t>Marks were for the </a:t>
            </a:r>
            <a:r>
              <a:rPr b="1"/>
              <a:t>defence of which family</a:t>
            </a:r>
            <a:r>
              <a:rPr/>
              <a:t>, not for the winning score</a:t>
            </a:r>
          </a:p>
          <a:p>
            <a:pPr lvl="0"/>
            <a:r>
              <a:rPr/>
              <a:t>The recurring gap: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debt-to-income ratio</a:t>
            </a:r>
          </a:p>
          <a:p>
            <a:pPr lvl="0"/>
            <a:r>
              <a:rPr/>
              <a:t>Underwriting is a </a:t>
            </a:r>
            <a:r>
              <a:rPr b="1"/>
              <a:t>checklist</a:t>
            </a:r>
            <a:r>
              <a:rPr/>
              <a:t>, not a formula: an income floor, a debt ceiling, and two “stressed” combinations in between</a:t>
            </a:r>
          </a:p>
          <a:p>
            <a:pPr lvl="0"/>
            <a:r>
              <a:rPr b="1"/>
              <a:t>7%</a:t>
            </a:r>
            <a:r>
              <a:rPr/>
              <a:t> of labels are deliberately flipped; </a:t>
            </a:r>
            <a:r>
              <a:rPr b="1"/>
              <a:t>38.7%</a:t>
            </a:r>
            <a:r>
              <a:rPr/>
              <a:t> of applicants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single (feature, threshold) split that makes the two resulting groups </a:t>
            </a:r>
            <a:r>
              <a:rPr b="1"/>
              <a:t>as pure as possible</a:t>
            </a:r>
          </a:p>
          <a:p>
            <a:pPr lvl="0"/>
            <a:r>
              <a:rPr/>
              <a:t>Apply it. Repeat on each group, independently</a:t>
            </a:r>
          </a:p>
          <a:p>
            <a:pPr lvl="0"/>
            <a:r>
              <a:rPr/>
              <a:t>Stop when a stopping rule is met</a:t>
            </a:r>
          </a:p>
          <a:p>
            <a:pPr lvl="0"/>
            <a:r>
              <a:rPr/>
              <a:t>Nothing is estimated — no coefficient, no gradient with respect to a parameter vector</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 a coin flip</a:t>
            </a:r>
          </a:p>
          <a:p>
            <a:pPr lvl="0"/>
            <a:r>
              <a:rPr b="1"/>
              <a:t>Impurity</a:t>
            </a:r>
            <a:r>
              <a:rPr/>
              <a:t> is a number that captures this, so “as pure as possible” has a target to maximise against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683251" y="1166099"/>
            <a:ext cx="7777497" cy="3360181"/>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group into a left and a right child</a:t>
            </a:r>
          </a:p>
          <a:p>
            <a:pPr lvl="0"/>
            <a:r>
              <a:rPr/>
              <a:t>It is worth taking if the children are, </a:t>
            </a:r>
            <a:r>
              <a:rPr b="1"/>
              <a:t>on average, purer</a:t>
            </a:r>
            <a:r>
              <a:rPr/>
              <a:t> than the parent was</a:t>
            </a:r>
          </a:p>
          <a:p>
            <a:pPr lvl="0"/>
            <a:r>
              <a:rPr/>
              <a:t>“On average” is weighted by how many examples land in each child — a split that purifies nine points and dumps one troublemaker into its own leaf is not free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77488865aa.png" id="0" name="Picture 1"/>
          <p:cNvPicPr>
            <a:picLocks noGrp="1" noChangeAspect="1"/>
          </p:cNvPicPr>
          <p:nvPr/>
        </p:nvPicPr>
        <p:blipFill>
          <a:blip r:embed="rId3"/>
          <a:stretch>
            <a:fillRect/>
          </a:stretch>
        </p:blipFill>
        <p:spPr bwMode="auto">
          <a:xfrm>
            <a:off x="457200" y="2547739"/>
            <a:ext cx="8229600" cy="596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 G is judged one split at a time, never jointly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as the best root split</a:t>
            </a:r>
          </a:p>
          <a:p>
            <a:pPr lvl="0"/>
            <a:r>
              <a:rPr/>
              <a:t>Recognisably the </a:t>
            </a:r>
            <a:r>
              <a:rPr b="1"/>
              <a:t>debt ceiling</a:t>
            </a:r>
            <a:r>
              <a:rPr/>
              <a:t> the data was built with</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agrees with scikit-learn’s </a:t>
            </a:r>
            <a:r>
              <a:rPr>
                <a:latin typeface="Courier"/>
              </a:rPr>
              <a:t>DecisionTreeClassifier</a:t>
            </a:r>
            <a:r>
              <a:rPr/>
              <a:t> to the </a:t>
            </a:r>
            <a:r>
              <a:rPr b="1"/>
              <a:t>fourth decimal place</a:t>
            </a:r>
            <a:r>
              <a:rPr/>
              <a:t> of resulting accuracy, at every depth tested</a:t>
            </a:r>
          </a:p>
          <a:p>
            <a:pPr lvl="0"/>
            <a:r>
              <a:rPr/>
              <a:t>Not a coincidence: both search the same space by the same greedy rule</a:t>
            </a:r>
          </a:p>
          <a:p>
            <a:pPr lvl="0"/>
            <a:r>
              <a:rPr/>
              <a:t>From here on, the notebooks use scikit-learn’s implementation — the same algorithm, compiled, not a different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 covered next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how many questions a tree may ask before a leaf must stop and vote by majority</a:t>
            </a:r>
          </a:p>
          <a:p>
            <a:pPr lvl="0"/>
            <a:r>
              <a:rPr b="1"/>
              <a:t>Shallow tree</a:t>
            </a:r>
            <a:r>
              <a:rPr/>
              <a:t> — few questions, only the coarsest structure. High bias, low variance</a:t>
            </a:r>
          </a:p>
          <a:p>
            <a:pPr lvl="0"/>
            <a:r>
              <a:rPr b="1"/>
              <a:t>Deep tree</a:t>
            </a:r>
            <a:r>
              <a:rPr/>
              <a:t> — enough questions to isolate almost any subset, down to single points. At full depth, training accuracy is </a:t>
            </a:r>
            <a:r>
              <a:rPr b="1"/>
              <a:t>exactly 1.000 on any dataset</a:t>
            </a:r>
            <a:r>
              <a:rPr/>
              <a:t>, including one with no structure at all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grows the tree </a:t>
            </a:r>
            <a:r>
              <a:rPr b="1"/>
              <a:t>breadth-first</a:t>
            </a:r>
            <a:r>
              <a:rPr/>
              <a:t> — every leaf at level d splits before any leaf reaches d+1, useful or not</a:t>
            </a:r>
          </a:p>
          <a:p>
            <a:pPr lvl="0"/>
            <a:r>
              <a:rPr>
                <a:latin typeface="Courier"/>
              </a:rPr>
              <a:t>max_leaf_nodes</a:t>
            </a:r>
            <a:r>
              <a:rPr/>
              <a:t> grows it </a:t>
            </a:r>
            <a:r>
              <a:rPr b="1"/>
              <a:t>best-first</a:t>
            </a:r>
            <a:r>
              <a:rPr/>
              <a:t> — always expanding whichever leaf offers the largest Δ G</a:t>
            </a:r>
          </a:p>
          <a:p>
            <a:pPr lvl="0"/>
            <a:r>
              <a:rPr/>
              <a:t>With </a:t>
            </a:r>
            <a:r>
              <a:rPr>
                <a:latin typeface="Courier"/>
              </a:rPr>
              <a:t>max_leaf_nodes = 9</a:t>
            </a:r>
            <a:r>
              <a:rPr/>
              <a:t>: </a:t>
            </a:r>
            <a:r>
              <a:rPr b="1"/>
              <a:t>90.8%</a:t>
            </a:r>
            <a:r>
              <a:rPr/>
              <a:t> training accuracy, every threshold recognisable — 28 the income floor, 0.82 the debt ceiling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fit to independent 65% resamples of the same 1,200 applicants</a:t>
            </a:r>
          </a:p>
          <a:p>
            <a:pPr lvl="0"/>
            <a:r>
              <a:rPr/>
              <a:t>The debt ceiling — the strongest split —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many weaker ones are not, and they decide most of a tree’s shape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Decision trees from scratch, checked against scikit-learn</a:t>
            </a:r>
          </a:p>
          <a:p>
            <a:pPr lvl="0"/>
            <a:r>
              <a:rPr/>
              <a:t>Depth swept, the two boundaries drawn, and the instability measured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If a tree’s mistakes are somewhat random — different across resamples, as just measured — </a:t>
            </a:r>
            <a:r>
              <a:rPr b="1"/>
              <a:t>many trees, averaged</a:t>
            </a:r>
            <a:r>
              <a:rPr/>
              <a:t>, should partly cancel them out</a:t>
            </a:r>
          </a:p>
          <a:p>
            <a:pPr lvl="0"/>
            <a:r>
              <a:rPr/>
              <a:t>Draw a </a:t>
            </a:r>
            <a:r>
              <a:rPr b="1"/>
              <a:t>bootstrap sample</a:t>
            </a:r>
            <a:r>
              <a:rPr/>
              <a:t>: m rows chosen </a:t>
            </a:r>
            <a:r>
              <a:rPr b="1"/>
              <a:t>with replacement</a:t>
            </a:r>
            <a:r>
              <a:rPr/>
              <a:t> from the m training rows</a:t>
            </a:r>
          </a:p>
          <a:p>
            <a:pPr lvl="0"/>
            <a:r>
              <a:rPr/>
              <a:t>Fit a tree to it. Repeat </a:t>
            </a:r>
            <a:r>
              <a:rPr>
                <a:latin typeface="Courier"/>
              </a:rPr>
              <a:t>n_estimators</a:t>
            </a:r>
            <a:r>
              <a:rPr/>
              <a:t> times; predict by </a:t>
            </a:r>
            <a:r>
              <a:rPr b="1"/>
              <a:t>majority vote</a:t>
            </a:r>
          </a:p>
          <a:p>
            <a:pPr lvl="0"/>
            <a:r>
              <a:rPr/>
              <a:t>The tree algorithm itself is unchanged — only what surrounds it is new</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Each bootstrap sample is drawn from the same m rows, with replacement</a:t>
            </a:r>
          </a:p>
          <a:p>
            <a:pPr lvl="0"/>
            <a:r>
              <a:rPr/>
              <a:t>About </a:t>
            </a:r>
            <a:r>
              <a:rPr b="1"/>
              <a:t>63.2%</a:t>
            </a:r>
            <a:r>
              <a:rPr/>
              <a:t> of the distinct rows are drawn at least once</a:t>
            </a:r>
          </a:p>
          <a:p>
            <a:pPr lvl="0"/>
            <a:r>
              <a:rPr/>
              <a:t>The remaining </a:t>
            </a:r>
            <a:r>
              <a:rPr b="1"/>
              <a:t>36.8%</a:t>
            </a:r>
            <a:r>
              <a:rPr/>
              <a:t> are left out entirely — called </a:t>
            </a:r>
            <a:r>
              <a:rPr b="1"/>
              <a:t>out-of-bag (OOB)</a:t>
            </a:r>
          </a:p>
          <a:p>
            <a:pPr lvl="0"/>
            <a:r>
              <a:rPr/>
              <a:t>At m = 1,200: a single simulated draw left out 36.6% of rows, close to the limit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Every out-of-bag row is validation data for the tree that missed it</a:t>
            </a:r>
          </a:p>
          <a:p>
            <a:pPr lvl="0"/>
            <a:r>
              <a:rPr/>
              <a:t>Averaging them gives the </a:t>
            </a:r>
            <a:r>
              <a:rPr b="1"/>
              <a:t>OOB score</a:t>
            </a:r>
            <a:r>
              <a:rPr/>
              <a:t>, at no extra split</a:t>
            </a:r>
          </a:p>
          <a:p>
            <a:pPr lvl="0"/>
            <a:r>
              <a:rPr/>
              <a:t>A 300-tree forest: OOB </a:t>
            </a:r>
            <a:r>
              <a:rPr b="1"/>
              <a:t>0.9117</a:t>
            </a:r>
            <a:r>
              <a:rPr/>
              <a:t>, 5-fold cross-validated </a:t>
            </a:r>
            <a:r>
              <a:rPr b="1"/>
              <a:t>0.9117 ± 0.021</a:t>
            </a:r>
          </a:p>
          <a:p>
            <a:pPr lvl="0"/>
            <a:r>
              <a:rPr/>
              <a:t>That match to four decimals is </a:t>
            </a:r>
            <a:r>
              <a:rPr b="1"/>
              <a:t>this seed’s luck</a:t>
            </a:r>
            <a:r>
              <a:rPr/>
              <a:t>: over twelve seeds the gap is 0.003 — agreement to within their own noise, not to every decimal</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and let ρ be the correlation between any two trees</a:t>
            </a:r>
          </a:p>
          <a:p>
            <a:pPr lvl="0"/>
            <a:r>
              <a:rPr/>
              <a:t>Averaging B trees drives variance toward a </a:t>
            </a:r>
            <a:r>
              <a:rPr b="1"/>
              <a:t>floor</a:t>
            </a:r>
            <a:r>
              <a:rPr/>
              <a:t> of ρσ², </a:t>
            </a:r>
            <a:r>
              <a:rPr b="1"/>
              <a:t>not zero</a:t>
            </a:r>
            <a:r>
              <a:rPr/>
              <a:t> — adding trees past that point buys almost nothing</a:t>
            </a:r>
          </a:p>
          <a:p>
            <a:pPr lvl="0"/>
            <a:r>
              <a:rPr/>
              <a:t>Averaging </a:t>
            </a:r>
            <a:r>
              <a:rPr b="1"/>
              <a:t>cannot fix bias</a:t>
            </a:r>
            <a:r>
              <a:rPr/>
              <a:t>: unbiased-but-noisy trees average to unbiased; trees sharing a systematic error keep that error exactly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variance floor is ρσ² — lowering it further means making the trees agree </a:t>
            </a:r>
            <a:r>
              <a:rPr b="1"/>
              <a:t>less</a:t>
            </a:r>
          </a:p>
          <a:p>
            <a:pPr lvl="0"/>
            <a:r>
              <a:rPr/>
              <a:t>Bagged trees still see </a:t>
            </a:r>
            <a:r>
              <a:rPr b="1"/>
              <a:t>every feature</a:t>
            </a:r>
            <a:r>
              <a:rPr/>
              <a:t> at every split, so a strong feature pulls most of them towards splitting on it first</a:t>
            </a:r>
          </a:p>
          <a:p>
            <a:pPr lvl="0"/>
            <a:r>
              <a:rPr/>
              <a:t>A </a:t>
            </a:r>
            <a:r>
              <a:rPr b="1"/>
              <a:t>random forest</a:t>
            </a:r>
            <a:r>
              <a:rPr/>
              <a:t> restricts each split to a random subset of </a:t>
            </a:r>
            <a:r>
              <a:rPr>
                <a:latin typeface="Courier"/>
              </a:rPr>
              <a:t>max_features</a:t>
            </a:r>
            <a:r>
              <a:rPr/>
              <a:t> (default √n, rounded down) — different trees see different features at the same point, lowering ρ</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a:t>
                      </a:r>
                    </a:p>
                  </a:txBody>
                  <a:tcPr/>
                </a:tc>
                <a:tc>
                  <a:txBody>
                    <a:bodyPr/>
                    <a:lstStyle/>
                    <a:p>
                      <a:pPr lvl="0" indent="0" marL="0">
                        <a:buNone/>
                      </a:pPr>
                      <a:r>
                        <a:rPr/>
                        <a:t>Standard deviation</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a:t>0.902</a:t>
                      </a:r>
                    </a:p>
                  </a:txBody>
                </a:tc>
                <a:tc>
                  <a:txBody>
                    <a:bodyPr/>
                    <a:lstStyle/>
                    <a:p>
                      <a:pPr lvl="0" indent="0" marL="0">
                        <a:buNone/>
                      </a:pPr>
                      <a:r>
                        <a:rPr/>
                        <a:t>0.0153</a:t>
                      </a:r>
                    </a:p>
                  </a:txBody>
                </a:tc>
              </a:tr>
              <a:tr h="0">
                <a:tc>
                  <a:txBody>
                    <a:bodyPr/>
                    <a:lstStyle/>
                    <a:p>
                      <a:pPr lvl="0" indent="0" marL="0">
                        <a:buNone/>
                      </a:pPr>
                      <a:r>
                        <a:rPr b="1"/>
                        <a:t>Random forest, 100 trees</a:t>
                      </a:r>
                    </a:p>
                  </a:txBody>
                </a:tc>
                <a:tc>
                  <a:txBody>
                    <a:bodyPr/>
                    <a:lstStyle/>
                    <a:p>
                      <a:pPr lvl="0" indent="0" marL="0">
                        <a:buNone/>
                      </a:pPr>
                      <a:r>
                        <a:rPr b="1"/>
                        <a:t>0.908</a:t>
                      </a:r>
                    </a:p>
                  </a:txBody>
                </a:tc>
                <a:tc>
                  <a:txBody>
                    <a:bodyPr/>
                    <a:lstStyle/>
                    <a:p>
                      <a:pPr lvl="0" indent="0" marL="0">
                        <a:buNone/>
                      </a:pPr>
                      <a:r>
                        <a:rPr b="1"/>
                        <a:t>0.0137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a:t>A random forest reports </a:t>
            </a:r>
            <a:r>
              <a:rPr b="1"/>
              <a:t>feature importance</a:t>
            </a:r>
            <a:r>
              <a:rPr/>
              <a:t>: total impurity reduction each feature is responsible for, summed and averaged across every tree and every split</a:t>
            </a:r>
          </a:p>
          <a:p>
            <a:pPr lvl="0"/>
            <a:r>
              <a:rPr/>
              <a:t>Tempting to read as “the forest tells you which features matter”</a:t>
            </a:r>
          </a:p>
          <a:p>
            <a:pPr lvl="0"/>
            <a:r>
              <a:rPr/>
              <a:t>With only the two real features in this dataset, it does exactly that</a:t>
            </a:r>
          </a:p>
          <a:p>
            <a:pPr lvl="0"/>
            <a:r>
              <a:rPr/>
              <a:t>The question: what happens once most of the columns carry </a:t>
            </a:r>
            <a:r>
              <a:rPr b="1"/>
              <a:t>nothing</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Noise columns added</a:t>
                      </a:r>
                    </a:p>
                  </a:txBody>
                  <a:tcPr/>
                </a:tc>
                <a:tc>
                  <a:txBody>
                    <a:bodyPr/>
                    <a:lstStyle/>
                    <a:p>
                      <a:pPr lvl="0" indent="0" marL="0">
                        <a:buNone/>
                      </a:pPr>
                      <a:r>
                        <a:rPr/>
                        <a:t>Total columns</a:t>
                      </a:r>
                    </a:p>
                  </a:txBody>
                  <a:tcPr/>
                </a:tc>
                <a:tc>
                  <a:txBody>
                    <a:bodyPr/>
                    <a:lstStyle/>
                    <a:p>
                      <a:pPr lvl="0" indent="0" marL="0">
                        <a:buNone/>
                      </a:pPr>
                      <a:r>
                        <a:rPr/>
                        <a:t>Cross-validated accuracy</a:t>
                      </a:r>
                    </a:p>
                  </a:txBody>
                  <a:tcPr/>
                </a:tc>
                <a:tc>
                  <a:txBody>
                    <a:bodyPr/>
                    <a:lstStyle/>
                    <a:p>
                      <a:pPr lvl="0" indent="0" marL="0">
                        <a:buNone/>
                      </a:pPr>
                      <a:r>
                        <a:rPr/>
                        <a:t>Importance on noise</a:t>
                      </a:r>
                    </a:p>
                  </a:txBody>
                  <a:tcPr/>
                </a:tc>
              </a:tr>
              <a:tr h="0">
                <a:tc>
                  <a:txBody>
                    <a:bodyPr/>
                    <a:lstStyle/>
                    <a:p>
                      <a:pPr lvl="0" indent="0" marL="0">
                        <a:buNone/>
                      </a:pPr>
                      <a:r>
                        <a:rPr/>
                        <a:t>0</a:t>
                      </a:r>
                    </a:p>
                  </a:txBody>
                </a:tc>
                <a:tc>
                  <a:txBody>
                    <a:bodyPr/>
                    <a:lstStyle/>
                    <a:p>
                      <a:pPr lvl="0" indent="0" marL="0">
                        <a:buNone/>
                      </a:pPr>
                      <a:r>
                        <a:rPr/>
                        <a:t>2</a:t>
                      </a:r>
                    </a:p>
                  </a:txBody>
                </a:tc>
                <a:tc>
                  <a:txBody>
                    <a:bodyPr/>
                    <a:lstStyle/>
                    <a:p>
                      <a:pPr lvl="0" indent="0" marL="0">
                        <a:buNone/>
                      </a:pPr>
                      <a:r>
                        <a:rPr/>
                        <a:t>0.912</a:t>
                      </a:r>
                    </a:p>
                  </a:txBody>
                </a:tc>
                <a:tc>
                  <a:txBody>
                    <a:bodyPr/>
                    <a:lstStyle/>
                    <a:p>
                      <a:pPr lvl="0" indent="0" marL="0">
                        <a:buNone/>
                      </a:pPr>
                      <a:r>
                        <a:rPr/>
                        <a:t>0.0%</a:t>
                      </a:r>
                    </a:p>
                  </a:txBody>
                </a:tc>
              </a:tr>
              <a:tr h="0">
                <a:tc>
                  <a:txBody>
                    <a:bodyPr/>
                    <a:lstStyle/>
                    <a:p>
                      <a:pPr lvl="0" indent="0" marL="0">
                        <a:buNone/>
                      </a:pPr>
                      <a:r>
                        <a:rPr/>
                        <a:t>5</a:t>
                      </a:r>
                    </a:p>
                  </a:txBody>
                </a:tc>
                <a:tc>
                  <a:txBody>
                    <a:bodyPr/>
                    <a:lstStyle/>
                    <a:p>
                      <a:pPr lvl="0" indent="0" marL="0">
                        <a:buNone/>
                      </a:pPr>
                      <a:r>
                        <a:rPr/>
                        <a:t>7</a:t>
                      </a:r>
                    </a:p>
                  </a:txBody>
                </a:tc>
                <a:tc>
                  <a:txBody>
                    <a:bodyPr/>
                    <a:lstStyle/>
                    <a:p>
                      <a:pPr lvl="0" indent="0" marL="0">
                        <a:buNone/>
                      </a:pPr>
                      <a:r>
                        <a:rPr/>
                        <a:t>0.874</a:t>
                      </a:r>
                    </a:p>
                  </a:txBody>
                </a:tc>
                <a:tc>
                  <a:txBody>
                    <a:bodyPr/>
                    <a:lstStyle/>
                    <a:p>
                      <a:pPr lvl="0" indent="0" marL="0">
                        <a:buNone/>
                      </a:pPr>
                      <a:r>
                        <a:rPr/>
                        <a:t>33.9%</a:t>
                      </a:r>
                    </a:p>
                  </a:txBody>
                </a:tc>
              </a:tr>
              <a:tr h="0">
                <a:tc>
                  <a:txBody>
                    <a:bodyPr/>
                    <a:lstStyle/>
                    <a:p>
                      <a:pPr lvl="0" indent="0" marL="0">
                        <a:buNone/>
                      </a:pPr>
                      <a:r>
                        <a:rPr/>
                        <a:t>20</a:t>
                      </a:r>
                    </a:p>
                  </a:txBody>
                </a:tc>
                <a:tc>
                  <a:txBody>
                    <a:bodyPr/>
                    <a:lstStyle/>
                    <a:p>
                      <a:pPr lvl="0" indent="0" marL="0">
                        <a:buNone/>
                      </a:pPr>
                      <a:r>
                        <a:rPr/>
                        <a:t>22</a:t>
                      </a:r>
                    </a:p>
                  </a:txBody>
                </a:tc>
                <a:tc>
                  <a:txBody>
                    <a:bodyPr/>
                    <a:lstStyle/>
                    <a:p>
                      <a:pPr lvl="0" indent="0" marL="0">
                        <a:buNone/>
                      </a:pPr>
                      <a:r>
                        <a:rPr/>
                        <a:t>0.837</a:t>
                      </a:r>
                    </a:p>
                  </a:txBody>
                </a:tc>
                <a:tc>
                  <a:txBody>
                    <a:bodyPr/>
                    <a:lstStyle/>
                    <a:p>
                      <a:pPr lvl="0" indent="0" marL="0">
                        <a:buNone/>
                      </a:pPr>
                      <a:r>
                        <a:rPr b="1"/>
                        <a:t>54.5%</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from scratch and against scikit-learn</a:t>
            </a:r>
          </a:p>
          <a:p>
            <a:pPr lvl="0"/>
            <a:r>
              <a:rPr/>
              <a:t>The out-of-bag score checked against cross-validation</a:t>
            </a:r>
          </a:p>
          <a:p>
            <a:pPr lvl="0"/>
            <a:r>
              <a:rPr/>
              <a:t>The noise-column experiment, run live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and average at the end</a:t>
            </a:r>
          </a:p>
          <a:p>
            <a:pPr lvl="0"/>
            <a:r>
              <a:rPr b="1"/>
              <a:t>Boosting</a:t>
            </a:r>
            <a:r>
              <a:rPr/>
              <a:t> builds trees </a:t>
            </a:r>
            <a:r>
              <a:rPr b="1"/>
              <a:t>in sequence</a:t>
            </a:r>
            <a:r>
              <a:rPr/>
              <a:t>: each new tree is fit specifically to correct what the trees so far got wrong</a:t>
            </a:r>
          </a:p>
          <a:p>
            <a:pPr lvl="0"/>
            <a:r>
              <a:rPr/>
              <a:t>Each addition is a shallow tree — depth 2 or 3, a </a:t>
            </a:r>
            <a:r>
              <a:rPr b="1"/>
              <a:t>weak learner</a:t>
            </a:r>
          </a:p>
          <a:p>
            <a:pPr lvl="0"/>
            <a:r>
              <a:rPr/>
              <a:t>The learning rate α sets </a:t>
            </a:r>
            <a:r>
              <a:rPr b="1"/>
              <a:t>how much</a:t>
            </a:r>
            <a:r>
              <a:rPr/>
              <a:t> of each new tree’s correction is actually applied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a:t>
            </a:r>
          </a:p>
        </p:txBody>
      </p:sp>
      <p:pic>
        <p:nvPicPr>
          <p:cNvPr descr="eq_97e08db35a.png" id="0" name="Picture 1"/>
          <p:cNvPicPr>
            <a:picLocks noGrp="1" noChangeAspect="1"/>
          </p:cNvPicPr>
          <p:nvPr/>
        </p:nvPicPr>
        <p:blipFill>
          <a:blip r:embed="rId3"/>
          <a:stretch>
            <a:fillRect/>
          </a:stretch>
        </p:blipFill>
        <p:spPr bwMode="auto">
          <a:xfrm>
            <a:off x="457200" y="2554089"/>
            <a:ext cx="8229600" cy="584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squared-error regression, “what remains unexplained” has an exact name: the </a:t>
            </a:r>
            <a:r>
              <a:rPr b="1"/>
              <a:t>residual</a:t>
            </a:r>
            <a:r>
              <a:rPr/>
              <a:t>, y - Ft₋₁(x)</a:t>
            </a:r>
          </a:p>
          <a:p>
            <a:pPr lvl="0"/>
            <a:r>
              <a:rPr/>
              <a:t>This is a special case of a more general idea — </a:t>
            </a:r>
            <a:r>
              <a:rPr b="1"/>
              <a:t>functional gradient descent</a:t>
            </a:r>
            <a:r>
              <a:rPr/>
              <a:t>: ht approximates the negative gradient of the loss with respect to Ft₋₁</a:t>
            </a:r>
          </a:p>
          <a:p>
            <a:pPr lvl="0"/>
            <a:r>
              <a:rPr/>
              <a:t>For squared error, “fit the residual” and “fit the negative gradient” coincide exactly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sum of shallow trees converging on the residuals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 barely moves the flat guess</a:t>
            </a:r>
          </a:p>
          <a:p>
            <a:pPr lvl="0"/>
            <a:r>
              <a:rPr b="1"/>
              <a:t>5 trees</a:t>
            </a:r>
            <a:r>
              <a:rPr/>
              <a:t>: MSE 0.068 — the coarse shape appears</a:t>
            </a:r>
          </a:p>
          <a:p>
            <a:pPr lvl="0"/>
            <a:r>
              <a:rPr b="1"/>
              <a:t>20 trees</a:t>
            </a:r>
            <a:r>
              <a:rPr/>
              <a:t>: MSE </a:t>
            </a:r>
            <a:r>
              <a:rPr b="1"/>
              <a:t>0.012</a:t>
            </a:r>
            <a:r>
              <a:rPr/>
              <a:t> — the ensemble’s best point</a:t>
            </a:r>
          </a:p>
          <a:p>
            <a:pPr lvl="0"/>
            <a:r>
              <a:rPr b="1"/>
              <a:t>60 trees</a:t>
            </a:r>
            <a:r>
              <a:rPr/>
              <a:t>: MSE rises back to 0.018 — tracking noise, not signal</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The label y is 0 or 1; the ensemble’s output becomes a probability, p = σ(F)</a:t>
            </a:r>
          </a:p>
          <a:p>
            <a:pPr lvl="0"/>
            <a:r>
              <a:rPr/>
              <a:t>The loss is </a:t>
            </a:r>
            <a:r>
              <a:rPr b="1"/>
              <a:t>log-loss</a:t>
            </a:r>
            <a:r>
              <a:rPr/>
              <a:t> — lesson 4’s loss for logistic regression</a:t>
            </a:r>
          </a:p>
          <a:p>
            <a:pPr lvl="0"/>
            <a:r>
              <a:rPr/>
              <a:t>The negative gradient, the </a:t>
            </a:r>
            <a:r>
              <a:rPr b="1"/>
              <a:t>pseudo-residual</a:t>
            </a:r>
            <a:r>
              <a:rPr/>
              <a:t> each tree fits, is y - p</a:t>
            </a:r>
          </a:p>
          <a:p>
            <a:pPr lvl="0"/>
            <a:r>
              <a:rPr/>
              <a:t>True label minus predicted probability: lesson 4’s error term exactly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0.898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Boosting from scratch on residuals, and against scikit-learn</a:t>
            </a:r>
          </a:p>
          <a:p>
            <a:pPr lvl="0"/>
            <a:r>
              <a:rPr/>
              <a:t>The classification pseudo-residual, and the learning-rate sweep</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0.883</a:t>
                      </a:r>
                    </a:p>
                  </a:txBody>
                </a:tc>
              </a:tr>
              <a:tr h="0">
                <a:tc>
                  <a:txBody>
                    <a:bodyPr/>
                    <a:lstStyle/>
                    <a:p>
                      <a:pPr lvl="0" indent="0" marL="0">
                        <a:buNone/>
                      </a:pPr>
                      <a:r>
                        <a:rPr/>
                        <a:t>Gradient boosting, 30 trees</a:t>
                      </a:r>
                    </a:p>
                  </a:txBody>
                </a:tc>
                <a:tc>
                  <a:txBody>
                    <a:bodyPr/>
                    <a:lstStyle/>
                    <a:p>
                      <a:pPr lvl="0" indent="0" marL="0">
                        <a:buNone/>
                      </a:pPr>
                      <a:r>
                        <a:rPr/>
                        <a:t>0.898</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a:t>Every ensemble lands within about a point and a half of the others — </a:t>
            </a:r>
            <a:r>
              <a:rPr b="1"/>
              <a:t>which strategy</a:t>
            </a:r>
            <a:r>
              <a:rPr/>
              <a:t> you pick matters far less than </a:t>
            </a:r>
            <a:r>
              <a:rPr b="1"/>
              <a:t>whether you ensemble at all</a:t>
            </a:r>
          </a:p>
          <a:p>
            <a:pPr lvl="0"/>
            <a:r>
              <a:rPr/>
              <a:t>The single tuned tree is not far behind, at 0.883 against 0.911, and it is the only model on the table a person could read start to finish</a:t>
            </a:r>
          </a:p>
          <a:p>
            <a:pPr lvl="0"/>
            <a:r>
              <a:rPr/>
              <a:t>The </a:t>
            </a:r>
            <a:r>
              <a:rPr b="1"/>
              <a:t>unconstrained tree is the worst model on the list</a:t>
            </a:r>
            <a:r>
              <a:rPr/>
              <a:t>, despite being the most flexible one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depth-tuned, or nothing on this list</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as a strong and low-effort default</a:t>
                      </a:r>
                    </a:p>
                  </a:txBody>
                </a:tc>
              </a:tr>
              <a:tr h="0">
                <a:tc>
                  <a:txBody>
                    <a:bodyPr/>
                    <a:lstStyle/>
                    <a:p>
                      <a:pPr lvl="0" indent="0" marL="0">
                        <a:buNone/>
                      </a:pPr>
                      <a:r>
                        <a:rPr/>
                        <a:t>Training time matters, or the signal needs sequential refinement</a:t>
                      </a:r>
                    </a:p>
                  </a:txBody>
                </a:tc>
                <a:tc>
                  <a:txBody>
                    <a:bodyPr/>
                    <a:lstStyle/>
                    <a:p>
                      <a:pPr lvl="0" indent="0" marL="0">
                        <a:buNone/>
                      </a:pPr>
                      <a:r>
                        <a:rPr/>
                        <a:t>Gradient boosting, tuned on a validation set</a:t>
                      </a:r>
                    </a:p>
                  </a:txBody>
                </a:tc>
              </a:tr>
              <a:tr h="0">
                <a:tc>
                  <a:txBody>
                    <a:bodyPr/>
                    <a:lstStyle/>
                    <a:p>
                      <a:pPr lvl="0" indent="0" marL="0">
                        <a:buNone/>
                      </a:pPr>
                      <a:r>
                        <a:rPr/>
                        <a:t>Very high-dimensional, few informative columns</a:t>
                      </a:r>
                    </a:p>
                  </a:txBody>
                </a:tc>
                <a:tc>
                  <a:txBody>
                    <a:bodyPr/>
                    <a:lstStyle/>
                    <a:p>
                      <a:pPr lvl="0" indent="0" marL="0">
                        <a:buNone/>
                      </a:pPr>
                      <a:r>
                        <a:rPr/>
                        <a:t>Any tree method, cautiously</a:t>
                      </a:r>
                    </a:p>
                  </a:txBody>
                </a:tc>
              </a:tr>
              <a:tr h="0">
                <a:tc>
                  <a:txBody>
                    <a:bodyPr/>
                    <a:lstStyle/>
                    <a:p>
                      <a:pPr lvl="0" indent="0" marL="0">
                        <a:buNone/>
                      </a:pPr>
                      <a:r>
                        <a:rPr/>
                        <a:t>Rows only, and OOB score suffices for validation</a:t>
                      </a:r>
                    </a:p>
                  </a:txBody>
                </a:tc>
                <a:tc>
                  <a:txBody>
                    <a:bodyPr/>
                    <a:lstStyle/>
                    <a:p>
                      <a:pPr lvl="0" indent="0" marL="0">
                        <a:buNone/>
                      </a:pPr>
                      <a:r>
                        <a:rPr/>
                        <a:t>A random forest — no explicit train/test split needed</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features — not a small effect, and not a bug</a:t>
            </a:r>
          </a:p>
          <a:p>
            <a:pPr lvl="0"/>
            <a:r>
              <a:rPr/>
              <a:t>The same restriction that </a:t>
            </a:r>
            <a:r>
              <a:rPr b="1"/>
              <a:t>decorrelates</a:t>
            </a:r>
            <a:r>
              <a:rPr/>
              <a:t> the trees occasionally hands a split to noise instead</a:t>
            </a:r>
          </a:p>
          <a:p>
            <a:pPr lvl="0"/>
            <a:r>
              <a:rPr/>
              <a:t>Averaging reduces </a:t>
            </a:r>
            <a:r>
              <a:rPr b="1"/>
              <a:t>variance of the prediction</a:t>
            </a:r>
            <a:r>
              <a:rPr/>
              <a:t>; it does </a:t>
            </a:r>
            <a:r>
              <a:rPr b="1"/>
              <a:t>not</a:t>
            </a:r>
            <a:r>
              <a:rPr/>
              <a:t> guarantee small importance for irrelevant columns</a:t>
            </a:r>
          </a:p>
          <a:p>
            <a:pPr lvl="0"/>
            <a:r>
              <a:rPr/>
              <a:t>The fix: cross-check against permutation importance on held-out data</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verified to the </a:t>
            </a:r>
            <a:r>
              <a:rPr b="1"/>
              <a:t>fourth decimal place</a:t>
            </a:r>
            <a:r>
              <a:rPr/>
              <a:t> against scikit-learn</a:t>
            </a:r>
          </a:p>
          <a:p>
            <a:pPr lvl="0"/>
            <a:r>
              <a:rPr/>
              <a:t>Depth is the bias-variance dial: accuracy peaked at </a:t>
            </a:r>
            <a:r>
              <a:rPr b="1"/>
              <a:t>depth 8</a:t>
            </a:r>
            <a:r>
              <a:rPr/>
              <a:t>, three points above the unconstrained tree</a:t>
            </a:r>
          </a:p>
          <a:p>
            <a:pPr lvl="0"/>
            <a:r>
              <a:rPr/>
              <a:t>Bootstrap resampling leaves </a:t>
            </a:r>
            <a:r>
              <a:rPr b="1"/>
              <a:t>36.8%</a:t>
            </a:r>
            <a:r>
              <a:rPr/>
              <a:t> of rows out-of-bag, free validation</a:t>
            </a:r>
          </a:p>
          <a:p>
            <a:pPr lvl="0"/>
            <a:r>
              <a:rPr b="1"/>
              <a:t>54% of a random forest’s importance landed on 20 noise columns</a:t>
            </a:r>
            <a:r>
              <a:rPr/>
              <a:t> — today’s number worth remembering</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due </a:t>
            </a:r>
            <a:r>
              <a:rPr b="1"/>
              <a:t>Friday 13 November 2026, 23:59</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 Trees and Ensembles</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