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package/2006/relationships/metadata/extended-properties" Target="docProps/app.xml"/><Relationship Id="rId4" Type="http://schemas.openxmlformats.org/officeDocument/2006/relationships/custom-properties" Target="docProps/custom.xml"/></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notesMasterIdLst>
    <p:notesMasterId r:id="rId53"/>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notesMaster" Target="notesMasters/notesMaster1.xml"/><Relationship Id="rId54" Type="http://schemas.openxmlformats.org/officeDocument/2006/relationships/presProps" Target="presProps.xml"/><Relationship Id="rId55" Type="http://schemas.openxmlformats.org/officeDocument/2006/relationships/viewProps" Target="viewProps.xml"/><Relationship Id="rId56" Type="http://schemas.openxmlformats.org/officeDocument/2006/relationships/theme" Target="theme/theme1.xml"/><Relationship Id="rId57"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F9C1CCF-B725-44A7-AA57-5E433BD85C9F}" type="datetimeFigureOut">
              <a:rPr lang="en-US" smtClean="0"/>
              <a:t>1/2/22</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8BDFEC3-8487-43E8-A154-7C12CBC1FFF2}" type="slidenum">
              <a:rPr lang="en-US" smtClean="0"/>
              <a:t>‹#›</a:t>
            </a:fld>
            <a:endParaRPr lang="en-US"/>
          </a:p>
        </p:txBody>
      </p:sp>
    </p:spTree>
    <p:extLst>
      <p:ext uri="{BB962C8B-B14F-4D97-AF65-F5344CB8AC3E}">
        <p14:creationId xmlns:p14="http://schemas.microsoft.com/office/powerpoint/2010/main" val="378270977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Say what changes and what doesn’t. Lessons 3 and 4 fit a line. Lesson 6 offered three ways of bending a boundary a line cannot draw. Today adds a fourth primitive - a threshold, not a distance or an inner product - and then spends most of the three hours on a different question: not “does a tree work”, but “what happens when you build more than one”.</a:t>
            </a:r>
          </a:p>
          <a:p>
            <a:pPr lvl="0" indent="0" marL="0">
              <a:buNone/>
            </a:pPr>
          </a:p>
          <a:p>
            <a:pPr lvl="0" indent="0" marL="0">
              <a:buNone/>
            </a:pPr>
            <a:r>
              <a:rPr/>
              <a:t>Tell them the punchline early, without the number yet: a single tree is one of the few models in this course a person with no mathematics background can read end to end, and it is also, on its own, a mediocre model. Ensembles of trees are what most tabular-data competitions are still won with, and the reason is the subject of today.</a:t>
            </a:r>
          </a:p>
          <a:p>
            <a:pPr lvl="0" indent="0" marL="0">
              <a:buNone/>
            </a:pPr>
          </a:p>
          <a:p>
            <a:pPr lvl="0" indent="0" marL="0">
              <a:buNone/>
            </a:pPr>
            <a:r>
              <a:rPr/>
              <a:t>Handout section 1 sets this framing out in full.</a:t>
            </a:r>
          </a:p>
        </p:txBody>
      </p:sp>
      <p:sp>
        <p:nvSpPr>
          <p:cNvPr id="4" name="Slide Number Placeholder 3"/>
          <p:cNvSpPr>
            <a:spLocks noGrp="1"/>
          </p:cNvSpPr>
          <p:nvPr>
            <p:ph type="sldNum" sz="quarter" idx="10"/>
          </p:nvPr>
        </p:nvSpPr>
        <p:spPr/>
        <p:txBody>
          <a:bodyPr/>
          <a:lstStyle/>
          <a:p>
            <a:fld id="{18BDFEC3-8487-43E8-A154-7C12CBC1FFF2}" type="slidenum">
              <a:rPr lang="en-US"/>
              <a:t>2</a:t>
            </a:fld>
            <a:endParaRPr lang="en-US"/>
          </a:p>
        </p:txBody>
      </p:sp>
    </p:spTree>
  </p:cSld>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Hand back exercise 6 quickly - a sentence on what the class did well (most picked a defensible family) and a sentence on the common gap (several reports quoted a cross-validated score without ever checking whether the model’s assumption, such as within-class independence, actually held on that data).</a:t>
            </a:r>
          </a:p>
          <a:p>
            <a:pPr lvl="0" indent="0" marL="0">
              <a:buNone/>
            </a:pPr>
          </a:p>
          <a:p>
            <a:pPr lvl="0" indent="0" marL="0">
              <a:buNone/>
            </a:pPr>
            <a:r>
              <a:rPr/>
              <a:t>Link forward explicitly: today introduces a family with its own convenient assumption - that the columns you feed a random forest are all worth listening to - and by the end of the lesson you will have measured exactly how badly that assumption can fail.</a:t>
            </a:r>
          </a:p>
        </p:txBody>
      </p:sp>
      <p:sp>
        <p:nvSpPr>
          <p:cNvPr id="4" name="Slide Number Placeholder 3"/>
          <p:cNvSpPr>
            <a:spLocks noGrp="1"/>
          </p:cNvSpPr>
          <p:nvPr>
            <p:ph type="sldNum" sz="quarter" idx="10"/>
          </p:nvPr>
        </p:nvSpPr>
        <p:spPr/>
        <p:txBody>
          <a:bodyPr/>
          <a:lstStyle/>
          <a:p>
            <a:fld id="{18BDFEC3-8487-43E8-A154-7C12CBC1FFF2}" type="slidenum">
              <a:rPr lang="en-US"/>
              <a:t>3</a:t>
            </a:fld>
            <a:endParaRPr lang="en-US"/>
          </a:p>
        </p:txBody>
      </p:sp>
    </p:spTree>
  </p:cSld>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Describe the physical logic before the picture. A bank’s rule here is closer to a checklist than a smooth function: almost nobody is approved below an income floor or above a debt ceiling, and there are two further regions where income and debt are each unremarkable on their own but risky in combination.</a:t>
            </a:r>
          </a:p>
          <a:p>
            <a:pPr lvl="0" indent="0" marL="0">
              <a:buNone/>
            </a:pPr>
          </a:p>
          <a:p>
            <a:pPr lvl="0" indent="0" marL="0">
              <a:buNone/>
            </a:pPr>
            <a:r>
              <a:rPr/>
              <a:t>Ask the room what shape that logic implies before you show the scatter. The useful answer is: not one connected region, so no single straight line can separate the classes - a different failure from lesson 6’s disc-in-a-ring, but a failure of the same kind.</a:t>
            </a:r>
          </a:p>
          <a:p>
            <a:pPr lvl="0" indent="0" marL="0">
              <a:buNone/>
            </a:pPr>
          </a:p>
          <a:p>
            <a:pPr lvl="0" indent="0" marL="0">
              <a:buNone/>
            </a:pPr>
            <a:r>
              <a:rPr/>
              <a:t>Handout section 1.1.</a:t>
            </a:r>
          </a:p>
        </p:txBody>
      </p:sp>
      <p:sp>
        <p:nvSpPr>
          <p:cNvPr id="4" name="Slide Number Placeholder 3"/>
          <p:cNvSpPr>
            <a:spLocks noGrp="1"/>
          </p:cNvSpPr>
          <p:nvPr>
            <p:ph type="sldNum" sz="quarter" idx="10"/>
          </p:nvPr>
        </p:nvSpPr>
        <p:spPr/>
        <p:txBody>
          <a:bodyPr/>
          <a:lstStyle/>
          <a:p>
            <a:fld id="{18BDFEC3-8487-43E8-A154-7C12CBC1FFF2}" type="slidenum">
              <a:rPr lang="en-US"/>
              <a:t>4</a:t>
            </a:fld>
            <a:endParaRPr lang="en-US"/>
          </a:p>
        </p:txBody>
      </p:sp>
    </p:spTree>
  </p:cSld>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Let it sit for a moment before pointing anything out. Then trace the shape out loud: a strip of low income on one edge, a strip of high debt on another, and two disconnected rectangles in the interior where neither reading alone is remarkable.</a:t>
            </a:r>
          </a:p>
          <a:p>
            <a:pPr lvl="0" indent="0" marL="0">
              <a:buNone/>
            </a:pPr>
          </a:p>
          <a:p>
            <a:pPr lvl="0" indent="0" marL="0">
              <a:buNone/>
            </a:pPr>
            <a:r>
              <a:rPr/>
              <a:t>Ask for a straight line that separates repaid from defaulted, exactly as you did with the pumps in lesson 6. This time there is a difference worth naming: unlike the pumps, the class you would have to isolate is not even one connected region, so “no line separates them” is true for a different reason than a ring around a disc.</a:t>
            </a:r>
          </a:p>
          <a:p>
            <a:pPr lvl="0" indent="0" marL="0">
              <a:buNone/>
            </a:pPr>
          </a:p>
          <a:p>
            <a:pPr lvl="0" indent="0" marL="0">
              <a:buNone/>
            </a:pPr>
            <a:r>
              <a:rPr/>
              <a:t>Handout section 1.1.</a:t>
            </a:r>
          </a:p>
        </p:txBody>
      </p:sp>
      <p:sp>
        <p:nvSpPr>
          <p:cNvPr id="4" name="Slide Number Placeholder 3"/>
          <p:cNvSpPr>
            <a:spLocks noGrp="1"/>
          </p:cNvSpPr>
          <p:nvPr>
            <p:ph type="sldNum" sz="quarter" idx="10"/>
          </p:nvPr>
        </p:nvSpPr>
        <p:spPr/>
        <p:txBody>
          <a:bodyPr/>
          <a:lstStyle/>
          <a:p>
            <a:fld id="{18BDFEC3-8487-43E8-A154-7C12CBC1FFF2}" type="slidenum">
              <a:rPr lang="en-US"/>
              <a:t>5</a:t>
            </a:fld>
            <a:endParaRPr lang="en-US"/>
          </a:p>
        </p:txBody>
      </p:sp>
    </p:spTree>
  </p:cSld>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Unlike lesson 6’s pumps, logistic regression clears the baseline by a wide margin here - it has learned something. Three of the four risky regions are monotonic in at least one feature, and a linear boundary handles monotonic effects reasonably well.</a:t>
            </a:r>
          </a:p>
          <a:p>
            <a:pPr lvl="0" indent="0" marL="0">
              <a:buNone/>
            </a:pPr>
          </a:p>
          <a:p>
            <a:pPr lvl="0" indent="0" marL="0">
              <a:buNone/>
            </a:pPr>
            <a:r>
              <a:rPr/>
              <a:t>What it cannot do is wall off the two interior islands without cutting into healthy territory everywhere else. Ask the room what kind of boundary could close that gap, and let a few guesses land before moving on - a threshold rule, applied more than once, is exactly the answer the rest of the lesson builds.</a:t>
            </a:r>
          </a:p>
          <a:p>
            <a:pPr lvl="0" indent="0" marL="0">
              <a:buNone/>
            </a:pPr>
          </a:p>
          <a:p>
            <a:pPr lvl="0" indent="0" marL="0">
              <a:buNone/>
            </a:pPr>
            <a:r>
              <a:rPr/>
              <a:t>Handout section 1.1.</a:t>
            </a:r>
          </a:p>
        </p:txBody>
      </p:sp>
      <p:sp>
        <p:nvSpPr>
          <p:cNvPr id="4" name="Slide Number Placeholder 3"/>
          <p:cNvSpPr>
            <a:spLocks noGrp="1"/>
          </p:cNvSpPr>
          <p:nvPr>
            <p:ph type="sldNum" sz="quarter" idx="10"/>
          </p:nvPr>
        </p:nvSpPr>
        <p:spPr/>
        <p:txBody>
          <a:bodyPr/>
          <a:lstStyle/>
          <a:p>
            <a:fld id="{18BDFEC3-8487-43E8-A154-7C12CBC1FFF2}" type="slidenum">
              <a:rPr lang="en-US"/>
              <a:t>6</a:t>
            </a:fld>
            <a:endParaRPr lang="en-US"/>
          </a:p>
        </p:txBody>
      </p:sp>
    </p:spTree>
  </p:cSld>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Read the algorithm as one sentence and let it sit - it really is that short. Contrast it explicitly with lessons 3 and 4: no cost function is minimised over a continuous parameter, there is no gradient step. A tree is a sequence of yes/no questions, chosen one at a time.</a:t>
            </a:r>
          </a:p>
          <a:p>
            <a:pPr lvl="0" indent="0" marL="0">
              <a:buNone/>
            </a:pPr>
          </a:p>
          <a:p>
            <a:pPr lvl="0" indent="0" marL="0">
              <a:buNone/>
            </a:pPr>
            <a:r>
              <a:rPr/>
              <a:t>The word to stress is “greedy”. At every step the tree takes whichever split helps most immediately, with no mechanism for looking two levels ahead. Tell them to hold onto that word - it is what explains, later this hour, why a shallow tree can miss the interior islands entirely even though the information to find them is right there in the data.</a:t>
            </a:r>
          </a:p>
          <a:p>
            <a:pPr lvl="0" indent="0" marL="0">
              <a:buNone/>
            </a:pPr>
          </a:p>
          <a:p>
            <a:pPr lvl="0" indent="0" marL="0">
              <a:buNone/>
            </a:pPr>
            <a:r>
              <a:rPr/>
              <a:t>Handout section 2.1.</a:t>
            </a:r>
          </a:p>
        </p:txBody>
      </p:sp>
      <p:sp>
        <p:nvSpPr>
          <p:cNvPr id="4" name="Slide Number Placeholder 3"/>
          <p:cNvSpPr>
            <a:spLocks noGrp="1"/>
          </p:cNvSpPr>
          <p:nvPr>
            <p:ph type="sldNum" sz="quarter" idx="10"/>
          </p:nvPr>
        </p:nvSpPr>
        <p:spPr/>
        <p:txBody>
          <a:bodyPr/>
          <a:lstStyle/>
          <a:p>
            <a:fld id="{18BDFEC3-8487-43E8-A154-7C12CBC1FFF2}" type="slidenum">
              <a:rPr lang="en-US"/>
              <a:t>7</a:t>
            </a:fld>
            <a:endParaRPr lang="en-US"/>
          </a:p>
        </p:txBody>
      </p:sp>
    </p:spTree>
  </p:cSld>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Before any symbol appears, ask the room what “pure” should mean for a group of examples. Most will land close to the right answer on their own: a group where everyone shares a label needs nothing further, and a fifty-fifty split is as bad as it gets.</a:t>
            </a:r>
          </a:p>
          <a:p>
            <a:pPr lvl="0" indent="0" marL="0">
              <a:buNone/>
            </a:pPr>
          </a:p>
          <a:p>
            <a:pPr lvl="0" indent="0" marL="0">
              <a:buNone/>
            </a:pPr>
            <a:r>
              <a:rPr/>
              <a:t>Say plainly that the standard choice for classification is called the Gini impurity, and that it is not a probability of misclassification - it is the probability that two examples drawn at random with replacement from the group, and labelled according to the group’s own class frequencies, would disagree.</a:t>
            </a:r>
          </a:p>
          <a:p>
            <a:pPr lvl="0" indent="0" marL="0">
              <a:buNone/>
            </a:pPr>
          </a:p>
          <a:p>
            <a:pPr lvl="0" indent="0" marL="0">
              <a:buNone/>
            </a:pPr>
            <a:r>
              <a:rPr/>
              <a:t>Handout section 2.2.</a:t>
            </a:r>
          </a:p>
        </p:txBody>
      </p:sp>
      <p:sp>
        <p:nvSpPr>
          <p:cNvPr id="4" name="Slide Number Placeholder 3"/>
          <p:cNvSpPr>
            <a:spLocks noGrp="1"/>
          </p:cNvSpPr>
          <p:nvPr>
            <p:ph type="sldNum" sz="quarter" idx="10"/>
          </p:nvPr>
        </p:nvSpPr>
        <p:spPr/>
        <p:txBody>
          <a:bodyPr/>
          <a:lstStyle/>
          <a:p>
            <a:fld id="{18BDFEC3-8487-43E8-A154-7C12CBC1FFF2}" type="slidenum">
              <a:rPr lang="en-US"/>
              <a:t>8</a:t>
            </a:fld>
            <a:endParaRPr lang="en-US"/>
          </a:p>
        </p:txBody>
      </p:sp>
    </p:spTree>
  </p:cSld>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pc is the fraction of the group belonging to class c, across C classes. Do not derive anything here - state what it does: subtract, from one, the chance two examples share a class if drawn independently from the group’s own frequencies. A pure group scores zero; a maximally mixed one scores as high as the formula allows.</a:t>
            </a:r>
          </a:p>
          <a:p>
            <a:pPr lvl="0" indent="0" marL="0">
              <a:buNone/>
            </a:pPr>
          </a:p>
          <a:p>
            <a:pPr lvl="0" indent="0" marL="0">
              <a:buNone/>
            </a:pPr>
            <a:r>
              <a:rPr/>
              <a:t>Give them a moment to notice the formula asks nothing about </a:t>
            </a:r>
            <a:r>
              <a:rPr i="1"/>
              <a:t>which</a:t>
            </a:r>
            <a:r>
              <a:rPr/>
              <a:t> class is common, only about how mixed the group is - that symmetry matters later, when a split is chosen purely by how much it reduces this number.</a:t>
            </a:r>
          </a:p>
          <a:p>
            <a:pPr lvl="0" indent="0" marL="0">
              <a:buNone/>
            </a:pPr>
          </a:p>
          <a:p>
            <a:pPr lvl="0" indent="0" marL="0">
              <a:buNone/>
            </a:pPr>
            <a:r>
              <a:rPr/>
              <a:t>Handout section 2.2 has the full definition.</a:t>
            </a:r>
          </a:p>
        </p:txBody>
      </p:sp>
      <p:sp>
        <p:nvSpPr>
          <p:cNvPr id="4" name="Slide Number Placeholder 3"/>
          <p:cNvSpPr>
            <a:spLocks noGrp="1"/>
          </p:cNvSpPr>
          <p:nvPr>
            <p:ph type="sldNum" sz="quarter" idx="10"/>
          </p:nvPr>
        </p:nvSpPr>
        <p:spPr/>
        <p:txBody>
          <a:bodyPr/>
          <a:lstStyle/>
          <a:p>
            <a:fld id="{18BDFEC3-8487-43E8-A154-7C12CBC1FFF2}" type="slidenum">
              <a:rPr lang="en-US"/>
              <a:t>9</a:t>
            </a:fld>
            <a:endParaRPr lang="en-US"/>
          </a:p>
        </p:txBody>
      </p:sp>
    </p:spTree>
  </p:cSld>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Two classes is the case that matters for this dataset, and the formula collapses to something with an obvious shape: zero at the extremes, a single peak at fifty-fifty. Ask the room to sanity-check the peak location before you confirm it - it is the point where a random guess is least useful.</a:t>
            </a:r>
          </a:p>
          <a:p>
            <a:pPr lvl="0" indent="0" marL="0">
              <a:buNone/>
            </a:pPr>
          </a:p>
          <a:p>
            <a:pPr lvl="0" indent="0" marL="0">
              <a:buNone/>
            </a:pPr>
            <a:r>
              <a:rPr/>
              <a:t>Give them the concrete number: on the full loan dataset, 38.7% defaulted, so p = 0.387 and G(parent) = 2 × 0.387 × 0.613 = 0.474. That is the impurity every candidate root split is measured against.</a:t>
            </a:r>
          </a:p>
          <a:p>
            <a:pPr lvl="0" indent="0" marL="0">
              <a:buNone/>
            </a:pPr>
          </a:p>
          <a:p>
            <a:pPr lvl="0" indent="0" marL="0">
              <a:buNone/>
            </a:pPr>
            <a:r>
              <a:rPr/>
              <a:t>Handout section 2.2.</a:t>
            </a:r>
          </a:p>
        </p:txBody>
      </p:sp>
      <p:sp>
        <p:nvSpPr>
          <p:cNvPr id="4" name="Slide Number Placeholder 3"/>
          <p:cNvSpPr>
            <a:spLocks noGrp="1"/>
          </p:cNvSpPr>
          <p:nvPr>
            <p:ph type="sldNum" sz="quarter" idx="10"/>
          </p:nvPr>
        </p:nvSpPr>
        <p:spPr/>
        <p:txBody>
          <a:bodyPr/>
          <a:lstStyle/>
          <a:p>
            <a:fld id="{18BDFEC3-8487-43E8-A154-7C12CBC1FFF2}" type="slidenum">
              <a:rPr lang="en-US"/>
              <a:t>10</a:t>
            </a:fld>
            <a:endParaRPr lang="en-US"/>
          </a:p>
        </p:txBody>
      </p:sp>
    </p:spTree>
  </p:cSld>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Set up the idea in words before the formula: a split is only useful if the two resulting groups are, taken together, purer than the one group was. The weighting matters because a split that isolates one awkward point while leaving the rest exactly as mixed as before should not score as well as one that improves the picture broadly.</a:t>
            </a:r>
          </a:p>
          <a:p>
            <a:pPr lvl="0" indent="0" marL="0">
              <a:buNone/>
            </a:pPr>
          </a:p>
          <a:p>
            <a:pPr lvl="0" indent="0" marL="0">
              <a:buNone/>
            </a:pPr>
            <a:r>
              <a:rPr/>
              <a:t>Ask what could go wrong if you </a:t>
            </a:r>
            <a:r>
              <a:rPr i="1"/>
              <a:t>didn’t</a:t>
            </a:r>
            <a:r>
              <a:rPr/>
              <a:t> weight by group size - the answer is that a tree would happily carve off tiny, perfectly pure single-point groups at every step, which is exactly the overfitting behaviour section 3 measures in a few minutes.</a:t>
            </a:r>
          </a:p>
          <a:p>
            <a:pPr lvl="0" indent="0" marL="0">
              <a:buNone/>
            </a:pPr>
          </a:p>
          <a:p>
            <a:pPr lvl="0" indent="0" marL="0">
              <a:buNone/>
            </a:pPr>
            <a:r>
              <a:rPr/>
              <a:t>Handout section 2.2.</a:t>
            </a:r>
          </a:p>
        </p:txBody>
      </p:sp>
      <p:sp>
        <p:nvSpPr>
          <p:cNvPr id="4" name="Slide Number Placeholder 3"/>
          <p:cNvSpPr>
            <a:spLocks noGrp="1"/>
          </p:cNvSpPr>
          <p:nvPr>
            <p:ph type="sldNum" sz="quarter" idx="10"/>
          </p:nvPr>
        </p:nvSpPr>
        <p:spPr/>
        <p:txBody>
          <a:bodyPr/>
          <a:lstStyle/>
          <a:p>
            <a:fld id="{18BDFEC3-8487-43E8-A154-7C12CBC1FFF2}" type="slidenum">
              <a:rPr lang="en-US"/>
              <a:t>11</a:t>
            </a:fld>
            <a:endParaRPr lang="en-US"/>
          </a:p>
        </p:txBody>
      </p:sp>
    </p:spTree>
  </p:cSld>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mL and mR are the sizes of the two children, mP = mL + mR. Read it as: what the parent’s impurity was, minus what is left after the split, weighted by how the group was divided. The tree keeps whichever candidate split makes ΔG largest.</a:t>
            </a:r>
          </a:p>
          <a:p>
            <a:pPr lvl="0" indent="0" marL="0">
              <a:buNone/>
            </a:pPr>
          </a:p>
          <a:p>
            <a:pPr lvl="0" indent="0" marL="0">
              <a:buNone/>
            </a:pPr>
            <a:r>
              <a:rPr/>
              <a:t>No derivation needed here - the formula is exactly the weighted comparison the previous slide described in words. Handout section 2.2 has it worked through on the loan data’s actual root split.</a:t>
            </a:r>
          </a:p>
        </p:txBody>
      </p:sp>
      <p:sp>
        <p:nvSpPr>
          <p:cNvPr id="4" name="Slide Number Placeholder 3"/>
          <p:cNvSpPr>
            <a:spLocks noGrp="1"/>
          </p:cNvSpPr>
          <p:nvPr>
            <p:ph type="sldNum" sz="quarter" idx="10"/>
          </p:nvPr>
        </p:nvSpPr>
        <p:spPr/>
        <p:txBody>
          <a:bodyPr/>
          <a:lstStyle/>
          <a:p>
            <a:fld id="{18BDFEC3-8487-43E8-A154-7C12CBC1FFF2}" type="slidenum">
              <a:rPr lang="en-US"/>
              <a:t>12</a:t>
            </a:fld>
            <a:endParaRPr lang="en-US"/>
          </a:p>
        </p:txBody>
      </p:sp>
    </p:spTree>
  </p:cSld>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the exhaustive-search part of the algorithm, and it is worth being concrete about the cost: every feature, every possible threshold, at every node, all the way down. It is brute force, and on a dataset this size it is cheap.</a:t>
            </a:r>
          </a:p>
          <a:p>
            <a:pPr lvl="0" indent="0" marL="0">
              <a:buNone/>
            </a:pPr>
          </a:p>
          <a:p>
            <a:pPr lvl="0" indent="0" marL="0">
              <a:buNone/>
            </a:pPr>
            <a:r>
              <a:rPr/>
              <a:t>The last bullet is the one to slow down on. A feature that only helps in combination with a second split further down the tree can be - and in this dataset’s two interior islands, is - invisible to a shallow search, because ΔG is never evaluated for two splits together.</a:t>
            </a:r>
          </a:p>
          <a:p>
            <a:pPr lvl="0" indent="0" marL="0">
              <a:buNone/>
            </a:pPr>
          </a:p>
          <a:p>
            <a:pPr lvl="0" indent="0" marL="0">
              <a:buNone/>
            </a:pPr>
            <a:r>
              <a:rPr/>
              <a:t>Handout section 2.2.</a:t>
            </a:r>
          </a:p>
        </p:txBody>
      </p:sp>
      <p:sp>
        <p:nvSpPr>
          <p:cNvPr id="4" name="Slide Number Placeholder 3"/>
          <p:cNvSpPr>
            <a:spLocks noGrp="1"/>
          </p:cNvSpPr>
          <p:nvPr>
            <p:ph type="sldNum" sz="quarter" idx="10"/>
          </p:nvPr>
        </p:nvSpPr>
        <p:spPr/>
        <p:txBody>
          <a:bodyPr/>
          <a:lstStyle/>
          <a:p>
            <a:fld id="{18BDFEC3-8487-43E8-A154-7C12CBC1FFF2}" type="slidenum">
              <a:rPr lang="en-US"/>
              <a:t>13</a:t>
            </a:fld>
            <a:endParaRPr lang="en-US"/>
          </a:p>
        </p:txBody>
      </p:sp>
    </p:spTree>
  </p:cSld>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Walk the numbers once: parent impurity 0.474, and the winning split is the debt ceiling, found by brute-force search with no hint about how the data was generated. That agreement with the known generating rule is the first piece of evidence that the algorithm is doing something sensible.</a:t>
            </a:r>
          </a:p>
          <a:p>
            <a:pPr lvl="0" indent="0" marL="0">
              <a:buNone/>
            </a:pPr>
          </a:p>
          <a:p>
            <a:pPr lvl="0" indent="0" marL="0">
              <a:buNone/>
            </a:pPr>
            <a:r>
              <a:rPr/>
              <a:t>Ask the room why finding the debt ceiling by blind search, with no knowledge of how the data was built, is a stronger check than it might first appear - the answer is that it rules out the split being an artefact of how the search was coded, since nothing in the algorithm knows the generating rule.</a:t>
            </a:r>
          </a:p>
          <a:p>
            <a:pPr lvl="0" indent="0" marL="0">
              <a:buNone/>
            </a:pPr>
          </a:p>
          <a:p>
            <a:pPr lvl="0" indent="0" marL="0">
              <a:buNone/>
            </a:pPr>
            <a:r>
              <a:rPr/>
              <a:t>Handout section 2.2.</a:t>
            </a:r>
          </a:p>
        </p:txBody>
      </p:sp>
      <p:sp>
        <p:nvSpPr>
          <p:cNvPr id="4" name="Slide Number Placeholder 3"/>
          <p:cNvSpPr>
            <a:spLocks noGrp="1"/>
          </p:cNvSpPr>
          <p:nvPr>
            <p:ph type="sldNum" sz="quarter" idx="10"/>
          </p:nvPr>
        </p:nvSpPr>
        <p:spPr/>
        <p:txBody>
          <a:bodyPr/>
          <a:lstStyle/>
          <a:p>
            <a:fld id="{18BDFEC3-8487-43E8-A154-7C12CBC1FFF2}" type="slidenum">
              <a:rPr lang="en-US"/>
              <a:t>14</a:t>
            </a:fld>
            <a:endParaRPr lang="en-US"/>
          </a:p>
        </p:txBody>
      </p:sp>
    </p:spTree>
  </p:cSld>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the check notebook 1 runs live, and it matters for trust rather than for novelty: once the from-scratch version is shown to agree with scikit-learn exactly, every later result in the lesson - obtained with scikit-learn - inherits that confidence.</a:t>
            </a:r>
          </a:p>
          <a:p>
            <a:pPr lvl="0" indent="0" marL="0">
              <a:buNone/>
            </a:pPr>
          </a:p>
          <a:p>
            <a:pPr lvl="0" indent="0" marL="0">
              <a:buNone/>
            </a:pPr>
            <a:r>
              <a:rPr/>
              <a:t>Point out the “Try this” box in the handout: computing Gini impurity for the income-floor subgroup alone and comparing it against the full dataset’s 0.474 is a two-line exercise that makes the impurity number concrete rather than abstract.</a:t>
            </a:r>
          </a:p>
          <a:p>
            <a:pPr lvl="0" indent="0" marL="0">
              <a:buNone/>
            </a:pPr>
          </a:p>
          <a:p>
            <a:pPr lvl="0" indent="0" marL="0">
              <a:buNone/>
            </a:pPr>
            <a:r>
              <a:rPr/>
              <a:t>Handout section 2.2, and the “Try this” box that follows it.</a:t>
            </a:r>
          </a:p>
        </p:txBody>
      </p:sp>
      <p:sp>
        <p:nvSpPr>
          <p:cNvPr id="4" name="Slide Number Placeholder 3"/>
          <p:cNvSpPr>
            <a:spLocks noGrp="1"/>
          </p:cNvSpPr>
          <p:nvPr>
            <p:ph type="sldNum" sz="quarter" idx="10"/>
          </p:nvPr>
        </p:nvSpPr>
        <p:spPr/>
        <p:txBody>
          <a:bodyPr/>
          <a:lstStyle/>
          <a:p>
            <a:fld id="{18BDFEC3-8487-43E8-A154-7C12CBC1FFF2}" type="slidenum">
              <a:rPr lang="en-US"/>
              <a:t>15</a:t>
            </a:fld>
            <a:endParaRPr lang="en-US"/>
          </a:p>
        </p:txBody>
      </p:sp>
    </p:spTree>
  </p:cSld>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Close the Gini segment with the limitation, because it sets up everything that follows. Ask the room: if the debt ceiling and the income floor are the two easiest wins, what happens to the two interior islands, which need </a:t>
            </a:r>
            <a:r>
              <a:rPr i="1"/>
              <a:t>two</a:t>
            </a:r>
            <a:r>
              <a:rPr/>
              <a:t> conditions at once to identify?</a:t>
            </a:r>
          </a:p>
          <a:p>
            <a:pPr lvl="0" indent="0" marL="0">
              <a:buNone/>
            </a:pPr>
          </a:p>
          <a:p>
            <a:pPr lvl="0" indent="0" marL="0">
              <a:buNone/>
            </a:pPr>
            <a:r>
              <a:rPr/>
              <a:t>The honest answer is that a shallow tree simply cannot see them - not because the information isn’t there, but because greedy search only ever commits to the best split available at each individual step. Depth is what buys the tree enough steps to eventually stumble onto them, which is exactly where the next segment goes.</a:t>
            </a:r>
          </a:p>
          <a:p>
            <a:pPr lvl="0" indent="0" marL="0">
              <a:buNone/>
            </a:pPr>
          </a:p>
          <a:p>
            <a:pPr lvl="0" indent="0" marL="0">
              <a:buNone/>
            </a:pPr>
            <a:r>
              <a:rPr/>
              <a:t>Handout sections 2.2 and 3.</a:t>
            </a:r>
          </a:p>
        </p:txBody>
      </p:sp>
      <p:sp>
        <p:nvSpPr>
          <p:cNvPr id="4" name="Slide Number Placeholder 3"/>
          <p:cNvSpPr>
            <a:spLocks noGrp="1"/>
          </p:cNvSpPr>
          <p:nvPr>
            <p:ph type="sldNum" sz="quarter" idx="10"/>
          </p:nvPr>
        </p:nvSpPr>
        <p:spPr/>
        <p:txBody>
          <a:bodyPr/>
          <a:lstStyle/>
          <a:p>
            <a:fld id="{18BDFEC3-8487-43E8-A154-7C12CBC1FFF2}" type="slidenum">
              <a:rPr lang="en-US"/>
              <a:t>16</a:t>
            </a:fld>
            <a:endParaRPr lang="en-US"/>
          </a:p>
        </p:txBody>
      </p:sp>
    </p:spTree>
  </p:cSld>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Name the dial explicitly and connect it to lesson 6: k in k-nearest neighbours traded bias against variance directly, and depth is a tree’s version of the same knob.</a:t>
            </a:r>
          </a:p>
          <a:p>
            <a:pPr lvl="0" indent="0" marL="0">
              <a:buNone/>
            </a:pPr>
          </a:p>
          <a:p>
            <a:pPr lvl="0" indent="0" marL="0">
              <a:buNone/>
            </a:pPr>
            <a:r>
              <a:rPr/>
              <a:t>The training-accuracy-1.000 claim is the one to make them justify. Ask why an unconstrained tree gets every training point right, always, on any data - the answer is that splitting never has to stop until every leaf holds one example, which it then “predicts” perfectly by definition. That number demonstrates the model class can memorise, not that anything has been learned - the same reading lesson 6 gave k = 1’s training accuracy.</a:t>
            </a:r>
          </a:p>
          <a:p>
            <a:pPr lvl="0" indent="0" marL="0">
              <a:buNone/>
            </a:pPr>
          </a:p>
          <a:p>
            <a:pPr lvl="0" indent="0" marL="0">
              <a:buNone/>
            </a:pPr>
            <a:r>
              <a:rPr/>
              <a:t>Handout section 3.</a:t>
            </a:r>
          </a:p>
        </p:txBody>
      </p:sp>
      <p:sp>
        <p:nvSpPr>
          <p:cNvPr id="4" name="Slide Number Placeholder 3"/>
          <p:cNvSpPr>
            <a:spLocks noGrp="1"/>
          </p:cNvSpPr>
          <p:nvPr>
            <p:ph type="sldNum" sz="quarter" idx="10"/>
          </p:nvPr>
        </p:nvSpPr>
        <p:spPr/>
        <p:txBody>
          <a:bodyPr/>
          <a:lstStyle/>
          <a:p>
            <a:fld id="{18BDFEC3-8487-43E8-A154-7C12CBC1FFF2}" type="slidenum">
              <a:rPr lang="en-US"/>
              <a:t>17</a:t>
            </a:fld>
            <a:endParaRPr lang="en-US"/>
          </a:p>
        </p:txBody>
      </p:sp>
    </p:spTree>
  </p:cSld>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Read the two columns against each other, never in isolation, exactly as lesson 5 taught. Training accuracy climbs monotonically towards 1.000. Cross-validated accuracy rises, peaks at depth 8, and then falls back - even though the model keeps getting strictly more flexible.</a:t>
            </a:r>
          </a:p>
          <a:p>
            <a:pPr lvl="0" indent="0" marL="0">
              <a:buNone/>
            </a:pPr>
          </a:p>
          <a:p>
            <a:pPr lvl="0" indent="0" marL="0">
              <a:buNone/>
            </a:pPr>
            <a:r>
              <a:rPr/>
              <a:t>Ask which column they would have picked a tree by, if they had only seen the training column. The far right, the unconstrained tree, looks unbeatable on that evidence and is in fact the worst honest model on this table.</a:t>
            </a:r>
          </a:p>
          <a:p>
            <a:pPr lvl="0" indent="0" marL="0">
              <a:buNone/>
            </a:pPr>
          </a:p>
          <a:p>
            <a:pPr lvl="0" indent="0" marL="0">
              <a:buNone/>
            </a:pPr>
            <a:r>
              <a:rPr/>
              <a:t>The unconstrained tree loses </a:t>
            </a:r>
            <a:r>
              <a:rPr b="1"/>
              <a:t>3 points</a:t>
            </a:r>
            <a:r>
              <a:rPr/>
              <a:t> of cross-validated accuracy relative to the depth-8 peak, for a training score nobody should have trusted in the first place. Handout section 3.</a:t>
            </a:r>
          </a:p>
        </p:txBody>
      </p:sp>
      <p:sp>
        <p:nvSpPr>
          <p:cNvPr id="4" name="Slide Number Placeholder 3"/>
          <p:cNvSpPr>
            <a:spLocks noGrp="1"/>
          </p:cNvSpPr>
          <p:nvPr>
            <p:ph type="sldNum" sz="quarter" idx="10"/>
          </p:nvPr>
        </p:nvSpPr>
        <p:spPr/>
        <p:txBody>
          <a:bodyPr/>
          <a:lstStyle/>
          <a:p>
            <a:fld id="{18BDFEC3-8487-43E8-A154-7C12CBC1FFF2}" type="slidenum">
              <a:rPr lang="en-US"/>
              <a:t>18</a:t>
            </a:fld>
            <a:endParaRPr lang="en-US"/>
          </a:p>
        </p:txBody>
      </p:sp>
    </p:spTree>
  </p:cSld>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Point at the two curves in order: training climbing steadily towards the top, cross-validated rising and then turning over. The peak is where the tree is deep enough to isolate both stressed islands and shallow enough to leave the flipped labels as errors rather than as leaves of their own.</a:t>
            </a:r>
          </a:p>
          <a:p>
            <a:pPr lvl="0" indent="0" marL="0">
              <a:buNone/>
            </a:pPr>
          </a:p>
          <a:p>
            <a:pPr lvl="0" indent="0" marL="0">
              <a:buNone/>
            </a:pPr>
            <a:r>
              <a:rPr/>
              <a:t>Say plainly what past the peak is buying: every extra split is spent fitting some of the 7% of labels this dataset deliberately flips, and a flipped label has no pattern to learn. A tree that classifies it “correctly” on training data has memorised it, not generalised.</a:t>
            </a:r>
          </a:p>
          <a:p>
            <a:pPr lvl="0" indent="0" marL="0">
              <a:buNone/>
            </a:pPr>
          </a:p>
          <a:p>
            <a:pPr lvl="0" indent="0" marL="0">
              <a:buNone/>
            </a:pPr>
            <a:r>
              <a:rPr/>
              <a:t>This is the second time this course has shown a curve bend this way - lesson 3’s Lasso penalty was the first. Handout section 3.</a:t>
            </a:r>
          </a:p>
        </p:txBody>
      </p:sp>
      <p:sp>
        <p:nvSpPr>
          <p:cNvPr id="4" name="Slide Number Placeholder 3"/>
          <p:cNvSpPr>
            <a:spLocks noGrp="1"/>
          </p:cNvSpPr>
          <p:nvPr>
            <p:ph type="sldNum" sz="quarter" idx="10"/>
          </p:nvPr>
        </p:nvSpPr>
        <p:spPr/>
        <p:txBody>
          <a:bodyPr/>
          <a:lstStyle/>
          <a:p>
            <a:fld id="{18BDFEC3-8487-43E8-A154-7C12CBC1FFF2}" type="slidenum">
              <a:rPr lang="en-US"/>
              <a:t>19</a:t>
            </a:fld>
            <a:endParaRPr lang="en-US"/>
          </a:p>
        </p:txBody>
      </p:sp>
    </p:spTree>
  </p:cSld>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Left to right: at depth 2 the tree affords only the income floor and the debt ceiling - the two biggest, easiest-to-find regions - and neither interior island is visible at all. At depth 8 both islands appear as clean rectangles, close to the rule that generated the data. At full depth the boundary has grown a fringe of tiny rectangles chasing individual flipped labels.</a:t>
            </a:r>
          </a:p>
          <a:p>
            <a:pPr lvl="0" indent="0" marL="0">
              <a:buNone/>
            </a:pPr>
          </a:p>
          <a:p>
            <a:pPr lvl="0" indent="0" marL="0">
              <a:buNone/>
            </a:pPr>
            <a:r>
              <a:rPr/>
              <a:t>Make the point explicit: the full-depth boundary is not a smoother version of the depth-8 boundary. It is a noisier one, built out of the same mechanism that gave the unconstrained tree its perfect training score.</a:t>
            </a:r>
          </a:p>
          <a:p>
            <a:pPr lvl="0" indent="0" marL="0">
              <a:buNone/>
            </a:pPr>
          </a:p>
          <a:p>
            <a:pPr lvl="0" indent="0" marL="0">
              <a:buNone/>
            </a:pPr>
            <a:r>
              <a:rPr/>
              <a:t>Ask the room which of the three they would trust on a loan applicant they had never seen. Handout section 3.</a:t>
            </a:r>
          </a:p>
        </p:txBody>
      </p:sp>
      <p:sp>
        <p:nvSpPr>
          <p:cNvPr id="4" name="Slide Number Placeholder 3"/>
          <p:cNvSpPr>
            <a:spLocks noGrp="1"/>
          </p:cNvSpPr>
          <p:nvPr>
            <p:ph type="sldNum" sz="quarter" idx="10"/>
          </p:nvPr>
        </p:nvSpPr>
        <p:spPr/>
        <p:txBody>
          <a:bodyPr/>
          <a:lstStyle/>
          <a:p>
            <a:fld id="{18BDFEC3-8487-43E8-A154-7C12CBC1FFF2}" type="slidenum">
              <a:rPr lang="en-US"/>
              <a:t>20</a:t>
            </a:fld>
            <a:endParaRPr lang="en-US"/>
          </a:p>
        </p:txBody>
      </p:sp>
    </p:spTree>
  </p:cSld>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the readability half of the story. For a tree meant to be read rather than merely scored, best-first growth is the better knob: a small budget of splits goes to the ones that matter most, instead of being spent uniformly across every branch regardless of whether it’s worth it.</a:t>
            </a:r>
          </a:p>
          <a:p>
            <a:pPr lvl="0" indent="0" marL="0">
              <a:buNone/>
            </a:pPr>
          </a:p>
          <a:p>
            <a:pPr lvl="0" indent="0" marL="0">
              <a:buNone/>
            </a:pPr>
            <a:r>
              <a:rPr/>
              <a:t>The nine-leaf tree is worth reading aloud as a sequence of if/else statements - that is the entire model, and it is the thing k-nearest neighbours and support vector machines cannot offer at all. For a decision that has to be justified to the person it affects, that can matter as much as accuracy.</a:t>
            </a:r>
          </a:p>
          <a:p>
            <a:pPr lvl="0" indent="0" marL="0">
              <a:buNone/>
            </a:pPr>
          </a:p>
          <a:p>
            <a:pPr lvl="0" indent="0" marL="0">
              <a:buNone/>
            </a:pPr>
            <a:r>
              <a:rPr/>
              <a:t>Handout section 4.</a:t>
            </a:r>
          </a:p>
        </p:txBody>
      </p:sp>
      <p:sp>
        <p:nvSpPr>
          <p:cNvPr id="4" name="Slide Number Placeholder 3"/>
          <p:cNvSpPr>
            <a:spLocks noGrp="1"/>
          </p:cNvSpPr>
          <p:nvPr>
            <p:ph type="sldNum" sz="quarter" idx="10"/>
          </p:nvPr>
        </p:nvSpPr>
        <p:spPr/>
        <p:txBody>
          <a:bodyPr/>
          <a:lstStyle/>
          <a:p>
            <a:fld id="{18BDFEC3-8487-43E8-A154-7C12CBC1FFF2}" type="slidenum">
              <a:rPr lang="en-US"/>
              <a:t>21</a:t>
            </a:fld>
            <a:endParaRPr lang="en-US"/>
          </a:p>
        </p:txBody>
      </p:sp>
    </p:spTree>
  </p:cSld>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the instability that ensembles turn into raw material. The strongest split barely moves under resampling, because the evidence behind it - 1,200 points supporting the debt ceiling - is overwhelming. Everything weaker than that is supported by far fewer points, and those splits are what actually determine a tree’s shape.</a:t>
            </a:r>
          </a:p>
          <a:p>
            <a:pPr lvl="0" indent="0" marL="0">
              <a:buNone/>
            </a:pPr>
          </a:p>
          <a:p>
            <a:pPr lvl="0" indent="0" marL="0">
              <a:buNone/>
            </a:pPr>
            <a:r>
              <a:rPr/>
              <a:t>Ask the room what 11.7% disagreement between two trees fit to almost the same data implies about trusting any single tree’s exact boundary. The answer is the whole of the next segment: a single tree’s instability looks like a flaw, and it is about to become a strength.</a:t>
            </a:r>
          </a:p>
          <a:p>
            <a:pPr lvl="0" indent="0" marL="0">
              <a:buNone/>
            </a:pPr>
          </a:p>
          <a:p>
            <a:pPr lvl="0" indent="0" marL="0">
              <a:buNone/>
            </a:pPr>
            <a:r>
              <a:rPr/>
              <a:t>Handout section 4.</a:t>
            </a:r>
          </a:p>
        </p:txBody>
      </p:sp>
      <p:sp>
        <p:nvSpPr>
          <p:cNvPr id="4" name="Slide Number Placeholder 3"/>
          <p:cNvSpPr>
            <a:spLocks noGrp="1"/>
          </p:cNvSpPr>
          <p:nvPr>
            <p:ph type="sldNum" sz="quarter" idx="10"/>
          </p:nvPr>
        </p:nvSpPr>
        <p:spPr/>
        <p:txBody>
          <a:bodyPr/>
          <a:lstStyle/>
          <a:p>
            <a:fld id="{18BDFEC3-8487-43E8-A154-7C12CBC1FFF2}" type="slidenum">
              <a:rPr lang="en-US"/>
              <a:t>22</a:t>
            </a:fld>
            <a:endParaRPr lang="en-US"/>
          </a:p>
        </p:txBody>
      </p:sp>
    </p:spTree>
  </p:cSld>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Run Notebooks/01_decision_trees_from_scratch.ipynb. Twenty minutes.</a:t>
            </a:r>
          </a:p>
          <a:p>
            <a:pPr lvl="0" indent="0" marL="0">
              <a:buNone/>
            </a:pPr>
          </a:p>
          <a:p>
            <a:pPr lvl="0" indent="0" marL="0">
              <a:buNone/>
            </a:pPr>
            <a:r>
              <a:rPr/>
              <a:t>Have them watch the from-scratch implementation confirm the debt-ceiling root split before scikit-learn’s version ever runs - the point is that the agreement is not assumed, it is checked, at every depth.</a:t>
            </a:r>
          </a:p>
          <a:p>
            <a:pPr lvl="0" indent="0" marL="0">
              <a:buNone/>
            </a:pPr>
          </a:p>
          <a:p>
            <a:pPr lvl="0" indent="0" marL="0">
              <a:buNone/>
            </a:pPr>
            <a:r>
              <a:rPr/>
              <a:t>The cell worth protecting if time is short is the two-tree resampling comparison at the end: printing the 11.7% disagreement figure themselves lands harder than reading it off a slide.</a:t>
            </a:r>
          </a:p>
        </p:txBody>
      </p:sp>
      <p:sp>
        <p:nvSpPr>
          <p:cNvPr id="4" name="Slide Number Placeholder 3"/>
          <p:cNvSpPr>
            <a:spLocks noGrp="1"/>
          </p:cNvSpPr>
          <p:nvPr>
            <p:ph type="sldNum" sz="quarter" idx="10"/>
          </p:nvPr>
        </p:nvSpPr>
        <p:spPr/>
        <p:txBody>
          <a:bodyPr/>
          <a:lstStyle/>
          <a:p>
            <a:fld id="{18BDFEC3-8487-43E8-A154-7C12CBC1FFF2}" type="slidenum">
              <a:rPr lang="en-US"/>
              <a:t>23</a:t>
            </a:fld>
            <a:endParaRPr lang="en-US"/>
          </a:p>
        </p:txBody>
      </p:sp>
    </p:spTree>
  </p:cSld>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Twelve minutes. The next segment is where the lesson’s real content starts - one tree’s instability, turned into an ensemble’s strength - so they need to come back with that framing fresh.</a:t>
            </a:r>
          </a:p>
        </p:txBody>
      </p:sp>
      <p:sp>
        <p:nvSpPr>
          <p:cNvPr id="4" name="Slide Number Placeholder 3"/>
          <p:cNvSpPr>
            <a:spLocks noGrp="1"/>
          </p:cNvSpPr>
          <p:nvPr>
            <p:ph type="sldNum" sz="quarter" idx="10"/>
          </p:nvPr>
        </p:nvSpPr>
        <p:spPr/>
        <p:txBody>
          <a:bodyPr/>
          <a:lstStyle/>
          <a:p>
            <a:fld id="{18BDFEC3-8487-43E8-A154-7C12CBC1FFF2}" type="slidenum">
              <a:rPr lang="en-US"/>
              <a:t>24</a:t>
            </a:fld>
            <a:endParaRPr lang="en-US"/>
          </a:p>
        </p:txBody>
      </p:sp>
    </p:spTree>
  </p:cSld>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State the logic before the name. Section 4 just measured that two trees on overlapping resamples disagree on more than a tenth of predictions. If those disagreements are close to random, averaging many such trees should cancel some of them out - that is the entire idea behind bagging, bootstrap aggregating.</a:t>
            </a:r>
          </a:p>
          <a:p>
            <a:pPr lvl="0" indent="0" marL="0">
              <a:buNone/>
            </a:pPr>
          </a:p>
          <a:p>
            <a:pPr lvl="0" indent="0" marL="0">
              <a:buNone/>
            </a:pPr>
            <a:r>
              <a:rPr/>
              <a:t>Be precise about “with replacement”: some rows appear more than once in a given sample, some not at all. That leftover fraction is not wasted - it becomes free validation data, on the next slide.</a:t>
            </a:r>
          </a:p>
          <a:p>
            <a:pPr lvl="0" indent="0" marL="0">
              <a:buNone/>
            </a:pPr>
          </a:p>
          <a:p>
            <a:pPr lvl="0" indent="0" marL="0">
              <a:buNone/>
            </a:pPr>
            <a:r>
              <a:rPr/>
              <a:t>Handout section 5.</a:t>
            </a:r>
          </a:p>
        </p:txBody>
      </p:sp>
      <p:sp>
        <p:nvSpPr>
          <p:cNvPr id="4" name="Slide Number Placeholder 3"/>
          <p:cNvSpPr>
            <a:spLocks noGrp="1"/>
          </p:cNvSpPr>
          <p:nvPr>
            <p:ph type="sldNum" sz="quarter" idx="10"/>
          </p:nvPr>
        </p:nvSpPr>
        <p:spPr/>
        <p:txBody>
          <a:bodyPr/>
          <a:lstStyle/>
          <a:p>
            <a:fld id="{18BDFEC3-8487-43E8-A154-7C12CBC1FFF2}" type="slidenum">
              <a:rPr lang="en-US"/>
              <a:t>25</a:t>
            </a:fld>
            <a:endParaRPr lang="en-US"/>
          </a:p>
        </p:txBody>
      </p:sp>
    </p:spTree>
  </p:cSld>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State the result, do not derive it - the limit that gives 63.2%/36.8% is a standard exponential limit, worked out in full in the handout, and it does not belong on a slide. What matters here is the consequence: every bootstrap tree automatically leaves out over a third of the data it never saw, for free.</a:t>
            </a:r>
          </a:p>
          <a:p>
            <a:pPr lvl="0" indent="0" marL="0">
              <a:buNone/>
            </a:pPr>
          </a:p>
          <a:p>
            <a:pPr lvl="0" indent="0" marL="0">
              <a:buNone/>
            </a:pPr>
            <a:r>
              <a:rPr/>
              <a:t>Ask the room what that leftover third is good for. The answer is the next slide: it is validation data for exactly the one tree that never saw it.</a:t>
            </a:r>
          </a:p>
          <a:p>
            <a:pPr lvl="0" indent="0" marL="0">
              <a:buNone/>
            </a:pPr>
          </a:p>
          <a:p>
            <a:pPr lvl="0" indent="0" marL="0">
              <a:buNone/>
            </a:pPr>
            <a:r>
              <a:rPr/>
              <a:t>Handout section 5.1.</a:t>
            </a:r>
          </a:p>
        </p:txBody>
      </p:sp>
      <p:sp>
        <p:nvSpPr>
          <p:cNvPr id="4" name="Slide Number Placeholder 3"/>
          <p:cNvSpPr>
            <a:spLocks noGrp="1"/>
          </p:cNvSpPr>
          <p:nvPr>
            <p:ph type="sldNum" sz="quarter" idx="10"/>
          </p:nvPr>
        </p:nvSpPr>
        <p:spPr/>
        <p:txBody>
          <a:bodyPr/>
          <a:lstStyle/>
          <a:p>
            <a:fld id="{18BDFEC3-8487-43E8-A154-7C12CBC1FFF2}" type="slidenum">
              <a:rPr lang="en-US"/>
              <a:t>26</a:t>
            </a:fld>
            <a:endParaRPr lang="en-US"/>
          </a:p>
        </p:txBody>
      </p:sp>
    </p:spTree>
  </p:cSld>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agreement is the point, but be careful how you sell it. On this seed the two numbers match to four decimal places, and that is luck: over twelve seeds the typical gap is 0.0026 and the worst is 0.0075. What is not luck is that they track each other well inside cross-validation’s own ±0.021 spread, because OOB score </a:t>
            </a:r>
            <a:r>
              <a:rPr i="1"/>
              <a:t>is</a:t>
            </a:r>
            <a:r>
              <a:rPr/>
              <a:t> cross-validation with different bookkeeping - each tree supplying its own held-out fold, the rows it never bootstrapped, instead of the dataset being split up front.</a:t>
            </a:r>
          </a:p>
          <a:p>
            <a:pPr lvl="0" indent="0" marL="0">
              <a:buNone/>
            </a:pPr>
          </a:p>
          <a:p>
            <a:pPr lvl="0" indent="0" marL="0">
              <a:buNone/>
            </a:pPr>
            <a:r>
              <a:rPr/>
              <a:t>Worth pausing on, because it is a habit rather than a fact: </a:t>
            </a:r>
            <a:r>
              <a:rPr b="1"/>
              <a:t>a single coincidence is not evidence of a law.</a:t>
            </a:r>
            <a:r>
              <a:rPr/>
              <a:t> If you catch yourself saying “exactly”, run it again with another seed. They will need that reflex in their own exercises, and it is cheaper to learn it here.</a:t>
            </a:r>
          </a:p>
          <a:p>
            <a:pPr lvl="0" indent="0" marL="0">
              <a:buNone/>
            </a:pPr>
          </a:p>
          <a:p>
            <a:pPr lvl="0" indent="0" marL="0">
              <a:buNone/>
            </a:pPr>
            <a:r>
              <a:rPr/>
              <a:t>Then make the practical consequence explicit: with a bagged ensemble you get a trustworthy estimate of generalisation for free, without setting aside a separate validation set at all - just not one to read to the fourth decimal.</a:t>
            </a:r>
          </a:p>
          <a:p>
            <a:pPr lvl="0" indent="0" marL="0">
              <a:buNone/>
            </a:pPr>
          </a:p>
          <a:p>
            <a:pPr lvl="0" indent="0" marL="0">
              <a:buNone/>
            </a:pPr>
            <a:r>
              <a:rPr/>
              <a:t>Handout section 5.1.</a:t>
            </a:r>
          </a:p>
        </p:txBody>
      </p:sp>
      <p:sp>
        <p:nvSpPr>
          <p:cNvPr id="4" name="Slide Number Placeholder 3"/>
          <p:cNvSpPr>
            <a:spLocks noGrp="1"/>
          </p:cNvSpPr>
          <p:nvPr>
            <p:ph type="sldNum" sz="quarter" idx="10"/>
          </p:nvPr>
        </p:nvSpPr>
        <p:spPr/>
        <p:txBody>
          <a:bodyPr/>
          <a:lstStyle/>
          <a:p>
            <a:fld id="{18BDFEC3-8487-43E8-A154-7C12CBC1FFF2}" type="slidenum">
              <a:rPr lang="en-US"/>
              <a:t>27</a:t>
            </a:fld>
            <a:endParaRPr lang="en-US"/>
          </a:p>
        </p:txBody>
      </p:sp>
    </p:spTree>
  </p:cSld>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State the headline, not the algebra - the covariance expansion behind this is in the handout, and it does not belong on a slide. The two consequences are what matter: there is a floor variance cannot fall below, set by how correlated the trees are with each other, and averaging is a variance tool only, powerless against a systematic mistake shared by every tree.</a:t>
            </a:r>
          </a:p>
          <a:p>
            <a:pPr lvl="0" indent="0" marL="0">
              <a:buNone/>
            </a:pPr>
          </a:p>
          <a:p>
            <a:pPr lvl="0" indent="0" marL="0">
              <a:buNone/>
            </a:pPr>
            <a:r>
              <a:rPr/>
              <a:t>That second point is worth a beat: bagging does nothing for a tree that is too shallow to represent the rule in the first place. It cleans up noise, it does not add capability.</a:t>
            </a:r>
          </a:p>
          <a:p>
            <a:pPr lvl="0" indent="0" marL="0">
              <a:buNone/>
            </a:pPr>
          </a:p>
          <a:p>
            <a:pPr lvl="0" indent="0" marL="0">
              <a:buNone/>
            </a:pPr>
            <a:r>
              <a:rPr/>
              <a:t>Handout section 5.2.</a:t>
            </a:r>
          </a:p>
        </p:txBody>
      </p:sp>
      <p:sp>
        <p:nvSpPr>
          <p:cNvPr id="4" name="Slide Number Placeholder 3"/>
          <p:cNvSpPr>
            <a:spLocks noGrp="1"/>
          </p:cNvSpPr>
          <p:nvPr>
            <p:ph type="sldNum" sz="quarter" idx="10"/>
          </p:nvPr>
        </p:nvSpPr>
        <p:spPr/>
        <p:txBody>
          <a:bodyPr/>
          <a:lstStyle/>
          <a:p>
            <a:fld id="{18BDFEC3-8487-43E8-A154-7C12CBC1FFF2}" type="slidenum">
              <a:rPr lang="en-US"/>
              <a:t>28</a:t>
            </a:fld>
            <a:endParaRPr lang="en-US"/>
          </a:p>
        </p:txBody>
      </p:sp>
    </p:spTree>
  </p:cSld>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Across 30 independent 70/30 splits of the loan data, both numbers moved in the predicted direction. The mean rose, because bagging also averages out some of a deep tree’s overfitting; the spread fell, which is exactly what the previous slide’s formula says averaging correlated estimators should do.</a:t>
            </a:r>
          </a:p>
          <a:p>
            <a:pPr lvl="0" indent="0" marL="0">
              <a:buNone/>
            </a:pPr>
          </a:p>
          <a:p>
            <a:pPr lvl="0" indent="0" marL="0">
              <a:buNone/>
            </a:pPr>
            <a:r>
              <a:rPr/>
              <a:t>Ask the room to name which of the two changes matters more for trusting a single deployed model - the tighter spread, because it means the number you report is less likely to be a lucky split.</a:t>
            </a:r>
          </a:p>
          <a:p>
            <a:pPr lvl="0" indent="0" marL="0">
              <a:buNone/>
            </a:pPr>
          </a:p>
          <a:p>
            <a:pPr lvl="0" indent="0" marL="0">
              <a:buNone/>
            </a:pPr>
            <a:r>
              <a:rPr/>
              <a:t>Handout section 5.2.</a:t>
            </a:r>
          </a:p>
        </p:txBody>
      </p:sp>
      <p:sp>
        <p:nvSpPr>
          <p:cNvPr id="4" name="Slide Number Placeholder 3"/>
          <p:cNvSpPr>
            <a:spLocks noGrp="1"/>
          </p:cNvSpPr>
          <p:nvPr>
            <p:ph type="sldNum" sz="quarter" idx="10"/>
          </p:nvPr>
        </p:nvSpPr>
        <p:spPr/>
        <p:txBody>
          <a:bodyPr/>
          <a:lstStyle/>
          <a:p>
            <a:fld id="{18BDFEC3-8487-43E8-A154-7C12CBC1FFF2}" type="slidenum">
              <a:rPr lang="en-US"/>
              <a:t>29</a:t>
            </a:fld>
            <a:endParaRPr lang="en-US"/>
          </a:p>
        </p:txBody>
      </p:sp>
    </p:spTree>
  </p:cSld>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Connect this directly to the previous slide’s algebra: if the floor is ρσ², the only way to push it lower is to push ρ down, and bootstrap resampling alone only does that partially, because every bagged tree still gets to see the full feature list.</a:t>
            </a:r>
          </a:p>
          <a:p>
            <a:pPr lvl="0" indent="0" marL="0">
              <a:buNone/>
            </a:pPr>
          </a:p>
          <a:p>
            <a:pPr lvl="0" indent="0" marL="0">
              <a:buNone/>
            </a:pPr>
            <a:r>
              <a:rPr/>
              <a:t>The random forest’s one change is a restriction, not an addition: at each split, only a random handful of candidate features is even offered. That forces disagreement between trees at the same point in the tree, purely by denying them the same menu.</a:t>
            </a:r>
          </a:p>
          <a:p>
            <a:pPr lvl="0" indent="0" marL="0">
              <a:buNone/>
            </a:pPr>
          </a:p>
          <a:p>
            <a:pPr lvl="0" indent="0" marL="0">
              <a:buNone/>
            </a:pPr>
            <a:r>
              <a:rPr/>
              <a:t>Handout section 6.</a:t>
            </a:r>
          </a:p>
        </p:txBody>
      </p:sp>
      <p:sp>
        <p:nvSpPr>
          <p:cNvPr id="4" name="Slide Number Placeholder 3"/>
          <p:cNvSpPr>
            <a:spLocks noGrp="1"/>
          </p:cNvSpPr>
          <p:nvPr>
            <p:ph type="sldNum" sz="quarter" idx="10"/>
          </p:nvPr>
        </p:nvSpPr>
        <p:spPr/>
        <p:txBody>
          <a:bodyPr/>
          <a:lstStyle/>
          <a:p>
            <a:fld id="{18BDFEC3-8487-43E8-A154-7C12CBC1FFF2}" type="slidenum">
              <a:rPr lang="en-US"/>
              <a:t>30</a:t>
            </a:fld>
            <a:endParaRPr lang="en-US"/>
          </a:p>
        </p:txBody>
      </p:sp>
    </p:spTree>
  </p:cSld>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Same 30 splits as the bagging comparison. The random forest beats plain bagging on both counts - a better mean and a tighter spread - consistent with ρ having fallen further, exactly as the restriction on the previous slide predicts.</a:t>
            </a:r>
          </a:p>
          <a:p>
            <a:pPr lvl="0" indent="0" marL="0">
              <a:buNone/>
            </a:pPr>
          </a:p>
          <a:p>
            <a:pPr lvl="0" indent="0" marL="0">
              <a:buNone/>
            </a:pPr>
            <a:r>
              <a:rPr/>
              <a:t>Say plainly what has and hasn’t changed: nothing about the splitting rule is different from section 2. The only change across all three rows of this table is what surrounds the tree - resampling, then also restricting the feature menu.</a:t>
            </a:r>
          </a:p>
          <a:p>
            <a:pPr lvl="0" indent="0" marL="0">
              <a:buNone/>
            </a:pPr>
          </a:p>
          <a:p>
            <a:pPr lvl="0" indent="0" marL="0">
              <a:buNone/>
            </a:pPr>
            <a:r>
              <a:rPr/>
              <a:t>Handout section 6.</a:t>
            </a:r>
          </a:p>
        </p:txBody>
      </p:sp>
      <p:sp>
        <p:nvSpPr>
          <p:cNvPr id="4" name="Slide Number Placeholder 3"/>
          <p:cNvSpPr>
            <a:spLocks noGrp="1"/>
          </p:cNvSpPr>
          <p:nvPr>
            <p:ph type="sldNum" sz="quarter" idx="10"/>
          </p:nvPr>
        </p:nvSpPr>
        <p:spPr/>
        <p:txBody>
          <a:bodyPr/>
          <a:lstStyle/>
          <a:p>
            <a:fld id="{18BDFEC3-8487-43E8-A154-7C12CBC1FFF2}" type="slidenum">
              <a:rPr lang="en-US"/>
              <a:t>31</a:t>
            </a:fld>
            <a:endParaRPr lang="en-US"/>
          </a:p>
        </p:txBody>
      </p:sp>
    </p:spTree>
  </p:cSld>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State the definition plainly, then set up the experiment. With just income and debt ratio in the dataset, feature importance is a clean, correct answer - both real features get essentially all the credit, because there is nothing else to compete with them.</a:t>
            </a:r>
          </a:p>
          <a:p>
            <a:pPr lvl="0" indent="0" marL="0">
              <a:buNone/>
            </a:pPr>
          </a:p>
          <a:p>
            <a:pPr lvl="0" indent="0" marL="0">
              <a:buNone/>
            </a:pPr>
            <a:r>
              <a:rPr/>
              <a:t>Ask the room to predict what happens as you add columns of pure noise - </a:t>
            </a:r>
            <a:r>
              <a:rPr>
                <a:latin typeface="Courier"/>
              </a:rPr>
              <a:t>np.random.normal</a:t>
            </a:r>
            <a:r>
              <a:rPr/>
              <a:t>, wired to nothing. Most will predict the noise columns get close to zero importance, because averaging over hundreds of trees should wash out anything with no signal. Do not confirm or deny yet - the next slide is the answer.</a:t>
            </a:r>
          </a:p>
          <a:p>
            <a:pPr lvl="0" indent="0" marL="0">
              <a:buNone/>
            </a:pPr>
          </a:p>
          <a:p>
            <a:pPr lvl="0" indent="0" marL="0">
              <a:buNone/>
            </a:pPr>
            <a:r>
              <a:rPr/>
              <a:t>Handout section 7.</a:t>
            </a:r>
          </a:p>
        </p:txBody>
      </p:sp>
      <p:sp>
        <p:nvSpPr>
          <p:cNvPr id="4" name="Slide Number Placeholder 3"/>
          <p:cNvSpPr>
            <a:spLocks noGrp="1"/>
          </p:cNvSpPr>
          <p:nvPr>
            <p:ph type="sldNum" sz="quarter" idx="10"/>
          </p:nvPr>
        </p:nvSpPr>
        <p:spPr/>
        <p:txBody>
          <a:bodyPr/>
          <a:lstStyle/>
          <a:p>
            <a:fld id="{18BDFEC3-8487-43E8-A154-7C12CBC1FFF2}" type="slidenum">
              <a:rPr lang="en-US"/>
              <a:t>32</a:t>
            </a:fld>
            <a:endParaRPr lang="en-US"/>
          </a:p>
        </p:txBody>
      </p:sp>
    </p:spTree>
  </p:cSld>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Read down the last column, slowly, and let the bottom row sit before explaining anything. With 20 pure-noise columns against 2 real features, more than half of the forest’s own importance scores land on columns that are </a:t>
            </a:r>
            <a:r>
              <a:rPr>
                <a:latin typeface="Courier"/>
              </a:rPr>
              <a:t>np.random.normal</a:t>
            </a:r>
            <a:r>
              <a:rPr/>
              <a:t> noise by construction.</a:t>
            </a:r>
          </a:p>
          <a:p>
            <a:pPr lvl="0" indent="0" marL="0">
              <a:buNone/>
            </a:pPr>
          </a:p>
          <a:p>
            <a:pPr lvl="0" indent="0" marL="0">
              <a:buNone/>
            </a:pPr>
            <a:r>
              <a:rPr/>
              <a:t>Name the instinct this breaks, and defend it before moving on: expecting an average over hundreds of trees to wash out noise is entirely reasonable - the variance-reduction result from section 5.2 is real and measured, and it does point the same way. It reduces the variance of the </a:t>
            </a:r>
            <a:r>
              <a:rPr i="1"/>
              <a:t>prediction</a:t>
            </a:r>
            <a:r>
              <a:rPr/>
              <a:t>. It does not guarantee small importance for irrelevant columns, because the very restriction that decorrelates the trees - a random, incomplete menu at each split - is what occasionally hands a split to noise with nothing better on offer.</a:t>
            </a:r>
          </a:p>
          <a:p>
            <a:pPr lvl="0" indent="0" marL="0">
              <a:buNone/>
            </a:pPr>
          </a:p>
          <a:p>
            <a:pPr lvl="0" indent="0" marL="0">
              <a:buNone/>
            </a:pPr>
            <a:r>
              <a:rPr/>
              <a:t>The mechanism is exact and is in handout section 7. The practical consequence to leave them with: treat a random forest’s importances as suggestive, not definitive, when real features are few against many candidate columns.</a:t>
            </a:r>
          </a:p>
        </p:txBody>
      </p:sp>
      <p:sp>
        <p:nvSpPr>
          <p:cNvPr id="4" name="Slide Number Placeholder 3"/>
          <p:cNvSpPr>
            <a:spLocks noGrp="1"/>
          </p:cNvSpPr>
          <p:nvPr>
            <p:ph type="sldNum" sz="quarter" idx="10"/>
          </p:nvPr>
        </p:nvSpPr>
        <p:spPr/>
        <p:txBody>
          <a:bodyPr/>
          <a:lstStyle/>
          <a:p>
            <a:fld id="{18BDFEC3-8487-43E8-A154-7C12CBC1FFF2}" type="slidenum">
              <a:rPr lang="en-US"/>
              <a:t>33</a:t>
            </a:fld>
            <a:endParaRPr lang="en-US"/>
          </a:p>
        </p:txBody>
      </p:sp>
    </p:spTree>
  </p:cSld>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Run Notebooks/02_bagging_and_random_forests.ipynb. Eighteen minutes.</a:t>
            </a:r>
          </a:p>
          <a:p>
            <a:pPr lvl="0" indent="0" marL="0">
              <a:buNone/>
            </a:pPr>
          </a:p>
          <a:p>
            <a:pPr lvl="0" indent="0" marL="0">
              <a:buNone/>
            </a:pPr>
            <a:r>
              <a:rPr/>
              <a:t>The cell to protect is the noise-column sweep. Let them add the columns themselves and watch the importance share climb - reading the number off a slide does not land the same way as watching it happen.</a:t>
            </a:r>
          </a:p>
          <a:p>
            <a:pPr lvl="0" indent="0" marL="0">
              <a:buNone/>
            </a:pPr>
          </a:p>
          <a:p>
            <a:pPr lvl="0" indent="0" marL="0">
              <a:buNone/>
            </a:pPr>
            <a:r>
              <a:rPr/>
              <a:t>If time allows, have them try </a:t>
            </a:r>
            <a:r>
              <a:rPr>
                <a:latin typeface="Courier"/>
              </a:rPr>
              <a:t>max_features=None</a:t>
            </a:r>
            <a:r>
              <a:rPr/>
              <a:t> instead of the default </a:t>
            </a:r>
            <a:r>
              <a:rPr>
                <a:latin typeface="Courier"/>
              </a:rPr>
              <a:t>"sqrt"</a:t>
            </a:r>
            <a:r>
              <a:rPr/>
              <a:t> and predict what happens to the noise share before running it - it should fall, at the cost of the decorrelation that made the forest work in the first place.</a:t>
            </a:r>
          </a:p>
        </p:txBody>
      </p:sp>
      <p:sp>
        <p:nvSpPr>
          <p:cNvPr id="4" name="Slide Number Placeholder 3"/>
          <p:cNvSpPr>
            <a:spLocks noGrp="1"/>
          </p:cNvSpPr>
          <p:nvPr>
            <p:ph type="sldNum" sz="quarter" idx="10"/>
          </p:nvPr>
        </p:nvSpPr>
        <p:spPr/>
        <p:txBody>
          <a:bodyPr/>
          <a:lstStyle/>
          <a:p>
            <a:fld id="{18BDFEC3-8487-43E8-A154-7C12CBC1FFF2}" type="slidenum">
              <a:rPr lang="en-US"/>
              <a:t>34</a:t>
            </a:fld>
            <a:endParaRPr lang="en-US"/>
          </a:p>
        </p:txBody>
      </p:sp>
    </p:spTree>
  </p:cSld>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Contrast the two strategies directly, because the difference is the whole segment. Bagging and random forests are parallel: every tree is grown once, independently, and combined only at prediction time. Boosting is sequential: tree t exists specifically because of what trees 1 through t-1 still got wrong.</a:t>
            </a:r>
          </a:p>
          <a:p>
            <a:pPr lvl="0" indent="0" marL="0">
              <a:buNone/>
            </a:pPr>
          </a:p>
          <a:p>
            <a:pPr lvl="0" indent="0" marL="0">
              <a:buNone/>
            </a:pPr>
            <a:r>
              <a:rPr/>
              <a:t>Name α carefully and tie it to the course’s shared notation - this is the same symbol as lesson 3’s gradient descent learning rate, doing an analogous job: how large a step each correction takes.</a:t>
            </a:r>
          </a:p>
          <a:p>
            <a:pPr lvl="0" indent="0" marL="0">
              <a:buNone/>
            </a:pPr>
          </a:p>
          <a:p>
            <a:pPr lvl="0" indent="0" marL="0">
              <a:buNone/>
            </a:pPr>
            <a:r>
              <a:rPr/>
              <a:t>Handout section 8.</a:t>
            </a:r>
          </a:p>
        </p:txBody>
      </p:sp>
      <p:sp>
        <p:nvSpPr>
          <p:cNvPr id="4" name="Slide Number Placeholder 3"/>
          <p:cNvSpPr>
            <a:spLocks noGrp="1"/>
          </p:cNvSpPr>
          <p:nvPr>
            <p:ph type="sldNum" sz="quarter" idx="10"/>
          </p:nvPr>
        </p:nvSpPr>
        <p:spPr/>
        <p:txBody>
          <a:bodyPr/>
          <a:lstStyle/>
          <a:p>
            <a:fld id="{18BDFEC3-8487-43E8-A154-7C12CBC1FFF2}" type="slidenum">
              <a:rPr lang="en-US"/>
              <a:t>35</a:t>
            </a:fld>
            <a:endParaRPr lang="en-US"/>
          </a:p>
        </p:txBody>
      </p:sp>
    </p:spTree>
  </p:cSld>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F₀ is the flat starting guess, the mean of the target. Each subsequent Ft is the previous ensemble plus a scaled correction from the newest tree, ht. Read it left to right: start flat, then keep adding small, scaled corrections.</a:t>
            </a:r>
          </a:p>
          <a:p>
            <a:pPr lvl="0" indent="0" marL="0">
              <a:buNone/>
            </a:pPr>
          </a:p>
          <a:p>
            <a:pPr lvl="0" indent="0" marL="0">
              <a:buNone/>
            </a:pPr>
            <a:r>
              <a:rPr/>
              <a:t>Do not derive anything further here - the next slide states what ht is actually fit to. Handout section 8.</a:t>
            </a:r>
          </a:p>
        </p:txBody>
      </p:sp>
      <p:sp>
        <p:nvSpPr>
          <p:cNvPr id="4" name="Slide Number Placeholder 3"/>
          <p:cNvSpPr>
            <a:spLocks noGrp="1"/>
          </p:cNvSpPr>
          <p:nvPr>
            <p:ph type="sldNum" sz="quarter" idx="10"/>
          </p:nvPr>
        </p:nvSpPr>
        <p:spPr/>
        <p:txBody>
          <a:bodyPr/>
          <a:lstStyle/>
          <a:p>
            <a:fld id="{18BDFEC3-8487-43E8-A154-7C12CBC1FFF2}" type="slidenum">
              <a:rPr lang="en-US"/>
              <a:t>36</a:t>
            </a:fld>
            <a:endParaRPr lang="en-US"/>
          </a:p>
        </p:txBody>
      </p:sp>
    </p:spTree>
  </p:cSld>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State the result without the calculus. For plain squared-error regression, what a new tree corrects is literally the residual - the gap between the truth and the ensemble’s current prediction. That is intuitive on its own and does not need a derivative to justify.</a:t>
            </a:r>
          </a:p>
          <a:p>
            <a:pPr lvl="0" indent="0" marL="0">
              <a:buNone/>
            </a:pPr>
          </a:p>
          <a:p>
            <a:pPr lvl="0" indent="0" marL="0">
              <a:buNone/>
            </a:pPr>
            <a:r>
              <a:rPr/>
              <a:t>The second bullet is the generalisation that pays off in the very next segment: the same recipe - fit a tree to the negative gradient of whatever loss you’re using - covers classification too, once the loss changes from squared error to something else. Handout section 8 has the one line of algebra connecting the two.</a:t>
            </a:r>
          </a:p>
        </p:txBody>
      </p:sp>
      <p:sp>
        <p:nvSpPr>
          <p:cNvPr id="4" name="Slide Number Placeholder 3"/>
          <p:cNvSpPr>
            <a:spLocks noGrp="1"/>
          </p:cNvSpPr>
          <p:nvPr>
            <p:ph type="sldNum" sz="quarter" idx="10"/>
          </p:nvPr>
        </p:nvSpPr>
        <p:spPr/>
        <p:txBody>
          <a:bodyPr/>
          <a:lstStyle/>
          <a:p>
            <a:fld id="{18BDFEC3-8487-43E8-A154-7C12CBC1FFF2}" type="slidenum">
              <a:rPr lang="en-US"/>
              <a:t>37</a:t>
            </a:fld>
            <a:endParaRPr lang="en-US"/>
          </a:p>
        </p:txBody>
      </p:sp>
    </p:spTree>
  </p:cSld>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Sixty depth-2 trees, learning rate 0.3, fit to a step function plus a gentle sine wave, observed with noise. Walk through the panels in order.</a:t>
            </a:r>
          </a:p>
          <a:p>
            <a:pPr lvl="0" indent="0" marL="0">
              <a:buNone/>
            </a:pPr>
          </a:p>
          <a:p>
            <a:pPr lvl="0" indent="0" marL="0">
              <a:buNone/>
            </a:pPr>
            <a:r>
              <a:rPr/>
              <a:t>Say the numbers as you point: one tree barely moves the flat starting guess. Five trees sketch the coarse shape. Twenty trace the step function closely - the ensemble’s best point, on the next slide. By sixty, the ensemble is tracking individual noisy observations as well as the underlying shape.</a:t>
            </a:r>
          </a:p>
          <a:p>
            <a:pPr lvl="0" indent="0" marL="0">
              <a:buNone/>
            </a:pPr>
          </a:p>
          <a:p>
            <a:pPr lvl="0" indent="0" marL="0">
              <a:buNone/>
            </a:pPr>
            <a:r>
              <a:rPr/>
              <a:t>Handout section 8.</a:t>
            </a:r>
          </a:p>
        </p:txBody>
      </p:sp>
      <p:sp>
        <p:nvSpPr>
          <p:cNvPr id="4" name="Slide Number Placeholder 3"/>
          <p:cNvSpPr>
            <a:spLocks noGrp="1"/>
          </p:cNvSpPr>
          <p:nvPr>
            <p:ph type="sldNum" sz="quarter" idx="10"/>
          </p:nvPr>
        </p:nvSpPr>
        <p:spPr/>
        <p:txBody>
          <a:bodyPr/>
          <a:lstStyle/>
          <a:p>
            <a:fld id="{18BDFEC3-8487-43E8-A154-7C12CBC1FFF2}" type="slidenum">
              <a:rPr lang="en-US"/>
              <a:t>38</a:t>
            </a:fld>
            <a:endParaRPr lang="en-US"/>
          </a:p>
        </p:txBody>
      </p:sp>
    </p:spTree>
  </p:cSld>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Put a number on each panel of the previous slide. Twenty trees is the sweet spot; by sixty the error against the true, noise-free function has risen again, even though the ensemble is still adding trees that reduce error on the </a:t>
            </a:r>
            <a:r>
              <a:rPr i="1"/>
              <a:t>training</a:t>
            </a:r>
            <a:r>
              <a:rPr/>
              <a:t> residuals.</a:t>
            </a:r>
          </a:p>
          <a:p>
            <a:pPr lvl="0" indent="0" marL="0">
              <a:buNone/>
            </a:pPr>
          </a:p>
          <a:p>
            <a:pPr lvl="0" indent="0" marL="0">
              <a:buNone/>
            </a:pPr>
            <a:r>
              <a:rPr/>
              <a:t>Name what this is: the same overfitting story as the unconstrained single tree from section 3, reached by a completely different route - not one tree grown too deep, but too many shallow trees each chasing whatever residual noise is left.</a:t>
            </a:r>
          </a:p>
          <a:p>
            <a:pPr lvl="0" indent="0" marL="0">
              <a:buNone/>
            </a:pPr>
          </a:p>
          <a:p>
            <a:pPr lvl="0" indent="0" marL="0">
              <a:buNone/>
            </a:pPr>
            <a:r>
              <a:rPr/>
              <a:t>Handout section 8.</a:t>
            </a:r>
          </a:p>
        </p:txBody>
      </p:sp>
      <p:sp>
        <p:nvSpPr>
          <p:cNvPr id="4" name="Slide Number Placeholder 3"/>
          <p:cNvSpPr>
            <a:spLocks noGrp="1"/>
          </p:cNvSpPr>
          <p:nvPr>
            <p:ph type="sldNum" sz="quarter" idx="10"/>
          </p:nvPr>
        </p:nvSpPr>
        <p:spPr/>
        <p:txBody>
          <a:bodyPr/>
          <a:lstStyle/>
          <a:p>
            <a:fld id="{18BDFEC3-8487-43E8-A154-7C12CBC1FFF2}" type="slidenum">
              <a:rPr lang="en-US"/>
              <a:t>39</a:t>
            </a:fld>
            <a:endParaRPr lang="en-US"/>
          </a:p>
        </p:txBody>
      </p:sp>
    </p:spTree>
  </p:cSld>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State the result, not the chain rule behind it - the handout carries the full derivative. What matters for this course is the connection: boosting for classification fits a sequence of small trees to y - p, one correction at a time, rather than adjusting a fixed set of linear coefficients against the same quantity in one continuous descent.</a:t>
            </a:r>
          </a:p>
          <a:p>
            <a:pPr lvl="0" indent="0" marL="0">
              <a:buNone/>
            </a:pPr>
          </a:p>
          <a:p>
            <a:pPr lvl="0" indent="0" marL="0">
              <a:buNone/>
            </a:pPr>
            <a:r>
              <a:rPr/>
              <a:t>Ask the room to name what’s genuinely different between this and lesson 4’s logistic regression, given they’re descending against the same quantity. The answer: lesson 4 moves a fixed number of coefficients; boosting adds entirely new trees, so the model’s structure itself grows with training rather than staying fixed.</a:t>
            </a:r>
          </a:p>
          <a:p>
            <a:pPr lvl="0" indent="0" marL="0">
              <a:buNone/>
            </a:pPr>
          </a:p>
          <a:p>
            <a:pPr lvl="0" indent="0" marL="0">
              <a:buNone/>
            </a:pPr>
            <a:r>
              <a:rPr/>
              <a:t>Handout section 9.</a:t>
            </a:r>
          </a:p>
        </p:txBody>
      </p:sp>
      <p:sp>
        <p:nvSpPr>
          <p:cNvPr id="4" name="Slide Number Placeholder 3"/>
          <p:cNvSpPr>
            <a:spLocks noGrp="1"/>
          </p:cNvSpPr>
          <p:nvPr>
            <p:ph type="sldNum" sz="quarter" idx="10"/>
          </p:nvPr>
        </p:nvSpPr>
        <p:spPr/>
        <p:txBody>
          <a:bodyPr/>
          <a:lstStyle/>
          <a:p>
            <a:fld id="{18BDFEC3-8487-43E8-A154-7C12CBC1FFF2}" type="slidenum">
              <a:rPr lang="en-US"/>
              <a:t>40</a:t>
            </a:fld>
            <a:endParaRPr lang="en-US"/>
          </a:p>
        </p:txBody>
      </p:sp>
    </p:spTree>
  </p:cSld>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Give the number and let it sit against everything shown so far this lesson: 0.902, from a method run at scikit-learn’s defaults, no tuning at all. Ask the room to recall the single tuned tree’s number from section 3 - 0.882 at depth 8 - and note that boosting has already passed it without being told anything about depth.</a:t>
            </a:r>
          </a:p>
          <a:p>
            <a:pPr lvl="0" indent="0" marL="0">
              <a:buNone/>
            </a:pPr>
          </a:p>
          <a:p>
            <a:pPr lvl="0" indent="0" marL="0">
              <a:buNone/>
            </a:pPr>
            <a:r>
              <a:rPr/>
              <a:t>The rest of this segment is what happens when boosting is </a:t>
            </a:r>
            <a:r>
              <a:rPr i="1"/>
              <a:t>not</a:t>
            </a:r>
            <a:r>
              <a:rPr/>
              <a:t> left at sensible defaults.</a:t>
            </a:r>
          </a:p>
          <a:p>
            <a:pPr lvl="0" indent="0" marL="0">
              <a:buNone/>
            </a:pPr>
          </a:p>
          <a:p>
            <a:pPr lvl="0" indent="0" marL="0">
              <a:buNone/>
            </a:pPr>
            <a:r>
              <a:rPr/>
              <a:t>Handout section 9.</a:t>
            </a:r>
          </a:p>
        </p:txBody>
      </p:sp>
      <p:sp>
        <p:nvSpPr>
          <p:cNvPr id="4" name="Slide Number Placeholder 3"/>
          <p:cNvSpPr>
            <a:spLocks noGrp="1"/>
          </p:cNvSpPr>
          <p:nvPr>
            <p:ph type="sldNum" sz="quarter" idx="10"/>
          </p:nvPr>
        </p:nvSpPr>
        <p:spPr/>
        <p:txBody>
          <a:bodyPr/>
          <a:lstStyle/>
          <a:p>
            <a:fld id="{18BDFEC3-8487-43E8-A154-7C12CBC1FFF2}" type="slidenum">
              <a:rPr lang="en-US"/>
              <a:t>41</a:t>
            </a:fld>
            <a:endParaRPr lang="en-US"/>
          </a:p>
        </p:txBody>
      </p:sp>
    </p:spTree>
  </p:cSld>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Unlike bagging, boosting keeps reducing training error for as long as it runs, because every new tree is built specifically to reduce what remains - including the 7% of labels that are noise by construction. There is nothing in the algorithm itself that says “stop”.</a:t>
            </a:r>
          </a:p>
          <a:p>
            <a:pPr lvl="0" indent="0" marL="0">
              <a:buNone/>
            </a:pPr>
          </a:p>
          <a:p>
            <a:pPr lvl="0" indent="0" marL="0">
              <a:buNone/>
            </a:pPr>
            <a:r>
              <a:rPr/>
              <a:t>Point at the peak, 30 trees, and then at 800: training accuracy has been at 1.000 since well before 200, and cross-validated accuracy has drifted down by about a point since the peak. Contrast the size of that drop with section 3’s unconstrained tree, which lost three points past its own peak - boosting’s overfitting is real but gentler.</a:t>
            </a:r>
          </a:p>
          <a:p>
            <a:pPr lvl="0" indent="0" marL="0">
              <a:buNone/>
            </a:pPr>
          </a:p>
          <a:p>
            <a:pPr lvl="0" indent="0" marL="0">
              <a:buNone/>
            </a:pPr>
            <a:r>
              <a:rPr/>
              <a:t>Handout section 10.</a:t>
            </a:r>
          </a:p>
        </p:txBody>
      </p:sp>
      <p:sp>
        <p:nvSpPr>
          <p:cNvPr id="4" name="Slide Number Placeholder 3"/>
          <p:cNvSpPr>
            <a:spLocks noGrp="1"/>
          </p:cNvSpPr>
          <p:nvPr>
            <p:ph type="sldNum" sz="quarter" idx="10"/>
          </p:nvPr>
        </p:nvSpPr>
        <p:spPr/>
        <p:txBody>
          <a:bodyPr/>
          <a:lstStyle/>
          <a:p>
            <a:fld id="{18BDFEC3-8487-43E8-A154-7C12CBC1FFF2}" type="slidenum">
              <a:rPr lang="en-US"/>
              <a:t>42</a:t>
            </a:fld>
            <a:endParaRPr lang="en-US"/>
          </a:p>
        </p:txBody>
      </p:sp>
    </p:spTree>
  </p:cSld>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Two curves again, the same shape of story as the depth curve earlier this lesson but reached by adding trees instead of depth. Training reaches 1.000 by around 200 trees and sits there. Cross-validated accuracy climbs quickly, peaks near 30 trees, and drifts down over the following 770.</a:t>
            </a:r>
          </a:p>
          <a:p>
            <a:pPr lvl="0" indent="0" marL="0">
              <a:buNone/>
            </a:pPr>
          </a:p>
          <a:p>
            <a:pPr lvl="0" indent="0" marL="0">
              <a:buNone/>
            </a:pPr>
            <a:r>
              <a:rPr/>
              <a:t>The point worth making explicit: the damage per added tree here is small and easy to miss on a single run - which is exactly why early stopping matters for boosting rather than being optional, even though the overfit is gentler than a single unconstrained tree’s.</a:t>
            </a:r>
          </a:p>
          <a:p>
            <a:pPr lvl="0" indent="0" marL="0">
              <a:buNone/>
            </a:pPr>
          </a:p>
          <a:p>
            <a:pPr lvl="0" indent="0" marL="0">
              <a:buNone/>
            </a:pPr>
            <a:r>
              <a:rPr/>
              <a:t>Handout section 10.</a:t>
            </a:r>
          </a:p>
        </p:txBody>
      </p:sp>
      <p:sp>
        <p:nvSpPr>
          <p:cNvPr id="4" name="Slide Number Placeholder 3"/>
          <p:cNvSpPr>
            <a:spLocks noGrp="1"/>
          </p:cNvSpPr>
          <p:nvPr>
            <p:ph type="sldNum" sz="quarter" idx="10"/>
          </p:nvPr>
        </p:nvSpPr>
        <p:spPr/>
        <p:txBody>
          <a:bodyPr/>
          <a:lstStyle/>
          <a:p>
            <a:fld id="{18BDFEC3-8487-43E8-A154-7C12CBC1FFF2}" type="slidenum">
              <a:rPr lang="en-US"/>
              <a:t>43</a:t>
            </a:fld>
            <a:endParaRPr lang="en-US"/>
          </a:p>
        </p:txBody>
      </p:sp>
    </p:spTree>
  </p:cSld>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Learning rate and tree count are not independent - both control how much total correction the ensemble applies, so they trade off against each other. At α = 0.02, 120 trees haven’t finished fitting the signal: training accuracy is still under 0.89. At α = 1.00, the ensemble has memorised the training set completely and given back several points of cross-validated accuracy for it.</a:t>
            </a:r>
          </a:p>
          <a:p>
            <a:pPr lvl="0" indent="0" marL="0">
              <a:buNone/>
            </a:pPr>
          </a:p>
          <a:p>
            <a:pPr lvl="0" indent="0" marL="0">
              <a:buNone/>
            </a:pPr>
            <a:r>
              <a:rPr/>
              <a:t>The best setting sits in between - large enough to make real progress within the tree budget, small enough that any one correction is easy to outvote if it turns out to be wrong. Ask the room which direction they’d guess is “more regularised” before revealing that it’s the </a:t>
            </a:r>
            <a:r>
              <a:rPr i="1"/>
              <a:t>small</a:t>
            </a:r>
            <a:r>
              <a:rPr/>
              <a:t> α side, the same kind of inverted-direction trap lesson 6’s C was.</a:t>
            </a:r>
          </a:p>
          <a:p>
            <a:pPr lvl="0" indent="0" marL="0">
              <a:buNone/>
            </a:pPr>
          </a:p>
          <a:p>
            <a:pPr lvl="0" indent="0" marL="0">
              <a:buNone/>
            </a:pPr>
            <a:r>
              <a:rPr/>
              <a:t>Handout section 10.</a:t>
            </a:r>
          </a:p>
        </p:txBody>
      </p:sp>
      <p:sp>
        <p:nvSpPr>
          <p:cNvPr id="4" name="Slide Number Placeholder 3"/>
          <p:cNvSpPr>
            <a:spLocks noGrp="1"/>
          </p:cNvSpPr>
          <p:nvPr>
            <p:ph type="sldNum" sz="quarter" idx="10"/>
          </p:nvPr>
        </p:nvSpPr>
        <p:spPr/>
        <p:txBody>
          <a:bodyPr/>
          <a:lstStyle/>
          <a:p>
            <a:fld id="{18BDFEC3-8487-43E8-A154-7C12CBC1FFF2}" type="slidenum">
              <a:rPr lang="en-US"/>
              <a:t>44</a:t>
            </a:fld>
            <a:endParaRPr lang="en-US"/>
          </a:p>
        </p:txBody>
      </p:sp>
    </p:spTree>
  </p:cSld>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Run Notebooks/03_gradient_boosting.ipynb. Eighteen minutes.</a:t>
            </a:r>
          </a:p>
          <a:p>
            <a:pPr lvl="0" indent="0" marL="0">
              <a:buNone/>
            </a:pPr>
          </a:p>
          <a:p>
            <a:pPr lvl="0" indent="0" marL="0">
              <a:buNone/>
            </a:pPr>
            <a:r>
              <a:rPr/>
              <a:t>The cell to protect is the residual sweep at 1, 5, 20 and 60 trees - seeing the ensemble’s fit against the true function rise and then fall again, in real time, is the most direct experience of boosting’s overfitting available in this course.</a:t>
            </a:r>
          </a:p>
          <a:p>
            <a:pPr lvl="0" indent="0" marL="0">
              <a:buNone/>
            </a:pPr>
          </a:p>
          <a:p>
            <a:pPr lvl="0" indent="0" marL="0">
              <a:buNone/>
            </a:pPr>
            <a:r>
              <a:rPr/>
              <a:t>If time is short, skip the learning-rate sweep live and set it as reading - the table is in handout section 10.</a:t>
            </a:r>
          </a:p>
        </p:txBody>
      </p:sp>
      <p:sp>
        <p:nvSpPr>
          <p:cNvPr id="4" name="Slide Number Placeholder 3"/>
          <p:cNvSpPr>
            <a:spLocks noGrp="1"/>
          </p:cNvSpPr>
          <p:nvPr>
            <p:ph type="sldNum" sz="quarter" idx="10"/>
          </p:nvPr>
        </p:nvSpPr>
        <p:spPr/>
        <p:txBody>
          <a:bodyPr/>
          <a:lstStyle/>
          <a:p>
            <a:fld id="{18BDFEC3-8487-43E8-A154-7C12CBC1FFF2}" type="slidenum">
              <a:rPr lang="en-US"/>
              <a:t>45</a:t>
            </a:fld>
            <a:endParaRPr lang="en-US"/>
          </a:p>
        </p:txBody>
      </p:sp>
    </p:spTree>
  </p:cSld>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Everything from this lesson, cross-validated the same way. Read down the column and let the pattern speak before naming it: every ensemble method - bagging, the random forest, gradient boosting - lands within about a point and a half of the others, and all three sit closer to the ceiling than either single tree.</a:t>
            </a:r>
          </a:p>
          <a:p>
            <a:pPr lvl="0" indent="0" marL="0">
              <a:buNone/>
            </a:pPr>
          </a:p>
          <a:p>
            <a:pPr lvl="0" indent="0" marL="0">
              <a:buNone/>
            </a:pPr>
            <a:r>
              <a:rPr/>
              <a:t>The ceiling itself: 1 minus the 7% of labels deliberately flipped. No method reaches it, and none should - a model that classified the flipped labels “correctly” would be modelling the noise, not the rule.</a:t>
            </a:r>
          </a:p>
          <a:p>
            <a:pPr lvl="0" indent="0" marL="0">
              <a:buNone/>
            </a:pPr>
          </a:p>
          <a:p>
            <a:pPr lvl="0" indent="0" marL="0">
              <a:buNone/>
            </a:pPr>
            <a:r>
              <a:rPr/>
              <a:t>Handout section 11.</a:t>
            </a:r>
          </a:p>
        </p:txBody>
      </p:sp>
      <p:sp>
        <p:nvSpPr>
          <p:cNvPr id="4" name="Slide Number Placeholder 3"/>
          <p:cNvSpPr>
            <a:spLocks noGrp="1"/>
          </p:cNvSpPr>
          <p:nvPr>
            <p:ph type="sldNum" sz="quarter" idx="10"/>
          </p:nvPr>
        </p:nvSpPr>
        <p:spPr/>
        <p:txBody>
          <a:bodyPr/>
          <a:lstStyle/>
          <a:p>
            <a:fld id="{18BDFEC3-8487-43E8-A154-7C12CBC1FFF2}" type="slidenum">
              <a:rPr lang="en-US"/>
              <a:t>46</a:t>
            </a:fld>
            <a:endParaRPr lang="en-US"/>
          </a:p>
        </p:txBody>
      </p:sp>
    </p:spTree>
  </p:cSld>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Read the three findings as a set - together they are this lesson’s real content, more than any single accuracy number.</a:t>
            </a:r>
          </a:p>
          <a:p>
            <a:pPr lvl="0" indent="0" marL="0">
              <a:buNone/>
            </a:pPr>
          </a:p>
          <a:p>
            <a:pPr lvl="0" indent="0" marL="0">
              <a:buNone/>
            </a:pPr>
            <a:r>
              <a:rPr/>
              <a:t>The third finding is the one to land hardest, because it repeats a pattern they’ve now seen four times with four different methods: flexibility without a stopping rule is not an advantage. Ask the room to name the earlier three occurrences before you do - k = 1 in lesson 6, an unregularised fit in lesson 3, and today’s own unconstrained tree from section 3.</a:t>
            </a:r>
          </a:p>
          <a:p>
            <a:pPr lvl="0" indent="0" marL="0">
              <a:buNone/>
            </a:pPr>
          </a:p>
          <a:p>
            <a:pPr lvl="0" indent="0" marL="0">
              <a:buNone/>
            </a:pPr>
            <a:r>
              <a:rPr/>
              <a:t>Handout section 11.</a:t>
            </a:r>
          </a:p>
        </p:txBody>
      </p:sp>
      <p:sp>
        <p:nvSpPr>
          <p:cNvPr id="4" name="Slide Number Placeholder 3"/>
          <p:cNvSpPr>
            <a:spLocks noGrp="1"/>
          </p:cNvSpPr>
          <p:nvPr>
            <p:ph type="sldNum" sz="quarter" idx="10"/>
          </p:nvPr>
        </p:nvSpPr>
        <p:spPr/>
        <p:txBody>
          <a:bodyPr/>
          <a:lstStyle/>
          <a:p>
            <a:fld id="{18BDFEC3-8487-43E8-A154-7C12CBC1FFF2}" type="slidenum">
              <a:rPr lang="en-US"/>
              <a:t>47</a:t>
            </a:fld>
            <a:endParaRPr lang="en-US"/>
          </a:p>
        </p:txBody>
      </p:sp>
    </p:spTree>
  </p:cSld>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A table to photograph, exactly as lesson 6 closed with one. Work down it and attach today’s evidence to each row rather than leaving it as generic advice.</a:t>
            </a:r>
          </a:p>
          <a:p>
            <a:pPr lvl="0" indent="0" marL="0">
              <a:buNone/>
            </a:pPr>
          </a:p>
          <a:p>
            <a:pPr lvl="0" indent="0" marL="0">
              <a:buNone/>
            </a:pPr>
            <a:r>
              <a:rPr/>
              <a:t>The fourth row is worth a sentence of its own, tying back to the noise experiment: with few real features against many candidate columns, trust importances less as the column count grows past what the data can support.</a:t>
            </a:r>
          </a:p>
          <a:p>
            <a:pPr lvl="0" indent="0" marL="0">
              <a:buNone/>
            </a:pPr>
          </a:p>
          <a:p>
            <a:pPr lvl="0" indent="0" marL="0">
              <a:buNone/>
            </a:pPr>
            <a:r>
              <a:rPr/>
              <a:t>Handout section 11.</a:t>
            </a:r>
          </a:p>
        </p:txBody>
      </p:sp>
      <p:sp>
        <p:nvSpPr>
          <p:cNvPr id="4" name="Slide Number Placeholder 3"/>
          <p:cNvSpPr>
            <a:spLocks noGrp="1"/>
          </p:cNvSpPr>
          <p:nvPr>
            <p:ph type="sldNum" sz="quarter" idx="10"/>
          </p:nvPr>
        </p:nvSpPr>
        <p:spPr/>
        <p:txBody>
          <a:bodyPr/>
          <a:lstStyle/>
          <a:p>
            <a:fld id="{18BDFEC3-8487-43E8-A154-7C12CBC1FFF2}" type="slidenum">
              <a:rPr lang="en-US"/>
              <a:t>48</a:t>
            </a:fld>
            <a:endParaRPr lang="en-US"/>
          </a:p>
        </p:txBody>
      </p:sp>
    </p:spTree>
  </p:cSld>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the number to carry out of the room. Say it once more, slowly: with twenty pure-noise columns against two real features, more than half of a random forest’s importance mass sat on columns wired to nothing.</a:t>
            </a:r>
          </a:p>
          <a:p>
            <a:pPr lvl="0" indent="0" marL="0">
              <a:buNone/>
            </a:pPr>
          </a:p>
          <a:p>
            <a:pPr lvl="0" indent="0" marL="0">
              <a:buNone/>
            </a:pPr>
            <a:r>
              <a:rPr/>
              <a:t>Ask them to write it down - derivations fade, this kind of number tends not to. It is the fourth lesson this course has produced one of these: coin flip labels, borrowed test-set values, a coefficient of 365 where an unpenalised fit wanted billions, and now this.</a:t>
            </a:r>
          </a:p>
          <a:p>
            <a:pPr lvl="0" indent="0" marL="0">
              <a:buNone/>
            </a:pPr>
          </a:p>
          <a:p>
            <a:pPr lvl="0" indent="0" marL="0">
              <a:buNone/>
            </a:pPr>
            <a:r>
              <a:rPr/>
              <a:t>Handout section 7 has the full mechanism.</a:t>
            </a:r>
          </a:p>
        </p:txBody>
      </p:sp>
      <p:sp>
        <p:nvSpPr>
          <p:cNvPr id="4" name="Slide Number Placeholder 3"/>
          <p:cNvSpPr>
            <a:spLocks noGrp="1"/>
          </p:cNvSpPr>
          <p:nvPr>
            <p:ph type="sldNum" sz="quarter" idx="10"/>
          </p:nvPr>
        </p:nvSpPr>
        <p:spPr/>
        <p:txBody>
          <a:bodyPr/>
          <a:lstStyle/>
          <a:p>
            <a:fld id="{18BDFEC3-8487-43E8-A154-7C12CBC1FFF2}" type="slidenum">
              <a:rPr lang="en-US"/>
              <a:t>49</a:t>
            </a:fld>
            <a:endParaRPr lang="en-US"/>
          </a:p>
        </p:txBody>
      </p:sp>
    </p:spTree>
  </p:cSld>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Close on the same shape as lesson 6’s summary: a handful of numbers that carry the lesson’s argument without needing the mathematics behind them re-derived.</a:t>
            </a:r>
          </a:p>
          <a:p>
            <a:pPr lvl="0" indent="0" marL="0">
              <a:buNone/>
            </a:pPr>
          </a:p>
          <a:p>
            <a:pPr lvl="0" indent="0" marL="0">
              <a:buNone/>
            </a:pPr>
            <a:r>
              <a:rPr/>
              <a:t>If they remember one habit from today, make it this: before trusting a random forest’s importance ranking, ask how many candidate columns compete for attention at each split, because that number - not the accuracy score - is what decides how much noise gets credit it didn’t earn.</a:t>
            </a:r>
          </a:p>
          <a:p>
            <a:pPr lvl="0" indent="0" marL="0">
              <a:buNone/>
            </a:pPr>
          </a:p>
          <a:p>
            <a:pPr lvl="0" indent="0" marL="0">
              <a:buNone/>
            </a:pPr>
            <a:r>
              <a:rPr/>
              <a:t>Next lesson turns from labelled data to unlabelled data - a fourth question this course asks of a dataset, after “what’s the relationship”, “which class”, and “how do you know you’re not fooling yourself”: what structure is there when nobody has told you the answer at all.</a:t>
            </a:r>
          </a:p>
          <a:p>
            <a:pPr lvl="0" indent="0" marL="0">
              <a:buNone/>
            </a:pPr>
          </a:p>
          <a:p>
            <a:pPr lvl="0" indent="0" marL="0">
              <a:buNone/>
            </a:pPr>
            <a:r>
              <a:rPr/>
              <a:t>Handout summary and notation table.</a:t>
            </a:r>
          </a:p>
        </p:txBody>
      </p:sp>
      <p:sp>
        <p:nvSpPr>
          <p:cNvPr id="4" name="Slide Number Placeholder 3"/>
          <p:cNvSpPr>
            <a:spLocks noGrp="1"/>
          </p:cNvSpPr>
          <p:nvPr>
            <p:ph type="sldNum" sz="quarter" idx="10"/>
          </p:nvPr>
        </p:nvSpPr>
        <p:spPr/>
        <p:txBody>
          <a:bodyPr/>
          <a:lstStyle/>
          <a:p>
            <a:fld id="{18BDFEC3-8487-43E8-A154-7C12CBC1FFF2}" type="slidenum">
              <a:rPr lang="en-US"/>
              <a:t>50</a:t>
            </a:fld>
            <a:endParaRPr lang="en-US"/>
          </a:p>
        </p:txBody>
      </p:sp>
    </p:spTree>
  </p:cSld>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Set it explicitly and say the deadline out loud: Friday 13 November, 23:59 - the same date lesson 8 begins.</a:t>
            </a:r>
          </a:p>
          <a:p>
            <a:pPr lvl="0" indent="0" marL="0">
              <a:buNone/>
            </a:pPr>
          </a:p>
          <a:p>
            <a:pPr lvl="0" indent="0" marL="0">
              <a:buNone/>
            </a:pPr>
            <a:r>
              <a:rPr/>
              <a:t>Remind them of the standing rule from lesson 5: every reported number needs a cross-validated spread, and any feature-importance claim needs the check this lesson just demonstrated - a random forest’s importance ranking is a claim to be verified, not a fact to be quoted.</a:t>
            </a:r>
          </a:p>
          <a:p>
            <a:pPr lvl="0" indent="0" marL="0">
              <a:buNone/>
            </a:pPr>
          </a:p>
          <a:p>
            <a:pPr lvl="0" indent="0" marL="0">
              <a:buNone/>
            </a:pPr>
            <a:r>
              <a:rPr/>
              <a:t>Next week: unsupervised learning, the first lesson this course asks of data with no labels at all.</a:t>
            </a:r>
          </a:p>
        </p:txBody>
      </p:sp>
      <p:sp>
        <p:nvSpPr>
          <p:cNvPr id="4" name="Slide Number Placeholder 3"/>
          <p:cNvSpPr>
            <a:spLocks noGrp="1"/>
          </p:cNvSpPr>
          <p:nvPr>
            <p:ph type="sldNum" sz="quarter" idx="10"/>
          </p:nvPr>
        </p:nvSpPr>
        <p:spPr/>
        <p:txBody>
          <a:bodyPr/>
          <a:lstStyle/>
          <a:p>
            <a:fld id="{18BDFEC3-8487-43E8-A154-7C12CBC1FFF2}" type="slidenum">
              <a:rPr lang="en-US"/>
              <a:t>51</a:t>
            </a:fld>
            <a:endParaRPr lang="en-US"/>
          </a:p>
        </p:txBody>
      </p:sp>
    </p:spTree>
  </p:cSld>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showMasterSp="0">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pic>
        <p:nvPicPr>
          <p:cNvPr id="7" name="Logo 7" descr="univaq_logo.png"/>
          <p:cNvPicPr>
            <a:picLocks noChangeAspect="1"/>
          </p:cNvPicPr>
          <p:nvPr/>
        </p:nvPicPr>
        <p:blipFill>
          <a:blip r:embed="rId2"/>
          <a:stretch>
            <a:fillRect/>
          </a:stretch>
        </p:blipFill>
        <p:spPr>
          <a:xfrm>
            <a:off x="3383280" y="282892"/>
            <a:ext cx="2377440" cy="1037097"/>
          </a:xfrm>
          <a:prstGeom prst="rect">
            <a:avLst/>
          </a:prstGeom>
        </p:spPr>
      </p:pic>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05740"/>
            <a:ext cx="8229600" cy="874395"/>
          </a:xfrm>
        </p:spPr>
        <p:txBody>
          <a:bodyPr anchor="b"/>
          <a:lstStyle>
            <a:lvl1pPr algn="l">
              <a:defRPr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a:lvl1pPr>
            <a:lvl2pPr>
              <a:defRPr/>
            </a:lvl2pPr>
            <a:lvl3pPr>
              <a:defRPr/>
            </a:lvl3pPr>
            <a:lvl4pPr>
              <a:defRPr/>
            </a:lvl4pPr>
            <a:lvl5pPr>
              <a:defRPr/>
            </a:lvl5pPr>
            <a:lvl6pPr>
              <a:defRPr/>
            </a:lvl6pPr>
            <a:lvl7pPr>
              <a:defRPr/>
            </a:lvl7pPr>
            <a:lvl8pPr>
              <a:defRPr/>
            </a:lvl8pPr>
            <a:lvl9pPr>
              <a:defRPr/>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234440"/>
            <a:ext cx="8229600" cy="822960"/>
          </a:xfrm>
        </p:spPr>
        <p:txBody>
          <a:bodyPr/>
          <a:lstStyle>
            <a:lvl1pPr marL="0" indent="0">
              <a:buNone/>
              <a:defRPr/>
            </a:lvl1pPr>
            <a:lvl2pPr marL="342900" indent="0">
              <a:buNone/>
              <a:defRPr/>
            </a:lvl2pPr>
            <a:lvl3pPr marL="685800" indent="0">
              <a:buNone/>
              <a:defRPr/>
            </a:lvl3pPr>
            <a:lvl4pPr marL="1028700" indent="0">
              <a:buNone/>
              <a:defRPr/>
            </a:lvl4pPr>
            <a:lvl5pPr marL="1371600" indent="0">
              <a:buNone/>
              <a:defRPr/>
            </a:lvl5pPr>
            <a:lvl6pPr marL="1714500" indent="0">
              <a:buNone/>
              <a:defRPr/>
            </a:lvl6pPr>
            <a:lvl7pPr marL="2057400" indent="0">
              <a:buNone/>
              <a:defRPr/>
            </a:lvl7pPr>
            <a:lvl8pPr marL="2400300" indent="0">
              <a:buNone/>
              <a:defRPr/>
            </a:lvl8pPr>
            <a:lvl9pPr marL="2743200" indent="0">
              <a:buNone/>
              <a:defRPr/>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05740"/>
            <a:ext cx="8229600" cy="874395"/>
          </a:xfrm>
        </p:spPr>
        <p:txBody>
          <a:bodyPr anchor="b"/>
          <a:lstStyle>
            <a:lvl1pPr algn="l">
              <a:defRPr b="1"/>
            </a:lvl1pPr>
          </a:lstStyle>
          <a:p>
            <a:r>
              <a:rPr lang="en-US"/>
              <a:t>Click to edit Master title style</a:t>
            </a:r>
          </a:p>
        </p:txBody>
      </p:sp>
      <p:sp>
        <p:nvSpPr>
          <p:cNvPr id="3" name="Picture Placeholder 2"/>
          <p:cNvSpPr>
            <a:spLocks noGrp="1"/>
          </p:cNvSpPr>
          <p:nvPr>
            <p:ph type="pic" idx="1"/>
          </p:nvPr>
        </p:nvSpPr>
        <p:spPr>
          <a:xfrm>
            <a:off x="457200" y="1234440"/>
            <a:ext cx="8229600" cy="822960"/>
          </a:xfrm>
        </p:spPr>
        <p:txBody>
          <a:bodyPr/>
          <a:lstStyle>
            <a:lvl1pPr marL="0" indent="0">
              <a:buNone/>
              <a:defRPr/>
            </a:lvl1pPr>
            <a:lvl2pPr marL="342900" indent="0">
              <a:buNone/>
              <a:defRPr/>
            </a:lvl2pPr>
            <a:lvl3pPr marL="685800" indent="0">
              <a:buNone/>
              <a:defRPr/>
            </a:lvl3pPr>
            <a:lvl4pPr marL="1028700" indent="0">
              <a:buNone/>
              <a:defRPr/>
            </a:lvl4pPr>
            <a:lvl5pPr marL="1371600" indent="0">
              <a:buNone/>
              <a:defRPr/>
            </a:lvl5pPr>
            <a:lvl6pPr marL="1714500" indent="0">
              <a:buNone/>
              <a:defRPr/>
            </a:lvl6pPr>
            <a:lvl7pPr marL="2057400" indent="0">
              <a:buNone/>
              <a:defRPr/>
            </a:lvl7pPr>
            <a:lvl8pPr marL="2400300" indent="0">
              <a:buNone/>
              <a:defRPr/>
            </a:lvl8pPr>
            <a:lvl9pPr marL="2743200" indent="0">
              <a:buNone/>
              <a:defRPr/>
            </a:lvl9pPr>
          </a:lstStyle>
          <a:p>
            <a:endParaRPr lang="en-US"/>
          </a:p>
        </p:txBody>
      </p:sp>
      <p:sp>
        <p:nvSpPr>
          <p:cNvPr id="4" name="Text Placeholder 3"/>
          <p:cNvSpPr>
            <a:spLocks noGrp="1"/>
          </p:cNvSpPr>
          <p:nvPr>
            <p:ph type="body" sz="half" idx="2"/>
          </p:nvPr>
        </p:nvSpPr>
        <p:spPr>
          <a:xfrm>
            <a:off x="457200" y="1234440"/>
            <a:ext cx="8229600" cy="822960"/>
          </a:xfrm>
        </p:spPr>
        <p:txBody>
          <a:bodyPr/>
          <a:lstStyle>
            <a:lvl1pPr marL="0" indent="0">
              <a:buNone/>
              <a:defRPr/>
            </a:lvl1pPr>
            <a:lvl2pPr marL="342900" indent="0">
              <a:buNone/>
              <a:defRPr/>
            </a:lvl2pPr>
            <a:lvl3pPr marL="685800" indent="0">
              <a:buNone/>
              <a:defRPr/>
            </a:lvl3pPr>
            <a:lvl4pPr marL="1028700" indent="0">
              <a:buNone/>
              <a:defRPr/>
            </a:lvl4pPr>
            <a:lvl5pPr marL="1371600" indent="0">
              <a:buNone/>
              <a:defRPr/>
            </a:lvl5pPr>
            <a:lvl6pPr marL="1714500" indent="0">
              <a:buNone/>
              <a:defRPr/>
            </a:lvl6pPr>
            <a:lvl7pPr marL="2057400" indent="0">
              <a:buNone/>
              <a:defRPr/>
            </a:lvl7pPr>
            <a:lvl8pPr marL="2400300" indent="0">
              <a:buNone/>
              <a:defRPr/>
            </a:lvl8pPr>
            <a:lvl9pPr marL="2743200" indent="0">
              <a:buNone/>
              <a:defRPr/>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 Id="rId13" Type="http://schemas.openxmlformats.org/officeDocument/2006/relationships/image" Target="../media/image1.png"/></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pic>
        <p:nvPicPr>
          <p:cNvPr descr="univaq_logo.png" id="7" name="Logo 7"/>
          <p:cNvPicPr>
            <a:picLocks noChangeAspect="1"/>
          </p:cNvPicPr>
          <p:nvPr/>
        </p:nvPicPr>
        <p:blipFill>
          <a:blip r:embed="rId13"/>
          <a:stretch>
            <a:fillRect/>
          </a:stretch>
        </p:blipFill>
        <p:spPr>
          <a:xfrm>
            <a:off x="7836408" y="4530478"/>
            <a:ext cx="1051560" cy="458716"/>
          </a:xfrm>
          <a:prstGeom prst="rect">
            <a:avLst/>
          </a:prstGeom>
        </p:spPr>
      </p:pic>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 Id="rId3" Type="http://schemas.openxmlformats.org/officeDocument/2006/relationships/image" Target="../media/image2.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image" Target="../media/image3.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 Id="rId3" Type="http://schemas.openxmlformats.org/officeDocument/2006/relationships/image" Target="../media/image4.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5.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 Id="rId3" Type="http://schemas.openxmlformats.org/officeDocument/2006/relationships/image" Target="../media/image6.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6.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8.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9.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0.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1.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2.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3.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4.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5.xml"/><Relationship Id="rId3" Type="http://schemas.openxmlformats.org/officeDocument/2006/relationships/image" Target="../media/image7.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6.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7.xml"/><Relationship Id="rId3" Type="http://schemas.openxmlformats.org/officeDocument/2006/relationships/image" Target="../media/image8.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8.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9.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0.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1.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2.xml"/><Relationship Id="rId3" Type="http://schemas.openxmlformats.org/officeDocument/2006/relationships/image" Target="../media/image9.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3.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4.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5.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6.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7.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8.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9.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0.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Lesson 7: Trees and Ensembles</a:t>
            </a:r>
          </a:p>
        </p:txBody>
      </p:sp>
      <p:sp>
        <p:nvSpPr>
          <p:cNvPr id="3" name="Subtitle 2"/>
          <p:cNvSpPr>
            <a:spLocks noGrp="1"/>
          </p:cNvSpPr>
          <p:nvPr>
            <p:ph idx="1" type="subTitle"/>
          </p:nvPr>
        </p:nvSpPr>
        <p:spPr>
          <a:xfrm>
            <a:off x="1371600" y="2914650"/>
            <a:ext cx="6400800" cy="1314450"/>
          </a:xfrm>
        </p:spPr>
        <p:txBody>
          <a:bodyPr/>
          <a:lstStyle/>
          <a:p>
            <a:pPr lvl="0" indent="0" marL="0">
              <a:buNone/>
            </a:pPr>
            <a:r>
              <a:rPr/>
              <a:t>Technologies for Artificial Intelligence</a:t>
            </a:r>
            <a:br/>
            <a:br/>
            <a:r>
              <a:rPr/>
              <a:t>Fabio Antonini, Università degli Studi dell’Aquila</a:t>
            </a:r>
          </a:p>
        </p:txBody>
      </p:sp>
      <p:sp>
        <p:nvSpPr>
          <p:cNvPr id="4" name="Date Placeholder 3"/>
          <p:cNvSpPr>
            <a:spLocks noGrp="1"/>
          </p:cNvSpPr>
          <p:nvPr>
            <p:ph idx="10" sz="half" type="dt"/>
          </p:nvPr>
        </p:nvSpPr>
        <p:spPr>
          <a:xfrm>
            <a:off x="457200" y="4767263"/>
            <a:ext cx="2133600" cy="273844"/>
          </a:xfrm>
        </p:spPr>
        <p:txBody>
          <a:bodyPr/>
          <a:lstStyle/>
          <a:p>
            <a:pPr lvl="0" indent="0" marL="0">
              <a:buNone/>
            </a:pPr>
            <a:r>
              <a:rPr/>
              <a:t>6 November 2026</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Agenda</a:t>
            </a:r>
          </a:p>
        </p:txBody>
      </p:sp>
      <p:sp>
        <p:nvSpPr>
          <p:cNvPr id="3" name="Content Placeholder 2"/>
          <p:cNvSpPr>
            <a:spLocks noGrp="1"/>
          </p:cNvSpPr>
          <p:nvPr>
            <p:ph idx="1"/>
          </p:nvPr>
        </p:nvSpPr>
        <p:spPr>
          <a:xfrm>
            <a:off x="457200" y="1200151"/>
            <a:ext cx="8229600" cy="3394472"/>
          </a:xfrm>
        </p:spPr>
        <p:txBody>
          <a:bodyPr/>
          <a:lstStyle/>
          <a:p>
            <a:pPr lvl="0"/>
            <a:r>
              <a:rPr/>
              <a:t>A fourth family, built on a threshold</a:t>
            </a:r>
          </a:p>
          <a:p>
            <a:pPr lvl="0"/>
            <a:r>
              <a:rPr/>
              <a:t>Decision trees, and why one alone is mediocre</a:t>
            </a:r>
          </a:p>
          <a:p>
            <a:pPr lvl="0"/>
            <a:r>
              <a:rPr/>
              <a:t>Depth as the bias-variance dial, again</a:t>
            </a:r>
          </a:p>
          <a:p>
            <a:pPr lvl="0"/>
            <a:r>
              <a:rPr/>
              <a:t>Bagging and random forests</a:t>
            </a:r>
          </a:p>
          <a:p>
            <a:pPr lvl="0"/>
            <a:r>
              <a:rPr/>
              <a:t>Feature importance, and its limits</a:t>
            </a:r>
          </a:p>
          <a:p>
            <a:pPr lvl="0"/>
            <a:r>
              <a:rPr/>
              <a:t>Gradient boosting</a:t>
            </a:r>
          </a:p>
          <a:p>
            <a:pPr lvl="0"/>
            <a:r>
              <a:rPr/>
              <a:t>Choosing among trees, forests and boosting</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Exercise 6 returned</a:t>
            </a:r>
          </a:p>
        </p:txBody>
      </p:sp>
      <p:sp>
        <p:nvSpPr>
          <p:cNvPr id="3" name="Content Placeholder 2"/>
          <p:cNvSpPr>
            <a:spLocks noGrp="1"/>
          </p:cNvSpPr>
          <p:nvPr>
            <p:ph idx="1"/>
          </p:nvPr>
        </p:nvSpPr>
        <p:spPr>
          <a:xfrm>
            <a:off x="457200" y="1200151"/>
            <a:ext cx="8229600" cy="3394472"/>
          </a:xfrm>
        </p:spPr>
        <p:txBody>
          <a:bodyPr/>
          <a:lstStyle/>
          <a:p>
            <a:pPr lvl="0"/>
            <a:r>
              <a:rPr/>
              <a:t>Marks were for the </a:t>
            </a:r>
            <a:r>
              <a:rPr b="1"/>
              <a:t>defence of which family</a:t>
            </a:r>
            <a:r>
              <a:rPr/>
              <a:t>, not for the winning score</a:t>
            </a:r>
          </a:p>
          <a:p>
            <a:pPr lvl="0"/>
            <a:r>
              <a:rPr/>
              <a:t>The recurring gap: a strong accuracy number with no check of </a:t>
            </a:r>
            <a:r>
              <a:rPr i="1"/>
              <a:t>why</a:t>
            </a:r>
            <a:r>
              <a:rPr/>
              <a:t> the assumption behind it held</a:t>
            </a:r>
          </a:p>
          <a:p>
            <a:pPr lvl="0"/>
            <a:r>
              <a:rPr/>
              <a:t>Today’s models come with the same obligation</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1,200 loan applicants, two figures each</a:t>
            </a:r>
          </a:p>
        </p:txBody>
      </p:sp>
      <p:sp>
        <p:nvSpPr>
          <p:cNvPr id="3" name="Content Placeholder 2"/>
          <p:cNvSpPr>
            <a:spLocks noGrp="1"/>
          </p:cNvSpPr>
          <p:nvPr>
            <p:ph idx="1"/>
          </p:nvPr>
        </p:nvSpPr>
        <p:spPr>
          <a:xfrm>
            <a:off x="457200" y="1200151"/>
            <a:ext cx="8229600" cy="3394472"/>
          </a:xfrm>
        </p:spPr>
        <p:txBody>
          <a:bodyPr/>
          <a:lstStyle/>
          <a:p>
            <a:pPr lvl="0"/>
            <a:r>
              <a:rPr/>
              <a:t>Income in thousands of euros a year, debt-to-income ratio</a:t>
            </a:r>
          </a:p>
          <a:p>
            <a:pPr lvl="0"/>
            <a:r>
              <a:rPr/>
              <a:t>Underwriting is a </a:t>
            </a:r>
            <a:r>
              <a:rPr b="1"/>
              <a:t>checklist</a:t>
            </a:r>
            <a:r>
              <a:rPr/>
              <a:t>, not a formula: an income floor, a debt ceiling, and two “stressed” combinations in between</a:t>
            </a:r>
          </a:p>
          <a:p>
            <a:pPr lvl="0"/>
            <a:r>
              <a:rPr b="1"/>
              <a:t>7%</a:t>
            </a:r>
            <a:r>
              <a:rPr/>
              <a:t> of labels are deliberately flipped; </a:t>
            </a:r>
            <a:r>
              <a:rPr b="1"/>
              <a:t>38.7%</a:t>
            </a:r>
            <a:r>
              <a:rPr/>
              <a:t> of applicants defaulted, so the majority baseline is </a:t>
            </a:r>
            <a:r>
              <a:rPr b="1"/>
              <a:t>0.613</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Four disconnected risky regions</a:t>
            </a:r>
          </a:p>
        </p:txBody>
      </p:sp>
      <p:pic>
        <p:nvPicPr>
          <p:cNvPr descr="loan_scatter.png" id="0" name="Picture 1"/>
          <p:cNvPicPr>
            <a:picLocks noGrp="1" noChangeAspect="1"/>
          </p:cNvPicPr>
          <p:nvPr/>
        </p:nvPicPr>
        <p:blipFill>
          <a:blip r:embed="rId3"/>
          <a:stretch>
            <a:fillRect/>
          </a:stretch>
        </p:blipFill>
        <p:spPr bwMode="auto">
          <a:xfrm>
            <a:off x="2445144" y="1166099"/>
            <a:ext cx="4253712" cy="3360181"/>
          </a:xfrm>
          <a:prstGeom prst="rect">
            <a:avLst/>
          </a:prstGeom>
          <a:noFill/>
          <a:ln w="9525">
            <a:noFill/>
            <a:headEnd/>
            <a:tailEnd/>
          </a:ln>
        </p:spPr>
      </p:pic>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No straight line separates them</a:t>
            </a:r>
          </a:p>
        </p:txBody>
      </p:sp>
      <p:graphicFrame>
        <p:nvGraphicFramePr>
          <p:cNvPr id="6" name="Content Placeholder 5"/>
          <p:cNvGraphicFramePr>
            <a:graphicFrameLocks noGrp="1"/>
          </p:cNvGraphicFramePr>
          <p:nvPr>
            <p:ph idx="1"/>
          </p:nvPr>
        </p:nvGraphicFramePr>
        <p:xfrm>
          <a:off x="457200" y="1193800"/>
          <a:ext cx="8229600" cy="3390900"/>
        </p:xfrm>
        <a:graphic>
          <a:graphicData uri="http://schemas.openxmlformats.org/drawingml/2006/table">
            <a:tbl>
              <a:tblPr firstRow="1" bandRow="1">
                <a:tableStyleId>{5C22544A-7EE6-4342-B048-85BDC9FD1C3A}</a:tableStyleId>
              </a:tblPr>
              <a:tblGrid>
                <a:gridCol w="4114800"/>
                <a:gridCol w="4114800"/>
              </a:tblGrid>
              <a:tr h="0">
                <a:tc>
                  <a:txBody>
                    <a:bodyPr/>
                    <a:lstStyle/>
                    <a:p>
                      <a:pPr lvl="0" indent="0" marL="0">
                        <a:buNone/>
                      </a:pPr>
                      <a:r>
                        <a:rPr/>
                        <a:t>Model</a:t>
                      </a:r>
                    </a:p>
                  </a:txBody>
                  <a:tcPr/>
                </a:tc>
                <a:tc>
                  <a:txBody>
                    <a:bodyPr/>
                    <a:lstStyle/>
                    <a:p>
                      <a:pPr lvl="0" indent="0" marL="0">
                        <a:buNone/>
                      </a:pPr>
                      <a:r>
                        <a:rPr/>
                        <a:t>Cross-validated accuracy</a:t>
                      </a:r>
                    </a:p>
                  </a:txBody>
                  <a:tcPr/>
                </a:tc>
              </a:tr>
              <a:tr h="0">
                <a:tc>
                  <a:txBody>
                    <a:bodyPr/>
                    <a:lstStyle/>
                    <a:p>
                      <a:pPr lvl="0" indent="0" marL="0">
                        <a:buNone/>
                      </a:pPr>
                      <a:r>
                        <a:rPr/>
                        <a:t>Always predict the majority class</a:t>
                      </a:r>
                    </a:p>
                  </a:txBody>
                </a:tc>
                <a:tc>
                  <a:txBody>
                    <a:bodyPr/>
                    <a:lstStyle/>
                    <a:p>
                      <a:pPr lvl="0" indent="0" marL="0">
                        <a:buNone/>
                      </a:pPr>
                      <a:r>
                        <a:rPr/>
                        <a:t>0.613</a:t>
                      </a:r>
                    </a:p>
                  </a:txBody>
                </a:tc>
              </a:tr>
              <a:tr h="0">
                <a:tc>
                  <a:txBody>
                    <a:bodyPr/>
                    <a:lstStyle/>
                    <a:p>
                      <a:pPr lvl="0" indent="0" marL="0">
                        <a:buNone/>
                      </a:pPr>
                      <a:r>
                        <a:rPr/>
                        <a:t>Logistic regression</a:t>
                      </a:r>
                    </a:p>
                  </a:txBody>
                </a:tc>
                <a:tc>
                  <a:txBody>
                    <a:bodyPr/>
                    <a:lstStyle/>
                    <a:p>
                      <a:pPr lvl="0" indent="0" marL="0">
                        <a:buNone/>
                      </a:pPr>
                      <a:r>
                        <a:rPr b="1"/>
                        <a:t>0.748 ± 0.030</a:t>
                      </a:r>
                    </a:p>
                  </a:txBody>
                </a:tc>
              </a:tr>
            </a:tbl>
          </a:graphicData>
        </a:graphic>
      </p:graphicFrame>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whole algorithm, in one sentence</a:t>
            </a:r>
          </a:p>
        </p:txBody>
      </p:sp>
      <p:sp>
        <p:nvSpPr>
          <p:cNvPr id="3" name="Content Placeholder 2"/>
          <p:cNvSpPr>
            <a:spLocks noGrp="1"/>
          </p:cNvSpPr>
          <p:nvPr>
            <p:ph idx="1"/>
          </p:nvPr>
        </p:nvSpPr>
        <p:spPr>
          <a:xfrm>
            <a:off x="457200" y="1200151"/>
            <a:ext cx="8229600" cy="3394472"/>
          </a:xfrm>
        </p:spPr>
        <p:txBody>
          <a:bodyPr/>
          <a:lstStyle/>
          <a:p>
            <a:pPr lvl="0"/>
            <a:r>
              <a:rPr/>
              <a:t>Find the single (feature, threshold) split that makes the two resulting groups </a:t>
            </a:r>
            <a:r>
              <a:rPr b="1"/>
              <a:t>as pure as possible</a:t>
            </a:r>
          </a:p>
          <a:p>
            <a:pPr lvl="0"/>
            <a:r>
              <a:rPr/>
              <a:t>Apply it. Repeat on each group, independently</a:t>
            </a:r>
          </a:p>
          <a:p>
            <a:pPr lvl="0"/>
            <a:r>
              <a:rPr/>
              <a:t>Stop when a stopping rule is met</a:t>
            </a:r>
          </a:p>
          <a:p>
            <a:pPr lvl="0"/>
            <a:r>
              <a:rPr/>
              <a:t>Nothing is estimated, no coefficient, no gradient with respect to a parameter vector</a:t>
            </a:r>
          </a:p>
          <a:p>
            <a:pPr lvl="0"/>
            <a:r>
              <a:rPr b="1"/>
              <a:t>Greedy</a:t>
            </a:r>
            <a:r>
              <a:rPr/>
              <a:t>: whichever split helps most </a:t>
            </a:r>
            <a:r>
              <a:rPr i="1"/>
              <a:t>right now</a:t>
            </a:r>
            <a:r>
              <a:rPr/>
              <a:t>, with no lookahead</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How pure is a group of examples?</a:t>
            </a:r>
          </a:p>
        </p:txBody>
      </p:sp>
      <p:sp>
        <p:nvSpPr>
          <p:cNvPr id="3" name="Content Placeholder 2"/>
          <p:cNvSpPr>
            <a:spLocks noGrp="1"/>
          </p:cNvSpPr>
          <p:nvPr>
            <p:ph idx="1"/>
          </p:nvPr>
        </p:nvSpPr>
        <p:spPr>
          <a:xfrm>
            <a:off x="457200" y="1200151"/>
            <a:ext cx="8229600" cy="3394472"/>
          </a:xfrm>
        </p:spPr>
        <p:txBody>
          <a:bodyPr/>
          <a:lstStyle/>
          <a:p>
            <a:pPr lvl="0"/>
            <a:r>
              <a:rPr/>
              <a:t>A leaf that is all one class needs no more questions</a:t>
            </a:r>
          </a:p>
          <a:p>
            <a:pPr lvl="0"/>
            <a:r>
              <a:rPr/>
              <a:t>A leaf split evenly between classes is the worst case: a coin flip</a:t>
            </a:r>
          </a:p>
          <a:p>
            <a:pPr lvl="0"/>
            <a:r>
              <a:rPr b="1"/>
              <a:t>Impurity</a:t>
            </a:r>
            <a:r>
              <a:rPr/>
              <a:t> is a number that captures this, so “as pure as possible” has a target to maximise against</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Gini impurity</a:t>
            </a:r>
          </a:p>
        </p:txBody>
      </p:sp>
      <p:pic>
        <p:nvPicPr>
          <p:cNvPr descr="eq_f823b12014.png" id="0" name="Picture 1"/>
          <p:cNvPicPr>
            <a:picLocks noGrp="1" noChangeAspect="1"/>
          </p:cNvPicPr>
          <p:nvPr/>
        </p:nvPicPr>
        <p:blipFill>
          <a:blip r:embed="rId3"/>
          <a:stretch>
            <a:fillRect/>
          </a:stretch>
        </p:blipFill>
        <p:spPr bwMode="auto">
          <a:xfrm>
            <a:off x="683251" y="1166099"/>
            <a:ext cx="7777497" cy="3360181"/>
          </a:xfrm>
          <a:prstGeom prst="rect">
            <a:avLst/>
          </a:prstGeom>
          <a:noFill/>
          <a:ln w="9525">
            <a:noFill/>
            <a:headEnd/>
            <a:tailEnd/>
          </a:ln>
        </p:spPr>
      </p:pic>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For two classes, one number</a:t>
            </a:r>
          </a:p>
        </p:txBody>
      </p:sp>
      <p:sp>
        <p:nvSpPr>
          <p:cNvPr id="3" name="Content Placeholder 2"/>
          <p:cNvSpPr>
            <a:spLocks noGrp="1"/>
          </p:cNvSpPr>
          <p:nvPr>
            <p:ph idx="1"/>
          </p:nvPr>
        </p:nvSpPr>
        <p:spPr>
          <a:xfrm>
            <a:off x="457200" y="1200151"/>
            <a:ext cx="8229600" cy="3394472"/>
          </a:xfrm>
        </p:spPr>
        <p:txBody>
          <a:bodyPr/>
          <a:lstStyle/>
          <a:p>
            <a:pPr lvl="0"/>
            <a:r>
              <a:rPr/>
              <a:t>G = 2p(1-p), where p is the fraction of one class</a:t>
            </a:r>
          </a:p>
          <a:p>
            <a:pPr lvl="0"/>
            <a:r>
              <a:rPr b="1"/>
              <a:t>0</a:t>
            </a:r>
            <a:r>
              <a:rPr/>
              <a:t> when the group is pure (p = 0 or p = 1)</a:t>
            </a:r>
          </a:p>
          <a:p>
            <a:pPr lvl="0"/>
            <a:r>
              <a:rPr b="1"/>
              <a:t>0.5</a:t>
            </a:r>
            <a:r>
              <a:rPr/>
              <a:t>, the maximum, at p = 0.5</a:t>
            </a:r>
          </a:p>
          <a:p>
            <a:pPr lvl="0"/>
            <a:r>
              <a:rPr/>
              <a:t>On the full 1,200 applicants, p = 0.387 gives G = 0.474</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gain a split buys</a:t>
            </a:r>
          </a:p>
        </p:txBody>
      </p:sp>
      <p:sp>
        <p:nvSpPr>
          <p:cNvPr id="3" name="Content Placeholder 2"/>
          <p:cNvSpPr>
            <a:spLocks noGrp="1"/>
          </p:cNvSpPr>
          <p:nvPr>
            <p:ph idx="1"/>
          </p:nvPr>
        </p:nvSpPr>
        <p:spPr>
          <a:xfrm>
            <a:off x="457200" y="1200151"/>
            <a:ext cx="8229600" cy="3394472"/>
          </a:xfrm>
        </p:spPr>
        <p:txBody>
          <a:bodyPr/>
          <a:lstStyle/>
          <a:p>
            <a:pPr lvl="0"/>
            <a:r>
              <a:rPr/>
              <a:t>A candidate split divides a group into a left and a right child</a:t>
            </a:r>
          </a:p>
          <a:p>
            <a:pPr lvl="0"/>
            <a:r>
              <a:rPr/>
              <a:t>It is worth taking if the children are, </a:t>
            </a:r>
            <a:r>
              <a:rPr b="1"/>
              <a:t>on average, purer</a:t>
            </a:r>
            <a:r>
              <a:rPr/>
              <a:t> than the parent was</a:t>
            </a:r>
          </a:p>
          <a:p>
            <a:pPr lvl="0"/>
            <a:r>
              <a:rPr/>
              <a:t>“On average” is weighted by how many examples land in each child: a split that purifies nine points and dumps one troublemaker into its own leaf is not free</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reduction in impurity</a:t>
            </a:r>
          </a:p>
        </p:txBody>
      </p:sp>
      <p:pic>
        <p:nvPicPr>
          <p:cNvPr descr="eq_77488865aa.png" id="0" name="Picture 1"/>
          <p:cNvPicPr>
            <a:picLocks noGrp="1" noChangeAspect="1"/>
          </p:cNvPicPr>
          <p:nvPr/>
        </p:nvPicPr>
        <p:blipFill>
          <a:blip r:embed="rId3"/>
          <a:stretch>
            <a:fillRect/>
          </a:stretch>
        </p:blipFill>
        <p:spPr bwMode="auto">
          <a:xfrm>
            <a:off x="457200" y="2547739"/>
            <a:ext cx="8229600" cy="596900"/>
          </a:xfrm>
          <a:prstGeom prst="rect">
            <a:avLst/>
          </a:prstGeom>
          <a:noFill/>
          <a:ln w="9525">
            <a:noFill/>
            <a:headEnd/>
            <a:tailEnd/>
          </a:ln>
        </p:spPr>
      </p:pic>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Scanning for the best split</a:t>
            </a:r>
          </a:p>
        </p:txBody>
      </p:sp>
      <p:sp>
        <p:nvSpPr>
          <p:cNvPr id="3" name="Content Placeholder 2"/>
          <p:cNvSpPr>
            <a:spLocks noGrp="1"/>
          </p:cNvSpPr>
          <p:nvPr>
            <p:ph idx="1"/>
          </p:nvPr>
        </p:nvSpPr>
        <p:spPr>
          <a:xfrm>
            <a:off x="457200" y="1200151"/>
            <a:ext cx="8229600" cy="3394472"/>
          </a:xfrm>
        </p:spPr>
        <p:txBody>
          <a:bodyPr/>
          <a:lstStyle/>
          <a:p>
            <a:pPr lvl="0"/>
            <a:r>
              <a:rPr/>
              <a:t>For a continuous feature, scan </a:t>
            </a:r>
            <a:r>
              <a:rPr b="1"/>
              <a:t>every midpoint</a:t>
            </a:r>
            <a:r>
              <a:rPr/>
              <a:t> between adjacent sorted values as a candidate threshold</a:t>
            </a:r>
          </a:p>
          <a:p>
            <a:pPr lvl="0"/>
            <a:r>
              <a:rPr/>
              <a:t>Do this for </a:t>
            </a:r>
            <a:r>
              <a:rPr b="1"/>
              <a:t>every feature</a:t>
            </a:r>
            <a:r>
              <a:rPr/>
              <a:t>; keep the best pair</a:t>
            </a:r>
          </a:p>
          <a:p>
            <a:pPr lvl="0"/>
            <a:r>
              <a:rPr/>
              <a:t>Repeat the search inside each child</a:t>
            </a:r>
          </a:p>
          <a:p>
            <a:pPr lvl="0"/>
            <a:r>
              <a:rPr b="1"/>
              <a:t>Greedy</a:t>
            </a:r>
            <a:r>
              <a:rPr/>
              <a:t>: ΔG is judged one split at a time, never jointly</a:t>
            </a: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Worked example: the root split</a:t>
            </a:r>
          </a:p>
        </p:txBody>
      </p:sp>
      <p:sp>
        <p:nvSpPr>
          <p:cNvPr id="3" name="Content Placeholder 2"/>
          <p:cNvSpPr>
            <a:spLocks noGrp="1"/>
          </p:cNvSpPr>
          <p:nvPr>
            <p:ph idx="1"/>
          </p:nvPr>
        </p:nvSpPr>
        <p:spPr>
          <a:xfrm>
            <a:off x="457200" y="1200151"/>
            <a:ext cx="8229600" cy="3394472"/>
          </a:xfrm>
        </p:spPr>
        <p:txBody>
          <a:bodyPr/>
          <a:lstStyle/>
          <a:p>
            <a:pPr lvl="0"/>
            <a:r>
              <a:rPr/>
              <a:t>p = 0.387 defaulted, so the parent group’s impurity is </a:t>
            </a:r>
            <a:r>
              <a:rPr b="1"/>
              <a:t>0.474</a:t>
            </a:r>
          </a:p>
          <a:p>
            <a:pPr lvl="0"/>
            <a:r>
              <a:rPr/>
              <a:t>Exhaustive search finds </a:t>
            </a:r>
            <a:r>
              <a:rPr>
                <a:latin typeface="Courier"/>
              </a:rPr>
              <a:t>debt_ratio &lt;= 0.82</a:t>
            </a:r>
            <a:r>
              <a:rPr/>
              <a:t> as the best root split</a:t>
            </a:r>
          </a:p>
          <a:p>
            <a:pPr lvl="0"/>
            <a:r>
              <a:rPr/>
              <a:t>Recognisably the </a:t>
            </a:r>
            <a:r>
              <a:rPr b="1"/>
              <a:t>debt ceiling</a:t>
            </a:r>
            <a:r>
              <a:rPr/>
              <a:t> the data was built with</a:t>
            </a:r>
          </a:p>
        </p:txBody>
      </p:sp>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Checked against scikit-learn</a:t>
            </a:r>
          </a:p>
        </p:txBody>
      </p:sp>
      <p:sp>
        <p:nvSpPr>
          <p:cNvPr id="3" name="Content Placeholder 2"/>
          <p:cNvSpPr>
            <a:spLocks noGrp="1"/>
          </p:cNvSpPr>
          <p:nvPr>
            <p:ph idx="1"/>
          </p:nvPr>
        </p:nvSpPr>
        <p:spPr>
          <a:xfrm>
            <a:off x="457200" y="1200151"/>
            <a:ext cx="8229600" cy="3394472"/>
          </a:xfrm>
        </p:spPr>
        <p:txBody>
          <a:bodyPr/>
          <a:lstStyle/>
          <a:p>
            <a:pPr lvl="0"/>
            <a:r>
              <a:rPr/>
              <a:t>The from-scratch implementation agrees with scikit-learn’s </a:t>
            </a:r>
            <a:r>
              <a:rPr>
                <a:latin typeface="Courier"/>
              </a:rPr>
              <a:t>DecisionTreeClassifier</a:t>
            </a:r>
            <a:r>
              <a:rPr/>
              <a:t> to the </a:t>
            </a:r>
            <a:r>
              <a:rPr b="1"/>
              <a:t>fourth decimal place</a:t>
            </a:r>
            <a:r>
              <a:rPr/>
              <a:t> of resulting accuracy, at every depth tested</a:t>
            </a:r>
          </a:p>
          <a:p>
            <a:pPr lvl="0"/>
            <a:r>
              <a:rPr/>
              <a:t>Not a coincidence: both search the same space by the same greedy rule</a:t>
            </a:r>
          </a:p>
          <a:p>
            <a:pPr lvl="0"/>
            <a:r>
              <a:rPr/>
              <a:t>From here on, the notebooks use scikit-learn’s implementation: the same algorithm, compiled, not a different one</a:t>
            </a: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greedy misses</a:t>
            </a:r>
          </a:p>
        </p:txBody>
      </p:sp>
      <p:sp>
        <p:nvSpPr>
          <p:cNvPr id="3" name="Content Placeholder 2"/>
          <p:cNvSpPr>
            <a:spLocks noGrp="1"/>
          </p:cNvSpPr>
          <p:nvPr>
            <p:ph idx="1"/>
          </p:nvPr>
        </p:nvSpPr>
        <p:spPr>
          <a:xfrm>
            <a:off x="457200" y="1200151"/>
            <a:ext cx="8229600" cy="3394472"/>
          </a:xfrm>
        </p:spPr>
        <p:txBody>
          <a:bodyPr/>
          <a:lstStyle/>
          <a:p>
            <a:pPr lvl="0"/>
            <a:r>
              <a:rPr/>
              <a:t>The search never asks “which pair of splits helps most together”: only “which single split helps most right now”</a:t>
            </a:r>
          </a:p>
          <a:p>
            <a:pPr lvl="0"/>
            <a:r>
              <a:rPr/>
              <a:t>A feature that only pays off </a:t>
            </a:r>
            <a:r>
              <a:rPr b="1"/>
              <a:t>in combination</a:t>
            </a:r>
            <a:r>
              <a:rPr/>
              <a:t> with a later split can be invisible to a shallow tree</a:t>
            </a:r>
          </a:p>
          <a:p>
            <a:pPr lvl="0"/>
            <a:r>
              <a:rPr/>
              <a:t>Exactly what happens to this dataset’s two interior “stressed” islands, covered next</a:t>
            </a:r>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Depth is the bias-variance dial</a:t>
            </a:r>
          </a:p>
        </p:txBody>
      </p:sp>
      <p:sp>
        <p:nvSpPr>
          <p:cNvPr id="3" name="Content Placeholder 2"/>
          <p:cNvSpPr>
            <a:spLocks noGrp="1"/>
          </p:cNvSpPr>
          <p:nvPr>
            <p:ph idx="1"/>
          </p:nvPr>
        </p:nvSpPr>
        <p:spPr>
          <a:xfrm>
            <a:off x="457200" y="1200151"/>
            <a:ext cx="8229600" cy="3394472"/>
          </a:xfrm>
        </p:spPr>
        <p:txBody>
          <a:bodyPr/>
          <a:lstStyle/>
          <a:p>
            <a:pPr lvl="0"/>
            <a:r>
              <a:rPr>
                <a:latin typeface="Courier"/>
              </a:rPr>
              <a:t>max_depth</a:t>
            </a:r>
            <a:r>
              <a:rPr/>
              <a:t>: how many questions a tree may ask before a leaf must stop and vote by majority</a:t>
            </a:r>
          </a:p>
          <a:p>
            <a:pPr lvl="0"/>
            <a:r>
              <a:rPr b="1"/>
              <a:t>Shallow tree</a:t>
            </a:r>
            <a:r>
              <a:rPr/>
              <a:t>: few questions, only the coarsest structure. High bias, low variance</a:t>
            </a:r>
          </a:p>
          <a:p>
            <a:pPr lvl="0"/>
            <a:r>
              <a:rPr b="1"/>
              <a:t>Deep tree</a:t>
            </a:r>
            <a:r>
              <a:rPr/>
              <a:t>: enough questions to isolate almost any subset, down to single points. At full depth, training accuracy is </a:t>
            </a:r>
            <a:r>
              <a:rPr b="1"/>
              <a:t>exactly 1.000 on any dataset</a:t>
            </a:r>
            <a:r>
              <a:rPr/>
              <a:t>, including one with no structure at all</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Measured, at seven depths</a:t>
            </a:r>
          </a:p>
        </p:txBody>
      </p:sp>
      <p:graphicFrame>
        <p:nvGraphicFramePr>
          <p:cNvPr id="6" name="Content Placeholder 5"/>
          <p:cNvGraphicFramePr>
            <a:graphicFrameLocks noGrp="1"/>
          </p:cNvGraphicFramePr>
          <p:nvPr>
            <p:ph idx="1"/>
          </p:nvPr>
        </p:nvGraphicFramePr>
        <p:xfrm>
          <a:off x="457200" y="1193800"/>
          <a:ext cx="8229600" cy="3390900"/>
        </p:xfrm>
        <a:graphic>
          <a:graphicData uri="http://schemas.openxmlformats.org/drawingml/2006/table">
            <a:tbl>
              <a:tblPr firstRow="1" bandRow="1">
                <a:tableStyleId>{5C22544A-7EE6-4342-B048-85BDC9FD1C3A}</a:tableStyleId>
              </a:tblPr>
              <a:tblGrid>
                <a:gridCol w="2743200"/>
                <a:gridCol w="2743200"/>
                <a:gridCol w="2743200"/>
              </a:tblGrid>
              <a:tr h="0">
                <a:tc>
                  <a:txBody>
                    <a:bodyPr/>
                    <a:lstStyle/>
                    <a:p>
                      <a:pPr lvl="0" indent="0" marL="0">
                        <a:buNone/>
                      </a:pPr>
                      <a:r>
                        <a:rPr>
                          <a:latin typeface="Courier"/>
                        </a:rPr>
                        <a:t>max_depth</a:t>
                      </a:r>
                    </a:p>
                  </a:txBody>
                  <a:tcPr/>
                </a:tc>
                <a:tc>
                  <a:txBody>
                    <a:bodyPr/>
                    <a:lstStyle/>
                    <a:p>
                      <a:pPr lvl="0" indent="0" marL="0">
                        <a:buNone/>
                      </a:pPr>
                      <a:r>
                        <a:rPr/>
                        <a:t>Training accuracy</a:t>
                      </a:r>
                    </a:p>
                  </a:txBody>
                  <a:tcPr/>
                </a:tc>
                <a:tc>
                  <a:txBody>
                    <a:bodyPr/>
                    <a:lstStyle/>
                    <a:p>
                      <a:pPr lvl="0" indent="0" marL="0">
                        <a:buNone/>
                      </a:pPr>
                      <a:r>
                        <a:rPr/>
                        <a:t>Cross-validated accuracy</a:t>
                      </a:r>
                    </a:p>
                  </a:txBody>
                  <a:tcPr/>
                </a:tc>
              </a:tr>
              <a:tr h="0">
                <a:tc>
                  <a:txBody>
                    <a:bodyPr/>
                    <a:lstStyle/>
                    <a:p>
                      <a:pPr lvl="0" indent="0" marL="0">
                        <a:buNone/>
                      </a:pPr>
                      <a:r>
                        <a:rPr/>
                        <a:t>2</a:t>
                      </a:r>
                    </a:p>
                  </a:txBody>
                </a:tc>
                <a:tc>
                  <a:txBody>
                    <a:bodyPr/>
                    <a:lstStyle/>
                    <a:p>
                      <a:pPr lvl="0" indent="0" marL="0">
                        <a:buNone/>
                      </a:pPr>
                      <a:r>
                        <a:rPr/>
                        <a:t>0.840</a:t>
                      </a:r>
                    </a:p>
                  </a:txBody>
                </a:tc>
                <a:tc>
                  <a:txBody>
                    <a:bodyPr/>
                    <a:lstStyle/>
                    <a:p>
                      <a:pPr lvl="0" indent="0" marL="0">
                        <a:buNone/>
                      </a:pPr>
                      <a:r>
                        <a:rPr/>
                        <a:t>0.836 ± 0.024</a:t>
                      </a:r>
                    </a:p>
                  </a:txBody>
                </a:tc>
              </a:tr>
              <a:tr h="0">
                <a:tc>
                  <a:txBody>
                    <a:bodyPr/>
                    <a:lstStyle/>
                    <a:p>
                      <a:pPr lvl="0" indent="0" marL="0">
                        <a:buNone/>
                      </a:pPr>
                      <a:r>
                        <a:rPr/>
                        <a:t>4</a:t>
                      </a:r>
                    </a:p>
                  </a:txBody>
                </a:tc>
                <a:tc>
                  <a:txBody>
                    <a:bodyPr/>
                    <a:lstStyle/>
                    <a:p>
                      <a:pPr lvl="0" indent="0" marL="0">
                        <a:buNone/>
                      </a:pPr>
                      <a:r>
                        <a:rPr/>
                        <a:t>0.843</a:t>
                      </a:r>
                    </a:p>
                  </a:txBody>
                </a:tc>
                <a:tc>
                  <a:txBody>
                    <a:bodyPr/>
                    <a:lstStyle/>
                    <a:p>
                      <a:pPr lvl="0" indent="0" marL="0">
                        <a:buNone/>
                      </a:pPr>
                      <a:r>
                        <a:rPr/>
                        <a:t>0.827 ± 0.025</a:t>
                      </a:r>
                    </a:p>
                  </a:txBody>
                </a:tc>
              </a:tr>
              <a:tr h="0">
                <a:tc>
                  <a:txBody>
                    <a:bodyPr/>
                    <a:lstStyle/>
                    <a:p>
                      <a:pPr lvl="0" indent="0" marL="0">
                        <a:buNone/>
                      </a:pPr>
                      <a:r>
                        <a:rPr/>
                        <a:t>6</a:t>
                      </a:r>
                    </a:p>
                  </a:txBody>
                </a:tc>
                <a:tc>
                  <a:txBody>
                    <a:bodyPr/>
                    <a:lstStyle/>
                    <a:p>
                      <a:pPr lvl="0" indent="0" marL="0">
                        <a:buNone/>
                      </a:pPr>
                      <a:r>
                        <a:rPr/>
                        <a:t>0.898</a:t>
                      </a:r>
                    </a:p>
                  </a:txBody>
                </a:tc>
                <a:tc>
                  <a:txBody>
                    <a:bodyPr/>
                    <a:lstStyle/>
                    <a:p>
                      <a:pPr lvl="0" indent="0" marL="0">
                        <a:buNone/>
                      </a:pPr>
                      <a:r>
                        <a:rPr/>
                        <a:t>0.866 ± 0.016</a:t>
                      </a:r>
                    </a:p>
                  </a:txBody>
                </a:tc>
              </a:tr>
              <a:tr h="0">
                <a:tc>
                  <a:txBody>
                    <a:bodyPr/>
                    <a:lstStyle/>
                    <a:p>
                      <a:pPr lvl="0" indent="0" marL="0">
                        <a:buNone/>
                      </a:pPr>
                      <a:r>
                        <a:rPr b="1"/>
                        <a:t>8</a:t>
                      </a:r>
                    </a:p>
                  </a:txBody>
                </a:tc>
                <a:tc>
                  <a:txBody>
                    <a:bodyPr/>
                    <a:lstStyle/>
                    <a:p>
                      <a:pPr lvl="0" indent="0" marL="0">
                        <a:buNone/>
                      </a:pPr>
                      <a:r>
                        <a:rPr/>
                        <a:t>0.951</a:t>
                      </a:r>
                    </a:p>
                  </a:txBody>
                </a:tc>
                <a:tc>
                  <a:txBody>
                    <a:bodyPr/>
                    <a:lstStyle/>
                    <a:p>
                      <a:pPr lvl="0" indent="0" marL="0">
                        <a:buNone/>
                      </a:pPr>
                      <a:r>
                        <a:rPr b="1"/>
                        <a:t>0.882 ± 0.010</a:t>
                      </a:r>
                    </a:p>
                  </a:txBody>
                </a:tc>
              </a:tr>
              <a:tr h="0">
                <a:tc>
                  <a:txBody>
                    <a:bodyPr/>
                    <a:lstStyle/>
                    <a:p>
                      <a:pPr lvl="0" indent="0" marL="0">
                        <a:buNone/>
                      </a:pPr>
                      <a:r>
                        <a:rPr/>
                        <a:t>12</a:t>
                      </a:r>
                    </a:p>
                  </a:txBody>
                </a:tc>
                <a:tc>
                  <a:txBody>
                    <a:bodyPr/>
                    <a:lstStyle/>
                    <a:p>
                      <a:pPr lvl="0" indent="0" marL="0">
                        <a:buNone/>
                      </a:pPr>
                      <a:r>
                        <a:rPr/>
                        <a:t>0.986</a:t>
                      </a:r>
                    </a:p>
                  </a:txBody>
                </a:tc>
                <a:tc>
                  <a:txBody>
                    <a:bodyPr/>
                    <a:lstStyle/>
                    <a:p>
                      <a:pPr lvl="0" indent="0" marL="0">
                        <a:buNone/>
                      </a:pPr>
                      <a:r>
                        <a:rPr/>
                        <a:t>0.862 ± 0.018</a:t>
                      </a:r>
                    </a:p>
                  </a:txBody>
                </a:tc>
              </a:tr>
              <a:tr h="0">
                <a:tc>
                  <a:txBody>
                    <a:bodyPr/>
                    <a:lstStyle/>
                    <a:p>
                      <a:pPr lvl="0" indent="0" marL="0">
                        <a:buNone/>
                      </a:pPr>
                      <a:r>
                        <a:rPr/>
                        <a:t>16</a:t>
                      </a:r>
                    </a:p>
                  </a:txBody>
                </a:tc>
                <a:tc>
                  <a:txBody>
                    <a:bodyPr/>
                    <a:lstStyle/>
                    <a:p>
                      <a:pPr lvl="0" indent="0" marL="0">
                        <a:buNone/>
                      </a:pPr>
                      <a:r>
                        <a:rPr/>
                        <a:t>0.993</a:t>
                      </a:r>
                    </a:p>
                  </a:txBody>
                </a:tc>
                <a:tc>
                  <a:txBody>
                    <a:bodyPr/>
                    <a:lstStyle/>
                    <a:p>
                      <a:pPr lvl="0" indent="0" marL="0">
                        <a:buNone/>
                      </a:pPr>
                      <a:r>
                        <a:rPr/>
                        <a:t>0.852 ± 0.021</a:t>
                      </a:r>
                    </a:p>
                  </a:txBody>
                </a:tc>
              </a:tr>
              <a:tr h="0">
                <a:tc>
                  <a:txBody>
                    <a:bodyPr/>
                    <a:lstStyle/>
                    <a:p>
                      <a:pPr lvl="0" indent="0" marL="0">
                        <a:buNone/>
                      </a:pPr>
                      <a:r>
                        <a:rPr/>
                        <a:t>unconstrained</a:t>
                      </a:r>
                    </a:p>
                  </a:txBody>
                </a:tc>
                <a:tc>
                  <a:txBody>
                    <a:bodyPr/>
                    <a:lstStyle/>
                    <a:p>
                      <a:pPr lvl="0" indent="0" marL="0">
                        <a:buNone/>
                      </a:pPr>
                      <a:r>
                        <a:rPr b="1"/>
                        <a:t>1.000</a:t>
                      </a:r>
                    </a:p>
                  </a:txBody>
                </a:tc>
                <a:tc>
                  <a:txBody>
                    <a:bodyPr/>
                    <a:lstStyle/>
                    <a:p>
                      <a:pPr lvl="0" indent="0" marL="0">
                        <a:buNone/>
                      </a:pPr>
                      <a:r>
                        <a:rPr/>
                        <a:t>0.852 ± 0.021</a:t>
                      </a:r>
                    </a:p>
                  </a:txBody>
                </a:tc>
              </a:tr>
            </a:tbl>
          </a:graphicData>
        </a:graphic>
      </p:graphicFrame>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curve bends downward</a:t>
            </a:r>
          </a:p>
        </p:txBody>
      </p:sp>
      <p:pic>
        <p:nvPicPr>
          <p:cNvPr descr="depth_curve.png" id="0" name="Picture 1"/>
          <p:cNvPicPr>
            <a:picLocks noGrp="1" noChangeAspect="1"/>
          </p:cNvPicPr>
          <p:nvPr/>
        </p:nvPicPr>
        <p:blipFill>
          <a:blip r:embed="rId3"/>
          <a:stretch>
            <a:fillRect/>
          </a:stretch>
        </p:blipFill>
        <p:spPr bwMode="auto">
          <a:xfrm>
            <a:off x="2130520" y="1166099"/>
            <a:ext cx="4882959" cy="3360181"/>
          </a:xfrm>
          <a:prstGeom prst="rect">
            <a:avLst/>
          </a:prstGeom>
          <a:noFill/>
          <a:ln w="9525">
            <a:noFill/>
            <a:headEnd/>
            <a:tailEnd/>
          </a:ln>
        </p:spPr>
      </p:pic>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same rule, three depths</a:t>
            </a:r>
          </a:p>
        </p:txBody>
      </p:sp>
      <p:pic>
        <p:nvPicPr>
          <p:cNvPr descr="tree_boundaries.png" id="0" name="Picture 1"/>
          <p:cNvPicPr>
            <a:picLocks noGrp="1" noChangeAspect="1"/>
          </p:cNvPicPr>
          <p:nvPr/>
        </p:nvPicPr>
        <p:blipFill>
          <a:blip r:embed="rId3"/>
          <a:stretch>
            <a:fillRect/>
          </a:stretch>
        </p:blipFill>
        <p:spPr bwMode="auto">
          <a:xfrm>
            <a:off x="457200" y="1499989"/>
            <a:ext cx="8229600" cy="2692400"/>
          </a:xfrm>
          <a:prstGeom prst="rect">
            <a:avLst/>
          </a:prstGeom>
          <a:noFill/>
          <a:ln w="9525">
            <a:noFill/>
            <a:headEnd/>
            <a:tailEnd/>
          </a:ln>
        </p:spPr>
      </p:pic>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Reading a tree, and the knob that keeps it small</a:t>
            </a:r>
          </a:p>
        </p:txBody>
      </p:sp>
      <p:sp>
        <p:nvSpPr>
          <p:cNvPr id="3" name="Content Placeholder 2"/>
          <p:cNvSpPr>
            <a:spLocks noGrp="1"/>
          </p:cNvSpPr>
          <p:nvPr>
            <p:ph idx="1"/>
          </p:nvPr>
        </p:nvSpPr>
        <p:spPr>
          <a:xfrm>
            <a:off x="457200" y="1200151"/>
            <a:ext cx="8229600" cy="3394472"/>
          </a:xfrm>
        </p:spPr>
        <p:txBody>
          <a:bodyPr/>
          <a:lstStyle/>
          <a:p>
            <a:pPr lvl="0"/>
            <a:r>
              <a:rPr>
                <a:latin typeface="Courier"/>
              </a:rPr>
              <a:t>max_depth</a:t>
            </a:r>
            <a:r>
              <a:rPr/>
              <a:t> grows the tree </a:t>
            </a:r>
            <a:r>
              <a:rPr b="1"/>
              <a:t>breadth-first</a:t>
            </a:r>
            <a:r>
              <a:rPr/>
              <a:t>: every leaf at level d splits before any leaf reaches d+1, useful or not</a:t>
            </a:r>
          </a:p>
          <a:p>
            <a:pPr lvl="0"/>
            <a:r>
              <a:rPr>
                <a:latin typeface="Courier"/>
              </a:rPr>
              <a:t>max_leaf_nodes</a:t>
            </a:r>
            <a:r>
              <a:rPr/>
              <a:t> grows it </a:t>
            </a:r>
            <a:r>
              <a:rPr b="1"/>
              <a:t>best-first</a:t>
            </a:r>
            <a:r>
              <a:rPr/>
              <a:t>: always expanding whichever leaf offers the largest ΔG</a:t>
            </a:r>
          </a:p>
          <a:p>
            <a:pPr lvl="0"/>
            <a:r>
              <a:rPr/>
              <a:t>With </a:t>
            </a:r>
            <a:r>
              <a:rPr>
                <a:latin typeface="Courier"/>
              </a:rPr>
              <a:t>max_leaf_nodes = 9</a:t>
            </a:r>
            <a:r>
              <a:rPr/>
              <a:t>: </a:t>
            </a:r>
            <a:r>
              <a:rPr b="1"/>
              <a:t>90.8%</a:t>
            </a:r>
            <a:r>
              <a:rPr/>
              <a:t> training accuracy, every threshold recognisable: 28 the income floor, 0.82 the debt ceiling</a:t>
            </a:r>
          </a:p>
        </p:txBody>
      </p:sp>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A tree that doesn’t stay still</a:t>
            </a:r>
          </a:p>
        </p:txBody>
      </p:sp>
      <p:sp>
        <p:nvSpPr>
          <p:cNvPr id="3" name="Content Placeholder 2"/>
          <p:cNvSpPr>
            <a:spLocks noGrp="1"/>
          </p:cNvSpPr>
          <p:nvPr>
            <p:ph idx="1"/>
          </p:nvPr>
        </p:nvSpPr>
        <p:spPr>
          <a:xfrm>
            <a:off x="457200" y="1200151"/>
            <a:ext cx="8229600" cy="3394472"/>
          </a:xfrm>
        </p:spPr>
        <p:txBody>
          <a:bodyPr/>
          <a:lstStyle/>
          <a:p>
            <a:pPr lvl="0"/>
            <a:r>
              <a:rPr/>
              <a:t>Two trees at </a:t>
            </a:r>
            <a:r>
              <a:rPr>
                <a:latin typeface="Courier"/>
              </a:rPr>
              <a:t>max_depth = 6</a:t>
            </a:r>
            <a:r>
              <a:rPr/>
              <a:t>, fit to independent 65% resamples of the same 1,200 applicants</a:t>
            </a:r>
          </a:p>
          <a:p>
            <a:pPr lvl="0"/>
            <a:r>
              <a:rPr/>
              <a:t>The debt ceiling, the strongest split, agrees to within </a:t>
            </a:r>
            <a:r>
              <a:rPr b="1"/>
              <a:t>0.001</a:t>
            </a:r>
          </a:p>
          <a:p>
            <a:pPr lvl="0"/>
            <a:r>
              <a:rPr/>
              <a:t>The trees grow </a:t>
            </a:r>
            <a:r>
              <a:rPr b="1"/>
              <a:t>31 and 33 leaves</a:t>
            </a:r>
            <a:r>
              <a:rPr/>
              <a:t>, and </a:t>
            </a:r>
            <a:r>
              <a:rPr b="1"/>
              <a:t>disagree on 11.7%</a:t>
            </a:r>
            <a:r>
              <a:rPr/>
              <a:t> of predictions on the full dataset</a:t>
            </a:r>
          </a:p>
          <a:p>
            <a:pPr lvl="0"/>
            <a:r>
              <a:rPr/>
              <a:t>The strongest split is stable; the many weaker ones are not, and they decide most of a tree’s shape</a:t>
            </a:r>
          </a:p>
        </p:txBody>
      </p:sp>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Notebook 1, live</a:t>
            </a:r>
          </a:p>
        </p:txBody>
      </p:sp>
      <p:sp>
        <p:nvSpPr>
          <p:cNvPr id="3" name="Content Placeholder 2"/>
          <p:cNvSpPr>
            <a:spLocks noGrp="1"/>
          </p:cNvSpPr>
          <p:nvPr>
            <p:ph idx="1"/>
          </p:nvPr>
        </p:nvSpPr>
        <p:spPr>
          <a:xfrm>
            <a:off x="457200" y="1200151"/>
            <a:ext cx="8229600" cy="3394472"/>
          </a:xfrm>
        </p:spPr>
        <p:txBody>
          <a:bodyPr/>
          <a:lstStyle/>
          <a:p>
            <a:pPr lvl="0"/>
            <a:r>
              <a:rPr/>
              <a:t>Decision trees from scratch, checked against scikit-learn</a:t>
            </a:r>
          </a:p>
          <a:p>
            <a:pPr lvl="0"/>
            <a:r>
              <a:rPr/>
              <a:t>Depth swept, the two boundaries drawn, and the instability measured</a:t>
            </a:r>
          </a:p>
        </p:txBody>
      </p:sp>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Break</a:t>
            </a:r>
          </a:p>
        </p:txBody>
      </p:sp>
      <p:sp>
        <p:nvSpPr>
          <p:cNvPr id="3" name="Content Placeholder 2"/>
          <p:cNvSpPr>
            <a:spLocks noGrp="1"/>
          </p:cNvSpPr>
          <p:nvPr>
            <p:ph idx="1"/>
          </p:nvPr>
        </p:nvSpPr>
        <p:spPr>
          <a:xfrm>
            <a:off x="457200" y="1200151"/>
            <a:ext cx="8229600" cy="3394472"/>
          </a:xfrm>
        </p:spPr>
        <p:txBody>
          <a:bodyPr/>
          <a:lstStyle/>
          <a:p>
            <a:pPr lvl="0"/>
            <a:r>
              <a:rPr/>
              <a:t>Twelve minutes</a:t>
            </a:r>
          </a:p>
        </p:txBody>
      </p:sp>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Bagging: averaging away the instability</a:t>
            </a:r>
          </a:p>
        </p:txBody>
      </p:sp>
      <p:sp>
        <p:nvSpPr>
          <p:cNvPr id="3" name="Content Placeholder 2"/>
          <p:cNvSpPr>
            <a:spLocks noGrp="1"/>
          </p:cNvSpPr>
          <p:nvPr>
            <p:ph idx="1"/>
          </p:nvPr>
        </p:nvSpPr>
        <p:spPr>
          <a:xfrm>
            <a:off x="457200" y="1200151"/>
            <a:ext cx="8229600" cy="3394472"/>
          </a:xfrm>
        </p:spPr>
        <p:txBody>
          <a:bodyPr/>
          <a:lstStyle/>
          <a:p>
            <a:pPr lvl="0"/>
            <a:r>
              <a:rPr/>
              <a:t>A tree’s mistakes differ across resamples, as just measured, so </a:t>
            </a:r>
            <a:r>
              <a:rPr b="1"/>
              <a:t>many trees, averaged</a:t>
            </a:r>
            <a:r>
              <a:rPr/>
              <a:t> should partly cancel out</a:t>
            </a:r>
          </a:p>
          <a:p>
            <a:pPr lvl="0"/>
            <a:r>
              <a:rPr/>
              <a:t>Draw a </a:t>
            </a:r>
            <a:r>
              <a:rPr b="1"/>
              <a:t>bootstrap sample</a:t>
            </a:r>
            <a:r>
              <a:rPr/>
              <a:t>: m rows chosen </a:t>
            </a:r>
            <a:r>
              <a:rPr b="1"/>
              <a:t>with replacement</a:t>
            </a:r>
            <a:r>
              <a:rPr/>
              <a:t> from the m training rows</a:t>
            </a:r>
          </a:p>
          <a:p>
            <a:pPr lvl="0"/>
            <a:r>
              <a:rPr/>
              <a:t>Fit a tree to it. Repeat </a:t>
            </a:r>
            <a:r>
              <a:rPr>
                <a:latin typeface="Courier"/>
              </a:rPr>
              <a:t>n_estimators</a:t>
            </a:r>
            <a:r>
              <a:rPr/>
              <a:t> times; predict by </a:t>
            </a:r>
            <a:r>
              <a:rPr b="1"/>
              <a:t>majority vote</a:t>
            </a:r>
          </a:p>
          <a:p>
            <a:pPr lvl="0"/>
            <a:r>
              <a:rPr/>
              <a:t>The tree algorithm itself is unchanged, only what surrounds it is new</a:t>
            </a:r>
          </a:p>
        </p:txBody>
      </p:sp>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How much data one bootstrap sample sees</a:t>
            </a:r>
          </a:p>
        </p:txBody>
      </p:sp>
      <p:sp>
        <p:nvSpPr>
          <p:cNvPr id="3" name="Content Placeholder 2"/>
          <p:cNvSpPr>
            <a:spLocks noGrp="1"/>
          </p:cNvSpPr>
          <p:nvPr>
            <p:ph idx="1"/>
          </p:nvPr>
        </p:nvSpPr>
        <p:spPr>
          <a:xfrm>
            <a:off x="457200" y="1200151"/>
            <a:ext cx="8229600" cy="3394472"/>
          </a:xfrm>
        </p:spPr>
        <p:txBody>
          <a:bodyPr/>
          <a:lstStyle/>
          <a:p>
            <a:pPr lvl="0"/>
            <a:r>
              <a:rPr/>
              <a:t>Each bootstrap sample is drawn from the same m rows, with replacement</a:t>
            </a:r>
          </a:p>
          <a:p>
            <a:pPr lvl="0"/>
            <a:r>
              <a:rPr/>
              <a:t>About </a:t>
            </a:r>
            <a:r>
              <a:rPr b="1"/>
              <a:t>63.2%</a:t>
            </a:r>
            <a:r>
              <a:rPr/>
              <a:t> of the distinct rows are drawn at least once</a:t>
            </a:r>
          </a:p>
          <a:p>
            <a:pPr lvl="0"/>
            <a:r>
              <a:rPr/>
              <a:t>The remaining </a:t>
            </a:r>
            <a:r>
              <a:rPr b="1"/>
              <a:t>36.8%</a:t>
            </a:r>
            <a:r>
              <a:rPr/>
              <a:t> are left out entirely: called </a:t>
            </a:r>
            <a:r>
              <a:rPr b="1"/>
              <a:t>out-of-bag (OOB)</a:t>
            </a:r>
          </a:p>
          <a:p>
            <a:pPr lvl="0"/>
            <a:r>
              <a:rPr/>
              <a:t>At m = 1,200: a single simulated draw left out 36.6% of rows, close to the limit</a:t>
            </a:r>
          </a:p>
        </p:txBody>
      </p:sp>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Out-of-bag: free validation</a:t>
            </a:r>
          </a:p>
        </p:txBody>
      </p:sp>
      <p:sp>
        <p:nvSpPr>
          <p:cNvPr id="3" name="Content Placeholder 2"/>
          <p:cNvSpPr>
            <a:spLocks noGrp="1"/>
          </p:cNvSpPr>
          <p:nvPr>
            <p:ph idx="1"/>
          </p:nvPr>
        </p:nvSpPr>
        <p:spPr>
          <a:xfrm>
            <a:off x="457200" y="1200151"/>
            <a:ext cx="8229600" cy="3394472"/>
          </a:xfrm>
        </p:spPr>
        <p:txBody>
          <a:bodyPr/>
          <a:lstStyle/>
          <a:p>
            <a:pPr lvl="0"/>
            <a:r>
              <a:rPr/>
              <a:t>Every out-of-bag row is validation data for the tree that missed it</a:t>
            </a:r>
          </a:p>
          <a:p>
            <a:pPr lvl="0"/>
            <a:r>
              <a:rPr/>
              <a:t>Averaging them gives the </a:t>
            </a:r>
            <a:r>
              <a:rPr b="1"/>
              <a:t>OOB score</a:t>
            </a:r>
            <a:r>
              <a:rPr/>
              <a:t>, at no extra split</a:t>
            </a:r>
          </a:p>
          <a:p>
            <a:pPr lvl="0"/>
            <a:r>
              <a:rPr/>
              <a:t>A 300-tree forest: OOB </a:t>
            </a:r>
            <a:r>
              <a:rPr b="1"/>
              <a:t>0.9117</a:t>
            </a:r>
            <a:r>
              <a:rPr/>
              <a:t>, 5-fold cross-validated </a:t>
            </a:r>
            <a:r>
              <a:rPr b="1"/>
              <a:t>0.9117 ± 0.021</a:t>
            </a:r>
          </a:p>
          <a:p>
            <a:pPr lvl="0"/>
            <a:r>
              <a:rPr/>
              <a:t>That match to four decimals is </a:t>
            </a:r>
            <a:r>
              <a:rPr b="1"/>
              <a:t>this seed’s luck</a:t>
            </a:r>
            <a:r>
              <a:rPr/>
              <a:t>: over twelve seeds the gap is 0.003: agreement to within their own noise, not to every decimal</a:t>
            </a:r>
          </a:p>
        </p:txBody>
      </p:sp>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Why averaging reduces variance</a:t>
            </a:r>
          </a:p>
        </p:txBody>
      </p:sp>
      <p:sp>
        <p:nvSpPr>
          <p:cNvPr id="3" name="Content Placeholder 2"/>
          <p:cNvSpPr>
            <a:spLocks noGrp="1"/>
          </p:cNvSpPr>
          <p:nvPr>
            <p:ph idx="1"/>
          </p:nvPr>
        </p:nvSpPr>
        <p:spPr>
          <a:xfrm>
            <a:off x="457200" y="1200151"/>
            <a:ext cx="8229600" cy="3394472"/>
          </a:xfrm>
        </p:spPr>
        <p:txBody>
          <a:bodyPr/>
          <a:lstStyle/>
          <a:p>
            <a:pPr lvl="0"/>
            <a:r>
              <a:rPr/>
              <a:t>Model each tree’s prediction as noisy, with variance σ², and let ρ be the correlation between any two trees</a:t>
            </a:r>
          </a:p>
          <a:p>
            <a:pPr lvl="0"/>
            <a:r>
              <a:rPr/>
              <a:t>Averaging B trees drives variance toward a </a:t>
            </a:r>
            <a:r>
              <a:rPr b="1"/>
              <a:t>floor</a:t>
            </a:r>
            <a:r>
              <a:rPr/>
              <a:t> of ρσ², </a:t>
            </a:r>
            <a:r>
              <a:rPr b="1"/>
              <a:t>not zero</a:t>
            </a:r>
            <a:r>
              <a:rPr/>
              <a:t>: adding trees past that point buys almost nothing</a:t>
            </a:r>
          </a:p>
          <a:p>
            <a:pPr lvl="0"/>
            <a:r>
              <a:rPr/>
              <a:t>Averaging </a:t>
            </a:r>
            <a:r>
              <a:rPr b="1"/>
              <a:t>cannot fix bias</a:t>
            </a:r>
            <a:r>
              <a:rPr/>
              <a:t>: unbiased-but-noisy trees average to unbiased; trees sharing a systematic error keep that error exactly</a:t>
            </a:r>
          </a:p>
        </p:txBody>
      </p:sp>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Bagging, measured</a:t>
            </a:r>
          </a:p>
        </p:txBody>
      </p:sp>
      <p:graphicFrame>
        <p:nvGraphicFramePr>
          <p:cNvPr id="6" name="Content Placeholder 5"/>
          <p:cNvGraphicFramePr>
            <a:graphicFrameLocks noGrp="1"/>
          </p:cNvGraphicFramePr>
          <p:nvPr>
            <p:ph idx="1"/>
          </p:nvPr>
        </p:nvGraphicFramePr>
        <p:xfrm>
          <a:off x="457200" y="1193800"/>
          <a:ext cx="8229600" cy="3390900"/>
        </p:xfrm>
        <a:graphic>
          <a:graphicData uri="http://schemas.openxmlformats.org/drawingml/2006/table">
            <a:tbl>
              <a:tblPr firstRow="1" bandRow="1">
                <a:tableStyleId>{5C22544A-7EE6-4342-B048-85BDC9FD1C3A}</a:tableStyleId>
              </a:tblPr>
              <a:tblGrid>
                <a:gridCol w="2743200"/>
                <a:gridCol w="2743200"/>
                <a:gridCol w="2743200"/>
              </a:tblGrid>
              <a:tr h="0">
                <a:tc>
                  <a:txBody>
                    <a:bodyPr/>
                    <a:lstStyle/>
                    <a:p>
                      <a:pPr lvl="0" indent="0" marL="0">
                        <a:buNone/>
                      </a:pPr>
                      <a:r>
                        <a:rPr/>
                        <a:t>Model</a:t>
                      </a:r>
                    </a:p>
                  </a:txBody>
                  <a:tcPr/>
                </a:tc>
                <a:tc>
                  <a:txBody>
                    <a:bodyPr/>
                    <a:lstStyle/>
                    <a:p>
                      <a:pPr lvl="0" indent="0" marL="0">
                        <a:buNone/>
                      </a:pPr>
                      <a:r>
                        <a:rPr/>
                        <a:t>Mean test accuracy</a:t>
                      </a:r>
                    </a:p>
                  </a:txBody>
                  <a:tcPr/>
                </a:tc>
                <a:tc>
                  <a:txBody>
                    <a:bodyPr/>
                    <a:lstStyle/>
                    <a:p>
                      <a:pPr lvl="0" indent="0" marL="0">
                        <a:buNone/>
                      </a:pPr>
                      <a:r>
                        <a:rPr/>
                        <a:t>Standard deviation</a:t>
                      </a:r>
                    </a:p>
                  </a:txBody>
                  <a:tcPr/>
                </a:tc>
              </a:tr>
              <a:tr h="0">
                <a:tc>
                  <a:txBody>
                    <a:bodyPr/>
                    <a:lstStyle/>
                    <a:p>
                      <a:pPr lvl="0" indent="0" marL="0">
                        <a:buNone/>
                      </a:pPr>
                      <a:r>
                        <a:rPr/>
                        <a:t>Single unconstrained tree</a:t>
                      </a:r>
                    </a:p>
                  </a:txBody>
                </a:tc>
                <a:tc>
                  <a:txBody>
                    <a:bodyPr/>
                    <a:lstStyle/>
                    <a:p>
                      <a:pPr lvl="0" indent="0" marL="0">
                        <a:buNone/>
                      </a:pPr>
                      <a:r>
                        <a:rPr/>
                        <a:t>0.856</a:t>
                      </a:r>
                    </a:p>
                  </a:txBody>
                </a:tc>
                <a:tc>
                  <a:txBody>
                    <a:bodyPr/>
                    <a:lstStyle/>
                    <a:p>
                      <a:pPr lvl="0" indent="0" marL="0">
                        <a:buNone/>
                      </a:pPr>
                      <a:r>
                        <a:rPr/>
                        <a:t>0.0185</a:t>
                      </a:r>
                    </a:p>
                  </a:txBody>
                </a:tc>
              </a:tr>
              <a:tr h="0">
                <a:tc>
                  <a:txBody>
                    <a:bodyPr/>
                    <a:lstStyle/>
                    <a:p>
                      <a:pPr lvl="0" indent="0" marL="0">
                        <a:buNone/>
                      </a:pPr>
                      <a:r>
                        <a:rPr/>
                        <a:t>Bagging, 100 trees</a:t>
                      </a:r>
                    </a:p>
                  </a:txBody>
                </a:tc>
                <a:tc>
                  <a:txBody>
                    <a:bodyPr/>
                    <a:lstStyle/>
                    <a:p>
                      <a:pPr lvl="0" indent="0" marL="0">
                        <a:buNone/>
                      </a:pPr>
                      <a:r>
                        <a:rPr b="1"/>
                        <a:t>0.902</a:t>
                      </a:r>
                    </a:p>
                  </a:txBody>
                </a:tc>
                <a:tc>
                  <a:txBody>
                    <a:bodyPr/>
                    <a:lstStyle/>
                    <a:p>
                      <a:pPr lvl="0" indent="0" marL="0">
                        <a:buNone/>
                      </a:pPr>
                      <a:r>
                        <a:rPr b="1"/>
                        <a:t>0.0153</a:t>
                      </a:r>
                    </a:p>
                  </a:txBody>
                </a:tc>
              </a:tr>
            </a:tbl>
          </a:graphicData>
        </a:graphic>
      </p:graphicFrame>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Random forests: decorrelating the trees</a:t>
            </a:r>
          </a:p>
        </p:txBody>
      </p:sp>
      <p:sp>
        <p:nvSpPr>
          <p:cNvPr id="3" name="Content Placeholder 2"/>
          <p:cNvSpPr>
            <a:spLocks noGrp="1"/>
          </p:cNvSpPr>
          <p:nvPr>
            <p:ph idx="1"/>
          </p:nvPr>
        </p:nvSpPr>
        <p:spPr>
          <a:xfrm>
            <a:off x="457200" y="1200151"/>
            <a:ext cx="8229600" cy="3394472"/>
          </a:xfrm>
        </p:spPr>
        <p:txBody>
          <a:bodyPr/>
          <a:lstStyle/>
          <a:p>
            <a:pPr lvl="0"/>
            <a:r>
              <a:rPr/>
              <a:t>The variance floor is ρσ²: lowering it further means making the trees agree </a:t>
            </a:r>
            <a:r>
              <a:rPr b="1"/>
              <a:t>less</a:t>
            </a:r>
          </a:p>
          <a:p>
            <a:pPr lvl="0"/>
            <a:r>
              <a:rPr/>
              <a:t>Bagged trees still see </a:t>
            </a:r>
            <a:r>
              <a:rPr b="1"/>
              <a:t>every feature</a:t>
            </a:r>
            <a:r>
              <a:rPr/>
              <a:t> at every split, so a strong feature pulls most of them towards splitting on it first</a:t>
            </a:r>
          </a:p>
          <a:p>
            <a:pPr lvl="0"/>
            <a:r>
              <a:rPr/>
              <a:t>A </a:t>
            </a:r>
            <a:r>
              <a:rPr b="1"/>
              <a:t>random forest</a:t>
            </a:r>
            <a:r>
              <a:rPr/>
              <a:t> restricts each split to a random subset of </a:t>
            </a:r>
            <a:r>
              <a:rPr>
                <a:latin typeface="Courier"/>
              </a:rPr>
              <a:t>max_features</a:t>
            </a:r>
            <a:r>
              <a:rPr/>
              <a:t> (default √n, rounded down): different trees see different features at the same point, lowering ρ</a:t>
            </a:r>
          </a:p>
        </p:txBody>
      </p:sp>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Random forests, measured</a:t>
            </a:r>
          </a:p>
        </p:txBody>
      </p:sp>
      <p:graphicFrame>
        <p:nvGraphicFramePr>
          <p:cNvPr id="6" name="Content Placeholder 5"/>
          <p:cNvGraphicFramePr>
            <a:graphicFrameLocks noGrp="1"/>
          </p:cNvGraphicFramePr>
          <p:nvPr>
            <p:ph idx="1"/>
          </p:nvPr>
        </p:nvGraphicFramePr>
        <p:xfrm>
          <a:off x="457200" y="1193800"/>
          <a:ext cx="8229600" cy="3390900"/>
        </p:xfrm>
        <a:graphic>
          <a:graphicData uri="http://schemas.openxmlformats.org/drawingml/2006/table">
            <a:tbl>
              <a:tblPr firstRow="1" bandRow="1">
                <a:tableStyleId>{5C22544A-7EE6-4342-B048-85BDC9FD1C3A}</a:tableStyleId>
              </a:tblPr>
              <a:tblGrid>
                <a:gridCol w="2743200"/>
                <a:gridCol w="2743200"/>
                <a:gridCol w="2743200"/>
              </a:tblGrid>
              <a:tr h="0">
                <a:tc>
                  <a:txBody>
                    <a:bodyPr/>
                    <a:lstStyle/>
                    <a:p>
                      <a:pPr lvl="0" indent="0" marL="0">
                        <a:buNone/>
                      </a:pPr>
                      <a:r>
                        <a:rPr/>
                        <a:t>Model</a:t>
                      </a:r>
                    </a:p>
                  </a:txBody>
                  <a:tcPr/>
                </a:tc>
                <a:tc>
                  <a:txBody>
                    <a:bodyPr/>
                    <a:lstStyle/>
                    <a:p>
                      <a:pPr lvl="0" indent="0" marL="0">
                        <a:buNone/>
                      </a:pPr>
                      <a:r>
                        <a:rPr/>
                        <a:t>Mean test accuracy</a:t>
                      </a:r>
                    </a:p>
                  </a:txBody>
                  <a:tcPr/>
                </a:tc>
                <a:tc>
                  <a:txBody>
                    <a:bodyPr/>
                    <a:lstStyle/>
                    <a:p>
                      <a:pPr lvl="0" indent="0" marL="0">
                        <a:buNone/>
                      </a:pPr>
                      <a:r>
                        <a:rPr/>
                        <a:t>Standard deviation</a:t>
                      </a:r>
                    </a:p>
                  </a:txBody>
                  <a:tcPr/>
                </a:tc>
              </a:tr>
              <a:tr h="0">
                <a:tc>
                  <a:txBody>
                    <a:bodyPr/>
                    <a:lstStyle/>
                    <a:p>
                      <a:pPr lvl="0" indent="0" marL="0">
                        <a:buNone/>
                      </a:pPr>
                      <a:r>
                        <a:rPr/>
                        <a:t>Single unconstrained tree</a:t>
                      </a:r>
                    </a:p>
                  </a:txBody>
                </a:tc>
                <a:tc>
                  <a:txBody>
                    <a:bodyPr/>
                    <a:lstStyle/>
                    <a:p>
                      <a:pPr lvl="0" indent="0" marL="0">
                        <a:buNone/>
                      </a:pPr>
                      <a:r>
                        <a:rPr/>
                        <a:t>0.856</a:t>
                      </a:r>
                    </a:p>
                  </a:txBody>
                </a:tc>
                <a:tc>
                  <a:txBody>
                    <a:bodyPr/>
                    <a:lstStyle/>
                    <a:p>
                      <a:pPr lvl="0" indent="0" marL="0">
                        <a:buNone/>
                      </a:pPr>
                      <a:r>
                        <a:rPr/>
                        <a:t>0.0185</a:t>
                      </a:r>
                    </a:p>
                  </a:txBody>
                </a:tc>
              </a:tr>
              <a:tr h="0">
                <a:tc>
                  <a:txBody>
                    <a:bodyPr/>
                    <a:lstStyle/>
                    <a:p>
                      <a:pPr lvl="0" indent="0" marL="0">
                        <a:buNone/>
                      </a:pPr>
                      <a:r>
                        <a:rPr/>
                        <a:t>Bagging, 100 trees</a:t>
                      </a:r>
                    </a:p>
                  </a:txBody>
                </a:tc>
                <a:tc>
                  <a:txBody>
                    <a:bodyPr/>
                    <a:lstStyle/>
                    <a:p>
                      <a:pPr lvl="0" indent="0" marL="0">
                        <a:buNone/>
                      </a:pPr>
                      <a:r>
                        <a:rPr/>
                        <a:t>0.902</a:t>
                      </a:r>
                    </a:p>
                  </a:txBody>
                </a:tc>
                <a:tc>
                  <a:txBody>
                    <a:bodyPr/>
                    <a:lstStyle/>
                    <a:p>
                      <a:pPr lvl="0" indent="0" marL="0">
                        <a:buNone/>
                      </a:pPr>
                      <a:r>
                        <a:rPr/>
                        <a:t>0.0153</a:t>
                      </a:r>
                    </a:p>
                  </a:txBody>
                </a:tc>
              </a:tr>
              <a:tr h="0">
                <a:tc>
                  <a:txBody>
                    <a:bodyPr/>
                    <a:lstStyle/>
                    <a:p>
                      <a:pPr lvl="0" indent="0" marL="0">
                        <a:buNone/>
                      </a:pPr>
                      <a:r>
                        <a:rPr b="1"/>
                        <a:t>Random forest, 100 trees</a:t>
                      </a:r>
                    </a:p>
                  </a:txBody>
                </a:tc>
                <a:tc>
                  <a:txBody>
                    <a:bodyPr/>
                    <a:lstStyle/>
                    <a:p>
                      <a:pPr lvl="0" indent="0" marL="0">
                        <a:buNone/>
                      </a:pPr>
                      <a:r>
                        <a:rPr b="1"/>
                        <a:t>0.908</a:t>
                      </a:r>
                    </a:p>
                  </a:txBody>
                </a:tc>
                <a:tc>
                  <a:txBody>
                    <a:bodyPr/>
                    <a:lstStyle/>
                    <a:p>
                      <a:pPr lvl="0" indent="0" marL="0">
                        <a:buNone/>
                      </a:pPr>
                      <a:r>
                        <a:rPr b="1"/>
                        <a:t>0.0137</a:t>
                      </a:r>
                    </a:p>
                  </a:txBody>
                </a:tc>
              </a:tr>
            </a:tbl>
          </a:graphicData>
        </a:graphic>
      </p:graphicFrame>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Feature importance: what the forest claims to tell you</a:t>
            </a:r>
          </a:p>
        </p:txBody>
      </p:sp>
      <p:sp>
        <p:nvSpPr>
          <p:cNvPr id="3" name="Content Placeholder 2"/>
          <p:cNvSpPr>
            <a:spLocks noGrp="1"/>
          </p:cNvSpPr>
          <p:nvPr>
            <p:ph idx="1"/>
          </p:nvPr>
        </p:nvSpPr>
        <p:spPr>
          <a:xfrm>
            <a:off x="457200" y="1200151"/>
            <a:ext cx="8229600" cy="3394472"/>
          </a:xfrm>
        </p:spPr>
        <p:txBody>
          <a:bodyPr/>
          <a:lstStyle/>
          <a:p>
            <a:pPr lvl="0"/>
            <a:r>
              <a:rPr/>
              <a:t>A random forest reports </a:t>
            </a:r>
            <a:r>
              <a:rPr b="1"/>
              <a:t>feature importance</a:t>
            </a:r>
            <a:r>
              <a:rPr/>
              <a:t>: the impurity reduction each feature is responsible for, summed over every tree and split</a:t>
            </a:r>
          </a:p>
          <a:p>
            <a:pPr lvl="0"/>
            <a:r>
              <a:rPr/>
              <a:t>Tempting to read as “the forest tells you which features matter” - and with only the two real features here, it does exactly that</a:t>
            </a:r>
          </a:p>
          <a:p>
            <a:pPr lvl="0"/>
            <a:r>
              <a:rPr/>
              <a:t>The question: what happens once most of the columns carry </a:t>
            </a:r>
            <a:r>
              <a:rPr b="1"/>
              <a:t>nothing</a:t>
            </a:r>
            <a:r>
              <a:rPr/>
              <a:t>?</a:t>
            </a:r>
          </a:p>
        </p:txBody>
      </p:sp>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More columns, more noise</a:t>
            </a:r>
          </a:p>
        </p:txBody>
      </p:sp>
      <p:graphicFrame>
        <p:nvGraphicFramePr>
          <p:cNvPr id="6" name="Content Placeholder 5"/>
          <p:cNvGraphicFramePr>
            <a:graphicFrameLocks noGrp="1"/>
          </p:cNvGraphicFramePr>
          <p:nvPr>
            <p:ph idx="1"/>
          </p:nvPr>
        </p:nvGraphicFramePr>
        <p:xfrm>
          <a:off x="457200" y="1193800"/>
          <a:ext cx="8229600" cy="3390900"/>
        </p:xfrm>
        <a:graphic>
          <a:graphicData uri="http://schemas.openxmlformats.org/drawingml/2006/table">
            <a:tbl>
              <a:tblPr firstRow="1" bandRow="1">
                <a:tableStyleId>{5C22544A-7EE6-4342-B048-85BDC9FD1C3A}</a:tableStyleId>
              </a:tblPr>
              <a:tblGrid>
                <a:gridCol w="2057400"/>
                <a:gridCol w="2057400"/>
                <a:gridCol w="2057400"/>
                <a:gridCol w="2057400"/>
              </a:tblGrid>
              <a:tr h="0">
                <a:tc>
                  <a:txBody>
                    <a:bodyPr/>
                    <a:lstStyle/>
                    <a:p>
                      <a:pPr lvl="0" indent="0" marL="0">
                        <a:buNone/>
                      </a:pPr>
                      <a:r>
                        <a:rPr/>
                        <a:t>Noise columns added</a:t>
                      </a:r>
                    </a:p>
                  </a:txBody>
                  <a:tcPr/>
                </a:tc>
                <a:tc>
                  <a:txBody>
                    <a:bodyPr/>
                    <a:lstStyle/>
                    <a:p>
                      <a:pPr lvl="0" indent="0" marL="0">
                        <a:buNone/>
                      </a:pPr>
                      <a:r>
                        <a:rPr/>
                        <a:t>Total columns</a:t>
                      </a:r>
                    </a:p>
                  </a:txBody>
                  <a:tcPr/>
                </a:tc>
                <a:tc>
                  <a:txBody>
                    <a:bodyPr/>
                    <a:lstStyle/>
                    <a:p>
                      <a:pPr lvl="0" indent="0" marL="0">
                        <a:buNone/>
                      </a:pPr>
                      <a:r>
                        <a:rPr/>
                        <a:t>Cross-validated accuracy</a:t>
                      </a:r>
                    </a:p>
                  </a:txBody>
                  <a:tcPr/>
                </a:tc>
                <a:tc>
                  <a:txBody>
                    <a:bodyPr/>
                    <a:lstStyle/>
                    <a:p>
                      <a:pPr lvl="0" indent="0" marL="0">
                        <a:buNone/>
                      </a:pPr>
                      <a:r>
                        <a:rPr/>
                        <a:t>Importance on noise</a:t>
                      </a:r>
                    </a:p>
                  </a:txBody>
                  <a:tcPr/>
                </a:tc>
              </a:tr>
              <a:tr h="0">
                <a:tc>
                  <a:txBody>
                    <a:bodyPr/>
                    <a:lstStyle/>
                    <a:p>
                      <a:pPr lvl="0" indent="0" marL="0">
                        <a:buNone/>
                      </a:pPr>
                      <a:r>
                        <a:rPr/>
                        <a:t>0</a:t>
                      </a:r>
                    </a:p>
                  </a:txBody>
                </a:tc>
                <a:tc>
                  <a:txBody>
                    <a:bodyPr/>
                    <a:lstStyle/>
                    <a:p>
                      <a:pPr lvl="0" indent="0" marL="0">
                        <a:buNone/>
                      </a:pPr>
                      <a:r>
                        <a:rPr/>
                        <a:t>2</a:t>
                      </a:r>
                    </a:p>
                  </a:txBody>
                </a:tc>
                <a:tc>
                  <a:txBody>
                    <a:bodyPr/>
                    <a:lstStyle/>
                    <a:p>
                      <a:pPr lvl="0" indent="0" marL="0">
                        <a:buNone/>
                      </a:pPr>
                      <a:r>
                        <a:rPr/>
                        <a:t>0.912</a:t>
                      </a:r>
                    </a:p>
                  </a:txBody>
                </a:tc>
                <a:tc>
                  <a:txBody>
                    <a:bodyPr/>
                    <a:lstStyle/>
                    <a:p>
                      <a:pPr lvl="0" indent="0" marL="0">
                        <a:buNone/>
                      </a:pPr>
                      <a:r>
                        <a:rPr/>
                        <a:t>0.0%</a:t>
                      </a:r>
                    </a:p>
                  </a:txBody>
                </a:tc>
              </a:tr>
              <a:tr h="0">
                <a:tc>
                  <a:txBody>
                    <a:bodyPr/>
                    <a:lstStyle/>
                    <a:p>
                      <a:pPr lvl="0" indent="0" marL="0">
                        <a:buNone/>
                      </a:pPr>
                      <a:r>
                        <a:rPr/>
                        <a:t>5</a:t>
                      </a:r>
                    </a:p>
                  </a:txBody>
                </a:tc>
                <a:tc>
                  <a:txBody>
                    <a:bodyPr/>
                    <a:lstStyle/>
                    <a:p>
                      <a:pPr lvl="0" indent="0" marL="0">
                        <a:buNone/>
                      </a:pPr>
                      <a:r>
                        <a:rPr/>
                        <a:t>7</a:t>
                      </a:r>
                    </a:p>
                  </a:txBody>
                </a:tc>
                <a:tc>
                  <a:txBody>
                    <a:bodyPr/>
                    <a:lstStyle/>
                    <a:p>
                      <a:pPr lvl="0" indent="0" marL="0">
                        <a:buNone/>
                      </a:pPr>
                      <a:r>
                        <a:rPr/>
                        <a:t>0.874</a:t>
                      </a:r>
                    </a:p>
                  </a:txBody>
                </a:tc>
                <a:tc>
                  <a:txBody>
                    <a:bodyPr/>
                    <a:lstStyle/>
                    <a:p>
                      <a:pPr lvl="0" indent="0" marL="0">
                        <a:buNone/>
                      </a:pPr>
                      <a:r>
                        <a:rPr/>
                        <a:t>33.9%</a:t>
                      </a:r>
                    </a:p>
                  </a:txBody>
                </a:tc>
              </a:tr>
              <a:tr h="0">
                <a:tc>
                  <a:txBody>
                    <a:bodyPr/>
                    <a:lstStyle/>
                    <a:p>
                      <a:pPr lvl="0" indent="0" marL="0">
                        <a:buNone/>
                      </a:pPr>
                      <a:r>
                        <a:rPr/>
                        <a:t>20</a:t>
                      </a:r>
                    </a:p>
                  </a:txBody>
                </a:tc>
                <a:tc>
                  <a:txBody>
                    <a:bodyPr/>
                    <a:lstStyle/>
                    <a:p>
                      <a:pPr lvl="0" indent="0" marL="0">
                        <a:buNone/>
                      </a:pPr>
                      <a:r>
                        <a:rPr/>
                        <a:t>22</a:t>
                      </a:r>
                    </a:p>
                  </a:txBody>
                </a:tc>
                <a:tc>
                  <a:txBody>
                    <a:bodyPr/>
                    <a:lstStyle/>
                    <a:p>
                      <a:pPr lvl="0" indent="0" marL="0">
                        <a:buNone/>
                      </a:pPr>
                      <a:r>
                        <a:rPr/>
                        <a:t>0.837</a:t>
                      </a:r>
                    </a:p>
                  </a:txBody>
                </a:tc>
                <a:tc>
                  <a:txBody>
                    <a:bodyPr/>
                    <a:lstStyle/>
                    <a:p>
                      <a:pPr lvl="0" indent="0" marL="0">
                        <a:buNone/>
                      </a:pPr>
                      <a:r>
                        <a:rPr b="1"/>
                        <a:t>54.5%</a:t>
                      </a:r>
                    </a:p>
                  </a:txBody>
                </a:tc>
              </a:tr>
            </a:tbl>
          </a:graphicData>
        </a:graphic>
      </p:graphicFrame>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Notebook 2, live</a:t>
            </a:r>
          </a:p>
        </p:txBody>
      </p:sp>
      <p:sp>
        <p:nvSpPr>
          <p:cNvPr id="3" name="Content Placeholder 2"/>
          <p:cNvSpPr>
            <a:spLocks noGrp="1"/>
          </p:cNvSpPr>
          <p:nvPr>
            <p:ph idx="1"/>
          </p:nvPr>
        </p:nvSpPr>
        <p:spPr>
          <a:xfrm>
            <a:off x="457200" y="1200151"/>
            <a:ext cx="8229600" cy="3394472"/>
          </a:xfrm>
        </p:spPr>
        <p:txBody>
          <a:bodyPr/>
          <a:lstStyle/>
          <a:p>
            <a:pPr lvl="0"/>
            <a:r>
              <a:rPr/>
              <a:t>Bagging and random forests, from scratch and against scikit-learn</a:t>
            </a:r>
          </a:p>
          <a:p>
            <a:pPr lvl="0"/>
            <a:r>
              <a:rPr/>
              <a:t>The out-of-bag score checked against cross-validation</a:t>
            </a:r>
          </a:p>
          <a:p>
            <a:pPr lvl="0"/>
            <a:r>
              <a:rPr/>
              <a:t>The noise-column experiment, run live</a:t>
            </a:r>
          </a:p>
        </p:txBody>
      </p:sp>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Gradient boosting: correcting mistakes in sequence</a:t>
            </a:r>
          </a:p>
        </p:txBody>
      </p:sp>
      <p:sp>
        <p:nvSpPr>
          <p:cNvPr id="3" name="Content Placeholder 2"/>
          <p:cNvSpPr>
            <a:spLocks noGrp="1"/>
          </p:cNvSpPr>
          <p:nvPr>
            <p:ph idx="1"/>
          </p:nvPr>
        </p:nvSpPr>
        <p:spPr>
          <a:xfrm>
            <a:off x="457200" y="1200151"/>
            <a:ext cx="8229600" cy="3394472"/>
          </a:xfrm>
        </p:spPr>
        <p:txBody>
          <a:bodyPr/>
          <a:lstStyle/>
          <a:p>
            <a:pPr lvl="0"/>
            <a:r>
              <a:rPr/>
              <a:t>Bagging and random forests build trees </a:t>
            </a:r>
            <a:r>
              <a:rPr b="1"/>
              <a:t>independently</a:t>
            </a:r>
            <a:r>
              <a:rPr/>
              <a:t> and average at the end</a:t>
            </a:r>
          </a:p>
          <a:p>
            <a:pPr lvl="0"/>
            <a:r>
              <a:rPr b="1"/>
              <a:t>Boosting</a:t>
            </a:r>
            <a:r>
              <a:rPr/>
              <a:t> builds trees </a:t>
            </a:r>
            <a:r>
              <a:rPr b="1"/>
              <a:t>in sequence</a:t>
            </a:r>
            <a:r>
              <a:rPr/>
              <a:t>: each new tree is fit specifically to correct what the trees so far got wrong</a:t>
            </a:r>
          </a:p>
          <a:p>
            <a:pPr lvl="0"/>
            <a:r>
              <a:rPr/>
              <a:t>Each addition is a shallow tree: depth 2 or 3, a </a:t>
            </a:r>
            <a:r>
              <a:rPr b="1"/>
              <a:t>weak learner</a:t>
            </a:r>
          </a:p>
          <a:p>
            <a:pPr lvl="0"/>
            <a:r>
              <a:rPr/>
              <a:t>The learning rate α sets </a:t>
            </a:r>
            <a:r>
              <a:rPr b="1"/>
              <a:t>how much</a:t>
            </a:r>
            <a:r>
              <a:rPr/>
              <a:t> of each new tree’s correction is actually applied</a:t>
            </a:r>
          </a:p>
        </p:txBody>
      </p:sp>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Building the ensemble, one tree at a time</a:t>
            </a:r>
          </a:p>
        </p:txBody>
      </p:sp>
      <p:pic>
        <p:nvPicPr>
          <p:cNvPr descr="eq_97e08db35a.png" id="0" name="Picture 1"/>
          <p:cNvPicPr>
            <a:picLocks noGrp="1" noChangeAspect="1"/>
          </p:cNvPicPr>
          <p:nvPr/>
        </p:nvPicPr>
        <p:blipFill>
          <a:blip r:embed="rId3"/>
          <a:stretch>
            <a:fillRect/>
          </a:stretch>
        </p:blipFill>
        <p:spPr bwMode="auto">
          <a:xfrm>
            <a:off x="457200" y="2554089"/>
            <a:ext cx="8229600" cy="584200"/>
          </a:xfrm>
          <a:prstGeom prst="rect">
            <a:avLst/>
          </a:prstGeom>
          <a:noFill/>
          <a:ln w="9525">
            <a:noFill/>
            <a:headEnd/>
            <a:tailEnd/>
          </a:ln>
        </p:spPr>
      </p:pic>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each tree is fit to</a:t>
            </a:r>
          </a:p>
        </p:txBody>
      </p:sp>
      <p:sp>
        <p:nvSpPr>
          <p:cNvPr id="3" name="Content Placeholder 2"/>
          <p:cNvSpPr>
            <a:spLocks noGrp="1"/>
          </p:cNvSpPr>
          <p:nvPr>
            <p:ph idx="1"/>
          </p:nvPr>
        </p:nvSpPr>
        <p:spPr>
          <a:xfrm>
            <a:off x="457200" y="1200151"/>
            <a:ext cx="8229600" cy="3394472"/>
          </a:xfrm>
        </p:spPr>
        <p:txBody>
          <a:bodyPr/>
          <a:lstStyle/>
          <a:p>
            <a:pPr lvl="0"/>
            <a:r>
              <a:rPr/>
              <a:t>For squared-error regression, “what remains unexplained” has an exact name: the </a:t>
            </a:r>
            <a:r>
              <a:rPr b="1"/>
              <a:t>residual</a:t>
            </a:r>
            <a:r>
              <a:rPr/>
              <a:t>, y - Ft₋₁(x)</a:t>
            </a:r>
          </a:p>
          <a:p>
            <a:pPr lvl="0"/>
            <a:r>
              <a:rPr/>
              <a:t>This is a special case of a more general idea: </a:t>
            </a:r>
            <a:r>
              <a:rPr b="1"/>
              <a:t>functional gradient descent</a:t>
            </a:r>
            <a:r>
              <a:rPr/>
              <a:t>: ht approximates the negative gradient of the loss with respect to Ft₋₁</a:t>
            </a:r>
          </a:p>
          <a:p>
            <a:pPr lvl="0"/>
            <a:r>
              <a:rPr/>
              <a:t>For squared error, “fit the residual” and “fit the negative gradient” coincide exactly</a:t>
            </a:r>
          </a:p>
        </p:txBody>
      </p:sp>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A sum of shallow trees converging on the residuals</a:t>
            </a:r>
          </a:p>
        </p:txBody>
      </p:sp>
      <p:pic>
        <p:nvPicPr>
          <p:cNvPr descr="boosting_residuals.png" id="0" name="Picture 1"/>
          <p:cNvPicPr>
            <a:picLocks noGrp="1" noChangeAspect="1"/>
          </p:cNvPicPr>
          <p:nvPr/>
        </p:nvPicPr>
        <p:blipFill>
          <a:blip r:embed="rId3"/>
          <a:stretch>
            <a:fillRect/>
          </a:stretch>
        </p:blipFill>
        <p:spPr bwMode="auto">
          <a:xfrm>
            <a:off x="2067595" y="1166099"/>
            <a:ext cx="5008809" cy="3360181"/>
          </a:xfrm>
          <a:prstGeom prst="rect">
            <a:avLst/>
          </a:prstGeom>
          <a:noFill/>
          <a:ln w="9525">
            <a:noFill/>
            <a:headEnd/>
            <a:tailEnd/>
          </a:ln>
        </p:spPr>
      </p:pic>
    </p:spTree>
  </p:cSld>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Reading the picture</a:t>
            </a:r>
          </a:p>
        </p:txBody>
      </p:sp>
      <p:sp>
        <p:nvSpPr>
          <p:cNvPr id="3" name="Content Placeholder 2"/>
          <p:cNvSpPr>
            <a:spLocks noGrp="1"/>
          </p:cNvSpPr>
          <p:nvPr>
            <p:ph idx="1"/>
          </p:nvPr>
        </p:nvSpPr>
        <p:spPr>
          <a:xfrm>
            <a:off x="457200" y="1200151"/>
            <a:ext cx="8229600" cy="3394472"/>
          </a:xfrm>
        </p:spPr>
        <p:txBody>
          <a:bodyPr/>
          <a:lstStyle/>
          <a:p>
            <a:pPr lvl="0"/>
            <a:r>
              <a:rPr b="1"/>
              <a:t>1 tree</a:t>
            </a:r>
            <a:r>
              <a:rPr/>
              <a:t>: mean squared error (MSE) against the true function 0.395, barely moves the flat guess</a:t>
            </a:r>
          </a:p>
          <a:p>
            <a:pPr lvl="0"/>
            <a:r>
              <a:rPr b="1"/>
              <a:t>5 trees</a:t>
            </a:r>
            <a:r>
              <a:rPr/>
              <a:t>: MSE 0.068, the coarse shape appears</a:t>
            </a:r>
          </a:p>
          <a:p>
            <a:pPr lvl="0"/>
            <a:r>
              <a:rPr b="1"/>
              <a:t>20 trees</a:t>
            </a:r>
            <a:r>
              <a:rPr/>
              <a:t>: MSE </a:t>
            </a:r>
            <a:r>
              <a:rPr b="1"/>
              <a:t>0.012</a:t>
            </a:r>
            <a:r>
              <a:rPr/>
              <a:t>, the ensemble’s best point</a:t>
            </a:r>
          </a:p>
          <a:p>
            <a:pPr lvl="0"/>
            <a:r>
              <a:rPr b="1"/>
              <a:t>60 trees</a:t>
            </a:r>
            <a:r>
              <a:rPr/>
              <a:t>: MSE rises back to 0.018, tracking noise, not signal</a:t>
            </a:r>
          </a:p>
        </p:txBody>
      </p:sp>
    </p:spTree>
  </p:cSld>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Classification: the same idea, a different gradient</a:t>
            </a:r>
          </a:p>
        </p:txBody>
      </p:sp>
      <p:sp>
        <p:nvSpPr>
          <p:cNvPr id="3" name="Content Placeholder 2"/>
          <p:cNvSpPr>
            <a:spLocks noGrp="1"/>
          </p:cNvSpPr>
          <p:nvPr>
            <p:ph idx="1"/>
          </p:nvPr>
        </p:nvSpPr>
        <p:spPr>
          <a:xfrm>
            <a:off x="457200" y="1200151"/>
            <a:ext cx="8229600" cy="3394472"/>
          </a:xfrm>
        </p:spPr>
        <p:txBody>
          <a:bodyPr/>
          <a:lstStyle/>
          <a:p>
            <a:pPr lvl="0"/>
            <a:r>
              <a:rPr/>
              <a:t>The label y is 0 or 1; the ensemble’s output becomes a probability, p = σ(F)</a:t>
            </a:r>
          </a:p>
          <a:p>
            <a:pPr lvl="0"/>
            <a:r>
              <a:rPr/>
              <a:t>The loss is </a:t>
            </a:r>
            <a:r>
              <a:rPr b="1"/>
              <a:t>log-loss</a:t>
            </a:r>
            <a:r>
              <a:rPr/>
              <a:t>: lesson 4’s loss for logistic regression</a:t>
            </a:r>
          </a:p>
          <a:p>
            <a:pPr lvl="0"/>
            <a:r>
              <a:rPr/>
              <a:t>The negative gradient, the </a:t>
            </a:r>
            <a:r>
              <a:rPr b="1"/>
              <a:t>pseudo-residual</a:t>
            </a:r>
            <a:r>
              <a:rPr/>
              <a:t> each tree fits, is y - p</a:t>
            </a:r>
          </a:p>
          <a:p>
            <a:pPr lvl="0"/>
            <a:r>
              <a:rPr/>
              <a:t>True label minus predicted probability: lesson 4’s error term exactly</a:t>
            </a:r>
          </a:p>
        </p:txBody>
      </p:sp>
    </p:spTree>
  </p:cSld>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On the loan data</a:t>
            </a:r>
          </a:p>
        </p:txBody>
      </p:sp>
      <p:sp>
        <p:nvSpPr>
          <p:cNvPr id="3" name="Content Placeholder 2"/>
          <p:cNvSpPr>
            <a:spLocks noGrp="1"/>
          </p:cNvSpPr>
          <p:nvPr>
            <p:ph idx="1"/>
          </p:nvPr>
        </p:nvSpPr>
        <p:spPr>
          <a:xfrm>
            <a:off x="457200" y="1200151"/>
            <a:ext cx="8229600" cy="3394472"/>
          </a:xfrm>
        </p:spPr>
        <p:txBody>
          <a:bodyPr/>
          <a:lstStyle/>
          <a:p>
            <a:pPr lvl="0"/>
            <a:r>
              <a:rPr>
                <a:latin typeface="Courier"/>
              </a:rPr>
              <a:t>GradientBoostingClassifier</a:t>
            </a:r>
            <a:r>
              <a:rPr/>
              <a:t>, defaults: </a:t>
            </a:r>
            <a:r>
              <a:rPr b="1"/>
              <a:t>100 trees</a:t>
            </a:r>
            <a:r>
              <a:rPr/>
              <a:t>, learning rate α = 0.1</a:t>
            </a:r>
          </a:p>
          <a:p>
            <a:pPr lvl="0"/>
            <a:r>
              <a:rPr/>
              <a:t>Reaches </a:t>
            </a:r>
            <a:r>
              <a:rPr b="1"/>
              <a:t>0.902 ± 0.020</a:t>
            </a:r>
            <a:r>
              <a:rPr/>
              <a:t> cross-validated accuracy</a:t>
            </a:r>
          </a:p>
          <a:p>
            <a:pPr lvl="0"/>
            <a:r>
              <a:rPr/>
              <a:t>Already ahead of any single tree from earlier in the lesson</a:t>
            </a:r>
          </a:p>
        </p:txBody>
      </p:sp>
    </p:spTree>
  </p:cSld>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Boosting never stops fitting on its own</a:t>
            </a:r>
          </a:p>
        </p:txBody>
      </p:sp>
      <p:graphicFrame>
        <p:nvGraphicFramePr>
          <p:cNvPr id="6" name="Content Placeholder 5"/>
          <p:cNvGraphicFramePr>
            <a:graphicFrameLocks noGrp="1"/>
          </p:cNvGraphicFramePr>
          <p:nvPr>
            <p:ph idx="1"/>
          </p:nvPr>
        </p:nvGraphicFramePr>
        <p:xfrm>
          <a:off x="457200" y="1193800"/>
          <a:ext cx="8229600" cy="3390900"/>
        </p:xfrm>
        <a:graphic>
          <a:graphicData uri="http://schemas.openxmlformats.org/drawingml/2006/table">
            <a:tbl>
              <a:tblPr firstRow="1" bandRow="1">
                <a:tableStyleId>{5C22544A-7EE6-4342-B048-85BDC9FD1C3A}</a:tableStyleId>
              </a:tblPr>
              <a:tblGrid>
                <a:gridCol w="2743200"/>
                <a:gridCol w="2743200"/>
                <a:gridCol w="2743200"/>
              </a:tblGrid>
              <a:tr h="0">
                <a:tc>
                  <a:txBody>
                    <a:bodyPr/>
                    <a:lstStyle/>
                    <a:p>
                      <a:pPr lvl="0" indent="0" marL="0">
                        <a:buNone/>
                      </a:pPr>
                      <a:r>
                        <a:rPr>
                          <a:latin typeface="Courier"/>
                        </a:rPr>
                        <a:t>n_estimators</a:t>
                      </a:r>
                      <a:r>
                        <a:rPr/>
                        <a:t> (α = 0.3)</a:t>
                      </a:r>
                    </a:p>
                  </a:txBody>
                  <a:tcPr/>
                </a:tc>
                <a:tc>
                  <a:txBody>
                    <a:bodyPr/>
                    <a:lstStyle/>
                    <a:p>
                      <a:pPr lvl="0" indent="0" marL="0">
                        <a:buNone/>
                      </a:pPr>
                      <a:r>
                        <a:rPr/>
                        <a:t>Training accuracy</a:t>
                      </a:r>
                    </a:p>
                  </a:txBody>
                  <a:tcPr/>
                </a:tc>
                <a:tc>
                  <a:txBody>
                    <a:bodyPr/>
                    <a:lstStyle/>
                    <a:p>
                      <a:pPr lvl="0" indent="0" marL="0">
                        <a:buNone/>
                      </a:pPr>
                      <a:r>
                        <a:rPr/>
                        <a:t>Cross-validated accuracy</a:t>
                      </a:r>
                    </a:p>
                  </a:txBody>
                  <a:tcPr/>
                </a:tc>
              </a:tr>
              <a:tr h="0">
                <a:tc>
                  <a:txBody>
                    <a:bodyPr/>
                    <a:lstStyle/>
                    <a:p>
                      <a:pPr lvl="0" indent="0" marL="0">
                        <a:buNone/>
                      </a:pPr>
                      <a:r>
                        <a:rPr/>
                        <a:t>5</a:t>
                      </a:r>
                    </a:p>
                  </a:txBody>
                </a:tc>
                <a:tc>
                  <a:txBody>
                    <a:bodyPr/>
                    <a:lstStyle/>
                    <a:p>
                      <a:pPr lvl="0" indent="0" marL="0">
                        <a:buNone/>
                      </a:pPr>
                      <a:r>
                        <a:rPr/>
                        <a:t>0.840</a:t>
                      </a:r>
                    </a:p>
                  </a:txBody>
                </a:tc>
                <a:tc>
                  <a:txBody>
                    <a:bodyPr/>
                    <a:lstStyle/>
                    <a:p>
                      <a:pPr lvl="0" indent="0" marL="0">
                        <a:buNone/>
                      </a:pPr>
                      <a:r>
                        <a:rPr/>
                        <a:t>0.846 ± 0.025</a:t>
                      </a:r>
                    </a:p>
                  </a:txBody>
                </a:tc>
              </a:tr>
              <a:tr h="0">
                <a:tc>
                  <a:txBody>
                    <a:bodyPr/>
                    <a:lstStyle/>
                    <a:p>
                      <a:pPr lvl="0" indent="0" marL="0">
                        <a:buNone/>
                      </a:pPr>
                      <a:r>
                        <a:rPr/>
                        <a:t>10</a:t>
                      </a:r>
                    </a:p>
                  </a:txBody>
                </a:tc>
                <a:tc>
                  <a:txBody>
                    <a:bodyPr/>
                    <a:lstStyle/>
                    <a:p>
                      <a:pPr lvl="0" indent="0" marL="0">
                        <a:buNone/>
                      </a:pPr>
                      <a:r>
                        <a:rPr/>
                        <a:t>0.888</a:t>
                      </a:r>
                    </a:p>
                  </a:txBody>
                </a:tc>
                <a:tc>
                  <a:txBody>
                    <a:bodyPr/>
                    <a:lstStyle/>
                    <a:p>
                      <a:pPr lvl="0" indent="0" marL="0">
                        <a:buNone/>
                      </a:pPr>
                      <a:r>
                        <a:rPr/>
                        <a:t>0.870 ± 0.024</a:t>
                      </a:r>
                    </a:p>
                  </a:txBody>
                </a:tc>
              </a:tr>
              <a:tr h="0">
                <a:tc>
                  <a:txBody>
                    <a:bodyPr/>
                    <a:lstStyle/>
                    <a:p>
                      <a:pPr lvl="0" indent="0" marL="0">
                        <a:buNone/>
                      </a:pPr>
                      <a:r>
                        <a:rPr/>
                        <a:t>20</a:t>
                      </a:r>
                    </a:p>
                  </a:txBody>
                </a:tc>
                <a:tc>
                  <a:txBody>
                    <a:bodyPr/>
                    <a:lstStyle/>
                    <a:p>
                      <a:pPr lvl="0" indent="0" marL="0">
                        <a:buNone/>
                      </a:pPr>
                      <a:r>
                        <a:rPr/>
                        <a:t>0.930</a:t>
                      </a:r>
                    </a:p>
                  </a:txBody>
                </a:tc>
                <a:tc>
                  <a:txBody>
                    <a:bodyPr/>
                    <a:lstStyle/>
                    <a:p>
                      <a:pPr lvl="0" indent="0" marL="0">
                        <a:buNone/>
                      </a:pPr>
                      <a:r>
                        <a:rPr/>
                        <a:t>0.895 ± 0.027</a:t>
                      </a:r>
                    </a:p>
                  </a:txBody>
                </a:tc>
              </a:tr>
              <a:tr h="0">
                <a:tc>
                  <a:txBody>
                    <a:bodyPr/>
                    <a:lstStyle/>
                    <a:p>
                      <a:pPr lvl="0" indent="0" marL="0">
                        <a:buNone/>
                      </a:pPr>
                      <a:r>
                        <a:rPr b="1"/>
                        <a:t>30</a:t>
                      </a:r>
                    </a:p>
                  </a:txBody>
                </a:tc>
                <a:tc>
                  <a:txBody>
                    <a:bodyPr/>
                    <a:lstStyle/>
                    <a:p>
                      <a:pPr lvl="0" indent="0" marL="0">
                        <a:buNone/>
                      </a:pPr>
                      <a:r>
                        <a:rPr/>
                        <a:t>0.948</a:t>
                      </a:r>
                    </a:p>
                  </a:txBody>
                </a:tc>
                <a:tc>
                  <a:txBody>
                    <a:bodyPr/>
                    <a:lstStyle/>
                    <a:p>
                      <a:pPr lvl="0" indent="0" marL="0">
                        <a:buNone/>
                      </a:pPr>
                      <a:r>
                        <a:rPr b="1"/>
                        <a:t>0.898 ± 0.020</a:t>
                      </a:r>
                    </a:p>
                  </a:txBody>
                </a:tc>
              </a:tr>
              <a:tr h="0">
                <a:tc>
                  <a:txBody>
                    <a:bodyPr/>
                    <a:lstStyle/>
                    <a:p>
                      <a:pPr lvl="0" indent="0" marL="0">
                        <a:buNone/>
                      </a:pPr>
                      <a:r>
                        <a:rPr/>
                        <a:t>80</a:t>
                      </a:r>
                    </a:p>
                  </a:txBody>
                </a:tc>
                <a:tc>
                  <a:txBody>
                    <a:bodyPr/>
                    <a:lstStyle/>
                    <a:p>
                      <a:pPr lvl="0" indent="0" marL="0">
                        <a:buNone/>
                      </a:pPr>
                      <a:r>
                        <a:rPr/>
                        <a:t>0.978</a:t>
                      </a:r>
                    </a:p>
                  </a:txBody>
                </a:tc>
                <a:tc>
                  <a:txBody>
                    <a:bodyPr/>
                    <a:lstStyle/>
                    <a:p>
                      <a:pPr lvl="0" indent="0" marL="0">
                        <a:buNone/>
                      </a:pPr>
                      <a:r>
                        <a:rPr/>
                        <a:t>0.893 ± 0.012</a:t>
                      </a:r>
                    </a:p>
                  </a:txBody>
                </a:tc>
              </a:tr>
              <a:tr h="0">
                <a:tc>
                  <a:txBody>
                    <a:bodyPr/>
                    <a:lstStyle/>
                    <a:p>
                      <a:pPr lvl="0" indent="0" marL="0">
                        <a:buNone/>
                      </a:pPr>
                      <a:r>
                        <a:rPr/>
                        <a:t>200</a:t>
                      </a:r>
                    </a:p>
                  </a:txBody>
                </a:tc>
                <a:tc>
                  <a:txBody>
                    <a:bodyPr/>
                    <a:lstStyle/>
                    <a:p>
                      <a:pPr lvl="0" indent="0" marL="0">
                        <a:buNone/>
                      </a:pPr>
                      <a:r>
                        <a:rPr/>
                        <a:t>1.000</a:t>
                      </a:r>
                    </a:p>
                  </a:txBody>
                </a:tc>
                <a:tc>
                  <a:txBody>
                    <a:bodyPr/>
                    <a:lstStyle/>
                    <a:p>
                      <a:pPr lvl="0" indent="0" marL="0">
                        <a:buNone/>
                      </a:pPr>
                      <a:r>
                        <a:rPr/>
                        <a:t>0.895 ± 0.017</a:t>
                      </a:r>
                    </a:p>
                  </a:txBody>
                </a:tc>
              </a:tr>
              <a:tr h="0">
                <a:tc>
                  <a:txBody>
                    <a:bodyPr/>
                    <a:lstStyle/>
                    <a:p>
                      <a:pPr lvl="0" indent="0" marL="0">
                        <a:buNone/>
                      </a:pPr>
                      <a:r>
                        <a:rPr/>
                        <a:t>800</a:t>
                      </a:r>
                    </a:p>
                  </a:txBody>
                </a:tc>
                <a:tc>
                  <a:txBody>
                    <a:bodyPr/>
                    <a:lstStyle/>
                    <a:p>
                      <a:pPr lvl="0" indent="0" marL="0">
                        <a:buNone/>
                      </a:pPr>
                      <a:r>
                        <a:rPr/>
                        <a:t>1.000</a:t>
                      </a:r>
                    </a:p>
                  </a:txBody>
                </a:tc>
                <a:tc>
                  <a:txBody>
                    <a:bodyPr/>
                    <a:lstStyle/>
                    <a:p>
                      <a:pPr lvl="0" indent="0" marL="0">
                        <a:buNone/>
                      </a:pPr>
                      <a:r>
                        <a:rPr/>
                        <a:t>0.890 ± 0.019</a:t>
                      </a:r>
                    </a:p>
                  </a:txBody>
                </a:tc>
              </a:tr>
            </a:tbl>
          </a:graphicData>
        </a:graphic>
      </p:graphicFrame>
    </p:spTree>
  </p:cSld>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Training climbs to 1.000 and stays; the honest curve turns over first</a:t>
            </a:r>
          </a:p>
        </p:txBody>
      </p:sp>
      <p:pic>
        <p:nvPicPr>
          <p:cNvPr descr="gbm_learning_curve.png" id="0" name="Picture 1"/>
          <p:cNvPicPr>
            <a:picLocks noGrp="1" noChangeAspect="1"/>
          </p:cNvPicPr>
          <p:nvPr/>
        </p:nvPicPr>
        <p:blipFill>
          <a:blip r:embed="rId3"/>
          <a:stretch>
            <a:fillRect/>
          </a:stretch>
        </p:blipFill>
        <p:spPr bwMode="auto">
          <a:xfrm>
            <a:off x="2130520" y="1166099"/>
            <a:ext cx="4882959" cy="3360181"/>
          </a:xfrm>
          <a:prstGeom prst="rect">
            <a:avLst/>
          </a:prstGeom>
          <a:noFill/>
          <a:ln w="9525">
            <a:noFill/>
            <a:headEnd/>
            <a:tailEnd/>
          </a:ln>
        </p:spPr>
      </p:pic>
    </p:spTree>
  </p:cSld>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Fixing 120 trees, varying only the learning rate</a:t>
            </a:r>
          </a:p>
        </p:txBody>
      </p:sp>
      <p:graphicFrame>
        <p:nvGraphicFramePr>
          <p:cNvPr id="6" name="Content Placeholder 5"/>
          <p:cNvGraphicFramePr>
            <a:graphicFrameLocks noGrp="1"/>
          </p:cNvGraphicFramePr>
          <p:nvPr>
            <p:ph idx="1"/>
          </p:nvPr>
        </p:nvGraphicFramePr>
        <p:xfrm>
          <a:off x="457200" y="1193800"/>
          <a:ext cx="8229600" cy="3390900"/>
        </p:xfrm>
        <a:graphic>
          <a:graphicData uri="http://schemas.openxmlformats.org/drawingml/2006/table">
            <a:tbl>
              <a:tblPr firstRow="1" bandRow="1">
                <a:tableStyleId>{5C22544A-7EE6-4342-B048-85BDC9FD1C3A}</a:tableStyleId>
              </a:tblPr>
              <a:tblGrid>
                <a:gridCol w="2743200"/>
                <a:gridCol w="2743200"/>
                <a:gridCol w="2743200"/>
              </a:tblGrid>
              <a:tr h="0">
                <a:tc>
                  <a:txBody>
                    <a:bodyPr/>
                    <a:lstStyle/>
                    <a:p>
                      <a:pPr lvl="0" indent="0" marL="0">
                        <a:buNone/>
                      </a:pPr>
                      <a:r>
                        <a:rPr/>
                        <a:t>Learning rate α</a:t>
                      </a:r>
                    </a:p>
                  </a:txBody>
                  <a:tcPr/>
                </a:tc>
                <a:tc>
                  <a:txBody>
                    <a:bodyPr/>
                    <a:lstStyle/>
                    <a:p>
                      <a:pPr lvl="0" indent="0" marL="0">
                        <a:buNone/>
                      </a:pPr>
                      <a:r>
                        <a:rPr/>
                        <a:t>Training accuracy</a:t>
                      </a:r>
                    </a:p>
                  </a:txBody>
                  <a:tcPr/>
                </a:tc>
                <a:tc>
                  <a:txBody>
                    <a:bodyPr/>
                    <a:lstStyle/>
                    <a:p>
                      <a:pPr lvl="0" indent="0" marL="0">
                        <a:buNone/>
                      </a:pPr>
                      <a:r>
                        <a:rPr/>
                        <a:t>Cross-validated accuracy</a:t>
                      </a:r>
                    </a:p>
                  </a:txBody>
                  <a:tcPr/>
                </a:tc>
              </a:tr>
              <a:tr h="0">
                <a:tc>
                  <a:txBody>
                    <a:bodyPr/>
                    <a:lstStyle/>
                    <a:p>
                      <a:pPr lvl="0" indent="0" marL="0">
                        <a:buNone/>
                      </a:pPr>
                      <a:r>
                        <a:rPr/>
                        <a:t>0.02</a:t>
                      </a:r>
                    </a:p>
                  </a:txBody>
                </a:tc>
                <a:tc>
                  <a:txBody>
                    <a:bodyPr/>
                    <a:lstStyle/>
                    <a:p>
                      <a:pPr lvl="0" indent="0" marL="0">
                        <a:buNone/>
                      </a:pPr>
                      <a:r>
                        <a:rPr/>
                        <a:t>0.888</a:t>
                      </a:r>
                    </a:p>
                  </a:txBody>
                </a:tc>
                <a:tc>
                  <a:txBody>
                    <a:bodyPr/>
                    <a:lstStyle/>
                    <a:p>
                      <a:pPr lvl="0" indent="0" marL="0">
                        <a:buNone/>
                      </a:pPr>
                      <a:r>
                        <a:rPr/>
                        <a:t>0.872 ± 0.025</a:t>
                      </a:r>
                    </a:p>
                  </a:txBody>
                </a:tc>
              </a:tr>
              <a:tr h="0">
                <a:tc>
                  <a:txBody>
                    <a:bodyPr/>
                    <a:lstStyle/>
                    <a:p>
                      <a:pPr lvl="0" indent="0" marL="0">
                        <a:buNone/>
                      </a:pPr>
                      <a:r>
                        <a:rPr/>
                        <a:t>0.05</a:t>
                      </a:r>
                    </a:p>
                  </a:txBody>
                </a:tc>
                <a:tc>
                  <a:txBody>
                    <a:bodyPr/>
                    <a:lstStyle/>
                    <a:p>
                      <a:pPr lvl="0" indent="0" marL="0">
                        <a:buNone/>
                      </a:pPr>
                      <a:r>
                        <a:rPr/>
                        <a:t>0.914</a:t>
                      </a:r>
                    </a:p>
                  </a:txBody>
                </a:tc>
                <a:tc>
                  <a:txBody>
                    <a:bodyPr/>
                    <a:lstStyle/>
                    <a:p>
                      <a:pPr lvl="0" indent="0" marL="0">
                        <a:buNone/>
                      </a:pPr>
                      <a:r>
                        <a:rPr/>
                        <a:t>0.897 ± 0.022</a:t>
                      </a:r>
                    </a:p>
                  </a:txBody>
                </a:tc>
              </a:tr>
              <a:tr h="0">
                <a:tc>
                  <a:txBody>
                    <a:bodyPr/>
                    <a:lstStyle/>
                    <a:p>
                      <a:pPr lvl="0" indent="0" marL="0">
                        <a:buNone/>
                      </a:pPr>
                      <a:r>
                        <a:rPr b="1"/>
                        <a:t>0.10</a:t>
                      </a:r>
                    </a:p>
                  </a:txBody>
                </a:tc>
                <a:tc>
                  <a:txBody>
                    <a:bodyPr/>
                    <a:lstStyle/>
                    <a:p>
                      <a:pPr lvl="0" indent="0" marL="0">
                        <a:buNone/>
                      </a:pPr>
                      <a:r>
                        <a:rPr/>
                        <a:t>0.939</a:t>
                      </a:r>
                    </a:p>
                  </a:txBody>
                </a:tc>
                <a:tc>
                  <a:txBody>
                    <a:bodyPr/>
                    <a:lstStyle/>
                    <a:p>
                      <a:pPr lvl="0" indent="0" marL="0">
                        <a:buNone/>
                      </a:pPr>
                      <a:r>
                        <a:rPr b="1"/>
                        <a:t>0.902 ± 0.022</a:t>
                      </a:r>
                    </a:p>
                  </a:txBody>
                </a:tc>
              </a:tr>
              <a:tr h="0">
                <a:tc>
                  <a:txBody>
                    <a:bodyPr/>
                    <a:lstStyle/>
                    <a:p>
                      <a:pPr lvl="0" indent="0" marL="0">
                        <a:buNone/>
                      </a:pPr>
                      <a:r>
                        <a:rPr/>
                        <a:t>0.30</a:t>
                      </a:r>
                    </a:p>
                  </a:txBody>
                </a:tc>
                <a:tc>
                  <a:txBody>
                    <a:bodyPr/>
                    <a:lstStyle/>
                    <a:p>
                      <a:pPr lvl="0" indent="0" marL="0">
                        <a:buNone/>
                      </a:pPr>
                      <a:r>
                        <a:rPr/>
                        <a:t>0.994</a:t>
                      </a:r>
                    </a:p>
                  </a:txBody>
                </a:tc>
                <a:tc>
                  <a:txBody>
                    <a:bodyPr/>
                    <a:lstStyle/>
                    <a:p>
                      <a:pPr lvl="0" indent="0" marL="0">
                        <a:buNone/>
                      </a:pPr>
                      <a:r>
                        <a:rPr/>
                        <a:t>0.895 ± 0.020</a:t>
                      </a:r>
                    </a:p>
                  </a:txBody>
                </a:tc>
              </a:tr>
              <a:tr h="0">
                <a:tc>
                  <a:txBody>
                    <a:bodyPr/>
                    <a:lstStyle/>
                    <a:p>
                      <a:pPr lvl="0" indent="0" marL="0">
                        <a:buNone/>
                      </a:pPr>
                      <a:r>
                        <a:rPr/>
                        <a:t>1.00</a:t>
                      </a:r>
                    </a:p>
                  </a:txBody>
                </a:tc>
                <a:tc>
                  <a:txBody>
                    <a:bodyPr/>
                    <a:lstStyle/>
                    <a:p>
                      <a:pPr lvl="0" indent="0" marL="0">
                        <a:buNone/>
                      </a:pPr>
                      <a:r>
                        <a:rPr/>
                        <a:t>1.000</a:t>
                      </a:r>
                    </a:p>
                  </a:txBody>
                </a:tc>
                <a:tc>
                  <a:txBody>
                    <a:bodyPr/>
                    <a:lstStyle/>
                    <a:p>
                      <a:pPr lvl="0" indent="0" marL="0">
                        <a:buNone/>
                      </a:pPr>
                      <a:r>
                        <a:rPr/>
                        <a:t>0.878 ± 0.020</a:t>
                      </a:r>
                    </a:p>
                  </a:txBody>
                </a:tc>
              </a:tr>
            </a:tbl>
          </a:graphicData>
        </a:graphic>
      </p:graphicFrame>
    </p:spTree>
  </p:cSld>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Notebook 3, live</a:t>
            </a:r>
          </a:p>
        </p:txBody>
      </p:sp>
      <p:sp>
        <p:nvSpPr>
          <p:cNvPr id="3" name="Content Placeholder 2"/>
          <p:cNvSpPr>
            <a:spLocks noGrp="1"/>
          </p:cNvSpPr>
          <p:nvPr>
            <p:ph idx="1"/>
          </p:nvPr>
        </p:nvSpPr>
        <p:spPr>
          <a:xfrm>
            <a:off x="457200" y="1200151"/>
            <a:ext cx="8229600" cy="3394472"/>
          </a:xfrm>
        </p:spPr>
        <p:txBody>
          <a:bodyPr/>
          <a:lstStyle/>
          <a:p>
            <a:pPr lvl="0"/>
            <a:r>
              <a:rPr/>
              <a:t>Boosting from scratch on residuals, and against scikit-learn</a:t>
            </a:r>
          </a:p>
          <a:p>
            <a:pPr lvl="0"/>
            <a:r>
              <a:rPr/>
              <a:t>The classification pseudo-residual, and the learning-rate sweep</a:t>
            </a:r>
          </a:p>
        </p:txBody>
      </p:sp>
    </p:spTree>
  </p:cSld>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Every method, on the same five folds</a:t>
            </a:r>
          </a:p>
        </p:txBody>
      </p:sp>
      <p:graphicFrame>
        <p:nvGraphicFramePr>
          <p:cNvPr id="6" name="Content Placeholder 5"/>
          <p:cNvGraphicFramePr>
            <a:graphicFrameLocks noGrp="1"/>
          </p:cNvGraphicFramePr>
          <p:nvPr>
            <p:ph idx="1"/>
          </p:nvPr>
        </p:nvGraphicFramePr>
        <p:xfrm>
          <a:off x="457200" y="1193800"/>
          <a:ext cx="8229600" cy="3390900"/>
        </p:xfrm>
        <a:graphic>
          <a:graphicData uri="http://schemas.openxmlformats.org/drawingml/2006/table">
            <a:tbl>
              <a:tblPr firstRow="1" bandRow="1">
                <a:tableStyleId>{5C22544A-7EE6-4342-B048-85BDC9FD1C3A}</a:tableStyleId>
              </a:tblPr>
              <a:tblGrid>
                <a:gridCol w="4114800"/>
                <a:gridCol w="4114800"/>
              </a:tblGrid>
              <a:tr h="0">
                <a:tc>
                  <a:txBody>
                    <a:bodyPr/>
                    <a:lstStyle/>
                    <a:p>
                      <a:pPr lvl="0" indent="0" marL="0">
                        <a:buNone/>
                      </a:pPr>
                      <a:r>
                        <a:rPr/>
                        <a:t>Model</a:t>
                      </a:r>
                    </a:p>
                  </a:txBody>
                  <a:tcPr/>
                </a:tc>
                <a:tc>
                  <a:txBody>
                    <a:bodyPr/>
                    <a:lstStyle/>
                    <a:p>
                      <a:pPr lvl="0" indent="0" marL="0">
                        <a:buNone/>
                      </a:pPr>
                      <a:r>
                        <a:rPr/>
                        <a:t>Cross-validated accuracy</a:t>
                      </a:r>
                    </a:p>
                  </a:txBody>
                  <a:tcPr/>
                </a:tc>
              </a:tr>
              <a:tr h="0">
                <a:tc>
                  <a:txBody>
                    <a:bodyPr/>
                    <a:lstStyle/>
                    <a:p>
                      <a:pPr lvl="0" indent="0" marL="0">
                        <a:buNone/>
                      </a:pPr>
                      <a:r>
                        <a:rPr/>
                        <a:t>Majority baseline</a:t>
                      </a:r>
                    </a:p>
                  </a:txBody>
                </a:tc>
                <a:tc>
                  <a:txBody>
                    <a:bodyPr/>
                    <a:lstStyle/>
                    <a:p>
                      <a:pPr lvl="0" indent="0" marL="0">
                        <a:buNone/>
                      </a:pPr>
                      <a:r>
                        <a:rPr/>
                        <a:t>0.613</a:t>
                      </a:r>
                    </a:p>
                  </a:txBody>
                </a:tc>
              </a:tr>
              <a:tr h="0">
                <a:tc>
                  <a:txBody>
                    <a:bodyPr/>
                    <a:lstStyle/>
                    <a:p>
                      <a:pPr lvl="0" indent="0" marL="0">
                        <a:buNone/>
                      </a:pPr>
                      <a:r>
                        <a:rPr/>
                        <a:t>Logistic regression</a:t>
                      </a:r>
                    </a:p>
                  </a:txBody>
                </a:tc>
                <a:tc>
                  <a:txBody>
                    <a:bodyPr/>
                    <a:lstStyle/>
                    <a:p>
                      <a:pPr lvl="0" indent="0" marL="0">
                        <a:buNone/>
                      </a:pPr>
                      <a:r>
                        <a:rPr/>
                        <a:t>0.748</a:t>
                      </a:r>
                    </a:p>
                  </a:txBody>
                </a:tc>
              </a:tr>
              <a:tr h="0">
                <a:tc>
                  <a:txBody>
                    <a:bodyPr/>
                    <a:lstStyle/>
                    <a:p>
                      <a:pPr lvl="0" indent="0" marL="0">
                        <a:buNone/>
                      </a:pPr>
                      <a:r>
                        <a:rPr/>
                        <a:t>Single tree, unconstrained</a:t>
                      </a:r>
                    </a:p>
                  </a:txBody>
                </a:tc>
                <a:tc>
                  <a:txBody>
                    <a:bodyPr/>
                    <a:lstStyle/>
                    <a:p>
                      <a:pPr lvl="0" indent="0" marL="0">
                        <a:buNone/>
                      </a:pPr>
                      <a:r>
                        <a:rPr/>
                        <a:t>0.852</a:t>
                      </a:r>
                    </a:p>
                  </a:txBody>
                </a:tc>
              </a:tr>
              <a:tr h="0">
                <a:tc>
                  <a:txBody>
                    <a:bodyPr/>
                    <a:lstStyle/>
                    <a:p>
                      <a:pPr lvl="0" indent="0" marL="0">
                        <a:buNone/>
                      </a:pPr>
                      <a:r>
                        <a:rPr/>
                        <a:t>Single tree, </a:t>
                      </a:r>
                      <a:r>
                        <a:rPr>
                          <a:latin typeface="Courier"/>
                        </a:rPr>
                        <a:t>max_depth = 8</a:t>
                      </a:r>
                    </a:p>
                  </a:txBody>
                </a:tc>
                <a:tc>
                  <a:txBody>
                    <a:bodyPr/>
                    <a:lstStyle/>
                    <a:p>
                      <a:pPr lvl="0" indent="0" marL="0">
                        <a:buNone/>
                      </a:pPr>
                      <a:r>
                        <a:rPr/>
                        <a:t>0.883</a:t>
                      </a:r>
                    </a:p>
                  </a:txBody>
                </a:tc>
              </a:tr>
              <a:tr h="0">
                <a:tc>
                  <a:txBody>
                    <a:bodyPr/>
                    <a:lstStyle/>
                    <a:p>
                      <a:pPr lvl="0" indent="0" marL="0">
                        <a:buNone/>
                      </a:pPr>
                      <a:r>
                        <a:rPr/>
                        <a:t>Gradient boosting, 30 trees</a:t>
                      </a:r>
                    </a:p>
                  </a:txBody>
                </a:tc>
                <a:tc>
                  <a:txBody>
                    <a:bodyPr/>
                    <a:lstStyle/>
                    <a:p>
                      <a:pPr lvl="0" indent="0" marL="0">
                        <a:buNone/>
                      </a:pPr>
                      <a:r>
                        <a:rPr/>
                        <a:t>0.898</a:t>
                      </a:r>
                    </a:p>
                  </a:txBody>
                </a:tc>
              </a:tr>
              <a:tr h="0">
                <a:tc>
                  <a:txBody>
                    <a:bodyPr/>
                    <a:lstStyle/>
                    <a:p>
                      <a:pPr lvl="0" indent="0" marL="0">
                        <a:buNone/>
                      </a:pPr>
                      <a:r>
                        <a:rPr/>
                        <a:t>Bagging, 100 trees</a:t>
                      </a:r>
                    </a:p>
                  </a:txBody>
                </a:tc>
                <a:tc>
                  <a:txBody>
                    <a:bodyPr/>
                    <a:lstStyle/>
                    <a:p>
                      <a:pPr lvl="0" indent="0" marL="0">
                        <a:buNone/>
                      </a:pPr>
                      <a:r>
                        <a:rPr/>
                        <a:t>0.904</a:t>
                      </a:r>
                    </a:p>
                  </a:txBody>
                </a:tc>
              </a:tr>
              <a:tr h="0">
                <a:tc>
                  <a:txBody>
                    <a:bodyPr/>
                    <a:lstStyle/>
                    <a:p>
                      <a:pPr lvl="0" indent="0" marL="0">
                        <a:buNone/>
                      </a:pPr>
                      <a:r>
                        <a:rPr b="1"/>
                        <a:t>Random forest, 100 trees</a:t>
                      </a:r>
                    </a:p>
                  </a:txBody>
                </a:tc>
                <a:tc>
                  <a:txBody>
                    <a:bodyPr/>
                    <a:lstStyle/>
                    <a:p>
                      <a:pPr lvl="0" indent="0" marL="0">
                        <a:buNone/>
                      </a:pPr>
                      <a:r>
                        <a:rPr b="1"/>
                        <a:t>0.911</a:t>
                      </a:r>
                    </a:p>
                  </a:txBody>
                </a:tc>
              </a:tr>
              <a:tr h="0">
                <a:tc>
                  <a:txBody>
                    <a:bodyPr/>
                    <a:lstStyle/>
                    <a:p>
                      <a:pPr lvl="0" indent="0" marL="0">
                        <a:buNone/>
                      </a:pPr>
                      <a:r>
                        <a:rPr i="1"/>
                        <a:t>noise ceiling</a:t>
                      </a:r>
                    </a:p>
                  </a:txBody>
                </a:tc>
                <a:tc>
                  <a:txBody>
                    <a:bodyPr/>
                    <a:lstStyle/>
                    <a:p>
                      <a:pPr lvl="0" indent="0" marL="0">
                        <a:buNone/>
                      </a:pPr>
                      <a:r>
                        <a:rPr i="1"/>
                        <a:t>≈ 0.93</a:t>
                      </a:r>
                    </a:p>
                  </a:txBody>
                </a:tc>
              </a:tr>
            </a:tbl>
          </a:graphicData>
        </a:graphic>
      </p:graphicFrame>
    </p:spTree>
  </p:cSld>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Three findings</a:t>
            </a:r>
          </a:p>
        </p:txBody>
      </p:sp>
      <p:sp>
        <p:nvSpPr>
          <p:cNvPr id="3" name="Content Placeholder 2"/>
          <p:cNvSpPr>
            <a:spLocks noGrp="1"/>
          </p:cNvSpPr>
          <p:nvPr>
            <p:ph idx="1"/>
          </p:nvPr>
        </p:nvSpPr>
        <p:spPr>
          <a:xfrm>
            <a:off x="457200" y="1200151"/>
            <a:ext cx="8229600" cy="3394472"/>
          </a:xfrm>
        </p:spPr>
        <p:txBody>
          <a:bodyPr/>
          <a:lstStyle/>
          <a:p>
            <a:pPr lvl="0"/>
            <a:r>
              <a:rPr/>
              <a:t>Every ensemble lands within a point and a half of the others: </a:t>
            </a:r>
            <a:r>
              <a:rPr b="1"/>
              <a:t>which strategy</a:t>
            </a:r>
            <a:r>
              <a:rPr/>
              <a:t> matters far less than </a:t>
            </a:r>
            <a:r>
              <a:rPr b="1"/>
              <a:t>whether you ensemble at all</a:t>
            </a:r>
          </a:p>
          <a:p>
            <a:pPr lvl="0"/>
            <a:r>
              <a:rPr/>
              <a:t>The tuned single tree is close behind, 0.883 against 0.911, and the only model here a person can read</a:t>
            </a:r>
          </a:p>
          <a:p>
            <a:pPr lvl="0"/>
            <a:r>
              <a:rPr/>
              <a:t>The </a:t>
            </a:r>
            <a:r>
              <a:rPr b="1"/>
              <a:t>unconstrained tree is the worst model on the list</a:t>
            </a:r>
            <a:r>
              <a:rPr/>
              <a:t>, despite being the most flexible one</a:t>
            </a:r>
          </a:p>
        </p:txBody>
      </p:sp>
    </p:spTree>
  </p:cSld>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How to choose, in practice</a:t>
            </a:r>
          </a:p>
        </p:txBody>
      </p:sp>
      <p:graphicFrame>
        <p:nvGraphicFramePr>
          <p:cNvPr id="6" name="Content Placeholder 5"/>
          <p:cNvGraphicFramePr>
            <a:graphicFrameLocks noGrp="1"/>
          </p:cNvGraphicFramePr>
          <p:nvPr>
            <p:ph idx="1"/>
          </p:nvPr>
        </p:nvGraphicFramePr>
        <p:xfrm>
          <a:off x="457200" y="1193800"/>
          <a:ext cx="8229600" cy="3390900"/>
        </p:xfrm>
        <a:graphic>
          <a:graphicData uri="http://schemas.openxmlformats.org/drawingml/2006/table">
            <a:tbl>
              <a:tblPr firstRow="1" bandRow="1">
                <a:tableStyleId>{5C22544A-7EE6-4342-B048-85BDC9FD1C3A}</a:tableStyleId>
              </a:tblPr>
              <a:tblGrid>
                <a:gridCol w="4114800"/>
                <a:gridCol w="4114800"/>
              </a:tblGrid>
              <a:tr h="0">
                <a:tc>
                  <a:txBody>
                    <a:bodyPr/>
                    <a:lstStyle/>
                    <a:p>
                      <a:pPr lvl="0" indent="0" marL="0">
                        <a:buNone/>
                      </a:pPr>
                      <a:r>
                        <a:rPr/>
                        <a:t>Situation</a:t>
                      </a:r>
                    </a:p>
                  </a:txBody>
                  <a:tcPr/>
                </a:tc>
                <a:tc>
                  <a:txBody>
                    <a:bodyPr/>
                    <a:lstStyle/>
                    <a:p>
                      <a:pPr lvl="0" indent="0" marL="0">
                        <a:buNone/>
                      </a:pPr>
                      <a:r>
                        <a:rPr/>
                        <a:t>Reach for</a:t>
                      </a:r>
                    </a:p>
                  </a:txBody>
                  <a:tcPr/>
                </a:tc>
              </a:tr>
              <a:tr h="0">
                <a:tc>
                  <a:txBody>
                    <a:bodyPr/>
                    <a:lstStyle/>
                    <a:p>
                      <a:pPr lvl="0" indent="0" marL="0">
                        <a:buNone/>
                      </a:pPr>
                      <a:r>
                        <a:rPr/>
                        <a:t>The decision must be explained to the person it affects</a:t>
                      </a:r>
                    </a:p>
                  </a:txBody>
                </a:tc>
                <a:tc>
                  <a:txBody>
                    <a:bodyPr/>
                    <a:lstStyle/>
                    <a:p>
                      <a:pPr lvl="0" indent="0" marL="0">
                        <a:buNone/>
                      </a:pPr>
                      <a:r>
                        <a:rPr/>
                        <a:t>A single tree, depth-tuned, or nothing on this list</a:t>
                      </a:r>
                    </a:p>
                  </a:txBody>
                </a:tc>
              </a:tr>
              <a:tr h="0">
                <a:tc>
                  <a:txBody>
                    <a:bodyPr/>
                    <a:lstStyle/>
                    <a:p>
                      <a:pPr lvl="0" indent="0" marL="0">
                        <a:buNone/>
                      </a:pPr>
                      <a:r>
                        <a:rPr/>
                        <a:t>Tabular data, accuracy matters most, no explanation required</a:t>
                      </a:r>
                    </a:p>
                  </a:txBody>
                </a:tc>
                <a:tc>
                  <a:txBody>
                    <a:bodyPr/>
                    <a:lstStyle/>
                    <a:p>
                      <a:pPr lvl="0" indent="0" marL="0">
                        <a:buNone/>
                      </a:pPr>
                      <a:r>
                        <a:rPr/>
                        <a:t>A random forest, as a strong and low-effort default</a:t>
                      </a:r>
                    </a:p>
                  </a:txBody>
                </a:tc>
              </a:tr>
              <a:tr h="0">
                <a:tc>
                  <a:txBody>
                    <a:bodyPr/>
                    <a:lstStyle/>
                    <a:p>
                      <a:pPr lvl="0" indent="0" marL="0">
                        <a:buNone/>
                      </a:pPr>
                      <a:r>
                        <a:rPr/>
                        <a:t>Training time matters, or the signal needs sequential refinement</a:t>
                      </a:r>
                    </a:p>
                  </a:txBody>
                </a:tc>
                <a:tc>
                  <a:txBody>
                    <a:bodyPr/>
                    <a:lstStyle/>
                    <a:p>
                      <a:pPr lvl="0" indent="0" marL="0">
                        <a:buNone/>
                      </a:pPr>
                      <a:r>
                        <a:rPr/>
                        <a:t>Gradient boosting, tuned on a validation set</a:t>
                      </a:r>
                    </a:p>
                  </a:txBody>
                </a:tc>
              </a:tr>
              <a:tr h="0">
                <a:tc>
                  <a:txBody>
                    <a:bodyPr/>
                    <a:lstStyle/>
                    <a:p>
                      <a:pPr lvl="0" indent="0" marL="0">
                        <a:buNone/>
                      </a:pPr>
                      <a:r>
                        <a:rPr/>
                        <a:t>Very high-dimensional, few informative columns</a:t>
                      </a:r>
                    </a:p>
                  </a:txBody>
                </a:tc>
                <a:tc>
                  <a:txBody>
                    <a:bodyPr/>
                    <a:lstStyle/>
                    <a:p>
                      <a:pPr lvl="0" indent="0" marL="0">
                        <a:buNone/>
                      </a:pPr>
                      <a:r>
                        <a:rPr/>
                        <a:t>Any tree method, cautiously</a:t>
                      </a:r>
                    </a:p>
                  </a:txBody>
                </a:tc>
              </a:tr>
              <a:tr h="0">
                <a:tc>
                  <a:txBody>
                    <a:bodyPr/>
                    <a:lstStyle/>
                    <a:p>
                      <a:pPr lvl="0" indent="0" marL="0">
                        <a:buNone/>
                      </a:pPr>
                      <a:r>
                        <a:rPr/>
                        <a:t>Rows only, and OOB score suffices for validation</a:t>
                      </a:r>
                    </a:p>
                  </a:txBody>
                </a:tc>
                <a:tc>
                  <a:txBody>
                    <a:bodyPr/>
                    <a:lstStyle/>
                    <a:p>
                      <a:pPr lvl="0" indent="0" marL="0">
                        <a:buNone/>
                      </a:pPr>
                      <a:r>
                        <a:rPr/>
                        <a:t>A random forest, no explicit train/test split needed</a:t>
                      </a:r>
                    </a:p>
                  </a:txBody>
                </a:tc>
              </a:tr>
            </a:tbl>
          </a:graphicData>
        </a:graphic>
      </p:graphicFrame>
    </p:spTree>
  </p:cSld>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54% of the importance landed on noise</a:t>
            </a:r>
          </a:p>
        </p:txBody>
      </p:sp>
      <p:sp>
        <p:nvSpPr>
          <p:cNvPr id="3" name="Content Placeholder 2"/>
          <p:cNvSpPr>
            <a:spLocks noGrp="1"/>
          </p:cNvSpPr>
          <p:nvPr>
            <p:ph idx="1"/>
          </p:nvPr>
        </p:nvSpPr>
        <p:spPr>
          <a:xfrm>
            <a:off x="457200" y="1200151"/>
            <a:ext cx="8229600" cy="3394472"/>
          </a:xfrm>
        </p:spPr>
        <p:txBody>
          <a:bodyPr/>
          <a:lstStyle/>
          <a:p>
            <a:pPr lvl="0"/>
            <a:r>
              <a:rPr/>
              <a:t>20 noise columns, 2 real features: not a small effect, and not a bug</a:t>
            </a:r>
          </a:p>
          <a:p>
            <a:pPr lvl="0"/>
            <a:r>
              <a:rPr/>
              <a:t>The same restriction that </a:t>
            </a:r>
            <a:r>
              <a:rPr b="1"/>
              <a:t>decorrelates</a:t>
            </a:r>
            <a:r>
              <a:rPr/>
              <a:t> the trees occasionally hands a split to noise instead</a:t>
            </a:r>
          </a:p>
          <a:p>
            <a:pPr lvl="0"/>
            <a:r>
              <a:rPr/>
              <a:t>Averaging reduces </a:t>
            </a:r>
            <a:r>
              <a:rPr b="1"/>
              <a:t>variance of the prediction</a:t>
            </a:r>
            <a:r>
              <a:rPr/>
              <a:t>; it does </a:t>
            </a:r>
            <a:r>
              <a:rPr b="1"/>
              <a:t>not</a:t>
            </a:r>
            <a:r>
              <a:rPr/>
              <a:t> guarantee small importance for irrelevant columns</a:t>
            </a:r>
          </a:p>
          <a:p>
            <a:pPr lvl="0"/>
            <a:r>
              <a:rPr/>
              <a:t>The fix: cross-check against permutation importance on held-out data</a:t>
            </a:r>
          </a:p>
        </p:txBody>
      </p:sp>
    </p:spTree>
  </p:cSld>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to take away</a:t>
            </a:r>
          </a:p>
        </p:txBody>
      </p:sp>
      <p:sp>
        <p:nvSpPr>
          <p:cNvPr id="3" name="Content Placeholder 2"/>
          <p:cNvSpPr>
            <a:spLocks noGrp="1"/>
          </p:cNvSpPr>
          <p:nvPr>
            <p:ph idx="1"/>
          </p:nvPr>
        </p:nvSpPr>
        <p:spPr>
          <a:xfrm>
            <a:off x="457200" y="1200151"/>
            <a:ext cx="8229600" cy="3394472"/>
          </a:xfrm>
        </p:spPr>
        <p:txBody>
          <a:bodyPr/>
          <a:lstStyle/>
          <a:p>
            <a:pPr lvl="0"/>
            <a:r>
              <a:rPr/>
              <a:t>A tree splits greedily on Gini impurity, matching scikit-learn</a:t>
            </a:r>
          </a:p>
          <a:p>
            <a:pPr lvl="0"/>
            <a:r>
              <a:rPr/>
              <a:t>Depth is the bias-variance dial: accuracy peaked at </a:t>
            </a:r>
            <a:r>
              <a:rPr b="1"/>
              <a:t>depth 8</a:t>
            </a:r>
          </a:p>
          <a:p>
            <a:pPr lvl="0"/>
            <a:r>
              <a:rPr/>
              <a:t>Bootstrap resampling leaves </a:t>
            </a:r>
            <a:r>
              <a:rPr b="1"/>
              <a:t>36.8%</a:t>
            </a:r>
            <a:r>
              <a:rPr/>
              <a:t> of rows out-of-bag: free validation</a:t>
            </a:r>
          </a:p>
          <a:p>
            <a:pPr lvl="0"/>
            <a:r>
              <a:rPr b="1"/>
              <a:t>54% of a random forest’s importance landed on 20 noise columns</a:t>
            </a:r>
            <a:r>
              <a:rPr/>
              <a:t>, today’s number</a:t>
            </a:r>
          </a:p>
        </p:txBody>
      </p:sp>
    </p:spTree>
  </p:cSld>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Homework</a:t>
            </a:r>
          </a:p>
        </p:txBody>
      </p:sp>
      <p:sp>
        <p:nvSpPr>
          <p:cNvPr id="3" name="Content Placeholder 2"/>
          <p:cNvSpPr>
            <a:spLocks noGrp="1"/>
          </p:cNvSpPr>
          <p:nvPr>
            <p:ph idx="1"/>
          </p:nvPr>
        </p:nvSpPr>
        <p:spPr>
          <a:xfrm>
            <a:off x="457200" y="1200151"/>
            <a:ext cx="8229600" cy="3394472"/>
          </a:xfrm>
        </p:spPr>
        <p:txBody>
          <a:bodyPr/>
          <a:lstStyle/>
          <a:p>
            <a:pPr lvl="0"/>
            <a:r>
              <a:rPr b="1"/>
              <a:t>Exercise 7</a:t>
            </a:r>
            <a:r>
              <a:rPr/>
              <a:t>, due </a:t>
            </a:r>
            <a:r>
              <a:rPr b="1"/>
              <a:t>Friday 13 November 2026, 23:59</a:t>
            </a:r>
          </a:p>
          <a:p>
            <a:pPr lvl="0"/>
            <a:r>
              <a:rPr>
                <a:latin typeface="Courier"/>
              </a:rPr>
              <a:t>Exercises/07_trees_and_ensembles.md</a:t>
            </a:r>
          </a:p>
        </p:txBody>
      </p:sp>
    </p:spTree>
  </p:cSld>
</p:sld>
</file>

<file path=ppt/theme/theme1.xml><?xml version="1.0" encoding="utf-8"?>
<a:theme xmlns:a="http://schemas.openxmlformats.org/drawingml/2006/main" name="Office Theme">
  <a:themeElements>
    <a:clrScheme name="Office">
      <a:dk1>
        <a:sysClr val="windowText" lastClr="1A1A1A"/>
      </a:dk1>
      <a:lt1>
        <a:sysClr val="window" lastClr="FFFFFF"/>
      </a:lt1>
      <a:dk2>
        <a:srgbClr val="1F497D"/>
      </a:dk2>
      <a:lt2>
        <a:srgbClr val="EEECE1"/>
      </a:lt2>
      <a:accent1>
        <a:srgbClr val="1F4E79"/>
      </a:accent1>
      <a:accent2>
        <a:srgbClr val="2E7D8A"/>
      </a:accent2>
      <a:accent3>
        <a:srgbClr val="F0BE50"/>
      </a:accent3>
      <a:accent4>
        <a:srgbClr val="4A5568"/>
      </a:accent4>
      <a:accent5>
        <a:srgbClr val="9C4221"/>
      </a:accent5>
      <a:accent6>
        <a:srgbClr val="1A1A1A"/>
      </a:accent6>
      <a:hlink>
        <a:srgbClr val="0000FF"/>
      </a:hlink>
      <a:folHlink>
        <a:srgbClr val="800080"/>
      </a:folHlink>
    </a:clrScheme>
    <a:fontScheme name="Office">
      <a:majorFont>
        <a:latin typeface="Segoe UI Semibold"/>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Segoe U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1A1A1A"/>
      </a:dk1>
      <a:lt1>
        <a:sysClr val="window" lastClr="FFFFFF"/>
      </a:lt1>
      <a:dk2>
        <a:srgbClr val="44546A"/>
      </a:dk2>
      <a:lt2>
        <a:srgbClr val="E7E6E6"/>
      </a:lt2>
      <a:accent1>
        <a:srgbClr val="1F4E79"/>
      </a:accent1>
      <a:accent2>
        <a:srgbClr val="2E7D8A"/>
      </a:accent2>
      <a:accent3>
        <a:srgbClr val="F0BE50"/>
      </a:accent3>
      <a:accent4>
        <a:srgbClr val="4A5568"/>
      </a:accent4>
      <a:accent5>
        <a:srgbClr val="9C4221"/>
      </a:accent5>
      <a:accent6>
        <a:srgbClr val="1A1A1A"/>
      </a:accent6>
      <a:hlink>
        <a:srgbClr val="0563C1"/>
      </a:hlink>
      <a:folHlink>
        <a:srgbClr val="954F72"/>
      </a:folHlink>
    </a:clrScheme>
    <a:fontScheme name="Office">
      <a:majorFont>
        <a:latin typeface="Segoe UI Semibold"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Segoe U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Lesson 7: Trees and Ensembles</dc:title>
  <dc:creator>Fabio Antonini, Università degli Studi dell’Aquila</dc:creator>
  <cp:keywords/>
  <dcterms:created xsi:type="dcterms:W3CDTF">1980-01-01T00:00:00Z</dcterms:created>
  <dcterms:modified xsi:type="dcterms:W3CDTF">1980-01-01T00:00:00Z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date">
    <vt:lpwstr>6 November 2026</vt:lpwstr>
  </property>
  <property fmtid="{D5CDD505-2E9C-101B-9397-08002B2CF9AE}" pid="3" name="subtitle">
    <vt:lpwstr>Technologies for Artificial Intelligence</vt:lpwstr>
  </property>
</Properties>
</file>