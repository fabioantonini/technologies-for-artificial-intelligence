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kind of model, built on a different basic step: comparing one feature with a threshold, where k-nearest neighbours measured distances and the support vector machine computed kernels. It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Two of the four risky regions, the low-income strip and the high-debt strip, get riskier steadily as one feature moves in one direction, and a straight boundary handles that kind of effect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a:t>
            </a:r>
          </a:p>
          <a:p>
            <a:pPr lvl="0" indent="0" marL="0">
              <a:buNone/>
            </a:pPr>
          </a:p>
          <a:p>
            <a:pPr lvl="0" indent="0" marL="0">
              <a:buNone/>
            </a:pPr>
            <a:r>
              <a:rPr/>
              <a:t>Step 1: of every possible single question, debt ratio at or below 0.82 is the one that leaves the two groups purest - 971 applicants at 26% default against 229 at 94%. Do not say why it is the best yet; the next slides give the number that ranks it.</a:t>
            </a:r>
          </a:p>
          <a:p>
            <a:pPr lvl="0" indent="0" marL="0">
              <a:buNone/>
            </a:pPr>
          </a:p>
          <a:p>
            <a:pPr lvl="0" indent="0" marL="0">
              <a:buNone/>
            </a:pPr>
            <a:r>
              <a:rPr/>
              <a:t>Step 2 is the word “recursive” made visible. The tree now asks a question inside each group, and the two questions are different - income on the left, debt again on the right - because each group is searched on its own, without regard to the other. That is “independently” in the sentence.</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the tree asks about debt twice. The two thresholds are different questions: exactly one applicant has a debt ratio between 0.947 and 0.948, that applicant repaid, and the tree spent a whole split on separating them. Another split divides 160 applicants into groups at 90% and 97% default - both groups are still predicted “default”, so that cut changes no decision at all. Each was the best available move at that node; the tree has no way to ask whether it was worth making.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Work the last bullet through. Cut a single example off a mixed group of 1,200. The one-example child is pure, impurity 0; the other child is as mixed as the parent was. A plain average of the two is half the parent’s impurity, so the split would look like a large gain. Weighted by size, the pure child counts for 1/1,200 of the average and the other child for the rest, so the average is almost exactly the parent’s impurity again, and the gain is close to zero.</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the depth table shows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symbols are before reading the formula: P, L and R are the parent group and its two children, as on the previous slide. Each G is the Gini impurity of one group, and each m is the number of examples in it; the two children’s m add up to the parent’s. Read it as: the parent’s impurity, minus the children’s impurities averaged with weights equal to the share of the parent that went to each child. ΔG (delta G) is the gain.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The children’s impurities, 2p(1 - p) at their own default rates, are 0.3814 for the left child and 0.1148 for the right. Their average weighted by size is 971/1,200 × 0.3814 + 229/1,200 × 0.1148 = 0.3305, and the gain is the parent’s 0.4743 minus that, 0.1438, which rounds to 0.144. Use four decimals if you work it on the board: with the impurities rounded to the slide’s 0.381 and 0.115, the weighted average comes out at 0.3302, and someone will notice.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Two questions to pre-empt. Why predictions and not accuracy? Because two different trees can get the same number of applicants wrong while getting different applicants wrong; identical predictions, one by one, rule that out. And why on the training data, after lesson 5? Because this checks the code, not the model: the question is whether two programs build the same tree from the same rows, and the rows they learned from are exactly the right ones to ask it on. No accuracy here is a claim about new applicants.</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 the answer is that splitting does not have to stop until every leaf is pure, at worst one example per leaf, which it then “predicts” perfectly by definition. The one exception is the condition on the slide: two applicants with identical income and debt but different outcomes can never be split apart, so one of them stays wrong. With two continuous features drawn at random, as here, that does not happen.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The gold dashed line is the noise ceiling from the dataset slide, 0.93: one minus the 7% of flipped labels.</a:t>
            </a:r>
          </a:p>
          <a:p>
            <a:pPr lvl="0" indent="0" marL="0">
              <a:buNone/>
            </a:pPr>
          </a:p>
          <a:p>
            <a:pPr lvl="0" indent="0" marL="0">
              <a:buNone/>
            </a:pPr>
            <a:r>
              <a:rPr/>
              <a:t>This is not the first time this course has shown a curve bend this way: lesson 3’s test error turned back up as the polynomial degree grew, and lesson 6’s k-nearest neighbours did the same as k shrank towards 1.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between the two samples, 0.820 against 0.819, because the evidence behind it is overwhelming: each tree sees 780 applicants, and on the full data the debt ceiling separates 26% default from 94%, a contrast no sample of that size can hide. Every later split is made inside a smaller group, supported by far fewer applicants, and those splits are what actually determine a tree’s shape.</a:t>
            </a:r>
          </a:p>
          <a:p>
            <a:pPr lvl="0" indent="0" marL="0">
              <a:buNone/>
            </a:pPr>
          </a:p>
          <a:p>
            <a:pPr lvl="0" indent="0" marL="0">
              <a:buNone/>
            </a:pPr>
            <a:r>
              <a:rPr/>
              <a:t>Ask the room what 11.7% disagreement between two trees fit to overlapping samples of the same applicants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 Decision trees from scratch, checked against scikit-learn; depth swept, the boundaries drawn, and the instability measured.</a:t>
            </a:r>
          </a:p>
          <a:p>
            <a:pPr lvl="0" indent="0" marL="0">
              <a:buNone/>
            </a:pPr>
          </a:p>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the notebook prints an agreement of 0.883, which is the 11.7% disagreement of the previous slide, and seeing it appear on their own screen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Two slides before the break measured that two trees fit to overlapping 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Say that the tree algorithm itself is unchanged: bagging reuses the first hour’s tree as it is, and only what surrounds it is new.</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one line of reasoning, not the limit. Each draw misses a given row with probability 1 - 1/m, and the m draws are independent, so the row is missed by all of them with probability (1 - 1/m) to the power m. At m = 1,200 that is 0.3677; as m grows it tends to 1/e, 0.368, which is the standard exponential limit worked out in handout section 5.1. What matters here is the consequence: every bootstrap tree automatically leaves out over a third of the rows, and never sees them.</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Where the gold bars come from, if asked: the number of times one row is drawn counts successes in 1,200 draws, each with probability 1/1,200. As the number of draws grows with the chance kept at one per row, that count follows the Poisson distribution with mean 1, which gives a fraction e^-1 / k! of rows drawn exactly k times: 0.368 never, 0.368 once, 0.184 twice, 0.061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forest here comes four slides before its definition: a random forest is bagging with one extra rule, which slide 34 gives, and scikit-learn computes the OOB score for it with </a:t>
            </a:r>
            <a:r>
              <a:rPr>
                <a:latin typeface="Courier"/>
              </a:rPr>
              <a:t>oob_score=True</a:t>
            </a:r>
            <a:r>
              <a:rPr/>
              <a:t>. For this slide, read it as “300 bagged trees”.</a:t>
            </a:r>
          </a:p>
          <a:p>
            <a:pPr lvl="0" indent="0" marL="0">
              <a:buNone/>
            </a:pPr>
          </a:p>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handout section 5.2, and it does not belong on a slide. Read the formula on the slide in two pieces: the first term, sigma squared over B, shrinks as trees are added; the second, (B - 1)/B times rho sigma squared, grows towards rho sigma squared and stays there.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random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the first hour’s trees.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of the averaging slides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bagging from scratch and against scikit-learn, the out-of-bag score checked against cross-validation, the variance measured over 30 splits, and the noise-column experiment. Section 4 of the notebook is reading only, which is why the table skips it.</a:t>
            </a:r>
          </a:p>
          <a:p>
            <a:pPr lvl="0" indent="0" marL="0">
              <a:buNone/>
            </a:pPr>
          </a:p>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Slow down on “regression tree”, because it is new. “Shallow” means depth 2 or 3 here. Everything so far this lesson was a classification tree: leaves vote, splits are scored by Gini. A boosted tree is fit to corrections, which are numbers like +0.613 or -0.387, not classes, so it is the regression version of the same algorithm: the same greedy search over features and thresholds, but each leaf predicts the average correction of the examples in it, and a split is scored by how much it lowers the squared error around those averages. Even </a:t>
            </a:r>
            <a:r>
              <a:rPr>
                <a:latin typeface="Courier"/>
              </a:rPr>
              <a:t>GradientBoostingClassifier</a:t>
            </a:r>
            <a:r>
              <a:rPr/>
              <a:t> grows regression trees inside.</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 code line is the whole from-scratch loop of notebook 3, section 1: fit a depth-2 regression tree to the residuals, add 0.3 times its predictions to the running prediction, repeat sixty times.</a:t>
            </a:r>
          </a:p>
          <a:p>
            <a:pPr lvl="0" indent="0" marL="0">
              <a:buNone/>
            </a:pPr>
          </a:p>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The one line of algebra connecting the two is on the slide; handout section 8 sets it out.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new toy dataset, so say what it is before anything else: 200 points on one input x, whose true value is a three-level step function plus a gentle sine wave (the black line), observed with noise (the grey dots). Sixty depth-2 trees, learning rate 0.3, are fit to it. Walk through the coloured curves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curve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of the depth table,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The sigma here is lesson 4’s logistic function, 1 / (1 + e^-F), not the sigma squared of the variance slides: say so once, since the same letter has just meant something else.</a:t>
            </a:r>
          </a:p>
          <a:p>
            <a:pPr lvl="0" indent="0" marL="0">
              <a:buNone/>
            </a:pPr>
          </a:p>
          <a:p>
            <a:pPr lvl="0" indent="0" marL="0">
              <a:buNone/>
            </a:pPr>
            <a:r>
              <a:rPr/>
              <a:t>Give them the first step in numbers, because it makes y - p concrete. The ensemble starts at the base rate’s log-odds: 464 of the 1,200 defaulted, so F0 = log(464 / 736) = -0.461, which the logistic function turns back into 0.387 for everyone. The first tree is fit to y - p: +0.613 for every applicant who defaulted, -0.387 for every one who repaid.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the depth table, 0.882 at depth 8,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reached 1.000 by 200 trees and stayed there, and cross-validated accuracy has drifted down from 0.897 to 0.890, under a point, since the peak. Contrast the size of that drop with the unconstrained single tree of the depth table,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 Say what early stopping is, since the deck has not: set aside part of the training data, watch the score on it as trees are added, and stop once it has not improved for a number of rounds. In scikit-learn that is the </a:t>
            </a:r>
            <a:r>
              <a:rPr>
                <a:latin typeface="Courier"/>
              </a:rPr>
              <a:t>n_iter_no_change</a:t>
            </a:r>
            <a:r>
              <a:rPr/>
              <a:t> argument of </a:t>
            </a:r>
            <a:r>
              <a:rPr>
                <a:latin typeface="Courier"/>
              </a:rPr>
              <a:t>GradientBoostingClassifier</a:t>
            </a:r>
            <a:r>
              <a:rPr/>
              <a: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more than two points of cross-validated accuracy for it, 0.902 down to 0.878.</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boosting from scratch on the residuals, then scikit-learn’s classifier, the tree-count and learning-rate sweeps, and the leaderboard of the next slide.</a:t>
            </a:r>
          </a:p>
          <a:p>
            <a:pPr lvl="0" indent="0" marL="0">
              <a:buNone/>
            </a:pPr>
          </a:p>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One honest caveat, in lesson 5’s terms. The depth of 8 and the 30 boosted trees were picked because they scored best on these same five folds, so those two rows are slightly optimistic; nested cross-validation would remove that. Bagging and the random forest ran at their defaults, chose nothing, and are not affected - and they are still on top.</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 have now seen with several different methods: flexibility without a stopping rule is not an advantage. Ask the room to name the earlier occurrences before you do - the degree-12 polynomial in lesson 3, k = 1 in lesson 6, and, earlier today, the boosted ensemble that kept adding trees past its peak.</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 the nine-leaf tree for the first row, the leaderboard for the second, the tree-count and learning-rate tables for the third, the noise experiment for the fourth, the out-of-bag slide for the fifth.</a:t>
            </a:r>
          </a:p>
          <a:p>
            <a:pPr lvl="0" indent="0" marL="0">
              <a:buNone/>
            </a:pPr>
          </a:p>
          <a:p>
            <a:pPr lvl="0" indent="0" marL="0">
              <a:buNone/>
            </a:pPr>
            <a:r>
              <a:rPr/>
              <a:t>The fourth row is worth a sentence of its own, tying back to the noise experiment: with two real features among 22 columns and 1,200 rows, more than half the importance already landed on noise. Many rows do not protect against it; what matters is how many useless columns compete at each split. Permutation importance is on the next slide.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Every lesson so far has left one of these - lesson 1’s 77% accuracy on coin-flip labels, lesson 3’s coefficient of 365 where an unpenalised fit wanted billions - and this is lesson 7’s.</a:t>
            </a:r>
          </a:p>
          <a:p>
            <a:pPr lvl="0" indent="0" marL="0">
              <a:buNone/>
            </a:pPr>
          </a:p>
          <a:p>
            <a:pPr lvl="0" indent="0" marL="0">
              <a:buNone/>
            </a:pPr>
            <a:r>
              <a:rPr/>
              <a:t>The second bullet is the mechanism in one number. The square root of 22, rounded down, is 4, so each split chooses among 4 random columns. The chance that all 4 come from the 20 noise columns is 4,845 / 7,315 = 0.662. At those splits the tree still has to pick something, and among 1,200 noisy rows some noise column always reduces the impurity a little, by chance.</a:t>
            </a:r>
          </a:p>
          <a:p>
            <a:pPr lvl="0" indent="0" marL="0">
              <a:buNone/>
            </a:pPr>
          </a:p>
          <a:p>
            <a:pPr lvl="0" indent="0" marL="0">
              <a:buNone/>
            </a:pPr>
            <a:r>
              <a:rPr/>
              <a:t>The last bullet, permutation importance, is the remedy the handout points to: a column the model really uses costs accuracy when its values are shuffled; a noise column costs nothing. It is measured on data the forest did not train on, so a column cannot earn credit by having been memorised.</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Every model so far learned from examples whose answer was known: a price, a class, a default. Lesson 8 asks what structure there is in data when nobody has given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20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in which the data comes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and debt-to-income ratio</a:t>
            </a:r>
          </a:p>
          <a:p>
            <a:pPr lvl="0"/>
            <a:r>
              <a:rPr/>
              <a:t>Underwriting is a </a:t>
            </a:r>
            <a:r>
              <a:rPr b="1"/>
              <a:t>checklist</a:t>
            </a:r>
            <a:r>
              <a:rPr/>
              <a:t>: an income floor, a debt ceiling, and two “stressed” combinations, each figure ordinary alone but risky together</a:t>
            </a:r>
          </a:p>
          <a:p>
            <a:pPr lvl="0"/>
            <a:r>
              <a:rPr b="1"/>
              <a:t>7%</a:t>
            </a:r>
            <a:r>
              <a:rPr/>
              <a:t> of labels flipped: no honest model beats about </a:t>
            </a:r>
            <a:r>
              <a:rPr b="1"/>
              <a:t>0.93</a:t>
            </a:r>
            <a:r>
              <a:rPr/>
              <a:t>, the </a:t>
            </a:r>
            <a:r>
              <a:rPr b="1"/>
              <a:t>noise ceiling</a:t>
            </a:r>
          </a:p>
          <a:p>
            <a:pPr lvl="0"/>
            <a:r>
              <a:rPr b="1"/>
              <a:t>38.7%</a:t>
            </a:r>
            <a:r>
              <a:rPr/>
              <a:t>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(feature, threshold) split that makes the two groups </a:t>
            </a:r>
            <a:r>
              <a:rPr b="1"/>
              <a:t>as pure as possible</a:t>
            </a:r>
          </a:p>
          <a:p>
            <a:pPr lvl="0"/>
            <a:r>
              <a:rPr/>
              <a:t>Apply it; repeat on each group, independently</a:t>
            </a:r>
          </a:p>
          <a:p>
            <a:pPr lvl="0"/>
            <a:r>
              <a:rPr/>
              <a:t>Stop at a depth limit, a pure group, or too few examples to split</a:t>
            </a:r>
          </a:p>
          <a:p>
            <a:pPr lvl="0"/>
            <a:r>
              <a:rPr/>
              <a:t>Nothing is estimated: no coefficient, no gradient</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073385" y="1166099"/>
            <a:ext cx="6997230"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0 for a pure group, highest for an even mix. “As pure as possible” then means “with the lowest impurity”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parent group P into a left child L and a right child R; </a:t>
            </a:r>
            <a:r>
              <a:rPr i="1"/>
              <a:t>m</a:t>
            </a:r>
            <a:r>
              <a:rPr/>
              <a:t> counts the examples in each</a:t>
            </a:r>
          </a:p>
          <a:p>
            <a:pPr lvl="0"/>
            <a:r>
              <a:rPr/>
              <a:t>Worth taking if the children are, </a:t>
            </a:r>
            <a:r>
              <a:rPr b="1"/>
              <a:t>on average, purer</a:t>
            </a:r>
            <a:r>
              <a:rPr/>
              <a:t> than the parent</a:t>
            </a:r>
          </a:p>
          <a:p>
            <a:pPr lvl="0"/>
            <a:r>
              <a:rPr/>
              <a:t>The average is </a:t>
            </a:r>
            <a:r>
              <a:rPr b="1"/>
              <a:t>weighted by size</a:t>
            </a:r>
            <a:r>
              <a:rPr/>
              <a:t>: one example cut off alone would halve a plain average, and barely moves a weighted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the </a:t>
            </a:r>
            <a:r>
              <a:rPr b="1"/>
              <a:t>debt ceiling</a:t>
            </a:r>
            <a:r>
              <a:rPr/>
              <a:t> the data was built with</a:t>
            </a:r>
          </a:p>
          <a:p>
            <a:pPr lvl="0"/>
            <a:r>
              <a:rPr/>
              <a:t>971 applicants left (0.256 defaulted, impurity 0.381), 229 right (0.939, impurity 0.115)</a:t>
            </a:r>
          </a:p>
          <a:p>
            <a:pPr lvl="0"/>
            <a:r>
              <a:rPr/>
              <a:t>Weighted by size, the children average 0.3305 against the parent’s 0.4743: gain </a:t>
            </a:r>
            <a:r>
              <a:rPr b="1"/>
              <a:t>0.144</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and scikit-learn’s </a:t>
            </a:r>
            <a:r>
              <a:rPr>
                <a:latin typeface="Courier"/>
              </a:rPr>
              <a:t>DecisionTreeClassifier</a:t>
            </a:r>
            <a:r>
              <a:rPr/>
              <a:t> make </a:t>
            </a:r>
            <a:r>
              <a:rPr b="1"/>
              <a:t>the same prediction for all 1,200 applicants</a:t>
            </a:r>
            <a:r>
              <a:rPr/>
              <a:t>,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a:t>
            </a:r>
            <a:r>
              <a:rPr/>
              <a:t>, even on data with no structure at all, unless two examples share every feature value but not the label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a:t>
            </a:r>
          </a:p>
          <a:p>
            <a:pPr lvl="0"/>
            <a:r>
              <a:rPr>
                <a:latin typeface="Courier"/>
              </a:rPr>
              <a:t>max_leaf_nodes</a:t>
            </a:r>
            <a:r>
              <a:rPr/>
              <a:t> grows it </a:t>
            </a:r>
            <a:r>
              <a:rPr b="1"/>
              <a:t>best-first</a:t>
            </a:r>
            <a:r>
              <a:rPr/>
              <a:t>: always the leaf with the largest ΔG</a:t>
            </a:r>
          </a:p>
          <a:p>
            <a:pPr lvl="0"/>
            <a:r>
              <a:rPr>
                <a:latin typeface="Courier"/>
              </a:rPr>
              <a:t>max_leaf_nodes = 9</a:t>
            </a:r>
            <a:r>
              <a:rPr/>
              <a:t>: </a:t>
            </a:r>
            <a:r>
              <a:rPr b="1"/>
              <a:t>90.8%</a:t>
            </a:r>
            <a:r>
              <a:rPr/>
              <a:t> training accuracy; thresholds 28, the income floor, and 0.82, the debt ceiling</a:t>
            </a:r>
          </a:p>
          <a:p>
            <a:pPr lvl="0"/>
            <a:r>
              <a:rPr/>
              <a:t>In code: </a:t>
            </a:r>
            <a:r>
              <a:rPr>
                <a:latin typeface="Courier"/>
              </a:rPr>
              <a:t>export_text(tree)</a:t>
            </a:r>
            <a:r>
              <a:rPr/>
              <a:t> prints the tree as if/else rules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each on a random 65% of the applicants (no replacement)</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weaker ones, which shape most of the tree, are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look at it first, 4-6</a:t>
                      </a:r>
                    </a:p>
                  </a:txBody>
                </a:tc>
                <a:tc>
                  <a:txBody>
                    <a:bodyPr/>
                    <a:lstStyle/>
                    <a:p>
                      <a:pPr lvl="0" indent="0" marL="0">
                        <a:buNone/>
                      </a:pPr>
                      <a:r>
                        <a:rPr>
                          <a:latin typeface="Courier"/>
                        </a:rPr>
                        <a:t>make_pipeline(StandardScaler(), LogisticRegression())</a:t>
                      </a:r>
                      <a:r>
                        <a:rPr/>
                        <a:t> in </a:t>
                      </a:r>
                      <a:r>
                        <a:rPr>
                          <a:latin typeface="Courier"/>
                        </a:rPr>
                        <a:t>cross_val_score(..., cv=StratifiedKFold(5))</a:t>
                      </a:r>
                      <a:r>
                        <a:rPr/>
                        <a:t> → 0.613 against 0.748</a:t>
                      </a:r>
                    </a:p>
                  </a:txBody>
                </a:tc>
              </a:tr>
              <a:tr h="0">
                <a:tc>
                  <a:txBody>
                    <a:bodyPr/>
                    <a:lstStyle/>
                    <a:p>
                      <a:pPr lvl="0" indent="0" marL="0">
                        <a:buNone/>
                      </a:pPr>
                      <a:r>
                        <a:rPr/>
                        <a:t>2. a tree, split by split, 7-18</a:t>
                      </a:r>
                    </a:p>
                  </a:txBody>
                </a:tc>
                <a:tc>
                  <a:txBody>
                    <a:bodyPr/>
                    <a:lstStyle/>
                    <a:p>
                      <a:pPr lvl="0" indent="0" marL="0">
                        <a:buNone/>
                      </a:pPr>
                      <a:r>
                        <a:rPr/>
                        <a:t>your own </a:t>
                      </a:r>
                      <a:r>
                        <a:rPr>
                          <a:latin typeface="Courier"/>
                        </a:rPr>
                        <a:t>gini</a:t>
                      </a:r>
                      <a:r>
                        <a:rPr/>
                        <a:t> and </a:t>
                      </a:r>
                      <a:r>
                        <a:rPr>
                          <a:latin typeface="Courier"/>
                        </a:rPr>
                        <a:t>best_split</a:t>
                      </a:r>
                      <a:r>
                        <a:rPr/>
                        <a:t>, then </a:t>
                      </a:r>
                      <a:r>
                        <a:rPr>
                          <a:latin typeface="Courier"/>
                        </a:rPr>
                        <a:t>DecisionTreeClassifier(max_depth=d)</a:t>
                      </a:r>
                      <a:r>
                        <a:rPr/>
                        <a:t> → 100.0% identical predictions; gain 0.1438</a:t>
                      </a:r>
                    </a:p>
                  </a:txBody>
                </a:tc>
              </a:tr>
              <a:tr h="0">
                <a:tc>
                  <a:txBody>
                    <a:bodyPr/>
                    <a:lstStyle/>
                    <a:p>
                      <a:pPr lvl="0" indent="0" marL="0">
                        <a:buNone/>
                      </a:pPr>
                      <a:r>
                        <a:rPr/>
                        <a:t>3. the depth dial, 19-22</a:t>
                      </a:r>
                    </a:p>
                  </a:txBody>
                </a:tc>
                <a:tc>
                  <a:txBody>
                    <a:bodyPr/>
                    <a:lstStyle/>
                    <a:p>
                      <a:pPr lvl="0" indent="0" marL="0">
                        <a:buNone/>
                      </a:pPr>
                      <a:r>
                        <a:rPr>
                          <a:latin typeface="Courier"/>
                        </a:rPr>
                        <a:t>DecisionTreeClassifier(max_depth=d)</a:t>
                      </a:r>
                      <a:r>
                        <a:rPr/>
                        <a:t> in </a:t>
                      </a:r>
                      <a:r>
                        <a:rPr>
                          <a:latin typeface="Courier"/>
                        </a:rPr>
                        <a:t>cross_val_score</a:t>
                      </a:r>
                      <a:r>
                        <a:rPr/>
                        <a:t> → peak 0.882 at depth 8</a:t>
                      </a:r>
                    </a:p>
                  </a:txBody>
                </a:tc>
              </a:tr>
              <a:tr h="0">
                <a:tc>
                  <a:txBody>
                    <a:bodyPr/>
                    <a:lstStyle/>
                    <a:p>
                      <a:pPr lvl="0" indent="0" marL="0">
                        <a:buNone/>
                      </a:pPr>
                      <a:r>
                        <a:rPr/>
                        <a:t>4. what a tree costs, 23-24</a:t>
                      </a:r>
                    </a:p>
                  </a:txBody>
                </a:tc>
                <a:tc>
                  <a:txBody>
                    <a:bodyPr/>
                    <a:lstStyle/>
                    <a:p>
                      <a:pPr lvl="0" indent="0" marL="0">
                        <a:buNone/>
                      </a:pPr>
                      <a:r>
                        <a:rPr>
                          <a:latin typeface="Courier"/>
                        </a:rPr>
                        <a:t>DecisionTreeClassifier(max_leaf_nodes=9)</a:t>
                      </a:r>
                      <a:r>
                        <a:rPr/>
                        <a:t>, </a:t>
                      </a:r>
                      <a:r>
                        <a:rPr>
                          <a:latin typeface="Courier"/>
                        </a:rPr>
                        <a:t>export_text</a:t>
                      </a:r>
                      <a:r>
                        <a:rPr/>
                        <a:t> → 0.908; two trees agree on 0.883</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Trees differ across samples, so </a:t>
            </a:r>
            <a:r>
              <a:rPr b="1"/>
              <a:t>many trees, averaged</a:t>
            </a:r>
            <a:r>
              <a:rPr/>
              <a:t> should partly cancel their mistakes</a:t>
            </a:r>
          </a:p>
          <a:p>
            <a:pPr lvl="0"/>
            <a:r>
              <a:rPr b="1"/>
              <a:t>Bootstrap sample</a:t>
            </a:r>
            <a:r>
              <a:rPr/>
              <a:t>: m rows drawn </a:t>
            </a:r>
            <a:r>
              <a:rPr b="1"/>
              <a:t>with replacement</a:t>
            </a:r>
            <a:r>
              <a:rPr/>
              <a:t> from the m training rows</a:t>
            </a:r>
          </a:p>
          <a:p>
            <a:pPr lvl="0"/>
            <a:r>
              <a:rPr/>
              <a:t>One tree per sample, </a:t>
            </a:r>
            <a:r>
              <a:rPr>
                <a:latin typeface="Courier"/>
              </a:rPr>
              <a:t>n_estimators</a:t>
            </a:r>
            <a:r>
              <a:rPr/>
              <a:t> times; predict by </a:t>
            </a:r>
            <a:r>
              <a:rPr b="1"/>
              <a:t>majority vote</a:t>
            </a:r>
            <a:r>
              <a:rPr/>
              <a:t>. That is </a:t>
            </a:r>
            <a:r>
              <a:rPr b="1"/>
              <a:t>bagging</a:t>
            </a:r>
            <a:r>
              <a:rPr/>
              <a:t>: bootstrap aggregating</a:t>
            </a:r>
          </a:p>
          <a:p>
            <a:pPr lvl="0"/>
            <a:r>
              <a:rPr/>
              <a:t>In code: </a:t>
            </a:r>
            <a:r>
              <a:rPr>
                <a:latin typeface="Courier"/>
              </a:rPr>
              <a:t>BaggingClassifier()</a:t>
            </a:r>
            <a:r>
              <a:rPr/>
              <a:t>, whose default model is a decision tree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One row is missed by all m draws with probability (1 - 1/m)ᵐ, which tends to e⁻¹ ≈ 0.368 as m grows</a:t>
            </a:r>
          </a:p>
          <a:p>
            <a:pPr lvl="0"/>
            <a:r>
              <a:rPr/>
              <a:t>So 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Predict each row by a vote of only the trees that never saw it: the accuracy of those votes is the </a:t>
            </a:r>
            <a:r>
              <a:rPr b="1"/>
              <a:t>OOB score</a:t>
            </a:r>
            <a:r>
              <a:rPr/>
              <a:t>, with no rows set aside</a:t>
            </a:r>
          </a:p>
          <a:p>
            <a:pPr lvl="0"/>
            <a:r>
              <a:rPr/>
              <a:t>A 300-tree random forest (bagged trees plus one rule, slide 34): OOB </a:t>
            </a:r>
            <a:r>
              <a:rPr b="1"/>
              <a:t>0.9117</a:t>
            </a:r>
            <a:r>
              <a:rPr/>
              <a:t>; 5-fold cross-validation </a:t>
            </a:r>
            <a:r>
              <a:rPr b="1"/>
              <a:t>0.9117 ± 0.021</a:t>
            </a:r>
          </a:p>
          <a:p>
            <a:pPr lvl="0"/>
            <a:r>
              <a:rPr/>
              <a:t>The four-decimal match is </a:t>
            </a:r>
            <a:r>
              <a:rPr b="1"/>
              <a:t>luck</a:t>
            </a:r>
            <a:r>
              <a:rPr/>
              <a:t>: over twelve seeds the two differ by 0.0026 on average, well inside ±0.021</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over the bootstrap sample it drew, and let ρ be the correlation between two trees</a:t>
            </a:r>
          </a:p>
          <a:p>
            <a:pPr lvl="0"/>
            <a:r>
              <a:rPr/>
              <a:t>The average of B trees has variance σ²/B + ρσ² (B-1)/B: a </a:t>
            </a:r>
            <a:r>
              <a:rPr b="1"/>
              <a:t>floor</a:t>
            </a:r>
            <a:r>
              <a:rPr/>
              <a:t> of ρσ², </a:t>
            </a:r>
            <a:r>
              <a:rPr b="1"/>
              <a:t>not zero</a:t>
            </a:r>
            <a:r>
              <a:rPr/>
              <a:t>: more trees soon buy little</a:t>
            </a:r>
          </a:p>
          <a:p>
            <a:pPr lvl="0"/>
            <a:r>
              <a:rPr/>
              <a:t>Averaging </a:t>
            </a:r>
            <a:r>
              <a:rPr b="1"/>
              <a:t>cannot fix bias</a:t>
            </a:r>
            <a:r>
              <a:rPr/>
              <a:t>: unbiased-but-noisy trees average to unbiased; trees sharing a systematic error keep that error exactly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 30 random 70/30 splits</a:t>
                      </a:r>
                    </a:p>
                  </a:txBody>
                  <a:tcPr/>
                </a:tc>
                <a:tc>
                  <a:txBody>
                    <a:bodyPr/>
                    <a:lstStyle/>
                    <a:p>
                      <a:pPr lvl="0" indent="0" marL="0">
                        <a:buNone/>
                      </a:pPr>
                      <a:r>
                        <a:rPr/>
                        <a:t>Standard deviation across the 30</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floor is ρσ²: lowering it means making the trees agree </a:t>
            </a:r>
            <a:r>
              <a:rPr b="1"/>
              <a:t>less</a:t>
            </a:r>
          </a:p>
          <a:p>
            <a:pPr lvl="0"/>
            <a:r>
              <a:rPr/>
              <a:t>Bagged trees see </a:t>
            </a:r>
            <a:r>
              <a:rPr b="1"/>
              <a:t>every feature</a:t>
            </a:r>
            <a:r>
              <a:rPr/>
              <a:t>, so a strong one pulls them all the same way</a:t>
            </a:r>
          </a:p>
          <a:p>
            <a:pPr lvl="0"/>
            <a:r>
              <a:rPr/>
              <a:t>A </a:t>
            </a:r>
            <a:r>
              <a:rPr b="1"/>
              <a:t>random forest</a:t>
            </a:r>
            <a:r>
              <a:rPr/>
              <a:t> offers each split a random subset of </a:t>
            </a:r>
            <a:r>
              <a:rPr>
                <a:latin typeface="Courier"/>
              </a:rPr>
              <a:t>max_features</a:t>
            </a:r>
            <a:r>
              <a:rPr/>
              <a:t> (default √n, rounded down), lowering ρ</a:t>
            </a:r>
          </a:p>
          <a:p>
            <a:pPr lvl="0"/>
            <a:r>
              <a:rPr/>
              <a:t>In code: </a:t>
            </a:r>
            <a:r>
              <a:rPr>
                <a:latin typeface="Courier"/>
              </a:rPr>
              <a:t>RandomForestClassifier()</a:t>
            </a:r>
            <a:r>
              <a:rPr/>
              <a:t>, 100 trees by default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 30 random 70/30 splits</a:t>
                      </a:r>
                    </a:p>
                  </a:txBody>
                  <a:tcPr/>
                </a:tc>
                <a:tc>
                  <a:txBody>
                    <a:bodyPr/>
                    <a:lstStyle/>
                    <a:p>
                      <a:pPr lvl="0" indent="0" marL="0">
                        <a:buNone/>
                      </a:pPr>
                      <a:r>
                        <a:rPr/>
                        <a:t>Standard deviation across the 30</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b="1"/>
              <a:t>Feature importance</a:t>
            </a:r>
            <a:r>
              <a:rPr/>
              <a:t>: the impurity reduction credited to each feature over every tree and split, scaled to add up to 1</a:t>
            </a:r>
          </a:p>
          <a:p>
            <a:pPr lvl="0"/>
            <a:r>
              <a:rPr/>
              <a:t>With only the two real features here, it names exactly those two</a:t>
            </a:r>
          </a:p>
          <a:p>
            <a:pPr lvl="0"/>
            <a:r>
              <a:rPr/>
              <a:t>What happens once we add columns of random numbers, unrelated to default?</a:t>
            </a:r>
          </a:p>
          <a:p>
            <a:pPr lvl="0"/>
            <a:r>
              <a:rPr/>
              <a:t>In code: </a:t>
            </a:r>
            <a:r>
              <a:rPr>
                <a:latin typeface="Courier"/>
              </a:rPr>
              <a:t>forest.feature_importances_</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bagging from scratch, 27</a:t>
                      </a:r>
                    </a:p>
                  </a:txBody>
                </a:tc>
                <a:tc>
                  <a:txBody>
                    <a:bodyPr/>
                    <a:lstStyle/>
                    <a:p>
                      <a:pPr lvl="0" indent="0" marL="0">
                        <a:buNone/>
                      </a:pPr>
                      <a:r>
                        <a:rPr>
                          <a:latin typeface="Courier"/>
                        </a:rPr>
                        <a:t>train_test_split(..., test_size=0.3, stratify=y)</a:t>
                      </a:r>
                      <a:r>
                        <a:rPr/>
                        <a:t>, your own bagging against </a:t>
                      </a:r>
                      <a:r>
                        <a:rPr>
                          <a:latin typeface="Courier"/>
                        </a:rPr>
                        <a:t>BaggingClassifier</a:t>
                      </a:r>
                      <a:r>
                        <a:rPr/>
                        <a:t>, both scored by </a:t>
                      </a:r>
                      <a:r>
                        <a:rPr>
                          <a:latin typeface="Courier"/>
                        </a:rPr>
                        <a:t>accuracy_score</a:t>
                      </a:r>
                      <a:r>
                        <a:rPr/>
                        <a:t> → 0.872 and 0.872</a:t>
                      </a:r>
                    </a:p>
                  </a:txBody>
                </a:tc>
              </a:tr>
              <a:tr h="0">
                <a:tc>
                  <a:txBody>
                    <a:bodyPr/>
                    <a:lstStyle/>
                    <a:p>
                      <a:pPr lvl="0" indent="0" marL="0">
                        <a:buNone/>
                      </a:pPr>
                      <a:r>
                        <a:rPr/>
                        <a:t>2. why averaging works, 28-32</a:t>
                      </a:r>
                    </a:p>
                  </a:txBody>
                </a:tc>
                <a:tc>
                  <a:txBody>
                    <a:bodyPr/>
                    <a:lstStyle/>
                    <a:p>
                      <a:pPr lvl="0" indent="0" marL="0">
                        <a:buNone/>
                      </a:pPr>
                      <a:r>
                        <a:rPr/>
                        <a:t>a forest with </a:t>
                      </a:r>
                      <a:r>
                        <a:rPr>
                          <a:latin typeface="Courier"/>
                        </a:rPr>
                        <a:t>oob_score=True</a:t>
                      </a:r>
                      <a:r>
                        <a:rPr/>
                        <a:t>: its </a:t>
                      </a:r>
                      <a:r>
                        <a:rPr>
                          <a:latin typeface="Courier"/>
                        </a:rPr>
                        <a:t>.oob_score_</a:t>
                      </a:r>
                      <a:r>
                        <a:rPr/>
                        <a:t> against </a:t>
                      </a:r>
                      <a:r>
                        <a:rPr>
                          <a:latin typeface="Courier"/>
                        </a:rPr>
                        <a:t>cross_val_score</a:t>
                      </a:r>
                      <a:r>
                        <a:rPr/>
                        <a:t> → 0.9117 and 0.9117; 0.0026 over 12 seeds</a:t>
                      </a:r>
                    </a:p>
                  </a:txBody>
                </a:tc>
              </a:tr>
              <a:tr h="0">
                <a:tc>
                  <a:txBody>
                    <a:bodyPr/>
                    <a:lstStyle/>
                    <a:p>
                      <a:pPr lvl="0" indent="0" marL="0">
                        <a:buNone/>
                      </a:pPr>
                      <a:r>
                        <a:rPr/>
                        <a:t>3. variance, measured, 33-35</a:t>
                      </a:r>
                    </a:p>
                  </a:txBody>
                </a:tc>
                <a:tc>
                  <a:txBody>
                    <a:bodyPr/>
                    <a:lstStyle/>
                    <a:p>
                      <a:pPr lvl="0" indent="0" marL="0">
                        <a:buNone/>
                      </a:pPr>
                      <a:r>
                        <a:rPr/>
                        <a:t>a tree, </a:t>
                      </a:r>
                      <a:r>
                        <a:rPr>
                          <a:latin typeface="Courier"/>
                        </a:rPr>
                        <a:t>BaggingClassifier</a:t>
                      </a:r>
                      <a:r>
                        <a:rPr/>
                        <a:t>, </a:t>
                      </a:r>
                      <a:r>
                        <a:rPr>
                          <a:latin typeface="Courier"/>
                        </a:rPr>
                        <a:t>RandomForestClassifier</a:t>
                      </a:r>
                      <a:r>
                        <a:rPr/>
                        <a:t> on 30 splits → spread 0.0185, 0.0153, 0.0137</a:t>
                      </a:r>
                    </a:p>
                  </a:txBody>
                </a:tc>
              </a:tr>
              <a:tr h="0">
                <a:tc>
                  <a:txBody>
                    <a:bodyPr/>
                    <a:lstStyle/>
                    <a:p>
                      <a:pPr lvl="0" indent="0" marL="0">
                        <a:buNone/>
                      </a:pPr>
                      <a:r>
                        <a:rPr/>
                        <a:t>5. feature importance, 36-37</a:t>
                      </a:r>
                    </a:p>
                  </a:txBody>
                </a:tc>
                <a:tc>
                  <a:txBody>
                    <a:bodyPr/>
                    <a:lstStyle/>
                    <a:p>
                      <a:pPr lvl="0" indent="0" marL="0">
                        <a:buNone/>
                      </a:pPr>
                      <a:r>
                        <a:rPr>
                          <a:latin typeface="Courier"/>
                        </a:rPr>
                        <a:t>.feature_importances_</a:t>
                      </a:r>
                      <a:r>
                        <a:rPr/>
                        <a:t> with 0, 5 and 20 noise columns → 54.5% on noise</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then average</a:t>
            </a:r>
          </a:p>
          <a:p>
            <a:pPr lvl="0"/>
            <a:r>
              <a:rPr b="1"/>
              <a:t>Boosting</a:t>
            </a:r>
            <a:r>
              <a:rPr/>
              <a:t> builds them </a:t>
            </a:r>
            <a:r>
              <a:rPr b="1"/>
              <a:t>in sequence</a:t>
            </a:r>
            <a:r>
              <a:rPr/>
              <a:t>: each new tree corrects what the trees so far got wrong</a:t>
            </a:r>
          </a:p>
          <a:p>
            <a:pPr lvl="0"/>
            <a:r>
              <a:rPr/>
              <a:t>Each is a shallow </a:t>
            </a:r>
            <a:r>
              <a:rPr b="1"/>
              <a:t>regression tree</a:t>
            </a:r>
            <a:r>
              <a:rPr/>
              <a:t>, a </a:t>
            </a:r>
            <a:r>
              <a:rPr b="1"/>
              <a:t>weak learner</a:t>
            </a:r>
            <a:r>
              <a:rPr/>
              <a:t>: leaves predict a mean, splits reduce squared error</a:t>
            </a:r>
          </a:p>
          <a:p>
            <a:pPr lvl="0"/>
            <a:r>
              <a:rPr/>
              <a:t>The learning rate α sets </a:t>
            </a:r>
            <a:r>
              <a:rPr b="1"/>
              <a:t>how much</a:t>
            </a:r>
            <a:r>
              <a:rPr/>
              <a:t> of each correction is applied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 error, what remains unexplained is the </a:t>
            </a:r>
            <a:r>
              <a:rPr b="1"/>
              <a:t>residual</a:t>
            </a:r>
            <a:r>
              <a:rPr/>
              <a:t>, y - Fₜ₋₁(x)</a:t>
            </a:r>
          </a:p>
          <a:p>
            <a:pPr lvl="0"/>
            <a:r>
              <a:rPr/>
              <a:t>In general, </a:t>
            </a:r>
            <a:r>
              <a:rPr b="1"/>
              <a:t>functional gradient descent</a:t>
            </a:r>
            <a:r>
              <a:rPr/>
              <a:t>: hₜ approximates the negative gradient of the loss with respect to Fₜ₋₁</a:t>
            </a:r>
          </a:p>
          <a:p>
            <a:pPr lvl="0"/>
            <a:r>
              <a:rPr/>
              <a:t>With L = ½(y - F)², -∂L/∂F = y - F: the two coincide</a:t>
            </a:r>
          </a:p>
          <a:p>
            <a:pPr lvl="0"/>
            <a:r>
              <a:rPr/>
              <a:t>In code: </a:t>
            </a:r>
            <a:r>
              <a:rPr>
                <a:latin typeface="Courier"/>
              </a:rPr>
              <a:t>DecisionTreeRegressor(max_depth=2)</a:t>
            </a:r>
            <a:r>
              <a:rPr/>
              <a:t>, fit to </a:t>
            </a:r>
            <a:r>
              <a:rPr>
                <a:latin typeface="Courier"/>
              </a:rPr>
              <a:t>y - prediction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step plus a sine wave, fit by 60 shallow trees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y is 0 or 1; the score F becomes a probability through lesson 4’s logistic function, p = σ(F)</a:t>
            </a:r>
          </a:p>
          <a:p>
            <a:pPr lvl="0"/>
            <a:r>
              <a:rPr/>
              <a:t>The loss is lesson 4’s </a:t>
            </a:r>
            <a:r>
              <a:rPr b="1"/>
              <a:t>log-loss</a:t>
            </a:r>
          </a:p>
          <a:p>
            <a:pPr lvl="0"/>
            <a:r>
              <a:rPr/>
              <a:t>Each tree fits the </a:t>
            </a:r>
            <a:r>
              <a:rPr b="1"/>
              <a:t>pseudo-residual</a:t>
            </a:r>
            <a:r>
              <a:rPr/>
              <a:t> y - p, the negative gradient: lesson 4’s error term</a:t>
            </a:r>
          </a:p>
          <a:p>
            <a:pPr lvl="0"/>
            <a:r>
              <a:rPr/>
              <a:t>Start: p = 0.387 for all, so the first tree fits +0.613 to defaulters and −0.387 to the rest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 depth 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boosting from scratch, 39-43</a:t>
                      </a:r>
                    </a:p>
                  </a:txBody>
                </a:tc>
                <a:tc>
                  <a:txBody>
                    <a:bodyPr/>
                    <a:lstStyle/>
                    <a:p>
                      <a:pPr lvl="0" indent="0" marL="0">
                        <a:buNone/>
                      </a:pPr>
                      <a:r>
                        <a:rPr>
                          <a:latin typeface="Courier"/>
                        </a:rPr>
                        <a:t>DecisionTreeRegressor(max_depth=2)</a:t>
                      </a:r>
                      <a:r>
                        <a:rPr/>
                        <a:t> on the residuals, 60 times → MSE 0.0119 at 20 trees</a:t>
                      </a:r>
                    </a:p>
                  </a:txBody>
                </a:tc>
              </a:tr>
              <a:tr h="0">
                <a:tc>
                  <a:txBody>
                    <a:bodyPr/>
                    <a:lstStyle/>
                    <a:p>
                      <a:pPr lvl="0" indent="0" marL="0">
                        <a:buNone/>
                      </a:pPr>
                      <a:r>
                        <a:rPr/>
                        <a:t>2. classification, 44-45</a:t>
                      </a:r>
                    </a:p>
                  </a:txBody>
                </a:tc>
                <a:tc>
                  <a:txBody>
                    <a:bodyPr/>
                    <a:lstStyle/>
                    <a:p>
                      <a:pPr lvl="0" indent="0" marL="0">
                        <a:buNone/>
                      </a:pPr>
                      <a:r>
                        <a:rPr>
                          <a:latin typeface="Courier"/>
                        </a:rPr>
                        <a:t>GradientBoostingClassifier()</a:t>
                      </a:r>
                      <a:r>
                        <a:rPr/>
                        <a:t> in </a:t>
                      </a:r>
                      <a:r>
                        <a:rPr>
                          <a:latin typeface="Courier"/>
                        </a:rPr>
                        <a:t>cross_val_score</a:t>
                      </a:r>
                      <a:r>
                        <a:rPr/>
                        <a:t> → F0 = −0.461; 0.902</a:t>
                      </a:r>
                    </a:p>
                  </a:txBody>
                </a:tc>
              </a:tr>
              <a:tr h="0">
                <a:tc>
                  <a:txBody>
                    <a:bodyPr/>
                    <a:lstStyle/>
                    <a:p>
                      <a:pPr lvl="0" indent="0" marL="0">
                        <a:buNone/>
                      </a:pPr>
                      <a:r>
                        <a:rPr/>
                        <a:t>3. more trees, 46-47</a:t>
                      </a:r>
                    </a:p>
                  </a:txBody>
                </a:tc>
                <a:tc>
                  <a:txBody>
                    <a:bodyPr/>
                    <a:lstStyle/>
                    <a:p>
                      <a:pPr lvl="0" indent="0" marL="0">
                        <a:buNone/>
                      </a:pPr>
                      <a:r>
                        <a:rPr/>
                        <a:t>the same, </a:t>
                      </a:r>
                      <a:r>
                        <a:rPr>
                          <a:latin typeface="Courier"/>
                        </a:rPr>
                        <a:t>learning_rate=0.3</a:t>
                      </a:r>
                      <a:r>
                        <a:rPr/>
                        <a:t>, </a:t>
                      </a:r>
                      <a:r>
                        <a:rPr>
                          <a:latin typeface="Courier"/>
                        </a:rPr>
                        <a:t>n_estimators</a:t>
                      </a:r>
                      <a:r>
                        <a:rPr/>
                        <a:t> from 5 to 800 → peak 0.897 at 30</a:t>
                      </a:r>
                    </a:p>
                  </a:txBody>
                </a:tc>
              </a:tr>
              <a:tr h="0">
                <a:tc>
                  <a:txBody>
                    <a:bodyPr/>
                    <a:lstStyle/>
                    <a:p>
                      <a:pPr lvl="0" indent="0" marL="0">
                        <a:buNone/>
                      </a:pPr>
                      <a:r>
                        <a:rPr/>
                        <a:t>4. learning rate, 48</a:t>
                      </a:r>
                    </a:p>
                  </a:txBody>
                </a:tc>
                <a:tc>
                  <a:txBody>
                    <a:bodyPr/>
                    <a:lstStyle/>
                    <a:p>
                      <a:pPr lvl="0" indent="0" marL="0">
                        <a:buNone/>
                      </a:pPr>
                      <a:r>
                        <a:rPr/>
                        <a:t>the same with </a:t>
                      </a:r>
                      <a:r>
                        <a:rPr>
                          <a:latin typeface="Courier"/>
                        </a:rPr>
                        <a:t>n_estimators=120</a:t>
                      </a:r>
                      <a:r>
                        <a:rPr/>
                        <a:t> and </a:t>
                      </a:r>
                      <a:r>
                        <a:rPr>
                          <a:latin typeface="Courier"/>
                        </a:rPr>
                        <a:t>learning_rate</a:t>
                      </a:r>
                      <a:r>
                        <a:rPr/>
                        <a:t> from 0.02 to 1.0 → best 0.902 at 0.1</a:t>
                      </a:r>
                    </a:p>
                  </a:txBody>
                </a:tc>
              </a:tr>
              <a:tr h="0">
                <a:tc>
                  <a:txBody>
                    <a:bodyPr/>
                    <a:lstStyle/>
                    <a:p>
                      <a:pPr lvl="0" indent="0" marL="0">
                        <a:buNone/>
                      </a:pPr>
                      <a:r>
                        <a:rPr/>
                        <a:t>5. leaderboard, 50</a:t>
                      </a:r>
                    </a:p>
                  </a:txBody>
                </a:tc>
                <a:tc>
                  <a:txBody>
                    <a:bodyPr/>
                    <a:lstStyle/>
                    <a:p>
                      <a:pPr lvl="0" indent="0" marL="0">
                        <a:buNone/>
                      </a:pPr>
                      <a:r>
                        <a:rPr/>
                        <a:t>every model in one </a:t>
                      </a:r>
                      <a:r>
                        <a:rPr>
                          <a:latin typeface="Courier"/>
                        </a:rPr>
                        <a:t>cross_val_score</a:t>
                      </a:r>
                      <a:r>
                        <a:rPr/>
                        <a:t> loop → random forest 0.911</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0.882 against 0.911, and the only model here a person can read</a:t>
            </a:r>
          </a:p>
          <a:p>
            <a:pPr lvl="0"/>
            <a:r>
              <a:rPr/>
              <a:t>The </a:t>
            </a:r>
            <a:r>
              <a:rPr b="1"/>
              <a:t>unconstrained tree is the worst model on the list</a:t>
            </a:r>
            <a:r>
              <a:rPr/>
              <a:t>, despite being the most flexible 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small enough to read; if even that is too opaque, none of these models</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the best score here, at its default settings</a:t>
                      </a:r>
                    </a:p>
                  </a:txBody>
                </a:tc>
              </a:tr>
              <a:tr h="0">
                <a:tc>
                  <a:txBody>
                    <a:bodyPr/>
                    <a:lstStyle/>
                    <a:p>
                      <a:pPr lvl="0" indent="0" marL="0">
                        <a:buNone/>
                      </a:pPr>
                      <a:r>
                        <a:rPr/>
                        <a:t>Accuracy matters, and there is time to tune the number of trees and the learning rate together</a:t>
                      </a:r>
                    </a:p>
                  </a:txBody>
                </a:tc>
                <a:tc>
                  <a:txBody>
                    <a:bodyPr/>
                    <a:lstStyle/>
                    <a:p>
                      <a:pPr lvl="0" indent="0" marL="0">
                        <a:buNone/>
                      </a:pPr>
                      <a:r>
                        <a:rPr/>
                        <a:t>Gradient boosting, tuned on validation data</a:t>
                      </a:r>
                    </a:p>
                  </a:txBody>
                </a:tc>
              </a:tr>
              <a:tr h="0">
                <a:tc>
                  <a:txBody>
                    <a:bodyPr/>
                    <a:lstStyle/>
                    <a:p>
                      <a:pPr lvl="0" indent="0" marL="0">
                        <a:buNone/>
                      </a:pPr>
                      <a:r>
                        <a:rPr/>
                        <a:t>Many columns, few of them informative</a:t>
                      </a:r>
                    </a:p>
                  </a:txBody>
                </a:tc>
                <a:tc>
                  <a:txBody>
                    <a:bodyPr/>
                    <a:lstStyle/>
                    <a:p>
                      <a:pPr lvl="0" indent="0" marL="0">
                        <a:buNone/>
                      </a:pPr>
                      <a:r>
                        <a:rPr/>
                        <a:t>Any tree method, but check its importances by permutation</a:t>
                      </a:r>
                    </a:p>
                  </a:txBody>
                </a:tc>
              </a:tr>
              <a:tr h="0">
                <a:tc>
                  <a:txBody>
                    <a:bodyPr/>
                    <a:lstStyle/>
                    <a:p>
                      <a:pPr lvl="0" indent="0" marL="0">
                        <a:buNone/>
                      </a:pPr>
                      <a:r>
                        <a:rPr/>
                        <a:t>Too few rows to set a validation set aside</a:t>
                      </a:r>
                    </a:p>
                  </a:txBody>
                </a:tc>
                <a:tc>
                  <a:txBody>
                    <a:bodyPr/>
                    <a:lstStyle/>
                    <a:p>
                      <a:pPr lvl="0" indent="0" marL="0">
                        <a:buNone/>
                      </a:pPr>
                      <a:r>
                        <a:rPr/>
                        <a:t>A random forest, judged by its out-of-bag score</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not a bug</a:t>
            </a:r>
          </a:p>
          <a:p>
            <a:pPr lvl="0"/>
            <a:r>
              <a:rPr/>
              <a:t>Each split is offered 4 of the 22 columns: in two splits of three (0.662), neither real feature</a:t>
            </a:r>
          </a:p>
          <a:p>
            <a:pPr lvl="0"/>
            <a:r>
              <a:rPr/>
              <a:t>Averaging shrinks the </a:t>
            </a:r>
            <a:r>
              <a:rPr b="1"/>
              <a:t>prediction’s variance</a:t>
            </a:r>
            <a:r>
              <a:rPr/>
              <a:t>, not the credit given to noise</a:t>
            </a:r>
          </a:p>
          <a:p>
            <a:pPr lvl="0"/>
            <a:r>
              <a:rPr/>
              <a:t>Check: </a:t>
            </a:r>
            <a:r>
              <a:rPr b="1"/>
              <a:t>permutation importance</a:t>
            </a:r>
            <a:r>
              <a:rPr/>
              <a:t>, the accuracy lost when a held-out column is shuffled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20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