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this is a discussion. Ask who picked which family and why, and listen for the common gap: a cross-validated score quoted without any check of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sentence, run three times on the loan data. Each column is one more round; on top the cuts in the plane, the new ones in gold, and underneath the tree that asks the same questions. Point at the two halves of each column in turn: every gold line on top is a gold box underneath.</a:t>
            </a:r>
          </a:p>
          <a:p>
            <a:pPr lvl="0" indent="0" marL="0">
              <a:buNone/>
            </a:pPr>
          </a:p>
          <a:p>
            <a:pPr lvl="0" indent="0" marL="0">
              <a:buNone/>
            </a:pPr>
            <a:r>
              <a:rPr/>
              <a:t>Step 1: of every possible single question, debt ratio at or below 0.82 is the one that leaves the two groups purest - 971 applicants at 26% default against 229 at 94%. Do not say why it is the best yet; the next slides give the number that ranks it.</a:t>
            </a:r>
          </a:p>
          <a:p>
            <a:pPr lvl="0" indent="0" marL="0">
              <a:buNone/>
            </a:pPr>
          </a:p>
          <a:p>
            <a:pPr lvl="0" indent="0" marL="0">
              <a:buNone/>
            </a:pPr>
            <a:r>
              <a:rPr/>
              <a:t>Step 2 is the word “recursive” made visible. The tree now asks a question inside each group, and the two questions are different - income on the left, debt again on the right - because each group is searched on its own, without regard to the other. That is “independently” in the sentence.</a:t>
            </a:r>
          </a:p>
          <a:p>
            <a:pPr lvl="0" indent="0" marL="0">
              <a:buNone/>
            </a:pPr>
          </a:p>
          <a:p>
            <a:pPr lvl="0" indent="0" marL="0">
              <a:buNone/>
            </a:pPr>
            <a:r>
              <a:rPr/>
              <a:t>Step 3 is where to slow down, because it shows greed. On the right, one split sets aside a single applicant from 68 others - the cut at 0.948, a thousandth above the 0.947 one, so in the plane the two gold lines lie on top of each other. Someone will ask why debt is asked twice: it is not the same question, and the tree spent a split on the one applicant between them who repaid; another divides 160 applicants into 90% and 97% default - both still predicted “default”, so the cut changes no decision at all. Each was the best available move at that node; the tree has no way to ask whether it was worth making. And neither interior island has appeared yet: three rounds were spent on the easy strips. Hold that thought - it is the “what greedy misses” slide in ten minutes.</a:t>
            </a:r>
          </a:p>
          <a:p>
            <a:pPr lvl="0" indent="0" marL="0">
              <a:buNone/>
            </a:pPr>
          </a:p>
          <a:p>
            <a:pPr lvl="0" indent="0" marL="0">
              <a:buNone/>
            </a:pPr>
            <a:r>
              <a:rPr/>
              <a:t>The printout of every node is in notebook 1, section 2.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subscripts are before reading the formula: P, L and R are the parent group and its two children, the same three the handout names in words, and the m terms are how many examples are in each. The two m terms are the sizes of the left and right children, and they add to the parent’s. Read it as: what the parent’s impurity was, minus what is left after the split, weighted by how the group was divided.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arithmetic, drawn. The curve is 2p(1-p): zero for a pure group, 0.5 for a fifty-fifty one. The black dot is all 1,200 applicants at p = 0.387, impurity 0.474. The split sends 971 left, at p = 0.256, and 229 right, at p = 0.939 - teal and rust.</a:t>
            </a:r>
          </a:p>
          <a:p>
            <a:pPr lvl="0" indent="0" marL="0">
              <a:buNone/>
            </a:pPr>
          </a:p>
          <a:p>
            <a:pPr lvl="0" indent="0" marL="0">
              <a:buNone/>
            </a:pPr>
            <a:r>
              <a:rPr/>
              <a:t>The gold square is the two children averaged by size, 0.3305, and it sits on the dotted straight line between them. Point at the bulge: the curve lies above every such line, so any split that separates the classes at all lowers the weighted impurity. The gap, 0.144, is the gain, and the tree takes whichever split makes it largest.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 often each of the 1,200 loans turns up in one bootstrap sample, blue, against the limit e^-1 / k!, gold. The first bar is the out-of-bag share: 0.366 here, 0.368 in the limit. The rest are rows drawn once, twice, three times.</a:t>
            </a:r>
          </a:p>
          <a:p>
            <a:pPr lvl="0" indent="0" marL="0">
              <a:buNone/>
            </a:pPr>
          </a:p>
          <a:p>
            <a:pPr lvl="0" indent="0" marL="0">
              <a:buNone/>
            </a:pPr>
            <a:r>
              <a:rPr/>
              <a:t>The point to make: about one row in four appears two or more times. Every tree sees a different mix of repeats and absences, and that is where their disagreement - the raw material of bagging - comes from.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curves: the variance of an average of B trees, as a share of one tree’s, for rho = 0, 0.2, 0.5 and 0.8.</a:t>
            </a:r>
          </a:p>
          <a:p>
            <a:pPr lvl="0" indent="0" marL="0">
              <a:buNone/>
            </a:pPr>
          </a:p>
          <a:p>
            <a:pPr lvl="0" indent="0" marL="0">
              <a:buNone/>
            </a:pPr>
            <a:r>
              <a:rPr/>
              <a:t>Only the rho = 0 curve goes to zero. Every other one flattens onto its dotted floor: at rho = 0.5, ten trees keep 0.550 of one tree’s variance and a hundred keep 0.505. Ask the room what the curves say about adding trees past fifty - almost nothing - and what the only remaining lever is: lower rho. That is the random forest, two slides on.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Give them the first step in numbers, because it makes y - p concrete. The ensemble starts at the base rate’s log-odds, F0 = log(0.387 / 0.613) = -0.461, which predicts 0.387 for everyone. The first tree is fit to y - p: +0.613 for every applicant who defaulted, -0.387 for every one who repaid.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 coefficient of 365 where an unpenalised fit wanted billions,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8, Friday 20 November.</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which family</a:t>
            </a:r>
            <a:r>
              <a:rPr/>
              <a:t>, not the winning score</a:t>
            </a:r>
          </a:p>
          <a:p>
            <a:pPr lvl="0"/>
            <a:r>
              <a:rPr/>
              <a:t>The gap to watch for: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algorithm, drawn</a:t>
            </a:r>
          </a:p>
        </p:txBody>
      </p:sp>
      <p:pic>
        <p:nvPicPr>
          <p:cNvPr descr="tree_growth.png" id="0" name="Picture 1"/>
          <p:cNvPicPr>
            <a:picLocks noGrp="1" noChangeAspect="1"/>
          </p:cNvPicPr>
          <p:nvPr/>
        </p:nvPicPr>
        <p:blipFill>
          <a:blip r:embed="rId3"/>
          <a:stretch>
            <a:fillRect/>
          </a:stretch>
        </p:blipFill>
        <p:spPr bwMode="auto">
          <a:xfrm>
            <a:off x="1073385" y="1166099"/>
            <a:ext cx="6997230"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so “as pure as possible” has a target to maximise against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2162991" y="1815411"/>
            <a:ext cx="4818018" cy="2061556"/>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a split that purifies nine points and dumps one troublemaker into its own leaf is not free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e6f67b5356.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ΔG is judged one split at a time, never jointly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a:p>
            <a:pPr lvl="0"/>
            <a:r>
              <a:rPr/>
              <a:t>971 applicants left (0.256 defaulted), 229 right (0.939): gain </a:t>
            </a:r>
            <a:r>
              <a:rPr b="1"/>
              <a:t>0.144</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root split, on the Gini curve</a:t>
            </a:r>
          </a:p>
        </p:txBody>
      </p:sp>
      <p:pic>
        <p:nvPicPr>
          <p:cNvPr descr="gini_root_split.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 on any dataset</a:t>
            </a:r>
            <a:r>
              <a:rPr/>
              <a:t>, including one with no structure at all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 useful or not</a:t>
            </a:r>
          </a:p>
          <a:p>
            <a:pPr lvl="0"/>
            <a:r>
              <a:rPr>
                <a:latin typeface="Courier"/>
              </a:rPr>
              <a:t>max_leaf_nodes</a:t>
            </a:r>
            <a:r>
              <a:rPr/>
              <a:t> grows it </a:t>
            </a:r>
            <a:r>
              <a:rPr b="1"/>
              <a:t>best-first</a:t>
            </a:r>
            <a:r>
              <a:rPr/>
              <a:t>: always expanding whichever leaf offers the largest ΔG</a:t>
            </a:r>
          </a:p>
          <a:p>
            <a:pPr lvl="0"/>
            <a:r>
              <a:rPr/>
              <a:t>With </a:t>
            </a:r>
            <a:r>
              <a:rPr>
                <a:latin typeface="Courier"/>
              </a:rPr>
              <a:t>max_leaf_nodes = 9</a:t>
            </a:r>
            <a:r>
              <a:rPr/>
              <a:t>: </a:t>
            </a:r>
            <a:r>
              <a:rPr b="1"/>
              <a:t>90.8%</a:t>
            </a:r>
            <a:r>
              <a:rPr/>
              <a:t> training accuracy, every threshold recognisable: 28 the income floor, 0.82 the debt ceiling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A tree’s mistakes differ across resamples, as just measured, so </a:t>
            </a:r>
            <a:r>
              <a:rPr b="1"/>
              <a:t>many trees, averaged</a:t>
            </a:r>
            <a:r>
              <a:rPr/>
              <a:t> should partly cancel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only what surrounds it is new</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bootstrap sample, counted</a:t>
            </a:r>
          </a:p>
        </p:txBody>
      </p:sp>
      <p:pic>
        <p:nvPicPr>
          <p:cNvPr descr="bootstrap_counts.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agreement to within their own noise, not to every decimal</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Averaging stops at a floor</a:t>
            </a:r>
          </a:p>
        </p:txBody>
      </p:sp>
      <p:pic>
        <p:nvPicPr>
          <p:cNvPr descr="variance_floor.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different trees see different features at the same point, lowering ρ</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the impurity reduction each feature is responsible for, summed over every tree and split</a:t>
            </a:r>
          </a:p>
          <a:p>
            <a:pPr lvl="0"/>
            <a:r>
              <a:rPr/>
              <a:t>Tempting to read as “the forest tells you which features matter” - and with only the two real features here, it does exactly that</a:t>
            </a:r>
          </a:p>
          <a:p>
            <a:pPr lvl="0"/>
            <a:r>
              <a:rPr/>
              <a:t>The question: what happens once most of the columns carry </a:t>
            </a:r>
            <a:r>
              <a:rPr b="1"/>
              <a:t>nothing</a:t>
            </a:r>
            <a: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depth 2 or 3, a </a:t>
            </a:r>
            <a:r>
              <a:rPr b="1"/>
              <a:t>weak learner</a:t>
            </a:r>
          </a:p>
          <a:p>
            <a:pPr lvl="0"/>
            <a:r>
              <a:rPr/>
              <a:t>The learning rate α sets </a:t>
            </a:r>
            <a:r>
              <a:rPr b="1"/>
              <a:t>how much</a:t>
            </a:r>
            <a:r>
              <a:rPr/>
              <a:t> of each new tree’s correction is actually applied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8" y="2598540"/>
            <a:ext cx="8229583" cy="495299"/>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Fₜ₋₁(x)</a:t>
            </a:r>
          </a:p>
          <a:p>
            <a:pPr lvl="0"/>
            <a:r>
              <a:rPr/>
              <a:t>This is a special case of a more general idea: </a:t>
            </a:r>
            <a:r>
              <a:rPr b="1"/>
              <a:t>functional gradient descent</a:t>
            </a:r>
            <a:r>
              <a:rPr/>
              <a:t>: hₜ approximates the negative gradient of the loss with respect to Fₜ₋₁</a:t>
            </a:r>
          </a:p>
          <a:p>
            <a:pPr lvl="0"/>
            <a:r>
              <a:rPr/>
              <a:t>For squared error, “fit the residual” and “fit the negative gradient” coincide exactly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0.897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0.882</a:t>
                      </a:r>
                    </a:p>
                  </a:txBody>
                </a:tc>
              </a:tr>
              <a:tr h="0">
                <a:tc>
                  <a:txBody>
                    <a:bodyPr/>
                    <a:lstStyle/>
                    <a:p>
                      <a:pPr lvl="0" indent="0" marL="0">
                        <a:buNone/>
                      </a:pPr>
                      <a:r>
                        <a:rPr/>
                        <a:t>Gradient boosting, 30 trees</a:t>
                      </a:r>
                    </a:p>
                  </a:txBody>
                </a:tc>
                <a:tc>
                  <a:txBody>
                    <a:bodyPr/>
                    <a:lstStyle/>
                    <a:p>
                      <a:pPr lvl="0" indent="0" marL="0">
                        <a:buNone/>
                      </a:pPr>
                      <a:r>
                        <a:rPr/>
                        <a:t>0.897</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 point and a half of the others: </a:t>
            </a:r>
            <a:r>
              <a:rPr b="1"/>
              <a:t>which strategy</a:t>
            </a:r>
            <a:r>
              <a:rPr/>
              <a:t> matters far less than </a:t>
            </a:r>
            <a:r>
              <a:rPr b="1"/>
              <a:t>whether you ensemble at all</a:t>
            </a:r>
          </a:p>
          <a:p>
            <a:pPr lvl="0"/>
            <a:r>
              <a:rPr/>
              <a:t>The tuned single tree is close behind, 0.882 against 0.911, and the only model here a person can read</a:t>
            </a:r>
          </a:p>
          <a:p>
            <a:pPr lvl="0"/>
            <a:r>
              <a:rPr/>
              <a:t>The </a:t>
            </a:r>
            <a:r>
              <a:rPr b="1"/>
              <a:t>unconstrained tree is the worst model on the list</a:t>
            </a:r>
            <a:r>
              <a:rPr/>
              <a:t>, despite being the most flexible one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no explicit train/test split needed</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discussed at the start of </a:t>
            </a:r>
            <a:r>
              <a:rPr b="1"/>
              <a:t>Friday 20 November</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