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6 quickly — a sentence on what the class did well (most picked a defensible family) and a sentence on the common gap (several reports quoted a cross-validated score without ever checking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pc is the fraction of the group belonging to class c,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mL and mR are the sizes of the two children, mP = mL + mR. Read it as: what the parent’s impurity was, minus what is left after the split, weighted by how the group was divided. The tree keeps whichever candidate split makes Δ 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 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Ft is the previous ensemble plus a scaled correction from the newest tree, ht. Read it left to right: start flat, then keep adding small, scaled corrections.</a:t>
            </a:r>
          </a:p>
          <a:p>
            <a:pPr lvl="0" indent="0" marL="0">
              <a:buNone/>
            </a:pPr>
          </a:p>
          <a:p>
            <a:pPr lvl="0" indent="0" marL="0">
              <a:buNone/>
            </a:pPr>
            <a:r>
              <a:rPr/>
              <a:t>Do not derive anything further here — the next slide states what ht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an overfit coefficient of 247,514,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13 November, 23:59 — the same date lesson 8 begins.</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which family</a:t>
            </a:r>
            <a:r>
              <a:rPr/>
              <a:t>, not for the winning score</a:t>
            </a:r>
          </a:p>
          <a:p>
            <a:pPr lvl="0"/>
            <a:r>
              <a:rPr/>
              <a:t>The recurring gap: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683251" y="1166099"/>
            <a:ext cx="7777497" cy="3360181"/>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77488865aa.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 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 the same algorithm, compiled, not a different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 covered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 few questions, only the coarsest structure. High bias, low variance</a:t>
            </a:r>
          </a:p>
          <a:p>
            <a:pPr lvl="0"/>
            <a:r>
              <a:rPr b="1"/>
              <a:t>Deep tree</a:t>
            </a:r>
            <a:r>
              <a:rPr/>
              <a:t> — enough questions to isolate almost any subset, down to single points. At full depth, training accuracy is </a:t>
            </a:r>
            <a:r>
              <a:rPr b="1"/>
              <a:t>exactly 1.000 on any dataset</a:t>
            </a:r>
            <a:r>
              <a:rPr/>
              <a:t>, including one with no structure at all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6813" y="1166099"/>
            <a:ext cx="4870374"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 every leaf at level d splits before any leaf reaches d+1, useful or not</a:t>
            </a:r>
          </a:p>
          <a:p>
            <a:pPr lvl="0"/>
            <a:r>
              <a:rPr>
                <a:latin typeface="Courier"/>
              </a:rPr>
              <a:t>max_leaf_nodes</a:t>
            </a:r>
            <a:r>
              <a:rPr/>
              <a:t> grows it </a:t>
            </a:r>
            <a:r>
              <a:rPr b="1"/>
              <a:t>best-first</a:t>
            </a:r>
            <a:r>
              <a:rPr/>
              <a:t> — always expanding whichever leaf offers the largest Δ G</a:t>
            </a:r>
          </a:p>
          <a:p>
            <a:pPr lvl="0"/>
            <a:r>
              <a:rPr/>
              <a:t>With </a:t>
            </a:r>
            <a:r>
              <a:rPr>
                <a:latin typeface="Courier"/>
              </a:rPr>
              <a:t>max_leaf_nodes = 9</a:t>
            </a:r>
            <a:r>
              <a:rPr/>
              <a:t>: </a:t>
            </a:r>
            <a:r>
              <a:rPr b="1"/>
              <a:t>90.8%</a:t>
            </a:r>
            <a:r>
              <a:rPr/>
              <a:t> training accuracy, every threshold recognisable — 28 the income floor, 0.82 the debt ceiling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 the strongest split —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If a tree’s mistakes are somewhat random — different across resamples, as just measured — </a:t>
            </a:r>
            <a:r>
              <a:rPr b="1"/>
              <a:t>many trees, averaged</a:t>
            </a:r>
            <a:r>
              <a:rPr/>
              <a:t>, should partly cancel them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 only what surrounds it is new</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 called </a:t>
            </a:r>
            <a:r>
              <a:rPr b="1"/>
              <a:t>out-of-bag (OOB)</a:t>
            </a:r>
          </a:p>
          <a:p>
            <a:pPr lvl="0"/>
            <a:r>
              <a:rPr/>
              <a:t>At m = 1,200: a single simulated draw left out 36.6% of rows, close to the limit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 agreement to within their own noise, not to every decimal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 different trees see different features at the same point, lowering ρ</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total impurity reduction each feature is responsible for, summed and averaged across every tree and every split</a:t>
            </a:r>
          </a:p>
          <a:p>
            <a:pPr lvl="0"/>
            <a:r>
              <a:rPr/>
              <a:t>Tempting to read as “the forest tells you which features matter”</a:t>
            </a:r>
          </a:p>
          <a:p>
            <a:pPr lvl="0"/>
            <a:r>
              <a:rPr/>
              <a:t>With only the two real features in this dataset, it does exactly that</a:t>
            </a:r>
          </a:p>
          <a:p>
            <a:pPr lvl="0"/>
            <a:r>
              <a:rPr/>
              <a:t>The question: what happens once most of the columns carry </a:t>
            </a:r>
            <a:r>
              <a:rPr b="1"/>
              <a:t>nothing</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 depth 2 or 3, a </a:t>
            </a:r>
            <a:r>
              <a:rPr b="1"/>
              <a:t>weak learner</a:t>
            </a:r>
          </a:p>
          <a:p>
            <a:pPr lvl="0"/>
            <a:r>
              <a:rPr/>
              <a:t>The learning rate α sets </a:t>
            </a:r>
            <a:r>
              <a:rPr b="1"/>
              <a:t>how much</a:t>
            </a:r>
            <a:r>
              <a:rPr/>
              <a:t> of each new tree’s correction is actually applied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0" y="2554089"/>
            <a:ext cx="8229600" cy="584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Ft₋₁(x)</a:t>
            </a:r>
          </a:p>
          <a:p>
            <a:pPr lvl="0"/>
            <a:r>
              <a:rPr/>
              <a:t>This is a special case of a more general idea — </a:t>
            </a:r>
            <a:r>
              <a:rPr b="1"/>
              <a:t>functional gradient descent</a:t>
            </a:r>
            <a:r>
              <a:rPr/>
              <a:t>: ht approximates the negative gradient of the loss with respect to Ft₋₁</a:t>
            </a:r>
          </a:p>
          <a:p>
            <a:pPr lvl="0"/>
            <a:r>
              <a:rPr/>
              <a:t>For squared error, “fit the residual” and “fit the negative gradient” coincide exactly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 barely moves the flat guess</a:t>
            </a:r>
          </a:p>
          <a:p>
            <a:pPr lvl="0"/>
            <a:r>
              <a:rPr b="1"/>
              <a:t>5 trees</a:t>
            </a:r>
            <a:r>
              <a:rPr/>
              <a:t>: MSE 0.068 — the coarse shape appears</a:t>
            </a:r>
          </a:p>
          <a:p>
            <a:pPr lvl="0"/>
            <a:r>
              <a:rPr b="1"/>
              <a:t>20 trees</a:t>
            </a:r>
            <a:r>
              <a:rPr/>
              <a:t>: MSE </a:t>
            </a:r>
            <a:r>
              <a:rPr b="1"/>
              <a:t>0.012</a:t>
            </a:r>
            <a:r>
              <a:rPr/>
              <a:t> — the ensemble’s best point</a:t>
            </a:r>
          </a:p>
          <a:p>
            <a:pPr lvl="0"/>
            <a:r>
              <a:rPr b="1"/>
              <a:t>60 trees</a:t>
            </a:r>
            <a:r>
              <a:rPr/>
              <a:t>: MSE rises back to 0.018 — tracking noise, not signal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0.898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0.883</a:t>
                      </a:r>
                    </a:p>
                  </a:txBody>
                </a:tc>
              </a:tr>
              <a:tr h="0">
                <a:tc>
                  <a:txBody>
                    <a:bodyPr/>
                    <a:lstStyle/>
                    <a:p>
                      <a:pPr lvl="0" indent="0" marL="0">
                        <a:buNone/>
                      </a:pPr>
                      <a:r>
                        <a:rPr/>
                        <a:t>Gradient boosting, 30 trees</a:t>
                      </a:r>
                    </a:p>
                  </a:txBody>
                </a:tc>
                <a:tc>
                  <a:txBody>
                    <a:bodyPr/>
                    <a:lstStyle/>
                    <a:p>
                      <a:pPr lvl="0" indent="0" marL="0">
                        <a:buNone/>
                      </a:pPr>
                      <a:r>
                        <a:rPr/>
                        <a:t>0.898</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about a point and a half of the others — </a:t>
            </a:r>
            <a:r>
              <a:rPr b="1"/>
              <a:t>which strategy</a:t>
            </a:r>
            <a:r>
              <a:rPr/>
              <a:t> you pick matters far less than </a:t>
            </a:r>
            <a:r>
              <a:rPr b="1"/>
              <a:t>whether you ensemble at all</a:t>
            </a:r>
          </a:p>
          <a:p>
            <a:pPr lvl="0"/>
            <a:r>
              <a:rPr/>
              <a:t>The single tuned tree is not far behind, at 0.883 against 0.911, and it is the only model on the table a person could read start to finish</a:t>
            </a:r>
          </a:p>
          <a:p>
            <a:pPr lvl="0"/>
            <a:r>
              <a:rPr/>
              <a:t>The </a:t>
            </a:r>
            <a:r>
              <a:rPr b="1"/>
              <a:t>unconstrained tree is the worst model on the list</a:t>
            </a:r>
            <a:r>
              <a:rPr/>
              <a:t>, despite being the most flexible 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 no explicit train/test split needed</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verified to the </a:t>
            </a:r>
            <a:r>
              <a:rPr b="1"/>
              <a:t>fourth decimal place</a:t>
            </a:r>
            <a:r>
              <a:rPr/>
              <a:t> against scikit-learn</a:t>
            </a:r>
          </a:p>
          <a:p>
            <a:pPr lvl="0"/>
            <a:r>
              <a:rPr/>
              <a:t>Depth is the bias-variance dial: accuracy peaked at </a:t>
            </a:r>
            <a:r>
              <a:rPr b="1"/>
              <a:t>depth 8</a:t>
            </a:r>
            <a:r>
              <a:rPr/>
              <a:t>, three points above the unconstrained tree</a:t>
            </a:r>
          </a:p>
          <a:p>
            <a:pPr lvl="0"/>
            <a:r>
              <a:rPr/>
              <a:t>Bootstrap resampling leaves </a:t>
            </a:r>
            <a:r>
              <a:rPr b="1"/>
              <a:t>36.8%</a:t>
            </a:r>
            <a:r>
              <a:rPr/>
              <a:t> of rows out-of-bag, free validation</a:t>
            </a:r>
          </a:p>
          <a:p>
            <a:pPr lvl="0"/>
            <a:r>
              <a:rPr b="1"/>
              <a:t>54% of a random forest’s importance landed on 20 noise columns</a:t>
            </a:r>
            <a:r>
              <a:rPr/>
              <a:t> — today’s number worth remembering</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due </a:t>
            </a:r>
            <a:r>
              <a:rPr b="1"/>
              <a:t>Friday 13 November 2026, 23:59</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 Trees and Ensembles</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