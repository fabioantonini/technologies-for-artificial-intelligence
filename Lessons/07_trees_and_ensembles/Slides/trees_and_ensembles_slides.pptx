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kind of model, built on a different basic step: comparing one feature with a threshold, where k-nearest neighbours measured distances and the support vector machine computed kernels. It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Why “about” 0.93: each label is flipped with probability 7%, so 0.93 is what the true rule scores on average. In this particular sample 85 of the 1,200 labels were flipped, so the rule itself scores 1,115 / 1,200 = 0.929, and a cross-validated score can land a little either side of the ceiling by chance.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Four rules make an applicant risky: income below a floor, or debt above a ceiling, or income and debt inside one of two “stressed” rectangles, where neither reading alone is remarkable. The low-income strip runs up the left edge and the high-debt strip along the top, and they meet in the top-left corner, so together they are one L-shaped region. The two rectangles stand apart, in the interior. Four rules, then, but three separate regions.</a:t>
            </a:r>
          </a:p>
          <a:p>
            <a:pPr lvl="0" indent="0" marL="0">
              <a:buNone/>
            </a:pPr>
          </a:p>
          <a:p>
            <a:pPr lvl="0" indent="0" marL="0">
              <a:buNone/>
            </a:pPr>
            <a:r>
              <a:rPr/>
              <a:t>A predictable slip: reading the floor and the ceiling as “low income AND high debt”, one corner of the plane, instead of “low income OR high debt”, the whole L. It is a reasonable reading, because the two stressed rectangles really are an AND of two ranges; the floor and the ceiling are not, each applies on its own.</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line logistic regression actually draws, fitted on all 1,200 applicants: above it the model predicts default, below it repaid. It runs from a debt ratio of 0.40 at an income of 20 thousand euros to 0.88 at 100 thousand (notebook 1, section 1). The dashed outlines are the true risky regions, the L and the two islands.</a:t>
            </a:r>
          </a:p>
          <a:p>
            <a:pPr lvl="0" indent="0" marL="0">
              <a:buNone/>
            </a:pPr>
          </a:p>
          <a:p>
            <a:pPr lvl="0" indent="0" marL="0">
              <a:buNone/>
            </a:pPr>
            <a:r>
              <a:rPr/>
              <a:t>The title carries the two numbers to compare. Always predicting the majority class, “repaid”, scores 0.613, because 38.7% defaulted and 1 - 0.387 = 0.613. Logistic regression scores 0.748 ± 0.030 in five-fold cross-validation (the ± is the standard deviation across the five folds). Unlike lesson 6’s pumps, it clears the baseline by a wide margin: it has learned something. Most of the high-debt strip lies above the line, and the risk there rises steadily as one feature moves in one direction, which a straight boundary handles well.</a:t>
            </a:r>
          </a:p>
          <a:p>
            <a:pPr lvl="0" indent="0" marL="0">
              <a:buNone/>
            </a:pPr>
          </a:p>
          <a:p>
            <a:pPr lvl="0" indent="0" marL="0">
              <a:buNone/>
            </a:pPr>
            <a:r>
              <a:rPr/>
              <a:t>Then point at where the line goes wrong. Bottom left: income below the floor with low debt is risky, but it lies below the line; of the 87 applicants there, the model predicts 50 as repaid. Far right: at high income the line climbs above the ceiling, so debt between 0.82 and 0.88 is predicted repaid. And the line cuts straight through both islands, calling part of each healthy and the healthy territory beside them risky. Ask the room what kind of boundary could close those gaps,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The first bullet is the one students compress: nobody chooses the feature first. At every node the tree tries every feature and every threshold and keeps the best pair; how “best” is scored comes on slides 9 to 16. Contrast it explicitly with lessons 3 and 4: no cost function is minimised over a continuous parameter, there is no gradient step. The tree still learns from the data - which feature to ask about and where to put each threshold - but it learns them by trying candidates and keeping the best, not by descending a slope.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A predictable slip: “one feature per level, applied to all the applicants, then the next feature”. It is a natural reading, because a drawn tree looks like a fixed sequence of questions and the first question really is asked of everyone. It is wrong in two ways. After the first split each group is searched on its own, so the two groups can get different questions; and nothing forbids a feature from coming back - the next slide asks about debt three times on one path.</a:t>
            </a:r>
          </a:p>
          <a:p>
            <a:pPr lvl="0" indent="0" marL="0">
              <a:buNone/>
            </a:pPr>
          </a:p>
          <a:p>
            <a:pPr lvl="0" indent="0" marL="0">
              <a:buNone/>
            </a:pPr>
            <a:r>
              <a:rPr/>
              <a:t>The third bullet’s stopping rules act branch by branch, not on the whole tree. A pure group stops its own branch while the others carry on, and the algorithm is finished when every branch has stopped. Without a depth limit, every branch runs until it is pure, which is the training accuracy of 1.000 on slide 21.</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 The legend at the bottom gives the colours: gold, a question added in this step; white, a question from an earlier step; teal or rust, a group not split yet. Every box, question or group, shows its applicants and the share who defaulted, and the gain its split buys, ΔG, defined on slide 13: how much purer the two groups below are than the group above.</a:t>
            </a:r>
          </a:p>
          <a:p>
            <a:pPr lvl="0" indent="0" marL="0">
              <a:buNone/>
            </a:pPr>
          </a:p>
          <a:p>
            <a:pPr lvl="0" indent="0" marL="0">
              <a:buNone/>
            </a:pPr>
            <a:r>
              <a:rPr/>
              <a:t>Step 1: every possible single question was tried - every threshold on income and every threshold on debt, 2,234 candidates - and debt ratio at or below 0.82 is the one that leaves the two groups purest: 971 applicants at 26% default against 229 at 94%. Do not say why it is the best yet; slides 9 to 16 give the number that ranks it, and slide 15 draws all 2,234 candidates scored.</a:t>
            </a:r>
          </a:p>
          <a:p>
            <a:pPr lvl="0" indent="0" marL="0">
              <a:buNone/>
            </a:pPr>
          </a:p>
          <a:p>
            <a:pPr lvl="0" indent="0" marL="0">
              <a:buNone/>
            </a:pPr>
            <a:r>
              <a:rPr/>
              <a:t>Step 2 is the word “recursive” made visible, and the place where a student asks where the two groups of step 1 went. They are still there: each group’s box has become the question asked of it. The 971 now reads “income ≤ 28?” with 971 · 26% under it, and splits into 87 + 884 = 971; the 229 reads “debt ≤ 0.947?” and splits into 160 + 69 = 229. A leaf that is split becomes a question; its applicants do not go anywhere. The two questions are different - income on the left, debt again on the right - because each group is searched on its own, without regard to the other. That is “independently” in the sentence. Compare the two gains: the income question on the left buys 0.0836, the debt question on the right 0.0026, about thirty times less. The right one changes no prediction at all: its two groups, 160 at 96% and 69 at 88%, are both still mostly defaulted, as the 229 were. The tree makes the split anyway, because it judges impurity, not decisions, and any gain above zero is taken.</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the tree asks about debt twice. The two thresholds are different questions: exactly one applicant has a debt ratio between 0.947 and 0.948, that applicant repaid, and the tree spent a whole split on separating them. Another split divides 160 applicants into groups at 90% and 97% default - both groups are still predicted “default”, so that cut changes no decision at all. Each was the best available move at that node; the tree has no way to ask whether it was worth making. Add it up: the four splits of the third level change exactly one prediction in 1,200 - training accuracy goes from 0.8400 at depth 2 to 0.8408 at depth 3 - and that one applicant is a flipped label. Income 23.22 is below the floor and debt 0.9475 above the ceiling, so both rules say default, yet the label says repaid. The tree spent a split memorising noise.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A predictable slip: “this split is impure”. Impurity belongs to a group, not to a split. A split is then judged by the impurity of the two groups it makes, weighted by their sizes - slides 12 and 13.</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The classes are the labels a group can hold: here two, defaulted and repaid, so C = 2, and the two shares add up to 1. The third line works it on a group the room has just seen: slide 8’s right-hand group of step 1, before it is split again - 215 of the 229 defaulted, so p = 215/229 = 0.939 for defaulted and 14/229 = 0.061 for repaid; 0.939² + 0.061² = 0.885, and 1 - 0.885 = 0.115. Nearly pure. The single repaid applicant of step 3 is a pure group: 1 - (0² + 1²) = 0.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a:p>
            <a:pPr lvl="0" indent="0" marL="0">
              <a:buNone/>
            </a:pPr>
          </a:p>
          <a:p>
            <a:pPr lvl="0" indent="0" marL="0">
              <a:buNone/>
            </a:pPr>
            <a:r>
              <a:rPr/>
              <a:t>A line of colour, if there is a minute: the name is Italian. Corrado Gini (1884-1965) was a statistician, the first president of the Istituto Centrale di Statistica in 1926, the body that became ISTAT. 1 - Σ p_c² is his index of heterogeneity, “mutabilità”, from 1912; Leo Breiman and his co-authors made it the splitting criterion of their CART trees in 1984, and scikit-learn kept it. It is not the Gini coefficient of income inequality, his better-known index: same man, a different quantity, and a student who knows the coefficient may think they are one thing.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with shares p and 1 - p, 1 - (p² + (1 - p)²) = 1 - p² - (1 - 2p + p²) = 2p - 2p² = 2p(1 - p). Write that line on the board; it is the only algebra in this segment. The result has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At the root the parent’s impurity is 0.474; the left child’s is 2 × 0.256 × 0.744 = 0.381 (249 of 971 defaulted), the right child’s 2 × 0.939 × 0.061 = 0.115 (215 of 229); averaged with weights 971/1,200 = 0.809 and 229/1,200 = 0.191, 0.308 + 0.022 = 0.330, lower than 0.474.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Work the last bullet through. Cut a single example off a mixed group of 1,200. The one-example child is pure, impurity 0; the other child is as mixed as the parent was. A plain average of the two is half the parent’s impurity, so the split would look like a large gain. Weighted by size, the pure child counts for 1/1,200 of the average and the other child for the rest, so the average is almost exactly the parent’s impurity again, and the gain is close to zero.</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the depth table shows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symbols are before reading the formula: P, L and R are the parent group and its two children, as on the previous slide. Each G is the Gini impurity of one group, and each m is the number of examples in it; the two children’s m add up to the parent’s. Read it as: the parent’s impurity, minus the children’s impurities averaged with weights equal to the share of the parent that went to each child. ΔG (delta G) is the gain.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a:p>
            <a:pPr lvl="0" indent="0" marL="0">
              <a:buNone/>
            </a:pPr>
          </a:p>
          <a:p>
            <a:pPr lvl="0" indent="0" marL="0">
              <a:buNone/>
            </a:pPr>
            <a:r>
              <a:rPr/>
              <a:t>A predictable slip: subtracting the weighted average from 1 instead of from the parent’s impurity - 1 - 0.330 = 0.670 instead of 0.474 - 0.330 = 0.144 at the root. It is natural, because the Gini formula three slides back starts with “1 -”. The check that catches it: a split cannot remove more impurity than the parent had, so a gain is never larger than G of the parent, and with two classes never above 0.5.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second bullet answers the question someone will ask: a threshold is a real number, so are there not infinitely many to try? There are, but they make only finitely many different splits. At the root, two neighbouring debt ratios in the data are 0.8198 and 0.8205, with no applicant between them; a threshold of 0.8199, 0.8200 or 0.8204 sends the same 971 applicants left and the same 229 right. So one threshold per gap is enough, and the convention is the midpoint, (0.8198 + 0.8205) / 2 = 0.82015, printed 0.820 - halfway, so the threshold sits as far as possible from both values seen in training. Debt ratio has 1,139 distinct values in the data, so 1,138 gaps; income has 1,097, so 1,096. The search is exact, not an approximation. A predictable slip is to think it must be approximate because thresholds are continuous: the data are finite, so the splits are too.</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search, drawn at the root. Each point on a curve is one candidate threshold: on the left the 1,138 on debt ratio, on the right the 1,096 on income, 2,234 in all. Its height is the weighted Gini impurity of the two groups that threshold makes - each group’s 2p(1 - p), weighted by its share of the 1,200 applicants, so lower is purer. The dotted line at 0.474 is no split at all. The search keeps the lowest point on either curve: debt at 0.82, 0.330. The gain of slide 13 is the drop from the dotted line to that point, 0.474 - 0.330 = 0.144, worked out on the next slide.</a:t>
            </a:r>
          </a:p>
          <a:p>
            <a:pPr lvl="0" indent="0" marL="0">
              <a:buNone/>
            </a:pPr>
          </a:p>
          <a:p>
            <a:pPr lvl="0" indent="0" marL="0">
              <a:buNone/>
            </a:pPr>
            <a:r>
              <a:rPr/>
              <a:t>Point at the alternatives. Debt at 0.5 splits 627 applicants at 18% default from 573 at 61%: both groups stay mixed, 0.382. On income, the best threshold is close to the true floor of 28, but it scores only 0.418, because the low-income strip holds 111 applicants and leaves the other 1,089 mixed.</a:t>
            </a:r>
          </a:p>
          <a:p>
            <a:pPr lvl="0" indent="0" marL="0">
              <a:buNone/>
            </a:pPr>
          </a:p>
          <a:p>
            <a:pPr lvl="0" indent="0" marL="0">
              <a:buNone/>
            </a:pPr>
            <a:r>
              <a:rPr/>
              <a:t>A predictable slip: “the best split puts the most defaults on one side”. It is a natural reading of “purest”, but the score counts proportions, weighted by size, not numbers of defaults. Debt at 0.9 makes a right-hand group almost as pure as 0.82 does, 129 applicants at 92% default against 229 at 94%, yet scores 0.405 against 0.330, because it leaves the large left group more mixed: 1,071 at 32% against 971 at 26%. And a group pure in “repaid” counts exactly as much as one pure in “default”: the formula does not ask which class is common.</a:t>
            </a:r>
          </a:p>
          <a:p>
            <a:pPr lvl="0" indent="0" marL="0">
              <a:buNone/>
            </a:pPr>
          </a:p>
          <a:p>
            <a:pPr lvl="0" indent="0" marL="0">
              <a:buNone/>
            </a:pPr>
            <a:r>
              <a:rPr/>
              <a:t>Notebook 1, section 2, “Every threshold, scored”.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Each step starts from a count: 249 of the 971 on the left defaulted and 215 of the 229 on the right, and 249 + 215 = 464, all the defaults. The weights are each child’s share of the parent, 971/1,200 = 0.809 and 229/1,200 = 0.191. The children’s impurities, 2p(1 - p) at their own default rates, are 0.3814 for the left child and 0.1148 for the right. Their average weighted by size is 971/1,200 × 0.3814 + 229/1,200 × 0.1148 = 0.3305, and the gain is the parent’s 0.4743 minus that, 0.1438, which rounds to 0.144. Use four decimals if you work it on the board: with the impurities rounded to the slide’s 0.381 and 0.115, the weighted average comes out at 0.3302, and someone will notice.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Two predictable slips on this slide. The first is rebuilding a count from a rounded percentage: slide 8 prints the left group as 26% default, and 0.26 × 971 = 252, not 249 - the true share is 249/971 = 25.6%. Counts come first; a share rounded to two digits loses up to half a percent of the group. The second is slide 13’s: the gain is the parent’s impurity minus the weighted average, 0.474 - 0.330, not 1 - 0.330.</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Someone will ask why it sits exactly under the parent, at p = 0.387. Because the children’s p, averaged with the same weights, gives the parent’s p back, and with counts it is exact: 971/1,200 × 249/971 + 229/1,200 × 215/229 = 249/1,200 + 215/1,200 = 464/1,200 = 0.387. (With the rounded 0.809 × 0.256 + 0.191 × 0.939 it comes to 0.386: rounding again.) A split moves defaulters from one group to another; it does not create or remove any. So parent and square share one horizontal position, and the vertical gap between them is the gain.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Slides 7 to 17 in one place, as the code of notebook 1 runs it (</a:t>
            </a:r>
            <a:r>
              <a:rPr>
                <a:latin typeface="Courier"/>
              </a:rPr>
              <a:t>build_tree</a:t>
            </a:r>
            <a:r>
              <a:rPr/>
              <a:t> and </a:t>
            </a:r>
            <a:r>
              <a:rPr>
                <a:latin typeface="Courier"/>
              </a:rPr>
              <a:t>best_split</a:t>
            </a:r>
            <a:r>
              <a:rPr/>
              <a:t>, section 2). The names, line by line: g is the group being grown; stop(g) is true when the group sits at the depth limit, is pure, or has fewer than 2 examples (slide 7); leaf(g) is a leaf that predicts the group’s majority class; splits(g) lists every candidate, a feature with one of its midpoint thresholds (slide 14); ΔG(g, c) is slide 13’s formula on the two groups candidate c would make; max with key=gain.get picks the candidate with the largest gain; split makes the two groups, L and R as on slide 12; node keeps the question and its two subtrees. Read it top to bottom with the room and point at where ΔG does its two jobs, both at one node at a time. It ranks that node’s candidates - the largest wins. And it decides whether to split at all - if nothing gains, the node is a leaf.</a:t>
            </a:r>
          </a:p>
          <a:p>
            <a:pPr lvl="0" indent="0" marL="0">
              <a:buNone/>
            </a:pPr>
          </a:p>
          <a:p>
            <a:pPr lvl="0" indent="0" marL="0">
              <a:buNone/>
            </a:pPr>
            <a:r>
              <a:rPr/>
              <a:t>Then the recursion, which is the line students skip: each child calls grow on its own examples, with its own G as the parent’s and its own size as m. ΔG is never added up across nodes or compared between them in this loop - slide 25’s </a:t>
            </a:r>
            <a:r>
              <a:rPr>
                <a:latin typeface="Courier"/>
              </a:rPr>
              <a:t>max_leaf_nodes</a:t>
            </a:r>
            <a:r>
              <a:rPr/>
              <a:t> is the exception, and compares them on purpose. Walk slide 8’s tree through it: the root, 2,234 candidates, the best gains 0.1438; the left group of 971 runs the loop again and its best gains 0.0836; the right group of 229 runs it and its best gains 0.0026, small but above 0, so the split is made; at depth 3 every call stops on the first line.</a:t>
            </a:r>
          </a:p>
          <a:p>
            <a:pPr lvl="0" indent="0" marL="0">
              <a:buNone/>
            </a:pPr>
          </a:p>
          <a:p>
            <a:pPr lvl="0" indent="0" marL="0">
              <a:buNone/>
            </a:pPr>
            <a:r>
              <a:rPr/>
              <a:t>Handout section 2.1.</a:t>
            </a:r>
          </a:p>
          <a:p>
            <a:pPr lvl="0" indent="0" marL="0">
              <a:buNone/>
            </a:pPr>
          </a:p>
          <a:p>
            <a:pPr lvl="0" indent="0" marL="0">
              <a:buNone/>
            </a:pPr>
            <a:r>
              <a:rPr/>
              <a:t>What the two return, because the code hides it. leaf(g) is a new object that keeps one thing, the majority class of g, as its prediction; it does not keep the examples. node(best, grow(L), grow(R)) is a question node holding three things: the question, and the two subtrees. Python evaluates the arguments first, so grow(L) and grow(R) run all the way down before the node that holds them is built: the tree is assembled from the leaves upward, depth first. At the root that is node((debt, 0.82), grow(the 971), grow(the 229)). And max with key=gain.get returns the candidate whose gain is largest, not the gain; gain[best] is the gain. Two predictable slips follow from reading too fast: “the function returns g” (it returns a leaf built from g), and “max gives the best gain” (it gives the best candidate).</a:t>
            </a:r>
          </a:p>
          <a:p>
            <a:pPr lvl="0" indent="0" marL="0">
              <a:buNone/>
            </a:pPr>
          </a:p>
          <a:p>
            <a:pPr lvl="0" indent="0" marL="0">
              <a:buNone/>
            </a:pPr>
            <a:r>
              <a:rPr/>
              <a:t>Training builds the tree; inference walks it. To predict for a new applicant, start at the root: at a question node go left if the applicant’s value is at or below the threshold, right otherwise, until a leaf, and return its class - notebook 1’s predict_one. The costs are lopsided: training scores every candidate at every node; a prediction is at most max_depth comparisons, 8 for the best tree here, however large the training set. Lesson 6’s k-nearest neighbours is the opposite: nothing to train, and every prediction compares the new point with all the training points.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Identical predictions do not by themselves prove the two trees are identical node by node - two different trees can agree on every row they are shown - but the notebook also prints the same root split, debt ratio at 0.82, from both. And why on the training data, after lesson 5? Because this checks the code, not the model: the question is whether two programs make the same decisions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a:p>
            <a:pPr lvl="0" indent="0" marL="0">
              <a:buNone/>
            </a:pPr>
          </a:p>
          <a:p>
            <a:pPr lvl="0" indent="0" marL="0">
              <a:buNone/>
            </a:pPr>
            <a:r>
              <a:rPr/>
              <a:t>Greedy is short-sighted, not blind. Each edge of an island pays a little on its own, so with enough depth the tree finds the islands one edge at a time: slide 8’s third step already cuts the 884 at debt 0.404, next to island A’s lower edge at 0.40, and by depth 8 both islands are drawn (slide 24). Greedy fails outright only where a single cut pays nothing at all - a chessboard, or the exclusive-or (XOR) of two features, where every first cut leaves both sides exactly as mixed as before.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 the answer is that splitting does not have to stop until every leaf is pure, at worst one example per leaf, which it then “predicts” perfectly by definition. The one exception is the condition on the slide: two applicants with identical income and debt but different outcomes can never be split apart, so one of them stays wrong. With two continuous features drawn at random, as here, that does not happen. That number demonstrates the model class can memorise, not that anything has been learned - the same reading lesson 6 gave k = 1’s training accuracy.</a:t>
            </a:r>
          </a:p>
          <a:p>
            <a:pPr lvl="0" indent="0" marL="0">
              <a:buNone/>
            </a:pPr>
          </a:p>
          <a:p>
            <a:pPr lvl="0" indent="0" marL="0">
              <a:buNone/>
            </a:pPr>
            <a:r>
              <a:rPr/>
              <a:t>Handout section 3.</a:t>
            </a:r>
          </a:p>
          <a:p>
            <a:pPr lvl="0" indent="0" marL="0">
              <a:buNone/>
            </a:pPr>
          </a:p>
          <a:p>
            <a:pPr lvl="0" indent="0" marL="0">
              <a:buNone/>
            </a:pPr>
            <a:r>
              <a:rPr/>
              <a:t>Two intuitions that land, both from notebook 1’s depth table. Who votes in a leaf: a leaf predicts the majority of its applicants. At depth 2 there are 4 leaves with a median of 123.5 applicants each, a vote of a hundred; the unconstrained tree has 156 leaves with a median of 2, and 72 of them hold a single applicant - a prediction made from one person’s label, lesson 6’s k = 1. And the line at 0.929: the true rule itself scores 1,115/1,200 = 0.929 on these labels, because 85 were flipped. A training accuracy above that line means the tree agrees with the labels better than the truth does, so it must be reproducing flipped labels: depth 8 is just past it at 0.951, the unconstrained tree has learned all 85. The gold dashed line on slide 23 is that line. If an image helps: a checklist of three questions written from last year’s customers works on this year’s; fifty questions, each written about one past customer, do not.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a:p>
            <a:pPr lvl="0" indent="0" marL="0">
              <a:buNone/>
            </a:pPr>
          </a:p>
          <a:p>
            <a:pPr lvl="0" indent="0" marL="0">
              <a:buNone/>
            </a:pPr>
            <a:r>
              <a:rPr/>
              <a:t>What “cross-validated” and “±” mean here, since the table leans on lesson 5. Five-fold stratified cross-validation: the 1,200 are cut into five folds of 240, each with the same default share; five times, the tree trains on 960 and is scored on the 240 it did not see. At depth 8 the five scores are 210, 211, 215, 214 and 209 correct out of 240: 0.875, 0.879, 0.896, 0.892, 0.871. The table shows their mean, (0.875 + 0.879 + 0.896 + 0.892 + 0.871) / 5 = 0.882, and after ± their standard deviation, 0.010 - how much the score moves from one fold to another. It is not a confidence interval.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The gold dashed line is the noise ceiling from the dataset slide, 0.93: one minus the 7% of flipped labels.</a:t>
            </a:r>
          </a:p>
          <a:p>
            <a:pPr lvl="0" indent="0" marL="0">
              <a:buNone/>
            </a:pPr>
          </a:p>
          <a:p>
            <a:pPr lvl="0" indent="0" marL="0">
              <a:buNone/>
            </a:pPr>
            <a:r>
              <a:rPr/>
              <a:t>This is not the first time this course has shown a curve bend this way: lesson 3’s test error turned back up as the polynomial degree grew, and lesson 6’s k-nearest neighbours did the same as k shrank towards 1. Handout section 3.</a:t>
            </a:r>
          </a:p>
          <a:p>
            <a:pPr lvl="0" indent="0" marL="0">
              <a:buNone/>
            </a:pPr>
          </a:p>
          <a:p>
            <a:pPr lvl="0" indent="0" marL="0">
              <a:buNone/>
            </a:pPr>
            <a:r>
              <a:rPr/>
              <a:t>Why the blue curve may cross the gold line and the rust one may not. The ceiling is the best a model can expect on new applicants, whose flipped labels it cannot know. On its own training data it can do better, by memorising them: the crossing, just before depth 8, is where memorising starts, and at 1.000 all 85 flipped labels are learned. A predictable slip: “a score above the noise ceiling means a bug”. True for new data, false for training data. Two reading details: the shaded band is ± one standard deviation across the five folds, and the plot has eleven depths where the table had seven; “20” on the axis stands for the unconstrained tree, whose real depth is 24.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every applicant answers at most two questions. The tree asks three in all - it is exactly the tree of step 2 on slide 8 - but the third, on the right, splits 229 high-debt applicants into two groups that are both predicted “default”, so it changes no prediction and draws no line. What the boundary shows is the income floor and the debt ceiling - the two biggest, easiest-to-find regions - and neither interior island is visible at all. At depth 8 both islands appear, close to the rectangles of the rule that generated the data though not exact, and a few thin slivers have already started - its training accuracy, 0.951, is past the 0.929 line. At full depth the boundary has grown a fringe of tiny rectangles chasing individual flipped labels, in both colours: rust ones in healthy territory and teal ones inside the risky strips, where a flipped “repaid” label sits - slide 8’s applicant at income 23.22 and debt 0.9475 is one, in the top-left corner.</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The two knobs limit different things. A depth cap limits how long any one path can be, and inside that cap every node that can be split is split - slide 24’s depth-2 tree spent one of its three questions on a split that changed no prediction. A leaf budget limits how many leaves the whole tree may have, and spends them one at a time on whichever leaf gains most - compared across all the current leaves, each leaf’s gain weighted by its share of all the applicants. It is the one place where gains at different nodes are compared, which slide 18’s loop never does. For a tree meant to be read rather than merely scored, the budget is the better knob: a small number of splits goes to the ones that matter most.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a:p>
            <a:pPr lvl="0" indent="0" marL="0">
              <a:buNone/>
            </a:pPr>
          </a:p>
          <a:p>
            <a:pPr lvl="0" indent="0" marL="0">
              <a:buNone/>
            </a:pPr>
            <a:r>
              <a:rPr/>
              <a:t>The cross-validated 0.901 is the surprise to dwell on: nine leaves spent where they gain most beat 71 spent evenly by the depth-8 tree (0.882), and come within a point of bagging on slide 54. It is this dataset: its rule is made of axis-aligned rectangles, exactly the shape a few well-placed thresholds draw. The 9 was chosen for readability, not by trying budgets on the folds, so it is not tuned to them.</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between the two samples, 0.820 against 0.819, because the evidence behind it is overwhelming: each tree sees 780 applicants, and on the full data the debt ceiling separates 26% default from 94%, a contrast no sample of that size can hide. Every later split is made inside a smaller group, supported by far fewer applicants, and those splits are what actually determine a tree’s shape.</a:t>
            </a:r>
          </a:p>
          <a:p>
            <a:pPr lvl="0" indent="0" marL="0">
              <a:buNone/>
            </a:pPr>
          </a:p>
          <a:p>
            <a:pPr lvl="0" indent="0" marL="0">
              <a:buNone/>
            </a:pPr>
            <a:r>
              <a:rPr/>
              <a:t>“Without replacement” means each of the 780 is a different applicant, like cards dealt without putting them back; the two samples share 499. With replacement, a card goes back and can come out twice - that is the bootstrap, two slides after the break. Ask the room what 140 opposite verdicts between two trees fit to overlapping samples of the same applicants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two trees, drawn. Left and middle: their boundaries, from two random samples of 780 drawn from the same 1,200 applicants. The strips agree: both find the income floor and the debt ceiling. The interior does not: tree A draws one long band across both islands, tree B finds island A and misses island B. Right: the 140 applicants they give opposite verdicts to, in gold.</a:t>
            </a:r>
          </a:p>
          <a:p>
            <a:pPr lvl="0" indent="0" marL="0">
              <a:buNone/>
            </a:pPr>
          </a:p>
          <a:p>
            <a:pPr lvl="0" indent="0" marL="0">
              <a:buNone/>
            </a:pPr>
            <a:r>
              <a:rPr/>
              <a:t>Let the room notice where the gold points sit before saying it: almost all of them around the two islands, where each split was decided by a few dozen applicants. That is a tree’s variance, made visible - and the gold points are exactly what averaging many trees will settle by vote, after the break.</a:t>
            </a:r>
          </a:p>
          <a:p>
            <a:pPr lvl="0" indent="0" marL="0">
              <a:buNone/>
            </a:pPr>
          </a:p>
          <a:p>
            <a:pPr lvl="0" indent="0" marL="0">
              <a:buNone/>
            </a:pPr>
            <a:r>
              <a:rPr/>
              <a:t>Notebook 1, section 4. 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 Decision trees from scratch, checked against scikit-learn; depth swept, the boundaries drawn, and the instability measured.</a:t>
            </a:r>
          </a:p>
          <a:p>
            <a:pPr lvl="0" indent="0" marL="0">
              <a:buNone/>
            </a:pPr>
          </a:p>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the notebook prints an agreement of 0.883 and 140 opposite verdicts, the numbers of slides 26 and 27, and draws slide 27’s figure; seeing it appear on their own screen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Slides 26 and 27, before the break, measured that two trees fit to overlapping samples give opposite verdicts on 140 of the 1,200 applicants. If those disagreements are close to random, averaging many such trees should cancel some of them out - that is the entire idea behind bagging, bootstrap aggregating.</a:t>
            </a:r>
          </a:p>
          <a:p>
            <a:pPr lvl="0" indent="0" marL="0">
              <a:buNone/>
            </a:pPr>
          </a:p>
          <a:p>
            <a:pPr lvl="0" indent="0" marL="0">
              <a:buNone/>
            </a:pPr>
            <a:r>
              <a:rPr/>
              <a:t>Say that the tree algorithm itself is unchanged: bagging reuses the first hour’s tree as it is, and only what surrounds it is new.</a:t>
            </a:r>
          </a:p>
          <a:p>
            <a:pPr lvl="0" indent="0" marL="0">
              <a:buNone/>
            </a:pPr>
          </a:p>
          <a:p>
            <a:pPr lvl="0" indent="0" marL="0">
              <a:buNone/>
            </a:pPr>
            <a:r>
              <a:rPr/>
              <a:t>Be precise about “with replacement”: some rows appear more than once in a given sample, some not at all. That leftover fraction is not wasted - it becomes free validation data, on slide 33.</a:t>
            </a:r>
          </a:p>
          <a:p>
            <a:pPr lvl="0" indent="0" marL="0">
              <a:buNone/>
            </a:pPr>
          </a:p>
          <a:p>
            <a:pPr lvl="0" indent="0" marL="0">
              <a:buNone/>
            </a:pPr>
            <a:r>
              <a:rPr/>
              <a:t>One detail of the In code line, if asked: scikit-learn’s </a:t>
            </a:r>
            <a:r>
              <a:rPr>
                <a:latin typeface="Courier"/>
              </a:rPr>
              <a:t>BaggingClassifier</a:t>
            </a:r>
            <a:r>
              <a:rPr/>
              <a:t> does not count votes, it averages the trees’ predicted probabilities. With fully grown trees the two are the same thing: every leaf is pure, so each tree’s probability is 0 or 1, and averaging 0s and 1s is counting votes. So notebook 2’s own majority-vote version and scikit-learn’s apply the same rule. They do not use the same trees - each draws its own bootstrap samples - and still they make the same prediction for all 360 test applicants, 0.872 both: with 100 trees, the luck of any one sample is outvoted.</a:t>
            </a:r>
          </a:p>
          <a:p>
            <a:pPr lvl="0" indent="0" marL="0">
              <a:buNone/>
            </a:pPr>
          </a:p>
          <a:p>
            <a:pPr lvl="0" indent="0" marL="0">
              <a:buNone/>
            </a:pPr>
            <a:r>
              <a:rPr/>
              <a:t>Handout section 5.</a:t>
            </a:r>
          </a:p>
          <a:p>
            <a:pPr lvl="0" indent="0" marL="0">
              <a:buNone/>
            </a:pPr>
          </a:p>
          <a:p>
            <a:pPr lvl="0" indent="0" marL="0">
              <a:buNone/>
            </a:pPr>
            <a:r>
              <a:rPr/>
              <a:t>History, in one line: bagging is Leo Breiman’s, published in 1996 under the title “Bagging predictors” - the same Breiman who co-wrote the CART trees of 1984 and, five years later, the random forest.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one line of reasoning, not the limit. Each draw misses a given row with probability 1 - 1/m, and the m draws are independent, so the row is missed by all of them with probability (1 - 1/m) to the power m. At m = 1,200 that is 0.3677; as m grows it tends to 1/e, 0.368, which is the standard exponential limit worked out in handout section 5.1. What matters here is the consequence: every bootstrap tree automatically leaves out over a third of the rows, and never sees them.</a:t>
            </a:r>
          </a:p>
          <a:p>
            <a:pPr lvl="0" indent="0" marL="0">
              <a:buNone/>
            </a:pPr>
          </a:p>
          <a:p>
            <a:pPr lvl="0" indent="0" marL="0">
              <a:buNone/>
            </a:pPr>
            <a:r>
              <a:rPr/>
              <a:t>A predictable slip: “so each tree is trained on 63.2% of the data, 759 rows”. It is reasonable, because 63.2% is the number on the slide. But the sample still has 1,200 draws: about 759 different rows, and the other 441 draws are repeats of rows already drawn. The tree sees 1,200 rows, some of them twice or three times - the next slide counts them.</a:t>
            </a:r>
          </a:p>
          <a:p>
            <a:pPr lvl="0" indent="0" marL="0">
              <a:buNone/>
            </a:pPr>
          </a:p>
          <a:p>
            <a:pPr lvl="0" indent="0" marL="0">
              <a:buNone/>
            </a:pPr>
            <a:r>
              <a:rPr/>
              <a:t>Ask the room what that leftover third is good for. The answer is slide 33, after the counts: it is validation data for exactly the trees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Where the gold bars come from, if asked: the number of times one row is drawn counts successes in 1,200 draws, each with probability 1/1,200. As the number of draws grows with the chance kept at one per row, that count follows the Poisson distribution with mean 1, which gives a fraction e^-1 / k! of rows drawn exactly k times: 0.368 never, 0.368 once, 0.184 twice, 0.061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forest here comes four slides before its definition: a random forest is bagging with one extra rule, which slide 37 gives, and scikit-learn computes the OOB score for it with </a:t>
            </a:r>
            <a:r>
              <a:rPr>
                <a:latin typeface="Courier"/>
              </a:rPr>
              <a:t>oob_score=True</a:t>
            </a:r>
            <a:r>
              <a:rPr/>
              <a:t>. For this slide, read it as “300 bagged trees”.</a:t>
            </a:r>
          </a:p>
          <a:p>
            <a:pPr lvl="0" indent="0" marL="0">
              <a:buNone/>
            </a:pPr>
          </a:p>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the OOB score works like cross-validation: every row is scored only by models that never saw it. The bookkeeping differs. In 5-fold cross-validation each fold is scored by a whole forest trained without that fold. Out-of-bag, each row is scored by the trees whose bootstrap sample missed it - about a third of the forest, and a different third for each row. There is no single out-of-bag set.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handout section 5.2, and it does not belong on a slide. Read the formula on the slide in two pieces: the first term, sigma squared over B, shrinks as trees are added; the second, (B - 1)/B times rho sigma squared, grows towards rho sigma squared and stays there.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 The bullet is worded with care on purpose. For an average of numbers, averaging leaves the bias exactly where it was. A vote between classifiers is not an average of numbers, and it can change which side of the boundary a point falls on - which is why, two slides on, bagging raises the mean accuracy and not only narrows the spread. What no amount of voting can do is fix a mistake that every tree makes.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random 70/30 splits of the loan data, both numbers moved in the predicted direction. The mean rose, because bagging also averages out some of a deep tree’s overfitting; the spread fell, which is what the formula of slide 34 leads us to expect. Say precisely what was measured, because it is not the formula’s quantity: the formula is about the variance of one prediction over bootstrap samples, while this table is the spread of test accuracy over 30 different train/test splits, which also carries the luck of which applicants landed in each test set. The measurement is consistent with the formula, not a direct check of it.</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a:p>
            <a:pPr lvl="0" indent="0" marL="0">
              <a:buNone/>
            </a:pPr>
          </a:p>
          <a:p>
            <a:pPr lvl="0" indent="0" marL="0">
              <a:buNone/>
            </a:pPr>
            <a:r>
              <a:rPr/>
              <a:t>History: Leo Breiman’s paper “Random Forests” appeared in 2001 (it is in the handout’s further reading). Breiman, a Berkeley statistician who had spent years as an industrial consultant, also wrote that year’s “Statistical Modeling: The Two Cultures”, a defence of judging models by how well they predict.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30 random 70/30 splits as the bagging table, now with the random forest added and drawn rather than tabulated (notebook 2, section 3). Each dot is one split’s test accuracy; the box holds the middle half of the 30, the red line is the median.</a:t>
            </a:r>
          </a:p>
          <a:p>
            <a:pPr lvl="0" indent="0" marL="0">
              <a:buNone/>
            </a:pPr>
          </a:p>
          <a:p>
            <a:pPr lvl="0" indent="0" marL="0">
              <a:buNone/>
            </a:pPr>
            <a:r>
              <a:rPr/>
              <a:t>Read it left to right: the boxes rise and narrow together. In numbers, the means are 0.856, 0.902 and 0.908, and the standard deviations 0.0185, 0.0153 and 0.0137. The random forest beats plain bagging on both counts - a better mean and a tighter spread - consistent with ρ having fallen further, as the restriction on the previous slide predicts. The step from bagging to the forest is much smaller than the step from one tree to bagging: averaging did most of the work, decorrelating added a little more.</a:t>
            </a:r>
          </a:p>
          <a:p>
            <a:pPr lvl="0" indent="0" marL="0">
              <a:buNone/>
            </a:pPr>
          </a:p>
          <a:p>
            <a:pPr lvl="0" indent="0" marL="0">
              <a:buNone/>
            </a:pPr>
            <a:r>
              <a:rPr/>
              <a:t>Say plainly what has and hasn’t changed: nothing about the splitting rule is different from the first hour’s trees. The only change across the three boxes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is plotted before pointing at it (notebook 2, section 5): a 300-tree random forest on the loan data with 0, 5 and 20 columns of random numbers added. Red, left axis: cross-validated accuracy. Blue, right axis: the share of the forest’s importance that lands on the noise columns.</a:t>
            </a:r>
          </a:p>
          <a:p>
            <a:pPr lvl="0" indent="0" marL="0">
              <a:buNone/>
            </a:pPr>
          </a:p>
          <a:p>
            <a:pPr lvl="0" indent="0" marL="0">
              <a:buNone/>
            </a:pPr>
            <a:r>
              <a:rPr/>
              <a:t>Follow the blue line, slowly, and let the last point sit before explaining anything: 0% with no noise, 33.9% with 5 columns, 54.5% with 20. With 20 pure-noise columns against 2 real features, more than half of the forest’s own importance scores land on columns that are </a:t>
            </a:r>
            <a:r>
              <a:rPr>
                <a:latin typeface="Courier"/>
              </a:rPr>
              <a:t>np.random.normal</a:t>
            </a:r>
            <a:r>
              <a:rPr/>
              <a:t> noise by construction. The red line falls at the same time, from 0.912 to 0.837, but gently: nothing in the accuracy warns that the importances have gone wrong.</a:t>
            </a:r>
          </a:p>
          <a:p>
            <a:pPr lvl="0" indent="0" marL="0">
              <a:buNone/>
            </a:pPr>
          </a:p>
          <a:p>
            <a:pPr lvl="0" indent="0" marL="0">
              <a:buNone/>
            </a:pPr>
            <a:r>
              <a:rPr/>
              <a:t>Name the instinct this breaks, and defend it before moving on: expecting an average over hundreds of trees to wash out noise is entirely reasonable - the variance-reduction result of the averaging slides is real and measured, and it does point the same way. It reduces the variance of the </a:t>
            </a:r>
            <a:r>
              <a:rPr i="1"/>
              <a:t>prediction</a:t>
            </a:r>
            <a:r>
              <a:rPr/>
              <a:t>. It does not guarantee small importance for irrelevant columns. Two things hand credit to noise, and slide 57 takes them apart: the random, incomplete menu at each split, and the deep splits on small groups, where some noise column always lowers the impurity a little by chance.</a:t>
            </a:r>
          </a:p>
          <a:p>
            <a:pPr lvl="0" indent="0" marL="0">
              <a:buNone/>
            </a:pPr>
          </a:p>
          <a:p>
            <a:pPr lvl="0" indent="0" marL="0">
              <a:buNone/>
            </a:pPr>
            <a:r>
              <a:rPr/>
              <a:t>The mechanism is in handout section 7. The practical consequence to leave them with: treat a random forest’s importances as suggestive, not definitive, when real features are few against many candidate columns - and check them,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method and say its recipe before pointing at the figure. </a:t>
            </a:r>
            <a:r>
              <a:rPr b="1"/>
              <a:t>Permutation importance</a:t>
            </a:r>
            <a:r>
              <a:rPr/>
              <a:t>: take a fitted model and data it was not trained on; shuffle the values of one column, so that column no longer says anything about the applicant in its row; score the model again. The accuracy lost is that column’s importance. Repeat for every column. If the model never really used a column, shuffling it costs nothing.</a:t>
            </a:r>
          </a:p>
          <a:p>
            <a:pPr lvl="0" indent="0" marL="0">
              <a:buNone/>
            </a:pPr>
          </a:p>
          <a:p>
            <a:pPr lvl="0" indent="0" marL="0">
              <a:buNone/>
            </a:pPr>
            <a:r>
              <a:rPr/>
              <a:t>The figure is the 20-noise-column forest, trained on 70% of the applicants and checked on the other 30% (notebook 2, section 6). Left, the importance the forest reports for itself: more than half of it on the twenty noise columns. Right, the same 22 columns by permutation: debt ratio costs 0.18 of accuracy when shuffled, income 0.09, and every noise column costs almost nothing - between 0.003 lost and 0.002 gained.</a:t>
            </a:r>
          </a:p>
          <a:p>
            <a:pPr lvl="0" indent="0" marL="0">
              <a:buNone/>
            </a:pPr>
          </a:p>
          <a:p>
            <a:pPr lvl="0" indent="0" marL="0">
              <a:buNone/>
            </a:pPr>
            <a:r>
              <a:rPr/>
              <a:t>Two things to stress. Almost nothing, not exactly nothing: shuffling is random and the test set is finite, so a useless column moves the score by a few thousandths either way. And held-out data is what makes the check honest: on the training rows a deep forest has memorised its noise columns, and shuffling them would cost something there.</a:t>
            </a:r>
          </a:p>
          <a:p>
            <a:pPr lvl="0" indent="0" marL="0">
              <a:buNone/>
            </a:pPr>
          </a:p>
          <a:p>
            <a:pPr lvl="0" indent="0" marL="0">
              <a:buNone/>
            </a:pPr>
            <a:r>
              <a:rPr/>
              <a:t>The check costs one function call. The lesson to leave: a ranking the model reports about itself is a claim; shuffling on held-out data is the test of it.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bagging from scratch and against scikit-learn, the out-of-bag score checked against cross-validation, the variance measured over 30 splits, the noise-column experiment, and the permutation check of the previous slide. Section 4 of the notebook is reading only, which is why the table skips it.</a:t>
            </a:r>
          </a:p>
          <a:p>
            <a:pPr lvl="0" indent="0" marL="0">
              <a:buNone/>
            </a:pPr>
          </a:p>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section 6 also tries </a:t>
            </a:r>
            <a:r>
              <a:rPr>
                <a:latin typeface="Courier"/>
              </a:rPr>
              <a:t>max_features=None</a:t>
            </a:r>
            <a:r>
              <a:rPr/>
              <a:t> instead of the default </a:t>
            </a:r>
            <a:r>
              <a:rPr>
                <a:latin typeface="Courier"/>
              </a:rPr>
              <a:t>"sqrt"</a:t>
            </a:r>
            <a:r>
              <a:rPr/>
              <a:t>: every split sees all 22 columns. Ask them to predict the noise share before running it. Most will say it falls to about zero, since the real features are now always on offer. It falls only to 28%, and the accuracy rises from 0.837 to 0.897. Slide 57 explains both.</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Slow down on “regression tree”, because it is new. “Shallow” means depth 2 or 3 here. Everything so far this lesson was a classification tree: leaves vote, splits are scored by Gini. A boosted tree is fit to corrections, which are numbers like +0.613 or -0.387, not classes, so it is the regression version of the same algorithm: the same greedy search over features and thresholds, but each leaf predicts the average correction of the examples in it, and a split is scored by how much it lowers the squared error around those averages. Even </a:t>
            </a:r>
            <a:r>
              <a:rPr>
                <a:latin typeface="Courier"/>
              </a:rPr>
              <a:t>GradientBoostingClassifier</a:t>
            </a:r>
            <a:r>
              <a:rPr/>
              <a:t> grows regression trees inside.</a:t>
            </a:r>
          </a:p>
          <a:p>
            <a:pPr lvl="0" indent="0" marL="0">
              <a:buNone/>
            </a:pPr>
          </a:p>
          <a:p>
            <a:pPr lvl="0" indent="0" marL="0">
              <a:buNone/>
            </a:pPr>
            <a:r>
              <a:rPr/>
              <a:t>A predictable slip, worth naming now: “the final task is classification, so each boosted tree votes default or repaid, like a tree in a forest”. It is reasonable - every ensemble so far was made of trees that vote. But a boosted tree never outputs a class. It outputs a correction that is added to a running score, and only the final score is turned into a class.</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a:p>
            <a:pPr lvl="0" indent="0" marL="0">
              <a:buNone/>
            </a:pPr>
          </a:p>
          <a:p>
            <a:pPr lvl="0" indent="0" marL="0">
              <a:buNone/>
            </a:pPr>
            <a:r>
              <a:rPr/>
              <a:t>History: the first boosting algorithm to work in practice was AdaBoost, by Yoav Freund and Robert Schapire (1995-1997), which reweighted the examples the trees so far got wrong; it won them the Gödel Prize in 2003. Jerome Friedman’s 2001 paper (in the further reading) recast the idea as gradient descent on a loss, which is the version this lesson teaches and scikit-learn implements.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best single constant for the loss being used. For squared error, as on this slide and the next three, that is the mean of the target; for classification it will be the log-odds of the base rate (slide 48).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 code line is the whole from-scratch loop of notebook 3, section 1: fit a depth-2 regression tree to the residuals, add 0.3 times its predictions to the running prediction, repeat sixty times.</a:t>
            </a:r>
          </a:p>
          <a:p>
            <a:pPr lvl="0" indent="0" marL="0">
              <a:buNone/>
            </a:pPr>
          </a:p>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The one line of algebra connecting the two is on the slide; handout section 8 sets it out.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new toy dataset, so say what it is before anything else: 200 points on one input x, whose true value is a three-level step function plus a gentle sine wave (the black line), observed with noise (the grey dots). Sixty depth-2 trees, learning rate 0.3, are fit to it. Walk through the coloured curves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curve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of the depth table,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The sigma here is lesson 4’s logistic function, 1 / (1 + e^-F), not the sigma squared of the variance slides: the slide says so, say it aloud once too, since the same letter has just meant something else.</a:t>
            </a:r>
          </a:p>
          <a:p>
            <a:pPr lvl="0" indent="0" marL="0">
              <a:buNone/>
            </a:pPr>
          </a:p>
          <a:p>
            <a:pPr lvl="0" indent="0" marL="0">
              <a:buNone/>
            </a:pPr>
            <a:r>
              <a:rPr/>
              <a:t>Give them the first step in numbers, because it makes y - p concrete. The ensemble starts at the base rate’s log-odds: 464 of the 1,200 defaulted, so F0 = log(464 / 736) = -0.461, which the logistic function turns back into 0.387 for everyone. The first tree is fit to y - p: +0.613 for every applicant who defaulted, -0.387 for every one who repaid.</a:t>
            </a:r>
          </a:p>
          <a:p>
            <a:pPr lvl="0" indent="0" marL="0">
              <a:buNone/>
            </a:pPr>
          </a:p>
          <a:p>
            <a:pPr lvl="0" indent="0" marL="0">
              <a:buNone/>
            </a:pPr>
            <a:r>
              <a:rPr/>
              <a:t>A predictable slip: “so the update is p plus alpha times (y - p)”. It is reasonable, because y - p is a difference of probabilities. But the trees correct the score F, not p: F moves by alpha times the tree’s output, and only then does the logistic function turn the new F into a new p. That is what keeps p between 0 and 1 however large the corrections add up.</a:t>
            </a:r>
          </a:p>
          <a:p>
            <a:pPr lvl="0" indent="0" marL="0">
              <a:buNone/>
            </a:pPr>
          </a:p>
          <a:p>
            <a:pPr lvl="0" indent="0" marL="0">
              <a:buNone/>
            </a:pPr>
            <a:r>
              <a:rPr/>
              <a:t>One detail, if someone has read scikit-learn’s source. The tree’s splits are chosen on y - p exactly as described. The number written in each leaf is then recomputed: the sum of y - p over the leaf divided by the sum of p(1 - p), one Newton step on the log-loss rather than the plain mean. The splits come from the residuals; the size of each step takes the curvature of the loss into account. Handout section 9 has it in one sentence; nothing in the lesson depends on it.</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the depth table, 0.882 at depth 8,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its training loss for as long as it runs, because every new tree is built specifically to reduce what remains - including the 7% of labels that are noise by construction. There is nothing in the algorithm itself that says “stop”. Be exact about which quantity: the log-loss on the training data never goes up, while training accuracy only follows it on the whole - fit to all 1,200 applicants with 800 trees, it dips at a handful of individual steps, too small to show in this table (handout section 10).</a:t>
            </a:r>
          </a:p>
          <a:p>
            <a:pPr lvl="0" indent="0" marL="0">
              <a:buNone/>
            </a:pPr>
          </a:p>
          <a:p>
            <a:pPr lvl="0" indent="0" marL="0">
              <a:buNone/>
            </a:pPr>
            <a:r>
              <a:rPr/>
              <a:t>Point at the peak, 30 trees, and then at 800: training accuracy reached 1.000 by 200 trees and stayed there, and cross-validated accuracy has drifted down from 0.897 to 0.890, under a point, since the peak. Contrast the size of that drop with the unconstrained single tree of the depth table,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why the number of trees has to be chosen on held-out data, never left to run, even though the overfit is gentler than a single unconstrained tree’s. There are two ways to choose it. This lesson cross-validated a list of tree counts and kept the best, 30. The other is early stopping, which the deck has not shown, so say what it is: set aside part of the training data, watch the score on it as trees are added, and stop once it has not improved for a number of rounds. In scikit-learn that is the </a:t>
            </a:r>
            <a:r>
              <a:rPr>
                <a:latin typeface="Courier"/>
              </a:rPr>
              <a:t>n_iter_no_change</a:t>
            </a:r>
            <a:r>
              <a:rPr/>
              <a:t> argument of </a:t>
            </a:r>
            <a:r>
              <a:rPr>
                <a:latin typeface="Courier"/>
              </a:rPr>
              <a:t>GradientBoostingClassifier</a:t>
            </a:r>
            <a:r>
              <a:rPr/>
              <a: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more than two points of cross-validated accuracy for it, 0.902 down to 0.878.</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A predictable slip: “only alpha times the number of trees matters, so half the learning rate with twice the trees gives the same model”. It is reasonable - the notes above just said both knobs set the total correction. But they are not interchangeable: each tree is fit to what the ensemble before it still gets wrong, so many small steps follow a different path from a few large ones. A large step overshoots on the noisy labels and the next trees spend themselves undoing it; a small step lets later trees outvote an early mistake. The trade-off is real, the equivalence is not.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boosting from scratch on the residuals, then scikit-learn’s classifier, the tree-count and learning-rate sweeps, and the leaderboard of the next slide.</a:t>
            </a:r>
          </a:p>
          <a:p>
            <a:pPr lvl="0" indent="0" marL="0">
              <a:buNone/>
            </a:pPr>
          </a:p>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the ensembles - bagging, the random forest, gradient boosting - land within about a point and a half of each other, the random forest on top. And one single tree sits among them: the nine-leaf tree of slide 25, at 0.901, above gradient boosting and a point behind bagging. On this dataset that is no accident - the rule is made of axis-aligned rectangles, the shape a few well-placed thresholds draw.</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One honest caveat, in lesson 5’s terms. The depth of 8 and the 30 boosted trees were picked because they scored best on these same five folds, so those two rows are slightly optimistic; nested cross-validation would remove that. Bagging and the random forest ran at their defaults, chose nothing, and are not affected - and they are still on top. The nine leaves were chosen for readability, not on these folds.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second finding is the honest surprise. The ensembles were not built to score higher than a well-budgeted tree on data made of rectangles - here they barely do. What they buy is steadiness: notebook 2 measured how much less a forest’s score moves from one split of the data to another than a single tree’s, and slide 27 showed where a single tree’s verdicts wobble.</a:t>
            </a:r>
          </a:p>
          <a:p>
            <a:pPr lvl="0" indent="0" marL="0">
              <a:buNone/>
            </a:pPr>
          </a:p>
          <a:p>
            <a:pPr lvl="0" indent="0" marL="0">
              <a:buNone/>
            </a:pPr>
            <a:r>
              <a:rPr/>
              <a:t>The third finding is the one to land hardest, because it repeats a pattern they have now seen with several different methods: flexibility without a stopping rule is not an advantage. Ask the room to name the earlier occurrences before you do - the degree-12 polynomial in lesson 3, k = 1 in lesson 6, and, earlier today, the boosted ensemble that kept adding trees past its peak.</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 the nine-leaf tree for the first row, the leaderboard for the second, the tree-count and learning-rate tables for the third, the noise experiment for the fourth, the out-of-bag slide for the fifth.</a:t>
            </a:r>
          </a:p>
          <a:p>
            <a:pPr lvl="0" indent="0" marL="0">
              <a:buNone/>
            </a:pPr>
          </a:p>
          <a:p>
            <a:pPr lvl="0" indent="0" marL="0">
              <a:buNone/>
            </a:pPr>
            <a:r>
              <a:rPr/>
              <a:t>The fourth row is worth a sentence of its own, tying back to the noise experiment: with two real features among 22 columns and 1,200 rows, more than half the importance already landed on noise. Many rows do not protect against it; what matters is how many useless columns compete at each split. Permutation importance, the check, was slide 41; the next slide comes back to it.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Every lesson so far has left one of these - lesson 1’s 77% accuracy on coin-flip labels, lesson 3’s coefficient of 365 where an unpenalised fit wanted billions - and this is lesson 7’s.</a:t>
            </a:r>
          </a:p>
          <a:p>
            <a:pPr lvl="0" indent="0" marL="0">
              <a:buNone/>
            </a:pPr>
          </a:p>
          <a:p>
            <a:pPr lvl="0" indent="0" marL="0">
              <a:buNone/>
            </a:pPr>
            <a:r>
              <a:rPr/>
              <a:t>The second and third bullets are the mechanism, and there are two causes, not one. Take them in order.</a:t>
            </a:r>
          </a:p>
          <a:p>
            <a:pPr lvl="0" indent="0" marL="0">
              <a:buNone/>
            </a:pPr>
          </a:p>
          <a:p>
            <a:pPr lvl="0" indent="0" marL="0">
              <a:buNone/>
            </a:pPr>
            <a:r>
              <a:rPr/>
              <a:t>The menu. The square root of 22, rounded down, is 4, so each split chooses among 4 random columns. The chance that all 4 come from the 20 noise columns is 4,845 / 7,315 = 0.662: two splits in three offer no real feature. At those splits the tree still has to pick something, and it picks the noise column that happens to separate the classes best.</a:t>
            </a:r>
          </a:p>
          <a:p>
            <a:pPr lvl="0" indent="0" marL="0">
              <a:buNone/>
            </a:pPr>
          </a:p>
          <a:p>
            <a:pPr lvl="0" indent="0" marL="0">
              <a:buNone/>
            </a:pPr>
            <a:r>
              <a:rPr/>
              <a:t>Small groups. The menu is not the whole story, and notebook 2 shows it: with </a:t>
            </a:r>
            <a:r>
              <a:rPr>
                <a:latin typeface="Courier"/>
              </a:rPr>
              <a:t>max_features=None</a:t>
            </a:r>
            <a:r>
              <a:rPr/>
              <a:t>, every split offered all 22 columns, the noise share falls from 54.5% to 28%, not to zero. Deep in a tree a node holds a handful of applicants, and among twenty columns of random numbers one will almost always separate a handful of applicants a little better than income or debt can, purely by chance. Every such split credits noise.</a:t>
            </a:r>
          </a:p>
          <a:p>
            <a:pPr lvl="0" indent="0" marL="0">
              <a:buNone/>
            </a:pPr>
          </a:p>
          <a:p>
            <a:pPr lvl="0" indent="0" marL="0">
              <a:buNone/>
            </a:pPr>
            <a:r>
              <a:rPr/>
              <a:t>Most will predict the noise share falls to zero with the full menu, and the reasoning is sound as far as it goes - a real feature is now always there to be chosen near the root. It is the bottom of the trees that it misses. The same run raised the accuracy from 0.837 to 0.897: with 20 useless columns out of 22, the random menu costs more accuracy than decorrelating the trees buys back. The default is a good default, not a law.</a:t>
            </a:r>
          </a:p>
          <a:p>
            <a:pPr lvl="0" indent="0" marL="0">
              <a:buNone/>
            </a:pPr>
          </a:p>
          <a:p>
            <a:pPr lvl="0" indent="0" marL="0">
              <a:buNone/>
            </a:pPr>
            <a:r>
              <a:rPr/>
              <a:t>The last bullet sends them back to the check of slide 41: shuffling a column on held-out data costs the two real features 0.09 and 0.18 of accuracy, and each noise column almost nothing.</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of the columns could plausibly matter at all - many useless columns are what hand credit to noise, and the accuracy score gives no warning - and then check the ranking by shuffling on held-out data, as slide 41 did.</a:t>
            </a:r>
          </a:p>
          <a:p>
            <a:pPr lvl="0" indent="0" marL="0">
              <a:buNone/>
            </a:pPr>
          </a:p>
          <a:p>
            <a:pPr lvl="0" indent="0" marL="0">
              <a:buNone/>
            </a:pPr>
            <a:r>
              <a:rPr/>
              <a:t>Next lesson turns from labelled data to unlabelled data. Every model so far learned from examples whose answer was known: a price, a class, a default. Lesson 8 asks what structure there is in data when nobody has given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27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in which the data comes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and debt-to-income ratio</a:t>
            </a:r>
          </a:p>
          <a:p>
            <a:pPr lvl="0"/>
            <a:r>
              <a:rPr/>
              <a:t>Underwriting is a </a:t>
            </a:r>
            <a:r>
              <a:rPr b="1"/>
              <a:t>checklist</a:t>
            </a:r>
            <a:r>
              <a:rPr/>
              <a:t>: an income floor, a debt ceiling, and two “stressed” combinations, each figure ordinary alone but risky together</a:t>
            </a:r>
          </a:p>
          <a:p>
            <a:pPr lvl="0"/>
            <a:r>
              <a:rPr b="1"/>
              <a:t>7%</a:t>
            </a:r>
            <a:r>
              <a:rPr/>
              <a:t> of labels flipped: no honest model beats about </a:t>
            </a:r>
            <a:r>
              <a:rPr b="1"/>
              <a:t>0.93</a:t>
            </a:r>
            <a:r>
              <a:rPr/>
              <a:t>, the </a:t>
            </a:r>
            <a:r>
              <a:rPr b="1"/>
              <a:t>noise ceiling</a:t>
            </a:r>
          </a:p>
          <a:p>
            <a:pPr lvl="0"/>
            <a:r>
              <a:rPr b="1"/>
              <a:t>38.7%</a:t>
            </a:r>
            <a:r>
              <a:rPr/>
              <a:t>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risky rules, three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pic>
        <p:nvPicPr>
          <p:cNvPr descr="loan_logistic.png" id="0" name="Picture 1"/>
          <p:cNvPicPr>
            <a:picLocks noGrp="1" noChangeAspect="1"/>
          </p:cNvPicPr>
          <p:nvPr/>
        </p:nvPicPr>
        <p:blipFill>
          <a:blip r:embed="rId3"/>
          <a:stretch>
            <a:fillRect/>
          </a:stretch>
        </p:blipFill>
        <p:spPr bwMode="auto">
          <a:xfrm>
            <a:off x="2338172" y="1166099"/>
            <a:ext cx="4467656" cy="3360181"/>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Try </a:t>
            </a:r>
            <a:r>
              <a:rPr b="1"/>
              <a:t>every feature and every threshold</a:t>
            </a:r>
            <a:r>
              <a:rPr/>
              <a:t>; keep the split leaving the </a:t>
            </a:r>
            <a:r>
              <a:rPr b="1"/>
              <a:t>purest</a:t>
            </a:r>
            <a:r>
              <a:rPr/>
              <a:t> two groups</a:t>
            </a:r>
          </a:p>
          <a:p>
            <a:pPr lvl="0"/>
            <a:r>
              <a:rPr/>
              <a:t>Apply it; repeat on each group, independently</a:t>
            </a:r>
          </a:p>
          <a:p>
            <a:pPr lvl="0"/>
            <a:r>
              <a:rPr/>
              <a:t>Stop at a depth limit, a pure group, or too few examples to split</a:t>
            </a:r>
          </a:p>
          <a:p>
            <a:pPr lvl="0"/>
            <a:r>
              <a:rPr/>
              <a:t>No coefficients, no gradient: thresholds are found by </a:t>
            </a:r>
            <a:r>
              <a:rPr b="1"/>
              <a:t>searching</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group half one class, half the other, is the worst case: a coin flip</a:t>
            </a:r>
          </a:p>
          <a:p>
            <a:pPr lvl="0"/>
            <a:r>
              <a:rPr b="1"/>
              <a:t>Impurity</a:t>
            </a:r>
            <a:r>
              <a:rPr/>
              <a:t> is a number that captures this: 0 for a pure group, highest for an even mix. “As pure as possible” then means “with the lowest impurity”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221e003fe1.png" id="0" name="Picture 1"/>
          <p:cNvPicPr>
            <a:picLocks noGrp="1" noChangeAspect="1"/>
          </p:cNvPicPr>
          <p:nvPr/>
        </p:nvPicPr>
        <p:blipFill>
          <a:blip r:embed="rId3"/>
          <a:stretch>
            <a:fillRect/>
          </a:stretch>
        </p:blipFill>
        <p:spPr bwMode="auto">
          <a:xfrm>
            <a:off x="457200" y="1665089"/>
            <a:ext cx="82296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share defaulted and 1-p the share repaid</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split divides a parent P into a left child L and a right child R; </a:t>
            </a:r>
            <a:r>
              <a:rPr i="1"/>
              <a:t>m</a:t>
            </a:r>
            <a:r>
              <a:rPr/>
              <a:t> counts each one’s examples: at the root, 1,200 in P = 971 in L + 229 in R</a:t>
            </a:r>
          </a:p>
          <a:p>
            <a:pPr lvl="0"/>
            <a:r>
              <a:rPr/>
              <a:t>Worth taking if the children’s impurities, </a:t>
            </a:r>
            <a:r>
              <a:rPr b="1"/>
              <a:t>averaged</a:t>
            </a:r>
            <a:r>
              <a:rPr/>
              <a:t>, are lower than the parent’s: at the root 0.474 against 0.330</a:t>
            </a:r>
          </a:p>
          <a:p>
            <a:pPr lvl="0"/>
            <a:r>
              <a:rPr/>
              <a:t>The average is </a:t>
            </a:r>
            <a:r>
              <a:rPr b="1"/>
              <a:t>weighted by size</a:t>
            </a:r>
            <a:r>
              <a:rPr/>
              <a:t>: one example cut off alone would halve a plain average, and barely moves a weighted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Sort a feature’s values: every </a:t>
            </a:r>
            <a:r>
              <a:rPr b="1"/>
              <a:t>midpoint</a:t>
            </a:r>
            <a:r>
              <a:rPr/>
              <a:t> between neighbours is a candidate threshold</a:t>
            </a:r>
          </a:p>
          <a:p>
            <a:pPr lvl="0"/>
            <a:r>
              <a:rPr/>
              <a:t>Infinitely many thresholds, but </a:t>
            </a:r>
            <a:r>
              <a:rPr b="1"/>
              <a:t>finitely many splits</a:t>
            </a:r>
            <a:r>
              <a:rPr/>
              <a:t>: any threshold between the same two neighbours makes the same two groups</a:t>
            </a:r>
          </a:p>
          <a:p>
            <a:pPr lvl="0"/>
            <a:r>
              <a:rPr/>
              <a:t>Score every candidate on </a:t>
            </a:r>
            <a:r>
              <a:rPr b="1"/>
              <a:t>every feature</a:t>
            </a:r>
            <a:r>
              <a:rPr/>
              <a:t>; keep the best pair, then repeat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threshold, scored</a:t>
            </a:r>
          </a:p>
        </p:txBody>
      </p:sp>
      <p:pic>
        <p:nvPicPr>
          <p:cNvPr descr="threshold_scan.png" id="0" name="Picture 1"/>
          <p:cNvPicPr>
            <a:picLocks noGrp="1" noChangeAspect="1"/>
          </p:cNvPicPr>
          <p:nvPr/>
        </p:nvPicPr>
        <p:blipFill>
          <a:blip r:embed="rId3"/>
          <a:stretch>
            <a:fillRect/>
          </a:stretch>
        </p:blipFill>
        <p:spPr bwMode="auto">
          <a:xfrm>
            <a:off x="544817" y="1166099"/>
            <a:ext cx="8054366"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Parent: 464 of 1,200 defaulted, G = </a:t>
            </a:r>
            <a:r>
              <a:rPr b="1"/>
              <a:t>0.474</a:t>
            </a:r>
            <a:r>
              <a:rPr/>
              <a:t>; the search finds </a:t>
            </a:r>
            <a:r>
              <a:rPr>
                <a:latin typeface="Courier"/>
              </a:rPr>
              <a:t>debt_ratio &lt;= 0.82</a:t>
            </a:r>
            <a:r>
              <a:rPr/>
              <a:t>, the </a:t>
            </a:r>
            <a:r>
              <a:rPr b="1"/>
              <a:t>debt ceiling</a:t>
            </a:r>
          </a:p>
          <a:p>
            <a:pPr lvl="0"/>
            <a:r>
              <a:rPr/>
              <a:t>Left: 249 of 971 defaulted, p = 0.256, G = 2 × 0.256 × 0.744 = </a:t>
            </a:r>
            <a:r>
              <a:rPr b="1"/>
              <a:t>0.381</a:t>
            </a:r>
          </a:p>
          <a:p>
            <a:pPr lvl="0"/>
            <a:r>
              <a:rPr/>
              <a:t>Right: 215 of 229, p = 0.939, G = 2 × 0.939 × 0.061 = </a:t>
            </a:r>
            <a:r>
              <a:rPr b="1"/>
              <a:t>0.115</a:t>
            </a:r>
          </a:p>
          <a:p>
            <a:pPr lvl="0"/>
            <a:r>
              <a:rPr/>
              <a:t>Weighted: 0.809 × 0.381 + 0.191 × 0.115 = 0.330; gain 0.474 - 0.330 = </a:t>
            </a:r>
            <a:r>
              <a:rPr b="1"/>
              <a:t>0.144</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loop, in seven lines</a:t>
            </a:r>
          </a:p>
        </p:txBody>
      </p:sp>
      <p:sp>
        <p:nvSpPr>
          <p:cNvPr id="3" name="Content Placeholder 2"/>
          <p:cNvSpPr>
            <a:spLocks noGrp="1"/>
          </p:cNvSpPr>
          <p:nvPr>
            <p:ph idx="1"/>
          </p:nvPr>
        </p:nvSpPr>
        <p:spPr>
          <a:xfrm>
            <a:off x="457200" y="1200151"/>
            <a:ext cx="8229600" cy="3394472"/>
          </a:xfrm>
        </p:spPr>
        <p:txBody>
          <a:bodyPr/>
          <a:lstStyle/>
          <a:p>
            <a:pPr lvl="0" indent="0">
              <a:buNone/>
            </a:pPr>
            <a:r>
              <a:rPr b="1">
                <a:solidFill>
                  <a:srgbClr val="007020"/>
                </a:solidFill>
                <a:latin typeface="Courier"/>
              </a:rPr>
              <a:t>def</a:t>
            </a:r>
            <a:r>
              <a:rPr>
                <a:latin typeface="Courier"/>
              </a:rPr>
              <a:t> grow(g):</a:t>
            </a:r>
            <a:br/>
            <a:r>
              <a:rPr>
                <a:latin typeface="Courier"/>
              </a:rPr>
              <a:t>  </a:t>
            </a:r>
            <a:r>
              <a:rPr b="1">
                <a:solidFill>
                  <a:srgbClr val="007020"/>
                </a:solidFill>
                <a:latin typeface="Courier"/>
              </a:rPr>
              <a:t>if</a:t>
            </a:r>
            <a:r>
              <a:rPr>
                <a:latin typeface="Courier"/>
              </a:rPr>
              <a:t> stop(g): </a:t>
            </a:r>
            <a:r>
              <a:rPr b="1">
                <a:solidFill>
                  <a:srgbClr val="007020"/>
                </a:solidFill>
                <a:latin typeface="Courier"/>
              </a:rPr>
              <a:t>return</a:t>
            </a:r>
            <a:r>
              <a:rPr>
                <a:latin typeface="Courier"/>
              </a:rPr>
              <a:t> leaf(g)</a:t>
            </a:r>
            <a:br/>
            <a:r>
              <a:rPr>
                <a:latin typeface="Courier"/>
              </a:rPr>
              <a:t>  gain </a:t>
            </a:r>
            <a:r>
              <a:rPr>
                <a:solidFill>
                  <a:srgbClr val="666666"/>
                </a:solidFill>
                <a:latin typeface="Courier"/>
              </a:rPr>
              <a:t>=</a:t>
            </a:r>
            <a:r>
              <a:rPr>
                <a:latin typeface="Courier"/>
              </a:rPr>
              <a:t> {c: ΔG(g, c) </a:t>
            </a:r>
            <a:r>
              <a:rPr b="1">
                <a:solidFill>
                  <a:srgbClr val="007020"/>
                </a:solidFill>
                <a:latin typeface="Courier"/>
              </a:rPr>
              <a:t>for</a:t>
            </a:r>
            <a:r>
              <a:rPr>
                <a:latin typeface="Courier"/>
              </a:rPr>
              <a:t> c </a:t>
            </a:r>
            <a:r>
              <a:rPr b="1">
                <a:solidFill>
                  <a:srgbClr val="007020"/>
                </a:solidFill>
                <a:latin typeface="Courier"/>
              </a:rPr>
              <a:t>in</a:t>
            </a:r>
            <a:r>
              <a:rPr>
                <a:latin typeface="Courier"/>
              </a:rPr>
              <a:t> splits(g)}</a:t>
            </a:r>
            <a:br/>
            <a:r>
              <a:rPr>
                <a:latin typeface="Courier"/>
              </a:rPr>
              <a:t>  best </a:t>
            </a:r>
            <a:r>
              <a:rPr>
                <a:solidFill>
                  <a:srgbClr val="666666"/>
                </a:solidFill>
                <a:latin typeface="Courier"/>
              </a:rPr>
              <a:t>=</a:t>
            </a:r>
            <a:r>
              <a:rPr>
                <a:latin typeface="Courier"/>
              </a:rPr>
              <a:t> </a:t>
            </a:r>
            <a:r>
              <a:rPr>
                <a:solidFill>
                  <a:srgbClr val="008000"/>
                </a:solidFill>
                <a:latin typeface="Courier"/>
              </a:rPr>
              <a:t>max</a:t>
            </a:r>
            <a:r>
              <a:rPr>
                <a:latin typeface="Courier"/>
              </a:rPr>
              <a:t>(gain, key</a:t>
            </a:r>
            <a:r>
              <a:rPr>
                <a:solidFill>
                  <a:srgbClr val="666666"/>
                </a:solidFill>
                <a:latin typeface="Courier"/>
              </a:rPr>
              <a:t>=</a:t>
            </a:r>
            <a:r>
              <a:rPr>
                <a:latin typeface="Courier"/>
              </a:rPr>
              <a:t>gain.get)</a:t>
            </a:r>
            <a:br/>
            <a:r>
              <a:rPr>
                <a:latin typeface="Courier"/>
              </a:rPr>
              <a:t>  </a:t>
            </a:r>
            <a:r>
              <a:rPr b="1">
                <a:solidFill>
                  <a:srgbClr val="007020"/>
                </a:solidFill>
                <a:latin typeface="Courier"/>
              </a:rPr>
              <a:t>if</a:t>
            </a:r>
            <a:r>
              <a:rPr>
                <a:latin typeface="Courier"/>
              </a:rPr>
              <a:t> gain[best] </a:t>
            </a:r>
            <a:r>
              <a:rPr>
                <a:solidFill>
                  <a:srgbClr val="666666"/>
                </a:solidFill>
                <a:latin typeface="Courier"/>
              </a:rPr>
              <a:t>&lt;=</a:t>
            </a:r>
            <a:r>
              <a:rPr>
                <a:latin typeface="Courier"/>
              </a:rPr>
              <a:t> </a:t>
            </a:r>
            <a:r>
              <a:rPr>
                <a:solidFill>
                  <a:srgbClr val="40A070"/>
                </a:solidFill>
                <a:latin typeface="Courier"/>
              </a:rPr>
              <a:t>0</a:t>
            </a:r>
            <a:r>
              <a:rPr>
                <a:latin typeface="Courier"/>
              </a:rPr>
              <a:t>: </a:t>
            </a:r>
            <a:r>
              <a:rPr b="1">
                <a:solidFill>
                  <a:srgbClr val="007020"/>
                </a:solidFill>
                <a:latin typeface="Courier"/>
              </a:rPr>
              <a:t>return</a:t>
            </a:r>
            <a:r>
              <a:rPr>
                <a:latin typeface="Courier"/>
              </a:rPr>
              <a:t> leaf(g)</a:t>
            </a:r>
            <a:br/>
            <a:r>
              <a:rPr>
                <a:latin typeface="Courier"/>
              </a:rPr>
              <a:t>  L, R </a:t>
            </a:r>
            <a:r>
              <a:rPr>
                <a:solidFill>
                  <a:srgbClr val="666666"/>
                </a:solidFill>
                <a:latin typeface="Courier"/>
              </a:rPr>
              <a:t>=</a:t>
            </a:r>
            <a:r>
              <a:rPr>
                <a:latin typeface="Courier"/>
              </a:rPr>
              <a:t> split(g, best)</a:t>
            </a:r>
            <a:br/>
            <a:r>
              <a:rPr>
                <a:latin typeface="Courier"/>
              </a:rPr>
              <a:t>  </a:t>
            </a:r>
            <a:r>
              <a:rPr b="1">
                <a:solidFill>
                  <a:srgbClr val="007020"/>
                </a:solidFill>
                <a:latin typeface="Courier"/>
              </a:rPr>
              <a:t>return</a:t>
            </a:r>
            <a:r>
              <a:rPr>
                <a:latin typeface="Courier"/>
              </a:rPr>
              <a:t> node(best, grow(L), grow(R))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the most questions </a:t>
            </a:r>
            <a:r>
              <a:rPr b="1"/>
              <a:t>one applicant</a:t>
            </a:r>
            <a:r>
              <a:rPr/>
              <a:t> answers</a:t>
            </a:r>
          </a:p>
          <a:p>
            <a:pPr lvl="0"/>
            <a:r>
              <a:rPr b="1"/>
              <a:t>Shallow tree</a:t>
            </a:r>
            <a:r>
              <a:rPr/>
              <a:t>: few questions, only the coarsest structure. High bias, low variance</a:t>
            </a:r>
          </a:p>
          <a:p>
            <a:pPr lvl="0"/>
            <a:r>
              <a:rPr b="1"/>
              <a:t>Deep tree</a:t>
            </a:r>
            <a:r>
              <a:rPr/>
              <a:t>: enough questions to isolate single points. Training accuracy </a:t>
            </a:r>
            <a:r>
              <a:rPr b="1"/>
              <a:t>exactly 1.000</a:t>
            </a:r>
            <a:r>
              <a:rPr/>
              <a:t>, even on data with no structure, unless two examples share every feature value but not the label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5 folds (mean ± standard deviation)</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a:t>
            </a:r>
            <a:r>
              <a:rPr b="1"/>
              <a:t>caps every path</a:t>
            </a:r>
            <a:r>
              <a:rPr/>
              <a:t>: each node above the cap is split if it can be, worth it or not</a:t>
            </a:r>
          </a:p>
          <a:p>
            <a:pPr lvl="0"/>
            <a:r>
              <a:rPr>
                <a:latin typeface="Courier"/>
              </a:rPr>
              <a:t>max_leaf_nodes</a:t>
            </a:r>
            <a:r>
              <a:rPr/>
              <a:t> is a </a:t>
            </a:r>
            <a:r>
              <a:rPr b="1"/>
              <a:t>budget of leaves</a:t>
            </a:r>
            <a:r>
              <a:rPr/>
              <a:t>, spent on the largest ΔG first</a:t>
            </a:r>
          </a:p>
          <a:p>
            <a:pPr lvl="0"/>
            <a:r>
              <a:rPr>
                <a:latin typeface="Courier"/>
              </a:rPr>
              <a:t>max_leaf_nodes = 9</a:t>
            </a:r>
            <a:r>
              <a:rPr/>
              <a:t>: </a:t>
            </a:r>
            <a:r>
              <a:rPr b="1"/>
              <a:t>0.908</a:t>
            </a:r>
            <a:r>
              <a:rPr/>
              <a:t> training, </a:t>
            </a:r>
            <a:r>
              <a:rPr b="1"/>
              <a:t>0.901</a:t>
            </a:r>
            <a:r>
              <a:rPr/>
              <a:t> cross-validated, above depth 8’s 0.882; thresholds 28 and 0.82</a:t>
            </a:r>
          </a:p>
          <a:p>
            <a:pPr lvl="0"/>
            <a:r>
              <a:rPr/>
              <a:t>In code: </a:t>
            </a:r>
            <a:r>
              <a:rPr>
                <a:latin typeface="Courier"/>
              </a:rPr>
              <a:t>export_text(tree)</a:t>
            </a:r>
            <a:r>
              <a:rPr/>
              <a:t> prints the tree as if/else rules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each on 780 of the 1,200 applicants, drawn </a:t>
            </a:r>
            <a:r>
              <a:rPr b="1"/>
              <a:t>without replacement</a:t>
            </a:r>
            <a:r>
              <a:rPr/>
              <a:t> (no one twice)</a:t>
            </a:r>
          </a:p>
          <a:p>
            <a:pPr lvl="0"/>
            <a:r>
              <a:rPr/>
              <a:t>The debt ceiling, the strongest split, agrees to within </a:t>
            </a:r>
            <a:r>
              <a:rPr b="1"/>
              <a:t>0.001</a:t>
            </a:r>
          </a:p>
          <a:p>
            <a:pPr lvl="0"/>
            <a:r>
              <a:rPr/>
              <a:t>They grow </a:t>
            </a:r>
            <a:r>
              <a:rPr b="1"/>
              <a:t>31 and 33 leaves</a:t>
            </a:r>
            <a:r>
              <a:rPr/>
              <a:t>, and give </a:t>
            </a:r>
            <a:r>
              <a:rPr b="1"/>
              <a:t>opposite verdicts for 140</a:t>
            </a:r>
            <a:r>
              <a:rPr/>
              <a:t> of the 1,200 applicants (11.7%)</a:t>
            </a:r>
          </a:p>
          <a:p>
            <a:pPr lvl="0"/>
            <a:r>
              <a:rPr/>
              <a:t>The strongest split is stable; the weaker ones, which shape most of the tree, are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trees, 140 different verdicts</a:t>
            </a:r>
          </a:p>
        </p:txBody>
      </p:sp>
      <p:pic>
        <p:nvPicPr>
          <p:cNvPr descr="two_trees_disagree.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look at it first, 4-6</a:t>
                      </a:r>
                    </a:p>
                  </a:txBody>
                </a:tc>
                <a:tc>
                  <a:txBody>
                    <a:bodyPr/>
                    <a:lstStyle/>
                    <a:p>
                      <a:pPr lvl="0" indent="0" marL="0">
                        <a:buNone/>
                      </a:pPr>
                      <a:r>
                        <a:rPr>
                          <a:latin typeface="Courier"/>
                        </a:rPr>
                        <a:t>make_pipeline(StandardScaler(), LogisticRegression())</a:t>
                      </a:r>
                      <a:r>
                        <a:rPr/>
                        <a:t> in </a:t>
                      </a:r>
                      <a:r>
                        <a:rPr>
                          <a:latin typeface="Courier"/>
                        </a:rPr>
                        <a:t>cross_val_score(..., cv=StratifiedKFold(5))</a:t>
                      </a:r>
                      <a:r>
                        <a:rPr/>
                        <a:t> → 0.613 against 0.748</a:t>
                      </a:r>
                    </a:p>
                  </a:txBody>
                </a:tc>
              </a:tr>
              <a:tr h="0">
                <a:tc>
                  <a:txBody>
                    <a:bodyPr/>
                    <a:lstStyle/>
                    <a:p>
                      <a:pPr lvl="0" indent="0" marL="0">
                        <a:buNone/>
                      </a:pPr>
                      <a:r>
                        <a:rPr/>
                        <a:t>2. a tree, split by split, 7-20</a:t>
                      </a:r>
                    </a:p>
                  </a:txBody>
                </a:tc>
                <a:tc>
                  <a:txBody>
                    <a:bodyPr/>
                    <a:lstStyle/>
                    <a:p>
                      <a:pPr lvl="0" indent="0" marL="0">
                        <a:buNone/>
                      </a:pPr>
                      <a:r>
                        <a:rPr/>
                        <a:t>your own </a:t>
                      </a:r>
                      <a:r>
                        <a:rPr>
                          <a:latin typeface="Courier"/>
                        </a:rPr>
                        <a:t>gini</a:t>
                      </a:r>
                      <a:r>
                        <a:rPr/>
                        <a:t> and </a:t>
                      </a:r>
                      <a:r>
                        <a:rPr>
                          <a:latin typeface="Courier"/>
                        </a:rPr>
                        <a:t>best_split</a:t>
                      </a:r>
                      <a:r>
                        <a:rPr/>
                        <a:t>, then </a:t>
                      </a:r>
                      <a:r>
                        <a:rPr>
                          <a:latin typeface="Courier"/>
                        </a:rPr>
                        <a:t>DecisionTreeClassifier(max_depth=d)</a:t>
                      </a:r>
                      <a:r>
                        <a:rPr/>
                        <a:t> → 100.0% identical predictions; gain 0.1438</a:t>
                      </a:r>
                    </a:p>
                  </a:txBody>
                </a:tc>
              </a:tr>
              <a:tr h="0">
                <a:tc>
                  <a:txBody>
                    <a:bodyPr/>
                    <a:lstStyle/>
                    <a:p>
                      <a:pPr lvl="0" indent="0" marL="0">
                        <a:buNone/>
                      </a:pPr>
                      <a:r>
                        <a:rPr/>
                        <a:t>3. the depth dial, 21-24</a:t>
                      </a:r>
                    </a:p>
                  </a:txBody>
                </a:tc>
                <a:tc>
                  <a:txBody>
                    <a:bodyPr/>
                    <a:lstStyle/>
                    <a:p>
                      <a:pPr lvl="0" indent="0" marL="0">
                        <a:buNone/>
                      </a:pPr>
                      <a:r>
                        <a:rPr>
                          <a:latin typeface="Courier"/>
                        </a:rPr>
                        <a:t>DecisionTreeClassifier(max_depth=d)</a:t>
                      </a:r>
                      <a:r>
                        <a:rPr/>
                        <a:t> in </a:t>
                      </a:r>
                      <a:r>
                        <a:rPr>
                          <a:latin typeface="Courier"/>
                        </a:rPr>
                        <a:t>cross_val_score</a:t>
                      </a:r>
                      <a:r>
                        <a:rPr/>
                        <a:t> → peak 0.882 at depth 8</a:t>
                      </a:r>
                    </a:p>
                  </a:txBody>
                </a:tc>
              </a:tr>
              <a:tr h="0">
                <a:tc>
                  <a:txBody>
                    <a:bodyPr/>
                    <a:lstStyle/>
                    <a:p>
                      <a:pPr lvl="0" indent="0" marL="0">
                        <a:buNone/>
                      </a:pPr>
                      <a:r>
                        <a:rPr/>
                        <a:t>4. what a tree costs, 25-27</a:t>
                      </a:r>
                    </a:p>
                  </a:txBody>
                </a:tc>
                <a:tc>
                  <a:txBody>
                    <a:bodyPr/>
                    <a:lstStyle/>
                    <a:p>
                      <a:pPr lvl="0" indent="0" marL="0">
                        <a:buNone/>
                      </a:pPr>
                      <a:r>
                        <a:rPr>
                          <a:latin typeface="Courier"/>
                        </a:rPr>
                        <a:t>DecisionTreeClassifier(max_leaf_nodes=9)</a:t>
                      </a:r>
                      <a:r>
                        <a:rPr/>
                        <a:t>, </a:t>
                      </a:r>
                      <a:r>
                        <a:rPr>
                          <a:latin typeface="Courier"/>
                        </a:rPr>
                        <a:t>export_text</a:t>
                      </a:r>
                      <a:r>
                        <a:rPr/>
                        <a:t> → 0.908 training, 0.901 cross-validated; two trees, 140 opposite verdicts</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Trees differ across samples, so </a:t>
            </a:r>
            <a:r>
              <a:rPr b="1"/>
              <a:t>many trees, averaged</a:t>
            </a:r>
            <a:r>
              <a:rPr/>
              <a:t> should partly cancel their mistakes</a:t>
            </a:r>
          </a:p>
          <a:p>
            <a:pPr lvl="0"/>
            <a:r>
              <a:rPr b="1"/>
              <a:t>Bootstrap sample</a:t>
            </a:r>
            <a:r>
              <a:rPr/>
              <a:t>: m rows drawn </a:t>
            </a:r>
            <a:r>
              <a:rPr b="1"/>
              <a:t>with replacement</a:t>
            </a:r>
            <a:r>
              <a:rPr/>
              <a:t> from the m training rows</a:t>
            </a:r>
          </a:p>
          <a:p>
            <a:pPr lvl="0"/>
            <a:r>
              <a:rPr/>
              <a:t>One tree per sample, </a:t>
            </a:r>
            <a:r>
              <a:rPr>
                <a:latin typeface="Courier"/>
              </a:rPr>
              <a:t>n_estimators</a:t>
            </a:r>
            <a:r>
              <a:rPr/>
              <a:t> times; predict by </a:t>
            </a:r>
            <a:r>
              <a:rPr b="1"/>
              <a:t>majority vote</a:t>
            </a:r>
            <a:r>
              <a:rPr/>
              <a:t>. That is </a:t>
            </a:r>
            <a:r>
              <a:rPr b="1"/>
              <a:t>bagging</a:t>
            </a:r>
            <a:r>
              <a:rPr/>
              <a:t>: bootstrap aggregating</a:t>
            </a:r>
          </a:p>
          <a:p>
            <a:pPr lvl="0"/>
            <a:r>
              <a:rPr/>
              <a:t>In code: </a:t>
            </a:r>
            <a:r>
              <a:rPr>
                <a:latin typeface="Courier"/>
              </a:rPr>
              <a:t>BaggingClassifier()</a:t>
            </a:r>
            <a:r>
              <a:rPr/>
              <a:t>, whose default model is a decision tree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One row is missed by all m draws with probability (1 - 1/m)ᵐ, which tends to e⁻¹ ≈ 0.368 as m grows</a:t>
            </a:r>
          </a:p>
          <a:p>
            <a:pPr lvl="0"/>
            <a:r>
              <a:rPr/>
              <a:t>So 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Predict each row by a vote of only the trees that never saw it: the accuracy of those votes is the </a:t>
            </a:r>
            <a:r>
              <a:rPr b="1"/>
              <a:t>OOB score</a:t>
            </a:r>
            <a:r>
              <a:rPr/>
              <a:t>, with no rows set aside</a:t>
            </a:r>
          </a:p>
          <a:p>
            <a:pPr lvl="0"/>
            <a:r>
              <a:rPr/>
              <a:t>A 300-tree random forest (bagged trees plus one rule, slide 37): OOB </a:t>
            </a:r>
            <a:r>
              <a:rPr b="1"/>
              <a:t>0.9117</a:t>
            </a:r>
            <a:r>
              <a:rPr/>
              <a:t>; 5-fold cross-validation </a:t>
            </a:r>
            <a:r>
              <a:rPr b="1"/>
              <a:t>0.9117 ± 0.021</a:t>
            </a:r>
          </a:p>
          <a:p>
            <a:pPr lvl="0"/>
            <a:r>
              <a:rPr/>
              <a:t>The four-decimal match is </a:t>
            </a:r>
            <a:r>
              <a:rPr b="1"/>
              <a:t>luck</a:t>
            </a:r>
            <a:r>
              <a:rPr/>
              <a:t>: over twelve seeds the two differ by 0.0026 on average, well inside ±0.021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over the bootstrap sample it drew, and let ρ be the correlation between two trees</a:t>
            </a:r>
          </a:p>
          <a:p>
            <a:pPr lvl="0"/>
            <a:r>
              <a:rPr/>
              <a:t>The average of B trees has variance σ²/B + ρσ² (B-1)/B: a </a:t>
            </a:r>
            <a:r>
              <a:rPr b="1"/>
              <a:t>floor</a:t>
            </a:r>
            <a:r>
              <a:rPr/>
              <a:t> of ρσ², </a:t>
            </a:r>
            <a:r>
              <a:rPr b="1"/>
              <a:t>not zero</a:t>
            </a:r>
            <a:r>
              <a:rPr/>
              <a:t>: more trees soon buy little</a:t>
            </a:r>
          </a:p>
          <a:p>
            <a:pPr lvl="0"/>
            <a:r>
              <a:rPr/>
              <a:t>Averaging </a:t>
            </a:r>
            <a:r>
              <a:rPr b="1"/>
              <a:t>cannot repair an error every tree shares</a:t>
            </a:r>
            <a:r>
              <a:rPr/>
              <a:t>: trees too shallow for the rule stay too shallow, however many are averaged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floor is ρσ²: lowering it means making the trees agree </a:t>
            </a:r>
            <a:r>
              <a:rPr b="1"/>
              <a:t>less</a:t>
            </a:r>
          </a:p>
          <a:p>
            <a:pPr lvl="0"/>
            <a:r>
              <a:rPr/>
              <a:t>Bagged trees see </a:t>
            </a:r>
            <a:r>
              <a:rPr b="1"/>
              <a:t>every feature</a:t>
            </a:r>
            <a:r>
              <a:rPr/>
              <a:t>, so a strong one pulls them all the same way</a:t>
            </a:r>
          </a:p>
          <a:p>
            <a:pPr lvl="0"/>
            <a:r>
              <a:rPr/>
              <a:t>A </a:t>
            </a:r>
            <a:r>
              <a:rPr b="1"/>
              <a:t>random forest</a:t>
            </a:r>
            <a:r>
              <a:rPr/>
              <a:t> offers each split a random subset of </a:t>
            </a:r>
            <a:r>
              <a:rPr>
                <a:latin typeface="Courier"/>
              </a:rPr>
              <a:t>max_features</a:t>
            </a:r>
            <a:r>
              <a:rPr/>
              <a:t> (default √n, rounded down), lowering ρ</a:t>
            </a:r>
          </a:p>
          <a:p>
            <a:pPr lvl="0"/>
            <a:r>
              <a:rPr/>
              <a:t>In code: </a:t>
            </a:r>
            <a:r>
              <a:rPr>
                <a:latin typeface="Courier"/>
              </a:rPr>
              <a:t>RandomForestClassifier()</a:t>
            </a:r>
            <a:r>
              <a:rPr/>
              <a:t>, 100 trees by default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pic>
        <p:nvPicPr>
          <p:cNvPr descr="ensemble_vari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b="1"/>
              <a:t>Feature importance</a:t>
            </a:r>
            <a:r>
              <a:rPr/>
              <a:t>: the impurity reduction credited to each feature over every tree and split, scaled to add up to 1</a:t>
            </a:r>
          </a:p>
          <a:p>
            <a:pPr lvl="0"/>
            <a:r>
              <a:rPr/>
              <a:t>With only the two real features here, it names exactly those two</a:t>
            </a:r>
          </a:p>
          <a:p>
            <a:pPr lvl="0"/>
            <a:r>
              <a:rPr/>
              <a:t>What happens once we add columns of random numbers, unrelated to default?</a:t>
            </a:r>
          </a:p>
          <a:p>
            <a:pPr lvl="0"/>
            <a:r>
              <a:rPr/>
              <a:t>In code: </a:t>
            </a:r>
            <a:r>
              <a:rPr>
                <a:latin typeface="Courier"/>
              </a:rPr>
              <a:t>forest.feature_importances_</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pic>
        <p:nvPicPr>
          <p:cNvPr descr="noise_import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Permutation importance</a:t>
            </a:r>
          </a:p>
        </p:txBody>
      </p:sp>
      <p:pic>
        <p:nvPicPr>
          <p:cNvPr descr="permutation_importance.png" id="0" name="Picture 1"/>
          <p:cNvPicPr>
            <a:picLocks noGrp="1" noChangeAspect="1"/>
          </p:cNvPicPr>
          <p:nvPr/>
        </p:nvPicPr>
        <p:blipFill>
          <a:blip r:embed="rId3"/>
          <a:stretch>
            <a:fillRect/>
          </a:stretch>
        </p:blipFill>
        <p:spPr bwMode="auto">
          <a:xfrm>
            <a:off x="1771849" y="1166099"/>
            <a:ext cx="5600301"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bagging from scratch, 30</a:t>
                      </a:r>
                    </a:p>
                  </a:txBody>
                </a:tc>
                <a:tc>
                  <a:txBody>
                    <a:bodyPr/>
                    <a:lstStyle/>
                    <a:p>
                      <a:pPr lvl="0" indent="0" marL="0">
                        <a:buNone/>
                      </a:pPr>
                      <a:r>
                        <a:rPr>
                          <a:latin typeface="Courier"/>
                        </a:rPr>
                        <a:t>train_test_split</a:t>
                      </a:r>
                      <a:r>
                        <a:rPr/>
                        <a:t>, your bagging against </a:t>
                      </a:r>
                      <a:r>
                        <a:rPr>
                          <a:latin typeface="Courier"/>
                        </a:rPr>
                        <a:t>BaggingClassifier</a:t>
                      </a:r>
                      <a:r>
                        <a:rPr/>
                        <a:t>, </a:t>
                      </a:r>
                      <a:r>
                        <a:rPr>
                          <a:latin typeface="Courier"/>
                        </a:rPr>
                        <a:t>accuracy_score</a:t>
                      </a:r>
                      <a:r>
                        <a:rPr/>
                        <a:t> → 0.872 and 0.872</a:t>
                      </a:r>
                    </a:p>
                  </a:txBody>
                </a:tc>
              </a:tr>
              <a:tr h="0">
                <a:tc>
                  <a:txBody>
                    <a:bodyPr/>
                    <a:lstStyle/>
                    <a:p>
                      <a:pPr lvl="0" indent="0" marL="0">
                        <a:buNone/>
                      </a:pPr>
                      <a:r>
                        <a:rPr/>
                        <a:t>2. why averaging works, 31-35</a:t>
                      </a:r>
                    </a:p>
                  </a:txBody>
                </a:tc>
                <a:tc>
                  <a:txBody>
                    <a:bodyPr/>
                    <a:lstStyle/>
                    <a:p>
                      <a:pPr lvl="0" indent="0" marL="0">
                        <a:buNone/>
                      </a:pPr>
                      <a:r>
                        <a:rPr>
                          <a:latin typeface="Courier"/>
                        </a:rPr>
                        <a:t>oob_score=True</a:t>
                      </a:r>
                      <a:r>
                        <a:rPr/>
                        <a:t>: </a:t>
                      </a:r>
                      <a:r>
                        <a:rPr>
                          <a:latin typeface="Courier"/>
                        </a:rPr>
                        <a:t>.oob_score_</a:t>
                      </a:r>
                      <a:r>
                        <a:rPr/>
                        <a:t> against </a:t>
                      </a:r>
                      <a:r>
                        <a:rPr>
                          <a:latin typeface="Courier"/>
                        </a:rPr>
                        <a:t>cross_val_score</a:t>
                      </a:r>
                      <a:r>
                        <a:rPr/>
                        <a:t> → 0.9117 both; 0.0026 over 12 seeds</a:t>
                      </a:r>
                    </a:p>
                  </a:txBody>
                </a:tc>
              </a:tr>
              <a:tr h="0">
                <a:tc>
                  <a:txBody>
                    <a:bodyPr/>
                    <a:lstStyle/>
                    <a:p>
                      <a:pPr lvl="0" indent="0" marL="0">
                        <a:buNone/>
                      </a:pPr>
                      <a:r>
                        <a:rPr/>
                        <a:t>3. variance, measured, 36-38</a:t>
                      </a:r>
                    </a:p>
                  </a:txBody>
                </a:tc>
                <a:tc>
                  <a:txBody>
                    <a:bodyPr/>
                    <a:lstStyle/>
                    <a:p>
                      <a:pPr lvl="0" indent="0" marL="0">
                        <a:buNone/>
                      </a:pPr>
                      <a:r>
                        <a:rPr/>
                        <a:t>tree, </a:t>
                      </a:r>
                      <a:r>
                        <a:rPr>
                          <a:latin typeface="Courier"/>
                        </a:rPr>
                        <a:t>BaggingClassifier</a:t>
                      </a:r>
                      <a:r>
                        <a:rPr/>
                        <a:t>, </a:t>
                      </a:r>
                      <a:r>
                        <a:rPr>
                          <a:latin typeface="Courier"/>
                        </a:rPr>
                        <a:t>RandomForestClassifier</a:t>
                      </a:r>
                      <a:r>
                        <a:rPr/>
                        <a:t>, 30 splits → spread 0.0185, 0.0153, 0.0137</a:t>
                      </a:r>
                    </a:p>
                  </a:txBody>
                </a:tc>
              </a:tr>
              <a:tr h="0">
                <a:tc>
                  <a:txBody>
                    <a:bodyPr/>
                    <a:lstStyle/>
                    <a:p>
                      <a:pPr lvl="0" indent="0" marL="0">
                        <a:buNone/>
                      </a:pPr>
                      <a:r>
                        <a:rPr/>
                        <a:t>5. feature importance, 39-40</a:t>
                      </a:r>
                    </a:p>
                  </a:txBody>
                </a:tc>
                <a:tc>
                  <a:txBody>
                    <a:bodyPr/>
                    <a:lstStyle/>
                    <a:p>
                      <a:pPr lvl="0" indent="0" marL="0">
                        <a:buNone/>
                      </a:pPr>
                      <a:r>
                        <a:rPr>
                          <a:latin typeface="Courier"/>
                        </a:rPr>
                        <a:t>.feature_importances_</a:t>
                      </a:r>
                      <a:r>
                        <a:rPr/>
                        <a:t>, 0 to 20 noise columns → 54.5% on noise</a:t>
                      </a:r>
                    </a:p>
                  </a:txBody>
                </a:tc>
              </a:tr>
              <a:tr h="0">
                <a:tc>
                  <a:txBody>
                    <a:bodyPr/>
                    <a:lstStyle/>
                    <a:p>
                      <a:pPr lvl="0" indent="0" marL="0">
                        <a:buNone/>
                      </a:pPr>
                      <a:r>
                        <a:rPr/>
                        <a:t>6. checking the importances, 41</a:t>
                      </a:r>
                    </a:p>
                  </a:txBody>
                </a:tc>
                <a:tc>
                  <a:txBody>
                    <a:bodyPr/>
                    <a:lstStyle/>
                    <a:p>
                      <a:pPr lvl="0" indent="0" marL="0">
                        <a:buNone/>
                      </a:pPr>
                      <a:r>
                        <a:rPr>
                          <a:latin typeface="Courier"/>
                        </a:rPr>
                        <a:t>permutation_importance</a:t>
                      </a:r>
                      <a:r>
                        <a:rPr/>
                        <a:t>, test split → real 0.09 and 0.18, noise ≈ 0</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then average</a:t>
            </a:r>
          </a:p>
          <a:p>
            <a:pPr lvl="0"/>
            <a:r>
              <a:rPr b="1"/>
              <a:t>Boosting</a:t>
            </a:r>
            <a:r>
              <a:rPr/>
              <a:t> builds them </a:t>
            </a:r>
            <a:r>
              <a:rPr b="1"/>
              <a:t>in sequence</a:t>
            </a:r>
            <a:r>
              <a:rPr/>
              <a:t>: each new tree corrects what the trees so far got wrong</a:t>
            </a:r>
          </a:p>
          <a:p>
            <a:pPr lvl="0"/>
            <a:r>
              <a:rPr/>
              <a:t>Each is a shallow </a:t>
            </a:r>
            <a:r>
              <a:rPr b="1"/>
              <a:t>regression tree</a:t>
            </a:r>
            <a:r>
              <a:rPr/>
              <a:t>, a </a:t>
            </a:r>
            <a:r>
              <a:rPr b="1"/>
              <a:t>weak learner</a:t>
            </a:r>
            <a:r>
              <a:rPr/>
              <a:t>: it predicts a number, a correction, not a class</a:t>
            </a:r>
          </a:p>
          <a:p>
            <a:pPr lvl="0"/>
            <a:r>
              <a:rPr/>
              <a:t>The learning rate α sets </a:t>
            </a:r>
            <a:r>
              <a:rPr b="1"/>
              <a:t>how much</a:t>
            </a:r>
            <a:r>
              <a:rPr/>
              <a:t> of each correction is applied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 for squared error</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 error, what remains unexplained is the </a:t>
            </a:r>
            <a:r>
              <a:rPr b="1"/>
              <a:t>residual</a:t>
            </a:r>
            <a:r>
              <a:rPr/>
              <a:t>, y - Fₜ₋₁(x)</a:t>
            </a:r>
          </a:p>
          <a:p>
            <a:pPr lvl="0"/>
            <a:r>
              <a:rPr/>
              <a:t>In general, </a:t>
            </a:r>
            <a:r>
              <a:rPr b="1"/>
              <a:t>functional gradient descent</a:t>
            </a:r>
            <a:r>
              <a:rPr/>
              <a:t>: hₜ approximates the negative gradient of the loss with respect to Fₜ₋₁</a:t>
            </a:r>
          </a:p>
          <a:p>
            <a:pPr lvl="0"/>
            <a:r>
              <a:rPr/>
              <a:t>With L = ½(y - F)², -∂L/∂F = y - F: the two coincide</a:t>
            </a:r>
          </a:p>
          <a:p>
            <a:pPr lvl="0"/>
            <a:r>
              <a:rPr/>
              <a:t>In code: </a:t>
            </a:r>
            <a:r>
              <a:rPr>
                <a:latin typeface="Courier"/>
              </a:rPr>
              <a:t>DecisionTreeRegressor(max_depth=2)</a:t>
            </a:r>
            <a:r>
              <a:rPr/>
              <a:t>, fit to </a:t>
            </a:r>
            <a:r>
              <a:rPr>
                <a:latin typeface="Courier"/>
              </a:rPr>
              <a:t>y - prediction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step plus a sine wave, fit by 60 shallow trees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y is 0 or 1; the score F becomes a probability through lesson 4’s logistic function, p = σ(F) (this σ is not the σ² of the variance slides)</a:t>
            </a:r>
          </a:p>
          <a:p>
            <a:pPr lvl="0"/>
            <a:r>
              <a:rPr/>
              <a:t>The loss is lesson 4’s </a:t>
            </a:r>
            <a:r>
              <a:rPr b="1"/>
              <a:t>log-loss</a:t>
            </a:r>
          </a:p>
          <a:p>
            <a:pPr lvl="0"/>
            <a:r>
              <a:rPr/>
              <a:t>Each tree fits the </a:t>
            </a:r>
            <a:r>
              <a:rPr b="1"/>
              <a:t>pseudo-residual</a:t>
            </a:r>
            <a:r>
              <a:rPr/>
              <a:t> y - p, the negative gradient: lesson 4’s error term</a:t>
            </a:r>
          </a:p>
          <a:p>
            <a:pPr lvl="0"/>
            <a:r>
              <a:rPr/>
              <a:t>Start: p = 0.387 for all, so the first tree fits +0.613 to defaulters and −0.387 to the rest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 depth 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boosting from scratch, 43-47</a:t>
                      </a:r>
                    </a:p>
                  </a:txBody>
                </a:tc>
                <a:tc>
                  <a:txBody>
                    <a:bodyPr/>
                    <a:lstStyle/>
                    <a:p>
                      <a:pPr lvl="0" indent="0" marL="0">
                        <a:buNone/>
                      </a:pPr>
                      <a:r>
                        <a:rPr>
                          <a:latin typeface="Courier"/>
                        </a:rPr>
                        <a:t>DecisionTreeRegressor(max_depth=2)</a:t>
                      </a:r>
                      <a:r>
                        <a:rPr/>
                        <a:t> on the residuals, 60 times → MSE 0.0119 at 20 trees</a:t>
                      </a:r>
                    </a:p>
                  </a:txBody>
                </a:tc>
              </a:tr>
              <a:tr h="0">
                <a:tc>
                  <a:txBody>
                    <a:bodyPr/>
                    <a:lstStyle/>
                    <a:p>
                      <a:pPr lvl="0" indent="0" marL="0">
                        <a:buNone/>
                      </a:pPr>
                      <a:r>
                        <a:rPr/>
                        <a:t>2. classification, 48-49</a:t>
                      </a:r>
                    </a:p>
                  </a:txBody>
                </a:tc>
                <a:tc>
                  <a:txBody>
                    <a:bodyPr/>
                    <a:lstStyle/>
                    <a:p>
                      <a:pPr lvl="0" indent="0" marL="0">
                        <a:buNone/>
                      </a:pPr>
                      <a:r>
                        <a:rPr>
                          <a:latin typeface="Courier"/>
                        </a:rPr>
                        <a:t>GradientBoostingClassifier()</a:t>
                      </a:r>
                      <a:r>
                        <a:rPr/>
                        <a:t> in </a:t>
                      </a:r>
                      <a:r>
                        <a:rPr>
                          <a:latin typeface="Courier"/>
                        </a:rPr>
                        <a:t>cross_val_score</a:t>
                      </a:r>
                      <a:r>
                        <a:rPr/>
                        <a:t> → F0 = −0.461; 0.902</a:t>
                      </a:r>
                    </a:p>
                  </a:txBody>
                </a:tc>
              </a:tr>
              <a:tr h="0">
                <a:tc>
                  <a:txBody>
                    <a:bodyPr/>
                    <a:lstStyle/>
                    <a:p>
                      <a:pPr lvl="0" indent="0" marL="0">
                        <a:buNone/>
                      </a:pPr>
                      <a:r>
                        <a:rPr/>
                        <a:t>3. more trees, 50-51</a:t>
                      </a:r>
                    </a:p>
                  </a:txBody>
                </a:tc>
                <a:tc>
                  <a:txBody>
                    <a:bodyPr/>
                    <a:lstStyle/>
                    <a:p>
                      <a:pPr lvl="0" indent="0" marL="0">
                        <a:buNone/>
                      </a:pPr>
                      <a:r>
                        <a:rPr/>
                        <a:t>the same, </a:t>
                      </a:r>
                      <a:r>
                        <a:rPr>
                          <a:latin typeface="Courier"/>
                        </a:rPr>
                        <a:t>learning_rate=0.3</a:t>
                      </a:r>
                      <a:r>
                        <a:rPr/>
                        <a:t>, </a:t>
                      </a:r>
                      <a:r>
                        <a:rPr>
                          <a:latin typeface="Courier"/>
                        </a:rPr>
                        <a:t>n_estimators</a:t>
                      </a:r>
                      <a:r>
                        <a:rPr/>
                        <a:t> from 5 to 800 → peak 0.897 at 30</a:t>
                      </a:r>
                    </a:p>
                  </a:txBody>
                </a:tc>
              </a:tr>
              <a:tr h="0">
                <a:tc>
                  <a:txBody>
                    <a:bodyPr/>
                    <a:lstStyle/>
                    <a:p>
                      <a:pPr lvl="0" indent="0" marL="0">
                        <a:buNone/>
                      </a:pPr>
                      <a:r>
                        <a:rPr/>
                        <a:t>4. learning rate, 52</a:t>
                      </a:r>
                    </a:p>
                  </a:txBody>
                </a:tc>
                <a:tc>
                  <a:txBody>
                    <a:bodyPr/>
                    <a:lstStyle/>
                    <a:p>
                      <a:pPr lvl="0" indent="0" marL="0">
                        <a:buNone/>
                      </a:pPr>
                      <a:r>
                        <a:rPr/>
                        <a:t>the same with </a:t>
                      </a:r>
                      <a:r>
                        <a:rPr>
                          <a:latin typeface="Courier"/>
                        </a:rPr>
                        <a:t>n_estimators=120</a:t>
                      </a:r>
                      <a:r>
                        <a:rPr/>
                        <a:t> and </a:t>
                      </a:r>
                      <a:r>
                        <a:rPr>
                          <a:latin typeface="Courier"/>
                        </a:rPr>
                        <a:t>learning_rate</a:t>
                      </a:r>
                      <a:r>
                        <a:rPr/>
                        <a:t> from 0.02 to 1.0 → best 0.902 at 0.1</a:t>
                      </a:r>
                    </a:p>
                  </a:txBody>
                </a:tc>
              </a:tr>
              <a:tr h="0">
                <a:tc>
                  <a:txBody>
                    <a:bodyPr/>
                    <a:lstStyle/>
                    <a:p>
                      <a:pPr lvl="0" indent="0" marL="0">
                        <a:buNone/>
                      </a:pPr>
                      <a:r>
                        <a:rPr/>
                        <a:t>5. leaderboard, 54</a:t>
                      </a:r>
                    </a:p>
                  </a:txBody>
                </a:tc>
                <a:tc>
                  <a:txBody>
                    <a:bodyPr/>
                    <a:lstStyle/>
                    <a:p>
                      <a:pPr lvl="0" indent="0" marL="0">
                        <a:buNone/>
                      </a:pPr>
                      <a:r>
                        <a:rPr/>
                        <a:t>every model in one </a:t>
                      </a:r>
                      <a:r>
                        <a:rPr>
                          <a:latin typeface="Courier"/>
                        </a:rPr>
                        <a:t>cross_val_score</a:t>
                      </a:r>
                      <a:r>
                        <a:rPr/>
                        <a:t> loop → random forest 0.911</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Single tree, </a:t>
                      </a:r>
                      <a:r>
                        <a:rPr>
                          <a:latin typeface="Courier"/>
                        </a:rPr>
                        <a:t>max_leaf_nodes = 9</a:t>
                      </a:r>
                    </a:p>
                  </a:txBody>
                </a:tc>
                <a:tc>
                  <a:txBody>
                    <a:bodyPr/>
                    <a:lstStyle/>
                    <a:p>
                      <a:pPr lvl="0" indent="0" marL="0">
                        <a:buNone/>
                      </a:pPr>
                      <a:r>
                        <a:rPr/>
                        <a:t>0.901</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b="1"/>
              <a:t>On this dataset</a:t>
            </a:r>
            <a:r>
              <a:rPr/>
              <a:t>, the ensembles land within 1.5 points of each other: </a:t>
            </a:r>
            <a:r>
              <a:rPr b="1"/>
              <a:t>whether you ensemble</a:t>
            </a:r>
            <a:r>
              <a:rPr/>
              <a:t> matters more than </a:t>
            </a:r>
            <a:r>
              <a:rPr b="1"/>
              <a:t>which</a:t>
            </a:r>
          </a:p>
          <a:p>
            <a:pPr lvl="0"/>
            <a:r>
              <a:rPr/>
              <a:t>A </a:t>
            </a:r>
            <a:r>
              <a:rPr b="1"/>
              <a:t>nine-leaf tree</a:t>
            </a:r>
            <a:r>
              <a:rPr/>
              <a:t> reaches 0.901, a point from bagging: on rectangles a small tree is enough, and a person can read it</a:t>
            </a:r>
          </a:p>
          <a:p>
            <a:pPr lvl="0"/>
            <a:r>
              <a:rPr/>
              <a:t>The </a:t>
            </a:r>
            <a:r>
              <a:rPr b="1"/>
              <a:t>unconstrained tree is the worst</a:t>
            </a:r>
            <a:r>
              <a:rPr/>
              <a:t>, though the most flexible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small enough to read; if even that is too opaque, none of these models</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the best score here, at its default settings</a:t>
                      </a:r>
                    </a:p>
                  </a:txBody>
                </a:tc>
              </a:tr>
              <a:tr h="0">
                <a:tc>
                  <a:txBody>
                    <a:bodyPr/>
                    <a:lstStyle/>
                    <a:p>
                      <a:pPr lvl="0" indent="0" marL="0">
                        <a:buNone/>
                      </a:pPr>
                      <a:r>
                        <a:rPr/>
                        <a:t>Accuracy matters, and there is time to tune the number of trees and the learning rate together</a:t>
                      </a:r>
                    </a:p>
                  </a:txBody>
                </a:tc>
                <a:tc>
                  <a:txBody>
                    <a:bodyPr/>
                    <a:lstStyle/>
                    <a:p>
                      <a:pPr lvl="0" indent="0" marL="0">
                        <a:buNone/>
                      </a:pPr>
                      <a:r>
                        <a:rPr/>
                        <a:t>Gradient boosting, tuned on validation data</a:t>
                      </a:r>
                    </a:p>
                  </a:txBody>
                </a:tc>
              </a:tr>
              <a:tr h="0">
                <a:tc>
                  <a:txBody>
                    <a:bodyPr/>
                    <a:lstStyle/>
                    <a:p>
                      <a:pPr lvl="0" indent="0" marL="0">
                        <a:buNone/>
                      </a:pPr>
                      <a:r>
                        <a:rPr/>
                        <a:t>Many columns, few of them informative</a:t>
                      </a:r>
                    </a:p>
                  </a:txBody>
                </a:tc>
                <a:tc>
                  <a:txBody>
                    <a:bodyPr/>
                    <a:lstStyle/>
                    <a:p>
                      <a:pPr lvl="0" indent="0" marL="0">
                        <a:buNone/>
                      </a:pPr>
                      <a:r>
                        <a:rPr/>
                        <a:t>Any tree method, but check its importances by permutation</a:t>
                      </a:r>
                    </a:p>
                  </a:txBody>
                </a:tc>
              </a:tr>
              <a:tr h="0">
                <a:tc>
                  <a:txBody>
                    <a:bodyPr/>
                    <a:lstStyle/>
                    <a:p>
                      <a:pPr lvl="0" indent="0" marL="0">
                        <a:buNone/>
                      </a:pPr>
                      <a:r>
                        <a:rPr/>
                        <a:t>Too few rows to set a validation set aside</a:t>
                      </a:r>
                    </a:p>
                  </a:txBody>
                </a:tc>
                <a:tc>
                  <a:txBody>
                    <a:bodyPr/>
                    <a:lstStyle/>
                    <a:p>
                      <a:pPr lvl="0" indent="0" marL="0">
                        <a:buNone/>
                      </a:pPr>
                      <a:r>
                        <a:rPr/>
                        <a:t>A random forest, judged by its out-of-bag score</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ones: not small, not a bug</a:t>
            </a:r>
          </a:p>
          <a:p>
            <a:pPr lvl="0"/>
            <a:r>
              <a:rPr b="1"/>
              <a:t>The menu</a:t>
            </a:r>
            <a:r>
              <a:rPr/>
              <a:t>: 4 of 22 columns per split; in two splits of three (0.662), no real feature</a:t>
            </a:r>
          </a:p>
          <a:p>
            <a:pPr lvl="0"/>
            <a:r>
              <a:rPr b="1"/>
              <a:t>Small groups</a:t>
            </a:r>
            <a:r>
              <a:rPr/>
              <a:t>: with all 22 on offer, noise still takes </a:t>
            </a:r>
            <a:r>
              <a:rPr b="1"/>
              <a:t>28%</a:t>
            </a:r>
            <a:r>
              <a:rPr/>
              <a:t>, from deep splits</a:t>
            </a:r>
          </a:p>
          <a:p>
            <a:pPr lvl="0"/>
            <a:r>
              <a:rPr/>
              <a:t>The check: </a:t>
            </a:r>
            <a:r>
              <a:rPr b="1"/>
              <a:t>permutation importance</a:t>
            </a:r>
            <a:r>
              <a:rPr/>
              <a:t>, slide 41</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27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