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map for the notebook: each row is one of the three questions, the call that answers it, and the number it reaches. Point at the middle column before they start - every name in it is a cell they are about to run.</a:t>
            </a:r>
          </a:p>
          <a:p>
            <a:pPr lvl="0" indent="0" marL="0">
              <a:buNone/>
            </a:pPr>
          </a:p>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question, a dataset, a split, a baseline, a model, and a number you can defend. The table is that sentence with the code attached: each step, the call that performs it, and the slide where the idea was introduced. Students who get lost in a cell can find their way back to the slide from here.</a:t>
            </a:r>
          </a:p>
          <a:p>
            <a:pPr lvl="0" indent="0" marL="0">
              <a:buNone/>
            </a:pPr>
          </a:p>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failures, four plausible numbers, and not one bug among them. The table pairs each failure with the calls that produce it and the slide that explains it; note that the leakage row uses the same </a:t>
            </a:r>
            <a:r>
              <a:rPr>
                <a:latin typeface="Courier"/>
              </a:rPr>
              <a:t>SelectKBest</a:t>
            </a:r>
            <a:r>
              <a:rPr/>
              <a:t> twice, once in the wrong place and once in the right one.</a:t>
            </a:r>
          </a:p>
          <a:p>
            <a:pPr lvl="0" indent="0" marL="0">
              <a:buNone/>
            </a:pPr>
          </a:p>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646000" y="1166099"/>
            <a:ext cx="5852000"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a:p>
            <a:pPr lvl="0"/>
            <a:r>
              <a:rPr/>
              <a:t>In code: a classifier such as </a:t>
            </a:r>
            <a:r>
              <a:rPr>
                <a:latin typeface="Courier"/>
              </a:rPr>
              <a:t>LogisticRegression</a:t>
            </a:r>
            <a:r>
              <a:rPr/>
              <a:t>, a regressor such as </a:t>
            </a:r>
            <a:r>
              <a:rPr>
                <a:latin typeface="Courier"/>
              </a:rPr>
              <a:t>LinearRegression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a:p>
            <a:pPr lvl="0"/>
            <a:r>
              <a:rPr/>
              <a:t>In code: </a:t>
            </a:r>
            <a:r>
              <a:rPr>
                <a:latin typeface="Courier"/>
              </a:rPr>
              <a:t>KMeans</a:t>
            </a:r>
            <a:r>
              <a:rPr/>
              <a:t> for groups, </a:t>
            </a:r>
            <a:r>
              <a:rPr>
                <a:latin typeface="Courier"/>
              </a:rPr>
              <a:t>PCA</a:t>
            </a:r>
            <a:r>
              <a:rPr/>
              <a:t> for fewer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question</a:t>
                      </a:r>
                    </a:p>
                  </a:txBody>
                  <a:tcPr/>
                </a:tc>
                <a:tc>
                  <a:txBody>
                    <a:bodyPr/>
                    <a:lstStyle/>
                    <a:p>
                      <a:pPr lvl="0" indent="0" marL="0">
                        <a:buNone/>
                      </a:pPr>
                      <a:r>
                        <a:rPr/>
                        <a:t>you call, and what it scores</a:t>
                      </a:r>
                    </a:p>
                  </a:txBody>
                  <a:tcPr/>
                </a:tc>
              </a:tr>
              <a:tr h="0">
                <a:tc>
                  <a:txBody>
                    <a:bodyPr/>
                    <a:lstStyle/>
                    <a:p>
                      <a:pPr lvl="0" indent="0" marL="0">
                        <a:buNone/>
                      </a:pPr>
                      <a:r>
                        <a:rPr/>
                        <a:t>the data: 178 wines, 13 measurements</a:t>
                      </a:r>
                    </a:p>
                  </a:txBody>
                </a:tc>
                <a:tc>
                  <a:txBody>
                    <a:bodyPr/>
                    <a:lstStyle/>
                    <a:p>
                      <a:pPr lvl="0" indent="0" marL="0">
                        <a:buNone/>
                      </a:pPr>
                      <a:r>
                        <a:rPr>
                          <a:latin typeface="Courier"/>
                        </a:rPr>
                        <a:t>load_wine</a:t>
                      </a:r>
                    </a:p>
                  </a:txBody>
                </a:tc>
              </a:tr>
              <a:tr h="0">
                <a:tc>
                  <a:txBody>
                    <a:bodyPr/>
                    <a:lstStyle/>
                    <a:p>
                      <a:pPr lvl="0" indent="0" marL="0">
                        <a:buNone/>
                      </a:pPr>
                      <a:r>
                        <a:rPr b="1"/>
                        <a:t>supervised</a:t>
                      </a:r>
                      <a:r>
                        <a:rPr/>
                        <a:t>: predict the cultivar</a:t>
                      </a:r>
                    </a:p>
                  </a:txBody>
                </a:tc>
                <a:tc>
                  <a:txBody>
                    <a:bodyPr/>
                    <a:lstStyle/>
                    <a:p>
                      <a:pPr lvl="0" indent="0" marL="0">
                        <a:buNone/>
                      </a:pPr>
                      <a:r>
                        <a:rPr>
                          <a:latin typeface="Courier"/>
                        </a:rPr>
                        <a:t>make_pipeline(StandardScaler(), LogisticRegression())</a:t>
                      </a:r>
                      <a:r>
                        <a:rPr/>
                        <a:t> → </a:t>
                      </a:r>
                      <a:r>
                        <a:rPr>
                          <a:latin typeface="Courier"/>
                        </a:rPr>
                        <a:t>accuracy_score</a:t>
                      </a:r>
                      <a:r>
                        <a:rPr/>
                        <a:t> </a:t>
                      </a:r>
                      <a:r>
                        <a:rPr b="1"/>
                        <a:t>0.981</a:t>
                      </a:r>
                    </a:p>
                  </a:txBody>
                </a:tc>
              </a:tr>
              <a:tr h="0">
                <a:tc>
                  <a:txBody>
                    <a:bodyPr/>
                    <a:lstStyle/>
                    <a:p>
                      <a:pPr lvl="0" indent="0" marL="0">
                        <a:buNone/>
                      </a:pPr>
                      <a:r>
                        <a:rPr b="1"/>
                        <a:t>unsupervised</a:t>
                      </a:r>
                      <a:r>
                        <a:rPr/>
                        <a:t>: labels thrown away</a:t>
                      </a:r>
                    </a:p>
                  </a:txBody>
                </a:tc>
                <a:tc>
                  <a:txBody>
                    <a:bodyPr/>
                    <a:lstStyle/>
                    <a:p>
                      <a:pPr lvl="0" indent="0" marL="0">
                        <a:buNone/>
                      </a:pPr>
                      <a:r>
                        <a:rPr>
                          <a:latin typeface="Courier"/>
                        </a:rPr>
                        <a:t>KMeans(n_clusters=3)</a:t>
                      </a:r>
                      <a:r>
                        <a:rPr/>
                        <a:t>, drawn with </a:t>
                      </a:r>
                      <a:r>
                        <a:rPr>
                          <a:latin typeface="Courier"/>
                        </a:rPr>
                        <a:t>PCA</a:t>
                      </a:r>
                      <a:r>
                        <a:rPr/>
                        <a:t> → </a:t>
                      </a:r>
                      <a:r>
                        <a:rPr>
                          <a:latin typeface="Courier"/>
                        </a:rPr>
                        <a:t>adjusted_rand_score</a:t>
                      </a:r>
                      <a:r>
                        <a:rPr/>
                        <a:t> </a:t>
                      </a:r>
                      <a:r>
                        <a:rPr b="1"/>
                        <a:t>0.897</a:t>
                      </a:r>
                    </a:p>
                  </a:txBody>
                </a:tc>
              </a:tr>
              <a:tr h="0">
                <a:tc>
                  <a:txBody>
                    <a:bodyPr/>
                    <a:lstStyle/>
                    <a:p>
                      <a:pPr lvl="0" indent="0" marL="0">
                        <a:buNone/>
                      </a:pPr>
                      <a:r>
                        <a:rPr b="1"/>
                        <a:t>self-supervised</a:t>
                      </a:r>
                      <a:r>
                        <a:rPr/>
                        <a:t>: hide </a:t>
                      </a:r>
                      <a:r>
                        <a:rPr>
                          <a:latin typeface="Courier"/>
                        </a:rPr>
                        <a:t>flavanoids</a:t>
                      </a:r>
                      <a:r>
                        <a:rPr/>
                        <a:t>, predict it</a:t>
                      </a:r>
                    </a:p>
                  </a:txBody>
                </a:tc>
                <a:tc>
                  <a:txBody>
                    <a:bodyPr/>
                    <a:lstStyle/>
                    <a:p>
                      <a:pPr lvl="0" indent="0" marL="0">
                        <a:buNone/>
                      </a:pPr>
                      <a:r>
                        <a:rPr>
                          <a:latin typeface="Courier"/>
                        </a:rPr>
                        <a:t>LinearRegression</a:t>
                      </a:r>
                      <a:r>
                        <a:rPr/>
                        <a:t> → </a:t>
                      </a:r>
                      <a:r>
                        <a:rPr>
                          <a:latin typeface="Courier"/>
                        </a:rPr>
                        <a:t>r2_score</a:t>
                      </a:r>
                      <a:r>
                        <a:rPr/>
                        <a:t> </a:t>
                      </a:r>
                      <a:r>
                        <a:rPr b="1"/>
                        <a:t>0.816</a:t>
                      </a:r>
                      <a:r>
                        <a:rPr/>
                        <a:t> (1 perfect, 0 = guessing the mean)</a:t>
                      </a:r>
                    </a:p>
                  </a:txBody>
                </a:tc>
              </a:tr>
              <a:tr h="0">
                <a:tc>
                  <a:txBody>
                    <a:bodyPr/>
                    <a:lstStyle/>
                    <a:p>
                      <a:pPr lvl="0" indent="0" marL="0">
                        <a:buNone/>
                      </a:pPr>
                      <a:r>
                        <a:rPr/>
                        <a:t>before either model with a target</a:t>
                      </a:r>
                    </a:p>
                  </a:txBody>
                </a:tc>
                <a:tc>
                  <a:txBody>
                    <a:bodyPr/>
                    <a:lstStyle/>
                    <a:p>
                      <a:pPr lvl="0" indent="0" marL="0">
                        <a:buNone/>
                      </a:pPr>
                      <a:r>
                        <a:rPr>
                          <a:latin typeface="Courier"/>
                        </a:rPr>
                        <a:t>train_test_split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step, and its slide</a:t>
                      </a:r>
                    </a:p>
                  </a:txBody>
                  <a:tcPr/>
                </a:tc>
                <a:tc>
                  <a:txBody>
                    <a:bodyPr/>
                    <a:lstStyle/>
                    <a:p>
                      <a:pPr lvl="0" indent="0" marL="0">
                        <a:buNone/>
                      </a:pPr>
                      <a:r>
                        <a:rPr/>
                        <a:t>you call</a:t>
                      </a:r>
                    </a:p>
                  </a:txBody>
                  <a:tcPr/>
                </a:tc>
              </a:tr>
              <a:tr h="0">
                <a:tc>
                  <a:txBody>
                    <a:bodyPr/>
                    <a:lstStyle/>
                    <a:p>
                      <a:pPr lvl="0" indent="0" marL="0">
                        <a:buNone/>
                      </a:pPr>
                      <a:r>
                        <a:rPr/>
                        <a:t>look, 46</a:t>
                      </a:r>
                    </a:p>
                  </a:txBody>
                </a:tc>
                <a:tc>
                  <a:txBody>
                    <a:bodyPr/>
                    <a:lstStyle/>
                    <a:p>
                      <a:pPr lvl="0" indent="0" marL="0">
                        <a:buNone/>
                      </a:pPr>
                      <a:r>
                        <a:rPr>
                          <a:latin typeface="Courier"/>
                        </a:rPr>
                        <a:t>load_breast_cancer</a:t>
                      </a:r>
                    </a:p>
                  </a:txBody>
                </a:tc>
              </a:tr>
              <a:tr h="0">
                <a:tc>
                  <a:txBody>
                    <a:bodyPr/>
                    <a:lstStyle/>
                    <a:p>
                      <a:pPr lvl="0" indent="0" marL="0">
                        <a:buNone/>
                      </a:pPr>
                      <a:r>
                        <a:rPr/>
                        <a:t>split, 47</a:t>
                      </a:r>
                    </a:p>
                  </a:txBody>
                </a:tc>
                <a:tc>
                  <a:txBody>
                    <a:bodyPr/>
                    <a:lstStyle/>
                    <a:p>
                      <a:pPr lvl="0" indent="0" marL="0">
                        <a:buNone/>
                      </a:pPr>
                      <a:r>
                        <a:rPr>
                          <a:latin typeface="Courier"/>
                        </a:rPr>
                        <a:t>train_test_split(X, y, test_size=0.25, stratify=y)</a:t>
                      </a:r>
                    </a:p>
                  </a:txBody>
                </a:tc>
              </a:tr>
              <a:tr h="0">
                <a:tc>
                  <a:txBody>
                    <a:bodyPr/>
                    <a:lstStyle/>
                    <a:p>
                      <a:pPr lvl="0" indent="0" marL="0">
                        <a:buNone/>
                      </a:pPr>
                      <a:r>
                        <a:rPr/>
                        <a:t>baseline, 48</a:t>
                      </a:r>
                    </a:p>
                  </a:txBody>
                </a:tc>
                <a:tc>
                  <a:txBody>
                    <a:bodyPr/>
                    <a:lstStyle/>
                    <a:p>
                      <a:pPr lvl="0" indent="0" marL="0">
                        <a:buNone/>
                      </a:pPr>
                      <a:r>
                        <a:rPr>
                          <a:latin typeface="Courier"/>
                        </a:rPr>
                        <a:t>DummyClassifier</a:t>
                      </a:r>
                      <a:r>
                        <a:rPr/>
                        <a:t>, always the majority class</a:t>
                      </a:r>
                    </a:p>
                  </a:txBody>
                </a:tc>
              </a:tr>
              <a:tr h="0">
                <a:tc>
                  <a:txBody>
                    <a:bodyPr/>
                    <a:lstStyle/>
                    <a:p>
                      <a:pPr lvl="0" indent="0" marL="0">
                        <a:buNone/>
                      </a:pPr>
                      <a:r>
                        <a:rPr/>
                        <a:t>model, 49</a:t>
                      </a:r>
                    </a:p>
                  </a:txBody>
                </a:tc>
                <a:tc>
                  <a:txBody>
                    <a:bodyPr/>
                    <a:lstStyle/>
                    <a:p>
                      <a:pPr lvl="0" indent="0" marL="0">
                        <a:buNone/>
                      </a:pPr>
                      <a:r>
                        <a:rPr>
                          <a:latin typeface="Courier"/>
                        </a:rPr>
                        <a:t>make_pipeline(StandardScaler(), LogisticRegression())</a:t>
                      </a:r>
                      <a:r>
                        <a:rPr/>
                        <a:t>, then </a:t>
                      </a:r>
                      <a:r>
                        <a:rPr>
                          <a:latin typeface="Courier"/>
                        </a:rPr>
                        <a:t>.fit()</a:t>
                      </a:r>
                    </a:p>
                  </a:txBody>
                </a:tc>
              </a:tr>
              <a:tr h="0">
                <a:tc>
                  <a:txBody>
                    <a:bodyPr/>
                    <a:lstStyle/>
                    <a:p>
                      <a:pPr lvl="0" indent="0" marL="0">
                        <a:buNone/>
                      </a:pPr>
                      <a:r>
                        <a:rPr/>
                        <a:t>result, 51</a:t>
                      </a:r>
                    </a:p>
                  </a:txBody>
                </a:tc>
                <a:tc>
                  <a:txBody>
                    <a:bodyPr/>
                    <a:lstStyle/>
                    <a:p>
                      <a:pPr lvl="0" indent="0" marL="0">
                        <a:buNone/>
                      </a:pPr>
                      <a:r>
                        <a:rPr>
                          <a:latin typeface="Courier"/>
                        </a:rPr>
                        <a:t>.score(X_test, y_test)</a:t>
                      </a:r>
                    </a:p>
                  </a:txBody>
                </a:tc>
              </a:tr>
              <a:tr h="0">
                <a:tc>
                  <a:txBody>
                    <a:bodyPr/>
                    <a:lstStyle/>
                    <a:p>
                      <a:pPr lvl="0" indent="0" marL="0">
                        <a:buNone/>
                      </a:pPr>
                      <a:r>
                        <a:rPr/>
                        <a:t>errors, 52-55</a:t>
                      </a:r>
                    </a:p>
                  </a:txBody>
                </a:tc>
                <a:tc>
                  <a:txBody>
                    <a:bodyPr/>
                    <a:lstStyle/>
                    <a:p>
                      <a:pPr lvl="0" indent="0" marL="0">
                        <a:buNone/>
                      </a:pPr>
                      <a:r>
                        <a:rPr>
                          <a:latin typeface="Courier"/>
                        </a:rPr>
                        <a:t>ConfusionMatrixDisplay</a:t>
                      </a:r>
                      <a:r>
                        <a:rPr/>
                        <a:t>, </a:t>
                      </a:r>
                      <a:r>
                        <a:rPr>
                          <a:latin typeface="Courier"/>
                        </a:rPr>
                        <a:t>classification_report</a:t>
                      </a:r>
                      <a:r>
                        <a:rPr/>
                        <a:t>, </a:t>
                      </a:r>
                      <a:r>
                        <a:rPr>
                          <a:latin typeface="Courier"/>
                        </a:rPr>
                        <a:t>predict_proba</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969212" y="2160270"/>
            <a:ext cx="7205575"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a:p>
            <a:pPr lvl="0" indent="0" marL="0">
              <a:buNone/>
            </a:pPr>
            <a:r>
              <a:rPr/>
              <a:t>In code: </a:t>
            </a:r>
            <a:r>
              <a:rPr>
                <a:latin typeface="Courier"/>
              </a:rPr>
              <a:t>DummyClassifier(strategy="most_frequent")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a:r>
              <a:rPr/>
              <a:t>In code: </a:t>
            </a:r>
            <a:r>
              <a:rPr>
                <a:latin typeface="Courier"/>
              </a:rPr>
              <a:t>baseline.score(X_test, y_test)</a:t>
            </a:r>
            <a:r>
              <a:rPr/>
              <a:t>, then </a:t>
            </a:r>
            <a:r>
              <a:rPr>
                <a:latin typeface="Courier"/>
              </a:rPr>
              <a:t>model.score(X_test, y_test)</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a:p>
            <a:pPr lvl="0"/>
            <a:r>
              <a:rPr/>
              <a:t>In code: </a:t>
            </a:r>
            <a:r>
              <a:rPr>
                <a:latin typeface="Courier"/>
              </a:rPr>
              <a:t>classification_report(y_test, y_pred)</a:t>
            </a:r>
            <a:r>
              <a:rPr/>
              <a:t> prints both</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 </a:t>
            </a:r>
            <a:r>
              <a:rPr>
                <a:latin typeface="Courier"/>
              </a:rPr>
              <a:t>predict_proba()</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failure, and its slides</a:t>
                      </a:r>
                    </a:p>
                  </a:txBody>
                  <a:tcPr/>
                </a:tc>
                <a:tc>
                  <a:txBody>
                    <a:bodyPr/>
                    <a:lstStyle/>
                    <a:p>
                      <a:pPr lvl="0" indent="0" marL="0">
                        <a:buNone/>
                      </a:pPr>
                      <a:r>
                        <a:rPr/>
                        <a:t>you call</a:t>
                      </a:r>
                    </a:p>
                  </a:txBody>
                  <a:tcPr/>
                </a:tc>
              </a:tr>
              <a:tr h="0">
                <a:tc>
                  <a:txBody>
                    <a:bodyPr/>
                    <a:lstStyle/>
                    <a:p>
                      <a:pPr lvl="0" indent="0" marL="0">
                        <a:buNone/>
                      </a:pPr>
                      <a:r>
                        <a:rPr/>
                        <a:t>the model, every time, 49</a:t>
                      </a:r>
                    </a:p>
                  </a:txBody>
                </a:tc>
                <a:tc>
                  <a:txBody>
                    <a:bodyPr/>
                    <a:lstStyle/>
                    <a:p>
                      <a:pPr lvl="0" indent="0" marL="0">
                        <a:buNone/>
                      </a:pPr>
                      <a:r>
                        <a:rPr>
                          <a:latin typeface="Courier"/>
                        </a:rPr>
                        <a:t>make_pipeline(StandardScaler(), LogisticRegression())</a:t>
                      </a:r>
                    </a:p>
                  </a:txBody>
                </a:tc>
              </a:tr>
              <a:tr h="0">
                <a:tc>
                  <a:txBody>
                    <a:bodyPr/>
                    <a:lstStyle/>
                    <a:p>
                      <a:pPr lvl="0" indent="0" marL="0">
                        <a:buNone/>
                      </a:pPr>
                      <a:r>
                        <a:rPr/>
                        <a:t>leakage, 60-62</a:t>
                      </a:r>
                    </a:p>
                  </a:txBody>
                </a:tc>
                <a:tc>
                  <a:txBody>
                    <a:bodyPr/>
                    <a:lstStyle/>
                    <a:p>
                      <a:pPr lvl="0" indent="0" marL="0">
                        <a:buNone/>
                      </a:pPr>
                      <a:r>
                        <a:rPr>
                          <a:latin typeface="Courier"/>
                        </a:rPr>
                        <a:t>SelectKBest(f_classif, k=20)</a:t>
                      </a:r>
                      <a:r>
                        <a:rPr/>
                        <a:t>, outside the pipeline and then inside it</a:t>
                      </a:r>
                    </a:p>
                  </a:txBody>
                </a:tc>
              </a:tr>
              <a:tr h="0">
                <a:tc>
                  <a:txBody>
                    <a:bodyPr/>
                    <a:lstStyle/>
                    <a:p>
                      <a:pPr lvl="0" indent="0" marL="0">
                        <a:buNone/>
                      </a:pPr>
                      <a:r>
                        <a:rPr/>
                        <a:t>imbalance, 63-64</a:t>
                      </a:r>
                    </a:p>
                  </a:txBody>
                </a:tc>
                <a:tc>
                  <a:txBody>
                    <a:bodyPr/>
                    <a:lstStyle/>
                    <a:p>
                      <a:pPr lvl="0" indent="0" marL="0">
                        <a:buNone/>
                      </a:pPr>
                      <a:r>
                        <a:rPr>
                          <a:latin typeface="Courier"/>
                        </a:rPr>
                        <a:t>make_classification</a:t>
                      </a:r>
                      <a:r>
                        <a:rPr/>
                        <a:t>; </a:t>
                      </a:r>
                      <a:r>
                        <a:rPr>
                          <a:latin typeface="Courier"/>
                        </a:rPr>
                        <a:t>accuracy_score</a:t>
                      </a:r>
                      <a:r>
                        <a:rPr/>
                        <a:t> against </a:t>
                      </a:r>
                      <a:r>
                        <a:rPr>
                          <a:latin typeface="Courier"/>
                        </a:rPr>
                        <a:t>recall_score</a:t>
                      </a:r>
                      <a:r>
                        <a:rPr/>
                        <a:t>, </a:t>
                      </a:r>
                      <a:r>
                        <a:rPr>
                          <a:latin typeface="Courier"/>
                        </a:rPr>
                        <a:t>confusion_matrix</a:t>
                      </a:r>
                    </a:p>
                  </a:txBody>
                </a:tc>
              </a:tr>
              <a:tr h="0">
                <a:tc>
                  <a:txBody>
                    <a:bodyPr/>
                    <a:lstStyle/>
                    <a:p>
                      <a:pPr lvl="0" indent="0" marL="0">
                        <a:buNone/>
                      </a:pPr>
                      <a:r>
                        <a:rPr/>
                        <a:t>shortcut, 65-66</a:t>
                      </a:r>
                    </a:p>
                  </a:txBody>
                </a:tc>
                <a:tc>
                  <a:txBody>
                    <a:bodyPr/>
                    <a:lstStyle/>
                    <a:p>
                      <a:pPr lvl="0" indent="0" marL="0">
                        <a:buNone/>
                      </a:pPr>
                      <a:r>
                        <a:rPr>
                          <a:latin typeface="Courier"/>
                        </a:rPr>
                        <a:t>load_breast_cancer</a:t>
                      </a:r>
                      <a:r>
                        <a:rPr/>
                        <a:t>; </a:t>
                      </a:r>
                      <a:r>
                        <a:rPr>
                          <a:latin typeface="Courier"/>
                        </a:rPr>
                        <a:t>SimpleImputer</a:t>
                      </a:r>
                      <a:r>
                        <a:rPr/>
                        <a:t> when the column is missing</a:t>
                      </a:r>
                    </a:p>
                  </a:txBody>
                </a:tc>
              </a:tr>
              <a:tr h="0">
                <a:tc>
                  <a:txBody>
                    <a:bodyPr/>
                    <a:lstStyle/>
                    <a:p>
                      <a:pPr lvl="0" indent="0" marL="0">
                        <a:buNone/>
                      </a:pPr>
                      <a:r>
                        <a:rPr/>
                        <a:t>single-split noise, 67</a:t>
                      </a:r>
                    </a:p>
                  </a:txBody>
                </a:tc>
                <a:tc>
                  <a:txBody>
                    <a:bodyPr/>
                    <a:lstStyle/>
                    <a:p>
                      <a:pPr lvl="0" indent="0" marL="0">
                        <a:buNone/>
                      </a:pPr>
                      <a:r>
                        <a:rPr>
                          <a:latin typeface="Courier"/>
                        </a:rPr>
                        <a:t>train_test_split(random_state=seed)</a:t>
                      </a:r>
                      <a:r>
                        <a:rPr/>
                        <a:t> against </a:t>
                      </a:r>
                      <a:r>
                        <a:rPr>
                          <a:latin typeface="Courier"/>
                        </a:rPr>
                        <a:t>cross_val_score</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a:p>
            <a:pPr lvl="0" indent="0" marL="0">
              <a:buNone/>
            </a:pPr>
            <a:r>
              <a:rPr/>
              <a:t>In code: </a:t>
            </a:r>
            <a:r>
              <a:rPr>
                <a:latin typeface="Courier"/>
              </a:rPr>
              <a:t>StandardScaler</a:t>
            </a:r>
            <a:r>
              <a:rPr/>
              <a:t>, </a:t>
            </a:r>
            <a:r>
              <a:rPr>
                <a:latin typeface="Courier"/>
              </a:rPr>
              <a:t>SimpleImputer</a:t>
            </a:r>
            <a:r>
              <a:rPr/>
              <a:t>, </a:t>
            </a:r>
            <a:r>
              <a:rPr>
                <a:latin typeface="Courier"/>
              </a:rPr>
              <a:t>SelectKBest</a:t>
            </a:r>
            <a:r>
              <a:rPr/>
              <a:t>… all inside </a:t>
            </a:r>
            <a:r>
              <a:rPr>
                <a:latin typeface="Courier"/>
              </a:rPr>
              <a:t>make_pipeline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a:p>
            <a:pPr lvl="0"/>
            <a:r>
              <a:rPr/>
              <a:t>In code: </a:t>
            </a:r>
            <a:r>
              <a:rPr>
                <a:latin typeface="Courier"/>
              </a:rPr>
              <a:t>recall_score</a:t>
            </a:r>
            <a:r>
              <a:rPr/>
              <a:t> beside </a:t>
            </a:r>
            <a:r>
              <a:rPr>
                <a:latin typeface="Courier"/>
              </a:rPr>
              <a:t>accuracy_score</a:t>
            </a:r>
            <a:r>
              <a:rPr/>
              <a:t>, every time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