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multi-gigabyte image. The image only changes if the libraries change, and they will be told when that happens.</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a:p>
            <a:pPr lvl="0" indent="0" marL="0">
              <a:buNone/>
            </a:pPr>
          </a:p>
          <a:p>
            <a:pPr lvl="0" indent="0" marL="0">
              <a:buNone/>
            </a:pPr>
            <a:r>
              <a:rPr/>
              <a:t>Point at the dashed box. Three of these objects we handle directly - the inputs, the function we search for, the predictions. The fourth, the distribution the data comes from, we never see. Everything difficult in this course comes from that one box being out of reach.</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 Then say what is unknown - D is unknown, and it is the only thing we actually care about.</a:t>
            </a:r>
          </a:p>
          <a:p>
            <a:pPr lvl="0" indent="0" marL="0">
              <a:buNone/>
            </a:pPr>
          </a:p>
          <a:p>
            <a:pPr lvl="0" indent="0" marL="0">
              <a:buNone/>
            </a:pPr>
            <a:r>
              <a:rPr/>
              <a:t>Worth naming now, because it returns in lesson 5: we never see D. We see a sample from it,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writing the exam questions after reading the students’ answers. Nobody cheated - you let the answers influence the question.</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(the standard error falls as one over root n), a bigger training set gives a better model. Give them the concrete number from notebook 01: 143 test examples at 0.986 accuracy carries a standard error of about one percentage point, so the third decimal place is noise.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there is no accuracy to report. The algorithm ALWAYS returns clusters, whether or not the data contains any groups. Whether they mean something is a judgement about the domain and cannot be delegated to a metric.</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a:p>
            <a:pPr lvl="0" indent="0" marL="0">
              <a:buNone/>
            </a:pPr>
          </a:p>
          <a:p>
            <a:pPr lvl="0" indent="0" marL="0">
              <a:buNone/>
            </a:pPr>
            <a:r>
              <a:rPr/>
              <a:t>Two of these cells are fine and two are not, and the two failures are not the same size. Accuracy adds them up as if they were. Ask which cell they would accept more of - and note that answering requires knowing who bears the cost, which is not a question about data.</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problems, the same confusion matrix, and opposite answers about which cell hurts.</a:t>
            </a:r>
          </a:p>
          <a:p>
            <a:pPr lvl="0" indent="0" marL="0">
              <a:buNone/>
            </a:pPr>
          </a:p>
          <a:p>
            <a:pPr lvl="0" indent="0" marL="0">
              <a:buNone/>
            </a:pPr>
            <a:r>
              <a:rPr/>
              <a:t>Ask the room before reading either side. Missing a malignant tumour versus raising a false alarm; blocking a legitimate email versus letting spam through. Nobody needs statistics to rank these, and that is the point -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a:p>
            <a:pPr lvl="0" indent="0" marL="0">
              <a:buNone/>
            </a:pPr>
          </a:p>
          <a:p>
            <a:pPr lvl="0" indent="0" marL="0">
              <a:buNone/>
            </a:pPr>
            <a:r>
              <a:rPr/>
              <a:t>The top row is the mistake, and note where ‘split’ sits: after the scaling. The mean used to scale the training rows was computed with the test rows included. Nothing errors, nothing warns, and the score comes out slightly too good - which is the worst kind of bug, because there is nothing to debug.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model, one dataset, and the threshold swept from one end to the other.</a:t>
            </a:r>
          </a:p>
          <a:p>
            <a:pPr lvl="0" indent="0" marL="0">
              <a:buNone/>
            </a:pPr>
          </a:p>
          <a:p>
            <a:pPr lvl="0" indent="0" marL="0">
              <a:buNone/>
            </a:pPr>
            <a:r>
              <a:rPr/>
              <a:t>Follow the two curves in opposite directions. Lower the threshold and recall rises - we catch more of what is there - while precision falls, because more of what we flag is wrong. There is no setting where both are at their best, and no amount of better modelling removes the trade.</a:t>
            </a:r>
          </a:p>
          <a:p>
            <a:pPr lvl="0" indent="0" marL="0">
              <a:buNone/>
            </a:pPr>
          </a:p>
          <a:p>
            <a:pPr lvl="0" indent="0" marL="0">
              <a:buNone/>
            </a:pPr>
            <a:r>
              <a:rPr/>
              <a:t>So the question of whether a model is good has no answer until somebody says which error is worse, which is the slide from earlier arriving again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a:p>
            <a:pPr lvl="0" indent="0" marL="0">
              <a:buNone/>
            </a:pPr>
          </a:p>
          <a:p>
            <a:pPr lvl="0" indent="0" marL="0">
              <a:buNone/>
            </a:pPr>
            <a:r>
              <a:rPr/>
              <a:t>Read the bottom-left cell in both matrices: 21 missed, then 20 missed. The accuracies differ by one thousandth. If you reported only accuracy, these two systems look identical - and one of them is a constant function that never looks at the input.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a:p>
            <a:pPr lvl="0" indent="0" marL="0">
              <a:buNone/>
            </a:pPr>
          </a:p>
          <a:p>
            <a:pPr lvl="0" indent="0" marL="0">
              <a:buNone/>
            </a:pPr>
            <a:r>
              <a:rPr/>
              <a:t>The shaded region is the trap. Everything to the right of the blue marker happens after the moment a prediction is needed, so none of it can be an input. Give them the question in the title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3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 set every Friday, due the next</a:t>
            </a:r>
          </a:p>
          <a:p>
            <a:pPr lvl="0"/>
            <a:r>
              <a:rPr b="1"/>
              <a:t>Final project</a:t>
            </a:r>
            <a:r>
              <a:rPr/>
              <a:t> — an end-to-end study, with peer review</a:t>
            </a:r>
          </a:p>
          <a:p>
            <a:pPr lvl="0"/>
            <a:r>
              <a:rPr b="1"/>
              <a:t>Written exam</a:t>
            </a:r>
            <a:r>
              <a:rPr/>
              <a:t> —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 the reference text, with the mathematics</a:t>
            </a:r>
          </a:p>
          <a:p>
            <a:pPr lvl="0"/>
            <a:r>
              <a:rPr b="1"/>
              <a:t>Slides</a:t>
            </a:r>
            <a:r>
              <a:rPr/>
              <a:t> — what we do in the room</a:t>
            </a:r>
          </a:p>
          <a:p>
            <a:pPr lvl="0"/>
            <a:r>
              <a:rPr b="1"/>
              <a:t>Notebooks</a:t>
            </a:r>
            <a:r>
              <a:rPr/>
              <a:t> —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up</a:t>
            </a:r>
          </a:p>
          <a:p>
            <a:pPr lvl="0" indent="0" marL="0">
              <a:buNone/>
            </a:pPr>
            <a:r>
              <a:rPr/>
              <a:t>Then </a:t>
            </a:r>
            <a:r>
              <a:rPr>
                <a:latin typeface="Courier"/>
              </a:rPr>
              <a:t>http://127.0.0.1:8888/lab?token=aicourse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117b158e76.png" id="0" name="Picture 1"/>
          <p:cNvPicPr>
            <a:picLocks noGrp="1" noChangeAspect="1"/>
          </p:cNvPicPr>
          <p:nvPr/>
        </p:nvPicPr>
        <p:blipFill>
          <a:blip r:embed="rId3"/>
          <a:stretch>
            <a:fillRect/>
          </a:stretch>
        </p:blipFill>
        <p:spPr bwMode="auto">
          <a:xfrm>
            <a:off x="457200" y="2207099"/>
            <a:ext cx="8229599" cy="2272352"/>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58364" y="2160270"/>
            <a:ext cx="4227271"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idea, on real data</a:t>
            </a:r>
          </a:p>
        </p:txBody>
      </p:sp>
      <p:pic>
        <p:nvPicPr>
          <p:cNvPr descr="overfitting.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 replaced by something observable.</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82539"/>
            <a:ext cx="8229600" cy="2527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62838" y="1166099"/>
            <a:ext cx="6418323"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 look first</a:t>
            </a:r>
          </a:p>
        </p:txBody>
      </p:sp>
      <p:pic>
        <p:nvPicPr>
          <p:cNvPr descr="class_distribution.png" id="0" name="Picture 1"/>
          <p:cNvPicPr>
            <a:picLocks noGrp="1" noChangeAspect="1"/>
          </p:cNvPicPr>
          <p:nvPr/>
        </p:nvPicPr>
        <p:blipFill>
          <a:blip r:embed="rId3"/>
          <a:stretch>
            <a:fillRect/>
          </a:stretch>
        </p:blipFill>
        <p:spPr bwMode="auto">
          <a:xfrm>
            <a:off x="1973208" y="1166099"/>
            <a:ext cx="519758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95157" y="1166099"/>
            <a:ext cx="795368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22013" y="1166099"/>
            <a:ext cx="369997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17432" y="1166099"/>
            <a:ext cx="6909136" cy="3360181"/>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25389"/>
            <a:ext cx="8229600" cy="2641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data —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Introduction and the ML Workflow</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