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API key, a cloud account or a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It is the only thing standing between them and a meaningless number, and it is the operational consequence of the last two slides - since the expected risk cannot be computed, we estimate it on data the model has never seen.</a:t>
            </a:r>
          </a:p>
          <a:p>
            <a:pPr lvl="0" indent="0" marL="0">
              <a:buNone/>
            </a:pPr>
          </a:p>
          <a:p>
            <a:pPr lvl="0" indent="0" marL="0">
              <a:buNone/>
            </a:pPr>
            <a:r>
              <a:rPr/>
              <a:t>Warn them we will violate this deliberately later today and watch 77% accuracy appear out of pure random noise.</a:t>
            </a:r>
          </a:p>
          <a:p>
            <a:pPr lvl="0" indent="0" marL="0">
              <a:buNone/>
            </a:pPr>
          </a:p>
          <a:p>
            <a:pPr lvl="0" indent="0" marL="0">
              <a:buNone/>
            </a:pPr>
            <a:r>
              <a:rPr/>
              <a:t>If someone asks “how much do we hold out?” - typically 20-30%, and lesson 5 explains the trade-off: more test data gives a more reliable estimate, less training data gives a worse model.</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1943 — the first artificial neuron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McCulloch and Pitts: a neuron as a threshold unit.</a:t>
            </a:r>
          </a:p>
          <a:p>
            <a:pPr lvl="0" indent="0" marL="0">
              <a:buNone/>
            </a:pPr>
            <a:r>
              <a:rPr/>
              <a:t>Fires when the weighted sum of inputs passes a threshold.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1950 — Turing’s imitation game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“Can machines think?” — replaced by a question you can test by observation.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1956 — Dartmouth</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term </a:t>
            </a:r>
            <a:r>
              <a:rPr i="1"/>
              <a:t>artificial intelligence</a:t>
            </a:r>
            <a:r>
              <a:rPr/>
              <a:t> is coined.</a:t>
            </a:r>
          </a:p>
          <a:p>
            <a:pPr lvl="0" indent="0" marL="0">
              <a:buNone/>
            </a:pPr>
            <a:r>
              <a:rPr/>
              <a:t>The proposal: ten people, two months, significant progress.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1957 — the perceptron learns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Rosenblatt: weights adjusted </a:t>
            </a:r>
            <a:r>
              <a:rPr b="1"/>
              <a:t>from examples</a:t>
            </a:r>
            <a:r>
              <a:rPr/>
              <a:t>, not set by hand.</a:t>
            </a:r>
          </a:p>
          <a:p>
            <a:pPr lvl="0" indent="0" marL="0">
              <a:buNone/>
            </a:pPr>
            <a:r>
              <a:rPr/>
              <a:t>Convergence theorem: if the data is linearly separable, it will find a separator.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1969 — the first winter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Minsky and Papert: a single-layer perceptron cannot represent XOR.</a:t>
            </a:r>
          </a:p>
          <a:p>
            <a:pPr lvl="0" indent="0" marL="0">
              <a:buNone/>
            </a:pPr>
            <a:r>
              <a:rPr/>
              <a:t>Correct. And narrower than the reception suggested.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1986 — backpropagation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An efficient way to train multi-layer networks.</a:t>
            </a:r>
          </a:p>
          <a:p>
            <a:pPr lvl="0" indent="0" marL="0">
              <a:buNone/>
            </a:pPr>
            <a:r>
              <a:rPr/>
              <a:t>The 1969 objection is answered. A second winter follows anyway.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1995–2010 — statistics takes over</a:t>
            </a:r>
          </a:p>
        </p:txBody>
      </p:sp>
      <p:sp>
        <p:nvSpPr>
          <p:cNvPr id="3" name="Content Placeholder 2"/>
          <p:cNvSpPr>
            <a:spLocks noGrp="1"/>
          </p:cNvSpPr>
          <p:nvPr>
            <p:ph idx="1"/>
          </p:nvPr>
        </p:nvSpPr>
        <p:spPr>
          <a:xfrm>
            <a:off x="457200" y="1200151"/>
            <a:ext cx="8229600" cy="3394472"/>
          </a:xfrm>
        </p:spPr>
        <p:txBody>
          <a:bodyPr/>
          <a:lstStyle/>
          <a:p>
            <a:pPr lvl="0"/>
            <a:r>
              <a:rPr/>
              <a:t>Support vector machines, ensembles, probabilistic methods</a:t>
            </a:r>
          </a:p>
          <a:p>
            <a:pPr lvl="0"/>
            <a:r>
              <a:rPr/>
              <a:t>From “simulating intelligence” to “estimating functions from data”</a:t>
            </a:r>
          </a:p>
          <a:p>
            <a:pPr lvl="0" indent="0" marL="0">
              <a:buNone/>
            </a:pPr>
            <a:r>
              <a:rPr/>
              <a:t>A retreat in ambition. An advance in rigour.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2012 — AlexNet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ImageNet error: 26% → 15%.</a:t>
            </a:r>
          </a:p>
          <a:p>
            <a:pPr lvl="0" indent="0" marL="0">
              <a:buNone/>
            </a:pPr>
            <a:r>
              <a:rPr/>
              <a:t>The architecture was recognisably LeNet, from 1989.</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Self-supervised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Hide part of the input. Predict it from the rest.</a:t>
            </a:r>
          </a:p>
          <a:p>
            <a:pPr lvl="0" indent="0" marL="0">
              <a:buNone/>
            </a:pPr>
            <a:r>
              <a:rPr/>
              <a:t>Nobody annotates anything — and the supervision is real.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 split, before anything else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Before scaling. Before selecting features. Before looking at correlations with the target.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2026-08-16T17:06:17Z</dcterms:created>
  <dcterms:modified xsi:type="dcterms:W3CDTF">2026-08-16T17:06:17Z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