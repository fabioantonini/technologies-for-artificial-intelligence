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API key, a cloud account or a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exam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multi-gigabyte image. The image only changes if the libraries change, and they will be told when that happens.</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a:p>
            <a:pPr lvl="0" indent="0" marL="0">
              <a:buNone/>
            </a:pPr>
          </a:p>
          <a:p>
            <a:pPr lvl="0" indent="0" marL="0">
              <a:buNone/>
            </a:pPr>
            <a:r>
              <a:rPr/>
              <a:t>Point at the dashed box. Three of these objects we handle directly - the inputs, the function we search for, the predictions. The fourth, the distribution the data comes from, we never see. Everything difficult in this course comes from that one box being out of reach.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writing the exam questions after reading the students’ answers. Nobody cheated - you let the answers influence the question.</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(the standard error falls as one over root n), a bigger training set gives a better model. Give them the concrete number from notebook 01: 143 test examples at 0.986 accuracy carries a standard error of about one percentage point, so the third decimal place is noise.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learned models are wrong sometimes, in ways that are hard to predict and often hard to explain. If a mistake is unrecoverable and nobody reviews the output, the question is not whether accuracy is high enough but whether anyone can tell when it has failed.</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there is no accuracy to report. The algorithm ALWAYS returns clusters, whether or not the data contains any groups. Whether they mean something is a judgement about the domain and cannot be delegated to a metric.</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a:p>
            <a:pPr lvl="0" indent="0" marL="0">
              <a:buNone/>
            </a:pPr>
          </a:p>
          <a:p>
            <a:pPr lvl="0" indent="0" marL="0">
              <a:buNone/>
            </a:pPr>
            <a:r>
              <a:rPr/>
              <a:t>Two of these cells are fine and two are not, and the two failures are not the same size. Accuracy adds them up as if they were. Ask which cell they would accept more of - and note that answering requires knowing who bears the cost, which is not a question about data.</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a:p>
            <a:pPr lvl="0" indent="0" marL="0">
              <a:buNone/>
            </a:pPr>
          </a:p>
          <a:p>
            <a:pPr lvl="0" indent="0" marL="0">
              <a:buNone/>
            </a:pPr>
            <a:r>
              <a:rPr/>
              <a:t>The top row is the mistake, and note where ‘split’ sits: after the scaling. The mean used to scale the training rows was computed with the test rows included. Nothing errors, nothing warns, and the score comes out slightly too good - which is the worst kind of bug, because there is nothing to debug.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figure to make the trade-off physical: the threshold is a line you slide, and sliding it moves errors from one column to the other.</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a:p>
            <a:pPr lvl="0" indent="0" marL="0">
              <a:buNone/>
            </a:pPr>
          </a:p>
          <a:p>
            <a:pPr lvl="0" indent="0" marL="0">
              <a:buNone/>
            </a:pPr>
            <a:r>
              <a:rPr/>
              <a:t>Read the bottom-left cell in both matrices: 21 missed, then 20 missed. The accuracies differ by one thousandth. If you reported only accuracy, these two systems look identical - and one of them is a constant function that never looks at the input.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a:p>
            <a:pPr lvl="0" indent="0" marL="0">
              <a:buNone/>
            </a:pPr>
          </a:p>
          <a:p>
            <a:pPr lvl="0" indent="0" marL="0">
              <a:buNone/>
            </a:pPr>
            <a:r>
              <a:rPr/>
              <a:t>The shaded region is the trap. Everything to the right of the blue marker happens after the moment a prediction is needed, so none of it can be an input. Give them the question in the title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 Id="rId3"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9.xml"/><Relationship Id="rId3" Type="http://schemas.openxmlformats.org/officeDocument/2006/relationships/image" Target="../media/image2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2.xml"/><Relationship Id="rId3"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8.xml"/><Relationship Id="rId3" Type="http://schemas.openxmlformats.org/officeDocument/2006/relationships/image" Target="../media/image2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9.xml"/><Relationship Id="rId3" Type="http://schemas.openxmlformats.org/officeDocument/2006/relationships/image" Target="../media/image2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3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SVM,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 set every Friday, due the next</a:t>
            </a:r>
          </a:p>
          <a:p>
            <a:pPr lvl="0"/>
            <a:r>
              <a:rPr b="1"/>
              <a:t>Final project</a:t>
            </a:r>
            <a:r>
              <a:rPr/>
              <a:t> — an end-to-end study, with peer review</a:t>
            </a:r>
          </a:p>
          <a:p>
            <a:pPr lvl="0"/>
            <a:r>
              <a:rPr b="1"/>
              <a:t>Written exam</a:t>
            </a:r>
            <a:r>
              <a:rPr/>
              <a:t> —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 the reference text, with the mathematics</a:t>
            </a:r>
          </a:p>
          <a:p>
            <a:pPr lvl="0"/>
            <a:r>
              <a:rPr b="1"/>
              <a:t>Slides</a:t>
            </a:r>
            <a:r>
              <a:rPr/>
              <a:t> — what we do in the room</a:t>
            </a:r>
          </a:p>
          <a:p>
            <a:pPr lvl="0"/>
            <a:r>
              <a:rPr b="1"/>
              <a:t>Notebooks</a:t>
            </a:r>
            <a:r>
              <a:rPr/>
              <a:t> —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https://github.com/fabioantonini/</a:t>
            </a:r>
            <a:r>
              <a:rPr>
                <a:solidFill>
                  <a:srgbClr val="902000"/>
                </a:solidFill>
                <a:latin typeface="Courier"/>
              </a:rPr>
              <a:t>\</a:t>
            </a:r>
            <a:br/>
            <a:r>
              <a:rPr>
                <a:latin typeface="Courier"/>
              </a:rPr>
              <a:t>technologies-for-artificial-intelligence.git</a:t>
            </a:r>
            <a:br/>
            <a:r>
              <a:rPr>
                <a:solidFill>
                  <a:srgbClr val="008000"/>
                </a:solidFill>
                <a:latin typeface="Courier"/>
              </a:rPr>
              <a:t>cd</a:t>
            </a:r>
            <a:r>
              <a:rPr>
                <a:latin typeface="Courier"/>
              </a:rPr>
              <a:t> technologies-for-artificial-intelligence</a:t>
            </a:r>
            <a:br/>
            <a:r>
              <a:rPr>
                <a:latin typeface="Courier"/>
              </a:rPr>
              <a:t>docker compose up</a:t>
            </a:r>
          </a:p>
          <a:p>
            <a:pPr lvl="0" indent="0" marL="0">
              <a:buNone/>
            </a:pPr>
            <a:r>
              <a:rPr/>
              <a:t>Then </a:t>
            </a:r>
            <a:r>
              <a:rPr>
                <a:latin typeface="Courier"/>
              </a:rPr>
              <a:t>http://127.0.0.1:8888/lab?token=aicourse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A problem you cannot specify</a:t>
            </a:r>
          </a:p>
        </p:txBody>
      </p:sp>
      <p:sp>
        <p:nvSpPr>
          <p:cNvPr id="4" name="Text Placeholder 3"/>
          <p:cNvSpPr>
            <a:spLocks noGrp="1"/>
          </p:cNvSpPr>
          <p:nvPr>
            <p:ph idx="2" sz="half" type="body"/>
          </p:nvPr>
        </p:nvSpPr>
        <p:spPr>
          <a:xfrm>
            <a:off x="457200" y="1183005"/>
            <a:ext cx="8229600" cy="2185987"/>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pic>
        <p:nvPicPr>
          <p:cNvPr descr="spam_rules.png" id="0" name="Picture 1"/>
          <p:cNvPicPr>
            <a:picLocks noGrp="1" noChangeAspect="1"/>
          </p:cNvPicPr>
          <p:nvPr/>
        </p:nvPicPr>
        <p:blipFill>
          <a:blip r:embed="rId3"/>
          <a:stretch>
            <a:fillRect/>
          </a:stretch>
        </p:blipFill>
        <p:spPr bwMode="auto">
          <a:xfrm>
            <a:off x="3130245" y="3471862"/>
            <a:ext cx="2883510" cy="1054418"/>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Making it precise</a:t>
            </a:r>
          </a:p>
        </p:txBody>
      </p:sp>
      <p:sp>
        <p:nvSpPr>
          <p:cNvPr id="4" name="Text Placeholder 3"/>
          <p:cNvSpPr>
            <a:spLocks noGrp="1"/>
          </p:cNvSpPr>
          <p:nvPr>
            <p:ph idx="2" sz="half" type="body"/>
          </p:nvPr>
        </p:nvSpPr>
        <p:spPr>
          <a:xfrm>
            <a:off x="457200" y="1183005"/>
            <a:ext cx="8229600" cy="2185987"/>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pic>
        <p:nvPicPr>
          <p:cNvPr descr="learning_setup.png" id="0" name="Picture 1"/>
          <p:cNvPicPr>
            <a:picLocks noGrp="1" noChangeAspect="1"/>
          </p:cNvPicPr>
          <p:nvPr/>
        </p:nvPicPr>
        <p:blipFill>
          <a:blip r:embed="rId3"/>
          <a:stretch>
            <a:fillRect/>
          </a:stretch>
        </p:blipFill>
        <p:spPr bwMode="auto">
          <a:xfrm>
            <a:off x="2978481" y="3471862"/>
            <a:ext cx="3187037" cy="1054418"/>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72427"/>
            <a:ext cx="8229595" cy="941695"/>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117b158e76.png" id="0" name="Picture 1"/>
          <p:cNvPicPr>
            <a:picLocks noGrp="1" noChangeAspect="1"/>
          </p:cNvPicPr>
          <p:nvPr/>
        </p:nvPicPr>
        <p:blipFill>
          <a:blip r:embed="rId3"/>
          <a:stretch>
            <a:fillRect/>
          </a:stretch>
        </p:blipFill>
        <p:spPr bwMode="auto">
          <a:xfrm>
            <a:off x="457200" y="2207099"/>
            <a:ext cx="8229599" cy="2272352"/>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58364" y="2160270"/>
            <a:ext cx="4227271" cy="236601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idea, on real data</a:t>
            </a:r>
          </a:p>
        </p:txBody>
      </p:sp>
      <p:pic>
        <p:nvPicPr>
          <p:cNvPr descr="overfitting.png" id="0" name="Picture 1"/>
          <p:cNvPicPr>
            <a:picLocks noGrp="1" noChangeAspect="1"/>
          </p:cNvPicPr>
          <p:nvPr/>
        </p:nvPicPr>
        <p:blipFill>
          <a:blip r:embed="rId3"/>
          <a:stretch>
            <a:fillRect/>
          </a:stretch>
        </p:blipFill>
        <p:spPr bwMode="auto">
          <a:xfrm>
            <a:off x="457200" y="1677789"/>
            <a:ext cx="8229600" cy="2336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 write it</a:t>
            </a:r>
          </a:p>
          <a:p>
            <a:pPr lvl="0"/>
            <a:r>
              <a:rPr/>
              <a:t>The data is </a:t>
            </a:r>
            <a:r>
              <a:rPr b="1"/>
              <a:t>not representative</a:t>
            </a:r>
            <a:r>
              <a:rPr/>
              <a:t> of deployment</a:t>
            </a:r>
          </a:p>
          <a:p>
            <a:pPr lvl="0"/>
            <a:r>
              <a:rPr/>
              <a:t>Errors are </a:t>
            </a:r>
            <a:r>
              <a:rPr b="1"/>
              <a:t>catastrophic and unexplainable</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 replaced by something observable.</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46623" y="2160270"/>
            <a:ext cx="3850753"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46623" y="2160270"/>
            <a:ext cx="3850753"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 not by algorithm.</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82539"/>
            <a:ext cx="8229600" cy="2527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1 — frame it</a:t>
            </a:r>
          </a:p>
        </p:txBody>
      </p:sp>
      <p:sp>
        <p:nvSpPr>
          <p:cNvPr id="4" name="Text Placeholder 3"/>
          <p:cNvSpPr>
            <a:spLocks noGrp="1"/>
          </p:cNvSpPr>
          <p:nvPr>
            <p:ph idx="2" sz="half" type="body"/>
          </p:nvPr>
        </p:nvSpPr>
        <p:spPr>
          <a:xfrm>
            <a:off x="457200" y="1183005"/>
            <a:ext cx="8229600" cy="1311592"/>
          </a:xfrm>
        </p:spPr>
        <p:txBody>
          <a:bodyPr/>
          <a:lstStyle/>
          <a:p>
            <a:pPr lvl="0"/>
            <a:r>
              <a:rPr/>
              <a:t>What is predicted, from what?</a:t>
            </a:r>
          </a:p>
          <a:p>
            <a:pPr lvl="0"/>
            <a:r>
              <a:rPr/>
              <a:t>Who would use it, for what decision?</a:t>
            </a:r>
          </a:p>
          <a:p>
            <a:pPr lvl="0"/>
            <a:r>
              <a:rPr b="1"/>
              <a:t>Which error is worse?</a:t>
            </a:r>
          </a:p>
        </p:txBody>
      </p:sp>
      <p:pic>
        <p:nvPicPr>
          <p:cNvPr descr="error_costs.png" id="0" name="Picture 1"/>
          <p:cNvPicPr>
            <a:picLocks noGrp="1" noChangeAspect="1"/>
          </p:cNvPicPr>
          <p:nvPr/>
        </p:nvPicPr>
        <p:blipFill>
          <a:blip r:embed="rId3"/>
          <a:stretch>
            <a:fillRect/>
          </a:stretch>
        </p:blipFill>
        <p:spPr bwMode="auto">
          <a:xfrm>
            <a:off x="2734600" y="2597467"/>
            <a:ext cx="3674800" cy="1928813"/>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 look first</a:t>
            </a:r>
          </a:p>
        </p:txBody>
      </p:sp>
      <p:pic>
        <p:nvPicPr>
          <p:cNvPr descr="class_distribution.png" id="0" name="Picture 1"/>
          <p:cNvPicPr>
            <a:picLocks noGrp="1" noChangeAspect="1"/>
          </p:cNvPicPr>
          <p:nvPr/>
        </p:nvPicPr>
        <p:blipFill>
          <a:blip r:embed="rId3"/>
          <a:stretch>
            <a:fillRect/>
          </a:stretch>
        </p:blipFill>
        <p:spPr bwMode="auto">
          <a:xfrm>
            <a:off x="1973208" y="1166099"/>
            <a:ext cx="5197583"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5 — pipeline, not two steps</a:t>
            </a:r>
          </a:p>
        </p:txBody>
      </p:sp>
      <p:sp>
        <p:nvSpPr>
          <p:cNvPr id="4" name="Text Placeholder 3"/>
          <p:cNvSpPr>
            <a:spLocks noGrp="1"/>
          </p:cNvSpPr>
          <p:nvPr>
            <p:ph idx="2" sz="half" type="body"/>
          </p:nvPr>
        </p:nvSpPr>
        <p:spPr>
          <a:xfrm>
            <a:off x="457200" y="1183005"/>
            <a:ext cx="8229600" cy="131159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pic>
        <p:nvPicPr>
          <p:cNvPr descr="pipeline_versus_manual.png" id="0" name="Picture 1"/>
          <p:cNvPicPr>
            <a:picLocks noGrp="1" noChangeAspect="1"/>
          </p:cNvPicPr>
          <p:nvPr/>
        </p:nvPicPr>
        <p:blipFill>
          <a:blip r:embed="rId3"/>
          <a:stretch>
            <a:fillRect/>
          </a:stretch>
        </p:blipFill>
        <p:spPr bwMode="auto">
          <a:xfrm>
            <a:off x="2291462" y="2597467"/>
            <a:ext cx="4561075" cy="1928813"/>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22013" y="1166099"/>
            <a:ext cx="3699974"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Precision and recall</a:t>
            </a:r>
          </a:p>
        </p:txBody>
      </p:sp>
      <p:sp>
        <p:nvSpPr>
          <p:cNvPr id="4" name="Text Placeholder 3"/>
          <p:cNvSpPr>
            <a:spLocks noGrp="1"/>
          </p:cNvSpPr>
          <p:nvPr>
            <p:ph idx="2" sz="half" type="body"/>
          </p:nvPr>
        </p:nvSpPr>
        <p:spPr>
          <a:xfrm>
            <a:off x="457200" y="1183005"/>
            <a:ext cx="8229600" cy="1748790"/>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pic>
        <p:nvPicPr>
          <p:cNvPr descr="precision_recall_tradeoff.png" id="0" name="Picture 1"/>
          <p:cNvPicPr>
            <a:picLocks noGrp="1" noChangeAspect="1"/>
          </p:cNvPicPr>
          <p:nvPr/>
        </p:nvPicPr>
        <p:blipFill>
          <a:blip r:embed="rId3"/>
          <a:stretch>
            <a:fillRect/>
          </a:stretch>
        </p:blipFill>
        <p:spPr bwMode="auto">
          <a:xfrm>
            <a:off x="3130584" y="3034665"/>
            <a:ext cx="2882832" cy="1491615"/>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99% accuracy, detecting nothing</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pic>
        <p:nvPicPr>
          <p:cNvPr descr="imbalance_matrix.png" id="0" name="Picture 1"/>
          <p:cNvPicPr>
            <a:picLocks noGrp="1" noChangeAspect="1"/>
          </p:cNvPicPr>
          <p:nvPr/>
        </p:nvPicPr>
        <p:blipFill>
          <a:blip r:embed="rId3"/>
          <a:stretch>
            <a:fillRect/>
          </a:stretch>
        </p:blipFill>
        <p:spPr bwMode="auto">
          <a:xfrm>
            <a:off x="2583839" y="2597467"/>
            <a:ext cx="3976322" cy="1928813"/>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Shortcut features</a:t>
            </a:r>
          </a:p>
        </p:txBody>
      </p:sp>
      <p:sp>
        <p:nvSpPr>
          <p:cNvPr id="4" name="Text Placeholder 3"/>
          <p:cNvSpPr>
            <a:spLocks noGrp="1"/>
          </p:cNvSpPr>
          <p:nvPr>
            <p:ph idx="2" sz="half" type="body"/>
          </p:nvPr>
        </p:nvSpPr>
        <p:spPr>
          <a:xfrm>
            <a:off x="457200" y="1183005"/>
            <a:ext cx="8229600" cy="1748790"/>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pic>
        <p:nvPicPr>
          <p:cNvPr descr="shortcut_timeline.png" id="0" name="Picture 1"/>
          <p:cNvPicPr>
            <a:picLocks noGrp="1" noChangeAspect="1"/>
          </p:cNvPicPr>
          <p:nvPr/>
        </p:nvPicPr>
        <p:blipFill>
          <a:blip r:embed="rId3"/>
          <a:stretch>
            <a:fillRect/>
          </a:stretch>
        </p:blipFill>
        <p:spPr bwMode="auto">
          <a:xfrm>
            <a:off x="2247856" y="3034665"/>
            <a:ext cx="4648288" cy="1491615"/>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43961" y="1166099"/>
            <a:ext cx="6456078"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data —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 Introduction and the ML Workflow</dc:title>
  <dc:creator>Fabio Antonini — Università degli Studi dell’Aquila</dc:creator>
  <cp:keywords/>
  <dcterms:created xsi:type="dcterms:W3CDTF">2026-08-16T19:08:31Z</dcterms:created>
  <dcterms:modified xsi:type="dcterms:W3CDTF">2026-08-16T19:08:31Z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