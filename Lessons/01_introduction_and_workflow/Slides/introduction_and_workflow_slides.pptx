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large language models (LLMs), the systems behind chatbots, in this course - they belong to another module in the programme. Some will be disappointed. Tell them the material here is what those systems are built on: the transformer, the architecture inside them,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handout matters at the exam: “why did you choose this metric?” about their own notebook is answered with the derivations, not with the code.</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are also working on an exercise.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about an hour to the break, which comes after the history (slide 34); then the three kinds of learning, then the workflow worked live, then the failure modes. Homework is set in the last five minutes - do not let it slip; nothing is handed in, and it is discussed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make,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the idea is old. Arthur Samuel’s checkers program, in the 1950s, improved by playing games rather than by rules somebody wrote for it, and he called that machine learning. The arrows picture is a modern way of drawing what he did,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for the tumour data on slide 45, “Which error is worse?”.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say the key point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 the next slide does it with the simplest choice, and that choice turns this formula into accuracy.</a:t>
            </a:r>
          </a:p>
          <a:p>
            <a:pPr lvl="0" indent="0" marL="0">
              <a:buNone/>
            </a:pPr>
          </a:p>
          <a:p>
            <a:pPr lvl="0" indent="0" marL="0">
              <a:buNone/>
            </a:pPr>
            <a:r>
              <a:rPr/>
              <a:t>And say that choosing L is a modelling decision, not a technicality: it is where you state what counts as a bad mistake, before any model exists. The zero-one loss of the next slide says every error costs the same, which is almost never true. Lesson 3 uses squared error, lesson 4 uses cross-entropy and then prices the two kinds of mistake separately. Handout 2.1.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word has been used since the first slide and never pinned down, so pin it now, and pin it to the formula on the previous slide. Take the simplest loss there is: 0 when the answer is right, 1 when it is wrong. Then the average loss over the sample is just the fraction of wrong answers - the error rate - and accuracy is one minus it. Every accuracy in today’s notebooks is an empirical risk under a friendlier name.</a:t>
            </a:r>
          </a:p>
          <a:p>
            <a:pPr lvl="0" indent="0" marL="0">
              <a:buNone/>
            </a:pPr>
          </a:p>
          <a:p>
            <a:pPr lvl="0" indent="0" marL="0">
              <a:buNone/>
            </a:pPr>
            <a:r>
              <a:rPr/>
              <a:t>The number they will see in notebook 02: the model gets 141 of the 143 test tumours right, 141 / 143 = 0.986, so the error rate is 2 / 143 = 0.014.</a:t>
            </a:r>
          </a:p>
          <a:p>
            <a:pPr lvl="0" indent="0" marL="0">
              <a:buNone/>
            </a:pPr>
          </a:p>
          <a:p>
            <a:pPr lvl="0" indent="0" marL="0">
              <a:buNone/>
            </a:pPr>
            <a:r>
              <a:rPr/>
              <a:t>Flag the last bullet now and come back to it: the zero-one loss charges a malignant tumour sent home exactly what it charges a benign one sent to biopsy. That is the confusion-matrix slide later today, and lesson 4’s subject. Handout 2.1.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of “learning” in one formula, and it reads left to right as a sentence. F is the family: every model we are willing to consider - all the threshold rules on the next slide, all the weighted sums of the 30 features in notebook 02. R-hat is the empirical risk from two slides back, the training error. And arg min means “the member of the family where that error is smallest” - not the smallest error itself, the model that achieves it. f-hat, with the hat, is that model: an estimate, picked from data, of the f we really want.</a:t>
            </a:r>
          </a:p>
          <a:p>
            <a:pPr lvl="0" indent="0" marL="0">
              <a:buNone/>
            </a:pPr>
          </a:p>
          <a:p>
            <a:pPr lvl="0" indent="0" marL="0">
              <a:buNone/>
            </a:pPr>
            <a:r>
              <a:rPr/>
              <a:t>So two decisions are made before any data arrives - which family F, which loss inside R-hat - and the data makes the third: which member of F wins. The next slide shows the arg min being taken, one candidate at a time. Handout 2.1.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what “fit” actually does, on the smallest model there is. One feature - the mean radius of the tumour - and one family of rules: call a tumour malignant if its radius is above a threshold t. Every value of t is a different candidate model.</a:t>
            </a:r>
          </a:p>
          <a:p>
            <a:pPr lvl="0" indent="0" marL="0">
              <a:buNone/>
            </a:pPr>
          </a:p>
          <a:p>
            <a:pPr lvl="0" indent="0" marL="0">
              <a:buNone/>
            </a:pPr>
            <a:r>
              <a:rPr/>
              <a:t>Before reading the curve, say what the two axes are, because they share one scale and are not the same thing. Top: each training tumour’s radius - the data. Bottom: the candidate threshold t - the parameter being chosen. They can share an axis only because this parameter is itself a radius value. Written as a linear model the rule is “malignant if w1 * radius + b &gt; 0” with w1 fixed at 1, so the number being searched for is the intercept, b = -t = -15.04. Any positive w1 gives the same rule (w1 = 2, b = -30.08 is still “radius above 15.04”), so with one feature only the threshold matters. In lesson 3 the parameters are two coefficients, a slope and an intercept, and this curve becomes a surface.</a:t>
            </a:r>
          </a:p>
          <a:p>
            <a:pPr lvl="0" indent="0" marL="0">
              <a:buNone/>
            </a:pPr>
          </a:p>
          <a:p>
            <a:pPr lvl="0" indent="0" marL="0">
              <a:buNone/>
            </a:pPr>
            <a:r>
              <a:rPr/>
              <a:t>Top: the 426 training tumours along the radius axis, malignant above, benign below. Bottom: the training error rate of every one of the 355 candidate thresholds - a threshold halfway between each pair of neighbouring values. Learning, here, is literally this: try them all, keep the one with the fewest mistakes. It is t = 15.04, with training error 0.108, so training accuracy 0.892. On the 143 test tumours it never saw it scores 0.888.</a:t>
            </a:r>
          </a:p>
          <a:p>
            <a:pPr lvl="0" indent="0" marL="0">
              <a:buNone/>
            </a:pPr>
          </a:p>
          <a:p>
            <a:pPr lvl="0" indent="0" marL="0">
              <a:buNone/>
            </a:pPr>
            <a:r>
              <a:rPr/>
              <a:t>Then generalise in one sentence each. The real model in notebook 02 does the same thing - choose a family, score every member on the training data, keep the best - with all 30 features, a far richer family (weighted sums of the features), and a smarter search than trying every candidate one by one; lesson 3 shows that search. It gets to 0.986.</a:t>
            </a:r>
          </a:p>
          <a:p>
            <a:pPr lvl="0" indent="0" marL="0">
              <a:buNone/>
            </a:pPr>
          </a:p>
          <a:p>
            <a:pPr lvl="0" indent="0" marL="0">
              <a:buNone/>
            </a:pPr>
            <a:r>
              <a:rPr/>
              <a:t>Ask the room: what could go wrong with minimising the training error instead of the error we actually care about, on new tumours? Give them a moment. Here the two numbers are close, 0.892 and 0.888, because a one-threshold family is too small to memorise anything. Someone usually says “with a richer family it might not generalise”, which is exactly right and is the next slide. Notebook 02, section 5; handout 2.1.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as the model gets more flexible - more parameters fit the sample better, and with enough of them you reach zero by storing every example and reciting its answer. Say the condition if anyone presses: it falls for families that contain one another, when the solver finds the best member; handout section 2.2 shows np.polyfit at degree 21 returning a worse training error than at degree 20.</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what lesson 5 will call high bias, a model too simple for the pattern - and poor on training AND test data alike.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 that errors will happen, that they cannot be undone, that nobody reviews the output - are available before any code is written.</a:t>
            </a:r>
          </a:p>
          <a:p>
            <a:pPr lvl="0" indent="0" marL="0">
              <a:buNone/>
            </a:pPr>
          </a:p>
          <a:p>
            <a:pPr lvl="0" indent="0" marL="0">
              <a:buNone/>
            </a:pPr>
            <a:r>
              <a:rPr/>
              <a:t>The model WILL be wrong - not might be. Handout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simple rule, such as a threshold on one variable, solves most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Warren McCulloch, a neurophysiologist, and Walter Pitts,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the rectified linear unit (ReLU) in lesson 9. Same object, softened, so that it has a slope everywhere and can therefore be trained by following that slope. The history is not decoration; it is the same objects under different names.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Rosenblatt’s convergence theorem: if a straight line can separate the two classes (they are “linearly separable”), the learning rule finds such a line in a finite number of steps. The theorem is true, and that “if”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exclusive-or: true when exactly one of two inputs is true. As points, it is the four corners of a square with alternating labels, and no single straight line separates them. Use the figure: AND on the left, one line, done; XOR on the right, where the dashed lines are attempts and each leaves a point on the wrong side. Ask them to try to find one that works before you move on - the impossibility is more convincing when they have looked for it themselves.</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of two units disposes of an XOR problem, with weights small enough to write by hand. Seventeen years passed between Minsky and Papert’s 1969 book, Perceptrons, and backpropagation in 1986,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Support vector machines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graphics cards. Plus details that mattered, all met in lessons 9 and 10: ReLU activations, dropout (switching off random units during training) and augmentation (training on shifted and flipped copies of the images).</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In notebook 01 the self-supervised task is solved with </a:t>
            </a:r>
            <a:r>
              <a:rPr>
                <a:latin typeface="Courier"/>
              </a:rPr>
              <a:t>LinearRegression</a:t>
            </a:r>
            <a:r>
              <a:rPr/>
              <a:t>, the same estimator a supervised regression would use; what makes it self-supervised is only where its target comes from.</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slide 17,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map for the notebook: each row is one of the three questions, the call that answers it, and the number it reaches. Point at the middle column before they start - every name in it is a cell they are about to run.</a:t>
            </a:r>
          </a:p>
          <a:p>
            <a:pPr lvl="0" indent="0" marL="0">
              <a:buNone/>
            </a:pPr>
          </a:p>
          <a:p>
            <a:pPr lvl="0" indent="0" marL="0">
              <a:buNone/>
            </a:pPr>
            <a:r>
              <a:rPr/>
              <a:t>Open notebook 01 and run it. Fifteen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(k-means run from one random start against ten);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question, a dataset, a split, a baseline, a model, and a number you can defend. The table is that sentence with the code attached: each step, the call that performs it, and the slide where the idea was introduced. Students who get lost in a cell can find their way back to the slide from here.</a:t>
            </a:r>
          </a:p>
          <a:p>
            <a:pPr lvl="0" indent="0" marL="0">
              <a:buNone/>
            </a:pPr>
          </a:p>
          <a:p>
            <a:pPr lvl="0" indent="0" marL="0">
              <a:buNone/>
            </a:pPr>
            <a:r>
              <a:rPr/>
              <a:t>40 minutes, and it runs alongside the next fourteen slides, 44 to 57,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discussion probes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LogisticRegression is the model, and today it can stay a black box with one property worth saying: it belongs to the family of slide 20, weighted sums of the features, searched for the weights with the fewest training mistakes. Lesson 4 opens the box.</a:t>
            </a:r>
          </a:p>
          <a:p>
            <a:pPr lvl="0" indent="0" marL="0">
              <a:buNone/>
            </a:pPr>
          </a:p>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data every time the pipeline is fitted, including on each training part of the cross-validation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meets it again inside cross-validation.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slides make the trade-off concrete.</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in words, this one in counts. Name the three counts against the confusion matrix two slides back - the class we care about, malignant, is the “positive” one - then read the two formulas as sentences: recall divides by everything that really was malignant, the row; precision divides by everything we flagged, the column. Same numerator, different denominator. That is the whole difference, and the one students mix up.</a:t>
            </a:r>
          </a:p>
          <a:p>
            <a:pPr lvl="0" indent="0" marL="0">
              <a:buNone/>
            </a:pPr>
          </a:p>
          <a:p>
            <a:pPr lvl="0" indent="0" marL="0">
              <a:buNone/>
            </a:pPr>
            <a:r>
              <a:rPr/>
              <a:t>Someone will notice the two values are identical and ask why. It is a coincidence: one malignancy missed and one false alarm, so both denominators are 53. The next slide shows where those labels come from - and that they can be moved, at which point the two numbers part company.</a:t>
            </a:r>
          </a:p>
          <a:p>
            <a:pPr lvl="0" indent="0" marL="0">
              <a:buNone/>
            </a:pPr>
          </a:p>
          <a:p>
            <a:pPr lvl="0" indent="0" marL="0">
              <a:buNone/>
            </a:pPr>
            <a:r>
              <a:rPr/>
              <a:t>Notebook 02, cell after the confusion matrix, prints the same numbers in its classification report.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the confusion matrix hid. Until now the model has been treated as something that answers “malignant” or “benign”; it does not. It answers with a number between 0 and 1 - in scikit-learn, </a:t>
            </a:r>
            <a:r>
              <a:rPr>
                <a:latin typeface="Courier"/>
              </a:rPr>
              <a:t>predict_proba</a:t>
            </a:r>
            <a:r>
              <a:rPr/>
              <a:t> - and </a:t>
            </a:r>
            <a:r>
              <a:rPr>
                <a:latin typeface="Courier"/>
              </a:rPr>
              <a:t>predict</a:t>
            </a:r>
            <a:r>
              <a:rPr/>
              <a:t> is that number compared with 0.5. Where the probability comes from is lesson 4’s subject (logistic regression ends in a sigmoid); today it is enough that it exists.</a:t>
            </a:r>
          </a:p>
          <a:p>
            <a:pPr lvl="0" indent="0" marL="0">
              <a:buNone/>
            </a:pPr>
          </a:p>
          <a:p>
            <a:pPr lvl="0" indent="0" marL="0">
              <a:buNone/>
            </a:pPr>
            <a:r>
              <a:rPr/>
              <a:t>Ground it in the two errors they have just counted. The one malignancy we missed was not missed by a confused model: the model gave it 0.11, so the comparison with 0.5 called it benign. The one false alarm was a benign tumour the model gave 0.62. Those are the 1 and the 1 of the matrix.</a:t>
            </a:r>
          </a:p>
          <a:p>
            <a:pPr lvl="0" indent="0" marL="0">
              <a:buNone/>
            </a:pPr>
          </a:p>
          <a:p>
            <a:pPr lvl="0" indent="0" marL="0">
              <a:buNone/>
            </a:pPr>
            <a:r>
              <a:rPr/>
              <a:t>Then the question that sets up the next slide: if the label is a comparison with 0.5, what happens when we compare with something else? At 0.10 the missed malignancy is caught - recall 53 / 53 = 1.000 - but eleven benign tumours join the alerts and precision falls to 53 / 64 = 0.828. Nothing about the model changed; only the line moved.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end on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failures, four plausible numbers, and not one bug among them. The table pairs each failure with the calls that produce it and the slide that explains it; note that the leakage row uses the same </a:t>
            </a:r>
            <a:r>
              <a:rPr>
                <a:latin typeface="Courier"/>
              </a:rPr>
              <a:t>SelectKBest</a:t>
            </a:r>
            <a:r>
              <a:rPr/>
              <a:t> twice, once in the wrong place and once in the right one.</a:t>
            </a:r>
          </a:p>
          <a:p>
            <a:pPr lvl="0" indent="0" marL="0">
              <a:buNone/>
            </a:pPr>
          </a:p>
          <a:p>
            <a:pPr lvl="0" indent="0" marL="0">
              <a:buNone/>
            </a:pPr>
            <a:r>
              <a:rPr/>
              <a:t>20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must be fitted on the training data only.</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Two of the five words are not today’s: imputation (filling missing values) and encoding (turning categories into numbers) are next week’s subject, and tuning is lesson 5’s. Name them now so the rule is already in place when they arrive - each one learns something from the data, which is the only property the rule cares about.</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discussion looks for exactly this: scaling the full dataset before splitting is a methodological error, whatever result it gives.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In 5-fold cross-validation the data is cut into five parts and each part serves once as the test set, so every row is tested exactly once. On this data it gives 0.960 ± 0.030: the mean of the five scores, plus or minus their standard deviation.</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discussed.</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is a methodological error whatever the score, and it is what the discussion will look for. Accuracy is never what counts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Accuracy: the share of right answers</a:t>
            </a:r>
          </a:p>
        </p:txBody>
      </p:sp>
      <p:sp>
        <p:nvSpPr>
          <p:cNvPr id="3" name="Content Placeholder 2"/>
          <p:cNvSpPr>
            <a:spLocks noGrp="1"/>
          </p:cNvSpPr>
          <p:nvPr>
            <p:ph idx="1"/>
          </p:nvPr>
        </p:nvSpPr>
        <p:spPr>
          <a:xfrm>
            <a:off x="457200" y="1200151"/>
            <a:ext cx="8229600" cy="3394472"/>
          </a:xfrm>
        </p:spPr>
        <p:txBody>
          <a:bodyPr/>
          <a:lstStyle/>
          <a:p>
            <a:pPr lvl="0"/>
            <a:r>
              <a:rPr/>
              <a:t>With the zero-one loss - 1 for a wrong answer, 0 for a right one - the empirical risk is the </a:t>
            </a:r>
            <a:r>
              <a:rPr b="1"/>
              <a:t>error rate</a:t>
            </a:r>
          </a:p>
          <a:p>
            <a:pPr lvl="0"/>
            <a:r>
              <a:rPr b="1"/>
              <a:t>Accuracy</a:t>
            </a:r>
            <a:r>
              <a:rPr/>
              <a:t> = right answers ÷ all answers = 1 − error rate</a:t>
            </a:r>
          </a:p>
          <a:p>
            <a:pPr lvl="0"/>
            <a:r>
              <a:rPr/>
              <a:t>141 right out of 143: accuracy </a:t>
            </a:r>
            <a:r>
              <a:rPr b="1"/>
              <a:t>0.986</a:t>
            </a:r>
            <a:r>
              <a:rPr/>
              <a:t>, error rate </a:t>
            </a:r>
            <a:r>
              <a:rPr b="1"/>
              <a:t>0.014</a:t>
            </a:r>
          </a:p>
          <a:p>
            <a:pPr lvl="0"/>
            <a:r>
              <a:rPr/>
              <a:t>Every mistake counts the same, which is what we will see it hide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in one line</a:t>
            </a:r>
          </a:p>
        </p:txBody>
      </p:sp>
      <p:pic>
        <p:nvPicPr>
          <p:cNvPr descr="eq_054b8a30ee.png" id="0" name="Picture 1"/>
          <p:cNvPicPr>
            <a:picLocks noGrp="1" noChangeAspect="1"/>
          </p:cNvPicPr>
          <p:nvPr/>
        </p:nvPicPr>
        <p:blipFill>
          <a:blip r:embed="rId3"/>
          <a:stretch>
            <a:fillRect/>
          </a:stretch>
        </p:blipFill>
        <p:spPr bwMode="auto">
          <a:xfrm>
            <a:off x="1084146" y="2307940"/>
            <a:ext cx="6975707" cy="1076498"/>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is a search</a:t>
            </a:r>
          </a:p>
        </p:txBody>
      </p:sp>
      <p:pic>
        <p:nvPicPr>
          <p:cNvPr descr="learning_search.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 always give the most common answer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a:p>
            <a:pPr lvl="0"/>
            <a:r>
              <a:rPr/>
              <a:t>In code: a classifier such as </a:t>
            </a:r>
            <a:r>
              <a:rPr>
                <a:latin typeface="Courier"/>
              </a:rPr>
              <a:t>LogisticRegression</a:t>
            </a:r>
            <a:r>
              <a:rPr/>
              <a:t>, a regressor such as </a:t>
            </a:r>
            <a:r>
              <a:rPr>
                <a:latin typeface="Courier"/>
              </a:rPr>
              <a:t>LinearRegression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a:p>
            <a:pPr lvl="0"/>
            <a:r>
              <a:rPr/>
              <a:t>In code: </a:t>
            </a:r>
            <a:r>
              <a:rPr>
                <a:latin typeface="Courier"/>
              </a:rPr>
              <a:t>KMeans</a:t>
            </a:r>
            <a:r>
              <a:rPr/>
              <a:t> for groups, </a:t>
            </a:r>
            <a:r>
              <a:rPr>
                <a:latin typeface="Courier"/>
              </a:rPr>
              <a:t>PCA</a:t>
            </a:r>
            <a:r>
              <a:rPr/>
              <a:t> for fewer dimensions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question</a:t>
                      </a:r>
                    </a:p>
                  </a:txBody>
                  <a:tcPr/>
                </a:tc>
                <a:tc>
                  <a:txBody>
                    <a:bodyPr/>
                    <a:lstStyle/>
                    <a:p>
                      <a:pPr lvl="0" indent="0" marL="0">
                        <a:buNone/>
                      </a:pPr>
                      <a:r>
                        <a:rPr/>
                        <a:t>you call, and what it scores</a:t>
                      </a:r>
                    </a:p>
                  </a:txBody>
                  <a:tcPr/>
                </a:tc>
              </a:tr>
              <a:tr h="0">
                <a:tc>
                  <a:txBody>
                    <a:bodyPr/>
                    <a:lstStyle/>
                    <a:p>
                      <a:pPr lvl="0" indent="0" marL="0">
                        <a:buNone/>
                      </a:pPr>
                      <a:r>
                        <a:rPr/>
                        <a:t>the data: 178 wines, 13 measurements</a:t>
                      </a:r>
                    </a:p>
                  </a:txBody>
                </a:tc>
                <a:tc>
                  <a:txBody>
                    <a:bodyPr/>
                    <a:lstStyle/>
                    <a:p>
                      <a:pPr lvl="0" indent="0" marL="0">
                        <a:buNone/>
                      </a:pPr>
                      <a:r>
                        <a:rPr>
                          <a:latin typeface="Courier"/>
                        </a:rPr>
                        <a:t>load_wine</a:t>
                      </a:r>
                    </a:p>
                  </a:txBody>
                </a:tc>
              </a:tr>
              <a:tr h="0">
                <a:tc>
                  <a:txBody>
                    <a:bodyPr/>
                    <a:lstStyle/>
                    <a:p>
                      <a:pPr lvl="0" indent="0" marL="0">
                        <a:buNone/>
                      </a:pPr>
                      <a:r>
                        <a:rPr b="1"/>
                        <a:t>supervised</a:t>
                      </a:r>
                      <a:r>
                        <a:rPr/>
                        <a:t>: predict the cultivar</a:t>
                      </a:r>
                    </a:p>
                  </a:txBody>
                </a:tc>
                <a:tc>
                  <a:txBody>
                    <a:bodyPr/>
                    <a:lstStyle/>
                    <a:p>
                      <a:pPr lvl="0" indent="0" marL="0">
                        <a:buNone/>
                      </a:pPr>
                      <a:r>
                        <a:rPr>
                          <a:latin typeface="Courier"/>
                        </a:rPr>
                        <a:t>make_pipeline(StandardScaler(), LogisticRegression())</a:t>
                      </a:r>
                      <a:r>
                        <a:rPr/>
                        <a:t> → </a:t>
                      </a:r>
                      <a:r>
                        <a:rPr>
                          <a:latin typeface="Courier"/>
                        </a:rPr>
                        <a:t>accuracy_score</a:t>
                      </a:r>
                      <a:r>
                        <a:rPr/>
                        <a:t> </a:t>
                      </a:r>
                      <a:r>
                        <a:rPr b="1"/>
                        <a:t>0.981</a:t>
                      </a:r>
                    </a:p>
                  </a:txBody>
                </a:tc>
              </a:tr>
              <a:tr h="0">
                <a:tc>
                  <a:txBody>
                    <a:bodyPr/>
                    <a:lstStyle/>
                    <a:p>
                      <a:pPr lvl="0" indent="0" marL="0">
                        <a:buNone/>
                      </a:pPr>
                      <a:r>
                        <a:rPr b="1"/>
                        <a:t>unsupervised</a:t>
                      </a:r>
                      <a:r>
                        <a:rPr/>
                        <a:t>: labels thrown away</a:t>
                      </a:r>
                    </a:p>
                  </a:txBody>
                </a:tc>
                <a:tc>
                  <a:txBody>
                    <a:bodyPr/>
                    <a:lstStyle/>
                    <a:p>
                      <a:pPr lvl="0" indent="0" marL="0">
                        <a:buNone/>
                      </a:pPr>
                      <a:r>
                        <a:rPr>
                          <a:latin typeface="Courier"/>
                        </a:rPr>
                        <a:t>KMeans(n_clusters=3)</a:t>
                      </a:r>
                      <a:r>
                        <a:rPr/>
                        <a:t>, drawn with </a:t>
                      </a:r>
                      <a:r>
                        <a:rPr>
                          <a:latin typeface="Courier"/>
                        </a:rPr>
                        <a:t>PCA</a:t>
                      </a:r>
                      <a:r>
                        <a:rPr/>
                        <a:t> → </a:t>
                      </a:r>
                      <a:r>
                        <a:rPr>
                          <a:latin typeface="Courier"/>
                        </a:rPr>
                        <a:t>adjusted_rand_score</a:t>
                      </a:r>
                      <a:r>
                        <a:rPr/>
                        <a:t> </a:t>
                      </a:r>
                      <a:r>
                        <a:rPr b="1"/>
                        <a:t>0.897</a:t>
                      </a:r>
                    </a:p>
                  </a:txBody>
                </a:tc>
              </a:tr>
              <a:tr h="0">
                <a:tc>
                  <a:txBody>
                    <a:bodyPr/>
                    <a:lstStyle/>
                    <a:p>
                      <a:pPr lvl="0" indent="0" marL="0">
                        <a:buNone/>
                      </a:pPr>
                      <a:r>
                        <a:rPr b="1"/>
                        <a:t>self-supervised</a:t>
                      </a:r>
                      <a:r>
                        <a:rPr/>
                        <a:t>: hide </a:t>
                      </a:r>
                      <a:r>
                        <a:rPr>
                          <a:latin typeface="Courier"/>
                        </a:rPr>
                        <a:t>flavanoids</a:t>
                      </a:r>
                      <a:r>
                        <a:rPr/>
                        <a:t>, predict it</a:t>
                      </a:r>
                    </a:p>
                  </a:txBody>
                </a:tc>
                <a:tc>
                  <a:txBody>
                    <a:bodyPr/>
                    <a:lstStyle/>
                    <a:p>
                      <a:pPr lvl="0" indent="0" marL="0">
                        <a:buNone/>
                      </a:pPr>
                      <a:r>
                        <a:rPr>
                          <a:latin typeface="Courier"/>
                        </a:rPr>
                        <a:t>LinearRegression</a:t>
                      </a:r>
                      <a:r>
                        <a:rPr/>
                        <a:t> → </a:t>
                      </a:r>
                      <a:r>
                        <a:rPr>
                          <a:latin typeface="Courier"/>
                        </a:rPr>
                        <a:t>r2_score</a:t>
                      </a:r>
                      <a:r>
                        <a:rPr/>
                        <a:t> </a:t>
                      </a:r>
                      <a:r>
                        <a:rPr b="1"/>
                        <a:t>0.816</a:t>
                      </a:r>
                      <a:r>
                        <a:rPr/>
                        <a:t> (1 perfect, 0 = guessing the mean)</a:t>
                      </a:r>
                    </a:p>
                  </a:txBody>
                </a:tc>
              </a:tr>
              <a:tr h="0">
                <a:tc>
                  <a:txBody>
                    <a:bodyPr/>
                    <a:lstStyle/>
                    <a:p>
                      <a:pPr lvl="0" indent="0" marL="0">
                        <a:buNone/>
                      </a:pPr>
                      <a:r>
                        <a:rPr/>
                        <a:t>before either model with a target</a:t>
                      </a:r>
                    </a:p>
                  </a:txBody>
                </a:tc>
                <a:tc>
                  <a:txBody>
                    <a:bodyPr/>
                    <a:lstStyle/>
                    <a:p>
                      <a:pPr lvl="0" indent="0" marL="0">
                        <a:buNone/>
                      </a:pPr>
                      <a:r>
                        <a:rPr>
                          <a:latin typeface="Courier"/>
                        </a:rPr>
                        <a:t>train_test_split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step, and its slide</a:t>
                      </a:r>
                    </a:p>
                  </a:txBody>
                  <a:tcPr/>
                </a:tc>
                <a:tc>
                  <a:txBody>
                    <a:bodyPr/>
                    <a:lstStyle/>
                    <a:p>
                      <a:pPr lvl="0" indent="0" marL="0">
                        <a:buNone/>
                      </a:pPr>
                      <a:r>
                        <a:rPr/>
                        <a:t>you call</a:t>
                      </a:r>
                    </a:p>
                  </a:txBody>
                  <a:tcPr/>
                </a:tc>
              </a:tr>
              <a:tr h="0">
                <a:tc>
                  <a:txBody>
                    <a:bodyPr/>
                    <a:lstStyle/>
                    <a:p>
                      <a:pPr lvl="0" indent="0" marL="0">
                        <a:buNone/>
                      </a:pPr>
                      <a:r>
                        <a:rPr/>
                        <a:t>look, 46</a:t>
                      </a:r>
                    </a:p>
                  </a:txBody>
                </a:tc>
                <a:tc>
                  <a:txBody>
                    <a:bodyPr/>
                    <a:lstStyle/>
                    <a:p>
                      <a:pPr lvl="0" indent="0" marL="0">
                        <a:buNone/>
                      </a:pPr>
                      <a:r>
                        <a:rPr>
                          <a:latin typeface="Courier"/>
                        </a:rPr>
                        <a:t>load_breast_cancer</a:t>
                      </a:r>
                    </a:p>
                  </a:txBody>
                </a:tc>
              </a:tr>
              <a:tr h="0">
                <a:tc>
                  <a:txBody>
                    <a:bodyPr/>
                    <a:lstStyle/>
                    <a:p>
                      <a:pPr lvl="0" indent="0" marL="0">
                        <a:buNone/>
                      </a:pPr>
                      <a:r>
                        <a:rPr/>
                        <a:t>split, 47</a:t>
                      </a:r>
                    </a:p>
                  </a:txBody>
                </a:tc>
                <a:tc>
                  <a:txBody>
                    <a:bodyPr/>
                    <a:lstStyle/>
                    <a:p>
                      <a:pPr lvl="0" indent="0" marL="0">
                        <a:buNone/>
                      </a:pPr>
                      <a:r>
                        <a:rPr>
                          <a:latin typeface="Courier"/>
                        </a:rPr>
                        <a:t>train_test_split(X, y, test_size=0.25, stratify=y)</a:t>
                      </a:r>
                    </a:p>
                  </a:txBody>
                </a:tc>
              </a:tr>
              <a:tr h="0">
                <a:tc>
                  <a:txBody>
                    <a:bodyPr/>
                    <a:lstStyle/>
                    <a:p>
                      <a:pPr lvl="0" indent="0" marL="0">
                        <a:buNone/>
                      </a:pPr>
                      <a:r>
                        <a:rPr/>
                        <a:t>baseline, 48</a:t>
                      </a:r>
                    </a:p>
                  </a:txBody>
                </a:tc>
                <a:tc>
                  <a:txBody>
                    <a:bodyPr/>
                    <a:lstStyle/>
                    <a:p>
                      <a:pPr lvl="0" indent="0" marL="0">
                        <a:buNone/>
                      </a:pPr>
                      <a:r>
                        <a:rPr>
                          <a:latin typeface="Courier"/>
                        </a:rPr>
                        <a:t>DummyClassifier</a:t>
                      </a:r>
                      <a:r>
                        <a:rPr/>
                        <a:t>, always the majority class</a:t>
                      </a:r>
                    </a:p>
                  </a:txBody>
                </a:tc>
              </a:tr>
              <a:tr h="0">
                <a:tc>
                  <a:txBody>
                    <a:bodyPr/>
                    <a:lstStyle/>
                    <a:p>
                      <a:pPr lvl="0" indent="0" marL="0">
                        <a:buNone/>
                      </a:pPr>
                      <a:r>
                        <a:rPr/>
                        <a:t>model, 49</a:t>
                      </a:r>
                    </a:p>
                  </a:txBody>
                </a:tc>
                <a:tc>
                  <a:txBody>
                    <a:bodyPr/>
                    <a:lstStyle/>
                    <a:p>
                      <a:pPr lvl="0" indent="0" marL="0">
                        <a:buNone/>
                      </a:pPr>
                      <a:r>
                        <a:rPr>
                          <a:latin typeface="Courier"/>
                        </a:rPr>
                        <a:t>make_pipeline(StandardScaler(), LogisticRegression())</a:t>
                      </a:r>
                      <a:r>
                        <a:rPr/>
                        <a:t>, then </a:t>
                      </a:r>
                      <a:r>
                        <a:rPr>
                          <a:latin typeface="Courier"/>
                        </a:rPr>
                        <a:t>.fit()</a:t>
                      </a:r>
                    </a:p>
                  </a:txBody>
                </a:tc>
              </a:tr>
              <a:tr h="0">
                <a:tc>
                  <a:txBody>
                    <a:bodyPr/>
                    <a:lstStyle/>
                    <a:p>
                      <a:pPr lvl="0" indent="0" marL="0">
                        <a:buNone/>
                      </a:pPr>
                      <a:r>
                        <a:rPr/>
                        <a:t>result, 51</a:t>
                      </a:r>
                    </a:p>
                  </a:txBody>
                </a:tc>
                <a:tc>
                  <a:txBody>
                    <a:bodyPr/>
                    <a:lstStyle/>
                    <a:p>
                      <a:pPr lvl="0" indent="0" marL="0">
                        <a:buNone/>
                      </a:pPr>
                      <a:r>
                        <a:rPr>
                          <a:latin typeface="Courier"/>
                        </a:rPr>
                        <a:t>.score(X_test, y_test)</a:t>
                      </a:r>
                    </a:p>
                  </a:txBody>
                </a:tc>
              </a:tr>
              <a:tr h="0">
                <a:tc>
                  <a:txBody>
                    <a:bodyPr/>
                    <a:lstStyle/>
                    <a:p>
                      <a:pPr lvl="0" indent="0" marL="0">
                        <a:buNone/>
                      </a:pPr>
                      <a:r>
                        <a:rPr/>
                        <a:t>errors, 52-55</a:t>
                      </a:r>
                    </a:p>
                  </a:txBody>
                </a:tc>
                <a:tc>
                  <a:txBody>
                    <a:bodyPr/>
                    <a:lstStyle/>
                    <a:p>
                      <a:pPr lvl="0" indent="0" marL="0">
                        <a:buNone/>
                      </a:pPr>
                      <a:r>
                        <a:rPr>
                          <a:latin typeface="Courier"/>
                        </a:rPr>
                        <a:t>ConfusionMatrixDisplay</a:t>
                      </a:r>
                      <a:r>
                        <a:rPr/>
                        <a:t>, </a:t>
                      </a:r>
                      <a:r>
                        <a:rPr>
                          <a:latin typeface="Courier"/>
                        </a:rPr>
                        <a:t>classification_report</a:t>
                      </a:r>
                      <a:r>
                        <a:rPr/>
                        <a:t>, </a:t>
                      </a:r>
                      <a:r>
                        <a:rPr>
                          <a:latin typeface="Courier"/>
                        </a:rPr>
                        <a:t>predict_proba</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969212" y="2160270"/>
            <a:ext cx="7205575" cy="236601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a:p>
            <a:pPr lvl="0" indent="0" marL="0">
              <a:buNone/>
            </a:pPr>
            <a:r>
              <a:rPr/>
              <a:t>In code: </a:t>
            </a:r>
            <a:r>
              <a:rPr>
                <a:latin typeface="Courier"/>
              </a:rPr>
              <a:t>DummyClassifier(strategy="most_frequent")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a:r>
              <a:rPr/>
              <a:t>In code: </a:t>
            </a:r>
            <a:r>
              <a:rPr>
                <a:latin typeface="Courier"/>
              </a:rPr>
              <a:t>baseline.score(X_test, y_test)</a:t>
            </a:r>
            <a:r>
              <a:rPr/>
              <a:t>, then </a:t>
            </a:r>
            <a:r>
              <a:rPr>
                <a:latin typeface="Courier"/>
              </a:rPr>
              <a:t>model.score(X_test, y_test)</a:t>
            </a:r>
          </a:p>
          <a:p>
            <a:pPr lvl="0" indent="0" marL="0">
              <a:buNone/>
            </a:pPr>
            <a:r>
              <a:rPr/>
              <a:t>Done?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a:p>
            <a:pPr lvl="0"/>
            <a:r>
              <a:rPr/>
              <a:t>In code: </a:t>
            </a:r>
            <a:r>
              <a:rPr>
                <a:latin typeface="Courier"/>
              </a:rPr>
              <a:t>classification_report(y_test, y_pred)</a:t>
            </a:r>
            <a:r>
              <a:rPr/>
              <a:t> prints both</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counted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what it counts</a:t>
                      </a:r>
                    </a:p>
                  </a:txBody>
                  <a:tcPr/>
                </a:tc>
                <a:tc>
                  <a:txBody>
                    <a:bodyPr/>
                    <a:lstStyle/>
                    <a:p>
                      <a:pPr lvl="0" indent="0" marL="0">
                        <a:buNone/>
                      </a:pPr>
                      <a:r>
                        <a:rPr/>
                        <a:t>our model</a:t>
                      </a:r>
                    </a:p>
                  </a:txBody>
                  <a:tcPr/>
                </a:tc>
              </a:tr>
              <a:tr h="0">
                <a:tc>
                  <a:txBody>
                    <a:bodyPr/>
                    <a:lstStyle/>
                    <a:p>
                      <a:pPr lvl="0" indent="0" marL="0">
                        <a:buNone/>
                      </a:pPr>
                      <a:r>
                        <a:rPr/>
                        <a:t>true positives (TP)</a:t>
                      </a:r>
                    </a:p>
                  </a:txBody>
                </a:tc>
                <a:tc>
                  <a:txBody>
                    <a:bodyPr/>
                    <a:lstStyle/>
                    <a:p>
                      <a:pPr lvl="0" indent="0" marL="0">
                        <a:buNone/>
                      </a:pPr>
                      <a:r>
                        <a:rPr/>
                        <a:t>malignant, flagged</a:t>
                      </a:r>
                    </a:p>
                  </a:txBody>
                </a:tc>
                <a:tc>
                  <a:txBody>
                    <a:bodyPr/>
                    <a:lstStyle/>
                    <a:p>
                      <a:pPr lvl="0" indent="0" marL="0">
                        <a:buNone/>
                      </a:pPr>
                      <a:r>
                        <a:rPr/>
                        <a:t>52</a:t>
                      </a:r>
                    </a:p>
                  </a:txBody>
                </a:tc>
              </a:tr>
              <a:tr h="0">
                <a:tc>
                  <a:txBody>
                    <a:bodyPr/>
                    <a:lstStyle/>
                    <a:p>
                      <a:pPr lvl="0" indent="0" marL="0">
                        <a:buNone/>
                      </a:pPr>
                      <a:r>
                        <a:rPr/>
                        <a:t>false negatives (FN)</a:t>
                      </a:r>
                    </a:p>
                  </a:txBody>
                </a:tc>
                <a:tc>
                  <a:txBody>
                    <a:bodyPr/>
                    <a:lstStyle/>
                    <a:p>
                      <a:pPr lvl="0" indent="0" marL="0">
                        <a:buNone/>
                      </a:pPr>
                      <a:r>
                        <a:rPr/>
                        <a:t>malignant, missed</a:t>
                      </a:r>
                    </a:p>
                  </a:txBody>
                </a:tc>
                <a:tc>
                  <a:txBody>
                    <a:bodyPr/>
                    <a:lstStyle/>
                    <a:p>
                      <a:pPr lvl="0" indent="0" marL="0">
                        <a:buNone/>
                      </a:pPr>
                      <a:r>
                        <a:rPr/>
                        <a:t>1</a:t>
                      </a:r>
                    </a:p>
                  </a:txBody>
                </a:tc>
              </a:tr>
              <a:tr h="0">
                <a:tc>
                  <a:txBody>
                    <a:bodyPr/>
                    <a:lstStyle/>
                    <a:p>
                      <a:pPr lvl="0" indent="0" marL="0">
                        <a:buNone/>
                      </a:pPr>
                      <a:r>
                        <a:rPr/>
                        <a:t>false positives (FP)</a:t>
                      </a:r>
                    </a:p>
                  </a:txBody>
                </a:tc>
                <a:tc>
                  <a:txBody>
                    <a:bodyPr/>
                    <a:lstStyle/>
                    <a:p>
                      <a:pPr lvl="0" indent="0" marL="0">
                        <a:buNone/>
                      </a:pPr>
                      <a:r>
                        <a:rPr/>
                        <a:t>benign, flagged</a:t>
                      </a:r>
                    </a:p>
                  </a:txBody>
                </a:tc>
                <a:tc>
                  <a:txBody>
                    <a:bodyPr/>
                    <a:lstStyle/>
                    <a:p>
                      <a:pPr lvl="0" indent="0" marL="0">
                        <a:buNone/>
                      </a:pPr>
                      <a:r>
                        <a:rPr/>
                        <a:t>1</a:t>
                      </a:r>
                    </a:p>
                  </a:txBody>
                </a:tc>
              </a:tr>
              <a:tr h="0">
                <a:tc>
                  <a:txBody>
                    <a:bodyPr/>
                    <a:lstStyle/>
                    <a:p>
                      <a:pPr lvl="0" indent="0" marL="0">
                        <a:buNone/>
                      </a:pPr>
                      <a:r>
                        <a:rPr b="1"/>
                        <a:t>recall</a:t>
                      </a:r>
                      <a:r>
                        <a:rPr/>
                        <a:t> = TP / (TP + FN)</a:t>
                      </a:r>
                    </a:p>
                  </a:txBody>
                </a:tc>
                <a:tc>
                  <a:txBody>
                    <a:bodyPr/>
                    <a:lstStyle/>
                    <a:p>
                      <a:pPr lvl="0" indent="0" marL="0">
                        <a:buNone/>
                      </a:pPr>
                      <a:r>
                        <a:rPr/>
                        <a:t>malignant tumours we caught</a:t>
                      </a:r>
                    </a:p>
                  </a:txBody>
                </a:tc>
                <a:tc>
                  <a:txBody>
                    <a:bodyPr/>
                    <a:lstStyle/>
                    <a:p>
                      <a:pPr lvl="0" indent="0" marL="0">
                        <a:buNone/>
                      </a:pPr>
                      <a:r>
                        <a:rPr/>
                        <a:t>52 / 53 = </a:t>
                      </a:r>
                      <a:r>
                        <a:rPr b="1"/>
                        <a:t>0.981</a:t>
                      </a:r>
                    </a:p>
                  </a:txBody>
                </a:tc>
              </a:tr>
              <a:tr h="0">
                <a:tc>
                  <a:txBody>
                    <a:bodyPr/>
                    <a:lstStyle/>
                    <a:p>
                      <a:pPr lvl="0" indent="0" marL="0">
                        <a:buNone/>
                      </a:pPr>
                      <a:r>
                        <a:rPr b="1"/>
                        <a:t>precision</a:t>
                      </a:r>
                      <a:r>
                        <a:rPr/>
                        <a:t> = TP / (TP + FP)</a:t>
                      </a:r>
                    </a:p>
                  </a:txBody>
                </a:tc>
                <a:tc>
                  <a:txBody>
                    <a:bodyPr/>
                    <a:lstStyle/>
                    <a:p>
                      <a:pPr lvl="0" indent="0" marL="0">
                        <a:buNone/>
                      </a:pPr>
                      <a:r>
                        <a:rPr/>
                        <a:t>alerts that were right</a:t>
                      </a:r>
                    </a:p>
                  </a:txBody>
                </a:tc>
                <a:tc>
                  <a:txBody>
                    <a:bodyPr/>
                    <a:lstStyle/>
                    <a:p>
                      <a:pPr lvl="0" indent="0" marL="0">
                        <a:buNone/>
                      </a:pPr>
                      <a:r>
                        <a:rPr/>
                        <a:t>52 / 53 = </a:t>
                      </a:r>
                      <a:r>
                        <a:rPr b="1"/>
                        <a:t>0.981</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Behind every label, a probability</a:t>
            </a:r>
          </a:p>
        </p:txBody>
      </p:sp>
      <p:sp>
        <p:nvSpPr>
          <p:cNvPr id="3" name="Content Placeholder 2"/>
          <p:cNvSpPr>
            <a:spLocks noGrp="1"/>
          </p:cNvSpPr>
          <p:nvPr>
            <p:ph idx="1"/>
          </p:nvPr>
        </p:nvSpPr>
        <p:spPr>
          <a:xfrm>
            <a:off x="457200" y="1200151"/>
            <a:ext cx="8229600" cy="3394472"/>
          </a:xfrm>
        </p:spPr>
        <p:txBody>
          <a:bodyPr/>
          <a:lstStyle/>
          <a:p>
            <a:pPr lvl="0"/>
            <a:r>
              <a:rPr/>
              <a:t>The model does not output a label: it outputs </a:t>
            </a:r>
            <a:r>
              <a:rPr b="1"/>
              <a:t>the probability</a:t>
            </a:r>
            <a:r>
              <a:rPr/>
              <a:t> that the tumour is malignant, </a:t>
            </a:r>
            <a:r>
              <a:rPr>
                <a:latin typeface="Courier"/>
              </a:rPr>
              <a:t>predict_proba()</a:t>
            </a:r>
          </a:p>
          <a:p>
            <a:pPr lvl="0"/>
            <a:r>
              <a:rPr>
                <a:latin typeface="Courier"/>
              </a:rPr>
              <a:t>predict()</a:t>
            </a:r>
            <a:r>
              <a:rPr/>
              <a:t> turns it into a label by comparing it with </a:t>
            </a:r>
            <a:r>
              <a:rPr b="1"/>
              <a:t>0.5</a:t>
            </a:r>
          </a:p>
          <a:p>
            <a:pPr lvl="0"/>
            <a:r>
              <a:rPr/>
              <a:t>The missed malignancy got </a:t>
            </a:r>
            <a:r>
              <a:rPr b="1"/>
              <a:t>0.11</a:t>
            </a:r>
            <a:r>
              <a:rPr/>
              <a:t>: called benign</a:t>
            </a:r>
          </a:p>
          <a:p>
            <a:pPr lvl="0"/>
            <a:r>
              <a:rPr/>
              <a:t>The false alarm, a benign tumour, got </a:t>
            </a:r>
            <a:r>
              <a:rPr b="1"/>
              <a:t>0.62</a:t>
            </a:r>
            <a:r>
              <a:rPr/>
              <a:t>: called malignant</a:t>
            </a:r>
          </a:p>
          <a:p>
            <a:pPr lvl="0"/>
            <a:r>
              <a:rPr/>
              <a:t>0.5 is a default. Nobody chose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failure, and its slides</a:t>
                      </a:r>
                    </a:p>
                  </a:txBody>
                  <a:tcPr/>
                </a:tc>
                <a:tc>
                  <a:txBody>
                    <a:bodyPr/>
                    <a:lstStyle/>
                    <a:p>
                      <a:pPr lvl="0" indent="0" marL="0">
                        <a:buNone/>
                      </a:pPr>
                      <a:r>
                        <a:rPr/>
                        <a:t>you call</a:t>
                      </a:r>
                    </a:p>
                  </a:txBody>
                  <a:tcPr/>
                </a:tc>
              </a:tr>
              <a:tr h="0">
                <a:tc>
                  <a:txBody>
                    <a:bodyPr/>
                    <a:lstStyle/>
                    <a:p>
                      <a:pPr lvl="0" indent="0" marL="0">
                        <a:buNone/>
                      </a:pPr>
                      <a:r>
                        <a:rPr/>
                        <a:t>the model, every time, 49</a:t>
                      </a:r>
                    </a:p>
                  </a:txBody>
                </a:tc>
                <a:tc>
                  <a:txBody>
                    <a:bodyPr/>
                    <a:lstStyle/>
                    <a:p>
                      <a:pPr lvl="0" indent="0" marL="0">
                        <a:buNone/>
                      </a:pPr>
                      <a:r>
                        <a:rPr>
                          <a:latin typeface="Courier"/>
                        </a:rPr>
                        <a:t>make_pipeline(StandardScaler(), LogisticRegression())</a:t>
                      </a:r>
                    </a:p>
                  </a:txBody>
                </a:tc>
              </a:tr>
              <a:tr h="0">
                <a:tc>
                  <a:txBody>
                    <a:bodyPr/>
                    <a:lstStyle/>
                    <a:p>
                      <a:pPr lvl="0" indent="0" marL="0">
                        <a:buNone/>
                      </a:pPr>
                      <a:r>
                        <a:rPr/>
                        <a:t>leakage, 60-62</a:t>
                      </a:r>
                    </a:p>
                  </a:txBody>
                </a:tc>
                <a:tc>
                  <a:txBody>
                    <a:bodyPr/>
                    <a:lstStyle/>
                    <a:p>
                      <a:pPr lvl="0" indent="0" marL="0">
                        <a:buNone/>
                      </a:pPr>
                      <a:r>
                        <a:rPr>
                          <a:latin typeface="Courier"/>
                        </a:rPr>
                        <a:t>SelectKBest(f_classif, k=20)</a:t>
                      </a:r>
                      <a:r>
                        <a:rPr/>
                        <a:t>, outside the pipeline and then inside it</a:t>
                      </a:r>
                    </a:p>
                  </a:txBody>
                </a:tc>
              </a:tr>
              <a:tr h="0">
                <a:tc>
                  <a:txBody>
                    <a:bodyPr/>
                    <a:lstStyle/>
                    <a:p>
                      <a:pPr lvl="0" indent="0" marL="0">
                        <a:buNone/>
                      </a:pPr>
                      <a:r>
                        <a:rPr/>
                        <a:t>imbalance, 63-64</a:t>
                      </a:r>
                    </a:p>
                  </a:txBody>
                </a:tc>
                <a:tc>
                  <a:txBody>
                    <a:bodyPr/>
                    <a:lstStyle/>
                    <a:p>
                      <a:pPr lvl="0" indent="0" marL="0">
                        <a:buNone/>
                      </a:pPr>
                      <a:r>
                        <a:rPr>
                          <a:latin typeface="Courier"/>
                        </a:rPr>
                        <a:t>make_classification</a:t>
                      </a:r>
                      <a:r>
                        <a:rPr/>
                        <a:t>; </a:t>
                      </a:r>
                      <a:r>
                        <a:rPr>
                          <a:latin typeface="Courier"/>
                        </a:rPr>
                        <a:t>accuracy_score</a:t>
                      </a:r>
                      <a:r>
                        <a:rPr/>
                        <a:t> against </a:t>
                      </a:r>
                      <a:r>
                        <a:rPr>
                          <a:latin typeface="Courier"/>
                        </a:rPr>
                        <a:t>recall_score</a:t>
                      </a:r>
                      <a:r>
                        <a:rPr/>
                        <a:t>, </a:t>
                      </a:r>
                      <a:r>
                        <a:rPr>
                          <a:latin typeface="Courier"/>
                        </a:rPr>
                        <a:t>confusion_matrix</a:t>
                      </a:r>
                    </a:p>
                  </a:txBody>
                </a:tc>
              </a:tr>
              <a:tr h="0">
                <a:tc>
                  <a:txBody>
                    <a:bodyPr/>
                    <a:lstStyle/>
                    <a:p>
                      <a:pPr lvl="0" indent="0" marL="0">
                        <a:buNone/>
                      </a:pPr>
                      <a:r>
                        <a:rPr/>
                        <a:t>shortcut, 65-66</a:t>
                      </a:r>
                    </a:p>
                  </a:txBody>
                </a:tc>
                <a:tc>
                  <a:txBody>
                    <a:bodyPr/>
                    <a:lstStyle/>
                    <a:p>
                      <a:pPr lvl="0" indent="0" marL="0">
                        <a:buNone/>
                      </a:pPr>
                      <a:r>
                        <a:rPr>
                          <a:latin typeface="Courier"/>
                        </a:rPr>
                        <a:t>load_breast_cancer</a:t>
                      </a:r>
                      <a:r>
                        <a:rPr/>
                        <a:t>; </a:t>
                      </a:r>
                      <a:r>
                        <a:rPr>
                          <a:latin typeface="Courier"/>
                        </a:rPr>
                        <a:t>SimpleImputer</a:t>
                      </a:r>
                      <a:r>
                        <a:rPr/>
                        <a:t> when the column is missing</a:t>
                      </a:r>
                    </a:p>
                  </a:txBody>
                </a:tc>
              </a:tr>
              <a:tr h="0">
                <a:tc>
                  <a:txBody>
                    <a:bodyPr/>
                    <a:lstStyle/>
                    <a:p>
                      <a:pPr lvl="0" indent="0" marL="0">
                        <a:buNone/>
                      </a:pPr>
                      <a:r>
                        <a:rPr/>
                        <a:t>single-split noise, 67</a:t>
                      </a:r>
                    </a:p>
                  </a:txBody>
                </a:tc>
                <a:tc>
                  <a:txBody>
                    <a:bodyPr/>
                    <a:lstStyle/>
                    <a:p>
                      <a:pPr lvl="0" indent="0" marL="0">
                        <a:buNone/>
                      </a:pPr>
                      <a:r>
                        <a:rPr>
                          <a:latin typeface="Courier"/>
                        </a:rPr>
                        <a:t>train_test_split(random_state=seed)</a:t>
                      </a:r>
                      <a:r>
                        <a:rPr/>
                        <a:t> against </a:t>
                      </a:r>
                      <a:r>
                        <a:rPr>
                          <a:latin typeface="Courier"/>
                        </a:rPr>
                        <a:t>cross_val_score</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on the training data only.</a:t>
            </a:r>
          </a:p>
          <a:p>
            <a:pPr lvl="0" indent="0" marL="0">
              <a:buNone/>
            </a:pPr>
            <a:r>
              <a:rPr/>
              <a:t>Scaling. Imputation. Encoding. Selection. Tuning.</a:t>
            </a:r>
          </a:p>
          <a:p>
            <a:pPr lvl="0" indent="0" marL="0">
              <a:buNone/>
            </a:pPr>
            <a:r>
              <a:rPr/>
              <a:t>In code: </a:t>
            </a:r>
            <a:r>
              <a:rPr>
                <a:latin typeface="Courier"/>
              </a:rPr>
              <a:t>StandardScaler</a:t>
            </a:r>
            <a:r>
              <a:rPr/>
              <a:t>, </a:t>
            </a:r>
            <a:r>
              <a:rPr>
                <a:latin typeface="Courier"/>
              </a:rPr>
              <a:t>SimpleImputer</a:t>
            </a:r>
            <a:r>
              <a:rPr/>
              <a:t>, </a:t>
            </a:r>
            <a:r>
              <a:rPr>
                <a:latin typeface="Courier"/>
              </a:rPr>
              <a:t>SelectKBest</a:t>
            </a:r>
            <a:r>
              <a:rPr/>
              <a:t>… all inside </a:t>
            </a:r>
            <a:r>
              <a:rPr>
                <a:latin typeface="Courier"/>
              </a:rPr>
              <a:t>make_pipeline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a:p>
            <a:pPr lvl="0"/>
            <a:r>
              <a:rPr/>
              <a:t>In code: </a:t>
            </a:r>
            <a:r>
              <a:rPr>
                <a:latin typeface="Courier"/>
              </a:rPr>
              <a:t>recall_score</a:t>
            </a:r>
            <a:r>
              <a:rPr/>
              <a:t> beside </a:t>
            </a:r>
            <a:r>
              <a:rPr>
                <a:latin typeface="Courier"/>
              </a:rPr>
              <a:t>accuracy_score</a:t>
            </a:r>
            <a:r>
              <a:rPr/>
              <a:t>, every time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Accuracy is not what counts</a:t>
            </a:r>
          </a:p>
          <a:p>
            <a:pPr lvl="0"/>
            <a:r>
              <a:rPr/>
              <a:t>Methodology is, and saying what your number does not mean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