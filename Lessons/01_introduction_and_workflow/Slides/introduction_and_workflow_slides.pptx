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yourself briefly, then establish the two facts that shape everything: this is a fundamentals course, and it assumes programming ability but no ML background.</a:t>
            </a:r>
          </a:p>
          <a:p>
            <a:pPr lvl="0" indent="0" marL="0">
              <a:buNone/>
            </a:pPr>
          </a:p>
          <a:p>
            <a:pPr lvl="0" indent="0" marL="0">
              <a:buNone/>
            </a:pPr>
            <a:r>
              <a:rPr/>
              <a:t>Ask for a show of hands: who has trained a model before? Usually a handful. Tell that group they have an advantage of about two lessons, and a disadvantage that lasts longer, because they will have habits to unlearn around evaluation - most self-taught practice picks up the modelling and skips the validation.</a:t>
            </a:r>
          </a:p>
          <a:p>
            <a:pPr lvl="0" indent="0" marL="0">
              <a:buNone/>
            </a:pPr>
          </a:p>
          <a:p>
            <a:pPr lvl="0" indent="0" marL="0">
              <a:buNone/>
            </a:pPr>
            <a:r>
              <a:rPr/>
              <a:t>Practical notes to give now: the repository is public to them via git, everything runs offline in Docker, and there is no cost attached to any part of this course. Nobody needs an API key, a cloud account or a GPU.</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lesson 5 and say it is deliberately in the middle, not at the end. It is the lesson about whether results mean anything, and everything after it depends on it. Most courses put this material last, where it arrives too late to change how students work.</a:t>
            </a:r>
          </a:p>
          <a:p>
            <a:pPr lvl="0" indent="0" marL="0">
              <a:buNone/>
            </a:pPr>
          </a:p>
          <a:p>
            <a:pPr lvl="0" indent="0" marL="0">
              <a:buNone/>
            </a:pPr>
            <a:r>
              <a:rPr/>
              <a:t>Say explicitly that there are no LLMs in this course - they belong to another module in the programme. Some will be disappointed. Tell them the material here is what those systems are built on: the transformer is a neural network, trained by gradient descent on a loss function, and evaluated - badly, often - with the same statistical tools we will spend ten weeks on.</a:t>
            </a:r>
          </a:p>
          <a:p>
            <a:pPr lvl="0" indent="0" marL="0">
              <a:buNone/>
            </a:pPr>
          </a:p>
          <a:p>
            <a:pPr lvl="0" indent="0" marL="0">
              <a:buNone/>
            </a:pPr>
            <a:r>
              <a:rPr/>
              <a:t>If asked “will we do deep learning?”: yes, lessons 9 and 10, but on a laptop CPU and with the emphasis on understanding rather than scale.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direct here. They can learn the scikit-learn API from documentation in an afternoon, and they will. What takes a semester is knowing which number to trust.</a:t>
            </a:r>
          </a:p>
          <a:p>
            <a:pPr lvl="0" indent="0" marL="0">
              <a:buNone/>
            </a:pPr>
          </a:p>
          <a:p>
            <a:pPr lvl="0" indent="0" marL="0">
              <a:buNone/>
            </a:pPr>
            <a:r>
              <a:rPr/>
              <a:t>The concrete promise to make: if they leave this course able to look at someone else’s reported result - a paper, a colleague’s notebook, a vendor’s benchmark - and identify what is wrong with the evaluation, the course succeeded. That skill outlasts every library we touch.</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framing for the whole course, so spend a real minute on it. Handout section 1 develops it.</a:t>
            </a:r>
          </a:p>
          <a:p>
            <a:pPr lvl="0" indent="0" marL="0">
              <a:buNone/>
            </a:pPr>
          </a:p>
          <a:p>
            <a:pPr lvl="0" indent="0" marL="0">
              <a:buNone/>
            </a:pPr>
            <a:r>
              <a:rPr/>
              <a:t>Within three weeks they will write thirty lines that give 95% accuracy on something. The hard question is whether it means anything. Say plainly: the most common failure in this field is not a bug - the code runs exactly as written - it is a number that was never valid in the first place.</a:t>
            </a:r>
          </a:p>
          <a:p>
            <a:pPr lvl="0" indent="0" marL="0">
              <a:buNone/>
            </a:pPr>
          </a:p>
          <a:p>
            <a:pPr lvl="0" indent="0" marL="0">
              <a:buNone/>
            </a:pPr>
            <a:r>
              <a:rPr/>
              <a:t>Contrast with the audience this material used to serve: PhD engineers who had the mathematics and lacked the coding. This group is the mirror image, so the emphasis moves from “make it run” to “make it true”.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expectations now. The exercises are not optional and they build towards the project: by lesson 5 they should be able to write their project’s evaluation plan, by lesson 7 to have a draft comparison.</a:t>
            </a:r>
          </a:p>
          <a:p>
            <a:pPr lvl="0" indent="0" marL="0">
              <a:buNone/>
            </a:pPr>
          </a:p>
          <a:p>
            <a:pPr lvl="0" indent="0" marL="0">
              <a:buNone/>
            </a:pPr>
            <a:r>
              <a:rPr/>
              <a:t>Point them at Assessment/ in the repository. The project brief is available today, so they can start thinking about a dataset - the topic must be confirmed by lesson 4.</a:t>
            </a:r>
          </a:p>
          <a:p>
            <a:pPr lvl="0" indent="0" marL="0">
              <a:buNone/>
            </a:pPr>
          </a:p>
          <a:p>
            <a:pPr lvl="0" indent="0" marL="0">
              <a:buNone/>
            </a:pPr>
            <a:r>
              <a:rPr/>
              <a:t>Emphasise the principle that runs through all three components: methodology outweighs accuracy. Two students with different scores can both earn full marks. A spectacular score obtained by leaking the test set will not - the rubric caps methodology marks at 40% for that, and today’s third notebook shows exactly why.</a:t>
            </a:r>
          </a:p>
          <a:p>
            <a:pPr lvl="0" indent="0" marL="0">
              <a:buNone/>
            </a:pPr>
          </a:p>
          <a:p>
            <a:pPr lvl="0" indent="0" marL="0">
              <a:buNone/>
            </a:pPr>
            <a:r>
              <a:rPr/>
              <a:t>The exam is closed book and drawn from the handouts, including the derivations. Say this now so nobody treats the handouts as optional reading.</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the division of labour, because it is unusual and it matters.</a:t>
            </a:r>
          </a:p>
          <a:p>
            <a:pPr lvl="0" indent="0" marL="0">
              <a:buNone/>
            </a:pPr>
          </a:p>
          <a:p>
            <a:pPr lvl="0" indent="0" marL="0">
              <a:buNone/>
            </a:pPr>
            <a:r>
              <a:rPr/>
              <a:t>Derivations are NOT on the slides. They are in the handout, to be read afterwards. In the room we do results, intuition and code. This is what lets the lecture move at a sensible pace while the course stays rigorous - and it is why the exam can ask them to reproduce a derivation.</a:t>
            </a:r>
          </a:p>
          <a:p>
            <a:pPr lvl="0" indent="0" marL="0">
              <a:buNone/>
            </a:pPr>
          </a:p>
          <a:p>
            <a:pPr lvl="0" indent="0" marL="0">
              <a:buNone/>
            </a:pPr>
            <a:r>
              <a:rPr/>
              <a:t>Slides and notebooks arrive on the Friday; the handout follows by the Monday, since it is study material rather than lecture support.</a:t>
            </a:r>
          </a:p>
          <a:p>
            <a:pPr lvl="0" indent="0" marL="0">
              <a:buNone/>
            </a:pPr>
          </a:p>
          <a:p>
            <a:pPr lvl="0" indent="0" marL="0">
              <a:buNone/>
            </a:pPr>
            <a:r>
              <a:rPr/>
              <a:t>The quizzes are self-check and ungraded, but three or four questions in each require reasoning about a derivation rather than recall - those are the closest thing to the exam they will see before the sample papers.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this live and take ten minutes over it. Making sure everyone has JupyterLab running today is far cheaper than fixing it during lesson 3, when they also have an exercise due.</a:t>
            </a:r>
          </a:p>
          <a:p>
            <a:pPr lvl="0" indent="0" marL="0">
              <a:buNone/>
            </a:pPr>
          </a:p>
          <a:p>
            <a:pPr lvl="0" indent="0" marL="0">
              <a:buNone/>
            </a:pPr>
            <a:r>
              <a:rPr/>
              <a:t>Explain the two-part design: the Docker image carries the environment, the repository carries the content. New lessons arrive with </a:t>
            </a:r>
            <a:r>
              <a:rPr>
                <a:latin typeface="Courier"/>
              </a:rPr>
              <a:t>git pull</a:t>
            </a:r>
            <a:r>
              <a:rPr/>
              <a:t> - a few megabytes, seconds - not a new multi-gigabyte image. The image only changes if the libraries change, and they will be told when that happens.</a:t>
            </a:r>
          </a:p>
          <a:p>
            <a:pPr lvl="0" indent="0" marL="0">
              <a:buNone/>
            </a:pPr>
          </a:p>
          <a:p>
            <a:pPr lvl="0" indent="0" marL="0">
              <a:buNone/>
            </a:pPr>
            <a:r>
              <a:rPr/>
              <a:t>Common problems: port 8888 already in use (edit docker-compose.yml to 8889), and the first pull taking several minutes on the room’s wifi. Warn them the first start is slow and every later one is not.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as the one that matters most today: everything before it is orientation, and that section is where the real subject of the course appears.</a:t>
            </a:r>
          </a:p>
          <a:p>
            <a:pPr lvl="0" indent="0" marL="0">
              <a:buNone/>
            </a:pPr>
          </a:p>
          <a:p>
            <a:pPr lvl="0" indent="0" marL="0">
              <a:buNone/>
            </a:pPr>
            <a:r>
              <a:rPr/>
              <a:t>Timing: roughly 50 minutes to the break, then the three kinds of learning, then the workflow worked live, then the failure modes. Homework is set in the last five minutes - do not let it slip, it is due next Friday.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this conversationally. Ask the room for rules and write two or three on the board, then break each one: “buy now” - what about a legitimate shop newsletter? Sender blacklists - what about a compromised account belonging to a colleague?</a:t>
            </a:r>
          </a:p>
          <a:p>
            <a:pPr lvl="0" indent="0" marL="0">
              <a:buNone/>
            </a:pPr>
          </a:p>
          <a:p>
            <a:pPr lvl="0" indent="0" marL="0">
              <a:buNone/>
            </a:pPr>
            <a:r>
              <a:rPr/>
              <a:t>Get them to feel the frustration before offering the alternative. The point to land, and it is handout section 2: the program is not hard to write, the RULE is impossible to state. You recognise spam instantly and cannot articulate how.</a:t>
            </a:r>
          </a:p>
          <a:p>
            <a:pPr lvl="0" indent="0" marL="0">
              <a:buNone/>
            </a:pPr>
          </a:p>
          <a:p>
            <a:pPr lvl="0" indent="0" marL="0">
              <a:buNone/>
            </a:pPr>
            <a:r>
              <a:rPr/>
              <a:t>If someone proposes machine learning immediately, slow them down - the interesting part is understanding precisely which difficulty it addresses.</a:t>
            </a:r>
          </a:p>
          <a:p>
            <a:pPr lvl="0" indent="0" marL="0">
              <a:buNone/>
            </a:pPr>
          </a:p>
          <a:p>
            <a:pPr lvl="0" indent="0" marL="0">
              <a:buNone/>
            </a:pPr>
            <a:r>
              <a:rPr/>
              <a:t>Take each row in turn and let someone in the room supply the exception before you reveal it. The pattern to draw out: every rule is defensible and every rule breaks, and the list has no end.</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conceptual move that defines the field, so say it slowly while the figure is up.</a:t>
            </a:r>
          </a:p>
          <a:p>
            <a:pPr lvl="0" indent="0" marL="0">
              <a:buNone/>
            </a:pPr>
          </a:p>
          <a:p>
            <a:pPr lvl="0" indent="0" marL="0">
              <a:buNone/>
            </a:pPr>
            <a:r>
              <a:rPr/>
              <a:t>Traditional programming: you supply rules and data, the machine produces answers. Machine learning: you supply data and answers, and the machine produces the rules. The arrows literally reverse.</a:t>
            </a:r>
          </a:p>
          <a:p>
            <a:pPr lvl="0" indent="0" marL="0">
              <a:buNone/>
            </a:pPr>
          </a:p>
          <a:p>
            <a:pPr lvl="0" indent="0" marL="0">
              <a:buNone/>
            </a:pPr>
            <a:r>
              <a:rPr/>
              <a:t>Everything else in this course is machinery for doing that search well - and for telling whether the rules it found are real or an artefact of the sample you happened to collect.</a:t>
            </a:r>
          </a:p>
          <a:p>
            <a:pPr lvl="0" indent="0" marL="0">
              <a:buNone/>
            </a:pPr>
          </a:p>
          <a:p>
            <a:pPr lvl="0" indent="0" marL="0">
              <a:buNone/>
            </a:pPr>
            <a:r>
              <a:rPr/>
              <a:t>Worth adding: this framing is due to Arthur Samuel in the 1950s, and it is still the cleanest one-sentence description of what changed.</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Keep this brisk - handout section 2.1 has the full treatment and they will read it.</a:t>
            </a:r>
          </a:p>
          <a:p>
            <a:pPr lvl="0" indent="0" marL="0">
              <a:buNone/>
            </a:pPr>
          </a:p>
          <a:p>
            <a:pPr lvl="0" indent="0" marL="0">
              <a:buNone/>
            </a:pPr>
            <a:r>
              <a:rPr/>
              <a:t>Two things to stress about D. It is UNKNOWN, which is why we need data at all. And it is assumed FIXED - the same distribution generates the training data and the data we will meet later. That assumption is quiet and it fails constantly in practice: the hospital changes its equipment, the users change, the season turns. When it fails, models degrade without any warning from their metrics. Promise them we return to it.</a:t>
            </a:r>
          </a:p>
          <a:p>
            <a:pPr lvl="0" indent="0" marL="0">
              <a:buNone/>
            </a:pPr>
          </a:p>
          <a:p>
            <a:pPr lvl="0" indent="0" marL="0">
              <a:buNone/>
            </a:pPr>
            <a:r>
              <a:rPr/>
              <a:t>The loss function is where the domain enters the mathematics. Choosing it is a decision about which mistakes matter, and we make that choice explicitly in twenty minutes.</a:t>
            </a:r>
          </a:p>
          <a:p>
            <a:pPr lvl="0" indent="0" marL="0">
              <a:buNone/>
            </a:pPr>
          </a:p>
          <a:p>
            <a:pPr lvl="0" indent="0" marL="0">
              <a:buNone/>
            </a:pPr>
            <a:r>
              <a:rPr/>
              <a:t>Point at the dashed box. Three of these objects we handle directly - the inputs, the function we search for, the predictions. The fourth, the distribution the data comes from, we never see. Everything difficult in this course comes from that one box being out of reach.</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it: expected risk, sometimes called true risk or generalisation error.</a:t>
            </a:r>
          </a:p>
          <a:p>
            <a:pPr lvl="0" indent="0" marL="0">
              <a:buNone/>
            </a:pPr>
          </a:p>
          <a:p>
            <a:pPr lvl="0" indent="0" marL="0">
              <a:buNone/>
            </a:pPr>
            <a:r>
              <a:rPr/>
              <a:t>Then deliver the punchline and pause on it - we cannot compute this. D is unknown, the expectation is over data that has not been collected, and no amount of cleverness gets around it.</a:t>
            </a:r>
          </a:p>
          <a:p>
            <a:pPr lvl="0" indent="0" marL="0">
              <a:buNone/>
            </a:pPr>
          </a:p>
          <a:p>
            <a:pPr lvl="0" indent="0" marL="0">
              <a:buNone/>
            </a:pPr>
            <a:r>
              <a:rPr/>
              <a:t>This is the central obstacle of the field, and everything else in the course follows from it. If a student takes one idea away today, this is a good candidate.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Empirical risk. Minimising it is empirical risk minimisation, and essentially every method in this course is an instance of it - linear regression, logistic regression, trees, neural networks. Different function classes, same principle.</a:t>
            </a:r>
          </a:p>
          <a:p>
            <a:pPr lvl="0" indent="0" marL="0">
              <a:buNone/>
            </a:pPr>
          </a:p>
          <a:p>
            <a:pPr lvl="0" indent="0" marL="0">
              <a:buNone/>
            </a:pPr>
            <a:r>
              <a:rPr/>
              <a:t>Ask the room: what could go wrong with minimising this instead of the thing we actually want? Give them a moment. Someone usually says “it might not generalise”, which is exactly right and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central slide of the lesson. Walk the figure carefully.</a:t>
            </a:r>
          </a:p>
          <a:p>
            <a:pPr lvl="0" indent="0" marL="0">
              <a:buNone/>
            </a:pPr>
          </a:p>
          <a:p>
            <a:pPr lvl="0" indent="0" marL="0">
              <a:buNone/>
            </a:pPr>
            <a:r>
              <a:rPr/>
              <a:t>Empirical risk falls monotonically as the model gets more flexible - more parameters always fit the sample better, and with enough of them you reach zero by storing every example and reciting its answer.</a:t>
            </a:r>
          </a:p>
          <a:p>
            <a:pPr lvl="0" indent="0" marL="0">
              <a:buNone/>
            </a:pPr>
          </a:p>
          <a:p>
            <a:pPr lvl="0" indent="0" marL="0">
              <a:buNone/>
            </a:pPr>
            <a:r>
              <a:rPr/>
              <a:t>Expected risk turns back up. The shaded region between the curves is overfitting: the model has learnt the sample rather than the pattern.</a:t>
            </a:r>
          </a:p>
          <a:p>
            <a:pPr lvl="0" indent="0" marL="0">
              <a:buNone/>
            </a:pPr>
          </a:p>
          <a:p>
            <a:pPr lvl="0" indent="0" marL="0">
              <a:buNone/>
            </a:pPr>
            <a:r>
              <a:rPr/>
              <a:t>The consequence for practice: performance on data you fitted to is ALWAYS optimistic and sometimes meaningless. Handout section 2.2 makes the argument in full.</a:t>
            </a:r>
          </a:p>
          <a:p>
            <a:pPr lvl="0" indent="0" marL="0">
              <a:buNone/>
            </a:pPr>
          </a:p>
          <a:p>
            <a:pPr lvl="0" indent="0" marL="0">
              <a:buNone/>
            </a:pPr>
            <a:r>
              <a:rPr/>
              <a:t>Note the dotted line - the best trade-off - and say we spend lesson 5 learning to find it honestly, and lessons 3 and 7 meeting the two standard tools for controlling it, regularisation and ensembling.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fits to identical points. Left: a straight line cannot follow the curve, so it is wrong everywhere in the same way - high bias, poor on training AND test data. Right: degree-18 passes through nearly every point and oscillates wildly between them - it will be badly wrong on anything new.</a:t>
            </a:r>
          </a:p>
          <a:p>
            <a:pPr lvl="0" indent="0" marL="0">
              <a:buNone/>
            </a:pPr>
          </a:p>
          <a:p>
            <a:pPr lvl="0" indent="0" marL="0">
              <a:buNone/>
            </a:pPr>
            <a:r>
              <a:rPr/>
              <a:t>Ask which one they would choose without seeing the dashed line. That is the real situation: the true pattern is never visible, only the sample.</a:t>
            </a:r>
          </a:p>
          <a:p>
            <a:pPr lvl="0" indent="0" marL="0">
              <a:buNone/>
            </a:pPr>
          </a:p>
          <a:p>
            <a:pPr lvl="0" indent="0" marL="0">
              <a:buNone/>
            </a:pPr>
            <a:r>
              <a:rPr/>
              <a:t>Point out the trap in the right-hand panel - it has the LOWEST training error of the three. If you selected a model by training error you would pick it every time. That is precisely why we hold data out.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clearly: this is not bureaucratic caution, and give the reason rather than the instruction. Handout sections 2.3 to 2.5 carry the full argument.</a:t>
            </a:r>
          </a:p>
          <a:p>
            <a:pPr lvl="0" indent="0" marL="0">
              <a:buNone/>
            </a:pPr>
          </a:p>
          <a:p>
            <a:pPr lvl="0" indent="0" marL="0">
              <a:buNone/>
            </a:pPr>
            <a:r>
              <a:rPr/>
              <a:t>The difficulty is not that a sample is small. It is that if the same data both CHOOSES the model and JUDGES it, the judgement stops being an unbiased estimate. The analogy that works: writing the exam questions after reading the students’ answers. Nobody cheated - you let the answers influence the question.</a:t>
            </a:r>
          </a:p>
          <a:p>
            <a:pPr lvl="0" indent="0" marL="0">
              <a:buNone/>
            </a:pPr>
          </a:p>
          <a:p>
            <a:pPr lvl="0" indent="0" marL="0">
              <a:buNone/>
            </a:pPr>
            <a:r>
              <a:rPr/>
              <a:t>Why a held-out set repairs it: if the test set played no part in choosing f, it stays independent of f, and the error measured on it is an unbiased estimate of the expected risk - the quantity we just said was not computable. Worth putting on the board.</a:t>
            </a:r>
          </a:p>
          <a:p>
            <a:pPr lvl="0" indent="0" marL="0">
              <a:buNone/>
            </a:pPr>
          </a:p>
          <a:p>
            <a:pPr lvl="0" indent="0" marL="0">
              <a:buNone/>
            </a:pPr>
            <a:r>
              <a:rPr/>
              <a:t>Stress what that argument depends on: the INDEPENDENCE of the test set, not its size or its proportion. The moment those rows influence any decision - a mean for scaling, a ranking for feature selection, a comparison between models - the independence breaks and the estimate is optimistic by an unknown amount. That is why the rule is “nothing is learned before the split” rather than “keep some data aside”.</a:t>
            </a:r>
          </a:p>
          <a:p>
            <a:pPr lvl="0" indent="0" marL="0">
              <a:buNone/>
            </a:pPr>
          </a:p>
          <a:p>
            <a:pPr lvl="0" indent="0" marL="0">
              <a:buNone/>
            </a:pPr>
            <a:r>
              <a:rPr/>
              <a:t>Warn them we will break exactly that independence later today and watch 77% accuracy appear out of coin-flip labels.</a:t>
            </a:r>
          </a:p>
          <a:p>
            <a:pPr lvl="0" indent="0" marL="0">
              <a:buNone/>
            </a:pPr>
          </a:p>
          <a:p>
            <a:pPr lvl="0" indent="0" marL="0">
              <a:buNone/>
            </a:pPr>
            <a:r>
              <a:rPr/>
              <a:t>If someone asks “how much do we hold out?” - typically 20-30%, and the trade-off is real in both directions: a bigger test set gives a more stable estimate (the standard error falls as one over root n), a bigger training set gives a better model. Give them the concrete number from notebook 01: 143 test examples at 0.986 accuracy carries a standard error of about one percentage point, so the third decimal place is noise. With a few hundred examples both sides hurt at once, which is what cross-validation exists for - lesson 5.</a:t>
            </a:r>
          </a:p>
          <a:p>
            <a:pPr lvl="0" indent="0" marL="0">
              <a:buNone/>
            </a:pPr>
          </a:p>
          <a:p>
            <a:pPr lvl="0" indent="0" marL="0">
              <a:buNone/>
            </a:pPr>
            <a:r>
              <a:rPr/>
              <a:t>If someone asks “what if I try ten models and report the best?” - they have just selected using the test set, and the number is optimistic again. That is the bridge to the validation set, and to lesson 5. Today we need only train and test because we make no choices: one model, no tuning.</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Unfashionable and immediately useful - handout section 3.</a:t>
            </a:r>
          </a:p>
          <a:p>
            <a:pPr lvl="0" indent="0" marL="0">
              <a:buNone/>
            </a:pPr>
          </a:p>
          <a:p>
            <a:pPr lvl="0" indent="0" marL="0">
              <a:buNone/>
            </a:pPr>
            <a:r>
              <a:rPr/>
              <a:t>First point: nobody should train a classifier to detect whether a number is even. It sounds obvious and is violated constantly, usually because ML is the interesting option and a rule is boring.</a:t>
            </a:r>
          </a:p>
          <a:p>
            <a:pPr lvl="0" indent="0" marL="0">
              <a:buNone/>
            </a:pPr>
          </a:p>
          <a:p>
            <a:pPr lvl="0" indent="0" marL="0">
              <a:buNone/>
            </a:pPr>
            <a:r>
              <a:rPr/>
              <a:t>Second: a model learns the distribution it was trained on. Sample from one hospital, deploy in another, and the measured accuracy says very little.</a:t>
            </a:r>
          </a:p>
          <a:p>
            <a:pPr lvl="0" indent="0" marL="0">
              <a:buNone/>
            </a:pPr>
          </a:p>
          <a:p>
            <a:pPr lvl="0" indent="0" marL="0">
              <a:buNone/>
            </a:pPr>
            <a:r>
              <a:rPr/>
              <a:t>Third: learned models are wrong sometimes, in ways that are hard to predict and often hard to explain. If a mistake is unrecoverable and nobody reviews the output, the question is not whether accuracy is high enough but whether anyone can tell when it has failed.</a:t>
            </a:r>
          </a:p>
          <a:p>
            <a:pPr lvl="0" indent="0" marL="0">
              <a:buNone/>
            </a:pPr>
          </a:p>
          <a:p>
            <a:pPr lvl="0" indent="0" marL="0">
              <a:buNone/>
            </a:pPr>
            <a:r>
              <a:rPr/>
              <a:t>Fourth: a model is not neutral because it is mathematical. It is a compressed summary of the decisions in its training data. We return to this at the end of the lesson.</a:t>
            </a:r>
          </a:p>
          <a:p>
            <a:pPr lvl="0" indent="0" marL="0">
              <a:buNone/>
            </a:pPr>
          </a:p>
          <a:p>
            <a:pPr lvl="0" indent="0" marL="0">
              <a:buNone/>
            </a:pPr>
            <a:r>
              <a:rPr/>
              <a:t>Fifth: often a threshold on one variable solves 90% of the problem, is understandable by everyone, and needs no maintenance. Establishing baselines - step 4 of the workflow - is partly how you discover this before building something complicated.</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the history section with the whole arc visible, then walk the individual moments. Resources/history_of_ai.md has the full version with primary sources - tell them it is worth an hour and is not examinable in itself.</a:t>
            </a:r>
          </a:p>
          <a:p>
            <a:pPr lvl="0" indent="0" marL="0">
              <a:buNone/>
            </a:pPr>
          </a:p>
          <a:p>
            <a:pPr lvl="0" indent="0" marL="0">
              <a:buNone/>
            </a:pPr>
            <a:r>
              <a:rPr/>
              <a:t>The two grey bands are the AI winters. Point at them now and say the question for the next ten minutes is what caused them, because the answer is not “the technology did not work”.</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neurophysiologist and a logician. Their claim was philosophical as much as technical: thought might be computation. They showed networks of such units can compute any logical proposition.</a:t>
            </a:r>
          </a:p>
          <a:p>
            <a:pPr lvl="0" indent="0" marL="0">
              <a:buNone/>
            </a:pPr>
          </a:p>
          <a:p>
            <a:pPr lvl="0" indent="0" marL="0">
              <a:buNone/>
            </a:pPr>
            <a:r>
              <a:rPr/>
              <a:t>Weights were set by hand - nothing learned yet. That comes in 1957.</a:t>
            </a:r>
          </a:p>
          <a:p>
            <a:pPr lvl="0" indent="0" marL="0">
              <a:buNone/>
            </a:pPr>
          </a:p>
          <a:p>
            <a:pPr lvl="0" indent="0" marL="0">
              <a:buNone/>
            </a:pPr>
            <a:r>
              <a:rPr/>
              <a:t>Tell them the unit in lesson 9 is this unit with a smoother threshold. The history is not decoration; it is the same objects under different names.</a:t>
            </a:r>
          </a:p>
          <a:p>
            <a:pPr lvl="0" indent="0" marL="0">
              <a:buNone/>
            </a:pPr>
          </a:p>
          <a:p>
            <a:pPr lvl="0" indent="0" marL="0">
              <a:buNone/>
            </a:pPr>
            <a:r>
              <a:rPr/>
              <a:t>Walk the diagram: inputs, a weight on each, a sum, and a hard threshold. Then point at the right-hand panel - the step function is what makes it all-or-nothing, and it is exactly what gets replaced by a smooth sigmoid in lesson 4 and by ReLU in lesson 9. Same object, softened, so that it becomes differentiable and therefore trainable.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Highlight the MOVE rather than the test. Turing opens by declaring the original question too meaningless to deserve discussion, and substitutes an operational one.</a:t>
            </a:r>
          </a:p>
          <a:p>
            <a:pPr lvl="0" indent="0" marL="0">
              <a:buNone/>
            </a:pPr>
          </a:p>
          <a:p>
            <a:pPr lvl="0" indent="0" marL="0">
              <a:buNone/>
            </a:pPr>
            <a:r>
              <a:rPr/>
              <a:t>That is exactly what they do every time they choose a metric: replace something that cannot be measured - “is this model good?” - with something that can. It carries the same obligation, to stay aware of the gap between the proxy and the thing itself. The whole of lesson 4 is about that gap for classification.</a:t>
            </a:r>
          </a:p>
          <a:p>
            <a:pPr lvl="0" indent="0" marL="0">
              <a:buNone/>
            </a:pPr>
          </a:p>
          <a:p>
            <a:pPr lvl="0" indent="0" marL="0">
              <a:buNone/>
            </a:pPr>
            <a:r>
              <a:rPr/>
              <a:t>Recommend the paper. It is readable, funny, and answers nine objections including “a machine can only do what it is told” - his reply, that this assumes we can foresee the consequences of what we tell it, has aged extremely well.</a:t>
            </a:r>
          </a:p>
          <a:p>
            <a:pPr lvl="0" indent="0" marL="0">
              <a:buNone/>
            </a:pPr>
          </a:p>
          <a:p>
            <a:pPr lvl="0" indent="0" marL="0">
              <a:buNone/>
            </a:pPr>
            <a:r>
              <a:rPr/>
              <a:t>The screen is the whole design: it removes appearance, voice and everything except the behaviour being tested. Ask the room what this test does NOT measure - understanding, consciousness, correctness - and note that Turing knew, and argued the substitution was worth making anyway.</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react to “two months”. Seventy years later the problem is open.</a:t>
            </a:r>
          </a:p>
          <a:p>
            <a:pPr lvl="0" indent="0" marL="0">
              <a:buNone/>
            </a:pPr>
          </a:p>
          <a:p>
            <a:pPr lvl="0" indent="0" marL="0">
              <a:buNone/>
            </a:pPr>
            <a:r>
              <a:rPr/>
              <a:t>McCarthy, Minsky, Shannon and Rochester convened it. The optimism is not incidental - it is present at the field’s naming and it recurs on a cycle, which is the argument of this whole section.</a:t>
            </a:r>
          </a:p>
          <a:p>
            <a:pPr lvl="0" indent="0" marL="0">
              <a:buNone/>
            </a:pPr>
          </a:p>
          <a:p>
            <a:pPr lvl="0" indent="0" marL="0">
              <a:buNone/>
            </a:pPr>
            <a:r>
              <a:rPr/>
              <a:t>These are the seven topics from the actual proposal. Read two or three aloud - ‘self-improvement’, ‘randomness and creativity’ - and let the room judge how much of the list is settled. Then note that the proposal’s authors expected substantial progress on all of it in one summer.</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machine that learns. Physical hardware - photocells, potentiometers, motors.</a:t>
            </a:r>
          </a:p>
          <a:p>
            <a:pPr lvl="0" indent="0" marL="0">
              <a:buNone/>
            </a:pPr>
          </a:p>
          <a:p>
            <a:pPr lvl="0" indent="0" marL="0">
              <a:buNone/>
            </a:pPr>
            <a:r>
              <a:rPr/>
              <a:t>Stress the CONDITION on the theorem: “if linearly separable”. The theorem is true and that clause is carrying enormous weight, as 1969 will show.</a:t>
            </a:r>
          </a:p>
          <a:p>
            <a:pPr lvl="0" indent="0" marL="0">
              <a:buNone/>
            </a:pPr>
          </a:p>
          <a:p>
            <a:pPr lvl="0" indent="0" marL="0">
              <a:buNone/>
            </a:pPr>
            <a:r>
              <a:rPr/>
              <a:t>Then the contrast: the New York Times reported the Navy expected a machine that would walk, talk, see, write and reproduce itself. Same year, same machine. Ask them which of those two statements a careful reader could have checked.</a:t>
            </a:r>
          </a:p>
          <a:p>
            <a:pPr lvl="0" indent="0" marL="0">
              <a:buNone/>
            </a:pPr>
          </a:p>
          <a:p>
            <a:pPr lvl="0" indent="0" marL="0">
              <a:buNone/>
            </a:pPr>
            <a:r>
              <a:rPr/>
              <a:t>The faded lines are earlier states of the boundary. Every time the machine misclassified an example it nudged the weights, and the line moved. That is the whole idea: the model is corrected by its own mistakes, which is still what gradient descent does in lesson 3 - just with a smoother update rule.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XOR on the board - four points, alternating labels - and let them see that no single straight line separates them. Takes thirty seconds and lands permanently.</a:t>
            </a:r>
          </a:p>
          <a:p>
            <a:pPr lvl="0" indent="0" marL="0">
              <a:buNone/>
            </a:pPr>
          </a:p>
          <a:p>
            <a:pPr lvl="0" indent="0" marL="0">
              <a:buNone/>
            </a:pPr>
            <a:r>
              <a:rPr/>
              <a:t>Then the key point: the result applies to ONE LAYER. Multi-layer networks were already known to be more expressive; what was missing was a way to train them. That distinction was lost in the retelling, funding collapsed, and neural network research became close to unpublishable for a decade.</a:t>
            </a:r>
          </a:p>
          <a:p>
            <a:pPr lvl="0" indent="0" marL="0">
              <a:buNone/>
            </a:pPr>
          </a:p>
          <a:p>
            <a:pPr lvl="0" indent="0" marL="0">
              <a:buNone/>
            </a:pPr>
            <a:r>
              <a:rPr/>
              <a:t>In lesson 9 a hidden layer disposes of XOR in four lines of Keras. Fifteen years of lost time for a limitation that a correct reading would have scoped much more narrowly.</a:t>
            </a:r>
          </a:p>
          <a:p>
            <a:pPr lvl="0" indent="0" marL="0">
              <a:buNone/>
            </a:pPr>
          </a:p>
          <a:p>
            <a:pPr lvl="0" indent="0" marL="0">
              <a:buNone/>
            </a:pPr>
            <a:r>
              <a:rPr/>
              <a:t>The transferable lesson: a correct result about a restricted case was received as a verdict on the whole approach. That failure mode is alive and well in how ML results get reported today.</a:t>
            </a:r>
          </a:p>
          <a:p>
            <a:pPr lvl="0" indent="0" marL="0">
              <a:buNone/>
            </a:pPr>
          </a:p>
          <a:p>
            <a:pPr lvl="0" indent="0" marL="0">
              <a:buNone/>
            </a:pPr>
            <a:r>
              <a:rPr/>
              <a:t>Use the figure instead of the board. AND on the left: one line, done. XOR on the right: the dashed lines are attempts, and each leaves a point on the wrong side. Ask them to try to find one that works before you move on - the impossibility is more convincing when they have looked for it themselves.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Rumelhart, Hinton and Williams. Note the technique had been derived before - Linnainmaa 1970, Werbos 1974 - without taking hold. Ideas need context as much as correctness, which is a useful thing for a researcher to know.</a:t>
            </a:r>
          </a:p>
          <a:p>
            <a:pPr lvl="0" indent="0" marL="0">
              <a:buNone/>
            </a:pPr>
          </a:p>
          <a:p>
            <a:pPr lvl="0" indent="0" marL="0">
              <a:buNone/>
            </a:pPr>
            <a:r>
              <a:rPr/>
              <a:t>The second winter arrived in the early 1990s: networks were hard to train, needed more data than existed, and took too long on the hardware. Expert system companies collapsed as their products proved unmaintainable.</a:t>
            </a:r>
          </a:p>
          <a:p>
            <a:pPr lvl="0" indent="0" marL="0">
              <a:buNone/>
            </a:pPr>
          </a:p>
          <a:p>
            <a:pPr lvl="0" indent="0" marL="0">
              <a:buNone/>
            </a:pPr>
            <a:r>
              <a:rPr/>
              <a:t>Lesson 9 derives this algorithm.</a:t>
            </a:r>
          </a:p>
          <a:p>
            <a:pPr lvl="0" indent="0" marL="0">
              <a:buNone/>
            </a:pPr>
          </a:p>
          <a:p>
            <a:pPr lvl="0" indent="0" marL="0">
              <a:buNone/>
            </a:pPr>
            <a:r>
              <a:rPr/>
              <a:t>Two passes: forward to compute a prediction, backward to distribute the error across every weight, including the hidden ones. That second arrow is what was missing in 1969 - not expressiveness, but a way to assign blame to a unit that never sees the target directly. Lesson 9 derives it.</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that most of this course lives here, and it is where the reliable tools come from. SVMs arrived with theory explaining WHY they generalise. Random forests and boosting won competitions for a decade. The bias-variance decomposition and cross-validation became standard practice.</a:t>
            </a:r>
          </a:p>
          <a:p>
            <a:pPr lvl="0" indent="0" marL="0">
              <a:buNone/>
            </a:pPr>
          </a:p>
          <a:p>
            <a:pPr lvl="0" indent="0" marL="0">
              <a:buNone/>
            </a:pPr>
            <a:r>
              <a:rPr/>
              <a:t>It is unglamorous and it is what actually gets deployed. Lessons 5, 6 and 7 are this period, and lesson 5 in particular is its central contribution.</a:t>
            </a:r>
          </a:p>
          <a:p>
            <a:pPr lvl="0" indent="0" marL="0">
              <a:buNone/>
            </a:pPr>
          </a:p>
          <a:p>
            <a:pPr lvl="0" indent="0" marL="0">
              <a:buNone/>
            </a:pPr>
            <a:r>
              <a:rPr/>
              <a:t>The dotted line also separates the classes perfectly, and would score identically on this training data. The SVM picks the solid one - the boundary furthest from both classes. Ask which they would trust on a new point near the middle. That intuition is what the theory of the period made precise, and it is lesson 6.</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most important slide in the history section.</a:t>
            </a:r>
          </a:p>
          <a:p>
            <a:pPr lvl="0" indent="0" marL="0">
              <a:buNone/>
            </a:pPr>
          </a:p>
          <a:p>
            <a:pPr lvl="0" indent="0" marL="0">
              <a:buNone/>
            </a:pPr>
            <a:r>
              <a:rPr/>
              <a:t>What changed was DATA - ImageNet, 1.2 million labelled images, assembled over years - and COMPUTE, two consumer GPUs. Plus details that mattered: ReLU activations, dropout, augmentation.</a:t>
            </a:r>
          </a:p>
          <a:p>
            <a:pPr lvl="0" indent="0" marL="0">
              <a:buNone/>
            </a:pPr>
          </a:p>
          <a:p>
            <a:pPr lvl="0" indent="0" marL="0">
              <a:buNone/>
            </a:pPr>
            <a:r>
              <a:rPr/>
              <a:t>A conceptual advance would have been visible in 1989, when LeCun was already reading postal codes with convolutional networks. This was a scaling result.</a:t>
            </a:r>
          </a:p>
          <a:p>
            <a:pPr lvl="0" indent="0" marL="0">
              <a:buNone/>
            </a:pPr>
          </a:p>
          <a:p>
            <a:pPr lvl="0" indent="0" marL="0">
              <a:buNone/>
            </a:pPr>
            <a:r>
              <a:rPr/>
              <a:t>Saying so is not a criticism. It is the single most important fact about the last decade, and it licenses very different predictions than a conceptual breakthrough would.</a:t>
            </a:r>
          </a:p>
          <a:p>
            <a:pPr lvl="0" indent="0" marL="0">
              <a:buNone/>
            </a:pPr>
          </a:p>
          <a:p>
            <a:pPr lvl="0" indent="0" marL="0">
              <a:buNone/>
            </a:pPr>
            <a:r>
              <a:rPr/>
              <a:t>Read the bars left to right. Two ordinary years, then the drop, then everyone adopts the approach and the error keeps falling past human performance by 2015. Point out that the years after 2012 fell further than 2012 itself did - the story is not one heroic result, it is a field switching methods.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Leave the question marks and ask the room what belongs there. It usually produces a good discussion, and there is no answer you need to supply.</a:t>
            </a:r>
          </a:p>
          <a:p>
            <a:pPr lvl="0" indent="0" marL="0">
              <a:buNone/>
            </a:pPr>
          </a:p>
          <a:p>
            <a:pPr lvl="0" indent="0" marL="0">
              <a:buNone/>
            </a:pPr>
            <a:r>
              <a:rPr/>
              <a:t>Three things to draw out. First, distinguishing a demonstrated result from an extrapolated promise: Rosenblatt’s theorem was true, “it will reproduce itself” was not, and both appeared in the same press cycle. Second, asking what changed - idea or resources. Third, and this is the one they will use professionally: the winters were caused by the gap between claims and evidence, not by the technology being worthless. The perceptron was genuinely useful; it was oversold.</a:t>
            </a:r>
          </a:p>
          <a:p>
            <a:pPr lvl="0" indent="0" marL="0">
              <a:buNone/>
            </a:pPr>
          </a:p>
          <a:p>
            <a:pPr lvl="0" indent="0" marL="0">
              <a:buNone/>
            </a:pPr>
            <a:r>
              <a:rPr/>
              <a:t>Then make the connection explicit: the habit that prevents this is the same one we use to evaluate a model - state precisely what was measured, on what data, and what that does not establish.</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common misconception immediately, before it takes hold. It is not about which algorithm you use: the same estimator can serve more than one setting, and they will see exactly that in notebook 02 where the supervised regression and the self-supervised task run identical code.</a:t>
            </a:r>
          </a:p>
          <a:p>
            <a:pPr lvl="0" indent="0" marL="0">
              <a:buNone/>
            </a:pPr>
          </a:p>
          <a:p>
            <a:pPr lvl="0" indent="0" marL="0">
              <a:buNone/>
            </a:pPr>
            <a:r>
              <a:rPr/>
              <a:t>Handout section 5 has the full taxonomy.</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Lessons 3, 4, 6 and 7 are all supervised, so this is most of the course.</a:t>
            </a:r>
          </a:p>
          <a:p>
            <a:pPr lvl="0" indent="0" marL="0">
              <a:buNone/>
            </a:pPr>
          </a:p>
          <a:p>
            <a:pPr lvl="0" indent="0" marL="0">
              <a:buNone/>
            </a:pPr>
            <a:r>
              <a:rPr/>
              <a:t>Ask what the expensive part is. Someone will say the labels, and that is right: in practice labels - not algorithms, not compute - are what limits most real projects. Somebody has to produce them, correctly, in quantity, and for many problems that is expensive or simply impossible.</a:t>
            </a:r>
          </a:p>
          <a:p>
            <a:pPr lvl="0" indent="0" marL="0">
              <a:buNone/>
            </a:pPr>
          </a:p>
          <a:p>
            <a:pPr lvl="0" indent="0" marL="0">
              <a:buNone/>
            </a:pPr>
            <a:r>
              <a:rPr/>
              <a:t>Give the concrete example: ImageNet took years of human annotation, and it is the reason 2012 happened when it did rather than in 1995.</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8.</a:t>
            </a:r>
          </a:p>
          <a:p>
            <a:pPr lvl="0" indent="0" marL="0">
              <a:buNone/>
            </a:pPr>
          </a:p>
          <a:p>
            <a:pPr lvl="0" indent="0" marL="0">
              <a:buNone/>
            </a:pPr>
            <a:r>
              <a:rPr/>
              <a:t>Plant the difficulty now: there is no accuracy to report. The algorithm ALWAYS returns clusters, whether or not the data contains any groups. Whether they mean something is a judgement about the domain and cannot be delegated to a metric.</a:t>
            </a:r>
          </a:p>
          <a:p>
            <a:pPr lvl="0" indent="0" marL="0">
              <a:buNone/>
            </a:pPr>
          </a:p>
          <a:p>
            <a:pPr lvl="0" indent="0" marL="0">
              <a:buNone/>
            </a:pPr>
            <a:r>
              <a:rPr/>
              <a:t>This is genuinely harder than supervised learning to do well, which is the opposite of how it is usually taught - it looks easier because there is no labelling effort.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one they will have heard about without a clean definition, so define it precisely.</a:t>
            </a:r>
          </a:p>
          <a:p>
            <a:pPr lvl="0" indent="0" marL="0">
              <a:buNone/>
            </a:pPr>
          </a:p>
          <a:p>
            <a:pPr lvl="0" indent="0" marL="0">
              <a:buNone/>
            </a:pPr>
            <a:r>
              <a:rPr/>
              <a:t>The reconstruction task is a PRETEXT: nobody wants a flavanoid predictor, which is what notebook 02 builds. The point is that solving it forces the model to represent how the parts of an input relate, and that representation transfers to tasks you do care about.</a:t>
            </a:r>
          </a:p>
          <a:p>
            <a:pPr lvl="0" indent="0" marL="0">
              <a:buNone/>
            </a:pPr>
          </a:p>
          <a:p>
            <a:pPr lvl="0" indent="0" marL="0">
              <a:buNone/>
            </a:pPr>
            <a:r>
              <a:rPr/>
              <a:t>Scale the idea up - hide a word in a sentence, hide a patch of an image - and it is how modern large models are trained. Free supervision is precisely why they scale: text and images exist in enormous quantities and nobody has to annotate them.</a:t>
            </a:r>
          </a:p>
          <a:p>
            <a:pPr lvl="0" indent="0" marL="0">
              <a:buNone/>
            </a:pPr>
          </a:p>
          <a:p>
            <a:pPr lvl="0" indent="0" marL="0">
              <a:buNone/>
            </a:pPr>
            <a:r>
              <a:rPr/>
              <a:t>This is the honest one-paragraph answer to “how does ChatGPT learn?”, and it is worth giving them, since they will be asked it at every family dinner.</a:t>
            </a:r>
          </a:p>
          <a:p>
            <a:pPr lvl="0" indent="0" marL="0">
              <a:buNone/>
            </a:pPr>
          </a:p>
          <a:p>
            <a:pPr lvl="0" indent="0" marL="0">
              <a:buNone/>
            </a:pPr>
            <a:r>
              <a:rPr/>
              <a:t>Walk it left to right: one column hidden, the rest used to predict it. Nobody labelled anything, yet there is a genuine target. Then scale the idea in their heads - hide a word in a sentence, a patch in an image - and they have the training principle behind every large model they have heard of.</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Work notebook 02 here, live. The same 178 wines appear in all three panels.</a:t>
            </a:r>
          </a:p>
          <a:p>
            <a:pPr lvl="0" indent="0" marL="0">
              <a:buNone/>
            </a:pPr>
          </a:p>
          <a:p>
            <a:pPr lvl="0" indent="0" marL="0">
              <a:buNone/>
            </a:pPr>
            <a:r>
              <a:rPr/>
              <a:t>Left: what the algorithm sees when there are no labels - just points in space. Middle: labels supplied by a person. Right: groups found by geometry alone.</a:t>
            </a:r>
          </a:p>
          <a:p>
            <a:pPr lvl="0" indent="0" marL="0">
              <a:buNone/>
            </a:pPr>
          </a:p>
          <a:p>
            <a:pPr lvl="0" indent="0" marL="0">
              <a:buNone/>
            </a:pPr>
            <a:r>
              <a:rPr/>
              <a:t>Point out that the cluster colours do not match the label colours. k-means numbers its groups arbitrarily, and without labels there is nothing to align to. That arbitrariness IS the point of the unsupervised setting.</a:t>
            </a:r>
          </a:p>
          <a:p>
            <a:pPr lvl="0" indent="0" marL="0">
              <a:buNone/>
            </a:pPr>
          </a:p>
          <a:p>
            <a:pPr lvl="0" indent="0" marL="0">
              <a:buNone/>
            </a:pPr>
            <a:r>
              <a:rPr/>
              <a:t>Warn them the strong agreement here - adjusted Rand index 0.897 - is a happy accident of this dataset, where the chemical groups really are geometrically separated. Do not expect it. In most real data, clustering finds structure that corresponds to nothing you care about.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cost column aloud: it explains why self-supervision dominates wherever data is abundant and annotation is not, and why supervised learning still wins whenever someone has already paid for good labels.</a:t>
            </a:r>
          </a:p>
          <a:p>
            <a:pPr lvl="0" indent="0" marL="0">
              <a:buNone/>
            </a:pPr>
          </a:p>
          <a:p>
            <a:pPr lvl="0" indent="0" marL="0">
              <a:buNone/>
            </a:pPr>
            <a:r>
              <a:rPr/>
              <a:t>Then read the right-hand column and flag the trap: in two cases out of three you cannot straightforwardly measure success at the thing you actually want. That is a much bigger practical problem than the choice of algorithm, and it is why unsupervised results are so often oversold.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order is not a convention: several steps are only valid in this order, and step 3 is the one that cannot move - hence the colour.</a:t>
            </a:r>
          </a:p>
          <a:p>
            <a:pPr lvl="0" indent="0" marL="0">
              <a:buNone/>
            </a:pPr>
          </a:p>
          <a:p>
            <a:pPr lvl="0" indent="0" marL="0">
              <a:buNone/>
            </a:pPr>
            <a:r>
              <a:rPr/>
              <a:t>This is the map for notebook 01, which we now work through live. Tell them to open it and follow along rather than watch.</a:t>
            </a:r>
          </a:p>
          <a:p>
            <a:pPr lvl="0" indent="0" marL="0">
              <a:buNone/>
            </a:pPr>
          </a:p>
          <a:p>
            <a:pPr lvl="0" indent="0" marL="0">
              <a:buNone/>
            </a:pPr>
            <a:r>
              <a:rPr/>
              <a:t>Handout section 6 has each step in full. The two they will be tempted to skip are 1 and 4 - framing and baseline - and those are the two that make the difference between a result and a number.</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step everyone skips, and the one the exercise marks hardest.</a:t>
            </a:r>
          </a:p>
          <a:p>
            <a:pPr lvl="0" indent="0" marL="0">
              <a:buNone/>
            </a:pPr>
          </a:p>
          <a:p>
            <a:pPr lvl="0" indent="0" marL="0">
              <a:buNone/>
            </a:pPr>
            <a:r>
              <a:rPr/>
              <a:t>Our example: predicting whether a breast tumour is malignant from measurements of cell nuclei. A model here would be a screening aid, never a diagnosis - say that clearly, it matters.</a:t>
            </a:r>
          </a:p>
          <a:p>
            <a:pPr lvl="0" indent="0" marL="0">
              <a:buNone/>
            </a:pPr>
          </a:p>
          <a:p>
            <a:pPr lvl="0" indent="0" marL="0">
              <a:buNone/>
            </a:pPr>
            <a:r>
              <a:rPr/>
              <a:t>The two errors are not comparable. A false alarm costs anxiety and a follow-up test; a missed malignancy can cost a life. Ask the room which they would rather make, and let them answer before showing any metric.</a:t>
            </a:r>
          </a:p>
          <a:p>
            <a:pPr lvl="0" indent="0" marL="0">
              <a:buNone/>
            </a:pPr>
          </a:p>
          <a:p>
            <a:pPr lvl="0" indent="0" marL="0">
              <a:buNone/>
            </a:pPr>
            <a:r>
              <a:rPr/>
              <a:t>That answer determines the metric, and it must be fixed BEFORE seeing results. A metric chosen afterwards is a metric chosen to flatter - with enough candidates, one always looks good.</a:t>
            </a:r>
          </a:p>
          <a:p>
            <a:pPr lvl="0" indent="0" marL="0">
              <a:buNone/>
            </a:pPr>
          </a:p>
          <a:p>
            <a:pPr lvl="0" indent="0" marL="0">
              <a:buNone/>
            </a:pPr>
            <a:r>
              <a:rPr/>
              <a:t>Two of these cells are fine and two are not, and the two failures are not the same size. Accuracy adds them up as if they were. Ask which cell they would accept more of - and note that answering requires knowing who bears the cost, which is not a question about data.</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569 samples, 30 features, 357 benign against 212 malignant.</a:t>
            </a:r>
          </a:p>
          <a:p>
            <a:pPr lvl="0" indent="0" marL="0">
              <a:buNone/>
            </a:pPr>
          </a:p>
          <a:p>
            <a:pPr lvl="0" indent="0" marL="0">
              <a:buNone/>
            </a:pPr>
            <a:r>
              <a:rPr/>
              <a:t>Get them to compute the consequence out loud: always answering “benign” is right 62.7% of the time. That number is the bar any real model has to clear, and it is why step 4 exists.</a:t>
            </a:r>
          </a:p>
          <a:p>
            <a:pPr lvl="0" indent="0" marL="0">
              <a:buNone/>
            </a:pPr>
          </a:p>
          <a:p>
            <a:pPr lvl="0" indent="0" marL="0">
              <a:buNone/>
            </a:pPr>
            <a:r>
              <a:rPr/>
              <a:t>Mild imbalance here. Later today we will see what happens at 99 to 1, where the same reasoning destroys accuracy as a metric entirely.</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Return to the risk_gap figure verbally - this slide is that argument made operational.</a:t>
            </a:r>
          </a:p>
          <a:p>
            <a:pPr lvl="0" indent="0" marL="0">
              <a:buNone/>
            </a:pPr>
          </a:p>
          <a:p>
            <a:pPr lvl="0" indent="0" marL="0">
              <a:buNone/>
            </a:pPr>
            <a:r>
              <a:rPr/>
              <a:t>The moment anything from the test rows influences a decision, even something as innocent as computing a mean for scaling, the test set stops being unseen and the number it gives you is optimistic.</a:t>
            </a:r>
          </a:p>
          <a:p>
            <a:pPr lvl="0" indent="0" marL="0">
              <a:buNone/>
            </a:pPr>
          </a:p>
          <a:p>
            <a:pPr lvl="0" indent="0" marL="0">
              <a:buNone/>
            </a:pPr>
            <a:r>
              <a:rPr/>
              <a:t>Mention stratify=y: it keeps the class proportions identical in both parts, so the test set is a fair miniature of the whole. Without it, on a small or imbalanced dataset, you can get a test set whose composition differs from the training set by chance.</a:t>
            </a:r>
          </a:p>
          <a:p>
            <a:pPr lvl="0" indent="0" marL="0">
              <a:buNone/>
            </a:pPr>
          </a:p>
          <a:p>
            <a:pPr lvl="0" indent="0" marL="0">
              <a:buNone/>
            </a:pPr>
            <a:r>
              <a:rPr/>
              <a:t>They will violate this deliberately in the third notebook and see what it costs.</a:t>
            </a:r>
          </a:p>
          <a:p>
            <a:pPr lvl="0" indent="0" marL="0">
              <a:buNone/>
            </a:pPr>
          </a:p>
          <a:p>
            <a:pPr lvl="0" indent="0" marL="0">
              <a:buNone/>
            </a:pPr>
            <a:r>
              <a:rPr/>
              <a:t>The caption under the test set is the whole discipline: touched once, at the very end. Say that every additional look spends some of its independence - if you test twenty variants and report the best, you have selected on the test set and the number is no longer honest.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Without this, “96% accuracy” has no scale at all. With it, they can see whether the model is worth anything.</a:t>
            </a:r>
          </a:p>
          <a:p>
            <a:pPr lvl="0" indent="0" marL="0">
              <a:buNone/>
            </a:pPr>
          </a:p>
          <a:p>
            <a:pPr lvl="0" indent="0" marL="0">
              <a:buNone/>
            </a:pPr>
            <a:r>
              <a:rPr/>
              <a:t>DummyClassifier does this in two lines, and the exercise requires it.</a:t>
            </a:r>
          </a:p>
          <a:p>
            <a:pPr lvl="0" indent="0" marL="0">
              <a:buNone/>
            </a:pPr>
          </a:p>
          <a:p>
            <a:pPr lvl="0" indent="0" marL="0">
              <a:buNone/>
            </a:pPr>
            <a:r>
              <a:rPr/>
              <a:t>Foreshadow: on the imbalanced example later, the baseline will be unbeatable on accuracy and completely useless in practice. That is the lesson, not a curiosity - it is how you discover that accuracy is the wrong metric for your problem.</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not just what.</a:t>
            </a:r>
          </a:p>
          <a:p>
            <a:pPr lvl="0" indent="0" marL="0">
              <a:buNone/>
            </a:pPr>
          </a:p>
          <a:p>
            <a:pPr lvl="0" indent="0" marL="0">
              <a:buNone/>
            </a:pPr>
            <a:r>
              <a:rPr/>
              <a:t>StandardScaler LEARNS something - a mean and a standard deviation per feature. That makes it part of the model, not preparation of the data. Inside a pipeline it learns them from the training fold every time the pipeline is fitted, including inside each cross-validation fold in lesson 5.</a:t>
            </a:r>
          </a:p>
          <a:p>
            <a:pPr lvl="0" indent="0" marL="0">
              <a:buNone/>
            </a:pPr>
          </a:p>
          <a:p>
            <a:pPr lvl="0" indent="0" marL="0">
              <a:buNone/>
            </a:pPr>
            <a:r>
              <a:rPr/>
              <a:t>Write the two steps separately and one day you will scale using statistics computed over the whole dataset. Nothing warns you: no error, no exception, just a better number than you deserve.</a:t>
            </a:r>
          </a:p>
          <a:p>
            <a:pPr lvl="0" indent="0" marL="0">
              <a:buNone/>
            </a:pPr>
          </a:p>
          <a:p>
            <a:pPr lvl="0" indent="0" marL="0">
              <a:buNone/>
            </a:pPr>
            <a:r>
              <a:rPr/>
              <a:t>This is structure beating discipline, and it is the single most useful habit in the scikit-learn API.</a:t>
            </a:r>
          </a:p>
          <a:p>
            <a:pPr lvl="0" indent="0" marL="0">
              <a:buNone/>
            </a:pPr>
          </a:p>
          <a:p>
            <a:pPr lvl="0" indent="0" marL="0">
              <a:buNone/>
            </a:pPr>
            <a:r>
              <a:rPr/>
              <a:t>The top row is the mistake, and note where ‘split’ sits: after the scaling. The mean used to scale the training rows was computed with the test rows included. Nothing errors, nothing warns, and the score comes out slightly too good - which is the worst kind of bug, because there is nothing to debug.</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“done?” hang for a few seconds. Someone will say no.</a:t>
            </a:r>
          </a:p>
          <a:p>
            <a:pPr lvl="0" indent="0" marL="0">
              <a:buNone/>
            </a:pPr>
          </a:p>
          <a:p>
            <a:pPr lvl="0" indent="0" marL="0">
              <a:buNone/>
            </a:pPr>
            <a:r>
              <a:rPr/>
              <a:t>If nobody does, ask what 0.986 does not tell them. Then move to the confusion matrix - this is the pivot of the entire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malignant tumour classified as benign.</a:t>
            </a:r>
          </a:p>
          <a:p>
            <a:pPr lvl="0" indent="0" marL="0">
              <a:buNone/>
            </a:pPr>
          </a:p>
          <a:p>
            <a:pPr lvl="0" indent="0" marL="0">
              <a:buNone/>
            </a:pPr>
            <a:r>
              <a:rPr/>
              <a:t>As a fraction it is 1 in 143 and vanishes into the accuracy figure. As a consequence it is a person sent home who should not have been.</a:t>
            </a:r>
          </a:p>
          <a:p>
            <a:pPr lvl="0" indent="0" marL="0">
              <a:buNone/>
            </a:pPr>
          </a:p>
          <a:p>
            <a:pPr lvl="0" indent="0" marL="0">
              <a:buNone/>
            </a:pPr>
            <a:r>
              <a:rPr/>
              <a:t>Say that sentence deliberately and let it sit. It is the gap between a metric and what the metric stands for, and it is the most important idea in today’s lesson.</a:t>
            </a:r>
          </a:p>
          <a:p>
            <a:pPr lvl="0" indent="0" marL="0">
              <a:buNone/>
            </a:pPr>
          </a:p>
          <a:p>
            <a:pPr lvl="0" indent="0" marL="0">
              <a:buNone/>
            </a:pPr>
            <a:r>
              <a:rPr/>
              <a:t>Then the practical form: accuracy collapses every kind of mistake into one number, and our two mistakes are not comparable. The confusion matrix is the minimum tool for seeing them separately.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the figure to make the trade-off physical: the threshold is a line you slide, and sliding it moves errors from one column to the other.</a:t>
            </a:r>
          </a:p>
          <a:p>
            <a:pPr lvl="0" indent="0" marL="0">
              <a:buNone/>
            </a:pPr>
          </a:p>
          <a:p>
            <a:pPr lvl="0" indent="0" marL="0">
              <a:buNone/>
            </a:pPr>
            <a:r>
              <a:rPr/>
              <a:t>Push recall towards 1.0 by flagging anything suspicious, and precision collapses - the clinic drowns in unnecessary biopsies. Demand high precision and you start missing cases.</a:t>
            </a:r>
          </a:p>
          <a:p>
            <a:pPr lvl="0" indent="0" marL="0">
              <a:buNone/>
            </a:pPr>
          </a:p>
          <a:p>
            <a:pPr lvl="0" indent="0" marL="0">
              <a:buNone/>
            </a:pPr>
            <a:r>
              <a:rPr/>
              <a:t>No single number resolves this, because the resolution is not mathematical. It is a question about consequences and it belongs to the people who bear them - here, patients and clinicians, not the person who trained the model.</a:t>
            </a:r>
          </a:p>
          <a:p>
            <a:pPr lvl="0" indent="0" marL="0">
              <a:buNone/>
            </a:pPr>
          </a:p>
          <a:p>
            <a:pPr lvl="0" indent="0" marL="0">
              <a:buNone/>
            </a:pPr>
            <a:r>
              <a:rPr/>
              <a:t>Lesson 4 builds the tools properly: ROC curves, precision-recall curves, choosing an operating point. Today they need to see that the trade-off exists and that it is not the model’s decision to make.</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where each omission gets addressed: tuning and stability in lesson 5, model families in 6 and 7.</a:t>
            </a:r>
          </a:p>
          <a:p>
            <a:pPr lvl="0" indent="0" marL="0">
              <a:buNone/>
            </a:pPr>
          </a:p>
          <a:p>
            <a:pPr lvl="0" indent="0" marL="0">
              <a:buNone/>
            </a:pPr>
            <a:r>
              <a:rPr/>
              <a:t>Then land the last line, which is the point of the slide: that discipline is the reason the 0.986 is worth anything at all. Every one of the four failures we are about to see comes from breaking it in some form.</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notebook 03. Frame it before starting: none of these is a coding error. All four run exactly as written and return a number that a reviewer, a supervisor or a customer would accept.</a:t>
            </a:r>
          </a:p>
          <a:p>
            <a:pPr lvl="0" indent="0" marL="0">
              <a:buNone/>
            </a:pPr>
          </a:p>
          <a:p>
            <a:pPr lvl="0" indent="0" marL="0">
              <a:buNone/>
            </a:pPr>
            <a:r>
              <a:rPr/>
              <a:t>This is the section they should still remember in five years. Handout section 7 summarises it, and every one of the four has been found in published work and in shipped products.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before revealing anything. Make sure they understand the data is pure noise BY CONSTRUCTION - the labels come from a random number generator and no feature carries any information about them.</a:t>
            </a:r>
          </a:p>
          <a:p>
            <a:pPr lvl="0" indent="0" marL="0">
              <a:buNone/>
            </a:pPr>
          </a:p>
          <a:p>
            <a:pPr lvl="0" indent="0" marL="0">
              <a:buNone/>
            </a:pPr>
            <a:r>
              <a:rPr/>
              <a:t>Ask what accuracy they expect. The honest answer is 50%, chance.</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77% on pure noise, against 50% for the honest pipeline.</a:t>
            </a:r>
          </a:p>
          <a:p>
            <a:pPr lvl="0" indent="0" marL="0">
              <a:buNone/>
            </a:pPr>
          </a:p>
          <a:p>
            <a:pPr lvl="0" indent="0" marL="0">
              <a:buNone/>
            </a:pPr>
            <a:r>
              <a:rPr/>
              <a:t>Explain the mechanism: with 5000 random features, some correlate with the labels by chance. Selecting the best 20 using the whole dataset picks exactly those - including the ones that correlate with the labels of rows that later become the test set. The selection encoded information about the test labels, and the model inherited it.</a:t>
            </a:r>
          </a:p>
          <a:p>
            <a:pPr lvl="0" indent="0" marL="0">
              <a:buNone/>
            </a:pPr>
          </a:p>
          <a:p>
            <a:pPr lvl="0" indent="0" marL="0">
              <a:buNone/>
            </a:pPr>
            <a:r>
              <a:rPr/>
              <a:t>Nobody wrote a bug. Selection feels harmless because it fits no model - but it LEARNS from data, so it belongs inside the training fold.</a:t>
            </a:r>
          </a:p>
          <a:p>
            <a:pPr lvl="0" indent="0" marL="0">
              <a:buNone/>
            </a:pPr>
          </a:p>
          <a:p>
            <a:pPr lvl="0" indent="0" marL="0">
              <a:buNone/>
            </a:pPr>
            <a:r>
              <a:rPr/>
              <a:t>Then ask what happens with 20000 features instead of 5000. The illusion gets STRONGER, because there are more opportunities for a spurious correlation. That is the “try this” at the end of the notebook.</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practical takeaway from the whole leakage section, and the thing to put on the board if anything goes on the board today.</a:t>
            </a:r>
          </a:p>
          <a:p>
            <a:pPr lvl="0" indent="0" marL="0">
              <a:buNone/>
            </a:pPr>
          </a:p>
          <a:p>
            <a:pPr lvl="0" indent="0" marL="0">
              <a:buNone/>
            </a:pPr>
            <a:r>
              <a:rPr/>
              <a:t>Pipelines enforce it structurally, which is why we used one from the first notebook.</a:t>
            </a:r>
          </a:p>
          <a:p>
            <a:pPr lvl="0" indent="0" marL="0">
              <a:buNone/>
            </a:pPr>
          </a:p>
          <a:p>
            <a:pPr lvl="0" indent="0" marL="0">
              <a:buNone/>
            </a:pPr>
            <a:r>
              <a:rPr/>
              <a:t>Tell them the exercise checks this: scaling the full dataset before splitting caps the methodology marks regardless of the result obtained.</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trained model in the notebook reaches 0.987 accuracy - barely above the trivial one - while missing 20 of the 21 positives in the test set.</a:t>
            </a:r>
          </a:p>
          <a:p>
            <a:pPr lvl="0" indent="0" marL="0">
              <a:buNone/>
            </a:pPr>
          </a:p>
          <a:p>
            <a:pPr lvl="0" indent="0" marL="0">
              <a:buNone/>
            </a:pPr>
            <a:r>
              <a:rPr/>
              <a:t>On a problem where the positives are the entire reason the system exists.</a:t>
            </a:r>
          </a:p>
          <a:p>
            <a:pPr lvl="0" indent="0" marL="0">
              <a:buNone/>
            </a:pPr>
          </a:p>
          <a:p>
            <a:pPr lvl="0" indent="0" marL="0">
              <a:buNone/>
            </a:pPr>
            <a:r>
              <a:rPr/>
              <a:t>Accuracy is dominated by the class nobody is looking for. Ask them what metric they would report to someone deploying this, and steer towards recall on the positive class - then note that recall alone is also gameable, by flagging everything, which is why lesson 4 needs a whole session.</a:t>
            </a:r>
          </a:p>
          <a:p>
            <a:pPr lvl="0" indent="0" marL="0">
              <a:buNone/>
            </a:pPr>
          </a:p>
          <a:p>
            <a:pPr lvl="0" indent="0" marL="0">
              <a:buNone/>
            </a:pPr>
            <a:r>
              <a:rPr/>
              <a:t>Read the bottom-left cell in both matrices: 21 missed, then 20 missed. The accuracies differ by one thousandth. If you reported only accuracy, these two systems look identical - and one of them is a constant function that never looks at the input.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it is worthless: biopsies are scheduled once malignancy is already suspected, so the field is populated AFTER the diagnosis it is supposed to predict. At prediction time for a new patient it is empty.</a:t>
            </a:r>
          </a:p>
          <a:p>
            <a:pPr lvl="0" indent="0" marL="0">
              <a:buNone/>
            </a:pPr>
          </a:p>
          <a:p>
            <a:pPr lvl="0" indent="0" marL="0">
              <a:buNone/>
            </a:pPr>
            <a:r>
              <a:rPr/>
              <a:t>Then the point that makes this different from the others: no metric detects it, including cross-validated ones, because the information genuinely IS in the training data. The model is not cheating; the data is.</a:t>
            </a:r>
          </a:p>
          <a:p>
            <a:pPr lvl="0" indent="0" marL="0">
              <a:buNone/>
            </a:pPr>
          </a:p>
          <a:p>
            <a:pPr lvl="0" indent="0" marL="0">
              <a:buNone/>
            </a:pPr>
            <a:r>
              <a:rPr/>
              <a:t>Only knowing how the data was recorded catches it. Ask them to imagine a hospital extract with 200 columns and no documentation - which is the normal case - and to think about how they would find this.</a:t>
            </a:r>
          </a:p>
          <a:p>
            <a:pPr lvl="0" indent="0" marL="0">
              <a:buNone/>
            </a:pPr>
          </a:p>
          <a:p>
            <a:pPr lvl="0" indent="0" marL="0">
              <a:buNone/>
            </a:pPr>
            <a:r>
              <a:rPr/>
              <a:t>The question to carry: at the moment a prediction is needed, does this value exist yet?</a:t>
            </a:r>
          </a:p>
          <a:p>
            <a:pPr lvl="0" indent="0" marL="0">
              <a:buNone/>
            </a:pPr>
          </a:p>
          <a:p>
            <a:pPr lvl="0" indent="0" marL="0">
              <a:buNone/>
            </a:pPr>
            <a:r>
              <a:rPr/>
              <a:t>The shaded region is the trap. Everything to the right of the blue marker happens after the moment a prediction is needed, so none of it can be an input. Give them the question in the title as the thing to ask of every column in every dataset they are handed.</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model, same data, 30 different random seeds. Accuracy ranges from 0.917 to 1.000 - a spread of 0.083.</a:t>
            </a:r>
          </a:p>
          <a:p>
            <a:pPr lvl="0" indent="0" marL="0">
              <a:buNone/>
            </a:pPr>
          </a:p>
          <a:p>
            <a:pPr lvl="0" indent="0" marL="0">
              <a:buNone/>
            </a:pPr>
            <a:r>
              <a:rPr/>
              <a:t>That is larger than most claimed improvements between competing methods in published work. Let that land.</a:t>
            </a:r>
          </a:p>
          <a:p>
            <a:pPr lvl="0" indent="0" marL="0">
              <a:buNone/>
            </a:pPr>
          </a:p>
          <a:p>
            <a:pPr lvl="0" indent="0" marL="0">
              <a:buNone/>
            </a:pPr>
            <a:r>
              <a:rPr/>
              <a:t>Pick your favourite seed and you can report anything in that range, and a reader seeing one number cannot tell which you got. This is not fraud; it is the default behaviour of anyone who runs the code once.</a:t>
            </a:r>
          </a:p>
          <a:p>
            <a:pPr lvl="0" indent="0" marL="0">
              <a:buNone/>
            </a:pPr>
          </a:p>
          <a:p>
            <a:pPr lvl="0" indent="0" marL="0">
              <a:buNone/>
            </a:pPr>
            <a:r>
              <a:rPr/>
              <a:t>Cross-validation replaces the single draw with an average and - more usefully - reports the spread. On this data, 5-fold gives 0.960 ± 0.030.</a:t>
            </a:r>
          </a:p>
          <a:p>
            <a:pPr lvl="0" indent="0" marL="0">
              <a:buNone/>
            </a:pPr>
          </a:p>
          <a:p>
            <a:pPr lvl="0" indent="0" marL="0">
              <a:buNone/>
            </a:pPr>
            <a:r>
              <a:rPr/>
              <a:t>A result quoted with no indication of variability is incomplete. Lesson 5 makes this the centre of the course.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They are caught by asking questions about the data and the process, not by reading the metric.</a:t>
            </a:r>
          </a:p>
          <a:p>
            <a:pPr lvl="0" indent="0" marL="0">
              <a:buNone/>
            </a:pPr>
          </a:p>
          <a:p>
            <a:pPr lvl="0" indent="0" marL="0">
              <a:buNone/>
            </a:pPr>
            <a:r>
              <a:rPr/>
              <a:t>Give them the three questions to carry out of this room: where did this number come from, what does it leave out, and would it still hold on data I have never touched?</a:t>
            </a:r>
          </a:p>
          <a:p>
            <a:pPr lvl="0" indent="0" marL="0">
              <a:buNone/>
            </a:pPr>
          </a:p>
          <a:p>
            <a:pPr lvl="0" indent="0" marL="0">
              <a:buNone/>
            </a:pPr>
            <a:r>
              <a:rPr/>
              <a:t>Then the professional version, connecting back to the history section: the habit of distinguishing what was demonstrated from what was extrapolated is the same habit, applied to your own work instead of someone else’s.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loop with the “when not to use ML” slide. Handout section 8.</a:t>
            </a:r>
          </a:p>
          <a:p>
            <a:pPr lvl="0" indent="0" marL="0">
              <a:buNone/>
            </a:pPr>
          </a:p>
          <a:p>
            <a:pPr lvl="0" indent="0" marL="0">
              <a:buNone/>
            </a:pPr>
            <a:r>
              <a:rPr/>
              <a:t>If past decisions discriminated, a model fitted to them discriminates too - and it does so with an appearance of objectivity that makes it HARDER to contest than a human decision would be. “The algorithm decided” is a much harder claim to argue with than “the manager decided”.</a:t>
            </a:r>
          </a:p>
          <a:p>
            <a:pPr lvl="0" indent="0" marL="0">
              <a:buNone/>
            </a:pPr>
          </a:p>
          <a:p>
            <a:pPr lvl="0" indent="0" marL="0">
              <a:buNone/>
            </a:pPr>
            <a:r>
              <a:rPr/>
              <a:t>Second point: nothing in empirical risk minimisation distinguishes a cause from a coincidence that predicts well in this sample. A model can be highly accurate and completely wrong about why - which is exactly why it fails abruptly when conditions change.</a:t>
            </a:r>
          </a:p>
          <a:p>
            <a:pPr lvl="0" indent="0" marL="0">
              <a:buNone/>
            </a:pPr>
          </a:p>
          <a:p>
            <a:pPr lvl="0" indent="0" marL="0">
              <a:buNone/>
            </a:pPr>
            <a:r>
              <a:rPr/>
              <a:t>Third: whether a decision can be explained to the person affected, whether errors are recoverable, and who bears the cost of being wrong are engineering requirements. They belong in step 1, where they can still change what you build, not in a paragraph at the end of a report.</a:t>
            </a:r>
          </a:p>
          <a:p>
            <a:pPr lvl="0" indent="0" marL="0">
              <a:buNone/>
            </a:pPr>
          </a:p>
          <a:p>
            <a:pPr lvl="0" indent="0" marL="0">
              <a:buNone/>
            </a:pPr>
            <a:r>
              <a:rPr/>
              <a:t>Keep this short and serious. Do not moralise - state it and move on.</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 do not let anyone leave without knowing it exists and when it is due.</a:t>
            </a:r>
          </a:p>
          <a:p>
            <a:pPr lvl="0" indent="0" marL="0">
              <a:buNone/>
            </a:pPr>
          </a:p>
          <a:p>
            <a:pPr lvl="0" indent="0" marL="0">
              <a:buNone/>
            </a:pPr>
            <a:r>
              <a:rPr/>
              <a:t>Walk the tasks briefly. Task 1 is framing, and there is no single right answer: quality is an integer from 3 to 9, so they must decide how to treat it and defend the choice. Task 7 - repeat the split with ten seeds - connects directly to the figure they just saw.</a:t>
            </a:r>
          </a:p>
          <a:p>
            <a:pPr lvl="0" indent="0" marL="0">
              <a:buNone/>
            </a:pPr>
          </a:p>
          <a:p>
            <a:pPr lvl="0" indent="0" marL="0">
              <a:buNone/>
            </a:pPr>
            <a:r>
              <a:rPr/>
              <a:t>Remind them: scaling the full dataset before splitting loses the methodology marks regardless of the score. And there are no marks for accuracy anywhere in this course.</a:t>
            </a:r>
          </a:p>
          <a:p>
            <a:pPr lvl="0" indent="0" marL="0">
              <a:buNone/>
            </a:pPr>
          </a:p>
          <a:p>
            <a:pPr lvl="0" indent="0" marL="0">
              <a:buNone/>
            </a:pPr>
            <a:r>
              <a:rPr/>
              <a:t>Also point them at the quiz - 20 questions, ungraded, and the ones marked “reasoning” are the closest thing to the exam - and at the project brief, so they can start thinking about a dataset. Topic confirmed by lesson 4.</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time and offer to stay for setup problems - it is worth twenty minutes now to avoid three people stuck for a fortnight.</a:t>
            </a:r>
          </a:p>
          <a:p>
            <a:pPr lvl="0" indent="0" marL="0">
              <a:buNone/>
            </a:pPr>
          </a:p>
          <a:p>
            <a:pPr lvl="0" indent="0" marL="0">
              <a:buNone/>
            </a:pPr>
            <a:r>
              <a:rPr/>
              <a:t>Tell them lesson 2 goes deeper into data preparation, and that the leakage they saw today was the simple, visible version. The next one is subtler.</a:t>
            </a:r>
          </a:p>
          <a:p>
            <a:pPr lvl="0" indent="0" marL="0">
              <a:buNone/>
            </a:pPr>
          </a:p>
          <a:p>
            <a:pPr lvl="0" indent="0" marL="0">
              <a:buNone/>
            </a:pPr>
            <a:r>
              <a:rPr/>
              <a:t>If anyone asks what to read beyond the handout: Resources/history_of_ai.md for context, and the scikit-learn “common pitfalls” page, which is the library’s own account of everything in notebook 03.</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2.xml"/><Relationship Id="rId3"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 Id="rId3" Type="http://schemas.openxmlformats.org/officeDocument/2006/relationships/image" Target="../media/image14.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 Id="rId3" Type="http://schemas.openxmlformats.org/officeDocument/2006/relationships/image" Target="../media/image1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 Id="rId3" Type="http://schemas.openxmlformats.org/officeDocument/2006/relationships/image" Target="../media/image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1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 Id="rId3"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7.xml"/><Relationship Id="rId3" Type="http://schemas.openxmlformats.org/officeDocument/2006/relationships/image" Target="../media/image2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9.xml"/><Relationship Id="rId3" Type="http://schemas.openxmlformats.org/officeDocument/2006/relationships/image" Target="../media/image2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2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2.xml"/><Relationship Id="rId3" Type="http://schemas.openxmlformats.org/officeDocument/2006/relationships/image" Target="../media/image2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2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8.xml"/><Relationship Id="rId3" Type="http://schemas.openxmlformats.org/officeDocument/2006/relationships/image" Target="../media/image28.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9.xml"/><Relationship Id="rId3" Type="http://schemas.openxmlformats.org/officeDocument/2006/relationships/image" Target="../media/image2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3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1 — Introduction and the ML Workflow</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25 September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Welcome</a:t>
            </a:r>
          </a:p>
        </p:txBody>
      </p:sp>
      <p:sp>
        <p:nvSpPr>
          <p:cNvPr id="3" name="Content Placeholder 2"/>
          <p:cNvSpPr>
            <a:spLocks noGrp="1"/>
          </p:cNvSpPr>
          <p:nvPr>
            <p:ph idx="1"/>
          </p:nvPr>
        </p:nvSpPr>
        <p:spPr>
          <a:xfrm>
            <a:off x="457200" y="1200151"/>
            <a:ext cx="8229600" cy="3394472"/>
          </a:xfrm>
        </p:spPr>
        <p:txBody>
          <a:bodyPr/>
          <a:lstStyle/>
          <a:p>
            <a:pPr lvl="0"/>
            <a:r>
              <a:rPr/>
              <a:t>10 lessons, 3 hours each, every Friday until 27 November</a:t>
            </a:r>
          </a:p>
          <a:p>
            <a:pPr lvl="0"/>
            <a:r>
              <a:rPr/>
              <a:t>A first course in </a:t>
            </a:r>
            <a:r>
              <a:rPr b="1"/>
              <a:t>machine learning</a:t>
            </a:r>
            <a:r>
              <a:rPr/>
              <a:t>, for people who can already program</a:t>
            </a:r>
          </a:p>
          <a:p>
            <a:pPr lvl="0"/>
            <a:r>
              <a:rPr/>
              <a:t>Foundations, not products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will cover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0" bandRow="1">
                <a:tableStyleId>{5C22544A-7EE6-4342-B048-85BDC9FD1C3A}</a:tableStyleId>
              </a:tblPr>
              <a:tblGrid>
                <a:gridCol w="4114800"/>
                <a:gridCol w="4114800"/>
              </a:tblGrid>
              <a:tr h="0">
                <a:tc>
                  <a:txBody>
                    <a:bodyPr/>
                    <a:lstStyle/>
                    <a:p>
                      <a:pPr lvl="0" indent="0" marL="0">
                        <a:buNone/>
                      </a:pPr>
                      <a:r>
                        <a:rPr/>
                        <a:t>1–2</a:t>
                      </a:r>
                    </a:p>
                  </a:txBody>
                </a:tc>
                <a:tc>
                  <a:txBody>
                    <a:bodyPr/>
                    <a:lstStyle/>
                    <a:p>
                      <a:pPr lvl="0" indent="0" marL="0">
                        <a:buNone/>
                      </a:pPr>
                      <a:r>
                        <a:rPr/>
                        <a:t>Workflow, data preparation</a:t>
                      </a:r>
                    </a:p>
                  </a:txBody>
                </a:tc>
              </a:tr>
              <a:tr h="0">
                <a:tc>
                  <a:txBody>
                    <a:bodyPr/>
                    <a:lstStyle/>
                    <a:p>
                      <a:pPr lvl="0" indent="0" marL="0">
                        <a:buNone/>
                      </a:pPr>
                      <a:r>
                        <a:rPr/>
                        <a:t>3–4</a:t>
                      </a:r>
                    </a:p>
                  </a:txBody>
                </a:tc>
                <a:tc>
                  <a:txBody>
                    <a:bodyPr/>
                    <a:lstStyle/>
                    <a:p>
                      <a:pPr lvl="0" indent="0" marL="0">
                        <a:buNone/>
                      </a:pPr>
                      <a:r>
                        <a:rPr/>
                        <a:t>Regression, classification</a:t>
                      </a:r>
                    </a:p>
                  </a:txBody>
                </a:tc>
              </a:tr>
              <a:tr h="0">
                <a:tc>
                  <a:txBody>
                    <a:bodyPr/>
                    <a:lstStyle/>
                    <a:p>
                      <a:pPr lvl="0" indent="0" marL="0">
                        <a:buNone/>
                      </a:pPr>
                      <a:r>
                        <a:rPr b="1"/>
                        <a:t>5</a:t>
                      </a:r>
                    </a:p>
                  </a:txBody>
                </a:tc>
                <a:tc>
                  <a:txBody>
                    <a:bodyPr/>
                    <a:lstStyle/>
                    <a:p>
                      <a:pPr lvl="0" indent="0" marL="0">
                        <a:buNone/>
                      </a:pPr>
                      <a:r>
                        <a:rPr b="1"/>
                        <a:t>Experimental methodology</a:t>
                      </a:r>
                    </a:p>
                  </a:txBody>
                </a:tc>
              </a:tr>
              <a:tr h="0">
                <a:tc>
                  <a:txBody>
                    <a:bodyPr/>
                    <a:lstStyle/>
                    <a:p>
                      <a:pPr lvl="0" indent="0" marL="0">
                        <a:buNone/>
                      </a:pPr>
                      <a:r>
                        <a:rPr/>
                        <a:t>6–7</a:t>
                      </a:r>
                    </a:p>
                  </a:txBody>
                </a:tc>
                <a:tc>
                  <a:txBody>
                    <a:bodyPr/>
                    <a:lstStyle/>
                    <a:p>
                      <a:pPr lvl="0" indent="0" marL="0">
                        <a:buNone/>
                      </a:pPr>
                      <a:r>
                        <a:rPr/>
                        <a:t>k-NN, SVM, trees, ensembles</a:t>
                      </a:r>
                    </a:p>
                  </a:txBody>
                </a:tc>
              </a:tr>
              <a:tr h="0">
                <a:tc>
                  <a:txBody>
                    <a:bodyPr/>
                    <a:lstStyle/>
                    <a:p>
                      <a:pPr lvl="0" indent="0" marL="0">
                        <a:buNone/>
                      </a:pPr>
                      <a:r>
                        <a:rPr/>
                        <a:t>8</a:t>
                      </a:r>
                    </a:p>
                  </a:txBody>
                </a:tc>
                <a:tc>
                  <a:txBody>
                    <a:bodyPr/>
                    <a:lstStyle/>
                    <a:p>
                      <a:pPr lvl="0" indent="0" marL="0">
                        <a:buNone/>
                      </a:pPr>
                      <a:r>
                        <a:rPr/>
                        <a:t>Unsupervised learning</a:t>
                      </a:r>
                    </a:p>
                  </a:txBody>
                </a:tc>
              </a:tr>
              <a:tr h="0">
                <a:tc>
                  <a:txBody>
                    <a:bodyPr/>
                    <a:lstStyle/>
                    <a:p>
                      <a:pPr lvl="0" indent="0" marL="0">
                        <a:buNone/>
                      </a:pPr>
                      <a:r>
                        <a:rPr/>
                        <a:t>9–10</a:t>
                      </a:r>
                    </a:p>
                  </a:txBody>
                </a:tc>
                <a:tc>
                  <a:txBody>
                    <a:bodyPr/>
                    <a:lstStyle/>
                    <a:p>
                      <a:pPr lvl="0" indent="0" marL="0">
                        <a:buNone/>
                      </a:pPr>
                      <a:r>
                        <a:rPr/>
                        <a:t>Neural networks, CNNs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this course is not</a:t>
            </a:r>
          </a:p>
        </p:txBody>
      </p:sp>
      <p:sp>
        <p:nvSpPr>
          <p:cNvPr id="3" name="Content Placeholder 2"/>
          <p:cNvSpPr>
            <a:spLocks noGrp="1"/>
          </p:cNvSpPr>
          <p:nvPr>
            <p:ph idx="1"/>
          </p:nvPr>
        </p:nvSpPr>
        <p:spPr>
          <a:xfrm>
            <a:off x="457200" y="1200151"/>
            <a:ext cx="8229600" cy="3394472"/>
          </a:xfrm>
        </p:spPr>
        <p:txBody>
          <a:bodyPr/>
          <a:lstStyle/>
          <a:p>
            <a:pPr lvl="0"/>
            <a:r>
              <a:rPr/>
              <a:t>Not a tour of current AI products</a:t>
            </a:r>
          </a:p>
          <a:p>
            <a:pPr lvl="0"/>
            <a:r>
              <a:rPr/>
              <a:t>Not a library tutorial</a:t>
            </a:r>
          </a:p>
          <a:p>
            <a:pPr lvl="0"/>
            <a:r>
              <a:rPr/>
              <a:t>Not a course where you call </a:t>
            </a:r>
            <a:r>
              <a:rPr>
                <a:latin typeface="Courier"/>
              </a:rPr>
              <a:t>.fit()</a:t>
            </a:r>
            <a:r>
              <a:rPr/>
              <a:t> and report the number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Your advantage, and your gap</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Advantage:</a:t>
            </a:r>
            <a:r>
              <a:rPr/>
              <a:t> you can program. You will implement methods, not only call them.</a:t>
            </a:r>
          </a:p>
          <a:p>
            <a:pPr lvl="0" indent="0" marL="0">
              <a:buNone/>
            </a:pPr>
            <a:r>
              <a:rPr b="1"/>
              <a:t>Gap:</a:t>
            </a:r>
            <a:r>
              <a:rPr/>
              <a:t> you can produce results faster than you can judge them.</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you will be assessed</a:t>
            </a:r>
          </a:p>
        </p:txBody>
      </p:sp>
      <p:sp>
        <p:nvSpPr>
          <p:cNvPr id="3" name="Content Placeholder 2"/>
          <p:cNvSpPr>
            <a:spLocks noGrp="1"/>
          </p:cNvSpPr>
          <p:nvPr>
            <p:ph idx="1"/>
          </p:nvPr>
        </p:nvSpPr>
        <p:spPr>
          <a:xfrm>
            <a:off x="457200" y="1200151"/>
            <a:ext cx="8229600" cy="3394472"/>
          </a:xfrm>
        </p:spPr>
        <p:txBody>
          <a:bodyPr/>
          <a:lstStyle/>
          <a:p>
            <a:pPr lvl="0"/>
            <a:r>
              <a:rPr b="1"/>
              <a:t>Weekly exercises</a:t>
            </a:r>
            <a:r>
              <a:rPr/>
              <a:t> — set every Friday, due the next</a:t>
            </a:r>
          </a:p>
          <a:p>
            <a:pPr lvl="0"/>
            <a:r>
              <a:rPr b="1"/>
              <a:t>Final project</a:t>
            </a:r>
            <a:r>
              <a:rPr/>
              <a:t> — an end-to-end study, with peer review</a:t>
            </a:r>
          </a:p>
          <a:p>
            <a:pPr lvl="0"/>
            <a:r>
              <a:rPr b="1"/>
              <a:t>Written exam</a:t>
            </a:r>
            <a:r>
              <a:rPr/>
              <a:t> — closed book, drawn from the handouts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things you get each lesson</a:t>
            </a:r>
          </a:p>
        </p:txBody>
      </p:sp>
      <p:sp>
        <p:nvSpPr>
          <p:cNvPr id="3" name="Content Placeholder 2"/>
          <p:cNvSpPr>
            <a:spLocks noGrp="1"/>
          </p:cNvSpPr>
          <p:nvPr>
            <p:ph idx="1"/>
          </p:nvPr>
        </p:nvSpPr>
        <p:spPr>
          <a:xfrm>
            <a:off x="457200" y="1200151"/>
            <a:ext cx="8229600" cy="3394472"/>
          </a:xfrm>
        </p:spPr>
        <p:txBody>
          <a:bodyPr/>
          <a:lstStyle/>
          <a:p>
            <a:pPr lvl="0"/>
            <a:r>
              <a:rPr b="1"/>
              <a:t>Handout</a:t>
            </a:r>
            <a:r>
              <a:rPr/>
              <a:t> — the reference text, with the mathematics</a:t>
            </a:r>
          </a:p>
          <a:p>
            <a:pPr lvl="0"/>
            <a:r>
              <a:rPr b="1"/>
              <a:t>Slides</a:t>
            </a:r>
            <a:r>
              <a:rPr/>
              <a:t> — what we do in the room</a:t>
            </a:r>
          </a:p>
          <a:p>
            <a:pPr lvl="0"/>
            <a:r>
              <a:rPr b="1"/>
              <a:t>Notebooks</a:t>
            </a:r>
            <a:r>
              <a:rPr/>
              <a:t> — runnable implementations</a:t>
            </a:r>
          </a:p>
          <a:p>
            <a:pPr lvl="0" indent="0" marL="0">
              <a:buNone/>
            </a:pPr>
            <a:r>
              <a:rPr/>
              <a:t>Plus a quiz, and the exercise.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Getting the material</a:t>
            </a:r>
          </a:p>
        </p:txBody>
      </p:sp>
      <p:sp>
        <p:nvSpPr>
          <p:cNvPr id="3" name="Content Placeholder 2"/>
          <p:cNvSpPr>
            <a:spLocks noGrp="1"/>
          </p:cNvSpPr>
          <p:nvPr>
            <p:ph idx="1"/>
          </p:nvPr>
        </p:nvSpPr>
        <p:spPr>
          <a:xfrm>
            <a:off x="457200" y="1200151"/>
            <a:ext cx="8229600" cy="3394472"/>
          </a:xfrm>
        </p:spPr>
        <p:txBody>
          <a:bodyPr/>
          <a:lstStyle/>
          <a:p>
            <a:pPr lvl="0" indent="0">
              <a:buNone/>
            </a:pPr>
            <a:r>
              <a:rPr>
                <a:solidFill>
                  <a:srgbClr val="06287E"/>
                </a:solidFill>
                <a:latin typeface="Courier"/>
              </a:rPr>
              <a:t>git</a:t>
            </a:r>
            <a:r>
              <a:rPr>
                <a:latin typeface="Courier"/>
              </a:rPr>
              <a:t> clone https://github.com/fabioantonini/</a:t>
            </a:r>
            <a:r>
              <a:rPr>
                <a:solidFill>
                  <a:srgbClr val="902000"/>
                </a:solidFill>
                <a:latin typeface="Courier"/>
              </a:rPr>
              <a:t>\</a:t>
            </a:r>
            <a:br/>
            <a:r>
              <a:rPr>
                <a:latin typeface="Courier"/>
              </a:rPr>
              <a:t>technologies-for-artificial-intelligence.git</a:t>
            </a:r>
            <a:br/>
            <a:r>
              <a:rPr>
                <a:solidFill>
                  <a:srgbClr val="008000"/>
                </a:solidFill>
                <a:latin typeface="Courier"/>
              </a:rPr>
              <a:t>cd</a:t>
            </a:r>
            <a:r>
              <a:rPr>
                <a:latin typeface="Courier"/>
              </a:rPr>
              <a:t> technologies-for-artificial-intelligence</a:t>
            </a:r>
            <a:br/>
            <a:r>
              <a:rPr>
                <a:latin typeface="Courier"/>
              </a:rPr>
              <a:t>docker compose up</a:t>
            </a:r>
          </a:p>
          <a:p>
            <a:pPr lvl="0" indent="0" marL="0">
              <a:buNone/>
            </a:pPr>
            <a:r>
              <a:rPr/>
              <a:t>Then </a:t>
            </a:r>
            <a:r>
              <a:rPr>
                <a:latin typeface="Courier"/>
              </a:rPr>
              <a:t>http://127.0.0.1:8888/lab?token=aicourse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What learning from data means</a:t>
            </a:r>
          </a:p>
          <a:p>
            <a:pPr lvl="0"/>
            <a:r>
              <a:rPr/>
              <a:t>A short history, and what it teaches</a:t>
            </a:r>
          </a:p>
          <a:p>
            <a:pPr lvl="0"/>
            <a:r>
              <a:rPr/>
              <a:t>The three kinds of learning</a:t>
            </a:r>
          </a:p>
          <a:p>
            <a:pPr lvl="0"/>
            <a:r>
              <a:rPr/>
              <a:t>The end-to-end workflow</a:t>
            </a:r>
          </a:p>
          <a:p>
            <a:pPr lvl="0"/>
            <a:r>
              <a:rPr/>
              <a:t>Four ways a model misleads you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A problem you cannot specify</a:t>
            </a:r>
          </a:p>
        </p:txBody>
      </p:sp>
      <p:sp>
        <p:nvSpPr>
          <p:cNvPr id="4" name="Text Placeholder 3"/>
          <p:cNvSpPr>
            <a:spLocks noGrp="1"/>
          </p:cNvSpPr>
          <p:nvPr>
            <p:ph idx="2" sz="half" type="body"/>
          </p:nvPr>
        </p:nvSpPr>
        <p:spPr>
          <a:xfrm>
            <a:off x="457200" y="1183005"/>
            <a:ext cx="8229600" cy="2185987"/>
          </a:xfrm>
        </p:spPr>
        <p:txBody>
          <a:bodyPr/>
          <a:lstStyle/>
          <a:p>
            <a:pPr lvl="0" indent="0" marL="0">
              <a:buNone/>
            </a:pPr>
            <a:r>
              <a:rPr/>
              <a:t>Write a program that decides whether an email is spam.</a:t>
            </a:r>
          </a:p>
          <a:p>
            <a:pPr lvl="0"/>
            <a:r>
              <a:rPr/>
              <a:t>Filter certain words? Spam adapts.</a:t>
            </a:r>
          </a:p>
          <a:p>
            <a:pPr lvl="0"/>
            <a:r>
              <a:rPr/>
              <a:t>Filter certain senders? They change.</a:t>
            </a:r>
          </a:p>
          <a:p>
            <a:pPr lvl="0"/>
            <a:r>
              <a:rPr/>
              <a:t>The exceptions grow until nobody can maintain it</a:t>
            </a:r>
          </a:p>
        </p:txBody>
      </p:sp>
      <p:pic>
        <p:nvPicPr>
          <p:cNvPr descr="spam_rules.png" id="0" name="Picture 1"/>
          <p:cNvPicPr>
            <a:picLocks noGrp="1" noChangeAspect="1"/>
          </p:cNvPicPr>
          <p:nvPr/>
        </p:nvPicPr>
        <p:blipFill>
          <a:blip r:embed="rId3"/>
          <a:stretch>
            <a:fillRect/>
          </a:stretch>
        </p:blipFill>
        <p:spPr bwMode="auto">
          <a:xfrm>
            <a:off x="3130245" y="3471862"/>
            <a:ext cx="2883510" cy="1054418"/>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inversion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You cannot state the rule. But you can </a:t>
            </a:r>
            <a:r>
              <a:rPr b="1"/>
              <a:t>recognise</a:t>
            </a:r>
            <a:r>
              <a:rPr/>
              <a:t> the answer.</a:t>
            </a:r>
          </a:p>
        </p:txBody>
      </p:sp>
      <p:pic>
        <p:nvPicPr>
          <p:cNvPr descr="rules_versus_learning.png" id="0" name="Picture 1"/>
          <p:cNvPicPr>
            <a:picLocks noGrp="1" noChangeAspect="1"/>
          </p:cNvPicPr>
          <p:nvPr/>
        </p:nvPicPr>
        <p:blipFill>
          <a:blip r:embed="rId3"/>
          <a:stretch>
            <a:fillRect/>
          </a:stretch>
        </p:blipFill>
        <p:spPr bwMode="auto">
          <a:xfrm>
            <a:off x="1422543" y="2160270"/>
            <a:ext cx="6298914" cy="236601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Making it precise</a:t>
            </a:r>
          </a:p>
        </p:txBody>
      </p:sp>
      <p:sp>
        <p:nvSpPr>
          <p:cNvPr id="4" name="Text Placeholder 3"/>
          <p:cNvSpPr>
            <a:spLocks noGrp="1"/>
          </p:cNvSpPr>
          <p:nvPr>
            <p:ph idx="2" sz="half" type="body"/>
          </p:nvPr>
        </p:nvSpPr>
        <p:spPr>
          <a:xfrm>
            <a:off x="457200" y="1183005"/>
            <a:ext cx="8229600" cy="2185987"/>
          </a:xfrm>
        </p:spPr>
        <p:txBody>
          <a:bodyPr/>
          <a:lstStyle/>
          <a:p>
            <a:pPr lvl="0"/>
            <a:r>
              <a:rPr/>
              <a:t>Inputs from a space </a:t>
            </a:r>
            <a:r>
              <a:rPr>
                <a:latin typeface="Courier"/>
              </a:rPr>
              <a:t>X</a:t>
            </a:r>
            <a:r>
              <a:rPr/>
              <a:t>, outputs from a space </a:t>
            </a:r>
            <a:r>
              <a:rPr>
                <a:latin typeface="Courier"/>
              </a:rPr>
              <a:t>Y</a:t>
            </a:r>
          </a:p>
          <a:p>
            <a:pPr lvl="0"/>
            <a:r>
              <a:rPr/>
              <a:t>Pairs (x, y) drawn from an unknown distribution </a:t>
            </a:r>
            <a:r>
              <a:rPr>
                <a:latin typeface="Courier"/>
              </a:rPr>
              <a:t>D</a:t>
            </a:r>
          </a:p>
          <a:p>
            <a:pPr lvl="0"/>
            <a:r>
              <a:rPr/>
              <a:t>A loss </a:t>
            </a:r>
            <a:r>
              <a:rPr>
                <a:latin typeface="Courier"/>
              </a:rPr>
              <a:t>L(ŷ, y)</a:t>
            </a:r>
            <a:r>
              <a:rPr/>
              <a:t>: the cost of answering ŷ when the truth is y</a:t>
            </a:r>
          </a:p>
          <a:p>
            <a:pPr lvl="0"/>
            <a:r>
              <a:rPr/>
              <a:t>Goal: find f: X → Y that predicts well</a:t>
            </a:r>
          </a:p>
        </p:txBody>
      </p:sp>
      <p:pic>
        <p:nvPicPr>
          <p:cNvPr descr="learning_setup.png" id="0" name="Picture 1"/>
          <p:cNvPicPr>
            <a:picLocks noGrp="1" noChangeAspect="1"/>
          </p:cNvPicPr>
          <p:nvPr/>
        </p:nvPicPr>
        <p:blipFill>
          <a:blip r:embed="rId3"/>
          <a:stretch>
            <a:fillRect/>
          </a:stretch>
        </p:blipFill>
        <p:spPr bwMode="auto">
          <a:xfrm>
            <a:off x="2978481" y="3471862"/>
            <a:ext cx="3187037" cy="1054418"/>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actually want</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The average loss over all data the world might produce — including data that does not exist yet:</a:t>
            </a:r>
          </a:p>
        </p:txBody>
      </p:sp>
      <p:pic>
        <p:nvPicPr>
          <p:cNvPr descr="eq_7b8475c907.png" id="0" name="Picture 1"/>
          <p:cNvPicPr>
            <a:picLocks noGrp="1" noChangeAspect="1"/>
          </p:cNvPicPr>
          <p:nvPr/>
        </p:nvPicPr>
        <p:blipFill>
          <a:blip r:embed="rId3"/>
          <a:stretch>
            <a:fillRect/>
          </a:stretch>
        </p:blipFill>
        <p:spPr bwMode="auto">
          <a:xfrm>
            <a:off x="457202" y="2872427"/>
            <a:ext cx="8229595" cy="941695"/>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we can actually compute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Average loss over the finite sample we happen to hold:</a:t>
            </a:r>
          </a:p>
        </p:txBody>
      </p:sp>
      <p:pic>
        <p:nvPicPr>
          <p:cNvPr descr="eq_117b158e76.png" id="0" name="Picture 1"/>
          <p:cNvPicPr>
            <a:picLocks noGrp="1" noChangeAspect="1"/>
          </p:cNvPicPr>
          <p:nvPr/>
        </p:nvPicPr>
        <p:blipFill>
          <a:blip r:embed="rId3"/>
          <a:stretch>
            <a:fillRect/>
          </a:stretch>
        </p:blipFill>
        <p:spPr bwMode="auto">
          <a:xfrm>
            <a:off x="457200" y="2207099"/>
            <a:ext cx="8229599" cy="2272352"/>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The gap that explains everything</a:t>
            </a:r>
          </a:p>
        </p:txBody>
      </p:sp>
      <p:sp>
        <p:nvSpPr>
          <p:cNvPr id="4" name="Text Placeholder 3"/>
          <p:cNvSpPr>
            <a:spLocks noGrp="1"/>
          </p:cNvSpPr>
          <p:nvPr>
            <p:ph idx="2" sz="half" type="body"/>
          </p:nvPr>
        </p:nvSpPr>
        <p:spPr>
          <a:xfrm>
            <a:off x="457200" y="1183005"/>
            <a:ext cx="8229600" cy="874395"/>
          </a:xfrm>
        </p:spPr>
        <p:txBody>
          <a:bodyPr/>
          <a:lstStyle/>
          <a:p>
            <a:pPr lvl="0"/>
            <a:r>
              <a:rPr/>
              <a:t>We </a:t>
            </a:r>
            <a:r>
              <a:rPr b="1"/>
              <a:t>minimise</a:t>
            </a:r>
            <a:r>
              <a:rPr/>
              <a:t> the empirical risk</a:t>
            </a:r>
          </a:p>
          <a:p>
            <a:pPr lvl="0"/>
            <a:r>
              <a:rPr/>
              <a:t>We </a:t>
            </a:r>
            <a:r>
              <a:rPr b="1"/>
              <a:t>care about</a:t>
            </a:r>
            <a:r>
              <a:rPr/>
              <a:t> the expected risk</a:t>
            </a:r>
          </a:p>
        </p:txBody>
      </p:sp>
      <p:pic>
        <p:nvPicPr>
          <p:cNvPr descr="risk_gap.png" id="0" name="Picture 1"/>
          <p:cNvPicPr>
            <a:picLocks noGrp="1" noChangeAspect="1"/>
          </p:cNvPicPr>
          <p:nvPr/>
        </p:nvPicPr>
        <p:blipFill>
          <a:blip r:embed="rId3"/>
          <a:stretch>
            <a:fillRect/>
          </a:stretch>
        </p:blipFill>
        <p:spPr bwMode="auto">
          <a:xfrm>
            <a:off x="2458364" y="2160270"/>
            <a:ext cx="4227271" cy="236601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idea, on real data</a:t>
            </a:r>
          </a:p>
        </p:txBody>
      </p:sp>
      <p:pic>
        <p:nvPicPr>
          <p:cNvPr descr="overfitting.png" id="0" name="Picture 1"/>
          <p:cNvPicPr>
            <a:picLocks noGrp="1" noChangeAspect="1"/>
          </p:cNvPicPr>
          <p:nvPr/>
        </p:nvPicPr>
        <p:blipFill>
          <a:blip r:embed="rId3"/>
          <a:stretch>
            <a:fillRect/>
          </a:stretch>
        </p:blipFill>
        <p:spPr bwMode="auto">
          <a:xfrm>
            <a:off x="457200" y="1677789"/>
            <a:ext cx="8229600" cy="23368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gives us the one rule for today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Hold out part of the data. Never let the fitting procedure touch it. Measure there.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a:t>
            </a:r>
            <a:r>
              <a:rPr i="1"/>
              <a:t>not</a:t>
            </a:r>
            <a:r>
              <a:rPr/>
              <a:t> to use machine learning</a:t>
            </a:r>
          </a:p>
        </p:txBody>
      </p:sp>
      <p:sp>
        <p:nvSpPr>
          <p:cNvPr id="3" name="Content Placeholder 2"/>
          <p:cNvSpPr>
            <a:spLocks noGrp="1"/>
          </p:cNvSpPr>
          <p:nvPr>
            <p:ph idx="1"/>
          </p:nvPr>
        </p:nvSpPr>
        <p:spPr>
          <a:xfrm>
            <a:off x="457200" y="1200151"/>
            <a:ext cx="8229600" cy="3394472"/>
          </a:xfrm>
        </p:spPr>
        <p:txBody>
          <a:bodyPr/>
          <a:lstStyle/>
          <a:p>
            <a:pPr lvl="0"/>
            <a:r>
              <a:rPr/>
              <a:t>The rule is </a:t>
            </a:r>
            <a:r>
              <a:rPr b="1"/>
              <a:t>known</a:t>
            </a:r>
            <a:r>
              <a:rPr/>
              <a:t> — write it</a:t>
            </a:r>
          </a:p>
          <a:p>
            <a:pPr lvl="0"/>
            <a:r>
              <a:rPr/>
              <a:t>The data is </a:t>
            </a:r>
            <a:r>
              <a:rPr b="1"/>
              <a:t>not representative</a:t>
            </a:r>
            <a:r>
              <a:rPr/>
              <a:t> of deployment</a:t>
            </a:r>
          </a:p>
          <a:p>
            <a:pPr lvl="0"/>
            <a:r>
              <a:rPr/>
              <a:t>Errors are </a:t>
            </a:r>
            <a:r>
              <a:rPr b="1"/>
              <a:t>catastrophic and unexplainable</a:t>
            </a:r>
          </a:p>
          <a:p>
            <a:pPr lvl="0"/>
            <a:r>
              <a:rPr/>
              <a:t>The data encodes an </a:t>
            </a:r>
            <a:r>
              <a:rPr b="1"/>
              <a:t>injustice</a:t>
            </a:r>
            <a:r>
              <a:rPr/>
              <a:t> you would automate</a:t>
            </a:r>
          </a:p>
          <a:p>
            <a:pPr lvl="0"/>
            <a:r>
              <a:rPr/>
              <a:t>A </a:t>
            </a:r>
            <a:r>
              <a:rPr b="1"/>
              <a:t>simple baseline</a:t>
            </a:r>
            <a:r>
              <a:rPr/>
              <a:t> already suffices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Seventy years in one picture</a:t>
            </a:r>
          </a:p>
        </p:txBody>
      </p:sp>
      <p:pic>
        <p:nvPicPr>
          <p:cNvPr descr="ai_timeline.png" id="0" name="Picture 1"/>
          <p:cNvPicPr>
            <a:picLocks noGrp="1" noChangeAspect="1"/>
          </p:cNvPicPr>
          <p:nvPr/>
        </p:nvPicPr>
        <p:blipFill>
          <a:blip r:embed="rId3"/>
          <a:stretch>
            <a:fillRect/>
          </a:stretch>
        </p:blipFill>
        <p:spPr bwMode="auto">
          <a:xfrm>
            <a:off x="457200" y="1734939"/>
            <a:ext cx="8229600" cy="22225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1943 — the first artificial neuron</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neuron as a threshold unit: it fires when the weighted sum passes θ.</a:t>
            </a:r>
          </a:p>
        </p:txBody>
      </p:sp>
      <p:pic>
        <p:nvPicPr>
          <p:cNvPr descr="hist_1943_neuron.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1950 — Turing’s imitation game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“Can machines think?” — replaced by something observable.</a:t>
            </a:r>
          </a:p>
        </p:txBody>
      </p:sp>
      <p:pic>
        <p:nvPicPr>
          <p:cNvPr descr="hist_1950_imitation.png" id="0" name="Picture 1"/>
          <p:cNvPicPr>
            <a:picLocks noGrp="1" noChangeAspect="1"/>
          </p:cNvPicPr>
          <p:nvPr/>
        </p:nvPicPr>
        <p:blipFill>
          <a:blip r:embed="rId3"/>
          <a:stretch>
            <a:fillRect/>
          </a:stretch>
        </p:blipFill>
        <p:spPr bwMode="auto">
          <a:xfrm>
            <a:off x="1483896" y="2160270"/>
            <a:ext cx="6176207" cy="236601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1956 — Dartmouth</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term </a:t>
            </a:r>
            <a:r>
              <a:rPr i="1"/>
              <a:t>artificial intelligence</a:t>
            </a:r>
            <a:r>
              <a:rPr/>
              <a:t> is coined.</a:t>
            </a:r>
          </a:p>
        </p:txBody>
      </p:sp>
      <p:pic>
        <p:nvPicPr>
          <p:cNvPr descr="hist_1956_dartmouth.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1957 — the perceptron learns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Rosenblatt: weights adjusted </a:t>
            </a:r>
            <a:r>
              <a:rPr b="1"/>
              <a:t>from examples</a:t>
            </a:r>
            <a:r>
              <a:rPr/>
              <a:t>, not set by hand.</a:t>
            </a:r>
          </a:p>
        </p:txBody>
      </p:sp>
      <p:pic>
        <p:nvPicPr>
          <p:cNvPr descr="hist_1957_perceptron.png" id="0" name="Picture 1"/>
          <p:cNvPicPr>
            <a:picLocks noGrp="1" noChangeAspect="1"/>
          </p:cNvPicPr>
          <p:nvPr/>
        </p:nvPicPr>
        <p:blipFill>
          <a:blip r:embed="rId3"/>
          <a:stretch>
            <a:fillRect/>
          </a:stretch>
        </p:blipFill>
        <p:spPr bwMode="auto">
          <a:xfrm>
            <a:off x="2646623" y="2160270"/>
            <a:ext cx="3850753" cy="236601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1969 — the first winter</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 single-layer perceptron cannot represent XOR.</a:t>
            </a:r>
          </a:p>
        </p:txBody>
      </p:sp>
      <p:pic>
        <p:nvPicPr>
          <p:cNvPr descr="hist_1969_xor.png" id="0" name="Picture 1"/>
          <p:cNvPicPr>
            <a:picLocks noGrp="1" noChangeAspect="1"/>
          </p:cNvPicPr>
          <p:nvPr/>
        </p:nvPicPr>
        <p:blipFill>
          <a:blip r:embed="rId3"/>
          <a:stretch>
            <a:fillRect/>
          </a:stretch>
        </p:blipFill>
        <p:spPr bwMode="auto">
          <a:xfrm>
            <a:off x="1277001" y="1723072"/>
            <a:ext cx="6589997" cy="2803208"/>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1986 — backpropagation</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An efficient way to train multi-layer networks.</a:t>
            </a:r>
          </a:p>
        </p:txBody>
      </p:sp>
      <p:pic>
        <p:nvPicPr>
          <p:cNvPr descr="hist_1986_backprop.png" id="0" name="Picture 1"/>
          <p:cNvPicPr>
            <a:picLocks noGrp="1" noChangeAspect="1"/>
          </p:cNvPicPr>
          <p:nvPr/>
        </p:nvPicPr>
        <p:blipFill>
          <a:blip r:embed="rId3"/>
          <a:stretch>
            <a:fillRect/>
          </a:stretch>
        </p:blipFill>
        <p:spPr bwMode="auto">
          <a:xfrm>
            <a:off x="960174" y="1723072"/>
            <a:ext cx="7223651" cy="2803208"/>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1995–2010 — statistics takes over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From “simulating intelligence” to “estimating functions from data”.</a:t>
            </a:r>
          </a:p>
        </p:txBody>
      </p:sp>
      <p:pic>
        <p:nvPicPr>
          <p:cNvPr descr="hist_1995_svm.png" id="0" name="Picture 1"/>
          <p:cNvPicPr>
            <a:picLocks noGrp="1" noChangeAspect="1"/>
          </p:cNvPicPr>
          <p:nvPr/>
        </p:nvPicPr>
        <p:blipFill>
          <a:blip r:embed="rId3"/>
          <a:stretch>
            <a:fillRect/>
          </a:stretch>
        </p:blipFill>
        <p:spPr bwMode="auto">
          <a:xfrm>
            <a:off x="2646623" y="2160270"/>
            <a:ext cx="3850753" cy="236601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2012 — AlexNet</a:t>
            </a:r>
          </a:p>
        </p:txBody>
      </p:sp>
      <p:sp>
        <p:nvSpPr>
          <p:cNvPr id="4" name="Text Placeholder 3"/>
          <p:cNvSpPr>
            <a:spLocks noGrp="1"/>
          </p:cNvSpPr>
          <p:nvPr>
            <p:ph idx="2" sz="half" type="body"/>
          </p:nvPr>
        </p:nvSpPr>
        <p:spPr>
          <a:xfrm>
            <a:off x="457200" y="1183005"/>
            <a:ext cx="8229600" cy="437197"/>
          </a:xfrm>
        </p:spPr>
        <p:txBody>
          <a:bodyPr/>
          <a:lstStyle/>
          <a:p>
            <a:pPr lvl="0" indent="0" marL="0">
              <a:buNone/>
            </a:pPr>
            <a:r>
              <a:rPr/>
              <a:t>The architecture was recognisably LeNet, from 1989.</a:t>
            </a:r>
          </a:p>
        </p:txBody>
      </p:sp>
      <p:pic>
        <p:nvPicPr>
          <p:cNvPr descr="hist_2012_imagenet.png" id="0" name="Picture 1"/>
          <p:cNvPicPr>
            <a:picLocks noGrp="1" noChangeAspect="1"/>
          </p:cNvPicPr>
          <p:nvPr/>
        </p:nvPicPr>
        <p:blipFill>
          <a:blip r:embed="rId3"/>
          <a:stretch>
            <a:fillRect/>
          </a:stretch>
        </p:blipFill>
        <p:spPr bwMode="auto">
          <a:xfrm>
            <a:off x="1652597" y="1723072"/>
            <a:ext cx="5838806" cy="2803208"/>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pattern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Advance</a:t>
                      </a:r>
                    </a:p>
                  </a:txBody>
                  <a:tcPr/>
                </a:tc>
                <a:tc>
                  <a:txBody>
                    <a:bodyPr/>
                    <a:lstStyle/>
                    <a:p>
                      <a:pPr lvl="0" indent="0" marL="0">
                        <a:buNone/>
                      </a:pPr>
                      <a:r>
                        <a:rPr/>
                        <a:t>Overclaim</a:t>
                      </a:r>
                    </a:p>
                  </a:txBody>
                  <a:tcPr/>
                </a:tc>
                <a:tc>
                  <a:txBody>
                    <a:bodyPr/>
                    <a:lstStyle/>
                    <a:p>
                      <a:pPr lvl="0" indent="0" marL="0">
                        <a:buNone/>
                      </a:pPr>
                      <a:r>
                        <a:rPr/>
                        <a:t>Correction</a:t>
                      </a:r>
                    </a:p>
                  </a:txBody>
                  <a:tcPr/>
                </a:tc>
              </a:tr>
              <a:tr h="0">
                <a:tc>
                  <a:txBody>
                    <a:bodyPr/>
                    <a:lstStyle/>
                    <a:p>
                      <a:pPr lvl="0" indent="0" marL="0">
                        <a:buNone/>
                      </a:pPr>
                      <a:r>
                        <a:rPr/>
                        <a:t>Perceptron learns</a:t>
                      </a:r>
                    </a:p>
                  </a:txBody>
                </a:tc>
                <a:tc>
                  <a:txBody>
                    <a:bodyPr/>
                    <a:lstStyle/>
                    <a:p>
                      <a:pPr lvl="0" indent="0" marL="0">
                        <a:buNone/>
                      </a:pPr>
                      <a:r>
                        <a:rPr/>
                        <a:t>Machines that walk and talk</a:t>
                      </a:r>
                    </a:p>
                  </a:txBody>
                </a:tc>
                <a:tc>
                  <a:txBody>
                    <a:bodyPr/>
                    <a:lstStyle/>
                    <a:p>
                      <a:pPr lvl="0" indent="0" marL="0">
                        <a:buNone/>
                      </a:pPr>
                      <a:r>
                        <a:rPr/>
                        <a:t>XOR, first winter</a:t>
                      </a:r>
                    </a:p>
                  </a:txBody>
                </a:tc>
              </a:tr>
              <a:tr h="0">
                <a:tc>
                  <a:txBody>
                    <a:bodyPr/>
                    <a:lstStyle/>
                    <a:p>
                      <a:pPr lvl="0" indent="0" marL="0">
                        <a:buNone/>
                      </a:pPr>
                      <a:r>
                        <a:rPr/>
                        <a:t>Backprop trains depth</a:t>
                      </a:r>
                    </a:p>
                  </a:txBody>
                </a:tc>
                <a:tc>
                  <a:txBody>
                    <a:bodyPr/>
                    <a:lstStyle/>
                    <a:p>
                      <a:pPr lvl="0" indent="0" marL="0">
                        <a:buNone/>
                      </a:pPr>
                      <a:r>
                        <a:rPr/>
                        <a:t>Networks solve everything</a:t>
                      </a:r>
                    </a:p>
                  </a:txBody>
                </a:tc>
                <a:tc>
                  <a:txBody>
                    <a:bodyPr/>
                    <a:lstStyle/>
                    <a:p>
                      <a:pPr lvl="0" indent="0" marL="0">
                        <a:buNone/>
                      </a:pPr>
                      <a:r>
                        <a:rPr/>
                        <a:t>No data, second winter</a:t>
                      </a:r>
                    </a:p>
                  </a:txBody>
                </a:tc>
              </a:tr>
              <a:tr h="0">
                <a:tc>
                  <a:txBody>
                    <a:bodyPr/>
                    <a:lstStyle/>
                    <a:p>
                      <a:pPr lvl="0" indent="0" marL="0">
                        <a:buNone/>
                      </a:pPr>
                      <a:r>
                        <a:rPr/>
                        <a:t>Scale delivers</a:t>
                      </a:r>
                    </a:p>
                  </a:txBody>
                </a:tc>
                <a:tc>
                  <a:txBody>
                    <a:bodyPr/>
                    <a:lstStyle/>
                    <a:p>
                      <a:pPr lvl="0" indent="0" marL="0">
                        <a:buNone/>
                      </a:pPr>
                      <a:r>
                        <a:rPr/>
                        <a:t>?</a:t>
                      </a:r>
                    </a:p>
                  </a:txBody>
                </a:tc>
                <a:tc>
                  <a:txBody>
                    <a:bodyPr/>
                    <a:lstStyle/>
                    <a:p>
                      <a:pPr lvl="0" indent="0" marL="0">
                        <a:buNone/>
                      </a:pPr>
                      <a:r>
                        <a:rPr/>
                        <a:t>?</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kinds of learning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taxonomy divides by </a:t>
            </a:r>
            <a:r>
              <a:rPr b="1"/>
              <a:t>where the target comes from</a:t>
            </a:r>
            <a:r>
              <a:rPr/>
              <a:t> — not by algorithm.</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example carries a label a person produced.</a:t>
            </a:r>
          </a:p>
          <a:p>
            <a:pPr lvl="0"/>
            <a:r>
              <a:rPr/>
              <a:t>Category → </a:t>
            </a:r>
            <a:r>
              <a:rPr b="1"/>
              <a:t>classification</a:t>
            </a:r>
          </a:p>
          <a:p>
            <a:pPr lvl="0"/>
            <a:r>
              <a:rPr/>
              <a:t>Continuous → </a:t>
            </a:r>
            <a:r>
              <a:rPr b="1"/>
              <a:t>regression</a:t>
            </a:r>
          </a:p>
          <a:p>
            <a:pPr lvl="0"/>
            <a:r>
              <a:rPr/>
              <a:t>You can check answers against truth</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Unsupervised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 targets at all. Find structure.</a:t>
            </a:r>
          </a:p>
          <a:p>
            <a:pPr lvl="0"/>
            <a:r>
              <a:rPr/>
              <a:t>Groups → clustering</a:t>
            </a:r>
          </a:p>
          <a:p>
            <a:pPr lvl="0"/>
            <a:r>
              <a:rPr/>
              <a:t>Fewer dimensions → dimensionality reduction</a:t>
            </a:r>
          </a:p>
          <a:p>
            <a:pPr lvl="0"/>
            <a:r>
              <a:rPr/>
              <a:t>Odd points → anomaly detection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Self-supervised</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Hide part of the input. Predict it from the rest.</a:t>
            </a:r>
          </a:p>
          <a:p>
            <a:pPr lvl="0" indent="0" marL="0">
              <a:buNone/>
            </a:pPr>
            <a:r>
              <a:rPr/>
              <a:t>Nobody annotates anything — and the supervision is real.</a:t>
            </a:r>
          </a:p>
        </p:txBody>
      </p:sp>
      <p:pic>
        <p:nvPicPr>
          <p:cNvPr descr="self_supervision.png" id="0" name="Picture 1"/>
          <p:cNvPicPr>
            <a:picLocks noGrp="1" noChangeAspect="1"/>
          </p:cNvPicPr>
          <p:nvPr/>
        </p:nvPicPr>
        <p:blipFill>
          <a:blip r:embed="rId3"/>
          <a:stretch>
            <a:fillRect/>
          </a:stretch>
        </p:blipFill>
        <p:spPr bwMode="auto">
          <a:xfrm>
            <a:off x="1657027" y="2597467"/>
            <a:ext cx="5829946" cy="1928813"/>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three questions</a:t>
            </a:r>
          </a:p>
        </p:txBody>
      </p:sp>
      <p:pic>
        <p:nvPicPr>
          <p:cNvPr descr="kinds_of_learning.png" id="0" name="Picture 1"/>
          <p:cNvPicPr>
            <a:picLocks noGrp="1" noChangeAspect="1"/>
          </p:cNvPicPr>
          <p:nvPr/>
        </p:nvPicPr>
        <p:blipFill>
          <a:blip r:embed="rId3"/>
          <a:stretch>
            <a:fillRect/>
          </a:stretch>
        </p:blipFill>
        <p:spPr bwMode="auto">
          <a:xfrm>
            <a:off x="457200" y="1582539"/>
            <a:ext cx="8229600" cy="25273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target comes from</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endParaRPr/>
                    </a:p>
                  </a:txBody>
                  <a:tcPr/>
                </a:tc>
                <a:tc>
                  <a:txBody>
                    <a:bodyPr/>
                    <a:lstStyle/>
                    <a:p>
                      <a:pPr lvl="0" indent="0" marL="0">
                        <a:buNone/>
                      </a:pPr>
                      <a:r>
                        <a:rPr/>
                        <a:t>Target</a:t>
                      </a:r>
                    </a:p>
                  </a:txBody>
                  <a:tcPr/>
                </a:tc>
                <a:tc>
                  <a:txBody>
                    <a:bodyPr/>
                    <a:lstStyle/>
                    <a:p>
                      <a:pPr lvl="0" indent="0" marL="0">
                        <a:buNone/>
                      </a:pPr>
                      <a:r>
                        <a:rPr/>
                        <a:t>Cost</a:t>
                      </a:r>
                    </a:p>
                  </a:txBody>
                  <a:tcPr/>
                </a:tc>
                <a:tc>
                  <a:txBody>
                    <a:bodyPr/>
                    <a:lstStyle/>
                    <a:p>
                      <a:pPr lvl="0" indent="0" marL="0">
                        <a:buNone/>
                      </a:pPr>
                      <a:r>
                        <a:rPr/>
                        <a:t>Measurable?</a:t>
                      </a:r>
                    </a:p>
                  </a:txBody>
                  <a:tcPr/>
                </a:tc>
              </a:tr>
              <a:tr h="0">
                <a:tc>
                  <a:txBody>
                    <a:bodyPr/>
                    <a:lstStyle/>
                    <a:p>
                      <a:pPr lvl="0" indent="0" marL="0">
                        <a:buNone/>
                      </a:pPr>
                      <a:r>
                        <a:rPr/>
                        <a:t>Supervised</a:t>
                      </a:r>
                    </a:p>
                  </a:txBody>
                </a:tc>
                <a:tc>
                  <a:txBody>
                    <a:bodyPr/>
                    <a:lstStyle/>
                    <a:p>
                      <a:pPr lvl="0" indent="0" marL="0">
                        <a:buNone/>
                      </a:pPr>
                      <a:r>
                        <a:rPr/>
                        <a:t>A person</a:t>
                      </a:r>
                    </a:p>
                  </a:txBody>
                </a:tc>
                <a:tc>
                  <a:txBody>
                    <a:bodyPr/>
                    <a:lstStyle/>
                    <a:p>
                      <a:pPr lvl="0" indent="0" marL="0">
                        <a:buNone/>
                      </a:pPr>
                      <a:r>
                        <a:rPr/>
                        <a:t>Expensive</a:t>
                      </a:r>
                    </a:p>
                  </a:txBody>
                </a:tc>
                <a:tc>
                  <a:txBody>
                    <a:bodyPr/>
                    <a:lstStyle/>
                    <a:p>
                      <a:pPr lvl="0" indent="0" marL="0">
                        <a:buNone/>
                      </a:pPr>
                      <a:r>
                        <a:rPr/>
                        <a:t>Yes</a:t>
                      </a:r>
                    </a:p>
                  </a:txBody>
                </a:tc>
              </a:tr>
              <a:tr h="0">
                <a:tc>
                  <a:txBody>
                    <a:bodyPr/>
                    <a:lstStyle/>
                    <a:p>
                      <a:pPr lvl="0" indent="0" marL="0">
                        <a:buNone/>
                      </a:pPr>
                      <a:r>
                        <a:rPr/>
                        <a:t>Unsupervised</a:t>
                      </a:r>
                    </a:p>
                  </a:txBody>
                </a:tc>
                <a:tc>
                  <a:txBody>
                    <a:bodyPr/>
                    <a:lstStyle/>
                    <a:p>
                      <a:pPr lvl="0" indent="0" marL="0">
                        <a:buNone/>
                      </a:pPr>
                      <a:r>
                        <a:rPr/>
                        <a:t>None</a:t>
                      </a:r>
                    </a:p>
                  </a:txBody>
                </a:tc>
                <a:tc>
                  <a:txBody>
                    <a:bodyPr/>
                    <a:lstStyle/>
                    <a:p>
                      <a:pPr lvl="0" indent="0" marL="0">
                        <a:buNone/>
                      </a:pPr>
                      <a:r>
                        <a:rPr/>
                        <a:t>Free</a:t>
                      </a:r>
                    </a:p>
                  </a:txBody>
                </a:tc>
                <a:tc>
                  <a:txBody>
                    <a:bodyPr/>
                    <a:lstStyle/>
                    <a:p>
                      <a:pPr lvl="0" indent="0" marL="0">
                        <a:buNone/>
                      </a:pPr>
                      <a:r>
                        <a:rPr/>
                        <a:t>Not directly</a:t>
                      </a:r>
                    </a:p>
                  </a:txBody>
                </a:tc>
              </a:tr>
              <a:tr h="0">
                <a:tc>
                  <a:txBody>
                    <a:bodyPr/>
                    <a:lstStyle/>
                    <a:p>
                      <a:pPr lvl="0" indent="0" marL="0">
                        <a:buNone/>
                      </a:pPr>
                      <a:r>
                        <a:rPr/>
                        <a:t>Self-supervised</a:t>
                      </a:r>
                    </a:p>
                  </a:txBody>
                </a:tc>
                <a:tc>
                  <a:txBody>
                    <a:bodyPr/>
                    <a:lstStyle/>
                    <a:p>
                      <a:pPr lvl="0" indent="0" marL="0">
                        <a:buNone/>
                      </a:pPr>
                      <a:r>
                        <a:rPr/>
                        <a:t>The input</a:t>
                      </a:r>
                    </a:p>
                  </a:txBody>
                </a:tc>
                <a:tc>
                  <a:txBody>
                    <a:bodyPr/>
                    <a:lstStyle/>
                    <a:p>
                      <a:pPr lvl="0" indent="0" marL="0">
                        <a:buNone/>
                      </a:pPr>
                      <a:r>
                        <a:rPr/>
                        <a:t>Free</a:t>
                      </a:r>
                    </a:p>
                  </a:txBody>
                </a:tc>
                <a:tc>
                  <a:txBody>
                    <a:bodyPr/>
                    <a:lstStyle/>
                    <a:p>
                      <a:pPr lvl="0" indent="0" marL="0">
                        <a:buNone/>
                      </a:pPr>
                      <a:r>
                        <a:rPr/>
                        <a:t>Only the pretext</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workflow</a:t>
            </a:r>
          </a:p>
        </p:txBody>
      </p:sp>
      <p:pic>
        <p:nvPicPr>
          <p:cNvPr descr="ml_workflow.png" id="0" name="Picture 1"/>
          <p:cNvPicPr>
            <a:picLocks noGrp="1" noChangeAspect="1"/>
          </p:cNvPicPr>
          <p:nvPr/>
        </p:nvPicPr>
        <p:blipFill>
          <a:blip r:embed="rId3"/>
          <a:stretch>
            <a:fillRect/>
          </a:stretch>
        </p:blipFill>
        <p:spPr bwMode="auto">
          <a:xfrm>
            <a:off x="457200" y="2090539"/>
            <a:ext cx="8229600" cy="151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1 — frame it</a:t>
            </a:r>
          </a:p>
        </p:txBody>
      </p:sp>
      <p:sp>
        <p:nvSpPr>
          <p:cNvPr id="4" name="Text Placeholder 3"/>
          <p:cNvSpPr>
            <a:spLocks noGrp="1"/>
          </p:cNvSpPr>
          <p:nvPr>
            <p:ph idx="2" sz="half" type="body"/>
          </p:nvPr>
        </p:nvSpPr>
        <p:spPr>
          <a:xfrm>
            <a:off x="457200" y="1183005"/>
            <a:ext cx="8229600" cy="1311592"/>
          </a:xfrm>
        </p:spPr>
        <p:txBody>
          <a:bodyPr/>
          <a:lstStyle/>
          <a:p>
            <a:pPr lvl="0"/>
            <a:r>
              <a:rPr/>
              <a:t>What is predicted, from what?</a:t>
            </a:r>
          </a:p>
          <a:p>
            <a:pPr lvl="0"/>
            <a:r>
              <a:rPr/>
              <a:t>Who would use it, for what decision?</a:t>
            </a:r>
          </a:p>
          <a:p>
            <a:pPr lvl="0"/>
            <a:r>
              <a:rPr b="1"/>
              <a:t>Which error is worse?</a:t>
            </a:r>
          </a:p>
        </p:txBody>
      </p:sp>
      <p:pic>
        <p:nvPicPr>
          <p:cNvPr descr="error_costs.png" id="0" name="Picture 1"/>
          <p:cNvPicPr>
            <a:picLocks noGrp="1" noChangeAspect="1"/>
          </p:cNvPicPr>
          <p:nvPr/>
        </p:nvPicPr>
        <p:blipFill>
          <a:blip r:embed="rId3"/>
          <a:stretch>
            <a:fillRect/>
          </a:stretch>
        </p:blipFill>
        <p:spPr bwMode="auto">
          <a:xfrm>
            <a:off x="2734600" y="2597467"/>
            <a:ext cx="3674800" cy="1928813"/>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2 — look first</a:t>
            </a:r>
          </a:p>
        </p:txBody>
      </p:sp>
      <p:pic>
        <p:nvPicPr>
          <p:cNvPr descr="class_distribution.png" id="0" name="Picture 1"/>
          <p:cNvPicPr>
            <a:picLocks noGrp="1" noChangeAspect="1"/>
          </p:cNvPicPr>
          <p:nvPr/>
        </p:nvPicPr>
        <p:blipFill>
          <a:blip r:embed="rId3"/>
          <a:stretch>
            <a:fillRect/>
          </a:stretch>
        </p:blipFill>
        <p:spPr bwMode="auto">
          <a:xfrm>
            <a:off x="1973208" y="1166099"/>
            <a:ext cx="5197583"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3 — split, before anything else</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Before scaling. Before selecting features. Before looking at correlations with the target.</a:t>
            </a:r>
          </a:p>
        </p:txBody>
      </p:sp>
      <p:pic>
        <p:nvPicPr>
          <p:cNvPr descr="split_scheme.png" id="0" name="Picture 1"/>
          <p:cNvPicPr>
            <a:picLocks noGrp="1" noChangeAspect="1"/>
          </p:cNvPicPr>
          <p:nvPr/>
        </p:nvPicPr>
        <p:blipFill>
          <a:blip r:embed="rId3"/>
          <a:stretch>
            <a:fillRect/>
          </a:stretch>
        </p:blipFill>
        <p:spPr bwMode="auto">
          <a:xfrm>
            <a:off x="767456" y="2160270"/>
            <a:ext cx="7609088" cy="236601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4 — baseline first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Predict the majority class. Nothing else.</a:t>
            </a:r>
          </a:p>
          <a:p>
            <a:pPr lvl="0" indent="0" marL="0">
              <a:buNone/>
            </a:pPr>
            <a:r>
              <a:rPr b="1"/>
              <a:t>62.7%</a:t>
            </a:r>
          </a:p>
          <a:p>
            <a:pPr lvl="0" indent="0" marL="0">
              <a:buNone/>
            </a:pPr>
            <a:r>
              <a:rPr/>
              <a:t>Everything from here is measured against that.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Step 5 — pipeline, not two steps</a:t>
            </a:r>
          </a:p>
        </p:txBody>
      </p:sp>
      <p:sp>
        <p:nvSpPr>
          <p:cNvPr id="4" name="Text Placeholder 3"/>
          <p:cNvSpPr>
            <a:spLocks noGrp="1"/>
          </p:cNvSpPr>
          <p:nvPr>
            <p:ph idx="2" sz="half" type="body"/>
          </p:nvPr>
        </p:nvSpPr>
        <p:spPr>
          <a:xfrm>
            <a:off x="457200" y="1183005"/>
            <a:ext cx="8229600" cy="1311592"/>
          </a:xfrm>
        </p:spPr>
        <p:txBody>
          <a:bodyPr/>
          <a:lstStyle/>
          <a:p>
            <a:pPr lvl="0" indent="0">
              <a:buNone/>
            </a:pPr>
            <a:r>
              <a:rPr>
                <a:latin typeface="Courier"/>
              </a:rPr>
              <a:t>model </a:t>
            </a:r>
            <a:r>
              <a:rPr>
                <a:solidFill>
                  <a:srgbClr val="666666"/>
                </a:solidFill>
                <a:latin typeface="Courier"/>
              </a:rPr>
              <a:t>=</a:t>
            </a:r>
            <a:r>
              <a:rPr>
                <a:latin typeface="Courier"/>
              </a:rPr>
              <a:t> make_pipeline(</a:t>
            </a:r>
            <a:br/>
            <a:r>
              <a:rPr>
                <a:latin typeface="Courier"/>
              </a:rPr>
              <a:t>    StandardScaler(),</a:t>
            </a:r>
            <a:br/>
            <a:r>
              <a:rPr>
                <a:latin typeface="Courier"/>
              </a:rPr>
              <a:t>    LogisticRegression(max_iter</a:t>
            </a:r>
            <a:r>
              <a:rPr>
                <a:solidFill>
                  <a:srgbClr val="666666"/>
                </a:solidFill>
                <a:latin typeface="Courier"/>
              </a:rPr>
              <a:t>=</a:t>
            </a:r>
            <a:r>
              <a:rPr>
                <a:solidFill>
                  <a:srgbClr val="40A070"/>
                </a:solidFill>
                <a:latin typeface="Courier"/>
              </a:rPr>
              <a:t>5000</a:t>
            </a:r>
            <a:r>
              <a:rPr>
                <a:latin typeface="Courier"/>
              </a:rPr>
              <a:t>),</a:t>
            </a:r>
            <a:br/>
            <a:r>
              <a:rPr>
                <a:latin typeface="Courier"/>
              </a:rPr>
              <a:t>)</a:t>
            </a:r>
            <a:br/>
            <a:r>
              <a:rPr>
                <a:latin typeface="Courier"/>
              </a:rPr>
              <a:t>model.fit(X_train, y_train)</a:t>
            </a:r>
          </a:p>
        </p:txBody>
      </p:sp>
      <p:pic>
        <p:nvPicPr>
          <p:cNvPr descr="pipeline_versus_manual.png" id="0" name="Picture 1"/>
          <p:cNvPicPr>
            <a:picLocks noGrp="1" noChangeAspect="1"/>
          </p:cNvPicPr>
          <p:nvPr/>
        </p:nvPicPr>
        <p:blipFill>
          <a:blip r:embed="rId3"/>
          <a:stretch>
            <a:fillRect/>
          </a:stretch>
        </p:blipFill>
        <p:spPr bwMode="auto">
          <a:xfrm>
            <a:off x="2291462" y="2597467"/>
            <a:ext cx="4561075" cy="1928813"/>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Step 6 — the result</a:t>
            </a:r>
          </a:p>
        </p:txBody>
      </p:sp>
      <p:sp>
        <p:nvSpPr>
          <p:cNvPr id="3" name="Content Placeholder 2"/>
          <p:cNvSpPr>
            <a:spLocks noGrp="1"/>
          </p:cNvSpPr>
          <p:nvPr>
            <p:ph idx="1"/>
          </p:nvPr>
        </p:nvSpPr>
        <p:spPr>
          <a:xfrm>
            <a:off x="457200" y="1200151"/>
            <a:ext cx="8229600" cy="3394472"/>
          </a:xfrm>
        </p:spPr>
        <p:txBody>
          <a:bodyPr/>
          <a:lstStyle/>
          <a:p>
            <a:pPr lvl="0"/>
            <a:r>
              <a:rPr/>
              <a:t>Baseline: 0.629</a:t>
            </a:r>
          </a:p>
          <a:p>
            <a:pPr lvl="0"/>
            <a:r>
              <a:rPr/>
              <a:t>Model: </a:t>
            </a:r>
            <a:r>
              <a:rPr b="1"/>
              <a:t>0.986</a:t>
            </a:r>
          </a:p>
          <a:p>
            <a:pPr lvl="0" indent="0" marL="0">
              <a:buNone/>
            </a:pPr>
            <a:r>
              <a:rPr/>
              <a:t>Done?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accuracy hides</a:t>
            </a:r>
          </a:p>
        </p:txBody>
      </p:sp>
      <p:pic>
        <p:nvPicPr>
          <p:cNvPr descr="confusion_matrix.png" id="0" name="Picture 1"/>
          <p:cNvPicPr>
            <a:picLocks noGrp="1" noChangeAspect="1"/>
          </p:cNvPicPr>
          <p:nvPr/>
        </p:nvPicPr>
        <p:blipFill>
          <a:blip r:embed="rId3"/>
          <a:stretch>
            <a:fillRect/>
          </a:stretch>
        </p:blipFill>
        <p:spPr bwMode="auto">
          <a:xfrm>
            <a:off x="2722013" y="1166099"/>
            <a:ext cx="3699974" cy="3360181"/>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Precision and recall</a:t>
            </a:r>
          </a:p>
        </p:txBody>
      </p:sp>
      <p:sp>
        <p:nvSpPr>
          <p:cNvPr id="4" name="Text Placeholder 3"/>
          <p:cNvSpPr>
            <a:spLocks noGrp="1"/>
          </p:cNvSpPr>
          <p:nvPr>
            <p:ph idx="2" sz="half" type="body"/>
          </p:nvPr>
        </p:nvSpPr>
        <p:spPr>
          <a:xfrm>
            <a:off x="457200" y="1183005"/>
            <a:ext cx="8229600" cy="1748790"/>
          </a:xfrm>
        </p:spPr>
        <p:txBody>
          <a:bodyPr/>
          <a:lstStyle/>
          <a:p>
            <a:pPr lvl="0"/>
            <a:r>
              <a:rPr b="1"/>
              <a:t>Recall</a:t>
            </a:r>
            <a:r>
              <a:rPr/>
              <a:t> (malignant): how many malignant tumours we caught</a:t>
            </a:r>
          </a:p>
          <a:p>
            <a:pPr lvl="0"/>
            <a:r>
              <a:rPr b="1"/>
              <a:t>Precision</a:t>
            </a:r>
            <a:r>
              <a:rPr/>
              <a:t> (malignant): how often an alert is correct</a:t>
            </a:r>
          </a:p>
          <a:p>
            <a:pPr lvl="0"/>
            <a:r>
              <a:rPr/>
              <a:t>They trade off against each other</a:t>
            </a:r>
          </a:p>
        </p:txBody>
      </p:sp>
      <p:pic>
        <p:nvPicPr>
          <p:cNvPr descr="precision_recall_tradeoff.png" id="0" name="Picture 1"/>
          <p:cNvPicPr>
            <a:picLocks noGrp="1" noChangeAspect="1"/>
          </p:cNvPicPr>
          <p:nvPr/>
        </p:nvPicPr>
        <p:blipFill>
          <a:blip r:embed="rId3"/>
          <a:stretch>
            <a:fillRect/>
          </a:stretch>
        </p:blipFill>
        <p:spPr bwMode="auto">
          <a:xfrm>
            <a:off x="3130584" y="3034665"/>
            <a:ext cx="2882832" cy="1491615"/>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not do</a:t>
            </a:r>
          </a:p>
        </p:txBody>
      </p:sp>
      <p:sp>
        <p:nvSpPr>
          <p:cNvPr id="3" name="Content Placeholder 2"/>
          <p:cNvSpPr>
            <a:spLocks noGrp="1"/>
          </p:cNvSpPr>
          <p:nvPr>
            <p:ph idx="1"/>
          </p:nvPr>
        </p:nvSpPr>
        <p:spPr>
          <a:xfrm>
            <a:off x="457200" y="1200151"/>
            <a:ext cx="8229600" cy="3394472"/>
          </a:xfrm>
        </p:spPr>
        <p:txBody>
          <a:bodyPr/>
          <a:lstStyle/>
          <a:p>
            <a:pPr lvl="0"/>
            <a:r>
              <a:rPr/>
              <a:t>No tuning</a:t>
            </a:r>
          </a:p>
          <a:p>
            <a:pPr lvl="0"/>
            <a:r>
              <a:rPr/>
              <a:t>No comparison of model families</a:t>
            </a:r>
          </a:p>
          <a:p>
            <a:pPr lvl="0"/>
            <a:r>
              <a:rPr/>
              <a:t>No check of stability across splits</a:t>
            </a:r>
          </a:p>
          <a:p>
            <a:pPr lvl="0" indent="0" marL="0">
              <a:buNone/>
            </a:pPr>
            <a:r>
              <a:rPr/>
              <a:t>And: we never looked at the test set to make a decision.</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a model misleads you</a:t>
            </a:r>
          </a:p>
        </p:txBody>
      </p:sp>
      <p:sp>
        <p:nvSpPr>
          <p:cNvPr id="3" name="Content Placeholder 2"/>
          <p:cNvSpPr>
            <a:spLocks noGrp="1"/>
          </p:cNvSpPr>
          <p:nvPr>
            <p:ph idx="1"/>
          </p:nvPr>
        </p:nvSpPr>
        <p:spPr>
          <a:xfrm>
            <a:off x="457200" y="1200151"/>
            <a:ext cx="8229600" cy="3394472"/>
          </a:xfrm>
        </p:spPr>
        <p:txBody>
          <a:bodyPr/>
          <a:lstStyle/>
          <a:p>
            <a:pPr lvl="0"/>
            <a:r>
              <a:rPr/>
              <a:t>Leakage</a:t>
            </a:r>
          </a:p>
          <a:p>
            <a:pPr lvl="0"/>
            <a:r>
              <a:rPr/>
              <a:t>Imbalance</a:t>
            </a:r>
          </a:p>
          <a:p>
            <a:pPr lvl="0"/>
            <a:r>
              <a:rPr/>
              <a:t>Shortcut features</a:t>
            </a:r>
          </a:p>
          <a:p>
            <a:pPr lvl="0"/>
            <a:r>
              <a:rPr/>
              <a:t>Single-split noise</a:t>
            </a:r>
          </a:p>
          <a:p>
            <a:pPr lvl="0" indent="0" marL="0">
              <a:buNone/>
            </a:pPr>
            <a:r>
              <a:rPr/>
              <a:t>All produce numbers that pass a casual review.</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samples. 5000 random features. Coin-flip labels.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There is nothing to learn.</a:t>
            </a:r>
          </a:p>
          <a:p>
            <a:pPr lvl="0" indent="0" marL="0">
              <a:buNone/>
            </a:pPr>
            <a:r>
              <a:rPr/>
              <a:t>Anything above 50% is an artefact.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Select features first, split second</a:t>
            </a:r>
          </a:p>
        </p:txBody>
      </p:sp>
      <p:pic>
        <p:nvPicPr>
          <p:cNvPr descr="leakage.png" id="0" name="Picture 1"/>
          <p:cNvPicPr>
            <a:picLocks noGrp="1" noChangeAspect="1"/>
          </p:cNvPicPr>
          <p:nvPr/>
        </p:nvPicPr>
        <p:blipFill>
          <a:blip r:embed="rId3"/>
          <a:stretch>
            <a:fillRect/>
          </a:stretch>
        </p:blipFill>
        <p:spPr bwMode="auto">
          <a:xfrm>
            <a:off x="1916576" y="1166099"/>
            <a:ext cx="5310847"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 step that </a:t>
            </a:r>
            <a:r>
              <a:rPr b="1"/>
              <a:t>learns anything</a:t>
            </a:r>
            <a:r>
              <a:rPr/>
              <a:t> must be fitted inside the training fold.</a:t>
            </a:r>
          </a:p>
          <a:p>
            <a:pPr lvl="0" indent="0" marL="0">
              <a:buNone/>
            </a:pPr>
            <a:r>
              <a:rPr/>
              <a:t>Scaling. Imputation. Encoding. Selection. Tuning.</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99% accuracy, detecting nothing</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1% positives. Answer “negative” every time.</a:t>
            </a:r>
          </a:p>
          <a:p>
            <a:pPr lvl="0"/>
            <a:r>
              <a:rPr/>
              <a:t>Accuracy: </a:t>
            </a:r>
            <a:r>
              <a:rPr b="1"/>
              <a:t>0.986</a:t>
            </a:r>
          </a:p>
          <a:p>
            <a:pPr lvl="0"/>
            <a:r>
              <a:rPr/>
              <a:t>Recall on positives: </a:t>
            </a:r>
            <a:r>
              <a:rPr b="1"/>
              <a:t>0.000</a:t>
            </a:r>
          </a:p>
        </p:txBody>
      </p:sp>
      <p:pic>
        <p:nvPicPr>
          <p:cNvPr descr="imbalance_matrix.png" id="0" name="Picture 1"/>
          <p:cNvPicPr>
            <a:picLocks noGrp="1" noChangeAspect="1"/>
          </p:cNvPicPr>
          <p:nvPr/>
        </p:nvPicPr>
        <p:blipFill>
          <a:blip r:embed="rId3"/>
          <a:stretch>
            <a:fillRect/>
          </a:stretch>
        </p:blipFill>
        <p:spPr bwMode="auto">
          <a:xfrm>
            <a:off x="2583839" y="2597467"/>
            <a:ext cx="3976322" cy="1928813"/>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Shortcut features</a:t>
            </a:r>
          </a:p>
        </p:txBody>
      </p:sp>
      <p:sp>
        <p:nvSpPr>
          <p:cNvPr id="4" name="Text Placeholder 3"/>
          <p:cNvSpPr>
            <a:spLocks noGrp="1"/>
          </p:cNvSpPr>
          <p:nvPr>
            <p:ph idx="2" sz="half" type="body"/>
          </p:nvPr>
        </p:nvSpPr>
        <p:spPr>
          <a:xfrm>
            <a:off x="457200" y="1183005"/>
            <a:ext cx="8229600" cy="1748790"/>
          </a:xfrm>
        </p:spPr>
        <p:txBody>
          <a:bodyPr/>
          <a:lstStyle/>
          <a:p>
            <a:pPr lvl="0" indent="0" marL="0">
              <a:buNone/>
            </a:pPr>
            <a:r>
              <a:rPr/>
              <a:t>A column that is a </a:t>
            </a:r>
            <a:r>
              <a:rPr b="1"/>
              <a:t>consequence</a:t>
            </a:r>
            <a:r>
              <a:rPr/>
              <a:t> of the label, not a predictor of it.</a:t>
            </a:r>
          </a:p>
          <a:p>
            <a:pPr lvl="0" indent="0" marL="0">
              <a:buNone/>
            </a:pPr>
            <a:r>
              <a:rPr>
                <a:latin typeface="Courier"/>
              </a:rPr>
              <a:t>biopsy_scheduled</a:t>
            </a:r>
            <a:r>
              <a:rPr/>
              <a:t> → accuracy rises → model is worthless</a:t>
            </a:r>
          </a:p>
        </p:txBody>
      </p:sp>
      <p:pic>
        <p:nvPicPr>
          <p:cNvPr descr="shortcut_timeline.png" id="0" name="Picture 1"/>
          <p:cNvPicPr>
            <a:picLocks noGrp="1" noChangeAspect="1"/>
          </p:cNvPicPr>
          <p:nvPr/>
        </p:nvPicPr>
        <p:blipFill>
          <a:blip r:embed="rId3"/>
          <a:stretch>
            <a:fillRect/>
          </a:stretch>
        </p:blipFill>
        <p:spPr bwMode="auto">
          <a:xfrm>
            <a:off x="2247856" y="3034665"/>
            <a:ext cx="4648288" cy="1491615"/>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split is one measurement</a:t>
            </a:r>
          </a:p>
        </p:txBody>
      </p:sp>
      <p:pic>
        <p:nvPicPr>
          <p:cNvPr descr="split_variance.png" id="0" name="Picture 1"/>
          <p:cNvPicPr>
            <a:picLocks noGrp="1" noChangeAspect="1"/>
          </p:cNvPicPr>
          <p:nvPr/>
        </p:nvPicPr>
        <p:blipFill>
          <a:blip r:embed="rId3"/>
          <a:stretch>
            <a:fillRect/>
          </a:stretch>
        </p:blipFill>
        <p:spPr bwMode="auto">
          <a:xfrm>
            <a:off x="1343961" y="1166099"/>
            <a:ext cx="6456078" cy="3360181"/>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four have in common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None is a coding error.</a:t>
            </a:r>
          </a:p>
          <a:p>
            <a:pPr lvl="0" indent="0" marL="0">
              <a:buNone/>
            </a:pPr>
            <a:r>
              <a:rPr/>
              <a:t>All four run exactly as written and return a plausible number.</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model is not objective</a:t>
            </a:r>
          </a:p>
        </p:txBody>
      </p:sp>
      <p:sp>
        <p:nvSpPr>
          <p:cNvPr id="3" name="Content Placeholder 2"/>
          <p:cNvSpPr>
            <a:spLocks noGrp="1"/>
          </p:cNvSpPr>
          <p:nvPr>
            <p:ph idx="1"/>
          </p:nvPr>
        </p:nvSpPr>
        <p:spPr>
          <a:xfrm>
            <a:off x="457200" y="1200151"/>
            <a:ext cx="8229600" cy="3394472"/>
          </a:xfrm>
        </p:spPr>
        <p:txBody>
          <a:bodyPr/>
          <a:lstStyle/>
          <a:p>
            <a:pPr lvl="0"/>
            <a:r>
              <a:rPr/>
              <a:t>It is a compressed summary of its training data, </a:t>
            </a:r>
            <a:r>
              <a:rPr b="1"/>
              <a:t>including its injustices</a:t>
            </a:r>
          </a:p>
          <a:p>
            <a:pPr lvl="0"/>
            <a:r>
              <a:rPr/>
              <a:t>These methods find </a:t>
            </a:r>
            <a:r>
              <a:rPr b="1"/>
              <a:t>correlation</a:t>
            </a:r>
            <a:r>
              <a:rPr/>
              <a:t>, not cause</a:t>
            </a:r>
          </a:p>
          <a:p>
            <a:pPr lvl="0"/>
            <a:r>
              <a:rPr/>
              <a:t>Accuracy is not the only property that matters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 due Friday 2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Exercises/01_first_workflow.md</a:t>
            </a:r>
          </a:p>
          <a:p>
            <a:pPr lvl="0" indent="0" marL="0">
              <a:buNone/>
            </a:pPr>
            <a:r>
              <a:rPr/>
              <a:t>Wine quality: run the workflow yourself, and </a:t>
            </a:r>
            <a:r>
              <a:rPr b="1"/>
              <a:t>justify every decision</a:t>
            </a:r>
            <a:r>
              <a:rPr/>
              <a:t>.</a:t>
            </a:r>
          </a:p>
          <a:p>
            <a:pPr lvl="0"/>
            <a:r>
              <a:rPr/>
              <a:t>No marks for accuracy</a:t>
            </a:r>
          </a:p>
          <a:p>
            <a:pPr lvl="0"/>
            <a:r>
              <a:rPr/>
              <a:t>Marks for methodology, and for saying what your number does not mean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Get the environment running</a:t>
            </a:r>
          </a:p>
          <a:p>
            <a:pPr lvl="0"/>
            <a:r>
              <a:rPr/>
              <a:t>Work the three notebooks in order</a:t>
            </a:r>
          </a:p>
          <a:p>
            <a:pPr lvl="0"/>
            <a:r>
              <a:rPr/>
              <a:t>Read the handout</a:t>
            </a:r>
          </a:p>
          <a:p>
            <a:pPr lvl="0"/>
            <a:r>
              <a:rPr/>
              <a:t>Take the quiz</a:t>
            </a:r>
          </a:p>
          <a:p>
            <a:pPr lvl="0"/>
            <a:r>
              <a:rPr b="1"/>
              <a:t>Do the exercise</a:t>
            </a:r>
          </a:p>
          <a:p>
            <a:pPr lvl="0" indent="0" marL="0">
              <a:buNone/>
            </a:pPr>
            <a:r>
              <a:rPr/>
              <a:t>Next: data — exploration, preparation, and leakage in earnest.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1 — Introduction and the ML Workflow</dc:title>
  <dc:creator>Fabio Antonini —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25 September 2026</vt:lpwstr>
  </property>
  <property fmtid="{D5CDD505-2E9C-101B-9397-08002B2CF9AE}" pid="3" name="subtitle">
    <vt:lpwstr>Technologies for Artificial Intelligence</vt:lpwstr>
  </property>
</Properties>
</file>