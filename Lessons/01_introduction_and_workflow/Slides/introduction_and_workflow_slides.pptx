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and be explicit, because the arrangement is unusual and they will assume the ordinary one. Nothing is handed in, nothing comes back with a mark on it, and there is no written paper to revise for. Each lesson opens by discussing the exercise set the week before; at the exam one of the ten is drawn and they talk through their own notebook for it.</a:t>
            </a:r>
          </a:p>
          <a:p>
            <a:pPr lvl="0" indent="0" marL="0">
              <a:buNone/>
            </a:pPr>
          </a:p>
          <a:p>
            <a:pPr lvl="0" indent="0" marL="0">
              <a:buNone/>
            </a:pPr>
            <a:r>
              <a:rPr/>
              <a:t>Say the consequence plainly, because it is the whole design: an exercise they skipped is one they may have to sit in front of with nothing to say, and an exercise someone else wrote for them is worse, because the questions are all “why did you do this”.</a:t>
            </a:r>
          </a:p>
          <a:p>
            <a:pPr lvl="0" indent="0" marL="0">
              <a:buNone/>
            </a:pPr>
          </a:p>
          <a:p>
            <a:pPr lvl="0" indent="0" marL="0">
              <a:buNone/>
            </a:pPr>
            <a:r>
              <a:rPr/>
              <a:t>Expect the question “so what do we have to study?”. The answer is that the handouts are not optional: nothing is asked in the abstract, but “why that metric” and “what would have told you it was wrong” cannot be answered without them. The theory is examined through their own work rather than on paper.</a:t>
            </a:r>
          </a:p>
          <a:p>
            <a:pPr lvl="0" indent="0" marL="0">
              <a:buNone/>
            </a:pPr>
          </a:p>
          <a:p>
            <a:pPr lvl="0" indent="0" marL="0">
              <a:buNone/>
            </a:pPr>
            <a:r>
              <a:rPr/>
              <a:t>Emphasise the principle: methodology outweighs accuracy. Two students with different scores can both do well. A spectacular score obtained by leaking the test set will not - methodological correctness is 40% of the criteria, and today’s third notebook shows exactly why.</a:t>
            </a:r>
          </a:p>
          <a:p>
            <a:pPr lvl="0" indent="0" marL="0">
              <a:buNone/>
            </a:pPr>
          </a:p>
          <a:p>
            <a:pPr lvl="0" indent="0" marL="0">
              <a:buNone/>
            </a:pPr>
            <a:r>
              <a:rPr/>
              <a:t>Point them at Assessment/ in the repository.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address is on the slide so it can be copied from the projector: it is split into two variables because the whole URL on one line wraps mid-word in this font and becomes untypeable. Read it out as github.com/fabioantonini, then technologies-for-artificial-intelligence. Course/Setup/Docker_Quickstart.md has it written out for anyone who mistypes it.</a:t>
            </a:r>
          </a:p>
          <a:p>
            <a:pPr lvl="0" indent="0" marL="0">
              <a:buNone/>
            </a:pPr>
          </a:p>
          <a:p>
            <a:pPr lvl="0" indent="0" marL="0">
              <a:buNone/>
            </a:pPr>
            <a:r>
              <a:rPr/>
              <a:t>The folder name, </a:t>
            </a:r>
            <a:r>
              <a:rPr>
                <a:latin typeface="Courier"/>
              </a:rPr>
              <a:t>tai</a:t>
            </a:r>
            <a:r>
              <a:rPr/>
              <a:t>, is theirs to choose: Docker Compose does not care what it is called, and a short one saves them typing all term.</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before any symbol appears, because “pairs (x, y) drawn from a distribution” is unreadable to someone who has never seen what is inside an x.</a:t>
            </a:r>
          </a:p>
          <a:p>
            <a:pPr lvl="0" indent="0" marL="0">
              <a:buNone/>
            </a:pPr>
          </a:p>
          <a:p>
            <a:pPr lvl="0" indent="0" marL="0">
              <a:buNone/>
            </a:pPr>
            <a:r>
              <a:rPr/>
              <a:t>Point at the numbers first. One tumour, thirty measurements taken from a digitised image of a tissue sample - radius, texture, perimeter, area and 26 more. THAT list is x. The thing we want to predict, malignant or benign, is y. Notebook 01 prints exactly this table in its second cell, and it is the dataset we use for the whole workflow later today.</a:t>
            </a:r>
          </a:p>
          <a:p>
            <a:pPr lvl="0" indent="0" marL="0">
              <a:buNone/>
            </a:pPr>
          </a:p>
          <a:p>
            <a:pPr lvl="0" indent="0" marL="0">
              <a:buNone/>
            </a:pPr>
            <a:r>
              <a:rPr/>
              <a:t>Then the two letters, and say they never move: m counts examples, n counts features, rows are examples, columns are features. Every lesson of the course uses them this way, and lesson 3 will write the normal equation with them.</a:t>
            </a:r>
          </a:p>
          <a:p>
            <a:pPr lvl="0" indent="0" marL="0">
              <a:buNone/>
            </a:pPr>
          </a:p>
          <a:p>
            <a:pPr lvl="0" indent="0" marL="0">
              <a:buNone/>
            </a:pPr>
            <a:r>
              <a:rPr/>
              <a:t>Last sentence, and it sets up lesson 2: the thirty columns are not the tumour. They are what somebody decided to measure of it. Ask the room what else they would have measured - age, family history, time since the last scan - and let them notice that none of it is in the file.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Expect this question, because it is the right one to ask: if R(f) cannot be computed, what is the red curve? Answer in three steps. First, the two curves are not the same quantity measured on two datasets - empirical risk is an average over a sample you hold, expected risk is an average over the whole distribution, so there is no second R(f) “on the training data”. Second, empirical risk can be computed on ANY sample, and on rows the fitting never touched it is an unbiased estimate of R(f) - that is what a test set buys, and section 2.3 is the argument. Third, the red curve is drawn, not measured: in a simulation where we choose the true function ourselves R(f) really is computable, and lesson 5’s notebook 02 measures exactly this shape over 300 generated datasets.</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Say the formal point first, because it is one sentence and it settles the taxonomy: y is manufactured from x, so everything from the first hour applies unchanged - same expected risk, same empirical risk, same gap, same reason to hold data out. The only thing that changed is that the labels became free.</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02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four results. Same 178 wines, same 13 chemical measurements. What changes is which column is treated as the answer, and in the unsupervised case whether there is an answer at all.</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is mechanically identical to the regression cell two sections earlier - same estimator, same call. Ask the room what actually changed. The answer is only where the target came from: a person recorded the cultivar, whereas nobody produced the flavanoid column as a label, it was already in the table. That is the entire distinction the segment has been building to.</a:t>
            </a:r>
          </a:p>
          <a:p>
            <a:pPr lvl="0" indent="0" marL="0">
              <a:buNone/>
            </a:pPr>
          </a:p>
          <a:p>
            <a:pPr lvl="0" indent="0" marL="0">
              <a:buNone/>
            </a:pPr>
            <a:r>
              <a:rPr/>
              <a:t>If time is short, drop the R² aside and the n_init experiment; keep all four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 makes the trade physical.</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there is to the exam, because they ask why rather than what.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 Id="rId3"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4.xml"/><Relationship Id="rId3"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2.xml"/><Relationship Id="rId3" Type="http://schemas.openxmlformats.org/officeDocument/2006/relationships/image" Target="../media/image2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3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each Friday, discussed the next. Never collected</a:t>
            </a:r>
          </a:p>
          <a:p>
            <a:pPr lvl="0"/>
            <a:r>
              <a:rPr b="1"/>
              <a:t>Exam</a:t>
            </a:r>
            <a:r>
              <a:rPr/>
              <a:t>: </a:t>
            </a:r>
            <a:r>
              <a:rPr b="1"/>
              <a:t>one of the ten is drawn</a:t>
            </a:r>
            <a:r>
              <a:rPr/>
              <a:t>, and you talk through your own notebook</a:t>
            </a:r>
          </a:p>
          <a:p>
            <a:pPr lvl="0"/>
            <a:r>
              <a:rPr/>
              <a:t>No written paper, no project. Keep all ten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19177C"/>
                </a:solidFill>
                <a:latin typeface="Courier"/>
              </a:rPr>
              <a:t>U</a:t>
            </a:r>
            <a:r>
              <a:rPr>
                <a:solidFill>
                  <a:srgbClr val="666666"/>
                </a:solidFill>
                <a:latin typeface="Courier"/>
              </a:rPr>
              <a:t>=</a:t>
            </a:r>
            <a:r>
              <a:rPr>
                <a:latin typeface="Courier"/>
              </a:rPr>
              <a:t>https://github.com/fabioantonini</a:t>
            </a:r>
            <a:br/>
            <a:r>
              <a:rPr>
                <a:solidFill>
                  <a:srgbClr val="19177C"/>
                </a:solidFill>
                <a:latin typeface="Courier"/>
              </a:rPr>
              <a:t>R</a:t>
            </a:r>
            <a:r>
              <a:rPr>
                <a:solidFill>
                  <a:srgbClr val="666666"/>
                </a:solidFill>
                <a:latin typeface="Courier"/>
              </a:rPr>
              <a:t>=</a:t>
            </a:r>
            <a:r>
              <a:rPr>
                <a:latin typeface="Courier"/>
              </a:rPr>
              <a:t>technologies-for-artificial-intelligence</a:t>
            </a:r>
            <a:br/>
            <a:r>
              <a:rPr>
                <a:solidFill>
                  <a:srgbClr val="06287E"/>
                </a:solidFill>
                <a:latin typeface="Courier"/>
              </a:rPr>
              <a:t>git</a:t>
            </a:r>
            <a:r>
              <a:rPr>
                <a:latin typeface="Courier"/>
              </a:rPr>
              <a:t> clone </a:t>
            </a:r>
            <a:r>
              <a:rPr>
                <a:solidFill>
                  <a:srgbClr val="19177C"/>
                </a:solidFill>
                <a:latin typeface="Courier"/>
              </a:rPr>
              <a:t>$U</a:t>
            </a:r>
            <a:r>
              <a:rPr>
                <a:latin typeface="Courier"/>
              </a:rPr>
              <a:t>/</a:t>
            </a:r>
            <a:r>
              <a:rPr>
                <a:solidFill>
                  <a:srgbClr val="19177C"/>
                </a:solidFill>
                <a:latin typeface="Courier"/>
              </a:rPr>
              <a:t>$R</a:t>
            </a:r>
            <a:r>
              <a:rPr>
                <a:latin typeface="Courier"/>
              </a:rPr>
              <a:t>.git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data actually is</a:t>
            </a:r>
          </a:p>
        </p:txBody>
      </p:sp>
      <p:sp>
        <p:nvSpPr>
          <p:cNvPr id="3" name="Content Placeholder 2"/>
          <p:cNvSpPr>
            <a:spLocks noGrp="1"/>
          </p:cNvSpPr>
          <p:nvPr>
            <p:ph idx="1"/>
          </p:nvPr>
        </p:nvSpPr>
        <p:spPr>
          <a:xfrm>
            <a:off x="457200" y="1200151"/>
            <a:ext cx="8229600" cy="3394472"/>
          </a:xfrm>
        </p:spPr>
        <p:txBody>
          <a:bodyPr/>
          <a:lstStyle/>
          <a:p>
            <a:pPr lvl="0"/>
            <a:r>
              <a:rPr/>
              <a:t>One tumour = 30 numbers: radius 17.99, texture 10.38, perimeter 122.80, …</a:t>
            </a:r>
          </a:p>
          <a:p>
            <a:pPr lvl="0"/>
            <a:r>
              <a:rPr/>
              <a:t>That row is one input x; its label y is </a:t>
            </a:r>
            <a:r>
              <a:rPr>
                <a:latin typeface="Courier"/>
              </a:rPr>
              <a:t>malignant</a:t>
            </a:r>
            <a:r>
              <a:rPr/>
              <a:t>, coded 0</a:t>
            </a:r>
          </a:p>
          <a:p>
            <a:pPr lvl="0"/>
            <a:r>
              <a:rPr/>
              <a:t>All 569 rows stacked is the design matrix X, 569 x 30</a:t>
            </a:r>
          </a:p>
          <a:p>
            <a:pPr lvl="0"/>
            <a:r>
              <a:rPr b="1"/>
              <a:t>m = 569 examples</a:t>
            </a:r>
            <a:r>
              <a:rPr/>
              <a:t> (rows), </a:t>
            </a:r>
            <a:r>
              <a:rPr b="1"/>
              <a:t>n = 30 features</a:t>
            </a:r>
            <a:r>
              <a:rPr/>
              <a:t> (columns) — all course long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5" y="2913371"/>
            <a:ext cx="8229590" cy="8598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836214" y="2358217"/>
            <a:ext cx="7471572" cy="1970116"/>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02,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Supervised</a:t>
            </a:r>
            <a:r>
              <a:rPr/>
              <a:t>: predict colour intensity instead. R² </a:t>
            </a:r>
            <a:r>
              <a:rPr b="1"/>
              <a:t>0.622</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