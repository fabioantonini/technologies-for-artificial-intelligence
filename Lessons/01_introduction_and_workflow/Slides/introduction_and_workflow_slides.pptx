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a:p>
            <a:pPr lvl="0" indent="0" marL="0">
              <a:buNone/>
            </a:pPr>
          </a:p>
          <a:p>
            <a:pPr lvl="0" indent="0" marL="0">
              <a:buNone/>
            </a:pPr>
            <a:r>
              <a:rPr/>
              <a:t>Ask them to join the course team on Microsoft Teams now, with the code on the slide - v0t2gvu, zero not the letter o - so that announcements reach everyone from the first week.</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02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02: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02: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the approximation’s 96.7%.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01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 intuition, not a method: they meet the technique properly in a later course, and today only needs them to recognise the idea.</a:t>
            </a:r>
          </a:p>
          <a:p>
            <a:pPr lvl="0" indent="0" marL="0">
              <a:buNone/>
            </a:pPr>
          </a:p>
          <a:p>
            <a:pPr lvl="0" indent="0" marL="0">
              <a:buNone/>
            </a:pPr>
            <a:r>
              <a:rPr/>
              <a:t>Say it in one breath. Nobody labels anything; you take part of the input and treat it as the answer. The value is real - flavanoids is a genuine measurement in the table - but nobody asked for it to be predicted. You use it because it is already there, which is why the supervision is free.</a:t>
            </a:r>
          </a:p>
          <a:p>
            <a:pPr lvl="0" indent="0" marL="0">
              <a:buNone/>
            </a:pPr>
          </a:p>
          <a:p>
            <a:pPr lvl="0" indent="0" marL="0">
              <a:buNone/>
            </a:pPr>
            <a:r>
              <a:rPr/>
              <a:t>Then the contrast with the previous slide, because it is the whole distinction: in supervised learning the answer lives OUTSIDE the measurements and somebody recorded it - the cultivar. Here the answer is ONE OF the measurements.</a:t>
            </a:r>
          </a:p>
          <a:p>
            <a:pPr lvl="0" indent="0" marL="0">
              <a:buNone/>
            </a:pPr>
          </a:p>
          <a:p>
            <a:pPr lvl="0" indent="0" marL="0">
              <a:buNone/>
            </a:pPr>
            <a:r>
              <a:rPr/>
              <a:t>The reconstruction is a pretext: nobody wants a flavanoid predictor. The reason anyone does it is that the model has to learn how the measurements relate, and that can be reused on a task you care about. Say plainly that the notebook stops before that step - a linear regression has nothing worth reusing.</a:t>
            </a:r>
          </a:p>
          <a:p>
            <a:pPr lvl="0" indent="0" marL="0">
              <a:buNone/>
            </a:pPr>
          </a:p>
          <a:p>
            <a:pPr lvl="0" indent="0" marL="0">
              <a:buNone/>
            </a:pPr>
            <a:r>
              <a:rPr/>
              <a:t>Scale the idea up - hide a word in a sentence, hide a patch of an image - and it is how modern large models are trained. This is the honest one-paragraph answer to “how does ChatGPT learn?”, and it is worth giving them, since they will be asked it at every family dinner.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01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01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three results. Same 178 wines, same 13 chemical measurements. What changes is where the answer comes from - recorded by somebody, nowhere at all, or one of the measurements themselves.</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against the supervised one: ask the room what is different about the two targets. The cultivar is an answer somebody wrote down, not a measurement; flavanoids is one of the measurements, used as an answer because it was there. That is the distinction the segment has been building to.</a:t>
            </a:r>
          </a:p>
          <a:p>
            <a:pPr lvl="0" indent="0" marL="0">
              <a:buNone/>
            </a:pPr>
          </a:p>
          <a:p>
            <a:pPr lvl="0" indent="0" marL="0">
              <a:buNone/>
            </a:pPr>
            <a:r>
              <a:rPr/>
              <a:t>If time is short, drop the R² aside and the n_init experiment; keep all three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02,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 minutes, and it runs alongside the next twelve slides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someone remembers 62.7% from the class-balance step: that is the share of benign tumours in all 569. The baseline is scored like the model, on the 143 test tumours, where 90 are benign - 62.9%, the 0.629 the result slide quotes. The stratified split keeps the two close; they differ only because 143 is a small sample.</a:t>
            </a:r>
          </a:p>
          <a:p>
            <a:pPr lvl="0" indent="0" marL="0">
              <a:buNone/>
            </a:pPr>
          </a:p>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 in words, this one in counts. Name the three counts against the confusion matrix two slides back - the class we care about, malignant, is the “positive” one - then read the two formulas as sentences: recall divides by everything that really was malignant, the row; precision divides by everything we flagged, the column. Same numerator, different denominator. That is the whole difference, and the one students mix up.</a:t>
            </a:r>
          </a:p>
          <a:p>
            <a:pPr lvl="0" indent="0" marL="0">
              <a:buNone/>
            </a:pPr>
          </a:p>
          <a:p>
            <a:pPr lvl="0" indent="0" marL="0">
              <a:buNone/>
            </a:pPr>
            <a:r>
              <a:rPr/>
              <a:t>Someone will notice the two values are identical and ask why. It is a coincidence of this threshold: one malignancy missed and one false alarm, so both denominators are 53. Move the threshold and they part company: at 0.10 the missed malignancy is caught - recall 53 / 53 = 1.000 - but eleven benign tumours join the alerts, and precision falls to 53 / 64 = 0.828. That is the next slide, drawn.</a:t>
            </a:r>
          </a:p>
          <a:p>
            <a:pPr lvl="0" indent="0" marL="0">
              <a:buNone/>
            </a:pPr>
          </a:p>
          <a:p>
            <a:pPr lvl="0" indent="0" marL="0">
              <a:buNone/>
            </a:pPr>
            <a:r>
              <a:rPr/>
              <a:t>Notebook 02, cell after the confusion matrix, prints the same numbers in its classification report.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2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3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4 December</a:t>
            </a:r>
          </a:p>
          <a:p>
            <a:pPr lvl="0"/>
            <a:r>
              <a:rPr/>
              <a:t>A first course in </a:t>
            </a:r>
            <a:r>
              <a:rPr b="1"/>
              <a:t>machine learning</a:t>
            </a:r>
            <a:r>
              <a:rPr/>
              <a:t>, for people who can already program</a:t>
            </a:r>
          </a:p>
          <a:p>
            <a:pPr lvl="0"/>
            <a:r>
              <a:rPr/>
              <a:t>Foundations, not products</a:t>
            </a:r>
          </a:p>
          <a:p>
            <a:pPr lvl="0"/>
            <a:r>
              <a:rPr/>
              <a:t>Course team on Microsoft Teams: code </a:t>
            </a:r>
            <a:r>
              <a:rPr b="1">
                <a:latin typeface="Courier"/>
              </a:rPr>
              <a:t>v0t2gvu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answer is recorded by somebody, outside the measurements.</a:t>
            </a:r>
          </a:p>
          <a:p>
            <a:pPr lvl="0"/>
            <a:r>
              <a:rPr/>
              <a:t>Category → </a:t>
            </a:r>
            <a:r>
              <a:rPr b="1"/>
              <a:t>classification</a:t>
            </a:r>
          </a:p>
          <a:p>
            <a:pPr lvl="0"/>
            <a:r>
              <a:rPr/>
              <a:t>Continuous → </a:t>
            </a:r>
            <a:r>
              <a:rPr b="1"/>
              <a:t>regression</a:t>
            </a:r>
          </a:p>
          <a:p>
            <a:pPr lvl="0"/>
            <a:r>
              <a:rPr/>
              <a:t>The cultivar is not a measurement: it is an answer written down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Where the answer comes from</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Recorded by somebody</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Nowhere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Part of 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question, a dataset, a split, a baseline, a model, and a number you can defend.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62.9%</a:t>
            </a:r>
            <a:r>
              <a:rPr/>
              <a:t> on the test set</a:t>
            </a:r>
          </a:p>
          <a:p>
            <a:pPr lvl="0" indent="0" marL="0">
              <a:buNone/>
            </a:pPr>
            <a:r>
              <a:rPr/>
              <a:t>Everything from here is measured against that.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counted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what it counts</a:t>
                      </a:r>
                    </a:p>
                  </a:txBody>
                  <a:tcPr/>
                </a:tc>
                <a:tc>
                  <a:txBody>
                    <a:bodyPr/>
                    <a:lstStyle/>
                    <a:p>
                      <a:pPr lvl="0" indent="0" marL="0">
                        <a:buNone/>
                      </a:pPr>
                      <a:r>
                        <a:rPr/>
                        <a:t>threshold 0.5</a:t>
                      </a:r>
                    </a:p>
                  </a:txBody>
                  <a:tcPr/>
                </a:tc>
              </a:tr>
              <a:tr h="0">
                <a:tc>
                  <a:txBody>
                    <a:bodyPr/>
                    <a:lstStyle/>
                    <a:p>
                      <a:pPr lvl="0" indent="0" marL="0">
                        <a:buNone/>
                      </a:pPr>
                      <a:r>
                        <a:rPr/>
                        <a:t>true positives (TP)</a:t>
                      </a:r>
                    </a:p>
                  </a:txBody>
                </a:tc>
                <a:tc>
                  <a:txBody>
                    <a:bodyPr/>
                    <a:lstStyle/>
                    <a:p>
                      <a:pPr lvl="0" indent="0" marL="0">
                        <a:buNone/>
                      </a:pPr>
                      <a:r>
                        <a:rPr/>
                        <a:t>malignant, flagged</a:t>
                      </a:r>
                    </a:p>
                  </a:txBody>
                </a:tc>
                <a:tc>
                  <a:txBody>
                    <a:bodyPr/>
                    <a:lstStyle/>
                    <a:p>
                      <a:pPr lvl="0" indent="0" marL="0">
                        <a:buNone/>
                      </a:pPr>
                      <a:r>
                        <a:rPr/>
                        <a:t>52</a:t>
                      </a:r>
                    </a:p>
                  </a:txBody>
                </a:tc>
              </a:tr>
              <a:tr h="0">
                <a:tc>
                  <a:txBody>
                    <a:bodyPr/>
                    <a:lstStyle/>
                    <a:p>
                      <a:pPr lvl="0" indent="0" marL="0">
                        <a:buNone/>
                      </a:pPr>
                      <a:r>
                        <a:rPr/>
                        <a:t>false negatives (FN)</a:t>
                      </a:r>
                    </a:p>
                  </a:txBody>
                </a:tc>
                <a:tc>
                  <a:txBody>
                    <a:bodyPr/>
                    <a:lstStyle/>
                    <a:p>
                      <a:pPr lvl="0" indent="0" marL="0">
                        <a:buNone/>
                      </a:pPr>
                      <a:r>
                        <a:rPr/>
                        <a:t>malignant, missed</a:t>
                      </a:r>
                    </a:p>
                  </a:txBody>
                </a:tc>
                <a:tc>
                  <a:txBody>
                    <a:bodyPr/>
                    <a:lstStyle/>
                    <a:p>
                      <a:pPr lvl="0" indent="0" marL="0">
                        <a:buNone/>
                      </a:pPr>
                      <a:r>
                        <a:rPr/>
                        <a:t>1</a:t>
                      </a:r>
                    </a:p>
                  </a:txBody>
                </a:tc>
              </a:tr>
              <a:tr h="0">
                <a:tc>
                  <a:txBody>
                    <a:bodyPr/>
                    <a:lstStyle/>
                    <a:p>
                      <a:pPr lvl="0" indent="0" marL="0">
                        <a:buNone/>
                      </a:pPr>
                      <a:r>
                        <a:rPr/>
                        <a:t>false positives (FP)</a:t>
                      </a:r>
                    </a:p>
                  </a:txBody>
                </a:tc>
                <a:tc>
                  <a:txBody>
                    <a:bodyPr/>
                    <a:lstStyle/>
                    <a:p>
                      <a:pPr lvl="0" indent="0" marL="0">
                        <a:buNone/>
                      </a:pPr>
                      <a:r>
                        <a:rPr/>
                        <a:t>benign, flagged</a:t>
                      </a:r>
                    </a:p>
                  </a:txBody>
                </a:tc>
                <a:tc>
                  <a:txBody>
                    <a:bodyPr/>
                    <a:lstStyle/>
                    <a:p>
                      <a:pPr lvl="0" indent="0" marL="0">
                        <a:buNone/>
                      </a:pPr>
                      <a:r>
                        <a:rPr/>
                        <a:t>1</a:t>
                      </a:r>
                    </a:p>
                  </a:txBody>
                </a:tc>
              </a:tr>
              <a:tr h="0">
                <a:tc>
                  <a:txBody>
                    <a:bodyPr/>
                    <a:lstStyle/>
                    <a:p>
                      <a:pPr lvl="0" indent="0" marL="0">
                        <a:buNone/>
                      </a:pPr>
                      <a:r>
                        <a:rPr b="1"/>
                        <a:t>recall</a:t>
                      </a:r>
                      <a:r>
                        <a:rPr/>
                        <a:t> = TP / (TP + FN)</a:t>
                      </a:r>
                    </a:p>
                  </a:txBody>
                </a:tc>
                <a:tc>
                  <a:txBody>
                    <a:bodyPr/>
                    <a:lstStyle/>
                    <a:p>
                      <a:pPr lvl="0" indent="0" marL="0">
                        <a:buNone/>
                      </a:pPr>
                      <a:r>
                        <a:rPr/>
                        <a:t>malignant tumours we caught</a:t>
                      </a:r>
                    </a:p>
                  </a:txBody>
                </a:tc>
                <a:tc>
                  <a:txBody>
                    <a:bodyPr/>
                    <a:lstStyle/>
                    <a:p>
                      <a:pPr lvl="0" indent="0" marL="0">
                        <a:buNone/>
                      </a:pPr>
                      <a:r>
                        <a:rPr/>
                        <a:t>52 / 53 = </a:t>
                      </a:r>
                      <a:r>
                        <a:rPr b="1"/>
                        <a:t>0.981</a:t>
                      </a:r>
                    </a:p>
                  </a:txBody>
                </a:tc>
              </a:tr>
              <a:tr h="0">
                <a:tc>
                  <a:txBody>
                    <a:bodyPr/>
                    <a:lstStyle/>
                    <a:p>
                      <a:pPr lvl="0" indent="0" marL="0">
                        <a:buNone/>
                      </a:pPr>
                      <a:r>
                        <a:rPr b="1"/>
                        <a:t>precision</a:t>
                      </a:r>
                      <a:r>
                        <a:rPr/>
                        <a:t> = TP / (TP + FP)</a:t>
                      </a:r>
                    </a:p>
                  </a:txBody>
                </a:tc>
                <a:tc>
                  <a:txBody>
                    <a:bodyPr/>
                    <a:lstStyle/>
                    <a:p>
                      <a:pPr lvl="0" indent="0" marL="0">
                        <a:buNone/>
                      </a:pPr>
                      <a:r>
                        <a:rPr/>
                        <a:t>alerts that were right</a:t>
                      </a:r>
                    </a:p>
                  </a:txBody>
                </a:tc>
                <a:tc>
                  <a:txBody>
                    <a:bodyPr/>
                    <a:lstStyle/>
                    <a:p>
                      <a:pPr lvl="0" indent="0" marL="0">
                        <a:buNone/>
                      </a:pPr>
                      <a:r>
                        <a:rPr/>
                        <a:t>52 / 53 = </a:t>
                      </a:r>
                      <a:r>
                        <a:rPr b="1"/>
                        <a:t>0.981</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failures, four plausible numbers, and not one bug among them.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