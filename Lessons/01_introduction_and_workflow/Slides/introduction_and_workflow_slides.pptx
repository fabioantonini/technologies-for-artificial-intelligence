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yourself briefly, then establish the two facts that shape everything: this is a fundamentals course, and it assumes programming ability but no ML background.</a:t>
            </a:r>
          </a:p>
          <a:p>
            <a:pPr lvl="0" indent="0" marL="0">
              <a:buNone/>
            </a:pPr>
          </a:p>
          <a:p>
            <a:pPr lvl="0" indent="0" marL="0">
              <a:buNone/>
            </a:pPr>
            <a:r>
              <a:rPr/>
              <a:t>Ask for a show of hands: who has trained a model before? Usually a handful. Tell that group they have an advantage of about two lessons, and a disadvantage that lasts longer, because they will have habits to unlearn around evaluation - most self-taught practice picks up the modelling and skips the validation.</a:t>
            </a:r>
          </a:p>
          <a:p>
            <a:pPr lvl="0" indent="0" marL="0">
              <a:buNone/>
            </a:pPr>
          </a:p>
          <a:p>
            <a:pPr lvl="0" indent="0" marL="0">
              <a:buNone/>
            </a:pPr>
            <a:r>
              <a:rPr/>
              <a:t>Practical notes to give now: the repository is public to them via git, everything runs offline in Docker, and there is no cost attached to any part of this course. Nobody needs an application programming interface (API) key, a cloud account or a graphics processing unit (GPU).</a:t>
            </a:r>
          </a:p>
          <a:p>
            <a:pPr lvl="0" indent="0" marL="0">
              <a:buNone/>
            </a:pPr>
          </a:p>
          <a:p>
            <a:pPr lvl="0" indent="0" marL="0">
              <a:buNone/>
            </a:pPr>
            <a:r>
              <a:rPr/>
              <a:t>Ask them to join the course team on Microsoft Teams now, with the code on the slide - v0t2gvu, zero not the letter o - so that announcements reach everyone from the first week.</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Point at lesson 5 and say it is deliberately in the middle, not at the end. It is the lesson about whether results mean anything, and everything after it depends on it. Most courses put this material last, where it arrives too late to change how students work.</a:t>
            </a:r>
          </a:p>
          <a:p>
            <a:pPr lvl="0" indent="0" marL="0">
              <a:buNone/>
            </a:pPr>
          </a:p>
          <a:p>
            <a:pPr lvl="0" indent="0" marL="0">
              <a:buNone/>
            </a:pPr>
            <a:r>
              <a:rPr/>
              <a:t>Say explicitly that there are no large language models (LLMs), the systems behind chatbots, in this course - they belong to another module in the programme. Some will be disappointed. Tell them the material here is what those systems are built on: the transformer, the architecture inside them, is a neural network, trained by gradient descent on a loss function, and evaluated - badly, often - with the same statistical tools we will spend ten weeks on.</a:t>
            </a:r>
          </a:p>
          <a:p>
            <a:pPr lvl="0" indent="0" marL="0">
              <a:buNone/>
            </a:pPr>
          </a:p>
          <a:p>
            <a:pPr lvl="0" indent="0" marL="0">
              <a:buNone/>
            </a:pPr>
            <a:r>
              <a:rPr/>
              <a:t>If asked “will we do deep learning?”: yes, lessons 9 and 10, but on a laptop CPU and with the emphasis on understanding rather than scale.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direct here. They can learn the scikit-learn API from documentation in an afternoon, and they will. What takes a semester is knowing which number to trust.</a:t>
            </a:r>
          </a:p>
          <a:p>
            <a:pPr lvl="0" indent="0" marL="0">
              <a:buNone/>
            </a:pPr>
          </a:p>
          <a:p>
            <a:pPr lvl="0" indent="0" marL="0">
              <a:buNone/>
            </a:pPr>
            <a:r>
              <a:rPr/>
              <a:t>The concrete promise to make: if they leave this course able to look at someone else’s reported result - a paper, a colleague’s notebook, a vendor’s benchmark - and identify what is wrong with the evaluation, the course succeeded. That skill outlasts every library we touch.</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framing for the whole course, so spend a real minute on it. Handout section 1 develops it.</a:t>
            </a:r>
          </a:p>
          <a:p>
            <a:pPr lvl="0" indent="0" marL="0">
              <a:buNone/>
            </a:pPr>
          </a:p>
          <a:p>
            <a:pPr lvl="0" indent="0" marL="0">
              <a:buNone/>
            </a:pPr>
            <a:r>
              <a:rPr/>
              <a:t>Within three weeks they will write thirty lines that give 95% accuracy on something. The hard question is whether it means anything. Say plainly: the most common failure in this field is not a bug - the code runs exactly as written - it is a number that was never valid in the first place.</a:t>
            </a:r>
          </a:p>
          <a:p>
            <a:pPr lvl="0" indent="0" marL="0">
              <a:buNone/>
            </a:pPr>
          </a:p>
          <a:p>
            <a:pPr lvl="0" indent="0" marL="0">
              <a:buNone/>
            </a:pPr>
            <a:r>
              <a:rPr/>
              <a:t>Contrast with the audience this material used to serve: PhD engineers who had the mathematics and lacked the coding. This group is the mirror image, so the emphasis moves from “make it run” to “make it true”.</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expectations now, and be explicit, because the arrangement is unusual and they will assume the ordinary one. Nothing is handed in, nothing comes back with a mark on it, and there is no written paper to revise for. Each lesson opens by discussing the exercise set the week before; at the exam one of the ten is drawn and they talk through their own notebook for it.</a:t>
            </a:r>
          </a:p>
          <a:p>
            <a:pPr lvl="0" indent="0" marL="0">
              <a:buNone/>
            </a:pPr>
          </a:p>
          <a:p>
            <a:pPr lvl="0" indent="0" marL="0">
              <a:buNone/>
            </a:pPr>
            <a:r>
              <a:rPr/>
              <a:t>Say the consequence plainly, because it is the whole design: an exercise they skipped is one they may have to sit in front of with nothing to say, and an exercise someone else wrote for them is worse, because the questions are all “why did you do this”.</a:t>
            </a:r>
          </a:p>
          <a:p>
            <a:pPr lvl="0" indent="0" marL="0">
              <a:buNone/>
            </a:pPr>
          </a:p>
          <a:p>
            <a:pPr lvl="0" indent="0" marL="0">
              <a:buNone/>
            </a:pPr>
            <a:r>
              <a:rPr/>
              <a:t>Expect the question “so what do we have to study?”. The answer is that the handouts are not optional: nothing is asked in the abstract, but “why that metric” and “what would have told you it was wrong” cannot be answered without them. The theory is examined through their own work rather than on paper.</a:t>
            </a:r>
          </a:p>
          <a:p>
            <a:pPr lvl="0" indent="0" marL="0">
              <a:buNone/>
            </a:pPr>
          </a:p>
          <a:p>
            <a:pPr lvl="0" indent="0" marL="0">
              <a:buNone/>
            </a:pPr>
            <a:r>
              <a:rPr/>
              <a:t>Emphasise the principle: methodology outweighs accuracy. Two students with different scores can both do well. A spectacular score obtained by leaking the test set will not - methodological correctness is 40% of the criteria, and today’s third notebook shows exactly why.</a:t>
            </a:r>
          </a:p>
          <a:p>
            <a:pPr lvl="0" indent="0" marL="0">
              <a:buNone/>
            </a:pPr>
          </a:p>
          <a:p>
            <a:pPr lvl="0" indent="0" marL="0">
              <a:buNone/>
            </a:pPr>
            <a:r>
              <a:rPr/>
              <a:t>Point them at Assessment/ in the repository.</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the division of labour, because it is unusual and it matters.</a:t>
            </a:r>
          </a:p>
          <a:p>
            <a:pPr lvl="0" indent="0" marL="0">
              <a:buNone/>
            </a:pPr>
          </a:p>
          <a:p>
            <a:pPr lvl="0" indent="0" marL="0">
              <a:buNone/>
            </a:pPr>
            <a:r>
              <a:rPr/>
              <a:t>Derivations are NOT on the slides. They are in the handout, to be read afterwards. In the room we do results, intuition and code. This is what lets the lecture move at a sensible pace while the course stays rigorous - and it is why the handout matters at the exam: “why did you choose this metric?” about their own notebook is answered with the derivations, not with the code.</a:t>
            </a:r>
          </a:p>
          <a:p>
            <a:pPr lvl="0" indent="0" marL="0">
              <a:buNone/>
            </a:pPr>
          </a:p>
          <a:p>
            <a:pPr lvl="0" indent="0" marL="0">
              <a:buNone/>
            </a:pPr>
            <a:r>
              <a:rPr/>
              <a:t>Slides and notebooks arrive on the Friday; the handout follows by the Monday, since it is study material rather than lecture support.</a:t>
            </a:r>
          </a:p>
          <a:p>
            <a:pPr lvl="0" indent="0" marL="0">
              <a:buNone/>
            </a:pPr>
          </a:p>
          <a:p>
            <a:pPr lvl="0" indent="0" marL="0">
              <a:buNone/>
            </a:pPr>
            <a:r>
              <a:rPr/>
              <a:t>The quizzes are self-check and ungraded, but three or four questions in each require reasoning about a derivation rather than recall. Those are the closest thing to the exam there is: at the exam one of their own exercise notebooks is drawn and the questions are of exactly that kind, “why did you do this” rather than “state the definition”.</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address is on the slide so it can be copied from the projector: it is split into two variables because the whole URL on one line wraps mid-word in this font and becomes untypeable. Read it out as github.com/fabioantonini, then technologies-for-artificial-intelligence. Course/Setup/Docker_Quickstart.md has it written out for anyone who mistypes it.</a:t>
            </a:r>
          </a:p>
          <a:p>
            <a:pPr lvl="0" indent="0" marL="0">
              <a:buNone/>
            </a:pPr>
          </a:p>
          <a:p>
            <a:pPr lvl="0" indent="0" marL="0">
              <a:buNone/>
            </a:pPr>
            <a:r>
              <a:rPr/>
              <a:t>The folder name, </a:t>
            </a:r>
            <a:r>
              <a:rPr>
                <a:latin typeface="Courier"/>
              </a:rPr>
              <a:t>tai</a:t>
            </a:r>
            <a:r>
              <a:rPr/>
              <a:t>, is theirs to choose: Docker Compose does not care what it is called, and a short one saves them typing all term.</a:t>
            </a:r>
          </a:p>
          <a:p>
            <a:pPr lvl="0" indent="0" marL="0">
              <a:buNone/>
            </a:pPr>
          </a:p>
          <a:p>
            <a:pPr lvl="0" indent="0" marL="0">
              <a:buNone/>
            </a:pPr>
            <a:r>
              <a:rPr/>
              <a:t>Do this live and take ten minutes over it. Making sure everyone has JupyterLab running today is far cheaper than fixing it during lesson 3, when they are also working on an exercise.</a:t>
            </a:r>
          </a:p>
          <a:p>
            <a:pPr lvl="0" indent="0" marL="0">
              <a:buNone/>
            </a:pPr>
          </a:p>
          <a:p>
            <a:pPr lvl="0" indent="0" marL="0">
              <a:buNone/>
            </a:pPr>
            <a:r>
              <a:rPr/>
              <a:t>Explain the two-part design: the Docker image carries the environment, the repository carries the content. New lessons arrive with </a:t>
            </a:r>
            <a:r>
              <a:rPr>
                <a:latin typeface="Courier"/>
              </a:rPr>
              <a:t>git pull</a:t>
            </a:r>
            <a:r>
              <a:rPr/>
              <a:t> - a few megabytes, seconds - not a new image. The image only changes if the libraries change, and they will be told when that happens.</a:t>
            </a:r>
          </a:p>
          <a:p>
            <a:pPr lvl="0" indent="0" marL="0">
              <a:buNone/>
            </a:pPr>
          </a:p>
          <a:p>
            <a:pPr lvl="0" indent="0" marL="0">
              <a:buNone/>
            </a:pPr>
            <a:r>
              <a:rPr/>
              <a:t>Then the second thing to say, because it saves the room ten minutes today and a lecture in November. The image comes in two sizes. </a:t>
            </a:r>
            <a:r>
              <a:rPr>
                <a:latin typeface="Courier"/>
              </a:rPr>
              <a:t>docker compose up</a:t>
            </a:r>
            <a:r>
              <a:rPr/>
              <a:t> gives them </a:t>
            </a:r>
            <a:r>
              <a:rPr>
                <a:latin typeface="Courier"/>
              </a:rPr>
              <a:t>core</a:t>
            </a:r>
            <a:r>
              <a:rPr/>
              <a:t>, a 750 MB download carrying everything lessons 1 to 8 need. Before lesson 9 they change one line in </a:t>
            </a:r>
            <a:r>
              <a:rPr>
                <a:latin typeface="Courier"/>
              </a:rPr>
              <a:t>.env</a:t>
            </a:r>
            <a:r>
              <a:rPr/>
              <a:t> to </a:t>
            </a:r>
            <a:r>
              <a:rPr>
                <a:latin typeface="Courier"/>
              </a:rPr>
              <a:t>TAI_TAG=full</a:t>
            </a:r>
            <a:r>
              <a:rPr/>
              <a:t>, which adds TensorFlow - and because </a:t>
            </a:r>
            <a:r>
              <a:rPr>
                <a:latin typeface="Courier"/>
              </a:rPr>
              <a:t>full</a:t>
            </a:r>
            <a:r>
              <a:rPr/>
              <a:t> is built on top of </a:t>
            </a:r>
            <a:r>
              <a:rPr>
                <a:latin typeface="Courier"/>
              </a:rPr>
              <a:t>core</a:t>
            </a:r>
            <a:r>
              <a:rPr/>
              <a:t>, that switch downloads the TensorFlow layer alone rather than the whole environment again. Point them at Course/Setup/Docker_Quickstart.md for both steps.</a:t>
            </a:r>
          </a:p>
          <a:p>
            <a:pPr lvl="0" indent="0" marL="0">
              <a:buNone/>
            </a:pPr>
          </a:p>
          <a:p>
            <a:pPr lvl="0" indent="0" marL="0">
              <a:buNone/>
            </a:pPr>
            <a:r>
              <a:rPr/>
              <a:t>Ask who has already pulled it. Anyone who has not should run </a:t>
            </a:r>
            <a:r>
              <a:rPr>
                <a:latin typeface="Courier"/>
              </a:rPr>
              <a:t>docker compose pull</a:t>
            </a:r>
            <a:r>
              <a:rPr/>
              <a:t> at home tonight, not now: thirty simultaneous downloads on the lecture-theatre network is not a plan, and it is why the image was cut down in the first place.</a:t>
            </a:r>
          </a:p>
          <a:p>
            <a:pPr lvl="0" indent="0" marL="0">
              <a:buNone/>
            </a:pPr>
          </a:p>
          <a:p>
            <a:pPr lvl="0" indent="0" marL="0">
              <a:buNone/>
            </a:pPr>
            <a:r>
              <a:rPr/>
              <a:t>Common problems: port 8888 already in use (edit docker-compose.yml to 8889), and the first pull taking several minutes on the room’s wifi. Warn them the first start is slow and every later one is not.</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Agenda slide. Flag the last item as the one that matters most today: everything before it is orientation, and that section is where the real subject of the course appears.</a:t>
            </a:r>
          </a:p>
          <a:p>
            <a:pPr lvl="0" indent="0" marL="0">
              <a:buNone/>
            </a:pPr>
          </a:p>
          <a:p>
            <a:pPr lvl="0" indent="0" marL="0">
              <a:buNone/>
            </a:pPr>
            <a:r>
              <a:rPr/>
              <a:t>Timing: about an hour to the break, which comes after the history (slide 34); then the three kinds of learning, then the workflow worked live, then the failure modes. Homework is set in the last five minutes - do not let it slip; nothing is handed in, and it is discussed next Friday.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 this conversationally. Ask the room for rules and write two or three on the board, then break each one: “buy now” - what about a legitimate shop newsletter? Sender blacklists - what about a compromised account belonging to a colleague?</a:t>
            </a:r>
          </a:p>
          <a:p>
            <a:pPr lvl="0" indent="0" marL="0">
              <a:buNone/>
            </a:pPr>
          </a:p>
          <a:p>
            <a:pPr lvl="0" indent="0" marL="0">
              <a:buNone/>
            </a:pPr>
            <a:r>
              <a:rPr/>
              <a:t>Get them to feel the frustration before offering the alternative. The point to make, and it is handout section 2: the program is not hard to write, the RULE is impossible to state. You recognise spam instantly and cannot articulate how.</a:t>
            </a:r>
          </a:p>
          <a:p>
            <a:pPr lvl="0" indent="0" marL="0">
              <a:buNone/>
            </a:pPr>
          </a:p>
          <a:p>
            <a:pPr lvl="0" indent="0" marL="0">
              <a:buNone/>
            </a:pPr>
            <a:r>
              <a:rPr/>
              <a:t>If someone proposes machine learning immediately, slow them down - the interesting part is understanding precisely which difficulty it addresses.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four rows down the left, and the exception each one buys on the right. Take them one at a time - the effect depends on the accumulation.</a:t>
            </a:r>
          </a:p>
          <a:p>
            <a:pPr lvl="0" indent="0" marL="0">
              <a:buNone/>
            </a:pPr>
          </a:p>
          <a:p>
            <a:pPr lvl="0" indent="0" marL="0">
              <a:buNone/>
            </a:pPr>
            <a:r>
              <a:rPr/>
              <a:t>The point is not that these are bad rules. Each is a reasonable idea, and each fails on a case that is obviously not spam to any human reader. Ask the room for a fifth rule and then for what breaks it; somebody will supply both within a few seconds, which is the demonstration.</a:t>
            </a:r>
          </a:p>
          <a:p>
            <a:pPr lvl="0" indent="0" marL="0">
              <a:buNone/>
            </a:pPr>
          </a:p>
          <a:p>
            <a:pPr lvl="0" indent="0" marL="0">
              <a:buNone/>
            </a:pPr>
            <a:r>
              <a:rPr/>
              <a:t>The line at the bottom is the one to leave them with: you cannot state the rule, but you recognise the answer. That gap is the whole reason this course exists, and every method in it is a way of closing it from examples instead of from specification.</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conceptual move that defines the field, so say it slowly while the figure is up.</a:t>
            </a:r>
          </a:p>
          <a:p>
            <a:pPr lvl="0" indent="0" marL="0">
              <a:buNone/>
            </a:pPr>
          </a:p>
          <a:p>
            <a:pPr lvl="0" indent="0" marL="0">
              <a:buNone/>
            </a:pPr>
            <a:r>
              <a:rPr/>
              <a:t>Traditional programming: you supply rules and data, the machine produces answers. Machine learning: you supply data and answers, and the machine produces the rules. The arrows literally reverse.</a:t>
            </a:r>
          </a:p>
          <a:p>
            <a:pPr lvl="0" indent="0" marL="0">
              <a:buNone/>
            </a:pPr>
          </a:p>
          <a:p>
            <a:pPr lvl="0" indent="0" marL="0">
              <a:buNone/>
            </a:pPr>
            <a:r>
              <a:rPr/>
              <a:t>Everything else in this course is machinery for doing that search well - and for telling whether the rules it found are real or an artefact of the sample you happened to collect.</a:t>
            </a:r>
          </a:p>
          <a:p>
            <a:pPr lvl="0" indent="0" marL="0">
              <a:buNone/>
            </a:pPr>
          </a:p>
          <a:p>
            <a:pPr lvl="0" indent="0" marL="0">
              <a:buNone/>
            </a:pPr>
            <a:r>
              <a:rPr/>
              <a:t>Worth adding: the idea is old. Arthur Samuel’s checkers program, in the 1950s, improved by playing games rather than by rules somebody wrote for it, and he called that machine learning. The arrows picture is a modern way of drawing what he did, and it is still the cleanest one-sentence description of what changed.</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 this before any symbol appears, because “pairs (x, y) drawn from a distribution” is unreadable to someone who has never seen what is inside an x.</a:t>
            </a:r>
          </a:p>
          <a:p>
            <a:pPr lvl="0" indent="0" marL="0">
              <a:buNone/>
            </a:pPr>
          </a:p>
          <a:p>
            <a:pPr lvl="0" indent="0" marL="0">
              <a:buNone/>
            </a:pPr>
            <a:r>
              <a:rPr/>
              <a:t>Point at the numbers first. One tumour, thirty measurements taken from a digitised image of a tissue sample - radius, texture, perimeter, area and 26 more. THAT list is x. The thing we want to predict, malignant or benign, is y. Notebook 02 prints exactly this table in its second cell, and it is the dataset we use for the whole workflow later today.</a:t>
            </a:r>
          </a:p>
          <a:p>
            <a:pPr lvl="0" indent="0" marL="0">
              <a:buNone/>
            </a:pPr>
          </a:p>
          <a:p>
            <a:pPr lvl="0" indent="0" marL="0">
              <a:buNone/>
            </a:pPr>
            <a:r>
              <a:rPr/>
              <a:t>Then the two letters, and say they never move: m counts examples, n counts features, rows are examples, columns are features. Every lesson of the course uses them this way, and lesson 3 will write the normal equation with them.</a:t>
            </a:r>
          </a:p>
          <a:p>
            <a:pPr lvl="0" indent="0" marL="0">
              <a:buNone/>
            </a:pPr>
          </a:p>
          <a:p>
            <a:pPr lvl="0" indent="0" marL="0">
              <a:buNone/>
            </a:pPr>
            <a:r>
              <a:rPr/>
              <a:t>Last sentence, and it sets up lesson 2: the thirty columns are not the tumour. They are what somebody decided to measure of it. Ask the room what else they would have measured - age, family history, time since the last scan - and let them notice that none of it is in the file. Handout section 2.1.</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Keep this brisk - handout section 2.1 has the full treatment and they will read it.</a:t>
            </a:r>
          </a:p>
          <a:p>
            <a:pPr lvl="0" indent="0" marL="0">
              <a:buNone/>
            </a:pPr>
          </a:p>
          <a:p>
            <a:pPr lvl="0" indent="0" marL="0">
              <a:buNone/>
            </a:pPr>
            <a:r>
              <a:rPr/>
              <a:t>Two things to stress about D. It is UNKNOWN, which is why we need data at all. And it is assumed FIXED - the same distribution generates the training data and the data we will meet later. That assumption is quiet and it fails constantly in practice: the hospital changes its equipment, the users change, the season turns. When it fails, models degrade without any warning from their metrics. Promise them we return to it.</a:t>
            </a:r>
          </a:p>
          <a:p>
            <a:pPr lvl="0" indent="0" marL="0">
              <a:buNone/>
            </a:pPr>
          </a:p>
          <a:p>
            <a:pPr lvl="0" indent="0" marL="0">
              <a:buNone/>
            </a:pPr>
            <a:r>
              <a:rPr/>
              <a:t>The loss function is where the domain enters the mathematics. Choosing it is a decision about which mistakes matter, and we make that choice explicitly for the tumour data on slide 45, “Which error is worse?”.</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on the previous slide, drawn once so it can be pointed at for the rest of the course.</a:t>
            </a:r>
          </a:p>
          <a:p>
            <a:pPr lvl="0" indent="0" marL="0">
              <a:buNone/>
            </a:pPr>
          </a:p>
          <a:p>
            <a:pPr lvl="0" indent="0" marL="0">
              <a:buNone/>
            </a:pPr>
            <a:r>
              <a:rPr/>
              <a:t>Trace the path with a finger: a pair is drawn from D, x goes into f, f produces y-hat, the loss compares y-hat against the y that came with it.</a:t>
            </a:r>
          </a:p>
          <a:p>
            <a:pPr lvl="0" indent="0" marL="0">
              <a:buNone/>
            </a:pPr>
          </a:p>
          <a:p>
            <a:pPr lvl="0" indent="0" marL="0">
              <a:buNone/>
            </a:pPr>
            <a:r>
              <a:rPr/>
              <a:t>Then point at the dashed box. Three of these objects we handle directly - the inputs, the function we search for, the predictions. The fourth, the distribution the data comes from, we never see. Everything difficult in this course comes from that one box being out of reach.</a:t>
            </a:r>
          </a:p>
          <a:p>
            <a:pPr lvl="0" indent="0" marL="0">
              <a:buNone/>
            </a:pPr>
          </a:p>
          <a:p>
            <a:pPr lvl="0" indent="0" marL="0">
              <a:buNone/>
            </a:pPr>
            <a:r>
              <a:rPr/>
              <a:t>Worth naming now, because it returns in lesson 5: we see a sample from D, never D itself, and every claim we make about a model is an inference from the sample to the distribution. Most of the methodology later in the course is about not fooling yourself in that step.</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it: expected risk, sometimes called true risk or generalisation error.</a:t>
            </a:r>
          </a:p>
          <a:p>
            <a:pPr lvl="0" indent="0" marL="0">
              <a:buNone/>
            </a:pPr>
          </a:p>
          <a:p>
            <a:pPr lvl="0" indent="0" marL="0">
              <a:buNone/>
            </a:pPr>
            <a:r>
              <a:rPr/>
              <a:t>Then say the key point and pause on it - we cannot compute this. D is unknown, the expectation is over data that has not been collected, and no amount of cleverness gets around it.</a:t>
            </a:r>
          </a:p>
          <a:p>
            <a:pPr lvl="0" indent="0" marL="0">
              <a:buNone/>
            </a:pPr>
          </a:p>
          <a:p>
            <a:pPr lvl="0" indent="0" marL="0">
              <a:buNone/>
            </a:pPr>
            <a:r>
              <a:rPr/>
              <a:t>This is the central obstacle of the field, and everything else in the course follows from it. If a student takes one idea away today, this is a good candidate.</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Empirical risk. Minimising it is empirical risk minimisation, and essentially every method in this course is an instance of it - linear regression, logistic regression, trees, neural networks. Different function classes, same principle.</a:t>
            </a:r>
          </a:p>
          <a:p>
            <a:pPr lvl="0" indent="0" marL="0">
              <a:buNone/>
            </a:pPr>
          </a:p>
          <a:p>
            <a:pPr lvl="0" indent="0" marL="0">
              <a:buNone/>
            </a:pPr>
            <a:r>
              <a:rPr/>
              <a:t>Say what L is, or it stays a placeholder all lesson - the next slide does it with the simplest choice, and that choice turns this formula into accuracy.</a:t>
            </a:r>
          </a:p>
          <a:p>
            <a:pPr lvl="0" indent="0" marL="0">
              <a:buNone/>
            </a:pPr>
          </a:p>
          <a:p>
            <a:pPr lvl="0" indent="0" marL="0">
              <a:buNone/>
            </a:pPr>
            <a:r>
              <a:rPr/>
              <a:t>And say that choosing L is a modelling decision, not a technicality: it is where you state what counts as a bad mistake, before any model exists. The zero-one loss of the next slide says every error costs the same, which is almost never true. Lesson 3 uses squared error, lesson 4 uses cross-entropy and then prices the two kinds of mistake separately. Handout 2.1.</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word has been used since the first slide and never pinned down, so pin it now, and pin it to the formula on the previous slide. Take the simplest loss there is: 0 when the answer is right, 1 when it is wrong. Then the average loss over the sample is just the fraction of wrong answers - the error rate - and accuracy is one minus it. Every accuracy in today’s notebooks is an empirical risk under a friendlier name.</a:t>
            </a:r>
          </a:p>
          <a:p>
            <a:pPr lvl="0" indent="0" marL="0">
              <a:buNone/>
            </a:pPr>
          </a:p>
          <a:p>
            <a:pPr lvl="0" indent="0" marL="0">
              <a:buNone/>
            </a:pPr>
            <a:r>
              <a:rPr/>
              <a:t>The number they will see in notebook 02: the model gets 141 of the 143 test tumours right, 141 / 143 = 0.986, so the error rate is 2 / 143 = 0.014.</a:t>
            </a:r>
          </a:p>
          <a:p>
            <a:pPr lvl="0" indent="0" marL="0">
              <a:buNone/>
            </a:pPr>
          </a:p>
          <a:p>
            <a:pPr lvl="0" indent="0" marL="0">
              <a:buNone/>
            </a:pPr>
            <a:r>
              <a:rPr/>
              <a:t>Flag the last bullet now and come back to it: the zero-one loss charges a malignant tumour sent home exactly what it charges a benign one sent to biopsy. That is the confusion-matrix slide later today, and lesson 4’s subject. Handout 2.1.</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whole of “learning” in one formula, and it reads left to right as a sentence. F is the family: every model we are willing to consider - all the threshold rules on the next slide, all the weighted sums of the 30 features in notebook 02. R-hat is the empirical risk from two slides back, the training error. And arg min means “the member of the family where that error is smallest” - not the smallest error itself, the model that achieves it. f-hat, with the hat, is that model: an estimate, picked from data, of the f we really want.</a:t>
            </a:r>
          </a:p>
          <a:p>
            <a:pPr lvl="0" indent="0" marL="0">
              <a:buNone/>
            </a:pPr>
          </a:p>
          <a:p>
            <a:pPr lvl="0" indent="0" marL="0">
              <a:buNone/>
            </a:pPr>
            <a:r>
              <a:rPr/>
              <a:t>So two decisions are made before any data arrives - which family F, which loss inside R-hat - and the data makes the third: which member of F wins. The next slide shows the arg min being taken, one candidate at a time. Handout 2.1.</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what “fit” actually does, on the smallest model there is. One feature - the mean radius of the tumour - and one family of rules: call a tumour malignant if its radius is above a threshold t. Every value of t is a different candidate model.</a:t>
            </a:r>
          </a:p>
          <a:p>
            <a:pPr lvl="0" indent="0" marL="0">
              <a:buNone/>
            </a:pPr>
          </a:p>
          <a:p>
            <a:pPr lvl="0" indent="0" marL="0">
              <a:buNone/>
            </a:pPr>
            <a:r>
              <a:rPr/>
              <a:t>Before reading the curve, say what the two axes are, because they share one scale and are not the same thing. Top: each training tumour’s radius - the data. Bottom: the candidate threshold t - the parameter being chosen. They can share an axis only because this parameter is itself a radius value. Written as a linear model the rule is “malignant if w1 * radius + b &gt; 0” with w1 fixed at 1, so the number being searched for is the intercept, b = -t = -15.04. Any positive w1 gives the same rule (w1 = 2, b = -30.08 is still “radius above 15.04”), so with one feature only the threshold matters. In lesson 3 the parameters are two coefficients, a slope and an intercept, and this curve becomes a surface.</a:t>
            </a:r>
          </a:p>
          <a:p>
            <a:pPr lvl="0" indent="0" marL="0">
              <a:buNone/>
            </a:pPr>
          </a:p>
          <a:p>
            <a:pPr lvl="0" indent="0" marL="0">
              <a:buNone/>
            </a:pPr>
            <a:r>
              <a:rPr/>
              <a:t>Top: the 426 training tumours along the radius axis, malignant above, benign below. Bottom: the training error rate of every one of the 355 candidate thresholds - a threshold halfway between each pair of neighbouring values. Learning, here, is literally this: try them all, keep the one with the fewest mistakes. It is t = 15.04, with training error 0.108, so training accuracy 0.892. On the 143 test tumours it never saw it scores 0.888.</a:t>
            </a:r>
          </a:p>
          <a:p>
            <a:pPr lvl="0" indent="0" marL="0">
              <a:buNone/>
            </a:pPr>
          </a:p>
          <a:p>
            <a:pPr lvl="0" indent="0" marL="0">
              <a:buNone/>
            </a:pPr>
            <a:r>
              <a:rPr/>
              <a:t>Then generalise in one sentence each. The real model in notebook 02 does the same thing - choose a family, score every member on the training data, keep the best - with all 30 features, a far richer family (weighted sums of the features), and a smarter search than trying every candidate one by one; lesson 3 shows that search. It gets to 0.986.</a:t>
            </a:r>
          </a:p>
          <a:p>
            <a:pPr lvl="0" indent="0" marL="0">
              <a:buNone/>
            </a:pPr>
          </a:p>
          <a:p>
            <a:pPr lvl="0" indent="0" marL="0">
              <a:buNone/>
            </a:pPr>
            <a:r>
              <a:rPr/>
              <a:t>Ask the room: what could go wrong with minimising the training error instead of the error we actually care about, on new tumours? Give them a moment. Here the two numbers are close, 0.892 and 0.888, because a one-threshold family is too small to memorise anything. Someone usually says “with a richer family it might not generalise”, which is exactly right and is the next slide. Notebook 02, section 5; handout 2.1.</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central slide of the lesson. Walk the figure carefully.</a:t>
            </a:r>
          </a:p>
          <a:p>
            <a:pPr lvl="0" indent="0" marL="0">
              <a:buNone/>
            </a:pPr>
          </a:p>
          <a:p>
            <a:pPr lvl="0" indent="0" marL="0">
              <a:buNone/>
            </a:pPr>
            <a:r>
              <a:rPr/>
              <a:t>Empirical risk falls as the model gets more flexible - more parameters fit the sample better, and with enough of them you reach zero by storing every example and reciting its answer. Say the condition if anyone presses: it falls for families that contain one another, when the solver finds the best member; handout section 2.2 shows np.polyfit at degree 21 returning a worse training error than at degree 20.</a:t>
            </a:r>
          </a:p>
          <a:p>
            <a:pPr lvl="0" indent="0" marL="0">
              <a:buNone/>
            </a:pPr>
          </a:p>
          <a:p>
            <a:pPr lvl="0" indent="0" marL="0">
              <a:buNone/>
            </a:pPr>
            <a:r>
              <a:rPr/>
              <a:t>Expected risk turns back up. The shaded region between the curves is overfitting: the model has learnt the sample rather than the pattern.</a:t>
            </a:r>
          </a:p>
          <a:p>
            <a:pPr lvl="0" indent="0" marL="0">
              <a:buNone/>
            </a:pPr>
          </a:p>
          <a:p>
            <a:pPr lvl="0" indent="0" marL="0">
              <a:buNone/>
            </a:pPr>
            <a:r>
              <a:rPr/>
              <a:t>Expect this question, because it is the right one to ask: if R(f) cannot be computed, what is the red curve? Answer in three steps. First, the two curves are not the same quantity measured on two datasets - empirical risk is an average over a sample you hold, expected risk is an average over the whole distribution, so there is no second R(f) “on the training data”. Second, empirical risk can be computed on ANY sample, and on rows the fitting never touched it is an unbiased estimate of R(f) - that is what a test set buys, and section 2.3 is the argument. Third, the red curve is drawn, not measured: in a simulation where we choose the true function ourselves R(f) really is computable, and lesson 5’s notebook 02 measures exactly this shape over 300 generated datasets.</a:t>
            </a:r>
          </a:p>
          <a:p>
            <a:pPr lvl="0" indent="0" marL="0">
              <a:buNone/>
            </a:pPr>
          </a:p>
          <a:p>
            <a:pPr lvl="0" indent="0" marL="0">
              <a:buNone/>
            </a:pPr>
            <a:r>
              <a:rPr/>
              <a:t>The consequence for practice: performance on data you fitted to is ALWAYS optimistic and sometimes meaningless. Handout section 2.2 makes the argument in full.</a:t>
            </a:r>
          </a:p>
          <a:p>
            <a:pPr lvl="0" indent="0" marL="0">
              <a:buNone/>
            </a:pPr>
          </a:p>
          <a:p>
            <a:pPr lvl="0" indent="0" marL="0">
              <a:buNone/>
            </a:pPr>
            <a:r>
              <a:rPr/>
              <a:t>Note the dotted line - the best trade-off - and say we spend lesson 5 learning to find it honestly, and lessons 3 and 7 meeting the two standard tools for controlling it, regularisation and ensembling.</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fits to identical points. Left: a straight line cannot follow the curve, so it is wrong everywhere in the same way - what lesson 5 will call high bias, a model too simple for the pattern - and poor on training AND test data alike. Right: degree-18 passes through nearly every point and oscillates wildly between them - it will be badly wrong on anything new.</a:t>
            </a:r>
          </a:p>
          <a:p>
            <a:pPr lvl="0" indent="0" marL="0">
              <a:buNone/>
            </a:pPr>
          </a:p>
          <a:p>
            <a:pPr lvl="0" indent="0" marL="0">
              <a:buNone/>
            </a:pPr>
            <a:r>
              <a:rPr/>
              <a:t>Ask which one they would choose without seeing the dashed line. That is the real situation: the true pattern is never visible, only the sample.</a:t>
            </a:r>
          </a:p>
          <a:p>
            <a:pPr lvl="0" indent="0" marL="0">
              <a:buNone/>
            </a:pPr>
          </a:p>
          <a:p>
            <a:pPr lvl="0" indent="0" marL="0">
              <a:buNone/>
            </a:pPr>
            <a:r>
              <a:rPr/>
              <a:t>Point out the trap in the right-hand panel - it has the LOWEST training error of the three. If you selected a model by training error you would pick it every time. That is precisely why we hold data out.</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clearly: this is not bureaucratic caution, and give the reason rather than the instruction. Handout sections 2.3 to 2.5 carry the full argument.</a:t>
            </a:r>
          </a:p>
          <a:p>
            <a:pPr lvl="0" indent="0" marL="0">
              <a:buNone/>
            </a:pPr>
          </a:p>
          <a:p>
            <a:pPr lvl="0" indent="0" marL="0">
              <a:buNone/>
            </a:pPr>
            <a:r>
              <a:rPr/>
              <a:t>The difficulty is not that a sample is small. It is that if the same data both CHOOSES the model and JUDGES it, the judgement stops being an unbiased estimate. The analogy that works: a revision session that happens to rehearse exactly the exam questions. Nobody cheated - the same questions both shaped the preparation and judged it.</a:t>
            </a:r>
          </a:p>
          <a:p>
            <a:pPr lvl="0" indent="0" marL="0">
              <a:buNone/>
            </a:pPr>
          </a:p>
          <a:p>
            <a:pPr lvl="0" indent="0" marL="0">
              <a:buNone/>
            </a:pPr>
            <a:r>
              <a:rPr/>
              <a:t>Why a held-out set repairs it: if the test set played no part in choosing f, it stays independent of f, and the error measured on it is an unbiased estimate of the expected risk - the quantity we just said was not computable. Worth putting on the board.</a:t>
            </a:r>
          </a:p>
          <a:p>
            <a:pPr lvl="0" indent="0" marL="0">
              <a:buNone/>
            </a:pPr>
          </a:p>
          <a:p>
            <a:pPr lvl="0" indent="0" marL="0">
              <a:buNone/>
            </a:pPr>
            <a:r>
              <a:rPr/>
              <a:t>Be precise about “unbiased”, because it is easy to over-read and somebody will. The average is taken over ALL the test sets of that size we might have drawn, not over the one we did draw. Our particular test set is still too high or too low by some amount; what the argument buys is that it is not too high SYSTEMATICALLY. One test set gives one draw from a distribution centred on the right answer - which is exactly why the next question is how wide that distribution is.</a:t>
            </a:r>
          </a:p>
          <a:p>
            <a:pPr lvl="0" indent="0" marL="0">
              <a:buNone/>
            </a:pPr>
          </a:p>
          <a:p>
            <a:pPr lvl="0" indent="0" marL="0">
              <a:buNone/>
            </a:pPr>
            <a:r>
              <a:rPr/>
              <a:t>Stress what that argument depends on: the INDEPENDENCE of the test set, not its size or its proportion. The moment those rows influence any decision - a mean for scaling, a ranking for feature selection, a comparison between models - the independence breaks and the estimate is optimistic by an unknown amount. That is why the rule is “nothing is learned before the split” rather than “keep some data aside”.</a:t>
            </a:r>
          </a:p>
          <a:p>
            <a:pPr lvl="0" indent="0" marL="0">
              <a:buNone/>
            </a:pPr>
          </a:p>
          <a:p>
            <a:pPr lvl="0" indent="0" marL="0">
              <a:buNone/>
            </a:pPr>
            <a:r>
              <a:rPr/>
              <a:t>Warn them we will break exactly that independence later today and watch 77% accuracy appear out of coin-flip labels.</a:t>
            </a:r>
          </a:p>
          <a:p>
            <a:pPr lvl="0" indent="0" marL="0">
              <a:buNone/>
            </a:pPr>
          </a:p>
          <a:p>
            <a:pPr lvl="0" indent="0" marL="0">
              <a:buNone/>
            </a:pPr>
            <a:r>
              <a:rPr/>
              <a:t>If someone asks “how much do we hold out?” - typically 20-30%, and the trade-off is real in both directions. A bigger test set gives a more stable estimate; a bigger training set gives a better model. Say what “more stable” means before using it: the standard error is how far the measured accuracy would typically move if you drew a different test set of the same size, and it shrinks as one over the square root of m, the number of TEST examples - so quadrupling the test set halves the error bar, and that is the only way to buy precision. Give them the concrete number from notebook 02: 143 test examples at 0.986 accuracy carries a standard error of about one percentage point, so the third decimal place is noise. If anyone presses on the interval, concede it: 0.986 of 143 is two errors, the normal approximation is not admissible there - it returns an upper limit of 100.5% - and the honest lower bound is 95.0%, not the approximation’s 96.7%. Handout section 2.4 works it through. With a few hundred examples both sides hurt at once, which is what cross-validation exists for - lesson 5.</a:t>
            </a:r>
          </a:p>
          <a:p>
            <a:pPr lvl="0" indent="0" marL="0">
              <a:buNone/>
            </a:pPr>
          </a:p>
          <a:p>
            <a:pPr lvl="0" indent="0" marL="0">
              <a:buNone/>
            </a:pPr>
            <a:r>
              <a:rPr/>
              <a:t>If someone asks “what if I try ten models and report the best?” - they have just selected using the test set, and the number is optimistic again. That is the bridge to the validation set, and to lesson 5. Today we need only train and test because we make no choices: one model, no tuning.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Unfashionable and immediately useful - handout section 3.</a:t>
            </a:r>
          </a:p>
          <a:p>
            <a:pPr lvl="0" indent="0" marL="0">
              <a:buNone/>
            </a:pPr>
          </a:p>
          <a:p>
            <a:pPr lvl="0" indent="0" marL="0">
              <a:buNone/>
            </a:pPr>
            <a:r>
              <a:rPr/>
              <a:t>First point: nobody should train a classifier to detect whether a number is even. It sounds obvious and is violated constantly, usually because ML is the interesting option and a rule is boring.</a:t>
            </a:r>
          </a:p>
          <a:p>
            <a:pPr lvl="0" indent="0" marL="0">
              <a:buNone/>
            </a:pPr>
          </a:p>
          <a:p>
            <a:pPr lvl="0" indent="0" marL="0">
              <a:buNone/>
            </a:pPr>
            <a:r>
              <a:rPr/>
              <a:t>Second: a model learns the distribution it was trained on. Sample from one hospital, deploy in another, and the measured accuracy says very little.</a:t>
            </a:r>
          </a:p>
          <a:p>
            <a:pPr lvl="0" indent="0" marL="0">
              <a:buNone/>
            </a:pPr>
          </a:p>
          <a:p>
            <a:pPr lvl="0" indent="0" marL="0">
              <a:buNone/>
            </a:pPr>
            <a:r>
              <a:rPr/>
              <a:t>Third, and expect this one to be challenged, because it sounds like something you could only know after deploying. Make the point that all three judgements - that errors will happen, that they cannot be undone, that nobody reviews the output - are available before any code is written.</a:t>
            </a:r>
          </a:p>
          <a:p>
            <a:pPr lvl="0" indent="0" marL="0">
              <a:buNone/>
            </a:pPr>
          </a:p>
          <a:p>
            <a:pPr lvl="0" indent="0" marL="0">
              <a:buNone/>
            </a:pPr>
            <a:r>
              <a:rPr/>
              <a:t>The model WILL be wrong - not might be. Handout section 2.2 settled that, and today’s best model gets 2 of 143 wrong. You cannot know which 2 in advance; if you could, you would fix them. Whether a wrong answer can be undone is a fact about the application - a misfiled ticket is reopened, a wrong dose is not. Whether a person sees the output before it acts is a fact about the deployment, not about the weights.</a:t>
            </a:r>
          </a:p>
          <a:p>
            <a:pPr lvl="0" indent="0" marL="0">
              <a:buNone/>
            </a:pPr>
          </a:p>
          <a:p>
            <a:pPr lvl="0" indent="0" marL="0">
              <a:buNone/>
            </a:pPr>
            <a:r>
              <a:rPr/>
              <a:t>Certain, unrecoverable and unseen: no accuracy figure rescues that design, and you knew all three before you started.</a:t>
            </a:r>
          </a:p>
          <a:p>
            <a:pPr lvl="0" indent="0" marL="0">
              <a:buNone/>
            </a:pPr>
          </a:p>
          <a:p>
            <a:pPr lvl="0" indent="0" marL="0">
              <a:buNone/>
            </a:pPr>
            <a:r>
              <a:rPr/>
              <a:t>Worth adding if someone raises it: “unexplainable” is partly a choice. A short tree in lesson 7 states its reasoning; a linear model in lesson 3 attributes the answer feature by feature. If somebody must justify the decision to the person it affects, that belongs in the framing step, where it rules families in or out.</a:t>
            </a:r>
          </a:p>
          <a:p>
            <a:pPr lvl="0" indent="0" marL="0">
              <a:buNone/>
            </a:pPr>
          </a:p>
          <a:p>
            <a:pPr lvl="0" indent="0" marL="0">
              <a:buNone/>
            </a:pPr>
            <a:r>
              <a:rPr/>
              <a:t>Fourth: a model is not neutral because it is mathematical. It is a compressed summary of the decisions in its training data. We return to this at the end of the lesson.</a:t>
            </a:r>
          </a:p>
          <a:p>
            <a:pPr lvl="0" indent="0" marL="0">
              <a:buNone/>
            </a:pPr>
          </a:p>
          <a:p>
            <a:pPr lvl="0" indent="0" marL="0">
              <a:buNone/>
            </a:pPr>
            <a:r>
              <a:rPr/>
              <a:t>Fifth: often a simple rule, such as a threshold on one variable, solves most of the problem, is understandable by everyone, and needs no maintenance. Establishing baselines - step 4 of the workflow - is partly how you discover this before building something complicated.</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the history section with the whole arc visible, then walk the individual moments. Resources/history_of_ai.md has the full version with primary sources - tell them it is worth an hour and is not examinable in itself.</a:t>
            </a:r>
          </a:p>
          <a:p>
            <a:pPr lvl="0" indent="0" marL="0">
              <a:buNone/>
            </a:pPr>
          </a:p>
          <a:p>
            <a:pPr lvl="0" indent="0" marL="0">
              <a:buNone/>
            </a:pPr>
            <a:r>
              <a:rPr/>
              <a:t>The two grey bands are the AI winters. Point at them now and say the question for the next ten minutes is what caused them, because the answer is not “the technology did not work”.</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Warren McCulloch, a neurophysiologist, and Walter Pitts, a logician. Their claim was philosophical as much as technical: thought might be computation. They showed networks of such units can compute any logical proposition.</a:t>
            </a:r>
          </a:p>
          <a:p>
            <a:pPr lvl="0" indent="0" marL="0">
              <a:buNone/>
            </a:pPr>
          </a:p>
          <a:p>
            <a:pPr lvl="0" indent="0" marL="0">
              <a:buNone/>
            </a:pPr>
            <a:r>
              <a:rPr/>
              <a:t>Weights were set by hand - nothing learned yet. That comes in 1957.</a:t>
            </a:r>
          </a:p>
          <a:p>
            <a:pPr lvl="0" indent="0" marL="0">
              <a:buNone/>
            </a:pPr>
          </a:p>
          <a:p>
            <a:pPr lvl="0" indent="0" marL="0">
              <a:buNone/>
            </a:pPr>
            <a:r>
              <a:rPr/>
              <a:t>Walk the diagram: inputs, a weight on each, a sum, and a hard threshold. Then point at the right-hand panel - the step function is what makes it all-or-nothing, and it is exactly what gets replaced by a smooth sigmoid in lesson 4 and by the rectified linear unit (ReLU) in lesson 9. Same object, softened, so that it has a slope everywhere and can therefore be trained by following that slope. The history is not decoration; it is the same objects under different names.</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Highlight the MOVE rather than the test. Turing opens by declaring the original question too meaningless to deserve discussion, and substitutes an operational one.</a:t>
            </a:r>
          </a:p>
          <a:p>
            <a:pPr lvl="0" indent="0" marL="0">
              <a:buNone/>
            </a:pPr>
          </a:p>
          <a:p>
            <a:pPr lvl="0" indent="0" marL="0">
              <a:buNone/>
            </a:pPr>
            <a:r>
              <a:rPr/>
              <a:t>That is exactly what they do every time they choose a metric: replace something that cannot be measured - “is this model good?” - with something that can. It carries the same obligation, to stay aware of the gap between the proxy and the thing itself. The whole of lesson 4 is about that gap for classification.</a:t>
            </a:r>
          </a:p>
          <a:p>
            <a:pPr lvl="0" indent="0" marL="0">
              <a:buNone/>
            </a:pPr>
          </a:p>
          <a:p>
            <a:pPr lvl="0" indent="0" marL="0">
              <a:buNone/>
            </a:pPr>
            <a:r>
              <a:rPr/>
              <a:t>Recommend the paper. It is readable, funny, and answers nine objections including “a machine can only do what it is told” - his reply, that this assumes we can foresee the consequences of what we tell it, has aged extremely well.</a:t>
            </a:r>
          </a:p>
          <a:p>
            <a:pPr lvl="0" indent="0" marL="0">
              <a:buNone/>
            </a:pPr>
          </a:p>
          <a:p>
            <a:pPr lvl="0" indent="0" marL="0">
              <a:buNone/>
            </a:pPr>
            <a:r>
              <a:rPr/>
              <a:t>The screen is the whole design: it removes appearance, voice and everything except the behaviour being tested. Ask the room what this test does NOT measure - understanding, consciousness, correctness - and note that Turing knew, and argued the substitution was worth making anyway.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the room react to “two months”. Seventy years later the problem is open.</a:t>
            </a:r>
          </a:p>
          <a:p>
            <a:pPr lvl="0" indent="0" marL="0">
              <a:buNone/>
            </a:pPr>
          </a:p>
          <a:p>
            <a:pPr lvl="0" indent="0" marL="0">
              <a:buNone/>
            </a:pPr>
            <a:r>
              <a:rPr/>
              <a:t>McCarthy, Minsky, Shannon and Rochester convened it. The optimism is not incidental - it is present at the field’s naming and it recurs on a cycle, which is the argument of this whole section.</a:t>
            </a:r>
          </a:p>
          <a:p>
            <a:pPr lvl="0" indent="0" marL="0">
              <a:buNone/>
            </a:pPr>
          </a:p>
          <a:p>
            <a:pPr lvl="0" indent="0" marL="0">
              <a:buNone/>
            </a:pPr>
            <a:r>
              <a:rPr/>
              <a:t>These are the seven topics from the actual proposal. Read two or three aloud - ‘self-improvement’, ‘randomness and creativity’ - and let the room judge how much of the list is settled. Then note that the proposal’s authors expected substantial progress on all of it in one summer.</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first machine that learns. Physical hardware - photocells, potentiometers, motors.</a:t>
            </a:r>
          </a:p>
          <a:p>
            <a:pPr lvl="0" indent="0" marL="0">
              <a:buNone/>
            </a:pPr>
          </a:p>
          <a:p>
            <a:pPr lvl="0" indent="0" marL="0">
              <a:buNone/>
            </a:pPr>
            <a:r>
              <a:rPr/>
              <a:t>Stress the CONDITION on Rosenblatt’s convergence theorem: if a straight line can separate the two classes (they are “linearly separable”), the learning rule finds such a line in a finite number of steps. The theorem is true, and that “if” is carrying enormous weight, as 1969 will show.</a:t>
            </a:r>
          </a:p>
          <a:p>
            <a:pPr lvl="0" indent="0" marL="0">
              <a:buNone/>
            </a:pPr>
          </a:p>
          <a:p>
            <a:pPr lvl="0" indent="0" marL="0">
              <a:buNone/>
            </a:pPr>
            <a:r>
              <a:rPr/>
              <a:t>Then the contrast: the New York Times reported the Navy expected a machine that would walk, talk, see, write and reproduce itself. Same year, same machine. Ask them which of those two statements a careful reader could have checked.</a:t>
            </a:r>
          </a:p>
          <a:p>
            <a:pPr lvl="0" indent="0" marL="0">
              <a:buNone/>
            </a:pPr>
          </a:p>
          <a:p>
            <a:pPr lvl="0" indent="0" marL="0">
              <a:buNone/>
            </a:pPr>
            <a:r>
              <a:rPr/>
              <a:t>The faded lines are earlier states of the boundary. Every time the machine misclassified an example it nudged the weights, and the line moved. That is the whole idea: the model is corrected by its own mistakes, which is still what gradient descent does in lesson 3 - just with a smoother update rule.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XOR is exclusive-or: true when exactly one of two inputs is true. As points, it is the four corners of a square with alternating labels, and no single straight line separates them. Use the figure: AND on the left, one line, done; XOR on the right, where the dashed lines are attempts and each leaves a point on the wrong side. Ask them to try to find one that works before you move on - the impossibility is more convincing when they have looked for it themselves.</a:t>
            </a:r>
          </a:p>
          <a:p>
            <a:pPr lvl="0" indent="0" marL="0">
              <a:buNone/>
            </a:pPr>
          </a:p>
          <a:p>
            <a:pPr lvl="0" indent="0" marL="0">
              <a:buNone/>
            </a:pPr>
            <a:r>
              <a:rPr/>
              <a:t>Then the key point: the result applies to ONE LAYER. Multi-layer networks were already known to be more expressive; what was missing was a way to train them. That distinction was lost in the retelling, funding collapsed, and neural network research became close to unpublishable for a decade.</a:t>
            </a:r>
          </a:p>
          <a:p>
            <a:pPr lvl="0" indent="0" marL="0">
              <a:buNone/>
            </a:pPr>
          </a:p>
          <a:p>
            <a:pPr lvl="0" indent="0" marL="0">
              <a:buNone/>
            </a:pPr>
            <a:r>
              <a:rPr/>
              <a:t>In lesson 9 a hidden layer of two units disposes of an XOR problem, with weights small enough to write by hand. Seventeen years passed between Minsky and Papert’s 1969 book, Perceptrons, and backpropagation in 1986, for a limitation that a correct reading would have scoped much more narrowly.</a:t>
            </a:r>
          </a:p>
          <a:p>
            <a:pPr lvl="0" indent="0" marL="0">
              <a:buNone/>
            </a:pPr>
          </a:p>
          <a:p>
            <a:pPr lvl="0" indent="0" marL="0">
              <a:buNone/>
            </a:pPr>
            <a:r>
              <a:rPr/>
              <a:t>The transferable lesson: a correct result about a restricted case was received as a verdict on the whole approach. That failure mode is alive and well in how ML results get reported today.</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Rumelhart, Hinton and Williams. Note the technique had been derived before - Linnainmaa 1970, Werbos 1974 - without taking hold. Ideas need context as much as correctness, which is a useful thing for a researcher to know.</a:t>
            </a:r>
          </a:p>
          <a:p>
            <a:pPr lvl="0" indent="0" marL="0">
              <a:buNone/>
            </a:pPr>
          </a:p>
          <a:p>
            <a:pPr lvl="0" indent="0" marL="0">
              <a:buNone/>
            </a:pPr>
            <a:r>
              <a:rPr/>
              <a:t>The second winter arrived in the early 1990s: networks were hard to train, needed more data than existed, and took too long on the hardware. Expert system companies collapsed as their products proved unmaintainable.</a:t>
            </a:r>
          </a:p>
          <a:p>
            <a:pPr lvl="0" indent="0" marL="0">
              <a:buNone/>
            </a:pPr>
          </a:p>
          <a:p>
            <a:pPr lvl="0" indent="0" marL="0">
              <a:buNone/>
            </a:pPr>
            <a:r>
              <a:rPr/>
              <a:t>Two passes: forward to compute a prediction, backward to distribute the error across every weight, including the hidden ones. That second arrow is what was missing in 1969 - not expressiveness, but a way to assign blame to a unit that never sees the target directly. Lesson 9 derives it.</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that most of this course lives here, and it is where the reliable tools come from. Support vector machines (SVMs) arrived with theory explaining WHY they generalise. Random forests and boosting won competitions for a decade. The bias-variance decomposition and cross-validation became standard practice.</a:t>
            </a:r>
          </a:p>
          <a:p>
            <a:pPr lvl="0" indent="0" marL="0">
              <a:buNone/>
            </a:pPr>
          </a:p>
          <a:p>
            <a:pPr lvl="0" indent="0" marL="0">
              <a:buNone/>
            </a:pPr>
            <a:r>
              <a:rPr/>
              <a:t>It is unglamorous and it is what actually gets deployed. Lessons 5, 6 and 7 are this period, and lesson 5 in particular is its central contribution.</a:t>
            </a:r>
          </a:p>
          <a:p>
            <a:pPr lvl="0" indent="0" marL="0">
              <a:buNone/>
            </a:pPr>
          </a:p>
          <a:p>
            <a:pPr lvl="0" indent="0" marL="0">
              <a:buNone/>
            </a:pPr>
            <a:r>
              <a:rPr/>
              <a:t>The dotted line also separates the classes perfectly, and would score identically on this training data. The SVM picks the solid one - the boundary furthest from both classes. Ask which they would trust on a new point near the middle. That intuition is what the theory of the period made precise, and it is lesson 6.</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most important slide in the history section.</a:t>
            </a:r>
          </a:p>
          <a:p>
            <a:pPr lvl="0" indent="0" marL="0">
              <a:buNone/>
            </a:pPr>
          </a:p>
          <a:p>
            <a:pPr lvl="0" indent="0" marL="0">
              <a:buNone/>
            </a:pPr>
            <a:r>
              <a:rPr/>
              <a:t>What changed was DATA - ImageNet, 1.2 million labelled images, assembled over years - and COMPUTE, two consumer graphics cards. Plus details that mattered, all met in lessons 9 and 10: ReLU activations, dropout (switching off random units during training) and augmentation (training on shifted and flipped copies of the images).</a:t>
            </a:r>
          </a:p>
          <a:p>
            <a:pPr lvl="0" indent="0" marL="0">
              <a:buNone/>
            </a:pPr>
          </a:p>
          <a:p>
            <a:pPr lvl="0" indent="0" marL="0">
              <a:buNone/>
            </a:pPr>
            <a:r>
              <a:rPr/>
              <a:t>A conceptual advance would have been visible in 1989, when LeCun was already reading postal codes with convolutional networks. This was a scaling result.</a:t>
            </a:r>
          </a:p>
          <a:p>
            <a:pPr lvl="0" indent="0" marL="0">
              <a:buNone/>
            </a:pPr>
          </a:p>
          <a:p>
            <a:pPr lvl="0" indent="0" marL="0">
              <a:buNone/>
            </a:pPr>
            <a:r>
              <a:rPr/>
              <a:t>Saying so is not a criticism. It is the single most important fact about the last decade, and it licenses very different predictions than a conceptual breakthrough would.</a:t>
            </a:r>
          </a:p>
          <a:p>
            <a:pPr lvl="0" indent="0" marL="0">
              <a:buNone/>
            </a:pPr>
          </a:p>
          <a:p>
            <a:pPr lvl="0" indent="0" marL="0">
              <a:buNone/>
            </a:pPr>
            <a:r>
              <a:rPr/>
              <a:t>Read the bars left to right. Two ordinary years, then the drop, then everyone adopts the approach and the error keeps falling past human performance by 2015. Point out that the years after 2012 fell further than 2012 itself did - the story is not one heroic result, it is a field switching methods.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Leave the question marks and ask the room what belongs there. It usually produces a good discussion, and there is no answer you need to supply.</a:t>
            </a:r>
          </a:p>
          <a:p>
            <a:pPr lvl="0" indent="0" marL="0">
              <a:buNone/>
            </a:pPr>
          </a:p>
          <a:p>
            <a:pPr lvl="0" indent="0" marL="0">
              <a:buNone/>
            </a:pPr>
            <a:r>
              <a:rPr/>
              <a:t>Three things to draw out. First, distinguishing a demonstrated result from an extrapolated promise: Rosenblatt’s theorem was true, “it will reproduce itself” was not, and both appeared in the same press cycle. Second, asking what changed - idea or resources. Third, and this is the one they will use professionally: the winters were caused by the gap between claims and evidence, not by the technology being worthless. The perceptron was genuinely useful; it was oversold.</a:t>
            </a:r>
          </a:p>
          <a:p>
            <a:pPr lvl="0" indent="0" marL="0">
              <a:buNone/>
            </a:pPr>
          </a:p>
          <a:p>
            <a:pPr lvl="0" indent="0" marL="0">
              <a:buNone/>
            </a:pPr>
            <a:r>
              <a:rPr/>
              <a:t>Then make the connection explicit: the habit that prevents this is the same one we use to evaluate a model - state precisely what was measured, on what data, and what that does not establish.</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Correct the common misconception immediately, before it takes hold. It is not about which algorithm you use: the same estimator can serve more than one setting. In notebook 01 the self-supervised task is solved with </a:t>
            </a:r>
            <a:r>
              <a:rPr>
                <a:latin typeface="Courier"/>
              </a:rPr>
              <a:t>LinearRegression</a:t>
            </a:r>
            <a:r>
              <a:rPr/>
              <a:t>, the same estimator a supervised regression would use; what makes it self-supervised is only where its target comes from.</a:t>
            </a:r>
          </a:p>
          <a:p>
            <a:pPr lvl="0" indent="0" marL="0">
              <a:buNone/>
            </a:pPr>
          </a:p>
          <a:p>
            <a:pPr lvl="0" indent="0" marL="0">
              <a:buNone/>
            </a:pPr>
            <a:r>
              <a:rPr/>
              <a:t>Handout section 5 has the full taxonomy.</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Lessons 3, 4, 6 and 7 are all supervised, so this is most of the course.</a:t>
            </a:r>
          </a:p>
          <a:p>
            <a:pPr lvl="0" indent="0" marL="0">
              <a:buNone/>
            </a:pPr>
          </a:p>
          <a:p>
            <a:pPr lvl="0" indent="0" marL="0">
              <a:buNone/>
            </a:pPr>
            <a:r>
              <a:rPr/>
              <a:t>Ask what the expensive part is. Someone will say the labels, and that is right: in practice labels - not algorithms, not compute - are what limits most real projects. Somebody has to produce them, correctly, in quantity, and for many problems that is expensive or simply impossible.</a:t>
            </a:r>
          </a:p>
          <a:p>
            <a:pPr lvl="0" indent="0" marL="0">
              <a:buNone/>
            </a:pPr>
          </a:p>
          <a:p>
            <a:pPr lvl="0" indent="0" marL="0">
              <a:buNone/>
            </a:pPr>
            <a:r>
              <a:rPr/>
              <a:t>Give the concrete example: ImageNet took years of human annotation, and it is the reason 2012 happened when it did rather than in 1995.</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Lesson 8.</a:t>
            </a:r>
          </a:p>
          <a:p>
            <a:pPr lvl="0" indent="0" marL="0">
              <a:buNone/>
            </a:pPr>
          </a:p>
          <a:p>
            <a:pPr lvl="0" indent="0" marL="0">
              <a:buNone/>
            </a:pPr>
            <a:r>
              <a:rPr/>
              <a:t>Plant the difficulty now, but plant the right one. It is NOT that there is nothing to minimise - k-means minimises the within-cluster sum of squares, which is an empirical risk in the sense of slide 17, with the loss measured against the model’s own summary instead of a label. Lesson 8 computes it by hand on six customers and shows why the algorithm can only decrease it.</a:t>
            </a:r>
          </a:p>
          <a:p>
            <a:pPr lvl="0" indent="0" marL="0">
              <a:buNone/>
            </a:pPr>
          </a:p>
          <a:p>
            <a:pPr lvl="0" indent="0" marL="0">
              <a:buNone/>
            </a:pPr>
            <a:r>
              <a:rPr/>
              <a:t>What is missing is ground truth to check the answer against. The algorithm ALWAYS returns clusters, whether or not the data contains any groups. Whether they mean something is a judgement about the domain and cannot be delegated to a metric. It is a validation problem, not an optimisation one - and the distinction matters, because they will meet that cost function in lesson 8 and remember what was said here.</a:t>
            </a:r>
          </a:p>
          <a:p>
            <a:pPr lvl="0" indent="0" marL="0">
              <a:buNone/>
            </a:pPr>
          </a:p>
          <a:p>
            <a:pPr lvl="0" indent="0" marL="0">
              <a:buNone/>
            </a:pPr>
            <a:r>
              <a:rPr/>
              <a:t>Worth thirty seconds: the overfitting gap survives the loss of the labels. One cluster per point drives the cost to exactly zero. Same memorisation, different clothes.</a:t>
            </a:r>
          </a:p>
          <a:p>
            <a:pPr lvl="0" indent="0" marL="0">
              <a:buNone/>
            </a:pPr>
          </a:p>
          <a:p>
            <a:pPr lvl="0" indent="0" marL="0">
              <a:buNone/>
            </a:pPr>
            <a:r>
              <a:rPr/>
              <a:t>This is genuinely harder than supervised learning to do well, which is the opposite of how it is usually taught - it looks easier because there is no labelling effort.</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An intuition, not a method: they meet the technique properly in a later course, and today only needs them to recognise the idea.</a:t>
            </a:r>
          </a:p>
          <a:p>
            <a:pPr lvl="0" indent="0" marL="0">
              <a:buNone/>
            </a:pPr>
          </a:p>
          <a:p>
            <a:pPr lvl="0" indent="0" marL="0">
              <a:buNone/>
            </a:pPr>
            <a:r>
              <a:rPr/>
              <a:t>Say it in one breath. Nobody labels anything; you take part of the input and treat it as the answer. The value is real - flavanoids is a genuine measurement in the table - but nobody asked for it to be predicted. You use it because it is already there, which is why the supervision is free.</a:t>
            </a:r>
          </a:p>
          <a:p>
            <a:pPr lvl="0" indent="0" marL="0">
              <a:buNone/>
            </a:pPr>
          </a:p>
          <a:p>
            <a:pPr lvl="0" indent="0" marL="0">
              <a:buNone/>
            </a:pPr>
            <a:r>
              <a:rPr/>
              <a:t>Then the contrast with the previous slide, because it is the whole distinction: in supervised learning the answer lives OUTSIDE the measurements and somebody recorded it - the cultivar. Here the answer is ONE OF the measurements.</a:t>
            </a:r>
          </a:p>
          <a:p>
            <a:pPr lvl="0" indent="0" marL="0">
              <a:buNone/>
            </a:pPr>
          </a:p>
          <a:p>
            <a:pPr lvl="0" indent="0" marL="0">
              <a:buNone/>
            </a:pPr>
            <a:r>
              <a:rPr/>
              <a:t>The reconstruction is a pretext: nobody wants a flavanoid predictor. The reason anyone does it is that the model has to learn how the measurements relate, and that can be reused on a task you care about. Say plainly that the notebook stops before that step - a linear regression has nothing worth reusing.</a:t>
            </a:r>
          </a:p>
          <a:p>
            <a:pPr lvl="0" indent="0" marL="0">
              <a:buNone/>
            </a:pPr>
          </a:p>
          <a:p>
            <a:pPr lvl="0" indent="0" marL="0">
              <a:buNone/>
            </a:pPr>
            <a:r>
              <a:rPr/>
              <a:t>Scale the idea up - hide a word in a sentence, hide a patch of an image - and it is how modern large models are trained. This is the honest one-paragraph answer to “how does ChatGPT learn?”, and it is worth giving them, since they will be asked it at every family dinner.</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Work notebook 01 here, live. The same 178 wines appear in all three panels.</a:t>
            </a:r>
          </a:p>
          <a:p>
            <a:pPr lvl="0" indent="0" marL="0">
              <a:buNone/>
            </a:pPr>
          </a:p>
          <a:p>
            <a:pPr lvl="0" indent="0" marL="0">
              <a:buNone/>
            </a:pPr>
            <a:r>
              <a:rPr/>
              <a:t>Left: what the algorithm sees when there are no labels - just points in space. Middle: labels supplied by a person. Right: groups found by geometry alone.</a:t>
            </a:r>
          </a:p>
          <a:p>
            <a:pPr lvl="0" indent="0" marL="0">
              <a:buNone/>
            </a:pPr>
          </a:p>
          <a:p>
            <a:pPr lvl="0" indent="0" marL="0">
              <a:buNone/>
            </a:pPr>
            <a:r>
              <a:rPr/>
              <a:t>Point out that the cluster colours do not match the label colours. k-means numbers its groups arbitrarily, and without labels there is nothing to align to. That arbitrariness IS the point of the unsupervised setting.</a:t>
            </a:r>
          </a:p>
          <a:p>
            <a:pPr lvl="0" indent="0" marL="0">
              <a:buNone/>
            </a:pPr>
          </a:p>
          <a:p>
            <a:pPr lvl="0" indent="0" marL="0">
              <a:buNone/>
            </a:pPr>
            <a:r>
              <a:rPr/>
              <a:t>Warn them the strong agreement here - adjusted Rand index 0.897 - is a happy accident of this dataset, where the chemical groups really are geometrically separated. Do not expect it. In most real data, clustering finds structure that corresponds to nothing you care about.</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Read the cost column aloud: it explains why self-supervision dominates wherever data is abundant and annotation is not, and why supervised learning still wins whenever someone has already paid for good labels.</a:t>
            </a:r>
          </a:p>
          <a:p>
            <a:pPr lvl="0" indent="0" marL="0">
              <a:buNone/>
            </a:pPr>
          </a:p>
          <a:p>
            <a:pPr lvl="0" indent="0" marL="0">
              <a:buNone/>
            </a:pPr>
            <a:r>
              <a:rPr/>
              <a:t>Then read the right-hand column and flag the trap: in two cases out of three you cannot straightforwardly measure success at the thing you actually want. That is a much bigger practical problem than the choice of algorithm, and it is why unsupervised results are so often oversold.</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table is the map for the notebook: each row is one of the three questions, the call that answers it, and the number it reaches. Point at the middle column before they start - every name in it is a cell they are about to run.</a:t>
            </a:r>
          </a:p>
          <a:p>
            <a:pPr lvl="0" indent="0" marL="0">
              <a:buNone/>
            </a:pPr>
          </a:p>
          <a:p>
            <a:pPr lvl="0" indent="0" marL="0">
              <a:buNone/>
            </a:pPr>
            <a:r>
              <a:rPr/>
              <a:t>Open notebook 01 and run it. Fifteen minutes, and it is the only place today where all three kinds appear on identical data, which is the whole argument of this segment made operational.</a:t>
            </a:r>
          </a:p>
          <a:p>
            <a:pPr lvl="0" indent="0" marL="0">
              <a:buNone/>
            </a:pPr>
          </a:p>
          <a:p>
            <a:pPr lvl="0" indent="0" marL="0">
              <a:buNone/>
            </a:pPr>
            <a:r>
              <a:rPr/>
              <a:t>The point to keep repeating as you scroll: nothing about the table changes between the three results. Same 178 wines, same 13 chemical measurements. What changes is where the answer comes from - recorded by somebody, nowhere at all, or one of the measurements themselves.</a:t>
            </a:r>
          </a:p>
          <a:p>
            <a:pPr lvl="0" indent="0" marL="0">
              <a:buNone/>
            </a:pPr>
          </a:p>
          <a:p>
            <a:pPr lvl="0" indent="0" marL="0">
              <a:buNone/>
            </a:pPr>
            <a:r>
              <a:rPr/>
              <a:t>Two moments worth stopping on.</a:t>
            </a:r>
          </a:p>
          <a:p>
            <a:pPr lvl="0" indent="0" marL="0">
              <a:buNone/>
            </a:pPr>
          </a:p>
          <a:p>
            <a:pPr lvl="0" indent="0" marL="0">
              <a:buNone/>
            </a:pPr>
            <a:r>
              <a:rPr/>
              <a:t>The unsupervised score, 0.897, is suspiciously good, and the notebook says so: it is a happy accident of this dataset, where the chemical groups really are geometrically separated. Say plainly that this is not what clustering usually looks like, or they will leave expecting it.</a:t>
            </a:r>
          </a:p>
          <a:p>
            <a:pPr lvl="0" indent="0" marL="0">
              <a:buNone/>
            </a:pPr>
          </a:p>
          <a:p>
            <a:pPr lvl="0" indent="0" marL="0">
              <a:buNone/>
            </a:pPr>
            <a:r>
              <a:rPr/>
              <a:t>The self-supervised cell against the supervised one: ask the room what is different about the two targets. The cultivar is an answer somebody wrote down, not a measurement; flavanoids is one of the measurements, used as an answer because it was there. That is the distinction the segment has been building to.</a:t>
            </a:r>
          </a:p>
          <a:p>
            <a:pPr lvl="0" indent="0" marL="0">
              <a:buNone/>
            </a:pPr>
          </a:p>
          <a:p>
            <a:pPr lvl="0" indent="0" marL="0">
              <a:buNone/>
            </a:pPr>
            <a:r>
              <a:rPr/>
              <a:t>If time is short, drop the R² aside and the n_init experiment (k-means run from one random start against ten); keep all three results, because the comparison is the content. Handout section 5.</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the order is not a convention: several steps are only valid in this order, and step 3 is the one that cannot move - hence the colour.</a:t>
            </a:r>
          </a:p>
          <a:p>
            <a:pPr lvl="0" indent="0" marL="0">
              <a:buNone/>
            </a:pPr>
          </a:p>
          <a:p>
            <a:pPr lvl="0" indent="0" marL="0">
              <a:buNone/>
            </a:pPr>
            <a:r>
              <a:rPr/>
              <a:t>This is the map for notebook 02, which the next slide starts. Tell them to open it and follow along rather than watch.</a:t>
            </a:r>
          </a:p>
          <a:p>
            <a:pPr lvl="0" indent="0" marL="0">
              <a:buNone/>
            </a:pPr>
          </a:p>
          <a:p>
            <a:pPr lvl="0" indent="0" marL="0">
              <a:buNone/>
            </a:pPr>
            <a:r>
              <a:rPr/>
              <a:t>Handout section 6 has each step in full. The two they will be tempted to skip are 1 and 4 - framing and baseline - and those are the two that make the difference between a result and a number.</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question, a dataset, a split, a baseline, a model, and a number you can defend. The table is that sentence with the code attached: each step, the call that performs it, and the slide where the idea was introduced. Students who get lost in a cell can find their way back to the slide from here.</a:t>
            </a:r>
          </a:p>
          <a:p>
            <a:pPr lvl="0" indent="0" marL="0">
              <a:buNone/>
            </a:pPr>
          </a:p>
          <a:p>
            <a:pPr lvl="0" indent="0" marL="0">
              <a:buNone/>
            </a:pPr>
            <a:r>
              <a:rPr/>
              <a:t>40 minutes, and it runs alongside the next fourteen slides, 44 to 57, rather than instead of them: each step of the workflow is a slide and then the cell that performs it.</a:t>
            </a:r>
          </a:p>
          <a:p>
            <a:pPr lvl="0" indent="0" marL="0">
              <a:buNone/>
            </a:pPr>
          </a:p>
          <a:p>
            <a:pPr lvl="0" indent="0" marL="0">
              <a:buNone/>
            </a:pPr>
            <a:r>
              <a:rPr/>
              <a:t>Three moments to stop on together. The split, because it happens before anything is learned and that is the whole rule of the day. The baseline at 0.629, because it is what makes 0.986 mean something. And the threshold sweep at the end, where the same model - unchanged, same weights - goes from missing no malignancy with eleven false alarms to missing seven with none.</a:t>
            </a:r>
          </a:p>
          <a:p>
            <a:pPr lvl="0" indent="0" marL="0">
              <a:buNone/>
            </a:pPr>
          </a:p>
          <a:p>
            <a:pPr lvl="0" indent="0" marL="0">
              <a:buNone/>
            </a:pPr>
            <a:r>
              <a:rPr/>
              <a:t>Tell them to run it themselves rather than watch: everything after this in the course assumes they have a working environment, and this is the session where a broken one shows up.</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step everyone skips, and the one the exercise discussion probes hardest.</a:t>
            </a:r>
          </a:p>
          <a:p>
            <a:pPr lvl="0" indent="0" marL="0">
              <a:buNone/>
            </a:pPr>
          </a:p>
          <a:p>
            <a:pPr lvl="0" indent="0" marL="0">
              <a:buNone/>
            </a:pPr>
            <a:r>
              <a:rPr/>
              <a:t>Our example: predicting whether a breast tumour is malignant from measurements of cell nuclei. A model here would be a screening aid, never a diagnosis - say that clearly, it matters.</a:t>
            </a:r>
          </a:p>
          <a:p>
            <a:pPr lvl="0" indent="0" marL="0">
              <a:buNone/>
            </a:pPr>
          </a:p>
          <a:p>
            <a:pPr lvl="0" indent="0" marL="0">
              <a:buNone/>
            </a:pPr>
            <a:r>
              <a:rPr/>
              <a:t>The two errors are not comparable. A false alarm costs anxiety and a follow-up test; a missed malignancy can cost a life. Ask the room which they would rather make, and let them answer before showing any metric.</a:t>
            </a:r>
          </a:p>
          <a:p>
            <a:pPr lvl="0" indent="0" marL="0">
              <a:buNone/>
            </a:pPr>
          </a:p>
          <a:p>
            <a:pPr lvl="0" indent="0" marL="0">
              <a:buNone/>
            </a:pPr>
            <a:r>
              <a:rPr/>
              <a:t>That answer determines the metric, and it must be fixed BEFORE seeing results. A metric chosen afterwards is a metric chosen to flatter - with enough candidates, one always looks good.</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problem, four outcomes, and the two failures are not the same size. Two of these cells are fine and two are not, and accuracy adds all four up as though they weighed the same.</a:t>
            </a:r>
          </a:p>
          <a:p>
            <a:pPr lvl="0" indent="0" marL="0">
              <a:buNone/>
            </a:pPr>
          </a:p>
          <a:p>
            <a:pPr lvl="0" indent="0" marL="0">
              <a:buNone/>
            </a:pPr>
            <a:r>
              <a:rPr/>
              <a:t>Ask the room which of the two failures they would rather make, and let them answer before any metric appears. A missed case sends home a patient who should not go; a false alarm costs anxiety and a follow-up test. Nobody needs statistics to rank those.</a:t>
            </a:r>
          </a:p>
          <a:p>
            <a:pPr lvl="0" indent="0" marL="0">
              <a:buNone/>
            </a:pPr>
          </a:p>
          <a:p>
            <a:pPr lvl="0" indent="0" marL="0">
              <a:buNone/>
            </a:pPr>
            <a:r>
              <a:rPr/>
              <a:t>Then the part that makes it a lesson rather than an anecdote: answering requires knowing who bears the cost, which is not a question about data. Change the application and the answer changes with it - on a spam filter the expensive cell is the legitimate mail that got blocked, not the spam that got through. The ranking comes from the application, and it has to arrive before any modelling decision is made.</a:t>
            </a:r>
          </a:p>
          <a:p>
            <a:pPr lvl="0" indent="0" marL="0">
              <a:buNone/>
            </a:pPr>
          </a:p>
          <a:p>
            <a:pPr lvl="0" indent="0" marL="0">
              <a:buNone/>
            </a:pPr>
            <a:r>
              <a:rPr/>
              <a:t>Lesson 4 turns this into a threshold that can be computed. Today it is enough that they see the question is not a modelling question, and that answering it with accuracy answers it by accident.</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569 samples, 30 features, 357 benign against 212 malignant.</a:t>
            </a:r>
          </a:p>
          <a:p>
            <a:pPr lvl="0" indent="0" marL="0">
              <a:buNone/>
            </a:pPr>
          </a:p>
          <a:p>
            <a:pPr lvl="0" indent="0" marL="0">
              <a:buNone/>
            </a:pPr>
            <a:r>
              <a:rPr/>
              <a:t>Get them to compute the consequence out loud: always answering “benign” is right 62.7% of the time. That number is the bar any real model has to clear, and it is why step 4 exists.</a:t>
            </a:r>
          </a:p>
          <a:p>
            <a:pPr lvl="0" indent="0" marL="0">
              <a:buNone/>
            </a:pPr>
          </a:p>
          <a:p>
            <a:pPr lvl="0" indent="0" marL="0">
              <a:buNone/>
            </a:pPr>
            <a:r>
              <a:rPr/>
              <a:t>Mild imbalance here. Later today we will see what happens at 99 to 1, where the same reasoning destroys accuracy as a metric entirely.</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Return to the risk_gap figure verbally - this slide is that argument made operational.</a:t>
            </a:r>
          </a:p>
          <a:p>
            <a:pPr lvl="0" indent="0" marL="0">
              <a:buNone/>
            </a:pPr>
          </a:p>
          <a:p>
            <a:pPr lvl="0" indent="0" marL="0">
              <a:buNone/>
            </a:pPr>
            <a:r>
              <a:rPr/>
              <a:t>The moment anything from the test rows influences a decision, even something as innocent as computing a mean for scaling, the test set stops being unseen and the number it gives you is optimistic.</a:t>
            </a:r>
          </a:p>
          <a:p>
            <a:pPr lvl="0" indent="0" marL="0">
              <a:buNone/>
            </a:pPr>
          </a:p>
          <a:p>
            <a:pPr lvl="0" indent="0" marL="0">
              <a:buNone/>
            </a:pPr>
            <a:r>
              <a:rPr/>
              <a:t>Mention stratify=y: it keeps the class proportions identical in both parts, so the test set is a fair miniature of the whole. Without it, on a small or imbalanced dataset, you can get a test set whose composition differs from the training set by chance.</a:t>
            </a:r>
          </a:p>
          <a:p>
            <a:pPr lvl="0" indent="0" marL="0">
              <a:buNone/>
            </a:pPr>
          </a:p>
          <a:p>
            <a:pPr lvl="0" indent="0" marL="0">
              <a:buNone/>
            </a:pPr>
            <a:r>
              <a:rPr/>
              <a:t>They will violate this deliberately in the third notebook and see what it costs.</a:t>
            </a:r>
          </a:p>
          <a:p>
            <a:pPr lvl="0" indent="0" marL="0">
              <a:buNone/>
            </a:pPr>
          </a:p>
          <a:p>
            <a:pPr lvl="0" indent="0" marL="0">
              <a:buNone/>
            </a:pPr>
            <a:r>
              <a:rPr/>
              <a:t>The caption under the test set is the whole discipline: touched once, at the very end. Say that every additional look spends some of its independence - if you test twenty variants and report the best, you have selected on the test set and the number is no longer honest.</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someone remembers 62.7% from the class-balance step: that is the share of benign tumours in all 569. The baseline is scored like the model, on the 143 test tumours, where 90 are benign - 62.9%, the 0.629 the result slide quotes. The stratified split keeps the two close; they differ only because 143 is a small sample.</a:t>
            </a:r>
          </a:p>
          <a:p>
            <a:pPr lvl="0" indent="0" marL="0">
              <a:buNone/>
            </a:pPr>
          </a:p>
          <a:p>
            <a:pPr lvl="0" indent="0" marL="0">
              <a:buNone/>
            </a:pPr>
            <a:r>
              <a:rPr/>
              <a:t>Without this, “96% accuracy” has no scale at all. With it, they can see whether the model is worth anything.</a:t>
            </a:r>
          </a:p>
          <a:p>
            <a:pPr lvl="0" indent="0" marL="0">
              <a:buNone/>
            </a:pPr>
          </a:p>
          <a:p>
            <a:pPr lvl="0" indent="0" marL="0">
              <a:buNone/>
            </a:pPr>
            <a:r>
              <a:rPr/>
              <a:t>DummyClassifier does this in two lines, and the exercise requires it.</a:t>
            </a:r>
          </a:p>
          <a:p>
            <a:pPr lvl="0" indent="0" marL="0">
              <a:buNone/>
            </a:pPr>
          </a:p>
          <a:p>
            <a:pPr lvl="0" indent="0" marL="0">
              <a:buNone/>
            </a:pPr>
            <a:r>
              <a:rPr/>
              <a:t>Foreshadow: on the imbalanced example later, the baseline will be unbeatable on accuracy and completely useless in practice. That is the lesson, not a curiosity - it is how you discover that accuracy is the wrong metric for your problem.</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LogisticRegression is the model, and today it can stay a black box with one property worth saying: it belongs to the family of slide 20, weighted sums of the features, searched for the weights with the fewest training mistakes. Lesson 4 opens the box.</a:t>
            </a:r>
          </a:p>
          <a:p>
            <a:pPr lvl="0" indent="0" marL="0">
              <a:buNone/>
            </a:pPr>
          </a:p>
          <a:p>
            <a:pPr lvl="0" indent="0" marL="0">
              <a:buNone/>
            </a:pPr>
            <a:r>
              <a:rPr/>
              <a:t>Explain WHY, not just what.</a:t>
            </a:r>
          </a:p>
          <a:p>
            <a:pPr lvl="0" indent="0" marL="0">
              <a:buNone/>
            </a:pPr>
          </a:p>
          <a:p>
            <a:pPr lvl="0" indent="0" marL="0">
              <a:buNone/>
            </a:pPr>
            <a:r>
              <a:rPr/>
              <a:t>StandardScaler LEARNS something - a mean and a standard deviation per feature. That makes it part of the model, not preparation of the data. Inside a pipeline it learns them from the training data every time the pipeline is fitted, including on each training part of the cross-validation in lesson 5.</a:t>
            </a:r>
          </a:p>
          <a:p>
            <a:pPr lvl="0" indent="0" marL="0">
              <a:buNone/>
            </a:pPr>
          </a:p>
          <a:p>
            <a:pPr lvl="0" indent="0" marL="0">
              <a:buNone/>
            </a:pPr>
            <a:r>
              <a:rPr/>
              <a:t>Write the two steps separately and one day you will scale using statistics computed over the whole dataset. Nothing warns you: no error, no exception, just a better number than you deserve.</a:t>
            </a:r>
          </a:p>
          <a:p>
            <a:pPr lvl="0" indent="0" marL="0">
              <a:buNone/>
            </a:pPr>
          </a:p>
          <a:p>
            <a:pPr lvl="0" indent="0" marL="0">
              <a:buNone/>
            </a:pPr>
            <a:r>
              <a:rPr/>
              <a:t>This is structure beating discipline, and it is the single most useful habit in the scikit-learn API.</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same two steps, done in the two orders, with what each one shows the test set.</a:t>
            </a:r>
          </a:p>
          <a:p>
            <a:pPr lvl="0" indent="0" marL="0">
              <a:buNone/>
            </a:pPr>
          </a:p>
          <a:p>
            <a:pPr lvl="0" indent="0" marL="0">
              <a:buNone/>
            </a:pPr>
            <a:r>
              <a:rPr/>
              <a:t>Point at the top row and at where ‘split’ sits on it: after the scaling. That is the whole mistake, and it is one line out of order.</a:t>
            </a:r>
          </a:p>
          <a:p>
            <a:pPr lvl="0" indent="0" marL="0">
              <a:buNone/>
            </a:pPr>
          </a:p>
          <a:p>
            <a:pPr lvl="0" indent="0" marL="0">
              <a:buNone/>
            </a:pPr>
            <a:r>
              <a:rPr/>
              <a:t>On the manual side the scaler is fitted on everything, so the mean and the standard deviation it subtracts already contain the test rows. The model is then evaluated on data it has, in a small way, already seen. The score comes out slightly too high, and nothing anywhere raises an error.</a:t>
            </a:r>
          </a:p>
          <a:p>
            <a:pPr lvl="0" indent="0" marL="0">
              <a:buNone/>
            </a:pPr>
          </a:p>
          <a:p>
            <a:pPr lvl="0" indent="0" marL="0">
              <a:buNone/>
            </a:pPr>
            <a:r>
              <a:rPr/>
              <a:t>Emphasise that last part. This is not a mistake that announces itself: it produces a working notebook and a plausible number. Lesson 2 measures what it costs on a real dataset, and lesson 5 meets it again inside cross-validation.</a:t>
            </a:r>
          </a:p>
        </p:txBody>
      </p:sp>
      <p:sp>
        <p:nvSpPr>
          <p:cNvPr id="4" name="Slide Number Placeholder 3"/>
          <p:cNvSpPr>
            <a:spLocks noGrp="1"/>
          </p:cNvSpPr>
          <p:nvPr>
            <p:ph type="sldNum" sz="quarter" idx="10"/>
          </p:nvPr>
        </p:nvSpPr>
        <p:spPr/>
        <p:txBody>
          <a:bodyPr/>
          <a:lstStyle/>
          <a:p>
            <a:fld id="{18BDFEC3-8487-43E8-A154-7C12CBC1FFF2}" type="slidenum">
              <a:rPr lang="en-US"/>
              <a:t>50</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“done?” hang for a few seconds. Someone will say no.</a:t>
            </a:r>
          </a:p>
          <a:p>
            <a:pPr lvl="0" indent="0" marL="0">
              <a:buNone/>
            </a:pPr>
          </a:p>
          <a:p>
            <a:pPr lvl="0" indent="0" marL="0">
              <a:buNone/>
            </a:pPr>
            <a:r>
              <a:rPr/>
              <a:t>If nobody does, ask what 0.986 does not tell them. Then move to the confusion matrix - this is the pivot of the entire lesson.</a:t>
            </a:r>
          </a:p>
        </p:txBody>
      </p:sp>
      <p:sp>
        <p:nvSpPr>
          <p:cNvPr id="4" name="Slide Number Placeholder 3"/>
          <p:cNvSpPr>
            <a:spLocks noGrp="1"/>
          </p:cNvSpPr>
          <p:nvPr>
            <p:ph type="sldNum" sz="quarter" idx="10"/>
          </p:nvPr>
        </p:nvSpPr>
        <p:spPr/>
        <p:txBody>
          <a:bodyPr/>
          <a:lstStyle/>
          <a:p>
            <a:fld id="{18BDFEC3-8487-43E8-A154-7C12CBC1FFF2}" type="slidenum">
              <a:rPr lang="en-US"/>
              <a:t>51</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One malignant tumour classified as benign.</a:t>
            </a:r>
          </a:p>
          <a:p>
            <a:pPr lvl="0" indent="0" marL="0">
              <a:buNone/>
            </a:pPr>
          </a:p>
          <a:p>
            <a:pPr lvl="0" indent="0" marL="0">
              <a:buNone/>
            </a:pPr>
            <a:r>
              <a:rPr/>
              <a:t>As a fraction it is 1 in 143 and vanishes into the accuracy figure. As a consequence it is a person sent home who should not have been.</a:t>
            </a:r>
          </a:p>
          <a:p>
            <a:pPr lvl="0" indent="0" marL="0">
              <a:buNone/>
            </a:pPr>
          </a:p>
          <a:p>
            <a:pPr lvl="0" indent="0" marL="0">
              <a:buNone/>
            </a:pPr>
            <a:r>
              <a:rPr/>
              <a:t>Say that sentence deliberately and let it sit. It is the gap between a metric and what the metric stands for, and it is the most important idea in today’s lesson.</a:t>
            </a:r>
          </a:p>
          <a:p>
            <a:pPr lvl="0" indent="0" marL="0">
              <a:buNone/>
            </a:pPr>
          </a:p>
          <a:p>
            <a:pPr lvl="0" indent="0" marL="0">
              <a:buNone/>
            </a:pPr>
            <a:r>
              <a:rPr/>
              <a:t>Then the practical form: accuracy collapses every kind of mistake into one number, and our two mistakes are not comparable. The confusion matrix is the minimum tool for seeing them separately.</a:t>
            </a:r>
          </a:p>
        </p:txBody>
      </p:sp>
      <p:sp>
        <p:nvSpPr>
          <p:cNvPr id="4" name="Slide Number Placeholder 3"/>
          <p:cNvSpPr>
            <a:spLocks noGrp="1"/>
          </p:cNvSpPr>
          <p:nvPr>
            <p:ph type="sldNum" sz="quarter" idx="10"/>
          </p:nvPr>
        </p:nvSpPr>
        <p:spPr/>
        <p:txBody>
          <a:bodyPr/>
          <a:lstStyle/>
          <a:p>
            <a:fld id="{18BDFEC3-8487-43E8-A154-7C12CBC1FFF2}" type="slidenum">
              <a:rPr lang="en-US"/>
              <a:t>52</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Define both against the confusion matrix still in their heads from the last slide, and keep them the right way round: recall divides by the row of things that really were malignant, precision by the column of things we flagged. The next slides make the trade-off concrete.</a:t>
            </a:r>
          </a:p>
          <a:p>
            <a:pPr lvl="0" indent="0" marL="0">
              <a:buNone/>
            </a:pPr>
          </a:p>
          <a:p>
            <a:pPr lvl="0" indent="0" marL="0">
              <a:buNone/>
            </a:pPr>
            <a:r>
              <a:rPr/>
              <a:t>Push recall towards 1.0 by flagging anything suspicious, and precision collapses - the clinic drowns in unnecessary biopsies. Demand high precision and you start missing cases.</a:t>
            </a:r>
          </a:p>
          <a:p>
            <a:pPr lvl="0" indent="0" marL="0">
              <a:buNone/>
            </a:pPr>
          </a:p>
          <a:p>
            <a:pPr lvl="0" indent="0" marL="0">
              <a:buNone/>
            </a:pPr>
            <a:r>
              <a:rPr/>
              <a:t>No single number resolves this, because the resolution is not mathematical. It is a question about consequences and it belongs to the people who bear them - here, patients and clinicians, not the person who trained the model.</a:t>
            </a:r>
          </a:p>
          <a:p>
            <a:pPr lvl="0" indent="0" marL="0">
              <a:buNone/>
            </a:pPr>
          </a:p>
          <a:p>
            <a:pPr lvl="0" indent="0" marL="0">
              <a:buNone/>
            </a:pPr>
            <a:r>
              <a:rPr/>
              <a:t>Lesson 4 builds the tools properly: receiver operating characteristic (ROC) curves, precision-recall curves, choosing an operating point. Today they need to see that the trade-off exists and that it is not the model’s decision to make.</a:t>
            </a:r>
          </a:p>
        </p:txBody>
      </p:sp>
      <p:sp>
        <p:nvSpPr>
          <p:cNvPr id="4" name="Slide Number Placeholder 3"/>
          <p:cNvSpPr>
            <a:spLocks noGrp="1"/>
          </p:cNvSpPr>
          <p:nvPr>
            <p:ph type="sldNum" sz="quarter" idx="10"/>
          </p:nvPr>
        </p:nvSpPr>
        <p:spPr/>
        <p:txBody>
          <a:bodyPr/>
          <a:lstStyle/>
          <a:p>
            <a:fld id="{18BDFEC3-8487-43E8-A154-7C12CBC1FFF2}" type="slidenum">
              <a:rPr lang="en-US"/>
              <a:t>53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previous slide in words, this one in counts. Name the three counts against the confusion matrix two slides back - the class we care about, malignant, is the “positive” one - then read the two formulas as sentences: recall divides by everything that really was malignant, the row; precision divides by everything we flagged, the column. Same numerator, different denominator. That is the whole difference, and the one students mix up.</a:t>
            </a:r>
          </a:p>
          <a:p>
            <a:pPr lvl="0" indent="0" marL="0">
              <a:buNone/>
            </a:pPr>
          </a:p>
          <a:p>
            <a:pPr lvl="0" indent="0" marL="0">
              <a:buNone/>
            </a:pPr>
            <a:r>
              <a:rPr/>
              <a:t>Someone will notice the two values are identical and ask why. It is a coincidence: one malignancy missed and one false alarm, so both denominators are 53. The next slide shows where those labels come from - and that they can be moved, at which point the two numbers part company.</a:t>
            </a:r>
          </a:p>
          <a:p>
            <a:pPr lvl="0" indent="0" marL="0">
              <a:buNone/>
            </a:pPr>
          </a:p>
          <a:p>
            <a:pPr lvl="0" indent="0" marL="0">
              <a:buNone/>
            </a:pPr>
            <a:r>
              <a:rPr/>
              <a:t>Notebook 02, cell after the confusion matrix, prints the same numbers in its classification report. Handout section 7.</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step the confusion matrix hid. Until now the model has been treated as something that answers “malignant” or “benign”; it does not. It answers with a number between 0 and 1 - in scikit-learn, </a:t>
            </a:r>
            <a:r>
              <a:rPr>
                <a:latin typeface="Courier"/>
              </a:rPr>
              <a:t>predict_proba</a:t>
            </a:r>
            <a:r>
              <a:rPr/>
              <a:t> - and </a:t>
            </a:r>
            <a:r>
              <a:rPr>
                <a:latin typeface="Courier"/>
              </a:rPr>
              <a:t>predict</a:t>
            </a:r>
            <a:r>
              <a:rPr/>
              <a:t> is that number compared with 0.5. Where the probability comes from is lesson 4’s subject (logistic regression ends in a sigmoid); today it is enough that it exists.</a:t>
            </a:r>
          </a:p>
          <a:p>
            <a:pPr lvl="0" indent="0" marL="0">
              <a:buNone/>
            </a:pPr>
          </a:p>
          <a:p>
            <a:pPr lvl="0" indent="0" marL="0">
              <a:buNone/>
            </a:pPr>
            <a:r>
              <a:rPr/>
              <a:t>Ground it in the two errors they have just counted. The one malignancy we missed was not missed by a confused model: the model gave it 0.11, so the comparison with 0.5 called it benign. The one false alarm was a benign tumour the model gave 0.62. Those are the 1 and the 1 of the matrix.</a:t>
            </a:r>
          </a:p>
          <a:p>
            <a:pPr lvl="0" indent="0" marL="0">
              <a:buNone/>
            </a:pPr>
          </a:p>
          <a:p>
            <a:pPr lvl="0" indent="0" marL="0">
              <a:buNone/>
            </a:pPr>
            <a:r>
              <a:rPr/>
              <a:t>Then the question that sets up the next slide: if the label is a comparison with 0.5, what happens when we compare with something else? At 0.10 the missed malignancy is caught - recall 53 / 53 = 1.000 - but eleven benign tumours join the alerts and precision falls to 53 / 64 = 0.828. Nothing about the model changed; only the line moved. Handout section 7.</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Say what the axis is before anything else, because nothing else makes sense without it: every dot is one of the 143 tumours in the test set, and its position is the probability our model gave to “malignant”. Not a distance, not a score - a probability, 0 to 1.</a:t>
            </a:r>
          </a:p>
          <a:p>
            <a:pPr lvl="0" indent="0" marL="0">
              <a:buNone/>
            </a:pPr>
          </a:p>
          <a:p>
            <a:pPr lvl="0" indent="0" marL="0">
              <a:buNone/>
            </a:pPr>
            <a:r>
              <a:rPr/>
              <a:t>The black line is 0.5, and it is worth saying out loud that nothing chose it. It is the default. Everything to the right of it we flag; everything to the left we send home.</a:t>
            </a:r>
          </a:p>
          <a:p>
            <a:pPr lvl="0" indent="0" marL="0">
              <a:buNone/>
            </a:pPr>
          </a:p>
          <a:p>
            <a:pPr lvl="0" indent="0" marL="0">
              <a:buNone/>
            </a:pPr>
            <a:r>
              <a:rPr/>
              <a:t>Now the point of the slide. Most of the picture is the model being certain: 105 of the 143 sit within 0.02 of one end, which is where 0.986 comes from. Tell them to ignore those and look at the middle. The band from 0.11 to 0.62 holds the 12 it was unsure about - 1 malignant, 11 benign - and at 0.5 only two of the twelve are on the wrong side: the malignancy at 0.11 that we missed, and the benign at 0.62 that we flagged.</a:t>
            </a:r>
          </a:p>
          <a:p>
            <a:pPr lvl="0" indent="0" marL="0">
              <a:buNone/>
            </a:pPr>
          </a:p>
          <a:p>
            <a:pPr lvl="0" indent="0" marL="0">
              <a:buNone/>
            </a:pPr>
            <a:r>
              <a:rPr/>
              <a:t>Then slide the line, and make them watch the band rather than the numbers. Down to 0.10 and it passes below the whole band: the missed malignancy is caught, and all 11 uncertain benign tumours turn into false alarms. Point at them - the eleven are countable on the slide, which is the whole reason this figure is here rather than a table. Up to 0.90 instead and no false alarm survives, at the price of 7 women sent home who should not have been.</a:t>
            </a:r>
          </a:p>
          <a:p>
            <a:pPr lvl="0" indent="0" marL="0">
              <a:buNone/>
            </a:pPr>
          </a:p>
          <a:p>
            <a:pPr lvl="0" indent="0" marL="0">
              <a:buNone/>
            </a:pPr>
            <a:r>
              <a:rPr/>
              <a:t>Nothing about the model changed between those two sentences. So the question of whether it is good has no answer until somebody says which error is worse - which is the earlier slide arriving again, now with a number attached. Lesson 4 spends an hour here.</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Name where each omission gets addressed: tuning and stability in lesson 5, model families in 6 and 7.</a:t>
            </a:r>
          </a:p>
          <a:p>
            <a:pPr lvl="0" indent="0" marL="0">
              <a:buNone/>
            </a:pPr>
          </a:p>
          <a:p>
            <a:pPr lvl="0" indent="0" marL="0">
              <a:buNone/>
            </a:pPr>
            <a:r>
              <a:rPr/>
              <a:t>Then end on the last line, which is the point of the slide: that discipline is the reason the 0.986 is worth anything at all. Every one of the four failures we are about to see comes from breaking it in some form.</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frame, and the next slide opens the notebook: none of these is a coding error. All four run exactly as written and return a number that a reviewer, a supervisor or a customer would accept.</a:t>
            </a:r>
          </a:p>
          <a:p>
            <a:pPr lvl="0" indent="0" marL="0">
              <a:buNone/>
            </a:pPr>
          </a:p>
          <a:p>
            <a:pPr lvl="0" indent="0" marL="0">
              <a:buNone/>
            </a:pPr>
            <a:r>
              <a:rPr/>
              <a:t>This is the section they should still remember in five years. Handout section 7 summarises it, and every one of the four has been found in published work and in shipped products.</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Four failures, four plausible numbers, and not one bug among them. The table pairs each failure with the calls that produce it and the slide that explains it; note that the leakage row uses the same </a:t>
            </a:r>
            <a:r>
              <a:rPr>
                <a:latin typeface="Courier"/>
              </a:rPr>
              <a:t>SelectKBest</a:t>
            </a:r>
            <a:r>
              <a:rPr/>
              <a:t> twice, once in the wrong place and once in the right one.</a:t>
            </a:r>
          </a:p>
          <a:p>
            <a:pPr lvl="0" indent="0" marL="0">
              <a:buNone/>
            </a:pPr>
          </a:p>
          <a:p>
            <a:pPr lvl="0" indent="0" marL="0">
              <a:buNone/>
            </a:pPr>
            <a:r>
              <a:rPr/>
              <a:t>20 minutes, again alongside the slides that follow rather than instead of them.</a:t>
            </a:r>
          </a:p>
          <a:p>
            <a:pPr lvl="0" indent="0" marL="0">
              <a:buNone/>
            </a:pPr>
          </a:p>
          <a:p>
            <a:pPr lvl="0" indent="0" marL="0">
              <a:buNone/>
            </a:pPr>
            <a:r>
              <a:rPr/>
              <a:t>Say what to watch for before they start, because the notebook is deliberately undramatic: every cell runs, nothing raises, and every number it prints would pass a review. The work is reading them.</a:t>
            </a:r>
          </a:p>
          <a:p>
            <a:pPr lvl="0" indent="0" marL="0">
              <a:buNone/>
            </a:pPr>
          </a:p>
          <a:p>
            <a:pPr lvl="0" indent="0" marL="0">
              <a:buNone/>
            </a:pPr>
            <a:r>
              <a:rPr/>
              <a:t>The two cells to make sure nobody skips: the leaked selection reaching 77% on labels generated by a coin flip, and the four deployment scenarios for the shortcut column, where the two that raise an exception turn out to be the lucky ones.</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this up carefully before revealing anything. Make sure they understand the data is pure noise BY CONSTRUCTION - the labels come from a random number generator and no feature carries any information about them.</a:t>
            </a:r>
          </a:p>
          <a:p>
            <a:pPr lvl="0" indent="0" marL="0">
              <a:buNone/>
            </a:pPr>
          </a:p>
          <a:p>
            <a:pPr lvl="0" indent="0" marL="0">
              <a:buNone/>
            </a:pPr>
            <a:r>
              <a:rPr/>
              <a:t>Ask what accuracy they expect. The honest answer is 50%, chance.</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77% on pure noise, against 50% for the honest pipeline.</a:t>
            </a:r>
          </a:p>
          <a:p>
            <a:pPr lvl="0" indent="0" marL="0">
              <a:buNone/>
            </a:pPr>
          </a:p>
          <a:p>
            <a:pPr lvl="0" indent="0" marL="0">
              <a:buNone/>
            </a:pPr>
            <a:r>
              <a:rPr/>
              <a:t>Explain the mechanism: with 5000 random features, some correlate with the labels by chance. Selecting the best 20 using the whole dataset picks exactly those - including the ones that correlate with the labels of rows that later become the test set. The selection encoded information about the test labels, and the model inherited it.</a:t>
            </a:r>
          </a:p>
          <a:p>
            <a:pPr lvl="0" indent="0" marL="0">
              <a:buNone/>
            </a:pPr>
          </a:p>
          <a:p>
            <a:pPr lvl="0" indent="0" marL="0">
              <a:buNone/>
            </a:pPr>
            <a:r>
              <a:rPr/>
              <a:t>Nobody wrote a bug. Selection feels harmless because it fits no model - but it LEARNS from data, so it must be fitted on the training data only.</a:t>
            </a:r>
          </a:p>
          <a:p>
            <a:pPr lvl="0" indent="0" marL="0">
              <a:buNone/>
            </a:pPr>
          </a:p>
          <a:p>
            <a:pPr lvl="0" indent="0" marL="0">
              <a:buNone/>
            </a:pPr>
            <a:r>
              <a:rPr/>
              <a:t>Then ask what happens with 20000 features instead of 5000. The illusion gets STRONGER, because there are more opportunities for a spurious correlation. That is the “try this” at the end of the notebook.</a:t>
            </a:r>
          </a:p>
        </p:txBody>
      </p:sp>
      <p:sp>
        <p:nvSpPr>
          <p:cNvPr id="4" name="Slide Number Placeholder 3"/>
          <p:cNvSpPr>
            <a:spLocks noGrp="1"/>
          </p:cNvSpPr>
          <p:nvPr>
            <p:ph type="sldNum" sz="quarter" idx="10"/>
          </p:nvPr>
        </p:nvSpPr>
        <p:spPr/>
        <p:txBody>
          <a:bodyPr/>
          <a:lstStyle/>
          <a:p>
            <a:fld id="{18BDFEC3-8487-43E8-A154-7C12CBC1FFF2}" type="slidenum">
              <a:rPr lang="en-US"/>
              <a:t>61</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practical takeaway from the whole leakage section, and the thing to put on the board if anything goes on the board today.</a:t>
            </a:r>
          </a:p>
          <a:p>
            <a:pPr lvl="0" indent="0" marL="0">
              <a:buNone/>
            </a:pPr>
          </a:p>
          <a:p>
            <a:pPr lvl="0" indent="0" marL="0">
              <a:buNone/>
            </a:pPr>
            <a:r>
              <a:rPr/>
              <a:t>Two of the five words are not today’s: imputation (filling missing values) and encoding (turning categories into numbers) are next week’s subject, and tuning is lesson 5’s. Name them now so the rule is already in place when they arrive - each one learns something from the data, which is the only property the rule cares about.</a:t>
            </a:r>
          </a:p>
          <a:p>
            <a:pPr lvl="0" indent="0" marL="0">
              <a:buNone/>
            </a:pPr>
          </a:p>
          <a:p>
            <a:pPr lvl="0" indent="0" marL="0">
              <a:buNone/>
            </a:pPr>
            <a:r>
              <a:rPr/>
              <a:t>Pipelines enforce it structurally, which is why we used one from the first notebook.</a:t>
            </a:r>
          </a:p>
          <a:p>
            <a:pPr lvl="0" indent="0" marL="0">
              <a:buNone/>
            </a:pPr>
          </a:p>
          <a:p>
            <a:pPr lvl="0" indent="0" marL="0">
              <a:buNone/>
            </a:pPr>
            <a:r>
              <a:rPr/>
              <a:t>Tell them the exercise discussion looks for exactly this: scaling the full dataset before splitting is a methodological error, whatever result it gives.</a:t>
            </a:r>
          </a:p>
        </p:txBody>
      </p:sp>
      <p:sp>
        <p:nvSpPr>
          <p:cNvPr id="4" name="Slide Number Placeholder 3"/>
          <p:cNvSpPr>
            <a:spLocks noGrp="1"/>
          </p:cNvSpPr>
          <p:nvPr>
            <p:ph type="sldNum" sz="quarter" idx="10"/>
          </p:nvPr>
        </p:nvSpPr>
        <p:spPr/>
        <p:txBody>
          <a:bodyPr/>
          <a:lstStyle/>
          <a:p>
            <a:fld id="{18BDFEC3-8487-43E8-A154-7C12CBC1FFF2}" type="slidenum">
              <a:rPr lang="en-US"/>
              <a:t>62</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trained model in the notebook reaches 0.987 accuracy - barely above the trivial one - while missing 20 of the 21 positives in the test set.</a:t>
            </a:r>
          </a:p>
          <a:p>
            <a:pPr lvl="0" indent="0" marL="0">
              <a:buNone/>
            </a:pPr>
          </a:p>
          <a:p>
            <a:pPr lvl="0" indent="0" marL="0">
              <a:buNone/>
            </a:pPr>
            <a:r>
              <a:rPr/>
              <a:t>On a problem where the positives are the entire reason the system exists.</a:t>
            </a:r>
          </a:p>
          <a:p>
            <a:pPr lvl="0" indent="0" marL="0">
              <a:buNone/>
            </a:pPr>
          </a:p>
          <a:p>
            <a:pPr lvl="0" indent="0" marL="0">
              <a:buNone/>
            </a:pPr>
            <a:r>
              <a:rPr/>
              <a:t>Accuracy is dominated by the class nobody is looking for. Ask them what metric they would report to someone deploying this, and steer towards recall on the positive class - then note that recall alone is also gameable, by flagging everything, which is why lesson 4 needs a whole session.</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Two confusion matrices side by side. Give them a moment to spot that the accuracies agree to three decimal places.</a:t>
            </a:r>
          </a:p>
          <a:p>
            <a:pPr lvl="0" indent="0" marL="0">
              <a:buNone/>
            </a:pPr>
          </a:p>
          <a:p>
            <a:pPr lvl="0" indent="0" marL="0">
              <a:buNone/>
            </a:pPr>
            <a:r>
              <a:rPr/>
              <a:t>Left is the model that answers negative every time and has learned nothing whatever. Right is a trained model. 0.986 against 0.987 - and the one on the right finds a single positive out of twenty-one, which is barely better than nothing but is not nothing.</a:t>
            </a:r>
          </a:p>
          <a:p>
            <a:pPr lvl="0" indent="0" marL="0">
              <a:buNone/>
            </a:pPr>
          </a:p>
          <a:p>
            <a:pPr lvl="0" indent="0" marL="0">
              <a:buNone/>
            </a:pPr>
            <a:r>
              <a:rPr/>
              <a:t>Ask what a report containing only the accuracy would say about these two, and let the silence do the work. Then point at the bottom-left cell of each: 21 missed, then 20 missed. That is the number the application cares about, and it is the one accuracy averages away.</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why it is worthless: biopsies are scheduled once malignancy is already suspected, so the field is populated AFTER the diagnosis it is supposed to predict. At prediction time for a new patient it is empty.</a:t>
            </a:r>
          </a:p>
          <a:p>
            <a:pPr lvl="0" indent="0" marL="0">
              <a:buNone/>
            </a:pPr>
          </a:p>
          <a:p>
            <a:pPr lvl="0" indent="0" marL="0">
              <a:buNone/>
            </a:pPr>
            <a:r>
              <a:rPr/>
              <a:t>Then the point that makes this different from the others: no metric detects it, including cross-validated ones, because the information genuinely IS in the training data. The model is not cheating; the data is.</a:t>
            </a:r>
          </a:p>
          <a:p>
            <a:pPr lvl="0" indent="0" marL="0">
              <a:buNone/>
            </a:pPr>
          </a:p>
          <a:p>
            <a:pPr lvl="0" indent="0" marL="0">
              <a:buNone/>
            </a:pPr>
            <a:r>
              <a:rPr/>
              <a:t>Only knowing how the data was recorded catches it. Ask them to imagine a hospital extract with 200 columns and no documentation - which is the normal case - and to think about how they would find this.</a:t>
            </a:r>
          </a:p>
          <a:p>
            <a:pPr lvl="0" indent="0" marL="0">
              <a:buNone/>
            </a:pPr>
          </a:p>
          <a:p>
            <a:pPr lvl="0" indent="0" marL="0">
              <a:buNone/>
            </a:pPr>
            <a:r>
              <a:rPr/>
              <a:t>The question to carry: at the moment a prediction is needed, does this value exist yet?</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timeline, with the moment of prediction marked, and everything that happens after it shaded.</a:t>
            </a:r>
          </a:p>
          <a:p>
            <a:pPr lvl="0" indent="0" marL="0">
              <a:buNone/>
            </a:pPr>
          </a:p>
          <a:p>
            <a:pPr lvl="0" indent="0" marL="0">
              <a:buNone/>
            </a:pPr>
            <a:r>
              <a:rPr/>
              <a:t>Walk left to right: the scan is taken, measurements are recorded - both before the prediction is needed, both usable. Then the shaded region: the diagnosis is made, the biopsy is scheduled. A model leaning on biopsy_scheduled scores beautifully in the notebook and has nothing to read at the moment it would actually be used.</a:t>
            </a:r>
          </a:p>
          <a:p>
            <a:pPr lvl="0" indent="0" marL="0">
              <a:buNone/>
            </a:pPr>
          </a:p>
          <a:p>
            <a:pPr lvl="0" indent="0" marL="0">
              <a:buNone/>
            </a:pPr>
            <a:r>
              <a:rPr/>
              <a:t>The shaded region is the trap: everything to the right of the marked moment happens after a prediction is needed, so none of it can be an input.</a:t>
            </a:r>
          </a:p>
          <a:p>
            <a:pPr lvl="0" indent="0" marL="0">
              <a:buNone/>
            </a:pPr>
          </a:p>
          <a:p>
            <a:pPr lvl="0" indent="0" marL="0">
              <a:buNone/>
            </a:pPr>
            <a:r>
              <a:rPr/>
              <a:t>The question in the title is the one to make a habit of, and it is worth saying that it cannot be answered by looking at the data. It is answered by asking somebody who knows how the data is produced. Put it to them as the thing to ask of every column in every dataset they are handed.</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Same model, same data, 30 different random seeds. Accuracy ranges from 0.917 to 1.000 - a spread of 0.083.</a:t>
            </a:r>
          </a:p>
          <a:p>
            <a:pPr lvl="0" indent="0" marL="0">
              <a:buNone/>
            </a:pPr>
          </a:p>
          <a:p>
            <a:pPr lvl="0" indent="0" marL="0">
              <a:buNone/>
            </a:pPr>
            <a:r>
              <a:rPr/>
              <a:t>That is larger than most claimed improvements between competing methods in published work. Let that land.</a:t>
            </a:r>
          </a:p>
          <a:p>
            <a:pPr lvl="0" indent="0" marL="0">
              <a:buNone/>
            </a:pPr>
          </a:p>
          <a:p>
            <a:pPr lvl="0" indent="0" marL="0">
              <a:buNone/>
            </a:pPr>
            <a:r>
              <a:rPr/>
              <a:t>Pick your favourite seed and you can report anything in that range, and a reader seeing one number cannot tell which you got. This is not fraud; it is the default behaviour of anyone who runs the code once.</a:t>
            </a:r>
          </a:p>
          <a:p>
            <a:pPr lvl="0" indent="0" marL="0">
              <a:buNone/>
            </a:pPr>
          </a:p>
          <a:p>
            <a:pPr lvl="0" indent="0" marL="0">
              <a:buNone/>
            </a:pPr>
            <a:r>
              <a:rPr/>
              <a:t>Cross-validation replaces the single draw with an average and - more usefully - reports the spread. In 5-fold cross-validation the data is cut into five parts and each part serves once as the test set, so every row is tested exactly once. On this data it gives 0.960 ± 0.030: the mean of the five scores, plus or minus their standard deviation.</a:t>
            </a:r>
          </a:p>
          <a:p>
            <a:pPr lvl="0" indent="0" marL="0">
              <a:buNone/>
            </a:pPr>
          </a:p>
          <a:p>
            <a:pPr lvl="0" indent="0" marL="0">
              <a:buNone/>
            </a:pPr>
            <a:r>
              <a:rPr/>
              <a:t>A result quoted with no indication of variability is incomplete. Lesson 5 makes this the centre of the course.</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They are caught by asking questions about the data and the process, not by reading the metric.</a:t>
            </a:r>
          </a:p>
          <a:p>
            <a:pPr lvl="0" indent="0" marL="0">
              <a:buNone/>
            </a:pPr>
          </a:p>
          <a:p>
            <a:pPr lvl="0" indent="0" marL="0">
              <a:buNone/>
            </a:pPr>
            <a:r>
              <a:rPr/>
              <a:t>Give them the three questions to carry out of this room: where did this number come from, what does it leave out, and would it still hold on data I have never touched?</a:t>
            </a:r>
          </a:p>
          <a:p>
            <a:pPr lvl="0" indent="0" marL="0">
              <a:buNone/>
            </a:pPr>
          </a:p>
          <a:p>
            <a:pPr lvl="0" indent="0" marL="0">
              <a:buNone/>
            </a:pPr>
            <a:r>
              <a:rPr/>
              <a:t>Then the professional version, connecting back to the history section: the habit of distinguishing what was demonstrated from what was extrapolated is the same habit, applied to your own work instead of someone else’s.</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the loop with the “when not to use ML” slide. Handout section 8.</a:t>
            </a:r>
          </a:p>
          <a:p>
            <a:pPr lvl="0" indent="0" marL="0">
              <a:buNone/>
            </a:pPr>
          </a:p>
          <a:p>
            <a:pPr lvl="0" indent="0" marL="0">
              <a:buNone/>
            </a:pPr>
            <a:r>
              <a:rPr/>
              <a:t>If past decisions discriminated, a model fitted to them discriminates too - and it does so with an appearance of objectivity that makes it HARDER to contest than a human decision would be. “The algorithm decided” is a much harder claim to argue with than “the manager decided”.</a:t>
            </a:r>
          </a:p>
          <a:p>
            <a:pPr lvl="0" indent="0" marL="0">
              <a:buNone/>
            </a:pPr>
          </a:p>
          <a:p>
            <a:pPr lvl="0" indent="0" marL="0">
              <a:buNone/>
            </a:pPr>
            <a:r>
              <a:rPr/>
              <a:t>Second point: nothing in empirical risk minimisation distinguishes a cause from a coincidence that predicts well in this sample. A model can be highly accurate and completely wrong about why - which is exactly why it fails abruptly when conditions change.</a:t>
            </a:r>
          </a:p>
          <a:p>
            <a:pPr lvl="0" indent="0" marL="0">
              <a:buNone/>
            </a:pPr>
          </a:p>
          <a:p>
            <a:pPr lvl="0" indent="0" marL="0">
              <a:buNone/>
            </a:pPr>
            <a:r>
              <a:rPr/>
              <a:t>Third: whether a decision can be explained to the person affected, whether errors are recoverable, and who bears the cost of being wrong are engineering requirements. They belong in step 1, where they can still change what you build, not in a paragraph at the end of a report.</a:t>
            </a:r>
          </a:p>
          <a:p>
            <a:pPr lvl="0" indent="0" marL="0">
              <a:buNone/>
            </a:pPr>
          </a:p>
          <a:p>
            <a:pPr lvl="0" indent="0" marL="0">
              <a:buNone/>
            </a:pPr>
            <a:r>
              <a:rPr/>
              <a:t>Keep this short and serious. Do not moralise - state it and move on.</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Set it explicitly - do not let anyone leave without knowing it exists and when it is discussed.</a:t>
            </a:r>
          </a:p>
          <a:p>
            <a:pPr lvl="0" indent="0" marL="0">
              <a:buNone/>
            </a:pPr>
          </a:p>
          <a:p>
            <a:pPr lvl="0" indent="0" marL="0">
              <a:buNone/>
            </a:pPr>
            <a:r>
              <a:rPr/>
              <a:t>Walk the tasks briefly. Task 1 is framing, and there is no single right answer: quality is an integer from 3 to 9, so they must decide how to treat it and defend the choice. Task 7 - repeat the split with ten seeds - connects directly to the figure they just saw.</a:t>
            </a:r>
          </a:p>
          <a:p>
            <a:pPr lvl="0" indent="0" marL="0">
              <a:buNone/>
            </a:pPr>
          </a:p>
          <a:p>
            <a:pPr lvl="0" indent="0" marL="0">
              <a:buNone/>
            </a:pPr>
            <a:r>
              <a:rPr/>
              <a:t>Remind them: scaling the full dataset before splitting is a methodological error whatever the score, and it is what the discussion will look for. Accuracy is never what counts in this course.</a:t>
            </a:r>
          </a:p>
          <a:p>
            <a:pPr lvl="0" indent="0" marL="0">
              <a:buNone/>
            </a:pPr>
          </a:p>
          <a:p>
            <a:pPr lvl="0" indent="0" marL="0">
              <a:buNone/>
            </a:pPr>
            <a:r>
              <a:rPr/>
              <a:t>Also point them at the quiz - 20 questions, ungraded, and the ones marked “reasoning” are the closest thing there is to the exam, because they ask why rather than what.</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Close on time and offer to stay for setup problems - it is worth twenty minutes now to avoid three people stuck for a fortnight.</a:t>
            </a:r>
          </a:p>
          <a:p>
            <a:pPr lvl="0" indent="0" marL="0">
              <a:buNone/>
            </a:pPr>
          </a:p>
          <a:p>
            <a:pPr lvl="0" indent="0" marL="0">
              <a:buNone/>
            </a:pPr>
            <a:r>
              <a:rPr/>
              <a:t>Tell them lesson 2 goes deeper into data preparation, and that the leakage they saw today was the simple, visible version. The next one is subtler.</a:t>
            </a:r>
          </a:p>
          <a:p>
            <a:pPr lvl="0" indent="0" marL="0">
              <a:buNone/>
            </a:pPr>
          </a:p>
          <a:p>
            <a:pPr lvl="0" indent="0" marL="0">
              <a:buNone/>
            </a:pPr>
            <a:r>
              <a:rPr/>
              <a:t>If anyone asks what to read beyond the handout: Resources/history_of_ai.md for context, and the scikit-learn “common pitfalls” page, which is the library’s own account of everything in notebook 03.</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pic>
        <p:nvPicPr>
          <p:cNvPr id="7" name="Logo 7" descr="univaq_logo.png"/>
          <p:cNvPicPr>
            <a:picLocks noChangeAspect="1"/>
          </p:cNvPicPr>
          <p:nvPr/>
        </p:nvPicPr>
        <p:blipFill>
          <a:blip r:embed="rId2"/>
          <a:stretch>
            <a:fillRect/>
          </a:stretch>
        </p:blipFill>
        <p:spPr>
          <a:xfrm>
            <a:off x="3383280" y="282892"/>
            <a:ext cx="2377440" cy="1037097"/>
          </a:xfrm>
          <a:prstGeom prst="rect">
            <a:avLst/>
          </a:prstGeom>
        </p:spPr>
      </p:pic>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nchor="b"/>
          <a:lstStyle>
            <a:lvl1pPr algn="l">
              <a:defRPr b="1"/>
            </a:lvl1pPr>
          </a:lstStyle>
          <a:p>
            <a:r>
              <a:rPr lang="en-US"/>
              <a:t>Click to edit Master title style</a:t>
            </a:r>
          </a:p>
        </p:txBody>
      </p:sp>
      <p:sp>
        <p:nvSpPr>
          <p:cNvPr id="3" name="Picture Placeholder 2"/>
          <p:cNvSpPr>
            <a:spLocks noGrp="1"/>
          </p:cNvSpPr>
          <p:nvPr>
            <p:ph type="pic" idx="1"/>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endParaRPr lang="en-US"/>
          </a:p>
        </p:txBody>
      </p:sp>
      <p:sp>
        <p:nvSpPr>
          <p:cNvPr id="4" name="Text Placeholder 3"/>
          <p:cNvSpPr>
            <a:spLocks noGrp="1"/>
          </p:cNvSpPr>
          <p:nvPr>
            <p:ph type="body" sz="half" idx="2"/>
          </p:nvPr>
        </p:nvSpPr>
        <p:spPr>
          <a:xfrm>
            <a:off x="457200" y="1234440"/>
            <a:ext cx="8229600" cy="822960"/>
          </a:xfrm>
        </p:spPr>
        <p:txBody>
          <a:bodyPr/>
          <a:lstStyle>
            <a:lvl1pPr marL="0" indent="0">
              <a:buNone/>
              <a:defRPr/>
            </a:lvl1pPr>
            <a:lvl2pPr marL="342900" indent="0">
              <a:buNone/>
              <a:defRPr/>
            </a:lvl2pPr>
            <a:lvl3pPr marL="685800" indent="0">
              <a:buNone/>
              <a:defRPr/>
            </a:lvl3pPr>
            <a:lvl4pPr marL="1028700" indent="0">
              <a:buNone/>
              <a:defRPr/>
            </a:lvl4pPr>
            <a:lvl5pPr marL="1371600" indent="0">
              <a:buNone/>
              <a:defRPr/>
            </a:lvl5pPr>
            <a:lvl6pPr marL="1714500" indent="0">
              <a:buNone/>
              <a:defRPr/>
            </a:lvl6pPr>
            <a:lvl7pPr marL="2057400" indent="0">
              <a:buNone/>
              <a:defRPr/>
            </a:lvl7pPr>
            <a:lvl8pPr marL="2400300" indent="0">
              <a:buNone/>
              <a:defRPr/>
            </a:lvl8pPr>
            <a:lvl9pPr marL="2743200" indent="0">
              <a:buNone/>
              <a:defRPr/>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pic>
        <p:nvPicPr>
          <p:cNvPr descr="univaq_logo.png" id="7" name="Logo 7"/>
          <p:cNvPicPr>
            <a:picLocks noChangeAspect="1"/>
          </p:cNvPicPr>
          <p:nvPr/>
        </p:nvPicPr>
        <p:blipFill>
          <a:blip r:embed="rId13"/>
          <a:stretch>
            <a:fillRect/>
          </a:stretch>
        </p:blipFill>
        <p:spPr>
          <a:xfrm>
            <a:off x="7836408" y="4530478"/>
            <a:ext cx="1051560" cy="458716"/>
          </a:xfrm>
          <a:prstGeom prst="rect">
            <a:avLst/>
          </a:prstGeom>
        </p:spPr>
      </p:pic>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7.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6.xml"/><Relationship Id="rId3" Type="http://schemas.openxmlformats.org/officeDocument/2006/relationships/image" Target="../media/image2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3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32.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Lesson 1: Introduction and the ML Workflow</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Technologies for Artificial Intelligence</a:t>
            </a:r>
            <a:br/>
            <a:br/>
            <a:r>
              <a:rPr/>
              <a:t>Fabio Antonini, Università degli Studi dell’Aquila</a:t>
            </a:r>
          </a:p>
        </p:txBody>
      </p:sp>
      <p:sp>
        <p:nvSpPr>
          <p:cNvPr id="4" name="Date Placeholder 3"/>
          <p:cNvSpPr>
            <a:spLocks noGrp="1"/>
          </p:cNvSpPr>
          <p:nvPr>
            <p:ph idx="10" sz="half" type="dt"/>
          </p:nvPr>
        </p:nvSpPr>
        <p:spPr>
          <a:xfrm>
            <a:off x="457200" y="4767263"/>
            <a:ext cx="2133600" cy="273844"/>
          </a:xfrm>
        </p:spPr>
        <p:txBody>
          <a:bodyPr/>
          <a:lstStyle/>
          <a:p>
            <a:pPr lvl="0" indent="0" marL="0">
              <a:buNone/>
            </a:pPr>
            <a:r>
              <a:rPr/>
              <a:t>2 October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Welcome</a:t>
            </a:r>
          </a:p>
        </p:txBody>
      </p:sp>
      <p:sp>
        <p:nvSpPr>
          <p:cNvPr id="3" name="Content Placeholder 2"/>
          <p:cNvSpPr>
            <a:spLocks noGrp="1"/>
          </p:cNvSpPr>
          <p:nvPr>
            <p:ph idx="1"/>
          </p:nvPr>
        </p:nvSpPr>
        <p:spPr>
          <a:xfrm>
            <a:off x="457200" y="1200151"/>
            <a:ext cx="8229600" cy="3394472"/>
          </a:xfrm>
        </p:spPr>
        <p:txBody>
          <a:bodyPr/>
          <a:lstStyle/>
          <a:p>
            <a:pPr lvl="0"/>
            <a:r>
              <a:rPr/>
              <a:t>10 lessons, 3 hours each, every Friday until 4 December</a:t>
            </a:r>
          </a:p>
          <a:p>
            <a:pPr lvl="0"/>
            <a:r>
              <a:rPr/>
              <a:t>A first course in </a:t>
            </a:r>
            <a:r>
              <a:rPr b="1"/>
              <a:t>machine learning</a:t>
            </a:r>
            <a:r>
              <a:rPr/>
              <a:t>, for people who can already program</a:t>
            </a:r>
          </a:p>
          <a:p>
            <a:pPr lvl="0"/>
            <a:r>
              <a:rPr/>
              <a:t>Foundations, not products</a:t>
            </a:r>
          </a:p>
          <a:p>
            <a:pPr lvl="0"/>
            <a:r>
              <a:rPr/>
              <a:t>Course team on Microsoft Teams: code </a:t>
            </a:r>
            <a:r>
              <a:rPr b="1">
                <a:latin typeface="Courier"/>
              </a:rPr>
              <a:t>v0t2gvu</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we will cover</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0" bandRow="1">
                <a:tableStyleId>{5C22544A-7EE6-4342-B048-85BDC9FD1C3A}</a:tableStyleId>
              </a:tblPr>
              <a:tblGrid>
                <a:gridCol w="4114800"/>
                <a:gridCol w="4114800"/>
              </a:tblGrid>
              <a:tr h="0">
                <a:tc>
                  <a:txBody>
                    <a:bodyPr/>
                    <a:lstStyle/>
                    <a:p>
                      <a:pPr lvl="0" indent="0" marL="0">
                        <a:buNone/>
                      </a:pPr>
                      <a:r>
                        <a:rPr/>
                        <a:t>1–2</a:t>
                      </a:r>
                    </a:p>
                  </a:txBody>
                </a:tc>
                <a:tc>
                  <a:txBody>
                    <a:bodyPr/>
                    <a:lstStyle/>
                    <a:p>
                      <a:pPr lvl="0" indent="0" marL="0">
                        <a:buNone/>
                      </a:pPr>
                      <a:r>
                        <a:rPr/>
                        <a:t>Workflow, data preparation</a:t>
                      </a:r>
                    </a:p>
                  </a:txBody>
                </a:tc>
              </a:tr>
              <a:tr h="0">
                <a:tc>
                  <a:txBody>
                    <a:bodyPr/>
                    <a:lstStyle/>
                    <a:p>
                      <a:pPr lvl="0" indent="0" marL="0">
                        <a:buNone/>
                      </a:pPr>
                      <a:r>
                        <a:rPr/>
                        <a:t>3–4</a:t>
                      </a:r>
                    </a:p>
                  </a:txBody>
                </a:tc>
                <a:tc>
                  <a:txBody>
                    <a:bodyPr/>
                    <a:lstStyle/>
                    <a:p>
                      <a:pPr lvl="0" indent="0" marL="0">
                        <a:buNone/>
                      </a:pPr>
                      <a:r>
                        <a:rPr/>
                        <a:t>Regression, classification</a:t>
                      </a:r>
                    </a:p>
                  </a:txBody>
                </a:tc>
              </a:tr>
              <a:tr h="0">
                <a:tc>
                  <a:txBody>
                    <a:bodyPr/>
                    <a:lstStyle/>
                    <a:p>
                      <a:pPr lvl="0" indent="0" marL="0">
                        <a:buNone/>
                      </a:pPr>
                      <a:r>
                        <a:rPr b="1"/>
                        <a:t>5</a:t>
                      </a:r>
                    </a:p>
                  </a:txBody>
                </a:tc>
                <a:tc>
                  <a:txBody>
                    <a:bodyPr/>
                    <a:lstStyle/>
                    <a:p>
                      <a:pPr lvl="0" indent="0" marL="0">
                        <a:buNone/>
                      </a:pPr>
                      <a:r>
                        <a:rPr b="1"/>
                        <a:t>Experimental methodology</a:t>
                      </a:r>
                    </a:p>
                  </a:txBody>
                </a:tc>
              </a:tr>
              <a:tr h="0">
                <a:tc>
                  <a:txBody>
                    <a:bodyPr/>
                    <a:lstStyle/>
                    <a:p>
                      <a:pPr lvl="0" indent="0" marL="0">
                        <a:buNone/>
                      </a:pPr>
                      <a:r>
                        <a:rPr/>
                        <a:t>6–7</a:t>
                      </a:r>
                    </a:p>
                  </a:txBody>
                </a:tc>
                <a:tc>
                  <a:txBody>
                    <a:bodyPr/>
                    <a:lstStyle/>
                    <a:p>
                      <a:pPr lvl="0" indent="0" marL="0">
                        <a:buNone/>
                      </a:pPr>
                      <a:r>
                        <a:rPr/>
                        <a:t>k-NN, support vector machines, trees, ensembles</a:t>
                      </a:r>
                    </a:p>
                  </a:txBody>
                </a:tc>
              </a:tr>
              <a:tr h="0">
                <a:tc>
                  <a:txBody>
                    <a:bodyPr/>
                    <a:lstStyle/>
                    <a:p>
                      <a:pPr lvl="0" indent="0" marL="0">
                        <a:buNone/>
                      </a:pPr>
                      <a:r>
                        <a:rPr/>
                        <a:t>8</a:t>
                      </a:r>
                    </a:p>
                  </a:txBody>
                </a:tc>
                <a:tc>
                  <a:txBody>
                    <a:bodyPr/>
                    <a:lstStyle/>
                    <a:p>
                      <a:pPr lvl="0" indent="0" marL="0">
                        <a:buNone/>
                      </a:pPr>
                      <a:r>
                        <a:rPr/>
                        <a:t>Unsupervised learning</a:t>
                      </a:r>
                    </a:p>
                  </a:txBody>
                </a:tc>
              </a:tr>
              <a:tr h="0">
                <a:tc>
                  <a:txBody>
                    <a:bodyPr/>
                    <a:lstStyle/>
                    <a:p>
                      <a:pPr lvl="0" indent="0" marL="0">
                        <a:buNone/>
                      </a:pPr>
                      <a:r>
                        <a:rPr/>
                        <a:t>9–10</a:t>
                      </a:r>
                    </a:p>
                  </a:txBody>
                </a:tc>
                <a:tc>
                  <a:txBody>
                    <a:bodyPr/>
                    <a:lstStyle/>
                    <a:p>
                      <a:pPr lvl="0" indent="0" marL="0">
                        <a:buNone/>
                      </a:pPr>
                      <a:r>
                        <a:rPr/>
                        <a:t>Neural networks, CNNs</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this course is not</a:t>
            </a:r>
          </a:p>
        </p:txBody>
      </p:sp>
      <p:sp>
        <p:nvSpPr>
          <p:cNvPr id="3" name="Content Placeholder 2"/>
          <p:cNvSpPr>
            <a:spLocks noGrp="1"/>
          </p:cNvSpPr>
          <p:nvPr>
            <p:ph idx="1"/>
          </p:nvPr>
        </p:nvSpPr>
        <p:spPr>
          <a:xfrm>
            <a:off x="457200" y="1200151"/>
            <a:ext cx="8229600" cy="3394472"/>
          </a:xfrm>
        </p:spPr>
        <p:txBody>
          <a:bodyPr/>
          <a:lstStyle/>
          <a:p>
            <a:pPr lvl="0"/>
            <a:r>
              <a:rPr/>
              <a:t>Not a tour of current AI products</a:t>
            </a:r>
          </a:p>
          <a:p>
            <a:pPr lvl="0"/>
            <a:r>
              <a:rPr/>
              <a:t>Not a library tutorial</a:t>
            </a:r>
          </a:p>
          <a:p>
            <a:pPr lvl="0"/>
            <a:r>
              <a:rPr/>
              <a:t>Not a course where you call </a:t>
            </a:r>
            <a:r>
              <a:rPr>
                <a:latin typeface="Courier"/>
              </a:rPr>
              <a:t>.fit()</a:t>
            </a:r>
            <a:r>
              <a:rPr/>
              <a:t> and report the number</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Your advantage, and your gap</a:t>
            </a:r>
          </a:p>
        </p:txBody>
      </p:sp>
      <p:sp>
        <p:nvSpPr>
          <p:cNvPr id="3" name="Content Placeholder 2"/>
          <p:cNvSpPr>
            <a:spLocks noGrp="1"/>
          </p:cNvSpPr>
          <p:nvPr>
            <p:ph idx="1"/>
          </p:nvPr>
        </p:nvSpPr>
        <p:spPr>
          <a:xfrm>
            <a:off x="457200" y="1200151"/>
            <a:ext cx="8229600" cy="3394472"/>
          </a:xfrm>
        </p:spPr>
        <p:txBody>
          <a:bodyPr/>
          <a:lstStyle/>
          <a:p>
            <a:pPr lvl="0" indent="0" marL="0">
              <a:buNone/>
            </a:pPr>
            <a:r>
              <a:rPr b="1"/>
              <a:t>Advantage:</a:t>
            </a:r>
            <a:r>
              <a:rPr/>
              <a:t> you can program. You will implement methods, not only call them.</a:t>
            </a:r>
          </a:p>
          <a:p>
            <a:pPr lvl="0" indent="0" marL="0">
              <a:buNone/>
            </a:pPr>
            <a:r>
              <a:rPr b="1"/>
              <a:t>Gap:</a:t>
            </a:r>
            <a:r>
              <a:rPr/>
              <a:t> you can produce results faster than you can judge them.</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How you will be assessed</a:t>
            </a:r>
          </a:p>
        </p:txBody>
      </p:sp>
      <p:sp>
        <p:nvSpPr>
          <p:cNvPr id="3" name="Content Placeholder 2"/>
          <p:cNvSpPr>
            <a:spLocks noGrp="1"/>
          </p:cNvSpPr>
          <p:nvPr>
            <p:ph idx="1"/>
          </p:nvPr>
        </p:nvSpPr>
        <p:spPr>
          <a:xfrm>
            <a:off x="457200" y="1200151"/>
            <a:ext cx="8229600" cy="3394472"/>
          </a:xfrm>
        </p:spPr>
        <p:txBody>
          <a:bodyPr/>
          <a:lstStyle/>
          <a:p>
            <a:pPr lvl="0"/>
            <a:r>
              <a:rPr b="1"/>
              <a:t>Weekly exercises</a:t>
            </a:r>
            <a:r>
              <a:rPr/>
              <a:t>: set each Friday, discussed the next. Never collected</a:t>
            </a:r>
          </a:p>
          <a:p>
            <a:pPr lvl="0"/>
            <a:r>
              <a:rPr b="1"/>
              <a:t>Exam</a:t>
            </a:r>
            <a:r>
              <a:rPr/>
              <a:t>: </a:t>
            </a:r>
            <a:r>
              <a:rPr b="1"/>
              <a:t>one of the ten is drawn</a:t>
            </a:r>
            <a:r>
              <a:rPr/>
              <a:t>, and you talk through your own notebook</a:t>
            </a:r>
          </a:p>
          <a:p>
            <a:pPr lvl="0"/>
            <a:r>
              <a:rPr/>
              <a:t>No written paper, no project. Keep all ten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three things you get each lesson</a:t>
            </a:r>
          </a:p>
        </p:txBody>
      </p:sp>
      <p:sp>
        <p:nvSpPr>
          <p:cNvPr id="3" name="Content Placeholder 2"/>
          <p:cNvSpPr>
            <a:spLocks noGrp="1"/>
          </p:cNvSpPr>
          <p:nvPr>
            <p:ph idx="1"/>
          </p:nvPr>
        </p:nvSpPr>
        <p:spPr>
          <a:xfrm>
            <a:off x="457200" y="1200151"/>
            <a:ext cx="8229600" cy="3394472"/>
          </a:xfrm>
        </p:spPr>
        <p:txBody>
          <a:bodyPr/>
          <a:lstStyle/>
          <a:p>
            <a:pPr lvl="0"/>
            <a:r>
              <a:rPr b="1"/>
              <a:t>Handout</a:t>
            </a:r>
            <a:r>
              <a:rPr/>
              <a:t>: the reference text, with the mathematics</a:t>
            </a:r>
          </a:p>
          <a:p>
            <a:pPr lvl="0"/>
            <a:r>
              <a:rPr b="1"/>
              <a:t>Slides</a:t>
            </a:r>
            <a:r>
              <a:rPr/>
              <a:t>: what we do in the room</a:t>
            </a:r>
          </a:p>
          <a:p>
            <a:pPr lvl="0"/>
            <a:r>
              <a:rPr b="1"/>
              <a:t>Notebooks</a:t>
            </a:r>
            <a:r>
              <a:rPr/>
              <a:t>: runnable implementations</a:t>
            </a:r>
          </a:p>
          <a:p>
            <a:pPr lvl="0" indent="0" marL="0">
              <a:buNone/>
            </a:pPr>
            <a:r>
              <a:rPr/>
              <a:t>Plus a quiz, and the exercise.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Getting the material</a:t>
            </a:r>
          </a:p>
        </p:txBody>
      </p:sp>
      <p:sp>
        <p:nvSpPr>
          <p:cNvPr id="3" name="Content Placeholder 2"/>
          <p:cNvSpPr>
            <a:spLocks noGrp="1"/>
          </p:cNvSpPr>
          <p:nvPr>
            <p:ph idx="1"/>
          </p:nvPr>
        </p:nvSpPr>
        <p:spPr>
          <a:xfrm>
            <a:off x="457200" y="1200151"/>
            <a:ext cx="8229600" cy="3394472"/>
          </a:xfrm>
        </p:spPr>
        <p:txBody>
          <a:bodyPr/>
          <a:lstStyle/>
          <a:p>
            <a:pPr lvl="0" indent="0">
              <a:buNone/>
            </a:pPr>
            <a:r>
              <a:rPr>
                <a:solidFill>
                  <a:srgbClr val="19177C"/>
                </a:solidFill>
                <a:latin typeface="Courier"/>
              </a:rPr>
              <a:t>U</a:t>
            </a:r>
            <a:r>
              <a:rPr>
                <a:solidFill>
                  <a:srgbClr val="666666"/>
                </a:solidFill>
                <a:latin typeface="Courier"/>
              </a:rPr>
              <a:t>=</a:t>
            </a:r>
            <a:r>
              <a:rPr>
                <a:latin typeface="Courier"/>
              </a:rPr>
              <a:t>https://github.com/fabioantonini</a:t>
            </a:r>
            <a:br/>
            <a:r>
              <a:rPr>
                <a:solidFill>
                  <a:srgbClr val="19177C"/>
                </a:solidFill>
                <a:latin typeface="Courier"/>
              </a:rPr>
              <a:t>R</a:t>
            </a:r>
            <a:r>
              <a:rPr>
                <a:solidFill>
                  <a:srgbClr val="666666"/>
                </a:solidFill>
                <a:latin typeface="Courier"/>
              </a:rPr>
              <a:t>=</a:t>
            </a:r>
            <a:r>
              <a:rPr>
                <a:latin typeface="Courier"/>
              </a:rPr>
              <a:t>technologies-for-artificial-intelligence</a:t>
            </a:r>
            <a:br/>
            <a:r>
              <a:rPr>
                <a:solidFill>
                  <a:srgbClr val="06287E"/>
                </a:solidFill>
                <a:latin typeface="Courier"/>
              </a:rPr>
              <a:t>git</a:t>
            </a:r>
            <a:r>
              <a:rPr>
                <a:latin typeface="Courier"/>
              </a:rPr>
              <a:t> clone </a:t>
            </a:r>
            <a:r>
              <a:rPr>
                <a:solidFill>
                  <a:srgbClr val="19177C"/>
                </a:solidFill>
                <a:latin typeface="Courier"/>
              </a:rPr>
              <a:t>$U</a:t>
            </a:r>
            <a:r>
              <a:rPr>
                <a:latin typeface="Courier"/>
              </a:rPr>
              <a:t>/</a:t>
            </a:r>
            <a:r>
              <a:rPr>
                <a:solidFill>
                  <a:srgbClr val="19177C"/>
                </a:solidFill>
                <a:latin typeface="Courier"/>
              </a:rPr>
              <a:t>$R</a:t>
            </a:r>
            <a:r>
              <a:rPr>
                <a:latin typeface="Courier"/>
              </a:rPr>
              <a:t>.git tai</a:t>
            </a:r>
            <a:br/>
            <a:r>
              <a:rPr>
                <a:solidFill>
                  <a:srgbClr val="008000"/>
                </a:solidFill>
                <a:latin typeface="Courier"/>
              </a:rPr>
              <a:t>cd</a:t>
            </a:r>
            <a:r>
              <a:rPr>
                <a:latin typeface="Courier"/>
              </a:rPr>
              <a:t> tai</a:t>
            </a:r>
            <a:br/>
            <a:r>
              <a:rPr>
                <a:latin typeface="Courier"/>
              </a:rPr>
              <a:t>docker compose pull</a:t>
            </a:r>
            <a:br/>
            <a:r>
              <a:rPr>
                <a:latin typeface="Courier"/>
              </a:rPr>
              <a:t>docker compose up</a:t>
            </a:r>
          </a:p>
          <a:p>
            <a:pPr lvl="0" indent="0" marL="0">
              <a:buNone/>
            </a:pPr>
            <a:r>
              <a:rPr/>
              <a:t>Then open </a:t>
            </a:r>
            <a:r>
              <a:rPr b="1"/>
              <a:t>127.0.0.1:8888</a:t>
            </a:r>
            <a:r>
              <a:rPr/>
              <a:t>, token </a:t>
            </a:r>
            <a:r>
              <a:rPr>
                <a:latin typeface="Courier"/>
              </a:rPr>
              <a:t>aicourse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Today</a:t>
            </a:r>
          </a:p>
        </p:txBody>
      </p:sp>
      <p:sp>
        <p:nvSpPr>
          <p:cNvPr id="3" name="Content Placeholder 2"/>
          <p:cNvSpPr>
            <a:spLocks noGrp="1"/>
          </p:cNvSpPr>
          <p:nvPr>
            <p:ph idx="1"/>
          </p:nvPr>
        </p:nvSpPr>
        <p:spPr>
          <a:xfrm>
            <a:off x="457200" y="1200151"/>
            <a:ext cx="8229600" cy="3394472"/>
          </a:xfrm>
        </p:spPr>
        <p:txBody>
          <a:bodyPr/>
          <a:lstStyle/>
          <a:p>
            <a:pPr lvl="0"/>
            <a:r>
              <a:rPr/>
              <a:t>What learning from data means</a:t>
            </a:r>
          </a:p>
          <a:p>
            <a:pPr lvl="0"/>
            <a:r>
              <a:rPr/>
              <a:t>A short history, and what it teaches</a:t>
            </a:r>
          </a:p>
          <a:p>
            <a:pPr lvl="0"/>
            <a:r>
              <a:rPr/>
              <a:t>The three kinds of learning</a:t>
            </a:r>
          </a:p>
          <a:p>
            <a:pPr lvl="0"/>
            <a:r>
              <a:rPr/>
              <a:t>The end-to-end workflow</a:t>
            </a:r>
          </a:p>
          <a:p>
            <a:pPr lvl="0"/>
            <a:r>
              <a:rPr/>
              <a:t>Four ways a model misleads you</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problem you cannot specify</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Write a program that decides whether an email is spam.</a:t>
            </a:r>
          </a:p>
          <a:p>
            <a:pPr lvl="0"/>
            <a:r>
              <a:rPr/>
              <a:t>Filter certain words? Spam adapts.</a:t>
            </a:r>
          </a:p>
          <a:p>
            <a:pPr lvl="0"/>
            <a:r>
              <a:rPr/>
              <a:t>Filter certain senders? They change.</a:t>
            </a:r>
          </a:p>
          <a:p>
            <a:pPr lvl="0"/>
            <a:r>
              <a:rPr/>
              <a:t>The exceptions grow until nobody can maintain it</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Every rule buys an exception</a:t>
            </a:r>
          </a:p>
        </p:txBody>
      </p:sp>
      <p:pic>
        <p:nvPicPr>
          <p:cNvPr descr="spam_rules.png" id="0" name="Picture 1"/>
          <p:cNvPicPr>
            <a:picLocks noGrp="1" noChangeAspect="1"/>
          </p:cNvPicPr>
          <p:nvPr/>
        </p:nvPicPr>
        <p:blipFill>
          <a:blip r:embed="rId3"/>
          <a:stretch>
            <a:fillRect/>
          </a:stretch>
        </p:blipFill>
        <p:spPr bwMode="auto">
          <a:xfrm>
            <a:off x="457200" y="1341239"/>
            <a:ext cx="8229600" cy="30099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The inversion</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You cannot state the rule. But you can </a:t>
            </a:r>
            <a:r>
              <a:rPr b="1"/>
              <a:t>recognise</a:t>
            </a:r>
            <a:r>
              <a:rPr/>
              <a:t> the answer.</a:t>
            </a:r>
          </a:p>
        </p:txBody>
      </p:sp>
      <p:pic>
        <p:nvPicPr>
          <p:cNvPr descr="rules_versus_learning.png" id="0" name="Picture 1"/>
          <p:cNvPicPr>
            <a:picLocks noGrp="1" noChangeAspect="1"/>
          </p:cNvPicPr>
          <p:nvPr/>
        </p:nvPicPr>
        <p:blipFill>
          <a:blip r:embed="rId3"/>
          <a:stretch>
            <a:fillRect/>
          </a:stretch>
        </p:blipFill>
        <p:spPr bwMode="auto">
          <a:xfrm>
            <a:off x="1422543" y="2160270"/>
            <a:ext cx="6298914" cy="236601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data actually is</a:t>
            </a:r>
          </a:p>
        </p:txBody>
      </p:sp>
      <p:sp>
        <p:nvSpPr>
          <p:cNvPr id="3" name="Content Placeholder 2"/>
          <p:cNvSpPr>
            <a:spLocks noGrp="1"/>
          </p:cNvSpPr>
          <p:nvPr>
            <p:ph idx="1"/>
          </p:nvPr>
        </p:nvSpPr>
        <p:spPr>
          <a:xfrm>
            <a:off x="457200" y="1200151"/>
            <a:ext cx="8229600" cy="3394472"/>
          </a:xfrm>
        </p:spPr>
        <p:txBody>
          <a:bodyPr/>
          <a:lstStyle/>
          <a:p>
            <a:pPr lvl="0"/>
            <a:r>
              <a:rPr/>
              <a:t>One tumour = 30 numbers: radius 17.99, texture 10.38, perimeter 122.80, …</a:t>
            </a:r>
          </a:p>
          <a:p>
            <a:pPr lvl="0"/>
            <a:r>
              <a:rPr/>
              <a:t>That row is one input x; its label y is </a:t>
            </a:r>
            <a:r>
              <a:rPr>
                <a:latin typeface="Courier"/>
              </a:rPr>
              <a:t>malignant</a:t>
            </a:r>
            <a:r>
              <a:rPr/>
              <a:t>, coded 0</a:t>
            </a:r>
          </a:p>
          <a:p>
            <a:pPr lvl="0"/>
            <a:r>
              <a:rPr/>
              <a:t>All 569 rows stacked is the design matrix X, 569 x 30</a:t>
            </a:r>
          </a:p>
          <a:p>
            <a:pPr lvl="0"/>
            <a:r>
              <a:rPr b="1"/>
              <a:t>m = 569 examples</a:t>
            </a:r>
            <a:r>
              <a:rPr/>
              <a:t> (rows), </a:t>
            </a:r>
            <a:r>
              <a:rPr b="1"/>
              <a:t>n = 30 features</a:t>
            </a:r>
            <a:r>
              <a:rPr/>
              <a:t> (columns), all course long</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Making it precise</a:t>
            </a:r>
          </a:p>
        </p:txBody>
      </p:sp>
      <p:sp>
        <p:nvSpPr>
          <p:cNvPr id="3" name="Content Placeholder 2"/>
          <p:cNvSpPr>
            <a:spLocks noGrp="1"/>
          </p:cNvSpPr>
          <p:nvPr>
            <p:ph idx="1"/>
          </p:nvPr>
        </p:nvSpPr>
        <p:spPr>
          <a:xfrm>
            <a:off x="457200" y="1200151"/>
            <a:ext cx="8229600" cy="3394472"/>
          </a:xfrm>
        </p:spPr>
        <p:txBody>
          <a:bodyPr/>
          <a:lstStyle/>
          <a:p>
            <a:pPr lvl="0"/>
            <a:r>
              <a:rPr/>
              <a:t>Inputs from a space </a:t>
            </a:r>
            <a:r>
              <a:rPr>
                <a:latin typeface="Courier"/>
              </a:rPr>
              <a:t>X</a:t>
            </a:r>
            <a:r>
              <a:rPr/>
              <a:t>, outputs from a space </a:t>
            </a:r>
            <a:r>
              <a:rPr>
                <a:latin typeface="Courier"/>
              </a:rPr>
              <a:t>Y</a:t>
            </a:r>
          </a:p>
          <a:p>
            <a:pPr lvl="0"/>
            <a:r>
              <a:rPr/>
              <a:t>Pairs (x, y) drawn from an unknown distribution </a:t>
            </a:r>
            <a:r>
              <a:rPr>
                <a:latin typeface="Courier"/>
              </a:rPr>
              <a:t>D</a:t>
            </a:r>
          </a:p>
          <a:p>
            <a:pPr lvl="0"/>
            <a:r>
              <a:rPr/>
              <a:t>A loss </a:t>
            </a:r>
            <a:r>
              <a:rPr>
                <a:latin typeface="Courier"/>
              </a:rPr>
              <a:t>L(ŷ, y)</a:t>
            </a:r>
            <a:r>
              <a:rPr/>
              <a:t>: the cost of answering ŷ when the truth is y</a:t>
            </a:r>
          </a:p>
          <a:p>
            <a:pPr lvl="0"/>
            <a:r>
              <a:rPr/>
              <a:t>Goal: find f: X → Y that predicts well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setup, in one picture</a:t>
            </a:r>
          </a:p>
        </p:txBody>
      </p:sp>
      <p:pic>
        <p:nvPicPr>
          <p:cNvPr descr="learning_setup.png" id="0" name="Picture 1"/>
          <p:cNvPicPr>
            <a:picLocks noGrp="1" noChangeAspect="1"/>
          </p:cNvPicPr>
          <p:nvPr/>
        </p:nvPicPr>
        <p:blipFill>
          <a:blip r:embed="rId3"/>
          <a:stretch>
            <a:fillRect/>
          </a:stretch>
        </p:blipFill>
        <p:spPr bwMode="auto">
          <a:xfrm>
            <a:off x="457200" y="1487289"/>
            <a:ext cx="8229600" cy="27178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What we actually want</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The average loss over all data the world might produce, including data that does not exist yet:</a:t>
            </a:r>
          </a:p>
        </p:txBody>
      </p:sp>
      <p:pic>
        <p:nvPicPr>
          <p:cNvPr descr="eq_7b8475c907.png" id="0" name="Picture 1"/>
          <p:cNvPicPr>
            <a:picLocks noGrp="1" noChangeAspect="1"/>
          </p:cNvPicPr>
          <p:nvPr/>
        </p:nvPicPr>
        <p:blipFill>
          <a:blip r:embed="rId3"/>
          <a:stretch>
            <a:fillRect/>
          </a:stretch>
        </p:blipFill>
        <p:spPr bwMode="auto">
          <a:xfrm>
            <a:off x="457205" y="2913371"/>
            <a:ext cx="8229590" cy="859808"/>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What we can actually compute</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Average loss over the finite sample we happen to hold:</a:t>
            </a:r>
          </a:p>
        </p:txBody>
      </p:sp>
      <p:pic>
        <p:nvPicPr>
          <p:cNvPr descr="eq_782c661939.png" id="0" name="Picture 1"/>
          <p:cNvPicPr>
            <a:picLocks noGrp="1" noChangeAspect="1"/>
          </p:cNvPicPr>
          <p:nvPr/>
        </p:nvPicPr>
        <p:blipFill>
          <a:blip r:embed="rId3"/>
          <a:stretch>
            <a:fillRect/>
          </a:stretch>
        </p:blipFill>
        <p:spPr bwMode="auto">
          <a:xfrm>
            <a:off x="836214" y="2358217"/>
            <a:ext cx="7471572" cy="1970116"/>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Accuracy: the share of right answers</a:t>
            </a:r>
          </a:p>
        </p:txBody>
      </p:sp>
      <p:sp>
        <p:nvSpPr>
          <p:cNvPr id="3" name="Content Placeholder 2"/>
          <p:cNvSpPr>
            <a:spLocks noGrp="1"/>
          </p:cNvSpPr>
          <p:nvPr>
            <p:ph idx="1"/>
          </p:nvPr>
        </p:nvSpPr>
        <p:spPr>
          <a:xfrm>
            <a:off x="457200" y="1200151"/>
            <a:ext cx="8229600" cy="3394472"/>
          </a:xfrm>
        </p:spPr>
        <p:txBody>
          <a:bodyPr/>
          <a:lstStyle/>
          <a:p>
            <a:pPr lvl="0"/>
            <a:r>
              <a:rPr/>
              <a:t>With the zero-one loss - 1 for a wrong answer, 0 for a right one - the empirical risk is the </a:t>
            </a:r>
            <a:r>
              <a:rPr b="1"/>
              <a:t>error rate</a:t>
            </a:r>
          </a:p>
          <a:p>
            <a:pPr lvl="0"/>
            <a:r>
              <a:rPr b="1"/>
              <a:t>Accuracy</a:t>
            </a:r>
            <a:r>
              <a:rPr/>
              <a:t> = right answers ÷ all answers = 1 − error rate</a:t>
            </a:r>
          </a:p>
          <a:p>
            <a:pPr lvl="0"/>
            <a:r>
              <a:rPr/>
              <a:t>141 right out of 143: accuracy </a:t>
            </a:r>
            <a:r>
              <a:rPr b="1"/>
              <a:t>0.986</a:t>
            </a:r>
            <a:r>
              <a:rPr/>
              <a:t>, error rate </a:t>
            </a:r>
            <a:r>
              <a:rPr b="1"/>
              <a:t>0.014</a:t>
            </a:r>
          </a:p>
          <a:p>
            <a:pPr lvl="0"/>
            <a:r>
              <a:rPr/>
              <a:t>Every mistake counts the same, which is what we will see it hide</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Learning, in one line</a:t>
            </a:r>
          </a:p>
        </p:txBody>
      </p:sp>
      <p:pic>
        <p:nvPicPr>
          <p:cNvPr descr="eq_054b8a30ee.png" id="0" name="Picture 1"/>
          <p:cNvPicPr>
            <a:picLocks noGrp="1" noChangeAspect="1"/>
          </p:cNvPicPr>
          <p:nvPr/>
        </p:nvPicPr>
        <p:blipFill>
          <a:blip r:embed="rId3"/>
          <a:stretch>
            <a:fillRect/>
          </a:stretch>
        </p:blipFill>
        <p:spPr bwMode="auto">
          <a:xfrm>
            <a:off x="1084146" y="2307940"/>
            <a:ext cx="6975707" cy="1076498"/>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Learning is a search</a:t>
            </a:r>
          </a:p>
        </p:txBody>
      </p:sp>
      <p:pic>
        <p:nvPicPr>
          <p:cNvPr descr="learning_search.png" id="0" name="Picture 1"/>
          <p:cNvPicPr>
            <a:picLocks noGrp="1" noChangeAspect="1"/>
          </p:cNvPicPr>
          <p:nvPr/>
        </p:nvPicPr>
        <p:blipFill>
          <a:blip r:embed="rId3"/>
          <a:stretch>
            <a:fillRect/>
          </a:stretch>
        </p:blipFill>
        <p:spPr bwMode="auto">
          <a:xfrm>
            <a:off x="1847359" y="1166099"/>
            <a:ext cx="5449282" cy="3360181"/>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The gap that explains everything</a:t>
            </a:r>
          </a:p>
        </p:txBody>
      </p:sp>
      <p:sp>
        <p:nvSpPr>
          <p:cNvPr id="4" name="Text Placeholder 3"/>
          <p:cNvSpPr>
            <a:spLocks noGrp="1"/>
          </p:cNvSpPr>
          <p:nvPr>
            <p:ph idx="2" sz="half" type="body"/>
          </p:nvPr>
        </p:nvSpPr>
        <p:spPr>
          <a:xfrm>
            <a:off x="457200" y="1183005"/>
            <a:ext cx="8229600" cy="874395"/>
          </a:xfrm>
        </p:spPr>
        <p:txBody>
          <a:bodyPr/>
          <a:lstStyle/>
          <a:p>
            <a:pPr lvl="0"/>
            <a:r>
              <a:rPr/>
              <a:t>We </a:t>
            </a:r>
            <a:r>
              <a:rPr b="1"/>
              <a:t>minimise</a:t>
            </a:r>
            <a:r>
              <a:rPr/>
              <a:t> the empirical risk</a:t>
            </a:r>
          </a:p>
          <a:p>
            <a:pPr lvl="0"/>
            <a:r>
              <a:rPr/>
              <a:t>We </a:t>
            </a:r>
            <a:r>
              <a:rPr b="1"/>
              <a:t>care about</a:t>
            </a:r>
            <a:r>
              <a:rPr/>
              <a:t> the expected risk</a:t>
            </a:r>
          </a:p>
        </p:txBody>
      </p:sp>
      <p:pic>
        <p:nvPicPr>
          <p:cNvPr descr="risk_gap.png" id="0" name="Picture 1"/>
          <p:cNvPicPr>
            <a:picLocks noGrp="1" noChangeAspect="1"/>
          </p:cNvPicPr>
          <p:nvPr/>
        </p:nvPicPr>
        <p:blipFill>
          <a:blip r:embed="rId3"/>
          <a:stretch>
            <a:fillRect/>
          </a:stretch>
        </p:blipFill>
        <p:spPr bwMode="auto">
          <a:xfrm>
            <a:off x="2448929" y="2160270"/>
            <a:ext cx="4246142" cy="236601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lowest training error is the worst model</a:t>
            </a:r>
          </a:p>
        </p:txBody>
      </p:sp>
      <p:pic>
        <p:nvPicPr>
          <p:cNvPr descr="overfitting.png" id="0" name="Picture 1"/>
          <p:cNvPicPr>
            <a:picLocks noGrp="1" noChangeAspect="1"/>
          </p:cNvPicPr>
          <p:nvPr/>
        </p:nvPicPr>
        <p:blipFill>
          <a:blip r:embed="rId3"/>
          <a:stretch>
            <a:fillRect/>
          </a:stretch>
        </p:blipFill>
        <p:spPr bwMode="auto">
          <a:xfrm>
            <a:off x="457200" y="1671439"/>
            <a:ext cx="8229600" cy="23495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Which gives us the one rule for today</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Hold out part of the data. Never let the fitting procedure touch it. Measure there.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When </a:t>
            </a:r>
            <a:r>
              <a:rPr i="1"/>
              <a:t>not</a:t>
            </a:r>
            <a:r>
              <a:rPr/>
              <a:t> to use machine learning</a:t>
            </a:r>
          </a:p>
        </p:txBody>
      </p:sp>
      <p:sp>
        <p:nvSpPr>
          <p:cNvPr id="3" name="Content Placeholder 2"/>
          <p:cNvSpPr>
            <a:spLocks noGrp="1"/>
          </p:cNvSpPr>
          <p:nvPr>
            <p:ph idx="1"/>
          </p:nvPr>
        </p:nvSpPr>
        <p:spPr>
          <a:xfrm>
            <a:off x="457200" y="1200151"/>
            <a:ext cx="8229600" cy="3394472"/>
          </a:xfrm>
        </p:spPr>
        <p:txBody>
          <a:bodyPr/>
          <a:lstStyle/>
          <a:p>
            <a:pPr lvl="0"/>
            <a:r>
              <a:rPr/>
              <a:t>The rule is </a:t>
            </a:r>
            <a:r>
              <a:rPr b="1"/>
              <a:t>known</a:t>
            </a:r>
            <a:r>
              <a:rPr/>
              <a:t>: write it</a:t>
            </a:r>
          </a:p>
          <a:p>
            <a:pPr lvl="0"/>
            <a:r>
              <a:rPr/>
              <a:t>The data is </a:t>
            </a:r>
            <a:r>
              <a:rPr b="1"/>
              <a:t>not representative</a:t>
            </a:r>
            <a:r>
              <a:rPr/>
              <a:t> of deployment</a:t>
            </a:r>
          </a:p>
          <a:p>
            <a:pPr lvl="0"/>
            <a:r>
              <a:rPr/>
              <a:t>Errors are </a:t>
            </a:r>
            <a:r>
              <a:rPr b="1"/>
              <a:t>certain, unrecoverable and unreviewed</a:t>
            </a:r>
          </a:p>
          <a:p>
            <a:pPr lvl="0"/>
            <a:r>
              <a:rPr/>
              <a:t>The data encodes an </a:t>
            </a:r>
            <a:r>
              <a:rPr b="1"/>
              <a:t>injustice</a:t>
            </a:r>
            <a:r>
              <a:rPr/>
              <a:t> you would automate</a:t>
            </a:r>
          </a:p>
          <a:p>
            <a:pPr lvl="0"/>
            <a:r>
              <a:rPr/>
              <a:t>A </a:t>
            </a:r>
            <a:r>
              <a:rPr b="1"/>
              <a:t>simple baseline</a:t>
            </a:r>
            <a:r>
              <a:rPr/>
              <a:t> already suffices: always give the most common answer</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Seventy years in one picture</a:t>
            </a:r>
          </a:p>
        </p:txBody>
      </p:sp>
      <p:pic>
        <p:nvPicPr>
          <p:cNvPr descr="ai_timeline.png" id="0" name="Picture 1"/>
          <p:cNvPicPr>
            <a:picLocks noGrp="1" noChangeAspect="1"/>
          </p:cNvPicPr>
          <p:nvPr/>
        </p:nvPicPr>
        <p:blipFill>
          <a:blip r:embed="rId3"/>
          <a:stretch>
            <a:fillRect/>
          </a:stretch>
        </p:blipFill>
        <p:spPr bwMode="auto">
          <a:xfrm>
            <a:off x="457200" y="1734939"/>
            <a:ext cx="8229600" cy="22225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1943: the first artificial neuron</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A neuron as a threshold unit: it fires when the weighted sum passes θ.</a:t>
            </a:r>
          </a:p>
        </p:txBody>
      </p:sp>
      <p:pic>
        <p:nvPicPr>
          <p:cNvPr descr="hist_1943_neuron.png" id="0" name="Picture 1"/>
          <p:cNvPicPr>
            <a:picLocks noGrp="1" noChangeAspect="1"/>
          </p:cNvPicPr>
          <p:nvPr/>
        </p:nvPicPr>
        <p:blipFill>
          <a:blip r:embed="rId3"/>
          <a:stretch>
            <a:fillRect/>
          </a:stretch>
        </p:blipFill>
        <p:spPr bwMode="auto">
          <a:xfrm>
            <a:off x="736774" y="2160270"/>
            <a:ext cx="7670451" cy="2366010"/>
          </a:xfrm>
          <a:prstGeom prst="rect">
            <a:avLst/>
          </a:prstGeom>
          <a:noFill/>
          <a:ln w="9525">
            <a:noFill/>
            <a:headEnd/>
            <a:tailEnd/>
          </a:ln>
        </p:spPr>
      </p:pic>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1950: Turing’s imitation game</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“Can machines think?” becomes a question you can settle by observation.</a:t>
            </a:r>
          </a:p>
        </p:txBody>
      </p:sp>
      <p:pic>
        <p:nvPicPr>
          <p:cNvPr descr="hist_1950_imitation.png" id="0" name="Picture 1"/>
          <p:cNvPicPr>
            <a:picLocks noGrp="1" noChangeAspect="1"/>
          </p:cNvPicPr>
          <p:nvPr/>
        </p:nvPicPr>
        <p:blipFill>
          <a:blip r:embed="rId3"/>
          <a:stretch>
            <a:fillRect/>
          </a:stretch>
        </p:blipFill>
        <p:spPr bwMode="auto">
          <a:xfrm>
            <a:off x="1483896" y="2160270"/>
            <a:ext cx="6176207" cy="236601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1956: Dartmouth</a:t>
            </a:r>
          </a:p>
        </p:txBody>
      </p:sp>
      <p:sp>
        <p:nvSpPr>
          <p:cNvPr id="4" name="Text Placeholder 3"/>
          <p:cNvSpPr>
            <a:spLocks noGrp="1"/>
          </p:cNvSpPr>
          <p:nvPr>
            <p:ph idx="2" sz="half" type="body"/>
          </p:nvPr>
        </p:nvSpPr>
        <p:spPr>
          <a:xfrm>
            <a:off x="457200" y="1183005"/>
            <a:ext cx="8229600" cy="437197"/>
          </a:xfrm>
        </p:spPr>
        <p:txBody>
          <a:bodyPr/>
          <a:lstStyle/>
          <a:p>
            <a:pPr lvl="0" indent="0" marL="0">
              <a:buNone/>
            </a:pPr>
            <a:r>
              <a:rPr/>
              <a:t>The term </a:t>
            </a:r>
            <a:r>
              <a:rPr i="1"/>
              <a:t>artificial intelligence</a:t>
            </a:r>
            <a:r>
              <a:rPr/>
              <a:t> is coined.</a:t>
            </a:r>
          </a:p>
        </p:txBody>
      </p:sp>
      <p:pic>
        <p:nvPicPr>
          <p:cNvPr descr="hist_1956_dartmouth.png" id="0" name="Picture 1"/>
          <p:cNvPicPr>
            <a:picLocks noGrp="1" noChangeAspect="1"/>
          </p:cNvPicPr>
          <p:nvPr/>
        </p:nvPicPr>
        <p:blipFill>
          <a:blip r:embed="rId3"/>
          <a:stretch>
            <a:fillRect/>
          </a:stretch>
        </p:blipFill>
        <p:spPr bwMode="auto">
          <a:xfrm>
            <a:off x="936872" y="1723072"/>
            <a:ext cx="7270255" cy="2803208"/>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1957: the perceptron learns</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Rosenblatt: weights adjusted </a:t>
            </a:r>
            <a:r>
              <a:rPr b="1"/>
              <a:t>from examples</a:t>
            </a:r>
            <a:r>
              <a:rPr/>
              <a:t>, not set by hand.</a:t>
            </a:r>
          </a:p>
        </p:txBody>
      </p:sp>
      <p:pic>
        <p:nvPicPr>
          <p:cNvPr descr="hist_1957_perceptron.png" id="0" name="Picture 1"/>
          <p:cNvPicPr>
            <a:picLocks noGrp="1" noChangeAspect="1"/>
          </p:cNvPicPr>
          <p:nvPr/>
        </p:nvPicPr>
        <p:blipFill>
          <a:blip r:embed="rId3"/>
          <a:stretch>
            <a:fillRect/>
          </a:stretch>
        </p:blipFill>
        <p:spPr bwMode="auto">
          <a:xfrm>
            <a:off x="2638797" y="2160270"/>
            <a:ext cx="3866406" cy="236601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1969: the first winter</a:t>
            </a:r>
          </a:p>
        </p:txBody>
      </p:sp>
      <p:sp>
        <p:nvSpPr>
          <p:cNvPr id="4" name="Text Placeholder 3"/>
          <p:cNvSpPr>
            <a:spLocks noGrp="1"/>
          </p:cNvSpPr>
          <p:nvPr>
            <p:ph idx="2" sz="half" type="body"/>
          </p:nvPr>
        </p:nvSpPr>
        <p:spPr>
          <a:xfrm>
            <a:off x="457200" y="1183005"/>
            <a:ext cx="8229600" cy="437197"/>
          </a:xfrm>
        </p:spPr>
        <p:txBody>
          <a:bodyPr/>
          <a:lstStyle/>
          <a:p>
            <a:pPr lvl="0" indent="0" marL="0">
              <a:buNone/>
            </a:pPr>
            <a:r>
              <a:rPr/>
              <a:t>A single-layer perceptron cannot represent XOR.</a:t>
            </a:r>
          </a:p>
        </p:txBody>
      </p:sp>
      <p:pic>
        <p:nvPicPr>
          <p:cNvPr descr="hist_1969_xor.png" id="0" name="Picture 1"/>
          <p:cNvPicPr>
            <a:picLocks noGrp="1" noChangeAspect="1"/>
          </p:cNvPicPr>
          <p:nvPr/>
        </p:nvPicPr>
        <p:blipFill>
          <a:blip r:embed="rId3"/>
          <a:stretch>
            <a:fillRect/>
          </a:stretch>
        </p:blipFill>
        <p:spPr bwMode="auto">
          <a:xfrm>
            <a:off x="1277001" y="1723072"/>
            <a:ext cx="6589997" cy="2803208"/>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1986: backpropagation</a:t>
            </a:r>
          </a:p>
        </p:txBody>
      </p:sp>
      <p:sp>
        <p:nvSpPr>
          <p:cNvPr id="4" name="Text Placeholder 3"/>
          <p:cNvSpPr>
            <a:spLocks noGrp="1"/>
          </p:cNvSpPr>
          <p:nvPr>
            <p:ph idx="2" sz="half" type="body"/>
          </p:nvPr>
        </p:nvSpPr>
        <p:spPr>
          <a:xfrm>
            <a:off x="457200" y="1183005"/>
            <a:ext cx="8229600" cy="437197"/>
          </a:xfrm>
        </p:spPr>
        <p:txBody>
          <a:bodyPr/>
          <a:lstStyle/>
          <a:p>
            <a:pPr lvl="0" indent="0" marL="0">
              <a:buNone/>
            </a:pPr>
            <a:r>
              <a:rPr/>
              <a:t>An efficient way to train multi-layer networks.</a:t>
            </a:r>
          </a:p>
        </p:txBody>
      </p:sp>
      <p:pic>
        <p:nvPicPr>
          <p:cNvPr descr="hist_1986_backprop.png" id="0" name="Picture 1"/>
          <p:cNvPicPr>
            <a:picLocks noGrp="1" noChangeAspect="1"/>
          </p:cNvPicPr>
          <p:nvPr/>
        </p:nvPicPr>
        <p:blipFill>
          <a:blip r:embed="rId3"/>
          <a:stretch>
            <a:fillRect/>
          </a:stretch>
        </p:blipFill>
        <p:spPr bwMode="auto">
          <a:xfrm>
            <a:off x="960174" y="1723072"/>
            <a:ext cx="7223651" cy="2803208"/>
          </a:xfrm>
          <a:prstGeom prst="rect">
            <a:avLst/>
          </a:prstGeom>
          <a:noFill/>
          <a:ln w="9525">
            <a:noFill/>
            <a:headEnd/>
            <a:tailEnd/>
          </a:ln>
        </p:spPr>
      </p:pic>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1995-2010: statistics takes over</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From “simulating intelligence” to “estimating functions from data”.</a:t>
            </a:r>
          </a:p>
        </p:txBody>
      </p:sp>
      <p:pic>
        <p:nvPicPr>
          <p:cNvPr descr="hist_1995_svm.png" id="0" name="Picture 1"/>
          <p:cNvPicPr>
            <a:picLocks noGrp="1" noChangeAspect="1"/>
          </p:cNvPicPr>
          <p:nvPr/>
        </p:nvPicPr>
        <p:blipFill>
          <a:blip r:embed="rId3"/>
          <a:stretch>
            <a:fillRect/>
          </a:stretch>
        </p:blipFill>
        <p:spPr bwMode="auto">
          <a:xfrm>
            <a:off x="2638797" y="2160270"/>
            <a:ext cx="3866406" cy="236601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2012: AlexNet</a:t>
            </a:r>
          </a:p>
        </p:txBody>
      </p:sp>
      <p:sp>
        <p:nvSpPr>
          <p:cNvPr id="4" name="Text Placeholder 3"/>
          <p:cNvSpPr>
            <a:spLocks noGrp="1"/>
          </p:cNvSpPr>
          <p:nvPr>
            <p:ph idx="2" sz="half" type="body"/>
          </p:nvPr>
        </p:nvSpPr>
        <p:spPr>
          <a:xfrm>
            <a:off x="457200" y="1183005"/>
            <a:ext cx="8229600" cy="437197"/>
          </a:xfrm>
        </p:spPr>
        <p:txBody>
          <a:bodyPr/>
          <a:lstStyle/>
          <a:p>
            <a:pPr lvl="0" indent="0" marL="0">
              <a:buNone/>
            </a:pPr>
            <a:r>
              <a:rPr/>
              <a:t>The architecture was recognisably LeNet, from 1989.</a:t>
            </a:r>
          </a:p>
        </p:txBody>
      </p:sp>
      <p:pic>
        <p:nvPicPr>
          <p:cNvPr descr="hist_2012_imagenet.png" id="0" name="Picture 1"/>
          <p:cNvPicPr>
            <a:picLocks noGrp="1" noChangeAspect="1"/>
          </p:cNvPicPr>
          <p:nvPr/>
        </p:nvPicPr>
        <p:blipFill>
          <a:blip r:embed="rId3"/>
          <a:stretch>
            <a:fillRect/>
          </a:stretch>
        </p:blipFill>
        <p:spPr bwMode="auto">
          <a:xfrm>
            <a:off x="1652597" y="1723072"/>
            <a:ext cx="5838806" cy="2803208"/>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pattern</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Advance</a:t>
                      </a:r>
                    </a:p>
                  </a:txBody>
                  <a:tcPr/>
                </a:tc>
                <a:tc>
                  <a:txBody>
                    <a:bodyPr/>
                    <a:lstStyle/>
                    <a:p>
                      <a:pPr lvl="0" indent="0" marL="0">
                        <a:buNone/>
                      </a:pPr>
                      <a:r>
                        <a:rPr/>
                        <a:t>Overclaim</a:t>
                      </a:r>
                    </a:p>
                  </a:txBody>
                  <a:tcPr/>
                </a:tc>
                <a:tc>
                  <a:txBody>
                    <a:bodyPr/>
                    <a:lstStyle/>
                    <a:p>
                      <a:pPr lvl="0" indent="0" marL="0">
                        <a:buNone/>
                      </a:pPr>
                      <a:r>
                        <a:rPr/>
                        <a:t>Correction</a:t>
                      </a:r>
                    </a:p>
                  </a:txBody>
                  <a:tcPr/>
                </a:tc>
              </a:tr>
              <a:tr h="0">
                <a:tc>
                  <a:txBody>
                    <a:bodyPr/>
                    <a:lstStyle/>
                    <a:p>
                      <a:pPr lvl="0" indent="0" marL="0">
                        <a:buNone/>
                      </a:pPr>
                      <a:r>
                        <a:rPr/>
                        <a:t>Perceptron learns</a:t>
                      </a:r>
                    </a:p>
                  </a:txBody>
                </a:tc>
                <a:tc>
                  <a:txBody>
                    <a:bodyPr/>
                    <a:lstStyle/>
                    <a:p>
                      <a:pPr lvl="0" indent="0" marL="0">
                        <a:buNone/>
                      </a:pPr>
                      <a:r>
                        <a:rPr/>
                        <a:t>Machines that walk and talk</a:t>
                      </a:r>
                    </a:p>
                  </a:txBody>
                </a:tc>
                <a:tc>
                  <a:txBody>
                    <a:bodyPr/>
                    <a:lstStyle/>
                    <a:p>
                      <a:pPr lvl="0" indent="0" marL="0">
                        <a:buNone/>
                      </a:pPr>
                      <a:r>
                        <a:rPr/>
                        <a:t>XOR, first winter</a:t>
                      </a:r>
                    </a:p>
                  </a:txBody>
                </a:tc>
              </a:tr>
              <a:tr h="0">
                <a:tc>
                  <a:txBody>
                    <a:bodyPr/>
                    <a:lstStyle/>
                    <a:p>
                      <a:pPr lvl="0" indent="0" marL="0">
                        <a:buNone/>
                      </a:pPr>
                      <a:r>
                        <a:rPr/>
                        <a:t>Backprop trains depth</a:t>
                      </a:r>
                    </a:p>
                  </a:txBody>
                </a:tc>
                <a:tc>
                  <a:txBody>
                    <a:bodyPr/>
                    <a:lstStyle/>
                    <a:p>
                      <a:pPr lvl="0" indent="0" marL="0">
                        <a:buNone/>
                      </a:pPr>
                      <a:r>
                        <a:rPr/>
                        <a:t>Networks solve everything</a:t>
                      </a:r>
                    </a:p>
                  </a:txBody>
                </a:tc>
                <a:tc>
                  <a:txBody>
                    <a:bodyPr/>
                    <a:lstStyle/>
                    <a:p>
                      <a:pPr lvl="0" indent="0" marL="0">
                        <a:buNone/>
                      </a:pPr>
                      <a:r>
                        <a:rPr/>
                        <a:t>No data, second winter</a:t>
                      </a:r>
                    </a:p>
                  </a:txBody>
                </a:tc>
              </a:tr>
              <a:tr h="0">
                <a:tc>
                  <a:txBody>
                    <a:bodyPr/>
                    <a:lstStyle/>
                    <a:p>
                      <a:pPr lvl="0" indent="0" marL="0">
                        <a:buNone/>
                      </a:pPr>
                      <a:r>
                        <a:rPr/>
                        <a:t>Scale delivers</a:t>
                      </a:r>
                    </a:p>
                  </a:txBody>
                </a:tc>
                <a:tc>
                  <a:txBody>
                    <a:bodyPr/>
                    <a:lstStyle/>
                    <a:p>
                      <a:pPr lvl="0" indent="0" marL="0">
                        <a:buNone/>
                      </a:pPr>
                      <a:r>
                        <a:rPr/>
                        <a:t>?</a:t>
                      </a:r>
                    </a:p>
                  </a:txBody>
                </a:tc>
                <a:tc>
                  <a:txBody>
                    <a:bodyPr/>
                    <a:lstStyle/>
                    <a:p>
                      <a:pPr lvl="0" indent="0" marL="0">
                        <a:buNone/>
                      </a:pPr>
                      <a:r>
                        <a:rPr/>
                        <a:t>?</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Three kinds of learning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The taxonomy divides by </a:t>
            </a:r>
            <a:r>
              <a:rPr b="1"/>
              <a:t>where the target comes from</a:t>
            </a:r>
            <a:r>
              <a:rPr/>
              <a:t>, not by algorithm.</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Supervised</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The answer is recorded by somebody, outside the measurements.</a:t>
            </a:r>
          </a:p>
          <a:p>
            <a:pPr lvl="0"/>
            <a:r>
              <a:rPr/>
              <a:t>Category → </a:t>
            </a:r>
            <a:r>
              <a:rPr b="1"/>
              <a:t>classification</a:t>
            </a:r>
          </a:p>
          <a:p>
            <a:pPr lvl="0"/>
            <a:r>
              <a:rPr/>
              <a:t>Continuous → </a:t>
            </a:r>
            <a:r>
              <a:rPr b="1"/>
              <a:t>regression</a:t>
            </a:r>
          </a:p>
          <a:p>
            <a:pPr lvl="0"/>
            <a:r>
              <a:rPr/>
              <a:t>The cultivar is not a measurement: it is an answer written down</a:t>
            </a:r>
          </a:p>
          <a:p>
            <a:pPr lvl="0"/>
            <a:r>
              <a:rPr/>
              <a:t>In code: a classifier such as </a:t>
            </a:r>
            <a:r>
              <a:rPr>
                <a:latin typeface="Courier"/>
              </a:rPr>
              <a:t>LogisticRegression</a:t>
            </a:r>
            <a:r>
              <a:rPr/>
              <a:t>, a regressor such as </a:t>
            </a:r>
            <a:r>
              <a:rPr>
                <a:latin typeface="Courier"/>
              </a:rPr>
              <a:t>LinearRegression</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Unsupervised</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No targets at all. Find structure.</a:t>
            </a:r>
          </a:p>
          <a:p>
            <a:pPr lvl="0"/>
            <a:r>
              <a:rPr/>
              <a:t>Groups → clustering</a:t>
            </a:r>
          </a:p>
          <a:p>
            <a:pPr lvl="0"/>
            <a:r>
              <a:rPr/>
              <a:t>Fewer dimensions → dimensionality reduction</a:t>
            </a:r>
          </a:p>
          <a:p>
            <a:pPr lvl="0"/>
            <a:r>
              <a:rPr/>
              <a:t>Odd points → anomaly detection</a:t>
            </a:r>
          </a:p>
          <a:p>
            <a:pPr lvl="0"/>
            <a:r>
              <a:rPr/>
              <a:t>In code: </a:t>
            </a:r>
            <a:r>
              <a:rPr>
                <a:latin typeface="Courier"/>
              </a:rPr>
              <a:t>KMeans</a:t>
            </a:r>
            <a:r>
              <a:rPr/>
              <a:t> for groups, </a:t>
            </a:r>
            <a:r>
              <a:rPr>
                <a:latin typeface="Courier"/>
              </a:rPr>
              <a:t>PCA</a:t>
            </a:r>
            <a:r>
              <a:rPr/>
              <a:t> for fewer dimensions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Self-supervised</a:t>
            </a:r>
          </a:p>
        </p:txBody>
      </p:sp>
      <p:sp>
        <p:nvSpPr>
          <p:cNvPr id="4" name="Text Placeholder 3"/>
          <p:cNvSpPr>
            <a:spLocks noGrp="1"/>
          </p:cNvSpPr>
          <p:nvPr>
            <p:ph idx="2" sz="half" type="body"/>
          </p:nvPr>
        </p:nvSpPr>
        <p:spPr>
          <a:xfrm>
            <a:off x="457200" y="1183005"/>
            <a:ext cx="8229600" cy="1311592"/>
          </a:xfrm>
        </p:spPr>
        <p:txBody>
          <a:bodyPr/>
          <a:lstStyle/>
          <a:p>
            <a:pPr lvl="0" indent="0" marL="0">
              <a:buNone/>
            </a:pPr>
            <a:r>
              <a:rPr/>
              <a:t>Hide part of the input. Predict it from the rest.</a:t>
            </a:r>
          </a:p>
          <a:p>
            <a:pPr lvl="0" indent="0" marL="0">
              <a:buNone/>
            </a:pPr>
            <a:r>
              <a:rPr/>
              <a:t>Nobody annotates anything, and the supervision is real.</a:t>
            </a:r>
          </a:p>
        </p:txBody>
      </p:sp>
      <p:pic>
        <p:nvPicPr>
          <p:cNvPr descr="self_supervision.png" id="0" name="Picture 1"/>
          <p:cNvPicPr>
            <a:picLocks noGrp="1" noChangeAspect="1"/>
          </p:cNvPicPr>
          <p:nvPr/>
        </p:nvPicPr>
        <p:blipFill>
          <a:blip r:embed="rId3"/>
          <a:stretch>
            <a:fillRect/>
          </a:stretch>
        </p:blipFill>
        <p:spPr bwMode="auto">
          <a:xfrm>
            <a:off x="1657027" y="2597467"/>
            <a:ext cx="5829946" cy="1928813"/>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dataset, three questions</a:t>
            </a:r>
          </a:p>
        </p:txBody>
      </p:sp>
      <p:pic>
        <p:nvPicPr>
          <p:cNvPr descr="kinds_of_learning.png" id="0" name="Picture 1"/>
          <p:cNvPicPr>
            <a:picLocks noGrp="1" noChangeAspect="1"/>
          </p:cNvPicPr>
          <p:nvPr/>
        </p:nvPicPr>
        <p:blipFill>
          <a:blip r:embed="rId3"/>
          <a:stretch>
            <a:fillRect/>
          </a:stretch>
        </p:blipFill>
        <p:spPr bwMode="auto">
          <a:xfrm>
            <a:off x="457200" y="1595239"/>
            <a:ext cx="8229600" cy="25019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Where the target comes from</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endParaRPr/>
                    </a:p>
                  </a:txBody>
                  <a:tcPr/>
                </a:tc>
                <a:tc>
                  <a:txBody>
                    <a:bodyPr/>
                    <a:lstStyle/>
                    <a:p>
                      <a:pPr lvl="0" indent="0" marL="0">
                        <a:buNone/>
                      </a:pPr>
                      <a:r>
                        <a:rPr/>
                        <a:t>Where the answer comes from</a:t>
                      </a:r>
                    </a:p>
                  </a:txBody>
                  <a:tcPr/>
                </a:tc>
                <a:tc>
                  <a:txBody>
                    <a:bodyPr/>
                    <a:lstStyle/>
                    <a:p>
                      <a:pPr lvl="0" indent="0" marL="0">
                        <a:buNone/>
                      </a:pPr>
                      <a:r>
                        <a:rPr/>
                        <a:t>Cost</a:t>
                      </a:r>
                    </a:p>
                  </a:txBody>
                  <a:tcPr/>
                </a:tc>
                <a:tc>
                  <a:txBody>
                    <a:bodyPr/>
                    <a:lstStyle/>
                    <a:p>
                      <a:pPr lvl="0" indent="0" marL="0">
                        <a:buNone/>
                      </a:pPr>
                      <a:r>
                        <a:rPr/>
                        <a:t>Measurable?</a:t>
                      </a:r>
                    </a:p>
                  </a:txBody>
                  <a:tcPr/>
                </a:tc>
              </a:tr>
              <a:tr h="0">
                <a:tc>
                  <a:txBody>
                    <a:bodyPr/>
                    <a:lstStyle/>
                    <a:p>
                      <a:pPr lvl="0" indent="0" marL="0">
                        <a:buNone/>
                      </a:pPr>
                      <a:r>
                        <a:rPr/>
                        <a:t>Supervised</a:t>
                      </a:r>
                    </a:p>
                  </a:txBody>
                </a:tc>
                <a:tc>
                  <a:txBody>
                    <a:bodyPr/>
                    <a:lstStyle/>
                    <a:p>
                      <a:pPr lvl="0" indent="0" marL="0">
                        <a:buNone/>
                      </a:pPr>
                      <a:r>
                        <a:rPr/>
                        <a:t>Recorded by somebody</a:t>
                      </a:r>
                    </a:p>
                  </a:txBody>
                </a:tc>
                <a:tc>
                  <a:txBody>
                    <a:bodyPr/>
                    <a:lstStyle/>
                    <a:p>
                      <a:pPr lvl="0" indent="0" marL="0">
                        <a:buNone/>
                      </a:pPr>
                      <a:r>
                        <a:rPr/>
                        <a:t>Expensive</a:t>
                      </a:r>
                    </a:p>
                  </a:txBody>
                </a:tc>
                <a:tc>
                  <a:txBody>
                    <a:bodyPr/>
                    <a:lstStyle/>
                    <a:p>
                      <a:pPr lvl="0" indent="0" marL="0">
                        <a:buNone/>
                      </a:pPr>
                      <a:r>
                        <a:rPr/>
                        <a:t>Yes</a:t>
                      </a:r>
                    </a:p>
                  </a:txBody>
                </a:tc>
              </a:tr>
              <a:tr h="0">
                <a:tc>
                  <a:txBody>
                    <a:bodyPr/>
                    <a:lstStyle/>
                    <a:p>
                      <a:pPr lvl="0" indent="0" marL="0">
                        <a:buNone/>
                      </a:pPr>
                      <a:r>
                        <a:rPr/>
                        <a:t>Unsupervised</a:t>
                      </a:r>
                    </a:p>
                  </a:txBody>
                </a:tc>
                <a:tc>
                  <a:txBody>
                    <a:bodyPr/>
                    <a:lstStyle/>
                    <a:p>
                      <a:pPr lvl="0" indent="0" marL="0">
                        <a:buNone/>
                      </a:pPr>
                      <a:r>
                        <a:rPr/>
                        <a:t>Nowhere</a:t>
                      </a:r>
                    </a:p>
                  </a:txBody>
                </a:tc>
                <a:tc>
                  <a:txBody>
                    <a:bodyPr/>
                    <a:lstStyle/>
                    <a:p>
                      <a:pPr lvl="0" indent="0" marL="0">
                        <a:buNone/>
                      </a:pPr>
                      <a:r>
                        <a:rPr/>
                        <a:t>Free</a:t>
                      </a:r>
                    </a:p>
                  </a:txBody>
                </a:tc>
                <a:tc>
                  <a:txBody>
                    <a:bodyPr/>
                    <a:lstStyle/>
                    <a:p>
                      <a:pPr lvl="0" indent="0" marL="0">
                        <a:buNone/>
                      </a:pPr>
                      <a:r>
                        <a:rPr/>
                        <a:t>Not directly</a:t>
                      </a:r>
                    </a:p>
                  </a:txBody>
                </a:tc>
              </a:tr>
              <a:tr h="0">
                <a:tc>
                  <a:txBody>
                    <a:bodyPr/>
                    <a:lstStyle/>
                    <a:p>
                      <a:pPr lvl="0" indent="0" marL="0">
                        <a:buNone/>
                      </a:pPr>
                      <a:r>
                        <a:rPr/>
                        <a:t>Self-supervised</a:t>
                      </a:r>
                    </a:p>
                  </a:txBody>
                </a:tc>
                <a:tc>
                  <a:txBody>
                    <a:bodyPr/>
                    <a:lstStyle/>
                    <a:p>
                      <a:pPr lvl="0" indent="0" marL="0">
                        <a:buNone/>
                      </a:pPr>
                      <a:r>
                        <a:rPr/>
                        <a:t>Part of the input</a:t>
                      </a:r>
                    </a:p>
                  </a:txBody>
                </a:tc>
                <a:tc>
                  <a:txBody>
                    <a:bodyPr/>
                    <a:lstStyle/>
                    <a:p>
                      <a:pPr lvl="0" indent="0" marL="0">
                        <a:buNone/>
                      </a:pPr>
                      <a:r>
                        <a:rPr/>
                        <a:t>Free</a:t>
                      </a:r>
                    </a:p>
                  </a:txBody>
                </a:tc>
                <a:tc>
                  <a:txBody>
                    <a:bodyPr/>
                    <a:lstStyle/>
                    <a:p>
                      <a:pPr lvl="0" indent="0" marL="0">
                        <a:buNone/>
                      </a:pPr>
                      <a:r>
                        <a:rPr/>
                        <a:t>Only the pretext</a:t>
                      </a:r>
                    </a:p>
                  </a:txBody>
                </a:tc>
              </a:tr>
            </a:tbl>
          </a:graphicData>
        </a:graphic>
      </p:graphicFrame>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1,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question</a:t>
                      </a:r>
                    </a:p>
                  </a:txBody>
                  <a:tcPr/>
                </a:tc>
                <a:tc>
                  <a:txBody>
                    <a:bodyPr/>
                    <a:lstStyle/>
                    <a:p>
                      <a:pPr lvl="0" indent="0" marL="0">
                        <a:buNone/>
                      </a:pPr>
                      <a:r>
                        <a:rPr/>
                        <a:t>you call, and what it scores</a:t>
                      </a:r>
                    </a:p>
                  </a:txBody>
                  <a:tcPr/>
                </a:tc>
              </a:tr>
              <a:tr h="0">
                <a:tc>
                  <a:txBody>
                    <a:bodyPr/>
                    <a:lstStyle/>
                    <a:p>
                      <a:pPr lvl="0" indent="0" marL="0">
                        <a:buNone/>
                      </a:pPr>
                      <a:r>
                        <a:rPr/>
                        <a:t>the data: 178 wines, 13 measurements</a:t>
                      </a:r>
                    </a:p>
                  </a:txBody>
                </a:tc>
                <a:tc>
                  <a:txBody>
                    <a:bodyPr/>
                    <a:lstStyle/>
                    <a:p>
                      <a:pPr lvl="0" indent="0" marL="0">
                        <a:buNone/>
                      </a:pPr>
                      <a:r>
                        <a:rPr>
                          <a:latin typeface="Courier"/>
                        </a:rPr>
                        <a:t>load_wine</a:t>
                      </a:r>
                    </a:p>
                  </a:txBody>
                </a:tc>
              </a:tr>
              <a:tr h="0">
                <a:tc>
                  <a:txBody>
                    <a:bodyPr/>
                    <a:lstStyle/>
                    <a:p>
                      <a:pPr lvl="0" indent="0" marL="0">
                        <a:buNone/>
                      </a:pPr>
                      <a:r>
                        <a:rPr b="1"/>
                        <a:t>supervised</a:t>
                      </a:r>
                      <a:r>
                        <a:rPr/>
                        <a:t>: predict the cultivar</a:t>
                      </a:r>
                    </a:p>
                  </a:txBody>
                </a:tc>
                <a:tc>
                  <a:txBody>
                    <a:bodyPr/>
                    <a:lstStyle/>
                    <a:p>
                      <a:pPr lvl="0" indent="0" marL="0">
                        <a:buNone/>
                      </a:pPr>
                      <a:r>
                        <a:rPr>
                          <a:latin typeface="Courier"/>
                        </a:rPr>
                        <a:t>make_pipeline(StandardScaler(), LogisticRegression())</a:t>
                      </a:r>
                      <a:r>
                        <a:rPr/>
                        <a:t> → </a:t>
                      </a:r>
                      <a:r>
                        <a:rPr>
                          <a:latin typeface="Courier"/>
                        </a:rPr>
                        <a:t>accuracy_score</a:t>
                      </a:r>
                      <a:r>
                        <a:rPr/>
                        <a:t> </a:t>
                      </a:r>
                      <a:r>
                        <a:rPr b="1"/>
                        <a:t>0.981</a:t>
                      </a:r>
                    </a:p>
                  </a:txBody>
                </a:tc>
              </a:tr>
              <a:tr h="0">
                <a:tc>
                  <a:txBody>
                    <a:bodyPr/>
                    <a:lstStyle/>
                    <a:p>
                      <a:pPr lvl="0" indent="0" marL="0">
                        <a:buNone/>
                      </a:pPr>
                      <a:r>
                        <a:rPr b="1"/>
                        <a:t>unsupervised</a:t>
                      </a:r>
                      <a:r>
                        <a:rPr/>
                        <a:t>: labels thrown away</a:t>
                      </a:r>
                    </a:p>
                  </a:txBody>
                </a:tc>
                <a:tc>
                  <a:txBody>
                    <a:bodyPr/>
                    <a:lstStyle/>
                    <a:p>
                      <a:pPr lvl="0" indent="0" marL="0">
                        <a:buNone/>
                      </a:pPr>
                      <a:r>
                        <a:rPr>
                          <a:latin typeface="Courier"/>
                        </a:rPr>
                        <a:t>KMeans(n_clusters=3)</a:t>
                      </a:r>
                      <a:r>
                        <a:rPr/>
                        <a:t>, drawn with </a:t>
                      </a:r>
                      <a:r>
                        <a:rPr>
                          <a:latin typeface="Courier"/>
                        </a:rPr>
                        <a:t>PCA</a:t>
                      </a:r>
                      <a:r>
                        <a:rPr/>
                        <a:t> → </a:t>
                      </a:r>
                      <a:r>
                        <a:rPr>
                          <a:latin typeface="Courier"/>
                        </a:rPr>
                        <a:t>adjusted_rand_score</a:t>
                      </a:r>
                      <a:r>
                        <a:rPr/>
                        <a:t> </a:t>
                      </a:r>
                      <a:r>
                        <a:rPr b="1"/>
                        <a:t>0.897</a:t>
                      </a:r>
                    </a:p>
                  </a:txBody>
                </a:tc>
              </a:tr>
              <a:tr h="0">
                <a:tc>
                  <a:txBody>
                    <a:bodyPr/>
                    <a:lstStyle/>
                    <a:p>
                      <a:pPr lvl="0" indent="0" marL="0">
                        <a:buNone/>
                      </a:pPr>
                      <a:r>
                        <a:rPr b="1"/>
                        <a:t>self-supervised</a:t>
                      </a:r>
                      <a:r>
                        <a:rPr/>
                        <a:t>: hide </a:t>
                      </a:r>
                      <a:r>
                        <a:rPr>
                          <a:latin typeface="Courier"/>
                        </a:rPr>
                        <a:t>flavanoids</a:t>
                      </a:r>
                      <a:r>
                        <a:rPr/>
                        <a:t>, predict it</a:t>
                      </a:r>
                    </a:p>
                  </a:txBody>
                </a:tc>
                <a:tc>
                  <a:txBody>
                    <a:bodyPr/>
                    <a:lstStyle/>
                    <a:p>
                      <a:pPr lvl="0" indent="0" marL="0">
                        <a:buNone/>
                      </a:pPr>
                      <a:r>
                        <a:rPr>
                          <a:latin typeface="Courier"/>
                        </a:rPr>
                        <a:t>LinearRegression</a:t>
                      </a:r>
                      <a:r>
                        <a:rPr/>
                        <a:t> → </a:t>
                      </a:r>
                      <a:r>
                        <a:rPr>
                          <a:latin typeface="Courier"/>
                        </a:rPr>
                        <a:t>r2_score</a:t>
                      </a:r>
                      <a:r>
                        <a:rPr/>
                        <a:t> </a:t>
                      </a:r>
                      <a:r>
                        <a:rPr b="1"/>
                        <a:t>0.816</a:t>
                      </a:r>
                      <a:r>
                        <a:rPr/>
                        <a:t> (1 perfect, 0 = guessing the mean)</a:t>
                      </a:r>
                    </a:p>
                  </a:txBody>
                </a:tc>
              </a:tr>
              <a:tr h="0">
                <a:tc>
                  <a:txBody>
                    <a:bodyPr/>
                    <a:lstStyle/>
                    <a:p>
                      <a:pPr lvl="0" indent="0" marL="0">
                        <a:buNone/>
                      </a:pPr>
                      <a:r>
                        <a:rPr/>
                        <a:t>before either model with a target</a:t>
                      </a:r>
                    </a:p>
                  </a:txBody>
                </a:tc>
                <a:tc>
                  <a:txBody>
                    <a:bodyPr/>
                    <a:lstStyle/>
                    <a:p>
                      <a:pPr lvl="0" indent="0" marL="0">
                        <a:buNone/>
                      </a:pPr>
                      <a:r>
                        <a:rPr>
                          <a:latin typeface="Courier"/>
                        </a:rPr>
                        <a:t>train_test_split</a:t>
                      </a:r>
                    </a:p>
                  </a:txBody>
                </a:tc>
              </a:tr>
            </a:tbl>
          </a:graphicData>
        </a:graphic>
      </p:graphicFrame>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workflow</a:t>
            </a:r>
          </a:p>
        </p:txBody>
      </p:sp>
      <p:pic>
        <p:nvPicPr>
          <p:cNvPr descr="ml_workflow.png" id="0" name="Picture 1"/>
          <p:cNvPicPr>
            <a:picLocks noGrp="1" noChangeAspect="1"/>
          </p:cNvPicPr>
          <p:nvPr/>
        </p:nvPicPr>
        <p:blipFill>
          <a:blip r:embed="rId3"/>
          <a:stretch>
            <a:fillRect/>
          </a:stretch>
        </p:blipFill>
        <p:spPr bwMode="auto">
          <a:xfrm>
            <a:off x="457200" y="2090539"/>
            <a:ext cx="8229600" cy="1511300"/>
          </a:xfrm>
          <a:prstGeom prst="rect">
            <a:avLst/>
          </a:prstGeom>
          <a:noFill/>
          <a:ln w="9525">
            <a:noFill/>
            <a:headEnd/>
            <a:tailEnd/>
          </a:ln>
        </p:spPr>
      </p:pic>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2,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step, and its slide</a:t>
                      </a:r>
                    </a:p>
                  </a:txBody>
                  <a:tcPr/>
                </a:tc>
                <a:tc>
                  <a:txBody>
                    <a:bodyPr/>
                    <a:lstStyle/>
                    <a:p>
                      <a:pPr lvl="0" indent="0" marL="0">
                        <a:buNone/>
                      </a:pPr>
                      <a:r>
                        <a:rPr/>
                        <a:t>you call</a:t>
                      </a:r>
                    </a:p>
                  </a:txBody>
                  <a:tcPr/>
                </a:tc>
              </a:tr>
              <a:tr h="0">
                <a:tc>
                  <a:txBody>
                    <a:bodyPr/>
                    <a:lstStyle/>
                    <a:p>
                      <a:pPr lvl="0" indent="0" marL="0">
                        <a:buNone/>
                      </a:pPr>
                      <a:r>
                        <a:rPr/>
                        <a:t>look, 46</a:t>
                      </a:r>
                    </a:p>
                  </a:txBody>
                </a:tc>
                <a:tc>
                  <a:txBody>
                    <a:bodyPr/>
                    <a:lstStyle/>
                    <a:p>
                      <a:pPr lvl="0" indent="0" marL="0">
                        <a:buNone/>
                      </a:pPr>
                      <a:r>
                        <a:rPr>
                          <a:latin typeface="Courier"/>
                        </a:rPr>
                        <a:t>load_breast_cancer</a:t>
                      </a:r>
                    </a:p>
                  </a:txBody>
                </a:tc>
              </a:tr>
              <a:tr h="0">
                <a:tc>
                  <a:txBody>
                    <a:bodyPr/>
                    <a:lstStyle/>
                    <a:p>
                      <a:pPr lvl="0" indent="0" marL="0">
                        <a:buNone/>
                      </a:pPr>
                      <a:r>
                        <a:rPr/>
                        <a:t>split, 47</a:t>
                      </a:r>
                    </a:p>
                  </a:txBody>
                </a:tc>
                <a:tc>
                  <a:txBody>
                    <a:bodyPr/>
                    <a:lstStyle/>
                    <a:p>
                      <a:pPr lvl="0" indent="0" marL="0">
                        <a:buNone/>
                      </a:pPr>
                      <a:r>
                        <a:rPr>
                          <a:latin typeface="Courier"/>
                        </a:rPr>
                        <a:t>train_test_split(X, y, test_size=0.25, stratify=y)</a:t>
                      </a:r>
                    </a:p>
                  </a:txBody>
                </a:tc>
              </a:tr>
              <a:tr h="0">
                <a:tc>
                  <a:txBody>
                    <a:bodyPr/>
                    <a:lstStyle/>
                    <a:p>
                      <a:pPr lvl="0" indent="0" marL="0">
                        <a:buNone/>
                      </a:pPr>
                      <a:r>
                        <a:rPr/>
                        <a:t>baseline, 48</a:t>
                      </a:r>
                    </a:p>
                  </a:txBody>
                </a:tc>
                <a:tc>
                  <a:txBody>
                    <a:bodyPr/>
                    <a:lstStyle/>
                    <a:p>
                      <a:pPr lvl="0" indent="0" marL="0">
                        <a:buNone/>
                      </a:pPr>
                      <a:r>
                        <a:rPr>
                          <a:latin typeface="Courier"/>
                        </a:rPr>
                        <a:t>DummyClassifier</a:t>
                      </a:r>
                      <a:r>
                        <a:rPr/>
                        <a:t>, always the majority class</a:t>
                      </a:r>
                    </a:p>
                  </a:txBody>
                </a:tc>
              </a:tr>
              <a:tr h="0">
                <a:tc>
                  <a:txBody>
                    <a:bodyPr/>
                    <a:lstStyle/>
                    <a:p>
                      <a:pPr lvl="0" indent="0" marL="0">
                        <a:buNone/>
                      </a:pPr>
                      <a:r>
                        <a:rPr/>
                        <a:t>model, 49</a:t>
                      </a:r>
                    </a:p>
                  </a:txBody>
                </a:tc>
                <a:tc>
                  <a:txBody>
                    <a:bodyPr/>
                    <a:lstStyle/>
                    <a:p>
                      <a:pPr lvl="0" indent="0" marL="0">
                        <a:buNone/>
                      </a:pPr>
                      <a:r>
                        <a:rPr>
                          <a:latin typeface="Courier"/>
                        </a:rPr>
                        <a:t>make_pipeline(StandardScaler(), LogisticRegression())</a:t>
                      </a:r>
                      <a:r>
                        <a:rPr/>
                        <a:t>, then </a:t>
                      </a:r>
                      <a:r>
                        <a:rPr>
                          <a:latin typeface="Courier"/>
                        </a:rPr>
                        <a:t>.fit()</a:t>
                      </a:r>
                    </a:p>
                  </a:txBody>
                </a:tc>
              </a:tr>
              <a:tr h="0">
                <a:tc>
                  <a:txBody>
                    <a:bodyPr/>
                    <a:lstStyle/>
                    <a:p>
                      <a:pPr lvl="0" indent="0" marL="0">
                        <a:buNone/>
                      </a:pPr>
                      <a:r>
                        <a:rPr/>
                        <a:t>result, 51</a:t>
                      </a:r>
                    </a:p>
                  </a:txBody>
                </a:tc>
                <a:tc>
                  <a:txBody>
                    <a:bodyPr/>
                    <a:lstStyle/>
                    <a:p>
                      <a:pPr lvl="0" indent="0" marL="0">
                        <a:buNone/>
                      </a:pPr>
                      <a:r>
                        <a:rPr>
                          <a:latin typeface="Courier"/>
                        </a:rPr>
                        <a:t>.score(X_test, y_test)</a:t>
                      </a:r>
                    </a:p>
                  </a:txBody>
                </a:tc>
              </a:tr>
              <a:tr h="0">
                <a:tc>
                  <a:txBody>
                    <a:bodyPr/>
                    <a:lstStyle/>
                    <a:p>
                      <a:pPr lvl="0" indent="0" marL="0">
                        <a:buNone/>
                      </a:pPr>
                      <a:r>
                        <a:rPr/>
                        <a:t>errors, 52-55</a:t>
                      </a:r>
                    </a:p>
                  </a:txBody>
                </a:tc>
                <a:tc>
                  <a:txBody>
                    <a:bodyPr/>
                    <a:lstStyle/>
                    <a:p>
                      <a:pPr lvl="0" indent="0" marL="0">
                        <a:buNone/>
                      </a:pPr>
                      <a:r>
                        <a:rPr>
                          <a:latin typeface="Courier"/>
                        </a:rPr>
                        <a:t>ConfusionMatrixDisplay</a:t>
                      </a:r>
                      <a:r>
                        <a:rPr/>
                        <a:t>, </a:t>
                      </a:r>
                      <a:r>
                        <a:rPr>
                          <a:latin typeface="Courier"/>
                        </a:rPr>
                        <a:t>classification_report</a:t>
                      </a:r>
                      <a:r>
                        <a:rPr/>
                        <a:t>, </a:t>
                      </a:r>
                      <a:r>
                        <a:rPr>
                          <a:latin typeface="Courier"/>
                        </a:rPr>
                        <a:t>predict_proba</a:t>
                      </a:r>
                    </a:p>
                  </a:txBody>
                </a:tc>
              </a:tr>
            </a:tbl>
          </a:graphicData>
        </a:graphic>
      </p:graphicFrame>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1: frame it</a:t>
            </a:r>
          </a:p>
        </p:txBody>
      </p:sp>
      <p:sp>
        <p:nvSpPr>
          <p:cNvPr id="3" name="Content Placeholder 2"/>
          <p:cNvSpPr>
            <a:spLocks noGrp="1"/>
          </p:cNvSpPr>
          <p:nvPr>
            <p:ph idx="1"/>
          </p:nvPr>
        </p:nvSpPr>
        <p:spPr>
          <a:xfrm>
            <a:off x="457200" y="1200151"/>
            <a:ext cx="8229600" cy="3394472"/>
          </a:xfrm>
        </p:spPr>
        <p:txBody>
          <a:bodyPr/>
          <a:lstStyle/>
          <a:p>
            <a:pPr lvl="0"/>
            <a:r>
              <a:rPr/>
              <a:t>What is predicted, from what?</a:t>
            </a:r>
          </a:p>
          <a:p>
            <a:pPr lvl="0"/>
            <a:r>
              <a:rPr/>
              <a:t>Who would use it, for what decision?</a:t>
            </a:r>
          </a:p>
          <a:p>
            <a:pPr lvl="0"/>
            <a:r>
              <a:rPr b="1"/>
              <a:t>Which error is worse?</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Which error is worse?</a:t>
            </a:r>
          </a:p>
        </p:txBody>
      </p:sp>
      <p:pic>
        <p:nvPicPr>
          <p:cNvPr descr="error_costs.png" id="0" name="Picture 1"/>
          <p:cNvPicPr>
            <a:picLocks noGrp="1" noChangeAspect="1"/>
          </p:cNvPicPr>
          <p:nvPr/>
        </p:nvPicPr>
        <p:blipFill>
          <a:blip r:embed="rId3"/>
          <a:stretch>
            <a:fillRect/>
          </a:stretch>
        </p:blipFill>
        <p:spPr bwMode="auto">
          <a:xfrm>
            <a:off x="1350253" y="1166099"/>
            <a:ext cx="6443493" cy="3360181"/>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2: look first</a:t>
            </a:r>
          </a:p>
        </p:txBody>
      </p:sp>
      <p:pic>
        <p:nvPicPr>
          <p:cNvPr descr="class_distribution.png" id="0" name="Picture 1"/>
          <p:cNvPicPr>
            <a:picLocks noGrp="1" noChangeAspect="1"/>
          </p:cNvPicPr>
          <p:nvPr/>
        </p:nvPicPr>
        <p:blipFill>
          <a:blip r:embed="rId3"/>
          <a:stretch>
            <a:fillRect/>
          </a:stretch>
        </p:blipFill>
        <p:spPr bwMode="auto">
          <a:xfrm>
            <a:off x="1960623" y="1166099"/>
            <a:ext cx="5222753" cy="3360181"/>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
            <a:ext cx="8229600" cy="874395"/>
          </a:xfrm>
        </p:spPr>
        <p:txBody>
          <a:bodyPr/>
          <a:lstStyle/>
          <a:p>
            <a:pPr lvl="0" indent="0" marL="0">
              <a:buNone/>
            </a:pPr>
            <a:r>
              <a:rPr/>
              <a:t>Step 3: split, before anything else</a:t>
            </a:r>
          </a:p>
        </p:txBody>
      </p:sp>
      <p:sp>
        <p:nvSpPr>
          <p:cNvPr id="4" name="Text Placeholder 3"/>
          <p:cNvSpPr>
            <a:spLocks noGrp="1"/>
          </p:cNvSpPr>
          <p:nvPr>
            <p:ph idx="2" sz="half" type="body"/>
          </p:nvPr>
        </p:nvSpPr>
        <p:spPr>
          <a:xfrm>
            <a:off x="457200" y="1183005"/>
            <a:ext cx="8229600" cy="874395"/>
          </a:xfrm>
        </p:spPr>
        <p:txBody>
          <a:bodyPr/>
          <a:lstStyle/>
          <a:p>
            <a:pPr lvl="0" indent="0" marL="0">
              <a:buNone/>
            </a:pPr>
            <a:r>
              <a:rPr/>
              <a:t>Before scaling. Before selecting features. Before looking at correlations with the target.</a:t>
            </a:r>
          </a:p>
        </p:txBody>
      </p:sp>
      <p:pic>
        <p:nvPicPr>
          <p:cNvPr descr="split_scheme.png" id="0" name="Picture 1"/>
          <p:cNvPicPr>
            <a:picLocks noGrp="1" noChangeAspect="1"/>
          </p:cNvPicPr>
          <p:nvPr/>
        </p:nvPicPr>
        <p:blipFill>
          <a:blip r:embed="rId3"/>
          <a:stretch>
            <a:fillRect/>
          </a:stretch>
        </p:blipFill>
        <p:spPr bwMode="auto">
          <a:xfrm>
            <a:off x="969212" y="2160270"/>
            <a:ext cx="7205575" cy="236601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4: baseline first</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Predict the majority class. Nothing else.</a:t>
            </a:r>
          </a:p>
          <a:p>
            <a:pPr lvl="0" indent="0" marL="0">
              <a:buNone/>
            </a:pPr>
            <a:r>
              <a:rPr b="1"/>
              <a:t>62.9%</a:t>
            </a:r>
            <a:r>
              <a:rPr/>
              <a:t> on the test set</a:t>
            </a:r>
          </a:p>
          <a:p>
            <a:pPr lvl="0" indent="0" marL="0">
              <a:buNone/>
            </a:pPr>
            <a:r>
              <a:rPr/>
              <a:t>Everything from here is measured against that.</a:t>
            </a:r>
          </a:p>
          <a:p>
            <a:pPr lvl="0" indent="0" marL="0">
              <a:buNone/>
            </a:pPr>
            <a:r>
              <a:rPr/>
              <a:t>In code: </a:t>
            </a:r>
            <a:r>
              <a:rPr>
                <a:latin typeface="Courier"/>
              </a:rPr>
              <a:t>DummyClassifier(strategy="most_frequent")</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5: pipeline, not two steps</a:t>
            </a:r>
          </a:p>
        </p:txBody>
      </p:sp>
      <p:sp>
        <p:nvSpPr>
          <p:cNvPr id="3" name="Content Placeholder 2"/>
          <p:cNvSpPr>
            <a:spLocks noGrp="1"/>
          </p:cNvSpPr>
          <p:nvPr>
            <p:ph idx="1"/>
          </p:nvPr>
        </p:nvSpPr>
        <p:spPr>
          <a:xfrm>
            <a:off x="457200" y="1200151"/>
            <a:ext cx="8229600" cy="3394472"/>
          </a:xfrm>
        </p:spPr>
        <p:txBody>
          <a:bodyPr/>
          <a:lstStyle/>
          <a:p>
            <a:pPr lvl="0" indent="0">
              <a:buNone/>
            </a:pPr>
            <a:r>
              <a:rPr>
                <a:latin typeface="Courier"/>
              </a:rPr>
              <a:t>model </a:t>
            </a:r>
            <a:r>
              <a:rPr>
                <a:solidFill>
                  <a:srgbClr val="666666"/>
                </a:solidFill>
                <a:latin typeface="Courier"/>
              </a:rPr>
              <a:t>=</a:t>
            </a:r>
            <a:r>
              <a:rPr>
                <a:latin typeface="Courier"/>
              </a:rPr>
              <a:t> make_pipeline(</a:t>
            </a:r>
            <a:br/>
            <a:r>
              <a:rPr>
                <a:latin typeface="Courier"/>
              </a:rPr>
              <a:t>    StandardScaler(),</a:t>
            </a:r>
            <a:br/>
            <a:r>
              <a:rPr>
                <a:latin typeface="Courier"/>
              </a:rPr>
              <a:t>    LogisticRegression(max_iter</a:t>
            </a:r>
            <a:r>
              <a:rPr>
                <a:solidFill>
                  <a:srgbClr val="666666"/>
                </a:solidFill>
                <a:latin typeface="Courier"/>
              </a:rPr>
              <a:t>=</a:t>
            </a:r>
            <a:r>
              <a:rPr>
                <a:solidFill>
                  <a:srgbClr val="40A070"/>
                </a:solidFill>
                <a:latin typeface="Courier"/>
              </a:rPr>
              <a:t>5000</a:t>
            </a:r>
            <a:r>
              <a:rPr>
                <a:latin typeface="Courier"/>
              </a:rPr>
              <a:t>),</a:t>
            </a:r>
            <a:br/>
            <a:r>
              <a:rPr>
                <a:latin typeface="Courier"/>
              </a:rPr>
              <a:t>)</a:t>
            </a:r>
            <a:br/>
            <a:r>
              <a:rPr>
                <a:latin typeface="Courier"/>
              </a:rPr>
              <a:t>model.fit(X_train, y_train)</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pipeline prevents</a:t>
            </a:r>
          </a:p>
        </p:txBody>
      </p:sp>
      <p:pic>
        <p:nvPicPr>
          <p:cNvPr descr="pipeline_versus_manual.png" id="0" name="Picture 1"/>
          <p:cNvPicPr>
            <a:picLocks noGrp="1" noChangeAspect="1"/>
          </p:cNvPicPr>
          <p:nvPr/>
        </p:nvPicPr>
        <p:blipFill>
          <a:blip r:embed="rId3"/>
          <a:stretch>
            <a:fillRect/>
          </a:stretch>
        </p:blipFill>
        <p:spPr bwMode="auto">
          <a:xfrm>
            <a:off x="557402" y="1166099"/>
            <a:ext cx="8029196" cy="3360181"/>
          </a:xfrm>
          <a:prstGeom prst="rect">
            <a:avLst/>
          </a:prstGeom>
          <a:noFill/>
          <a:ln w="9525">
            <a:noFill/>
            <a:headEnd/>
            <a:tailEnd/>
          </a:ln>
        </p:spPr>
      </p:pic>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Step 6: the result</a:t>
            </a:r>
          </a:p>
        </p:txBody>
      </p:sp>
      <p:sp>
        <p:nvSpPr>
          <p:cNvPr id="3" name="Content Placeholder 2"/>
          <p:cNvSpPr>
            <a:spLocks noGrp="1"/>
          </p:cNvSpPr>
          <p:nvPr>
            <p:ph idx="1"/>
          </p:nvPr>
        </p:nvSpPr>
        <p:spPr>
          <a:xfrm>
            <a:off x="457200" y="1200151"/>
            <a:ext cx="8229600" cy="3394472"/>
          </a:xfrm>
        </p:spPr>
        <p:txBody>
          <a:bodyPr/>
          <a:lstStyle/>
          <a:p>
            <a:pPr lvl="0"/>
            <a:r>
              <a:rPr/>
              <a:t>Baseline: 0.629</a:t>
            </a:r>
          </a:p>
          <a:p>
            <a:pPr lvl="0"/>
            <a:r>
              <a:rPr/>
              <a:t>Model: </a:t>
            </a:r>
            <a:r>
              <a:rPr b="1"/>
              <a:t>0.986</a:t>
            </a:r>
          </a:p>
          <a:p>
            <a:pPr lvl="0"/>
            <a:r>
              <a:rPr/>
              <a:t>In code: </a:t>
            </a:r>
            <a:r>
              <a:rPr>
                <a:latin typeface="Courier"/>
              </a:rPr>
              <a:t>baseline.score(X_test, y_test)</a:t>
            </a:r>
            <a:r>
              <a:rPr/>
              <a:t>, then </a:t>
            </a:r>
            <a:r>
              <a:rPr>
                <a:latin typeface="Courier"/>
              </a:rPr>
              <a:t>model.score(X_test, y_test)</a:t>
            </a:r>
          </a:p>
          <a:p>
            <a:pPr lvl="0" indent="0" marL="0">
              <a:buNone/>
            </a:pPr>
            <a:r>
              <a:rPr/>
              <a:t>Done?</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accuracy hides</a:t>
            </a:r>
          </a:p>
        </p:txBody>
      </p:sp>
      <p:pic>
        <p:nvPicPr>
          <p:cNvPr descr="confusion_matrix.png" id="0" name="Picture 1"/>
          <p:cNvPicPr>
            <a:picLocks noGrp="1" noChangeAspect="1"/>
          </p:cNvPicPr>
          <p:nvPr/>
        </p:nvPicPr>
        <p:blipFill>
          <a:blip r:embed="rId3"/>
          <a:stretch>
            <a:fillRect/>
          </a:stretch>
        </p:blipFill>
        <p:spPr bwMode="auto">
          <a:xfrm>
            <a:off x="2715720" y="1166099"/>
            <a:ext cx="3712559" cy="3360181"/>
          </a:xfrm>
          <a:prstGeom prst="rect">
            <a:avLst/>
          </a:prstGeom>
          <a:noFill/>
          <a:ln w="9525">
            <a:noFill/>
            <a:headEnd/>
            <a:tailEnd/>
          </a:ln>
        </p:spPr>
      </p:pic>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Precision and recall</a:t>
            </a:r>
          </a:p>
        </p:txBody>
      </p:sp>
      <p:sp>
        <p:nvSpPr>
          <p:cNvPr id="3" name="Content Placeholder 2"/>
          <p:cNvSpPr>
            <a:spLocks noGrp="1"/>
          </p:cNvSpPr>
          <p:nvPr>
            <p:ph idx="1"/>
          </p:nvPr>
        </p:nvSpPr>
        <p:spPr>
          <a:xfrm>
            <a:off x="457200" y="1200151"/>
            <a:ext cx="8229600" cy="3394472"/>
          </a:xfrm>
        </p:spPr>
        <p:txBody>
          <a:bodyPr/>
          <a:lstStyle/>
          <a:p>
            <a:pPr lvl="0"/>
            <a:r>
              <a:rPr b="1"/>
              <a:t>Recall</a:t>
            </a:r>
            <a:r>
              <a:rPr/>
              <a:t> (malignant): how many malignant tumours we caught</a:t>
            </a:r>
          </a:p>
          <a:p>
            <a:pPr lvl="0"/>
            <a:r>
              <a:rPr b="1"/>
              <a:t>Precision</a:t>
            </a:r>
            <a:r>
              <a:rPr/>
              <a:t> (malignant): how often an alert is correct</a:t>
            </a:r>
          </a:p>
          <a:p>
            <a:pPr lvl="0"/>
            <a:r>
              <a:rPr/>
              <a:t>They trade off against each other</a:t>
            </a:r>
          </a:p>
          <a:p>
            <a:pPr lvl="0"/>
            <a:r>
              <a:rPr/>
              <a:t>In code: </a:t>
            </a:r>
            <a:r>
              <a:rPr>
                <a:latin typeface="Courier"/>
              </a:rPr>
              <a:t>classification_report(y_test, y_pred)</a:t>
            </a:r>
            <a:r>
              <a:rPr/>
              <a:t> prints both</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Precision and recall, counted</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a:t>what it counts</a:t>
                      </a:r>
                    </a:p>
                  </a:txBody>
                  <a:tcPr/>
                </a:tc>
                <a:tc>
                  <a:txBody>
                    <a:bodyPr/>
                    <a:lstStyle/>
                    <a:p>
                      <a:pPr lvl="0" indent="0" marL="0">
                        <a:buNone/>
                      </a:pPr>
                      <a:r>
                        <a:rPr/>
                        <a:t>our model</a:t>
                      </a:r>
                    </a:p>
                  </a:txBody>
                  <a:tcPr/>
                </a:tc>
              </a:tr>
              <a:tr h="0">
                <a:tc>
                  <a:txBody>
                    <a:bodyPr/>
                    <a:lstStyle/>
                    <a:p>
                      <a:pPr lvl="0" indent="0" marL="0">
                        <a:buNone/>
                      </a:pPr>
                      <a:r>
                        <a:rPr/>
                        <a:t>true positives (TP)</a:t>
                      </a:r>
                    </a:p>
                  </a:txBody>
                </a:tc>
                <a:tc>
                  <a:txBody>
                    <a:bodyPr/>
                    <a:lstStyle/>
                    <a:p>
                      <a:pPr lvl="0" indent="0" marL="0">
                        <a:buNone/>
                      </a:pPr>
                      <a:r>
                        <a:rPr/>
                        <a:t>malignant, flagged</a:t>
                      </a:r>
                    </a:p>
                  </a:txBody>
                </a:tc>
                <a:tc>
                  <a:txBody>
                    <a:bodyPr/>
                    <a:lstStyle/>
                    <a:p>
                      <a:pPr lvl="0" indent="0" marL="0">
                        <a:buNone/>
                      </a:pPr>
                      <a:r>
                        <a:rPr/>
                        <a:t>52</a:t>
                      </a:r>
                    </a:p>
                  </a:txBody>
                </a:tc>
              </a:tr>
              <a:tr h="0">
                <a:tc>
                  <a:txBody>
                    <a:bodyPr/>
                    <a:lstStyle/>
                    <a:p>
                      <a:pPr lvl="0" indent="0" marL="0">
                        <a:buNone/>
                      </a:pPr>
                      <a:r>
                        <a:rPr/>
                        <a:t>false negatives (FN)</a:t>
                      </a:r>
                    </a:p>
                  </a:txBody>
                </a:tc>
                <a:tc>
                  <a:txBody>
                    <a:bodyPr/>
                    <a:lstStyle/>
                    <a:p>
                      <a:pPr lvl="0" indent="0" marL="0">
                        <a:buNone/>
                      </a:pPr>
                      <a:r>
                        <a:rPr/>
                        <a:t>malignant, missed</a:t>
                      </a:r>
                    </a:p>
                  </a:txBody>
                </a:tc>
                <a:tc>
                  <a:txBody>
                    <a:bodyPr/>
                    <a:lstStyle/>
                    <a:p>
                      <a:pPr lvl="0" indent="0" marL="0">
                        <a:buNone/>
                      </a:pPr>
                      <a:r>
                        <a:rPr/>
                        <a:t>1</a:t>
                      </a:r>
                    </a:p>
                  </a:txBody>
                </a:tc>
              </a:tr>
              <a:tr h="0">
                <a:tc>
                  <a:txBody>
                    <a:bodyPr/>
                    <a:lstStyle/>
                    <a:p>
                      <a:pPr lvl="0" indent="0" marL="0">
                        <a:buNone/>
                      </a:pPr>
                      <a:r>
                        <a:rPr/>
                        <a:t>false positives (FP)</a:t>
                      </a:r>
                    </a:p>
                  </a:txBody>
                </a:tc>
                <a:tc>
                  <a:txBody>
                    <a:bodyPr/>
                    <a:lstStyle/>
                    <a:p>
                      <a:pPr lvl="0" indent="0" marL="0">
                        <a:buNone/>
                      </a:pPr>
                      <a:r>
                        <a:rPr/>
                        <a:t>benign, flagged</a:t>
                      </a:r>
                    </a:p>
                  </a:txBody>
                </a:tc>
                <a:tc>
                  <a:txBody>
                    <a:bodyPr/>
                    <a:lstStyle/>
                    <a:p>
                      <a:pPr lvl="0" indent="0" marL="0">
                        <a:buNone/>
                      </a:pPr>
                      <a:r>
                        <a:rPr/>
                        <a:t>1</a:t>
                      </a:r>
                    </a:p>
                  </a:txBody>
                </a:tc>
              </a:tr>
              <a:tr h="0">
                <a:tc>
                  <a:txBody>
                    <a:bodyPr/>
                    <a:lstStyle/>
                    <a:p>
                      <a:pPr lvl="0" indent="0" marL="0">
                        <a:buNone/>
                      </a:pPr>
                      <a:r>
                        <a:rPr b="1"/>
                        <a:t>recall</a:t>
                      </a:r>
                      <a:r>
                        <a:rPr/>
                        <a:t> = TP / (TP + FN)</a:t>
                      </a:r>
                    </a:p>
                  </a:txBody>
                </a:tc>
                <a:tc>
                  <a:txBody>
                    <a:bodyPr/>
                    <a:lstStyle/>
                    <a:p>
                      <a:pPr lvl="0" indent="0" marL="0">
                        <a:buNone/>
                      </a:pPr>
                      <a:r>
                        <a:rPr/>
                        <a:t>malignant tumours we caught</a:t>
                      </a:r>
                    </a:p>
                  </a:txBody>
                </a:tc>
                <a:tc>
                  <a:txBody>
                    <a:bodyPr/>
                    <a:lstStyle/>
                    <a:p>
                      <a:pPr lvl="0" indent="0" marL="0">
                        <a:buNone/>
                      </a:pPr>
                      <a:r>
                        <a:rPr/>
                        <a:t>52 / 53 = </a:t>
                      </a:r>
                      <a:r>
                        <a:rPr b="1"/>
                        <a:t>0.981</a:t>
                      </a:r>
                    </a:p>
                  </a:txBody>
                </a:tc>
              </a:tr>
              <a:tr h="0">
                <a:tc>
                  <a:txBody>
                    <a:bodyPr/>
                    <a:lstStyle/>
                    <a:p>
                      <a:pPr lvl="0" indent="0" marL="0">
                        <a:buNone/>
                      </a:pPr>
                      <a:r>
                        <a:rPr b="1"/>
                        <a:t>precision</a:t>
                      </a:r>
                      <a:r>
                        <a:rPr/>
                        <a:t> = TP / (TP + FP)</a:t>
                      </a:r>
                    </a:p>
                  </a:txBody>
                </a:tc>
                <a:tc>
                  <a:txBody>
                    <a:bodyPr/>
                    <a:lstStyle/>
                    <a:p>
                      <a:pPr lvl="0" indent="0" marL="0">
                        <a:buNone/>
                      </a:pPr>
                      <a:r>
                        <a:rPr/>
                        <a:t>alerts that were right</a:t>
                      </a:r>
                    </a:p>
                  </a:txBody>
                </a:tc>
                <a:tc>
                  <a:txBody>
                    <a:bodyPr/>
                    <a:lstStyle/>
                    <a:p>
                      <a:pPr lvl="0" indent="0" marL="0">
                        <a:buNone/>
                      </a:pPr>
                      <a:r>
                        <a:rPr/>
                        <a:t>52 / 53 = </a:t>
                      </a:r>
                      <a:r>
                        <a:rPr b="1"/>
                        <a:t>0.981</a:t>
                      </a:r>
                    </a:p>
                  </a:txBody>
                </a:tc>
              </a:tr>
            </a:tbl>
          </a:graphicData>
        </a:graphic>
      </p:graphicFrame>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Behind every label, a probability</a:t>
            </a:r>
          </a:p>
        </p:txBody>
      </p:sp>
      <p:sp>
        <p:nvSpPr>
          <p:cNvPr id="3" name="Content Placeholder 2"/>
          <p:cNvSpPr>
            <a:spLocks noGrp="1"/>
          </p:cNvSpPr>
          <p:nvPr>
            <p:ph idx="1"/>
          </p:nvPr>
        </p:nvSpPr>
        <p:spPr>
          <a:xfrm>
            <a:off x="457200" y="1200151"/>
            <a:ext cx="8229600" cy="3394472"/>
          </a:xfrm>
        </p:spPr>
        <p:txBody>
          <a:bodyPr/>
          <a:lstStyle/>
          <a:p>
            <a:pPr lvl="0"/>
            <a:r>
              <a:rPr/>
              <a:t>The model does not output a label: it outputs </a:t>
            </a:r>
            <a:r>
              <a:rPr b="1"/>
              <a:t>the probability</a:t>
            </a:r>
            <a:r>
              <a:rPr/>
              <a:t> that the tumour is malignant, </a:t>
            </a:r>
            <a:r>
              <a:rPr>
                <a:latin typeface="Courier"/>
              </a:rPr>
              <a:t>predict_proba()</a:t>
            </a:r>
          </a:p>
          <a:p>
            <a:pPr lvl="0"/>
            <a:r>
              <a:rPr>
                <a:latin typeface="Courier"/>
              </a:rPr>
              <a:t>predict()</a:t>
            </a:r>
            <a:r>
              <a:rPr/>
              <a:t> turns it into a label by comparing it with </a:t>
            </a:r>
            <a:r>
              <a:rPr b="1"/>
              <a:t>0.5</a:t>
            </a:r>
          </a:p>
          <a:p>
            <a:pPr lvl="0"/>
            <a:r>
              <a:rPr/>
              <a:t>The missed malignancy got </a:t>
            </a:r>
            <a:r>
              <a:rPr b="1"/>
              <a:t>0.11</a:t>
            </a:r>
            <a:r>
              <a:rPr/>
              <a:t>: called benign</a:t>
            </a:r>
          </a:p>
          <a:p>
            <a:pPr lvl="0"/>
            <a:r>
              <a:rPr/>
              <a:t>The false alarm, a benign tumour, got </a:t>
            </a:r>
            <a:r>
              <a:rPr b="1"/>
              <a:t>0.62</a:t>
            </a:r>
            <a:r>
              <a:rPr/>
              <a:t>: called malignant</a:t>
            </a:r>
          </a:p>
          <a:p>
            <a:pPr lvl="0"/>
            <a:r>
              <a:rPr/>
              <a:t>0.5 is a default. Nobody chose it</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trade-off, drawn</a:t>
            </a:r>
          </a:p>
        </p:txBody>
      </p:sp>
      <p:pic>
        <p:nvPicPr>
          <p:cNvPr descr="precision_recall_tradeoff.png" id="0" name="Picture 1"/>
          <p:cNvPicPr>
            <a:picLocks noGrp="1" noChangeAspect="1"/>
          </p:cNvPicPr>
          <p:nvPr/>
        </p:nvPicPr>
        <p:blipFill>
          <a:blip r:embed="rId3"/>
          <a:stretch>
            <a:fillRect/>
          </a:stretch>
        </p:blipFill>
        <p:spPr bwMode="auto">
          <a:xfrm>
            <a:off x="1016752" y="1166099"/>
            <a:ext cx="7110495" cy="3360181"/>
          </a:xfrm>
          <a:prstGeom prst="rect">
            <a:avLst/>
          </a:prstGeom>
          <a:noFill/>
          <a:ln w="9525">
            <a:noFill/>
            <a:headEnd/>
            <a:tailEnd/>
          </a:ln>
        </p:spPr>
      </p:pic>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we did not do</a:t>
            </a:r>
          </a:p>
        </p:txBody>
      </p:sp>
      <p:sp>
        <p:nvSpPr>
          <p:cNvPr id="3" name="Content Placeholder 2"/>
          <p:cNvSpPr>
            <a:spLocks noGrp="1"/>
          </p:cNvSpPr>
          <p:nvPr>
            <p:ph idx="1"/>
          </p:nvPr>
        </p:nvSpPr>
        <p:spPr>
          <a:xfrm>
            <a:off x="457200" y="1200151"/>
            <a:ext cx="8229600" cy="3394472"/>
          </a:xfrm>
        </p:spPr>
        <p:txBody>
          <a:bodyPr/>
          <a:lstStyle/>
          <a:p>
            <a:pPr lvl="0"/>
            <a:r>
              <a:rPr/>
              <a:t>No tuning</a:t>
            </a:r>
          </a:p>
          <a:p>
            <a:pPr lvl="0"/>
            <a:r>
              <a:rPr/>
              <a:t>No comparison of model families</a:t>
            </a:r>
          </a:p>
          <a:p>
            <a:pPr lvl="0"/>
            <a:r>
              <a:rPr/>
              <a:t>No check of stability across splits</a:t>
            </a:r>
          </a:p>
          <a:p>
            <a:pPr lvl="0" indent="0" marL="0">
              <a:buNone/>
            </a:pPr>
            <a:r>
              <a:rPr/>
              <a:t>And: we never looked at the test set to make a decision.</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Four ways a model misleads you</a:t>
            </a:r>
          </a:p>
        </p:txBody>
      </p:sp>
      <p:sp>
        <p:nvSpPr>
          <p:cNvPr id="3" name="Content Placeholder 2"/>
          <p:cNvSpPr>
            <a:spLocks noGrp="1"/>
          </p:cNvSpPr>
          <p:nvPr>
            <p:ph idx="1"/>
          </p:nvPr>
        </p:nvSpPr>
        <p:spPr>
          <a:xfrm>
            <a:off x="457200" y="1200151"/>
            <a:ext cx="8229600" cy="3394472"/>
          </a:xfrm>
        </p:spPr>
        <p:txBody>
          <a:bodyPr/>
          <a:lstStyle/>
          <a:p>
            <a:pPr lvl="0"/>
            <a:r>
              <a:rPr/>
              <a:t>Leakage</a:t>
            </a:r>
          </a:p>
          <a:p>
            <a:pPr lvl="0"/>
            <a:r>
              <a:rPr/>
              <a:t>Imbalance</a:t>
            </a:r>
          </a:p>
          <a:p>
            <a:pPr lvl="0"/>
            <a:r>
              <a:rPr/>
              <a:t>Shortcut features</a:t>
            </a:r>
          </a:p>
          <a:p>
            <a:pPr lvl="0"/>
            <a:r>
              <a:rPr/>
              <a:t>Single-split noise</a:t>
            </a:r>
          </a:p>
          <a:p>
            <a:pPr lvl="0" indent="0" marL="0">
              <a:buNone/>
            </a:pPr>
            <a:r>
              <a:rPr/>
              <a:t>All produce numbers that pass a casual review.</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Notebook 3, live</a:t>
            </a:r>
          </a:p>
        </p:txBody>
      </p:sp>
      <p:graphicFrame>
        <p:nvGraphicFramePr>
          <p:cNvPr id="6" name="Content Placeholder 5"/>
          <p:cNvGraphicFramePr>
            <a:graphicFrameLocks noGrp="1"/>
          </p:cNvGraphicFramePr>
          <p:nvPr>
            <p:ph idx="1"/>
          </p:nvPr>
        </p:nvGraphicFramePr>
        <p:xfrm>
          <a:off x="457200" y="1166099"/>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failure, and its slides</a:t>
                      </a:r>
                    </a:p>
                  </a:txBody>
                  <a:tcPr/>
                </a:tc>
                <a:tc>
                  <a:txBody>
                    <a:bodyPr/>
                    <a:lstStyle/>
                    <a:p>
                      <a:pPr lvl="0" indent="0" marL="0">
                        <a:buNone/>
                      </a:pPr>
                      <a:r>
                        <a:rPr/>
                        <a:t>you call</a:t>
                      </a:r>
                    </a:p>
                  </a:txBody>
                  <a:tcPr/>
                </a:tc>
              </a:tr>
              <a:tr h="0">
                <a:tc>
                  <a:txBody>
                    <a:bodyPr/>
                    <a:lstStyle/>
                    <a:p>
                      <a:pPr lvl="0" indent="0" marL="0">
                        <a:buNone/>
                      </a:pPr>
                      <a:r>
                        <a:rPr/>
                        <a:t>the model, every time, 49</a:t>
                      </a:r>
                    </a:p>
                  </a:txBody>
                </a:tc>
                <a:tc>
                  <a:txBody>
                    <a:bodyPr/>
                    <a:lstStyle/>
                    <a:p>
                      <a:pPr lvl="0" indent="0" marL="0">
                        <a:buNone/>
                      </a:pPr>
                      <a:r>
                        <a:rPr>
                          <a:latin typeface="Courier"/>
                        </a:rPr>
                        <a:t>make_pipeline(StandardScaler(), LogisticRegression())</a:t>
                      </a:r>
                    </a:p>
                  </a:txBody>
                </a:tc>
              </a:tr>
              <a:tr h="0">
                <a:tc>
                  <a:txBody>
                    <a:bodyPr/>
                    <a:lstStyle/>
                    <a:p>
                      <a:pPr lvl="0" indent="0" marL="0">
                        <a:buNone/>
                      </a:pPr>
                      <a:r>
                        <a:rPr/>
                        <a:t>leakage, 60-62</a:t>
                      </a:r>
                    </a:p>
                  </a:txBody>
                </a:tc>
                <a:tc>
                  <a:txBody>
                    <a:bodyPr/>
                    <a:lstStyle/>
                    <a:p>
                      <a:pPr lvl="0" indent="0" marL="0">
                        <a:buNone/>
                      </a:pPr>
                      <a:r>
                        <a:rPr>
                          <a:latin typeface="Courier"/>
                        </a:rPr>
                        <a:t>SelectKBest(f_classif, k=20)</a:t>
                      </a:r>
                      <a:r>
                        <a:rPr/>
                        <a:t>, outside the pipeline and then inside it</a:t>
                      </a:r>
                    </a:p>
                  </a:txBody>
                </a:tc>
              </a:tr>
              <a:tr h="0">
                <a:tc>
                  <a:txBody>
                    <a:bodyPr/>
                    <a:lstStyle/>
                    <a:p>
                      <a:pPr lvl="0" indent="0" marL="0">
                        <a:buNone/>
                      </a:pPr>
                      <a:r>
                        <a:rPr/>
                        <a:t>imbalance, 63-64</a:t>
                      </a:r>
                    </a:p>
                  </a:txBody>
                </a:tc>
                <a:tc>
                  <a:txBody>
                    <a:bodyPr/>
                    <a:lstStyle/>
                    <a:p>
                      <a:pPr lvl="0" indent="0" marL="0">
                        <a:buNone/>
                      </a:pPr>
                      <a:r>
                        <a:rPr>
                          <a:latin typeface="Courier"/>
                        </a:rPr>
                        <a:t>make_classification</a:t>
                      </a:r>
                      <a:r>
                        <a:rPr/>
                        <a:t>; </a:t>
                      </a:r>
                      <a:r>
                        <a:rPr>
                          <a:latin typeface="Courier"/>
                        </a:rPr>
                        <a:t>accuracy_score</a:t>
                      </a:r>
                      <a:r>
                        <a:rPr/>
                        <a:t> against </a:t>
                      </a:r>
                      <a:r>
                        <a:rPr>
                          <a:latin typeface="Courier"/>
                        </a:rPr>
                        <a:t>recall_score</a:t>
                      </a:r>
                      <a:r>
                        <a:rPr/>
                        <a:t>, </a:t>
                      </a:r>
                      <a:r>
                        <a:rPr>
                          <a:latin typeface="Courier"/>
                        </a:rPr>
                        <a:t>confusion_matrix</a:t>
                      </a:r>
                    </a:p>
                  </a:txBody>
                </a:tc>
              </a:tr>
              <a:tr h="0">
                <a:tc>
                  <a:txBody>
                    <a:bodyPr/>
                    <a:lstStyle/>
                    <a:p>
                      <a:pPr lvl="0" indent="0" marL="0">
                        <a:buNone/>
                      </a:pPr>
                      <a:r>
                        <a:rPr/>
                        <a:t>shortcut, 65-66</a:t>
                      </a:r>
                    </a:p>
                  </a:txBody>
                </a:tc>
                <a:tc>
                  <a:txBody>
                    <a:bodyPr/>
                    <a:lstStyle/>
                    <a:p>
                      <a:pPr lvl="0" indent="0" marL="0">
                        <a:buNone/>
                      </a:pPr>
                      <a:r>
                        <a:rPr>
                          <a:latin typeface="Courier"/>
                        </a:rPr>
                        <a:t>load_breast_cancer</a:t>
                      </a:r>
                      <a:r>
                        <a:rPr/>
                        <a:t>; </a:t>
                      </a:r>
                      <a:r>
                        <a:rPr>
                          <a:latin typeface="Courier"/>
                        </a:rPr>
                        <a:t>SimpleImputer</a:t>
                      </a:r>
                      <a:r>
                        <a:rPr/>
                        <a:t> when the column is missing</a:t>
                      </a:r>
                    </a:p>
                  </a:txBody>
                </a:tc>
              </a:tr>
              <a:tr h="0">
                <a:tc>
                  <a:txBody>
                    <a:bodyPr/>
                    <a:lstStyle/>
                    <a:p>
                      <a:pPr lvl="0" indent="0" marL="0">
                        <a:buNone/>
                      </a:pPr>
                      <a:r>
                        <a:rPr/>
                        <a:t>single-split noise, 67</a:t>
                      </a:r>
                    </a:p>
                  </a:txBody>
                </a:tc>
                <a:tc>
                  <a:txBody>
                    <a:bodyPr/>
                    <a:lstStyle/>
                    <a:p>
                      <a:pPr lvl="0" indent="0" marL="0">
                        <a:buNone/>
                      </a:pPr>
                      <a:r>
                        <a:rPr>
                          <a:latin typeface="Courier"/>
                        </a:rPr>
                        <a:t>train_test_split(random_state=seed)</a:t>
                      </a:r>
                      <a:r>
                        <a:rPr/>
                        <a:t> against </a:t>
                      </a:r>
                      <a:r>
                        <a:rPr>
                          <a:latin typeface="Courier"/>
                        </a:rPr>
                        <a:t>cross_val_score</a:t>
                      </a:r>
                    </a:p>
                  </a:txBody>
                </a:tc>
              </a:tr>
            </a:tbl>
          </a:graphicData>
        </a:graphic>
      </p:graphicFrame>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200 samples. 5000 random features. Coin-flip labels.</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There is nothing to learn.</a:t>
            </a:r>
          </a:p>
          <a:p>
            <a:pPr lvl="0" indent="0" marL="0">
              <a:buNone/>
            </a:pPr>
            <a:r>
              <a:rPr/>
              <a:t>Anything above 50% is an artefact.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Select features first, split second</a:t>
            </a:r>
          </a:p>
        </p:txBody>
      </p:sp>
      <p:pic>
        <p:nvPicPr>
          <p:cNvPr descr="leakage.png" id="0" name="Picture 1"/>
          <p:cNvPicPr>
            <a:picLocks noGrp="1" noChangeAspect="1"/>
          </p:cNvPicPr>
          <p:nvPr/>
        </p:nvPicPr>
        <p:blipFill>
          <a:blip r:embed="rId3"/>
          <a:stretch>
            <a:fillRect/>
          </a:stretch>
        </p:blipFill>
        <p:spPr bwMode="auto">
          <a:xfrm>
            <a:off x="1910284" y="1166099"/>
            <a:ext cx="5323432" cy="3360181"/>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The rule</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Every step that </a:t>
            </a:r>
            <a:r>
              <a:rPr b="1"/>
              <a:t>learns anything</a:t>
            </a:r>
            <a:r>
              <a:rPr/>
              <a:t> must be fitted on the training data only.</a:t>
            </a:r>
          </a:p>
          <a:p>
            <a:pPr lvl="0" indent="0" marL="0">
              <a:buNone/>
            </a:pPr>
            <a:r>
              <a:rPr/>
              <a:t>Scaling. Imputation. Encoding. Selection. Tuning.</a:t>
            </a:r>
          </a:p>
          <a:p>
            <a:pPr lvl="0" indent="0" marL="0">
              <a:buNone/>
            </a:pPr>
            <a:r>
              <a:rPr/>
              <a:t>In code: </a:t>
            </a:r>
            <a:r>
              <a:rPr>
                <a:latin typeface="Courier"/>
              </a:rPr>
              <a:t>StandardScaler</a:t>
            </a:r>
            <a:r>
              <a:rPr/>
              <a:t>, </a:t>
            </a:r>
            <a:r>
              <a:rPr>
                <a:latin typeface="Courier"/>
              </a:rPr>
              <a:t>SimpleImputer</a:t>
            </a:r>
            <a:r>
              <a:rPr/>
              <a:t>, </a:t>
            </a:r>
            <a:r>
              <a:rPr>
                <a:latin typeface="Courier"/>
              </a:rPr>
              <a:t>SelectKBest</a:t>
            </a:r>
            <a:r>
              <a:rPr/>
              <a:t>… all inside </a:t>
            </a:r>
            <a:r>
              <a:rPr>
                <a:latin typeface="Courier"/>
              </a:rPr>
              <a:t>make_pipeline</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99% accuracy, detecting nothing</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1% positives. Answer “negative” every time.</a:t>
            </a:r>
          </a:p>
          <a:p>
            <a:pPr lvl="0"/>
            <a:r>
              <a:rPr/>
              <a:t>Accuracy: </a:t>
            </a:r>
            <a:r>
              <a:rPr b="1"/>
              <a:t>0.986</a:t>
            </a:r>
          </a:p>
          <a:p>
            <a:pPr lvl="0"/>
            <a:r>
              <a:rPr/>
              <a:t>Recall on positives: </a:t>
            </a:r>
            <a:r>
              <a:rPr b="1"/>
              <a:t>0.000</a:t>
            </a:r>
          </a:p>
          <a:p>
            <a:pPr lvl="0"/>
            <a:r>
              <a:rPr/>
              <a:t>In code: </a:t>
            </a:r>
            <a:r>
              <a:rPr>
                <a:latin typeface="Courier"/>
              </a:rPr>
              <a:t>recall_score</a:t>
            </a:r>
            <a:r>
              <a:rPr/>
              <a:t> beside </a:t>
            </a:r>
            <a:r>
              <a:rPr>
                <a:latin typeface="Courier"/>
              </a:rPr>
              <a:t>accuracy_score</a:t>
            </a:r>
            <a:r>
              <a:rPr/>
              <a:t>, every time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Two models, one accuracy</a:t>
            </a:r>
          </a:p>
        </p:txBody>
      </p:sp>
      <p:pic>
        <p:nvPicPr>
          <p:cNvPr descr="imbalance_matrix.png" id="0" name="Picture 1"/>
          <p:cNvPicPr>
            <a:picLocks noGrp="1" noChangeAspect="1"/>
          </p:cNvPicPr>
          <p:nvPr/>
        </p:nvPicPr>
        <p:blipFill>
          <a:blip r:embed="rId3"/>
          <a:stretch>
            <a:fillRect/>
          </a:stretch>
        </p:blipFill>
        <p:spPr bwMode="auto">
          <a:xfrm>
            <a:off x="1123724" y="1166099"/>
            <a:ext cx="6896551" cy="3360181"/>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Shortcut features</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A column that is a </a:t>
            </a:r>
            <a:r>
              <a:rPr b="1"/>
              <a:t>consequence</a:t>
            </a:r>
            <a:r>
              <a:rPr/>
              <a:t> of the label, not a predictor of it.</a:t>
            </a:r>
          </a:p>
          <a:p>
            <a:pPr lvl="0" indent="0" marL="0">
              <a:buNone/>
            </a:pPr>
            <a:r>
              <a:rPr>
                <a:latin typeface="Courier"/>
              </a:rPr>
              <a:t>biopsy_scheduled</a:t>
            </a:r>
            <a:r>
              <a:rPr/>
              <a:t> → accuracy rises → model is worthless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Does this value exist yet?</a:t>
            </a:r>
          </a:p>
        </p:txBody>
      </p:sp>
      <p:pic>
        <p:nvPicPr>
          <p:cNvPr descr="shortcut_timeline.png" id="0" name="Picture 1"/>
          <p:cNvPicPr>
            <a:picLocks noGrp="1" noChangeAspect="1"/>
          </p:cNvPicPr>
          <p:nvPr/>
        </p:nvPicPr>
        <p:blipFill>
          <a:blip r:embed="rId3"/>
          <a:stretch>
            <a:fillRect/>
          </a:stretch>
        </p:blipFill>
        <p:spPr bwMode="auto">
          <a:xfrm>
            <a:off x="457200" y="1538089"/>
            <a:ext cx="8229600" cy="2616200"/>
          </a:xfrm>
          <a:prstGeom prst="rect">
            <a:avLst/>
          </a:prstGeom>
          <a:noFill/>
          <a:ln w="9525">
            <a:noFill/>
            <a:headEnd/>
            <a:tailEnd/>
          </a:ln>
        </p:spPr>
      </p:pic>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One split is one measurement</a:t>
            </a:r>
          </a:p>
        </p:txBody>
      </p:sp>
      <p:pic>
        <p:nvPicPr>
          <p:cNvPr descr="split_variance.png" id="0" name="Picture 1"/>
          <p:cNvPicPr>
            <a:picLocks noGrp="1" noChangeAspect="1"/>
          </p:cNvPicPr>
          <p:nvPr/>
        </p:nvPicPr>
        <p:blipFill>
          <a:blip r:embed="rId3"/>
          <a:stretch>
            <a:fillRect/>
          </a:stretch>
        </p:blipFill>
        <p:spPr bwMode="auto">
          <a:xfrm>
            <a:off x="1331376" y="1166099"/>
            <a:ext cx="6481247" cy="3360181"/>
          </a:xfrm>
          <a:prstGeom prst="rect">
            <a:avLst/>
          </a:prstGeom>
          <a:noFill/>
          <a:ln w="9525">
            <a:noFill/>
            <a:headEnd/>
            <a:tailEnd/>
          </a:ln>
        </p:spPr>
      </p:pic>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What the four have in common</a:t>
            </a:r>
          </a:p>
        </p:txBody>
      </p:sp>
      <p:sp>
        <p:nvSpPr>
          <p:cNvPr id="3" name="Content Placeholder 2"/>
          <p:cNvSpPr>
            <a:spLocks noGrp="1"/>
          </p:cNvSpPr>
          <p:nvPr>
            <p:ph idx="1"/>
          </p:nvPr>
        </p:nvSpPr>
        <p:spPr>
          <a:xfrm>
            <a:off x="457200" y="1200151"/>
            <a:ext cx="8229600" cy="3394472"/>
          </a:xfrm>
        </p:spPr>
        <p:txBody>
          <a:bodyPr/>
          <a:lstStyle/>
          <a:p>
            <a:pPr lvl="0" indent="0" marL="0">
              <a:buNone/>
            </a:pPr>
            <a:r>
              <a:rPr/>
              <a:t>None is a coding error.</a:t>
            </a:r>
          </a:p>
          <a:p>
            <a:pPr lvl="0" indent="0" marL="0">
              <a:buNone/>
            </a:pPr>
            <a:r>
              <a:rPr/>
              <a:t>All four run exactly as written and return a plausible number.</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A model is not objective</a:t>
            </a:r>
          </a:p>
        </p:txBody>
      </p:sp>
      <p:sp>
        <p:nvSpPr>
          <p:cNvPr id="3" name="Content Placeholder 2"/>
          <p:cNvSpPr>
            <a:spLocks noGrp="1"/>
          </p:cNvSpPr>
          <p:nvPr>
            <p:ph idx="1"/>
          </p:nvPr>
        </p:nvSpPr>
        <p:spPr>
          <a:xfrm>
            <a:off x="457200" y="1200151"/>
            <a:ext cx="8229600" cy="3394472"/>
          </a:xfrm>
        </p:spPr>
        <p:txBody>
          <a:bodyPr/>
          <a:lstStyle/>
          <a:p>
            <a:pPr lvl="0"/>
            <a:r>
              <a:rPr/>
              <a:t>It is a compressed summary of its training data, </a:t>
            </a:r>
            <a:r>
              <a:rPr b="1"/>
              <a:t>including its injustices</a:t>
            </a:r>
          </a:p>
          <a:p>
            <a:pPr lvl="0"/>
            <a:r>
              <a:rPr/>
              <a:t>These methods find </a:t>
            </a:r>
            <a:r>
              <a:rPr b="1"/>
              <a:t>correlation</a:t>
            </a:r>
            <a:r>
              <a:rPr/>
              <a:t>, not cause</a:t>
            </a:r>
          </a:p>
          <a:p>
            <a:pPr lvl="0"/>
            <a:r>
              <a:rPr/>
              <a:t>Accuracy is not the only property that matters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Homework: we discuss it on Friday 9 October</a:t>
            </a:r>
          </a:p>
        </p:txBody>
      </p:sp>
      <p:sp>
        <p:nvSpPr>
          <p:cNvPr id="3" name="Content Placeholder 2"/>
          <p:cNvSpPr>
            <a:spLocks noGrp="1"/>
          </p:cNvSpPr>
          <p:nvPr>
            <p:ph idx="1"/>
          </p:nvPr>
        </p:nvSpPr>
        <p:spPr>
          <a:xfrm>
            <a:off x="457200" y="1200151"/>
            <a:ext cx="8229600" cy="3394472"/>
          </a:xfrm>
        </p:spPr>
        <p:txBody>
          <a:bodyPr/>
          <a:lstStyle/>
          <a:p>
            <a:pPr lvl="0" indent="0" marL="0">
              <a:buNone/>
            </a:pPr>
            <a:r>
              <a:rPr>
                <a:latin typeface="Courier"/>
              </a:rPr>
              <a:t>Exercises/01_first_workflow.md</a:t>
            </a:r>
          </a:p>
          <a:p>
            <a:pPr lvl="0" indent="0" marL="0">
              <a:buNone/>
            </a:pPr>
            <a:r>
              <a:rPr/>
              <a:t>Wine quality: run the workflow yourself, and </a:t>
            </a:r>
            <a:r>
              <a:rPr b="1"/>
              <a:t>justify every decision</a:t>
            </a:r>
            <a:r>
              <a:rPr/>
              <a:t>.</a:t>
            </a:r>
          </a:p>
          <a:p>
            <a:pPr lvl="0"/>
            <a:r>
              <a:rPr/>
              <a:t>Accuracy is not what counts</a:t>
            </a:r>
          </a:p>
          <a:p>
            <a:pPr lvl="0"/>
            <a:r>
              <a:rPr/>
              <a:t>Methodology is, and saying what your number does not mean</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p>
            <a:pPr lvl="0" indent="0" marL="0">
              <a:buNone/>
            </a:pPr>
            <a:r>
              <a:rPr/>
              <a:t>Before next week</a:t>
            </a:r>
          </a:p>
        </p:txBody>
      </p:sp>
      <p:sp>
        <p:nvSpPr>
          <p:cNvPr id="3" name="Content Placeholder 2"/>
          <p:cNvSpPr>
            <a:spLocks noGrp="1"/>
          </p:cNvSpPr>
          <p:nvPr>
            <p:ph idx="1"/>
          </p:nvPr>
        </p:nvSpPr>
        <p:spPr>
          <a:xfrm>
            <a:off x="457200" y="1200151"/>
            <a:ext cx="8229600" cy="3394472"/>
          </a:xfrm>
        </p:spPr>
        <p:txBody>
          <a:bodyPr/>
          <a:lstStyle/>
          <a:p>
            <a:pPr lvl="0"/>
            <a:r>
              <a:rPr/>
              <a:t>Get the environment running</a:t>
            </a:r>
          </a:p>
          <a:p>
            <a:pPr lvl="0"/>
            <a:r>
              <a:rPr/>
              <a:t>Work the three notebooks in order</a:t>
            </a:r>
          </a:p>
          <a:p>
            <a:pPr lvl="0"/>
            <a:r>
              <a:rPr/>
              <a:t>Read the handout</a:t>
            </a:r>
          </a:p>
          <a:p>
            <a:pPr lvl="0"/>
            <a:r>
              <a:rPr/>
              <a:t>Take the quiz</a:t>
            </a:r>
          </a:p>
          <a:p>
            <a:pPr lvl="0"/>
            <a:r>
              <a:rPr b="1"/>
              <a:t>Do the exercise</a:t>
            </a:r>
          </a:p>
          <a:p>
            <a:pPr lvl="0" indent="0" marL="0">
              <a:buNone/>
            </a:pPr>
            <a:r>
              <a:rPr/>
              <a:t>Next week: data exploration, preparation, and leakage in earnest.</a:t>
            </a:r>
          </a:p>
        </p:txBody>
      </p:sp>
    </p:spTree>
  </p:cSld>
</p:sld>
</file>

<file path=ppt/theme/theme1.xml><?xml version="1.0" encoding="utf-8"?>
<a:theme xmlns:a="http://schemas.openxmlformats.org/drawingml/2006/main" name="Office Theme">
  <a:themeElements>
    <a:clrScheme name="Office">
      <a:dk1>
        <a:sysClr val="windowText" lastClr="1A1A1A"/>
      </a:dk1>
      <a:lt1>
        <a:sysClr val="window" lastClr="FFFFFF"/>
      </a:lt1>
      <a:dk2>
        <a:srgbClr val="1F497D"/>
      </a:dk2>
      <a:lt2>
        <a:srgbClr val="EEECE1"/>
      </a:lt2>
      <a:accent1>
        <a:srgbClr val="1F4E79"/>
      </a:accent1>
      <a:accent2>
        <a:srgbClr val="2E7D8A"/>
      </a:accent2>
      <a:accent3>
        <a:srgbClr val="F0BE50"/>
      </a:accent3>
      <a:accent4>
        <a:srgbClr val="4A5568"/>
      </a:accent4>
      <a:accent5>
        <a:srgbClr val="9C4221"/>
      </a:accent5>
      <a:accent6>
        <a:srgbClr val="1A1A1A"/>
      </a:accent6>
      <a:hlink>
        <a:srgbClr val="0000FF"/>
      </a:hlink>
      <a:folHlink>
        <a:srgbClr val="800080"/>
      </a:folHlink>
    </a:clrScheme>
    <a:fontScheme name="Office">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1A1A1A"/>
      </a:dk1>
      <a:lt1>
        <a:sysClr val="window" lastClr="FFFFFF"/>
      </a:lt1>
      <a:dk2>
        <a:srgbClr val="44546A"/>
      </a:dk2>
      <a:lt2>
        <a:srgbClr val="E7E6E6"/>
      </a:lt2>
      <a:accent1>
        <a:srgbClr val="1F4E79"/>
      </a:accent1>
      <a:accent2>
        <a:srgbClr val="2E7D8A"/>
      </a:accent2>
      <a:accent3>
        <a:srgbClr val="F0BE50"/>
      </a:accent3>
      <a:accent4>
        <a:srgbClr val="4A5568"/>
      </a:accent4>
      <a:accent5>
        <a:srgbClr val="9C4221"/>
      </a:accent5>
      <a:accent6>
        <a:srgbClr val="1A1A1A"/>
      </a:accent6>
      <a:hlink>
        <a:srgbClr val="0563C1"/>
      </a:hlink>
      <a:folHlink>
        <a:srgbClr val="954F72"/>
      </a:folHlink>
    </a:clrScheme>
    <a:fontScheme name="Office">
      <a:majorFont>
        <a:latin typeface="Segoe UI Semibold"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 Introduction and the ML Workflow</dc:title>
  <dc:creator>Fabio Antonini, Università degli Studi dell’Aquila</dc:creator>
  <cp:keywords/>
  <dcterms:created xsi:type="dcterms:W3CDTF">1980-01-01T00:00:00Z</dcterms:created>
  <dcterms:modified xsi:type="dcterms:W3CDTF">1980-01-01T00:00:00Z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 October 2026</vt:lpwstr>
  </property>
  <property fmtid="{D5CDD505-2E9C-101B-9397-08002B2CF9AE}" pid="3" name="subtitle">
    <vt:lpwstr>Technologies for Artificial Intelligence</vt:lpwstr>
  </property>
</Properties>
</file>