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application programming interface (API) key, a cloud account or a graphics processing unit (GPU).</a:t>
            </a:r>
          </a:p>
          <a:p>
            <a:pPr lvl="0" indent="0" marL="0">
              <a:buNone/>
            </a:pPr>
          </a:p>
          <a:p>
            <a:pPr lvl="0" indent="0" marL="0">
              <a:buNone/>
            </a:pPr>
            <a:r>
              <a:rPr/>
              <a:t>Ask them to join the course team on Microsoft Teams now, with the code on the slide - v0t2gvu, zero not the letter o - so that announcements reach everyone from the first week.</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and be explicit, because the arrangement is unusual and they will assume the ordinary one. Nothing is handed in, nothing comes back with a mark on it, and there is no written paper to revise for. Each lesson opens by discussing the exercise set the week before; at the exam one of the ten is drawn and they talk through their own notebook for it.</a:t>
            </a:r>
          </a:p>
          <a:p>
            <a:pPr lvl="0" indent="0" marL="0">
              <a:buNone/>
            </a:pPr>
          </a:p>
          <a:p>
            <a:pPr lvl="0" indent="0" marL="0">
              <a:buNone/>
            </a:pPr>
            <a:r>
              <a:rPr/>
              <a:t>Say the consequence plainly, because it is the whole design: an exercise they skipped is one they may have to sit in front of with nothing to say, and an exercise someone else wrote for them is worse, because the questions are all “why did you do this”.</a:t>
            </a:r>
          </a:p>
          <a:p>
            <a:pPr lvl="0" indent="0" marL="0">
              <a:buNone/>
            </a:pPr>
          </a:p>
          <a:p>
            <a:pPr lvl="0" indent="0" marL="0">
              <a:buNone/>
            </a:pPr>
            <a:r>
              <a:rPr/>
              <a:t>Expect the question “so what do we have to study?”. The answer is that the handouts are not optional: nothing is asked in the abstract, but “why that metric” and “what would have told you it was wrong” cannot be answered without them. The theory is examined through their own work rather than on paper.</a:t>
            </a:r>
          </a:p>
          <a:p>
            <a:pPr lvl="0" indent="0" marL="0">
              <a:buNone/>
            </a:pPr>
          </a:p>
          <a:p>
            <a:pPr lvl="0" indent="0" marL="0">
              <a:buNone/>
            </a:pPr>
            <a:r>
              <a:rPr/>
              <a:t>Emphasise the principle: methodology outweighs accuracy. Two students with different scores can both do well. A spectacular score obtained by leaking the test set will not - methodological correctness is 40% of the criteria, and today’s third notebook shows exactly why.</a:t>
            </a:r>
          </a:p>
          <a:p>
            <a:pPr lvl="0" indent="0" marL="0">
              <a:buNone/>
            </a:pPr>
          </a:p>
          <a:p>
            <a:pPr lvl="0" indent="0" marL="0">
              <a:buNone/>
            </a:pPr>
            <a:r>
              <a:rPr/>
              <a:t>Point them at Assessment/ in the repository.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Those are the closest thing to the exam there is: at the exam one of their own exercise notebooks is drawn and the questions are of exactly that kind, “why did you do this” rather than “state the definition”.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address is on the slide so it can be copied from the projector: it is split into two variables because the whole URL on one line wraps mid-word in this font and becomes untypeable. Read it out as github.com/fabioantonini, then technologies-for-artificial-intelligence. Course/Setup/Docker_Quickstart.md has it written out for anyone who mistypes it.</a:t>
            </a:r>
          </a:p>
          <a:p>
            <a:pPr lvl="0" indent="0" marL="0">
              <a:buNone/>
            </a:pPr>
          </a:p>
          <a:p>
            <a:pPr lvl="0" indent="0" marL="0">
              <a:buNone/>
            </a:pPr>
            <a:r>
              <a:rPr/>
              <a:t>The folder name, </a:t>
            </a:r>
            <a:r>
              <a:rPr>
                <a:latin typeface="Courier"/>
              </a:rPr>
              <a:t>tai</a:t>
            </a:r>
            <a:r>
              <a:rPr/>
              <a:t>, is theirs to choose: Docker Compose does not care what it is called, and a short one saves them typing all term.</a:t>
            </a:r>
          </a:p>
          <a:p>
            <a:pPr lvl="0" indent="0" marL="0">
              <a:buNone/>
            </a:pPr>
          </a:p>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image. The image only changes if the libraries change, and they will be told when that happens.</a:t>
            </a:r>
          </a:p>
          <a:p>
            <a:pPr lvl="0" indent="0" marL="0">
              <a:buNone/>
            </a:pPr>
          </a:p>
          <a:p>
            <a:pPr lvl="0" indent="0" marL="0">
              <a:buNone/>
            </a:pPr>
            <a:r>
              <a:rPr/>
              <a:t>Then the second thing to say, because it saves the room ten minutes today and a lecture in November. The image comes in two sizes. </a:t>
            </a:r>
            <a:r>
              <a:rPr>
                <a:latin typeface="Courier"/>
              </a:rPr>
              <a:t>docker compose up</a:t>
            </a:r>
            <a:r>
              <a:rPr/>
              <a:t> gives them </a:t>
            </a:r>
            <a:r>
              <a:rPr>
                <a:latin typeface="Courier"/>
              </a:rPr>
              <a:t>core</a:t>
            </a:r>
            <a:r>
              <a:rPr/>
              <a:t>, a 750 MB download carrying everything lessons 1 to 8 need. Before lesson 9 they change one line in </a:t>
            </a:r>
            <a:r>
              <a:rPr>
                <a:latin typeface="Courier"/>
              </a:rPr>
              <a:t>.env</a:t>
            </a:r>
            <a:r>
              <a:rPr/>
              <a:t> to </a:t>
            </a:r>
            <a:r>
              <a:rPr>
                <a:latin typeface="Courier"/>
              </a:rPr>
              <a:t>TAI_TAG=full</a:t>
            </a:r>
            <a:r>
              <a:rPr/>
              <a:t>, which adds TensorFlow - and because </a:t>
            </a:r>
            <a:r>
              <a:rPr>
                <a:latin typeface="Courier"/>
              </a:rPr>
              <a:t>full</a:t>
            </a:r>
            <a:r>
              <a:rPr/>
              <a:t> is built on top of </a:t>
            </a:r>
            <a:r>
              <a:rPr>
                <a:latin typeface="Courier"/>
              </a:rPr>
              <a:t>core</a:t>
            </a:r>
            <a:r>
              <a:rPr/>
              <a:t>, that switch downloads the TensorFlow layer alone rather than the whole environment again. Point them at Course/Setup/Docker_Quickstart.md for both steps.</a:t>
            </a:r>
          </a:p>
          <a:p>
            <a:pPr lvl="0" indent="0" marL="0">
              <a:buNone/>
            </a:pPr>
          </a:p>
          <a:p>
            <a:pPr lvl="0" indent="0" marL="0">
              <a:buNone/>
            </a:pPr>
            <a:r>
              <a:rPr/>
              <a:t>Ask who has already pulled it. Anyone who has not should run </a:t>
            </a:r>
            <a:r>
              <a:rPr>
                <a:latin typeface="Courier"/>
              </a:rPr>
              <a:t>docker compose pull</a:t>
            </a:r>
            <a:r>
              <a:rPr/>
              <a:t> at home tonight, not now: thirty simultaneous downloads on the lecture-theatre network is not a plan, and it is why the image was cut down in the first place.</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four rows down the left, and the exception each one buys on the right. Take them one at a time - the effect depends on the accumulation.</a:t>
            </a:r>
          </a:p>
          <a:p>
            <a:pPr lvl="0" indent="0" marL="0">
              <a:buNone/>
            </a:pPr>
          </a:p>
          <a:p>
            <a:pPr lvl="0" indent="0" marL="0">
              <a:buNone/>
            </a:pPr>
            <a:r>
              <a:rPr/>
              <a:t>The point is not that these are bad rules. Each is a reasonable idea, and each fails on a case that is obviously not spam to any human reader. Ask the room for a fifth rule and then for what breaks it; somebody will supply both within a few seconds, which is the demonstration.</a:t>
            </a:r>
          </a:p>
          <a:p>
            <a:pPr lvl="0" indent="0" marL="0">
              <a:buNone/>
            </a:pPr>
          </a:p>
          <a:p>
            <a:pPr lvl="0" indent="0" marL="0">
              <a:buNone/>
            </a:pPr>
            <a:r>
              <a:rPr/>
              <a:t>The line at the bottom is the one to leave them with: you cannot state the rule, but you recognise the answer. That gap is the whole reason this course exists, and every method in it is a way of closing it from examples instead of from specification.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before any symbol appears, because “pairs (x, y) drawn from a distribution” is unreadable to someone who has never seen what is inside an x.</a:t>
            </a:r>
          </a:p>
          <a:p>
            <a:pPr lvl="0" indent="0" marL="0">
              <a:buNone/>
            </a:pPr>
          </a:p>
          <a:p>
            <a:pPr lvl="0" indent="0" marL="0">
              <a:buNone/>
            </a:pPr>
            <a:r>
              <a:rPr/>
              <a:t>Point at the numbers first. One tumour, thirty measurements taken from a digitised image of a tissue sample - radius, texture, perimeter, area and 26 more. THAT list is x. The thing we want to predict, malignant or benign, is y. Notebook 02 prints exactly this table in its second cell, and it is the dataset we use for the whole workflow later today.</a:t>
            </a:r>
          </a:p>
          <a:p>
            <a:pPr lvl="0" indent="0" marL="0">
              <a:buNone/>
            </a:pPr>
          </a:p>
          <a:p>
            <a:pPr lvl="0" indent="0" marL="0">
              <a:buNone/>
            </a:pPr>
            <a:r>
              <a:rPr/>
              <a:t>Then the two letters, and say they never move: m counts examples, n counts features, rows are examples, columns are features. Every lesson of the course uses them this way, and lesson 3 will write the normal equation with them.</a:t>
            </a:r>
          </a:p>
          <a:p>
            <a:pPr lvl="0" indent="0" marL="0">
              <a:buNone/>
            </a:pPr>
          </a:p>
          <a:p>
            <a:pPr lvl="0" indent="0" marL="0">
              <a:buNone/>
            </a:pPr>
            <a:r>
              <a:rPr/>
              <a:t>Last sentence, and it sets up lesson 2: the thirty columns are not the tumour. They are what somebody decided to measure of it. Ask the room what else they would have measured - age, family history, time since the last scan - and let them notice that none of it is in the file.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on the previous slide, drawn once so it can be pointed at for the rest of the course.</a:t>
            </a:r>
          </a:p>
          <a:p>
            <a:pPr lvl="0" indent="0" marL="0">
              <a:buNone/>
            </a:pPr>
          </a:p>
          <a:p>
            <a:pPr lvl="0" indent="0" marL="0">
              <a:buNone/>
            </a:pPr>
            <a:r>
              <a:rPr/>
              <a:t>Trace the path with a finger: a pair is drawn from D, x goes into f, f produces y-hat, the loss compares y-hat against the y that came with it.</a:t>
            </a:r>
          </a:p>
          <a:p>
            <a:pPr lvl="0" indent="0" marL="0">
              <a:buNone/>
            </a:pPr>
          </a:p>
          <a:p>
            <a:pPr lvl="0" indent="0" marL="0">
              <a:buNone/>
            </a:pPr>
            <a:r>
              <a:rPr/>
              <a:t>Then point at the dashed box. Three of these objects we handle directly - the inputs, the function we search for, the predictions. The fourth, the distribution the data comes from, we never see. Everything difficult in this course comes from that one box being out of reach.</a:t>
            </a:r>
          </a:p>
          <a:p>
            <a:pPr lvl="0" indent="0" marL="0">
              <a:buNone/>
            </a:pPr>
          </a:p>
          <a:p>
            <a:pPr lvl="0" indent="0" marL="0">
              <a:buNone/>
            </a:pPr>
            <a:r>
              <a:rPr/>
              <a:t>Worth naming now, because it returns in lesson 5: we see a sample from D, never D itself, and every claim we make about a model is an inference from the sample to the distribution. Most of the methodology later in the course is about not fooling yourself in that step.</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Say what L is, or it stays a placeholder all lesson. Simplest choice, the zero-one loss: 0 when right, 1 when wrong. Then the empirical risk IS the error rate, and accuracy is one minus it - so every score in today’s notebooks is an empirical risk under a friendlier name. Notebook 02: 0.986 on 143 examples is two mistakes, an empirical risk of 0.014.</a:t>
            </a:r>
          </a:p>
          <a:p>
            <a:pPr lvl="0" indent="0" marL="0">
              <a:buNone/>
            </a:pPr>
          </a:p>
          <a:p>
            <a:pPr lvl="0" indent="0" marL="0">
              <a:buNone/>
            </a:pPr>
            <a:r>
              <a:rPr/>
              <a:t>And say that choosing L is a modelling decision, not a technicality: it is where you state what counts as a bad mistake, before any model exists. Zero-one says every error costs the same, which is almost never true. Lesson 3 uses squared error, lesson 4 uses cross-entropy and then prices the two kinds of mistake separately. Handout 2.1.</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Expect this question, because it is the right one to ask: if R(f) cannot be computed, what is the red curve? Answer in three steps. First, the two curves are not the same quantity measured on two datasets - empirical risk is an average over a sample you hold, expected risk is an average over the whole distribution, so there is no second R(f) “on the training data”. Second, empirical risk can be computed on ANY sample, and on rows the fitting never touched it is an unbiased estimate of R(f) - that is what a test set buys, and section 2.3 is the argument. Third, the red curve is drawn, not measured: in a simulation where we choose the true function ourselves R(f) really is computable, and lesson 5’s notebook 02 measures exactly this shape over 300 generated datasets.</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a revision session that happens to rehearse exactly the exam questions. Nobody cheated - the same questions both shaped the preparation and judged it.</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Be precise about “unbiased”, because it is easy to over-read and somebody will. The average is taken over ALL the test sets of that size we might have drawn, not over the one we did draw. Our particular test set is still too high or too low by some amount; what the argument buys is that it is not too high SYSTEMATICALLY. One test set gives one draw from a distribution centred on the right answer - which is exactly why the next question is how wide that distribution is.</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a bigger training set gives a better model. Say what “more stable” means before using it: the standard error is how far the measured accuracy would typically move if you drew a different test set of the same size, and it shrinks as one over the square root of m, the number of TEST examples - so quadrupling the test set halves the error bar, and that is the only way to buy precision. Give them the concrete number from notebook 02: 143 test examples at 0.986 accuracy carries a standard error of about one percentage point, so the third decimal place is noise. If anyone presses on the interval, concede it: 0.986 of 143 is two errors, the normal approximation is not admissible there - it returns an upper limit of 100.5% - and the honest lower bound is 95.0%, not the approximation’s 96.7%. Handout section 2.4 works it through.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and expect this one to be challenged, because it sounds like something you could only know after deploying. Make the point that all three judgements are available before any code is written.</a:t>
            </a:r>
          </a:p>
          <a:p>
            <a:pPr lvl="0" indent="0" marL="0">
              <a:buNone/>
            </a:pPr>
          </a:p>
          <a:p>
            <a:pPr lvl="0" indent="0" marL="0">
              <a:buNone/>
            </a:pPr>
            <a:r>
              <a:rPr/>
              <a:t>The model WILL be wrong - not might be. Section 2.2 settled that, and today’s best model gets 2 of 143 wrong. You cannot know which 2 in advance; if you could, you would fix them. Whether a wrong answer can be undone is a fact about the application - a misfiled ticket is reopened, a wrong dose is not. Whether a person sees the output before it acts is a fact about the deployment, not about the weights.</a:t>
            </a:r>
          </a:p>
          <a:p>
            <a:pPr lvl="0" indent="0" marL="0">
              <a:buNone/>
            </a:pPr>
          </a:p>
          <a:p>
            <a:pPr lvl="0" indent="0" marL="0">
              <a:buNone/>
            </a:pPr>
            <a:r>
              <a:rPr/>
              <a:t>Certain, unrecoverable and unseen: no accuracy figure rescues that design, and you knew all three before you started.</a:t>
            </a:r>
          </a:p>
          <a:p>
            <a:pPr lvl="0" indent="0" marL="0">
              <a:buNone/>
            </a:pPr>
          </a:p>
          <a:p>
            <a:pPr lvl="0" indent="0" marL="0">
              <a:buNone/>
            </a:pPr>
            <a:r>
              <a:rPr/>
              <a:t>Worth adding if someone raises it: “unexplainable” is partly a choice. A short tree in lesson 7 states its reasoning; a linear model in lesson 3 attributes the answer feature by feature. If somebody must justify the decision to the person it affects, that belongs in the framing step, where it rules families in or out.</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01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but plant the right one. It is NOT that there is nothing to minimise - k-means minimises the within-cluster sum of squares, which is an empirical risk in the sense of the slide before the break, with the loss measured against the model’s own summary instead of a label. Lesson 8 derives it and proves the algorithm decreases it every step.</a:t>
            </a:r>
          </a:p>
          <a:p>
            <a:pPr lvl="0" indent="0" marL="0">
              <a:buNone/>
            </a:pPr>
          </a:p>
          <a:p>
            <a:pPr lvl="0" indent="0" marL="0">
              <a:buNone/>
            </a:pPr>
            <a:r>
              <a:rPr/>
              <a:t>What is missing is ground truth to check the answer against. The algorithm ALWAYS returns clusters, whether or not the data contains any groups. Whether they mean something is a judgement about the domain and cannot be delegated to a metric. It is a validation problem, not an optimisation one - and the distinction matters, because they will meet that cost function in lesson 8 and remember what was said here.</a:t>
            </a:r>
          </a:p>
          <a:p>
            <a:pPr lvl="0" indent="0" marL="0">
              <a:buNone/>
            </a:pPr>
          </a:p>
          <a:p>
            <a:pPr lvl="0" indent="0" marL="0">
              <a:buNone/>
            </a:pPr>
            <a:r>
              <a:rPr/>
              <a:t>Worth thirty seconds: the overfitting gap survives the loss of the labels. One cluster per point drives the cost to exactly zero. Same memorisation, different clothes.</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 intuition, not a method: they meet the technique properly in a later course, and today only needs them to recognise the idea.</a:t>
            </a:r>
          </a:p>
          <a:p>
            <a:pPr lvl="0" indent="0" marL="0">
              <a:buNone/>
            </a:pPr>
          </a:p>
          <a:p>
            <a:pPr lvl="0" indent="0" marL="0">
              <a:buNone/>
            </a:pPr>
            <a:r>
              <a:rPr/>
              <a:t>Say it in one breath. Nobody labels anything; you take part of the input and treat it as the answer. The value is real - flavanoids is a genuine measurement in the table - but nobody asked for it to be predicted. You use it because it is already there, which is why the supervision is free.</a:t>
            </a:r>
          </a:p>
          <a:p>
            <a:pPr lvl="0" indent="0" marL="0">
              <a:buNone/>
            </a:pPr>
          </a:p>
          <a:p>
            <a:pPr lvl="0" indent="0" marL="0">
              <a:buNone/>
            </a:pPr>
            <a:r>
              <a:rPr/>
              <a:t>Then the contrast with the previous slide, because it is the whole distinction: in supervised learning the answer lives OUTSIDE the measurements and somebody recorded it - the cultivar. Here the answer is ONE OF the measurements.</a:t>
            </a:r>
          </a:p>
          <a:p>
            <a:pPr lvl="0" indent="0" marL="0">
              <a:buNone/>
            </a:pPr>
          </a:p>
          <a:p>
            <a:pPr lvl="0" indent="0" marL="0">
              <a:buNone/>
            </a:pPr>
            <a:r>
              <a:rPr/>
              <a:t>The reconstruction is a pretext: nobody wants a flavanoid predictor. The reason anyone does it is that the model has to learn how the measurements relate, and that can be reused on a task you care about. Say plainly that the notebook stops before that step - a linear regression has nothing worth reusing.</a:t>
            </a:r>
          </a:p>
          <a:p>
            <a:pPr lvl="0" indent="0" marL="0">
              <a:buNone/>
            </a:pPr>
          </a:p>
          <a:p>
            <a:pPr lvl="0" indent="0" marL="0">
              <a:buNone/>
            </a:pPr>
            <a:r>
              <a:rPr/>
              <a:t>Scale the idea up - hide a word in a sentence, hide a patch of an image - and it is how modern large models are trained. This is the honest one-paragraph answer to “how does ChatGPT learn?”, and it is worth giving them, since they will be asked it at every family dinner.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01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01 and run it. Twenty minutes, and it is the only place today where all three kinds appear on identical data, which is the whole argument of this segment made operational.</a:t>
            </a:r>
          </a:p>
          <a:p>
            <a:pPr lvl="0" indent="0" marL="0">
              <a:buNone/>
            </a:pPr>
          </a:p>
          <a:p>
            <a:pPr lvl="0" indent="0" marL="0">
              <a:buNone/>
            </a:pPr>
            <a:r>
              <a:rPr/>
              <a:t>The point to keep repeating as you scroll: nothing about the table changes between the three results. Same 178 wines, same 13 chemical measurements. What changes is where the answer comes from - recorded by somebody, nowhere at all, or one of the measurements themselves.</a:t>
            </a:r>
          </a:p>
          <a:p>
            <a:pPr lvl="0" indent="0" marL="0">
              <a:buNone/>
            </a:pPr>
          </a:p>
          <a:p>
            <a:pPr lvl="0" indent="0" marL="0">
              <a:buNone/>
            </a:pPr>
            <a:r>
              <a:rPr/>
              <a:t>Two moments worth stopping on.</a:t>
            </a:r>
          </a:p>
          <a:p>
            <a:pPr lvl="0" indent="0" marL="0">
              <a:buNone/>
            </a:pPr>
          </a:p>
          <a:p>
            <a:pPr lvl="0" indent="0" marL="0">
              <a:buNone/>
            </a:pPr>
            <a:r>
              <a:rPr/>
              <a:t>The unsupervised score, 0.897, is suspiciously good, and the notebook says so: it is a happy accident of this dataset, where the chemical groups really are geometrically separated. Say plainly that this is not what clustering usually looks like, or they will leave expecting it.</a:t>
            </a:r>
          </a:p>
          <a:p>
            <a:pPr lvl="0" indent="0" marL="0">
              <a:buNone/>
            </a:pPr>
          </a:p>
          <a:p>
            <a:pPr lvl="0" indent="0" marL="0">
              <a:buNone/>
            </a:pPr>
            <a:r>
              <a:rPr/>
              <a:t>The self-supervised cell against the supervised one: ask the room what is different about the two targets. The cultivar is an answer somebody wrote down, not a measurement; flavanoids is one of the measurements, used as an answer because it was there. That is the distinction the segment has been building to.</a:t>
            </a:r>
          </a:p>
          <a:p>
            <a:pPr lvl="0" indent="0" marL="0">
              <a:buNone/>
            </a:pPr>
          </a:p>
          <a:p>
            <a:pPr lvl="0" indent="0" marL="0">
              <a:buNone/>
            </a:pPr>
            <a:r>
              <a:rPr/>
              <a:t>If time is short, drop the R² aside and the n_init experiment; keep all three results, because the comparison is the content. 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02, which the next slide starts.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45 minutes, and it runs alongside the next twelve slides rather than instead of them: each step of the workflow is a slide and then the cell that performs it.</a:t>
            </a:r>
          </a:p>
          <a:p>
            <a:pPr lvl="0" indent="0" marL="0">
              <a:buNone/>
            </a:pPr>
          </a:p>
          <a:p>
            <a:pPr lvl="0" indent="0" marL="0">
              <a:buNone/>
            </a:pPr>
            <a:r>
              <a:rPr/>
              <a:t>Three moments to stop on together. The split, because it happens before anything is learned and that is the whole rule of the day. The baseline at 0.629, because it is what makes 0.986 mean something. And the threshold sweep at the end, where the same model - unchanged, same weights - goes from missing no malignancy with eleven false alarms to missing seven with none.</a:t>
            </a:r>
          </a:p>
          <a:p>
            <a:pPr lvl="0" indent="0" marL="0">
              <a:buNone/>
            </a:pPr>
          </a:p>
          <a:p>
            <a:pPr lvl="0" indent="0" marL="0">
              <a:buNone/>
            </a:pPr>
            <a:r>
              <a:rPr/>
              <a:t>Tell them to run it themselves rather than watch: everything after this in the course assumes they have a working environment, and this is the session where a broken one shows up.</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problem, four outcomes, and the two failures are not the same size. Two of these cells are fine and two are not, and accuracy adds all four up as though they weighed the same.</a:t>
            </a:r>
          </a:p>
          <a:p>
            <a:pPr lvl="0" indent="0" marL="0">
              <a:buNone/>
            </a:pPr>
          </a:p>
          <a:p>
            <a:pPr lvl="0" indent="0" marL="0">
              <a:buNone/>
            </a:pPr>
            <a:r>
              <a:rPr/>
              <a:t>Ask the room which of the two failures they would rather make, and let them answer before any metric appears. A missed case sends home a patient who should not go; a false alarm costs anxiety and a follow-up test. Nobody needs statistics to rank those.</a:t>
            </a:r>
          </a:p>
          <a:p>
            <a:pPr lvl="0" indent="0" marL="0">
              <a:buNone/>
            </a:pPr>
          </a:p>
          <a:p>
            <a:pPr lvl="0" indent="0" marL="0">
              <a:buNone/>
            </a:pPr>
            <a:r>
              <a:rPr/>
              <a:t>Then the part that makes it a lesson rather than an anecdote: answering requires knowing who bears the cost, which is not a question about data. Change the application and the answer changes with it - on a spam filter the expensive cell is the legitimate mail that got blocked, not the spam that got through. The ranking comes from the application, and it has to arrive before any modelling decision is made.</a:t>
            </a:r>
          </a:p>
          <a:p>
            <a:pPr lvl="0" indent="0" marL="0">
              <a:buNone/>
            </a:pPr>
          </a:p>
          <a:p>
            <a:pPr lvl="0" indent="0" marL="0">
              <a:buNone/>
            </a:pPr>
            <a:r>
              <a:rPr/>
              <a:t>Lesson 4 turns this into a threshold that can be computed. Today it is enough that they see the question is not a modelling question, and that answering it with accuracy answers it by accident.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If someone remembers 62.7% from the class-balance step: that is the share of benign tumours in all 569. The baseline is scored like the model, on the 143 test tumours, where 90 are benign - 62.9%, the 0.629 the result slide quotes. The stratified split keeps the two close; they differ only because 143 is a small sample.</a:t>
            </a:r>
          </a:p>
          <a:p>
            <a:pPr lvl="0" indent="0" marL="0">
              <a:buNone/>
            </a:pPr>
          </a:p>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two steps, done in the two orders, with what each one shows the test set.</a:t>
            </a:r>
          </a:p>
          <a:p>
            <a:pPr lvl="0" indent="0" marL="0">
              <a:buNone/>
            </a:pPr>
          </a:p>
          <a:p>
            <a:pPr lvl="0" indent="0" marL="0">
              <a:buNone/>
            </a:pPr>
            <a:r>
              <a:rPr/>
              <a:t>Point at the top row and at where ‘split’ sits on it: after the scaling. That is the whole mistake, and it is one line out of order.</a:t>
            </a:r>
          </a:p>
          <a:p>
            <a:pPr lvl="0" indent="0" marL="0">
              <a:buNone/>
            </a:pPr>
          </a:p>
          <a:p>
            <a:pPr lvl="0" indent="0" marL="0">
              <a:buNone/>
            </a:pPr>
            <a:r>
              <a:rPr/>
              <a:t>On the manual side the scaler is fitted on everything, so the mean and the standard deviation it subtracts already contain the test rows. The model is then evaluated on data it has, in a small way, already seen. The score comes out slightly too high, and nothing anywhere raises an error.</a:t>
            </a:r>
          </a:p>
          <a:p>
            <a:pPr lvl="0" indent="0" marL="0">
              <a:buNone/>
            </a:pPr>
          </a:p>
          <a:p>
            <a:pPr lvl="0" indent="0" marL="0">
              <a:buNone/>
            </a:pPr>
            <a:r>
              <a:rPr/>
              <a:t>Emphasise that last part. This is not a mistake that announces itself: it produces a working notebook and a plausible number. Lesson 2 measures what it costs on a real dataset, and lesson 5 gives it its name.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both against the confusion matrix still in their heads from the last slide, and keep them the right way round: recall divides by the row of things that really were malignant, precision by the column of things we flagged. The next slide makes the trade physical.</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receiver operating characteristic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axis is before anything else, because nothing else makes sense without it: every dot is one of the 143 tumours in the test set, and its position is the probability our model gave to “malignant”. Not a distance, not a score - a probability, 0 to 1.</a:t>
            </a:r>
          </a:p>
          <a:p>
            <a:pPr lvl="0" indent="0" marL="0">
              <a:buNone/>
            </a:pPr>
          </a:p>
          <a:p>
            <a:pPr lvl="0" indent="0" marL="0">
              <a:buNone/>
            </a:pPr>
            <a:r>
              <a:rPr/>
              <a:t>The black line is 0.5, and it is worth saying out loud that nothing chose it. It is the default. Everything to the right of it we flag; everything to the left we send home.</a:t>
            </a:r>
          </a:p>
          <a:p>
            <a:pPr lvl="0" indent="0" marL="0">
              <a:buNone/>
            </a:pPr>
          </a:p>
          <a:p>
            <a:pPr lvl="0" indent="0" marL="0">
              <a:buNone/>
            </a:pPr>
            <a:r>
              <a:rPr/>
              <a:t>Now the point of the slide. Most of the picture is the model being certain: 105 of the 143 sit within 0.02 of one end, which is where 0.986 comes from. Tell them to ignore those and look at the middle. The band from 0.11 to 0.62 holds the 12 it was unsure about - 1 malignant, 11 benign - and at 0.5 only two of the twelve are on the wrong side: the malignancy at 0.11 that we missed, and the benign at 0.62 that we flagged.</a:t>
            </a:r>
          </a:p>
          <a:p>
            <a:pPr lvl="0" indent="0" marL="0">
              <a:buNone/>
            </a:pPr>
          </a:p>
          <a:p>
            <a:pPr lvl="0" indent="0" marL="0">
              <a:buNone/>
            </a:pPr>
            <a:r>
              <a:rPr/>
              <a:t>Then slide the line, and make them watch the band rather than the numbers. Down to 0.10 and it passes below the whole band: the missed malignancy is caught, and all 11 uncertain benign tumours turn into false alarms. Point at them - the eleven are countable on the slide, which is the whole reason this figure is here rather than a table. Up to 0.90 instead and no false alarm survives, at the price of 7 women sent home who should not have been.</a:t>
            </a:r>
          </a:p>
          <a:p>
            <a:pPr lvl="0" indent="0" marL="0">
              <a:buNone/>
            </a:pPr>
          </a:p>
          <a:p>
            <a:pPr lvl="0" indent="0" marL="0">
              <a:buNone/>
            </a:pPr>
            <a:r>
              <a:rPr/>
              <a:t>Nothing about the model changed between those two sentences. So the question of whether it is good has no answer until somebody says which error is worse - which is the earlier slide arriving again, now with a number attached. Lesson 4 spends an hour here.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frame, and the next slide opens the notebook: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again alongside the slides that follow rather than instead of them.</a:t>
            </a:r>
          </a:p>
          <a:p>
            <a:pPr lvl="0" indent="0" marL="0">
              <a:buNone/>
            </a:pPr>
          </a:p>
          <a:p>
            <a:pPr lvl="0" indent="0" marL="0">
              <a:buNone/>
            </a:pPr>
            <a:r>
              <a:rPr/>
              <a:t>Say what to watch for before they start, because the notebook is deliberately undramatic: every cell runs, nothing raises, and every number it prints would pass a review. The work is reading them.</a:t>
            </a:r>
          </a:p>
          <a:p>
            <a:pPr lvl="0" indent="0" marL="0">
              <a:buNone/>
            </a:pPr>
          </a:p>
          <a:p>
            <a:pPr lvl="0" indent="0" marL="0">
              <a:buNone/>
            </a:pPr>
            <a:r>
              <a:rPr/>
              <a:t>The two cells to make sure nobody skips: the leaked selection reaching 77% on labels generated by a coin flip, and the four deployment scenarios for the shortcut column, where the two that raise an exception turn out to be the lucky ones.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confusion matrices side by side. Give them a moment to spot that the accuracies agree to three decimal places.</a:t>
            </a:r>
          </a:p>
          <a:p>
            <a:pPr lvl="0" indent="0" marL="0">
              <a:buNone/>
            </a:pPr>
          </a:p>
          <a:p>
            <a:pPr lvl="0" indent="0" marL="0">
              <a:buNone/>
            </a:pPr>
            <a:r>
              <a:rPr/>
              <a:t>Left is the model that answers negative every time and has learned nothing whatever. Right is a trained model. 0.986 against 0.987 - and the one on the right finds a single positive out of twenty-one, which is barely better than nothing but is not nothing.</a:t>
            </a:r>
          </a:p>
          <a:p>
            <a:pPr lvl="0" indent="0" marL="0">
              <a:buNone/>
            </a:pPr>
          </a:p>
          <a:p>
            <a:pPr lvl="0" indent="0" marL="0">
              <a:buNone/>
            </a:pPr>
            <a:r>
              <a:rPr/>
              <a:t>Ask what a report containing only the accuracy would say about these two, and let the silence do the work. Then point at the bottom-left cell of each: 21 missed, then 20 missed. That is the number the application cares about, and it is the one accuracy averages away.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timeline, with the moment of prediction marked, and everything that happens after it shaded.</a:t>
            </a:r>
          </a:p>
          <a:p>
            <a:pPr lvl="0" indent="0" marL="0">
              <a:buNone/>
            </a:pPr>
          </a:p>
          <a:p>
            <a:pPr lvl="0" indent="0" marL="0">
              <a:buNone/>
            </a:pPr>
            <a:r>
              <a:rPr/>
              <a:t>Walk left to right: the scan is taken, measurements are recorded - both before the prediction is needed, both usable. Then the shaded region: the diagnosis is made, the biopsy is scheduled. A model leaning on biopsy_scheduled scores beautifully in the notebook and has nothing to read at the moment it would actually be used.</a:t>
            </a:r>
          </a:p>
          <a:p>
            <a:pPr lvl="0" indent="0" marL="0">
              <a:buNone/>
            </a:pPr>
          </a:p>
          <a:p>
            <a:pPr lvl="0" indent="0" marL="0">
              <a:buNone/>
            </a:pPr>
            <a:r>
              <a:rPr/>
              <a:t>The shaded region is the trap: everything to the right of the marked moment happens after a prediction is needed, so none of it can be an input.</a:t>
            </a:r>
          </a:p>
          <a:p>
            <a:pPr lvl="0" indent="0" marL="0">
              <a:buNone/>
            </a:pPr>
          </a:p>
          <a:p>
            <a:pPr lvl="0" indent="0" marL="0">
              <a:buNone/>
            </a:pPr>
            <a:r>
              <a:rPr/>
              <a:t>The question in the title is the one to make a habit of, and it is worth saying that it cannot be answered by looking at the data. It is answered by asking somebody who knows how the data is produced. Put it to them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there is to the exam, because they ask why rather than what.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4.xml"/><Relationship Id="rId3"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 Id="rId3"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2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30.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4 December</a:t>
            </a:r>
          </a:p>
          <a:p>
            <a:pPr lvl="0"/>
            <a:r>
              <a:rPr/>
              <a:t>A first course in </a:t>
            </a:r>
            <a:r>
              <a:rPr b="1"/>
              <a:t>machine learning</a:t>
            </a:r>
            <a:r>
              <a:rPr/>
              <a:t>, for people who can already program</a:t>
            </a:r>
          </a:p>
          <a:p>
            <a:pPr lvl="0"/>
            <a:r>
              <a:rPr/>
              <a:t>Foundations, not products</a:t>
            </a:r>
          </a:p>
          <a:p>
            <a:pPr lvl="0"/>
            <a:r>
              <a:rPr/>
              <a:t>Course team on Microsoft Teams: code </a:t>
            </a:r>
            <a:r>
              <a:rPr b="1">
                <a:latin typeface="Courier"/>
              </a:rPr>
              <a:t>v0t2gvu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support vector machines,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set each Friday, discussed the next. Never collected</a:t>
            </a:r>
          </a:p>
          <a:p>
            <a:pPr lvl="0"/>
            <a:r>
              <a:rPr b="1"/>
              <a:t>Exam</a:t>
            </a:r>
            <a:r>
              <a:rPr/>
              <a:t>: </a:t>
            </a:r>
            <a:r>
              <a:rPr b="1"/>
              <a:t>one of the ten is drawn</a:t>
            </a:r>
            <a:r>
              <a:rPr/>
              <a:t>, and you talk through your own notebook</a:t>
            </a:r>
          </a:p>
          <a:p>
            <a:pPr lvl="0"/>
            <a:r>
              <a:rPr/>
              <a:t>No written paper, no project. Keep all ten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the reference text, with the mathematics</a:t>
            </a:r>
          </a:p>
          <a:p>
            <a:pPr lvl="0"/>
            <a:r>
              <a:rPr b="1"/>
              <a:t>Slides</a:t>
            </a:r>
            <a:r>
              <a:rPr/>
              <a:t>: what we do in the room</a:t>
            </a:r>
          </a:p>
          <a:p>
            <a:pPr lvl="0"/>
            <a:r>
              <a:rPr b="1"/>
              <a:t>Notebooks</a:t>
            </a:r>
            <a:r>
              <a:rPr/>
              <a:t>: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19177C"/>
                </a:solidFill>
                <a:latin typeface="Courier"/>
              </a:rPr>
              <a:t>U</a:t>
            </a:r>
            <a:r>
              <a:rPr>
                <a:solidFill>
                  <a:srgbClr val="666666"/>
                </a:solidFill>
                <a:latin typeface="Courier"/>
              </a:rPr>
              <a:t>=</a:t>
            </a:r>
            <a:r>
              <a:rPr>
                <a:latin typeface="Courier"/>
              </a:rPr>
              <a:t>https://github.com/fabioantonini</a:t>
            </a:r>
            <a:br/>
            <a:r>
              <a:rPr>
                <a:solidFill>
                  <a:srgbClr val="19177C"/>
                </a:solidFill>
                <a:latin typeface="Courier"/>
              </a:rPr>
              <a:t>R</a:t>
            </a:r>
            <a:r>
              <a:rPr>
                <a:solidFill>
                  <a:srgbClr val="666666"/>
                </a:solidFill>
                <a:latin typeface="Courier"/>
              </a:rPr>
              <a:t>=</a:t>
            </a:r>
            <a:r>
              <a:rPr>
                <a:latin typeface="Courier"/>
              </a:rPr>
              <a:t>technologies-for-artificial-intelligence</a:t>
            </a:r>
            <a:br/>
            <a:r>
              <a:rPr>
                <a:solidFill>
                  <a:srgbClr val="06287E"/>
                </a:solidFill>
                <a:latin typeface="Courier"/>
              </a:rPr>
              <a:t>git</a:t>
            </a:r>
            <a:r>
              <a:rPr>
                <a:latin typeface="Courier"/>
              </a:rPr>
              <a:t> clone </a:t>
            </a:r>
            <a:r>
              <a:rPr>
                <a:solidFill>
                  <a:srgbClr val="19177C"/>
                </a:solidFill>
                <a:latin typeface="Courier"/>
              </a:rPr>
              <a:t>$U</a:t>
            </a:r>
            <a:r>
              <a:rPr>
                <a:latin typeface="Courier"/>
              </a:rPr>
              <a:t>/</a:t>
            </a:r>
            <a:r>
              <a:rPr>
                <a:solidFill>
                  <a:srgbClr val="19177C"/>
                </a:solidFill>
                <a:latin typeface="Courier"/>
              </a:rPr>
              <a:t>$R</a:t>
            </a:r>
            <a:r>
              <a:rPr>
                <a:latin typeface="Courier"/>
              </a:rPr>
              <a:t>.git tai</a:t>
            </a:r>
            <a:br/>
            <a:r>
              <a:rPr>
                <a:solidFill>
                  <a:srgbClr val="008000"/>
                </a:solidFill>
                <a:latin typeface="Courier"/>
              </a:rPr>
              <a:t>cd</a:t>
            </a:r>
            <a:r>
              <a:rPr>
                <a:latin typeface="Courier"/>
              </a:rPr>
              <a:t> tai</a:t>
            </a:r>
            <a:br/>
            <a:r>
              <a:rPr>
                <a:latin typeface="Courier"/>
              </a:rPr>
              <a:t>docker compose pull</a:t>
            </a:r>
            <a:br/>
            <a:r>
              <a:rPr>
                <a:latin typeface="Courier"/>
              </a:rPr>
              <a:t>docker compose up</a:t>
            </a:r>
          </a:p>
          <a:p>
            <a:pPr lvl="0" indent="0" marL="0">
              <a:buNone/>
            </a:pPr>
            <a:r>
              <a:rPr/>
              <a:t>Then open </a:t>
            </a:r>
            <a:r>
              <a:rPr b="1"/>
              <a:t>127.0.0.1:8888</a:t>
            </a:r>
            <a:r>
              <a:rPr/>
              <a:t>, token </a:t>
            </a:r>
            <a:r>
              <a:rPr>
                <a:latin typeface="Courier"/>
              </a:rPr>
              <a:t>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problem you cannot specify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rule buys an exception</a:t>
            </a:r>
          </a:p>
        </p:txBody>
      </p:sp>
      <p:pic>
        <p:nvPicPr>
          <p:cNvPr descr="spam_rules.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data actually is</a:t>
            </a:r>
          </a:p>
        </p:txBody>
      </p:sp>
      <p:sp>
        <p:nvSpPr>
          <p:cNvPr id="3" name="Content Placeholder 2"/>
          <p:cNvSpPr>
            <a:spLocks noGrp="1"/>
          </p:cNvSpPr>
          <p:nvPr>
            <p:ph idx="1"/>
          </p:nvPr>
        </p:nvSpPr>
        <p:spPr>
          <a:xfrm>
            <a:off x="457200" y="1200151"/>
            <a:ext cx="8229600" cy="3394472"/>
          </a:xfrm>
        </p:spPr>
        <p:txBody>
          <a:bodyPr/>
          <a:lstStyle/>
          <a:p>
            <a:pPr lvl="0"/>
            <a:r>
              <a:rPr/>
              <a:t>One tumour = 30 numbers: radius 17.99, texture 10.38, perimeter 122.80, …</a:t>
            </a:r>
          </a:p>
          <a:p>
            <a:pPr lvl="0"/>
            <a:r>
              <a:rPr/>
              <a:t>That row is one input x; its label y is </a:t>
            </a:r>
            <a:r>
              <a:rPr>
                <a:latin typeface="Courier"/>
              </a:rPr>
              <a:t>malignant</a:t>
            </a:r>
            <a:r>
              <a:rPr/>
              <a:t>, coded 0</a:t>
            </a:r>
          </a:p>
          <a:p>
            <a:pPr lvl="0"/>
            <a:r>
              <a:rPr/>
              <a:t>All 569 rows stacked is the design matrix X, 569 x 30</a:t>
            </a:r>
          </a:p>
          <a:p>
            <a:pPr lvl="0"/>
            <a:r>
              <a:rPr b="1"/>
              <a:t>m = 569 examples</a:t>
            </a:r>
            <a:r>
              <a:rPr/>
              <a:t> (rows), </a:t>
            </a:r>
            <a:r>
              <a:rPr b="1"/>
              <a:t>n = 30 features</a:t>
            </a:r>
            <a:r>
              <a:rPr/>
              <a:t> (columns), all course long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Making it precise</a:t>
            </a:r>
          </a:p>
        </p:txBody>
      </p:sp>
      <p:sp>
        <p:nvSpPr>
          <p:cNvPr id="3" name="Content Placeholder 2"/>
          <p:cNvSpPr>
            <a:spLocks noGrp="1"/>
          </p:cNvSpPr>
          <p:nvPr>
            <p:ph idx="1"/>
          </p:nvPr>
        </p:nvSpPr>
        <p:spPr>
          <a:xfrm>
            <a:off x="457200" y="1200151"/>
            <a:ext cx="8229600" cy="3394472"/>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setup, in one picture</a:t>
            </a:r>
          </a:p>
        </p:txBody>
      </p:sp>
      <p:pic>
        <p:nvPicPr>
          <p:cNvPr descr="learning_setup.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5" y="2913371"/>
            <a:ext cx="8229590" cy="859808"/>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782c661939.png" id="0" name="Picture 1"/>
          <p:cNvPicPr>
            <a:picLocks noGrp="1" noChangeAspect="1"/>
          </p:cNvPicPr>
          <p:nvPr/>
        </p:nvPicPr>
        <p:blipFill>
          <a:blip r:embed="rId3"/>
          <a:stretch>
            <a:fillRect/>
          </a:stretch>
        </p:blipFill>
        <p:spPr bwMode="auto">
          <a:xfrm>
            <a:off x="836214" y="2358217"/>
            <a:ext cx="7471572" cy="1970116"/>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48929" y="2160270"/>
            <a:ext cx="4246142" cy="236601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lowest training error is the worst model</a:t>
            </a:r>
          </a:p>
        </p:txBody>
      </p:sp>
      <p:pic>
        <p:nvPicPr>
          <p:cNvPr descr="overfitting.png" id="0" name="Picture 1"/>
          <p:cNvPicPr>
            <a:picLocks noGrp="1" noChangeAspect="1"/>
          </p:cNvPicPr>
          <p:nvPr/>
        </p:nvPicPr>
        <p:blipFill>
          <a:blip r:embed="rId3"/>
          <a:stretch>
            <a:fillRect/>
          </a:stretch>
        </p:blipFill>
        <p:spPr bwMode="auto">
          <a:xfrm>
            <a:off x="457200" y="1671439"/>
            <a:ext cx="8229600" cy="2349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write it</a:t>
            </a:r>
          </a:p>
          <a:p>
            <a:pPr lvl="0"/>
            <a:r>
              <a:rPr/>
              <a:t>The data is </a:t>
            </a:r>
            <a:r>
              <a:rPr b="1"/>
              <a:t>not representative</a:t>
            </a:r>
            <a:r>
              <a:rPr/>
              <a:t> of deployment</a:t>
            </a:r>
          </a:p>
          <a:p>
            <a:pPr lvl="0"/>
            <a:r>
              <a:rPr/>
              <a:t>Errors are </a:t>
            </a:r>
            <a:r>
              <a:rPr b="1"/>
              <a:t>certain, unrecoverable and unreviewed</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36774" y="2160270"/>
            <a:ext cx="7670451"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becomes a question you can settle by observation.</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36872" y="1723072"/>
            <a:ext cx="7270255"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38797" y="2160270"/>
            <a:ext cx="3866406" cy="236601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not by algorithm.</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answer is recorded by somebody, outside the measurements.</a:t>
            </a:r>
          </a:p>
          <a:p>
            <a:pPr lvl="0"/>
            <a:r>
              <a:rPr/>
              <a:t>Category → </a:t>
            </a:r>
            <a:r>
              <a:rPr b="1"/>
              <a:t>classification</a:t>
            </a:r>
          </a:p>
          <a:p>
            <a:pPr lvl="0"/>
            <a:r>
              <a:rPr/>
              <a:t>Continuous → </a:t>
            </a:r>
            <a:r>
              <a:rPr b="1"/>
              <a:t>regression</a:t>
            </a:r>
          </a:p>
          <a:p>
            <a:pPr lvl="0"/>
            <a:r>
              <a:rPr/>
              <a:t>The cultivar is not a measurement: it is an answer written down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95239"/>
            <a:ext cx="8229600" cy="25019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Where the answer comes from</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Recorded by somebody</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Nowhere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Part of 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b="1"/>
              <a:t>Supervised</a:t>
            </a:r>
            <a:r>
              <a:rPr/>
              <a:t>: predict the cultivar. Accuracy </a:t>
            </a:r>
            <a:r>
              <a:rPr b="1"/>
              <a:t>0.981</a:t>
            </a:r>
          </a:p>
          <a:p>
            <a:pPr lvl="0"/>
            <a:r>
              <a:rPr b="1"/>
              <a:t>Unsupervised</a:t>
            </a:r>
            <a:r>
              <a:rPr/>
              <a:t>: throw the labels away. Recovers the cultivars at </a:t>
            </a:r>
            <a:r>
              <a:rPr b="1"/>
              <a:t>0.897</a:t>
            </a:r>
          </a:p>
          <a:p>
            <a:pPr lvl="0"/>
            <a:r>
              <a:rPr b="1"/>
              <a:t>Self-supervised</a:t>
            </a:r>
            <a:r>
              <a:rPr/>
              <a:t>: hide </a:t>
            </a:r>
            <a:r>
              <a:rPr>
                <a:latin typeface="Courier"/>
              </a:rPr>
              <a:t>flavanoids</a:t>
            </a:r>
            <a:r>
              <a:rPr/>
              <a:t>, predict it. R² </a:t>
            </a:r>
            <a:r>
              <a:rPr b="1"/>
              <a:t>0.816</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question, a dataset, a split, a baseline, a model, and a number you can defend.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frame it</a:t>
            </a:r>
          </a:p>
        </p:txBody>
      </p:sp>
      <p:sp>
        <p:nvSpPr>
          <p:cNvPr id="3" name="Content Placeholder 2"/>
          <p:cNvSpPr>
            <a:spLocks noGrp="1"/>
          </p:cNvSpPr>
          <p:nvPr>
            <p:ph idx="1"/>
          </p:nvPr>
        </p:nvSpPr>
        <p:spPr>
          <a:xfrm>
            <a:off x="457200" y="1200151"/>
            <a:ext cx="8229600" cy="3394472"/>
          </a:xfrm>
        </p:spPr>
        <p:txBody>
          <a:bodyPr/>
          <a:lstStyle/>
          <a:p>
            <a:pPr lvl="0"/>
            <a:r>
              <a:rPr/>
              <a:t>What is predicted, from what?</a:t>
            </a:r>
          </a:p>
          <a:p>
            <a:pPr lvl="0"/>
            <a:r>
              <a:rPr/>
              <a:t>Who would use it, for what decision?</a:t>
            </a:r>
          </a:p>
          <a:p>
            <a:pPr lvl="0"/>
            <a:r>
              <a:rPr b="1"/>
              <a:t>Which error is worse?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error is worse?</a:t>
            </a:r>
          </a:p>
        </p:txBody>
      </p:sp>
      <p:pic>
        <p:nvPicPr>
          <p:cNvPr descr="error_costs.png" id="0" name="Picture 1"/>
          <p:cNvPicPr>
            <a:picLocks noGrp="1" noChangeAspect="1"/>
          </p:cNvPicPr>
          <p:nvPr/>
        </p:nvPicPr>
        <p:blipFill>
          <a:blip r:embed="rId3"/>
          <a:stretch>
            <a:fillRect/>
          </a:stretch>
        </p:blipFill>
        <p:spPr bwMode="auto">
          <a:xfrm>
            <a:off x="1350253" y="1166099"/>
            <a:ext cx="64434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look first</a:t>
            </a:r>
          </a:p>
        </p:txBody>
      </p:sp>
      <p:pic>
        <p:nvPicPr>
          <p:cNvPr descr="class_distribution.png" id="0" name="Picture 1"/>
          <p:cNvPicPr>
            <a:picLocks noGrp="1" noChangeAspect="1"/>
          </p:cNvPicPr>
          <p:nvPr/>
        </p:nvPicPr>
        <p:blipFill>
          <a:blip r:embed="rId3"/>
          <a:stretch>
            <a:fillRect/>
          </a:stretch>
        </p:blipFill>
        <p:spPr bwMode="auto">
          <a:xfrm>
            <a:off x="1960623" y="1166099"/>
            <a:ext cx="5222753"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62.9%</a:t>
            </a:r>
            <a:r>
              <a:rPr/>
              <a:t> on the test set</a:t>
            </a:r>
          </a:p>
          <a:p>
            <a:pPr lvl="0" indent="0" marL="0">
              <a:buNone/>
            </a:pPr>
            <a:r>
              <a:rPr/>
              <a:t>Everything from here is measured against that.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5: pipeline, not two steps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pipeline prevents</a:t>
            </a:r>
          </a:p>
        </p:txBody>
      </p:sp>
      <p:pic>
        <p:nvPicPr>
          <p:cNvPr descr="pipeline_versus_manual.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15720" y="1166099"/>
            <a:ext cx="3712559"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a:t>
            </a:r>
          </a:p>
        </p:txBody>
      </p:sp>
      <p:sp>
        <p:nvSpPr>
          <p:cNvPr id="3" name="Content Placeholder 2"/>
          <p:cNvSpPr>
            <a:spLocks noGrp="1"/>
          </p:cNvSpPr>
          <p:nvPr>
            <p:ph idx="1"/>
          </p:nvPr>
        </p:nvSpPr>
        <p:spPr>
          <a:xfrm>
            <a:off x="457200" y="1200151"/>
            <a:ext cx="8229600" cy="3394472"/>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trade-off, drawn</a:t>
            </a:r>
          </a:p>
        </p:txBody>
      </p:sp>
      <p:pic>
        <p:nvPicPr>
          <p:cNvPr descr="precision_recall_tradeoff.png" id="0" name="Picture 1"/>
          <p:cNvPicPr>
            <a:picLocks noGrp="1" noChangeAspect="1"/>
          </p:cNvPicPr>
          <p:nvPr/>
        </p:nvPicPr>
        <p:blipFill>
          <a:blip r:embed="rId3"/>
          <a:stretch>
            <a:fillRect/>
          </a:stretch>
        </p:blipFill>
        <p:spPr bwMode="auto">
          <a:xfrm>
            <a:off x="1016752" y="1166099"/>
            <a:ext cx="7110495"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Four failures, four plausible numbers, and not one bug among them.</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0284" y="1166099"/>
            <a:ext cx="5323432"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99% accuracy, detecting nothing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 one accuracy</a:t>
            </a:r>
          </a:p>
        </p:txBody>
      </p:sp>
      <p:pic>
        <p:nvPicPr>
          <p:cNvPr descr="imbalance_matrix.png" id="0" name="Picture 1"/>
          <p:cNvPicPr>
            <a:picLocks noGrp="1" noChangeAspect="1"/>
          </p:cNvPicPr>
          <p:nvPr/>
        </p:nvPicPr>
        <p:blipFill>
          <a:blip r:embed="rId3"/>
          <a:stretch>
            <a:fillRect/>
          </a:stretch>
        </p:blipFill>
        <p:spPr bwMode="auto">
          <a:xfrm>
            <a:off x="1123724" y="1166099"/>
            <a:ext cx="6896551"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Shortcut features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this value exist yet?</a:t>
            </a:r>
          </a:p>
        </p:txBody>
      </p:sp>
      <p:pic>
        <p:nvPicPr>
          <p:cNvPr descr="shortcut_timeline.png" id="0" name="Picture 1"/>
          <p:cNvPicPr>
            <a:picLocks noGrp="1" noChangeAspect="1"/>
          </p:cNvPicPr>
          <p:nvPr/>
        </p:nvPicPr>
        <p:blipFill>
          <a:blip r:embed="rId3"/>
          <a:stretch>
            <a:fillRect/>
          </a:stretch>
        </p:blipFill>
        <p:spPr bwMode="auto">
          <a:xfrm>
            <a:off x="457200" y="1538089"/>
            <a:ext cx="8229600" cy="2616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31376" y="1166099"/>
            <a:ext cx="6481247" cy="3360181"/>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week: data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Introduction and the ML Workflow</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