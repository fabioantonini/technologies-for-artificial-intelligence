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Establish the two facts that matter: this is a fundamentals course, and it assumes programming ability but no ML background. Ask for a show of hands: who has trained a model before? Usually a handful. Tell them that group has an advantage of about two lessons and a disadvantage that lasts longer, because they will have to unlearn some habits around evaluation.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That is the lesson about whether your results mean anything, and everything after it depends on it. Mention explicitly: no LLMs in this course, they belong to another module. Some will be disappointed; tell them the material here is what those systems are built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scikit-learn’s API from documentation in an afternoon. What takes a semester is knowing which number to trust. If they leave able to spot a broken evaluation in someone else’s work, the course succeeded.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minute on it. Within three weeks they will write thirty lines that give 95% accuracy on something. The hard question is whether it means anything. Say plainly: the most common failure in this field is not a bug, it is a number that was never valid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Point them at Assessment/ in the repository, and say the project brief is available today so they can start thinking about a dataset. Emphasise: methodology outweighs accuracy in every component. Two students with different scores can both get full marks; a spectacular score obtained by leaking the test set will not.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 Derivations are NOT on the slides — they are in the handout, to be read afterwards. In the room we do results, intuition and code. Tell them the exam draws on the handouts, so treating them as optional is a mistake.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Take ten minutes and make sure everyone has JupyterLab running before moving on - it is far cheaper to fix now than during lesson 3. New material arrives with </a:t>
            </a:r>
            <a:r>
              <a:rPr>
                <a:latin typeface="Courier"/>
              </a:rPr>
              <a:t>git pull</a:t>
            </a:r>
            <a:r>
              <a:rPr/>
              <a:t>, a few megabytes, not a new image. No API keys, no cloud accounts, no GPU: everything in this course runs on a laptop CPU, offline.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course’s real subject appears.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example conversationally. Ask the room for rules and write two or three on the board, then break each one. Get them to feel the frustration before offering the alternative. The point to land: the program is not hard to write, the RULE is impossible to state.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We stop specifying behaviour and start specifying examples of correct behaviour. Everything else in the course is machinery for doing that search well.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the full treatment is in handout section 2.1. The one thing to stress is that D is UNKNOWN and FIXED. Unknown is why we need data; fixed is an assumption that quietly fails in practice, and when it does, models degrade. Promise them we return to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Then deliver the punchline - we cannot compute it, because D is unknown. Pause there. This is the central obstacle of the field and everything else follows from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called empirical risk minimisation, and essentially every method in this course is an instance of it. Ask the room: what could go wrong with minimising this instead of the thing we actually want? Someone will get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A model that stores every training pair and recites answers has zero empirical risk and is useless. So performance on data you fitted to is always optimistic and sometimes meaningless. Everything about held-out data exists to estimate the number we cannot compute.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it is the only thing standing between them and a meaningless number. We will violate it deliberately later today and watch 77% accuracy appear out of pure noise.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Give the even-number example for the first, and say it is violated constantly because ML is the interesting option. For the fourth, note that a model is not neutral because it is mathematical - it is a compressed summary of the decisions in its training data. We return to this at the end.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the history section. The claim was philosophical as much as technical: thought might be computation. Weights were set by hand, nothing learned yet. Tell them the unit in lesson 9 is this unit with a smoother threshold - the history is not decoration, it is the same objects.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not the test. Turing replaced an unanswerable question with a measurable proxy. That is exactly what they do every time they choose a metric, and it carries the same obligation: stay aware of the gap between what you measure and what you mean. Recommend the paper - it is readable and funny.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it is unsolved. The optimism is not incidental - it is present at the field’s naming and it recurs on a cycle.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Stress the CONDITION on the theorem - “if linearly separable”. The theorem is true and the condition is doing heavy lifting. Then contrast with the press: the New York Times reported the Navy expected a machine that would walk, talk, see, write and reproduce itself.</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and let them see no line separates it. Then make the key point: the result applies to ONE LAYER. Multi-layer networks were known to be more expressive; what was missing was a way to train them. That distinction was lost, funding collapsed, and the field lost roughly fifteen years. In lesson 9 a hidden layer disposes of XOR in four lines.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technique had been derived before - Linnainmaa 1970, Werbos 1974 - without taking hold. Ideas need context as much as correctness. The second winter came in the early 90s: too little data, too little compute, and expert-system companies collapsing.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that it is where the reliable tools come from. It is unglamorous. It is also what actually gets deployed. Lessons 5, 6 and 7 are this period.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 What changed was DATA (1.2M labelled images) and COMPUTE (two consumer GPUs), plus details like ReLU and dropout. A conceptual advance would have been visible in 1989. This was a scaling result - and saying so is not a criticism, it is the key fact about the last decade.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Ask the room what belongs there. The professional skill is distinguishing a demonstrated result from an extrapolated promise - Rosenblatt’s theorem was true, “it will reproduce itself” was not, and both appeared in the same press cycle. Point them at Resources/history_of_ai.md for the full version with primary sources.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it is not about which algorithm you use. The same estimator can serve more than one setting, as they will see in notebook 02.</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Ask what the expensive part is - someone will say the labels. Confirm it: in practice labels, not algorithms and not compute, are what limits most real projects.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 The difficulty to plant now: there is no accuracy to report. The algorithm always returns groups, whether or not the data has any. Whether they mean something is a judgement about the domain and cannot be delegated to a metric.</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The reconstruction task is a PRETEXT: nobody wants a flavanoid predictor. Solving it forces the model to represent how the parts relate, and that transfers. Scale it up - hide a word, hide an image patch - and it is how modern large models are trained. Free supervision is why they scale.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through notebook 02 here, live. Same 178 wines in all three panels. Left: what the algorithm sees without labels. Middle: labels a person supplied. Right: groups found by geometry alone. Point out the cluster colours do not match the label colours - k-means numbers arbitrarily, and without labels there is nothing to align to. Warn them the high agreement here is a happy accident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it explains why self-supervision dominates where data is abundant and annotation is not. Then read the right-hand column and flag the trap: in two of three cases you cannot straightforwardly measure success at the thing you want.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This is the map for notebook 01, which we now work through live. Tell them to open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In the tumour example the two errors are not comparable: a false alarm costs anxiety and a follow-up test; a missed malignancy can cost a life. Ask the room which they would rather make. That answer determines the metric - and it must be fixed BEFORE seeing results, or it is chosen to flatter them.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 Get them to compute the consequence out loud: always answering “benign” is right 63% of the time. That is the bar any real model has to clear, and it is why the next step exists.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empirical/expected risk argument - this is that slide made operational. The moment anything from the test rows influences a decision, even computing a mean, the test set stops being unseen. Mention stratify: it keeps class proportions identical so the test set is a fair miniature.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With it, they can see the model is worth something. On the imbalanced example later, the baseline will be unbeatable on accuracy and useless - which is the lesson, not a curiosity.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 StandardScaler learns a mean and a standard deviation - it is part of the model, not preparation of the data. Inside a pipeline it learns them from the training fold every time. Done by hand, one day you scale on the full dataset and nothing warns you. Structure beating discipline.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Someone will say no. If nobody does, ask what 0.986 does not tell them. Then move to the confusion matrix - this is the pivot of the lesson.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 As a fraction it is 1 in 143 and vanishes into the accuracy figure. As a consequence it is a person sent home who should not have been. Say that sentence deliberately - it is the gap between a metric and what the metric stands for, and it is the most important idea today.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recall to 1.0 by flagging everything and precision collapses; demand precision and you miss cases. No single number resolves the trade-off, because the resolution is not mathematical - it is a question about consequences and belongs to the people who bear them. Lesson 4 builds the tools; today they just need to see the trade-off exists.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omission is a later lesson - name them: 5, 6-7, 5 again. Then land the last line: that discipline is the reason the 0.986 is worth anything at all.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none of these is a coding error. All four run exactly as written and return a number a reviewer, supervisor or customer would accept. This is the section they should remember in five years.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up carefully before revealing the result. Make sure they understand the data is pure noise by construction - no signal exists. Ask what accuracy they expect.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Explain the mechanism: with 5000 random features some correlate with the labels by chance, including the labels of rows that later become the test set. The selection encoded information about the test labels. Nobody wrote a bug. Then ask what happens with 20000 features - it gets WORSE, because there are more chances for a spurious correlation.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practical takeaway from the whole leakage section. Pipelines enforce it structurally. Tell them: if they remember one operational rule from today, this is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21 positives. On a problem where the positives are the entire reason the system exists. Accuracy is dominated by the class nobody is looking for.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the field is only populated after the diagnosis it is supposed to predict. At prediction time for a new patient it is empty. Then the key point - no metric detects this, including cross-validated ones, because the information genuinely is in the training data. Only knowing HOW THE DATA WAS RECORDED catches it. Ask them to imagine a hospital extract with 200 columns and no documentation.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seeds. Spread of 0.083 - larger than most claimed improvements between competing methods in the literature. Pick your favourite seed and report anything in that range; a reader cannot tell. A number quoted without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 Give them the question to carry: where did this number come from, what does it leave out, and would it still hold on data I have never touched?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If past decisions discriminated, a model fitted to them discriminates - with an appearance of objectivity that makes it harder to contest than a human decision would be. And a model can be highly accurate and completely wrong about why, which is why it fails abruptly when conditions change. Keep this short and serious; do not moralise.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do not let them leave without knowing it exists. Walk through the tasks briefly. Flag task 7 - repeat the split with ten seeds - as the one that connects to what they just saw. Remind them: scaling the full dataset before splitting loses the methodology marks regardless of the score. Also point them at the quiz and at the project brief, so they can start thinking about a dataset.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Offer to stay for setup problems. Tell them lesson 2 goes deeper into data preparation, and that the leakage they saw today was the simple version.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inversion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cannot state the rule. But you can </a:t>
            </a:r>
            <a:r>
              <a:rPr b="1"/>
              <a:t>recognise</a:t>
            </a:r>
            <a:r>
              <a:rPr/>
              <a:t> the answer.</a:t>
            </a:r>
          </a:p>
          <a:p>
            <a:pPr lvl="0" indent="0" marL="0">
              <a:buNone/>
            </a:pPr>
            <a:r>
              <a:rPr/>
              <a:t>So: supply examples, and let a procedure find a rule consistent with them.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22960"/>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46710"/>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22960"/>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181381"/>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that explains everything</a:t>
            </a:r>
          </a:p>
        </p:txBody>
      </p:sp>
      <p:sp>
        <p:nvSpPr>
          <p:cNvPr id="3" name="Content Placeholder 2"/>
          <p:cNvSpPr>
            <a:spLocks noGrp="1"/>
          </p:cNvSpPr>
          <p:nvPr>
            <p:ph idx="1"/>
          </p:nvPr>
        </p:nvSpPr>
        <p:spPr>
          <a:xfrm>
            <a:off x="457200" y="1200151"/>
            <a:ext cx="8229600" cy="3394472"/>
          </a:xfrm>
        </p:spPr>
        <p:txBody>
          <a:bodyPr/>
          <a:lstStyle/>
          <a:p>
            <a:pPr lvl="0"/>
            <a:r>
              <a:rPr/>
              <a:t>We </a:t>
            </a:r>
            <a:r>
              <a:rPr b="1"/>
              <a:t>minimise</a:t>
            </a:r>
            <a:r>
              <a:rPr/>
              <a:t> the empirical risk</a:t>
            </a:r>
          </a:p>
          <a:p>
            <a:pPr lvl="0"/>
            <a:r>
              <a:rPr/>
              <a:t>We </a:t>
            </a:r>
            <a:r>
              <a:rPr b="1"/>
              <a:t>care about</a:t>
            </a:r>
            <a:r>
              <a:rPr/>
              <a:t> the expected risk</a:t>
            </a:r>
          </a:p>
          <a:p>
            <a:pPr lvl="0"/>
            <a:r>
              <a:rPr/>
              <a:t>A flexible enough model drives the first to zero by memorising</a:t>
            </a:r>
          </a:p>
          <a:p>
            <a:pPr lvl="0" indent="0" marL="0">
              <a:buNone/>
            </a:pPr>
            <a:r>
              <a:rPr/>
              <a:t>That gap is </a:t>
            </a:r>
            <a:r>
              <a:rPr b="1"/>
              <a:t>overfitting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1943 — the first artificial neuron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McCulloch and Pitts: a neuron as a threshold unit.</a:t>
            </a:r>
          </a:p>
          <a:p>
            <a:pPr lvl="0" indent="0" marL="0">
              <a:buNone/>
            </a:pPr>
            <a:r>
              <a:rPr/>
              <a:t>Fires when the weighted sum of inputs passes a threshold.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1950 — Turing’s imitation game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“Can machines think?” — replaced by a question you can test by observation.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1956 — Dartmouth</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term </a:t>
            </a:r>
            <a:r>
              <a:rPr i="1"/>
              <a:t>artificial intelligence</a:t>
            </a:r>
            <a:r>
              <a:rPr/>
              <a:t> is coined.</a:t>
            </a:r>
          </a:p>
          <a:p>
            <a:pPr lvl="0" indent="0" marL="0">
              <a:buNone/>
            </a:pPr>
            <a:r>
              <a:rPr/>
              <a:t>The proposal: ten people, two months, significant progress.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1957 — the perceptron learns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Rosenblatt: weights adjusted </a:t>
            </a:r>
            <a:r>
              <a:rPr b="1"/>
              <a:t>from examples</a:t>
            </a:r>
            <a:r>
              <a:rPr/>
              <a:t>, not set by hand.</a:t>
            </a:r>
          </a:p>
          <a:p>
            <a:pPr lvl="0" indent="0" marL="0">
              <a:buNone/>
            </a:pPr>
            <a:r>
              <a:rPr/>
              <a:t>Convergence theorem: if the data is linearly separable, it will find a separator.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1969 — the first winter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Minsky and Papert: a single-layer perceptron cannot represent XOR.</a:t>
            </a:r>
          </a:p>
          <a:p>
            <a:pPr lvl="0" indent="0" marL="0">
              <a:buNone/>
            </a:pPr>
            <a:r>
              <a:rPr/>
              <a:t>Correct. And narrower than the reception suggested.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1986 — backpropagation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An efficient way to train multi-layer networks.</a:t>
            </a:r>
          </a:p>
          <a:p>
            <a:pPr lvl="0" indent="0" marL="0">
              <a:buNone/>
            </a:pPr>
            <a:r>
              <a:rPr/>
              <a:t>The 1969 objection is answered. A second winter follows anyway.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1995–2010 — statistics takes over</a:t>
            </a:r>
          </a:p>
        </p:txBody>
      </p:sp>
      <p:sp>
        <p:nvSpPr>
          <p:cNvPr id="3" name="Content Placeholder 2"/>
          <p:cNvSpPr>
            <a:spLocks noGrp="1"/>
          </p:cNvSpPr>
          <p:nvPr>
            <p:ph idx="1"/>
          </p:nvPr>
        </p:nvSpPr>
        <p:spPr>
          <a:xfrm>
            <a:off x="457200" y="1200151"/>
            <a:ext cx="8229600" cy="3394472"/>
          </a:xfrm>
        </p:spPr>
        <p:txBody>
          <a:bodyPr/>
          <a:lstStyle/>
          <a:p>
            <a:pPr lvl="0"/>
            <a:r>
              <a:rPr/>
              <a:t>Support vector machines, ensembles, probabilistic methods</a:t>
            </a:r>
          </a:p>
          <a:p>
            <a:pPr lvl="0"/>
            <a:r>
              <a:rPr/>
              <a:t>From “simulating intelligence” to “estimating functions from data”</a:t>
            </a:r>
          </a:p>
          <a:p>
            <a:pPr lvl="0" indent="0" marL="0">
              <a:buNone/>
            </a:pPr>
            <a:r>
              <a:rPr/>
              <a:t>A retreat in ambition. An advance in rigour.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2012 — AlexNet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ImageNet error: 26% → 15%.</a:t>
            </a:r>
          </a:p>
          <a:p>
            <a:pPr lvl="0" indent="0" marL="0">
              <a:buNone/>
            </a:pPr>
            <a:r>
              <a:rPr/>
              <a:t>The architecture was recognisably LeNet, from 1989.</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Self-supervised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Hide part of the input. Predict it from the rest.</a:t>
            </a:r>
          </a:p>
          <a:p>
            <a:pPr lvl="0" indent="0" marL="0">
              <a:buNone/>
            </a:pPr>
            <a:r>
              <a:rPr/>
              <a:t>Nobody annotates anything — and the supervision is real.</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sp>
        <p:nvSpPr>
          <p:cNvPr id="3" name="Content Placeholder 2"/>
          <p:cNvSpPr>
            <a:spLocks noGrp="1"/>
          </p:cNvSpPr>
          <p:nvPr>
            <p:ph idx="1"/>
          </p:nvPr>
        </p:nvSpPr>
        <p:spPr>
          <a:xfrm>
            <a:off x="457200" y="1200151"/>
            <a:ext cx="8229600" cy="3394472"/>
          </a:xfrm>
        </p:spPr>
        <p:txBody>
          <a:bodyPr/>
          <a:lstStyle/>
          <a:p>
            <a:pPr lvl="0" indent="-342900" marL="342900">
              <a:buAutoNum type="arabicPeriod"/>
            </a:pPr>
            <a:r>
              <a:rPr/>
              <a:t>Frame the problem</a:t>
            </a:r>
          </a:p>
          <a:p>
            <a:pPr lvl="0" indent="-342900" marL="342900">
              <a:buAutoNum type="arabicPeriod"/>
            </a:pPr>
            <a:r>
              <a:rPr/>
              <a:t>Inspect the data</a:t>
            </a:r>
          </a:p>
          <a:p>
            <a:pPr lvl="0" indent="-342900" marL="342900">
              <a:buAutoNum type="arabicPeriod"/>
            </a:pPr>
            <a:r>
              <a:rPr b="1"/>
              <a:t>Split</a:t>
            </a:r>
          </a:p>
          <a:p>
            <a:pPr lvl="0" indent="-342900" marL="342900">
              <a:buAutoNum type="arabicPeriod"/>
            </a:pPr>
            <a:r>
              <a:rPr/>
              <a:t>Baseline</a:t>
            </a:r>
          </a:p>
          <a:p>
            <a:pPr lvl="0" indent="-342900" marL="342900">
              <a:buAutoNum type="arabicPeriod"/>
            </a:pPr>
            <a:r>
              <a:rPr/>
              <a:t>Preprocess and model, in a pipeline</a:t>
            </a:r>
          </a:p>
          <a:p>
            <a:pPr lvl="0" indent="-342900" marL="342900">
              <a:buAutoNum type="arabicPeriod"/>
            </a:pPr>
            <a:r>
              <a:rPr/>
              <a:t>Evaluate with an honest metric</a:t>
            </a:r>
          </a:p>
          <a:p>
            <a:pPr lvl="0" indent="-342900" marL="342900">
              <a:buAutoNum type="arabicPeriod"/>
            </a:pPr>
            <a:r>
              <a:rPr/>
              <a:t>Diagnose</a:t>
            </a:r>
          </a:p>
          <a:p>
            <a:pPr lvl="0" indent="-342900" marL="342900">
              <a:buAutoNum type="arabicPeriod"/>
            </a:pPr>
            <a:r>
              <a:rPr/>
              <a:t>Iterate — with discipline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66916" y="1166099"/>
            <a:ext cx="5210168"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 split, before anything else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Before scaling. Before selecting features. Before looking at correlations with the target.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63%</a:t>
            </a:r>
          </a:p>
          <a:p>
            <a:pPr lvl="0" indent="0" marL="0">
              <a:buNone/>
            </a:pPr>
            <a:r>
              <a:rPr/>
              <a:t>Everything from here is measured against that.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29161" y="1166099"/>
            <a:ext cx="5285677"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2026-08-16T13:20:33Z</dcterms:created>
  <dcterms:modified xsi:type="dcterms:W3CDTF">2026-08-16T13:20:33Z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