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The exercises are not optional and they build towards the project: by lesson 5 they should be able to write their project’s evaluation plan, by lesson 7 to have a draft comparison.</a:t>
            </a:r>
          </a:p>
          <a:p>
            <a:pPr lvl="0" indent="0" marL="0">
              <a:buNone/>
            </a:pPr>
          </a:p>
          <a:p>
            <a:pPr lvl="0" indent="0" marL="0">
              <a:buNone/>
            </a:pPr>
            <a:r>
              <a:rPr/>
              <a:t>Point them at Assessment/ in the repository. The project brief is available today, so they can start thinking about a dataset - the topic must be confirmed by lesson 4.</a:t>
            </a:r>
          </a:p>
          <a:p>
            <a:pPr lvl="0" indent="0" marL="0">
              <a:buNone/>
            </a:pPr>
          </a:p>
          <a:p>
            <a:pPr lvl="0" indent="0" marL="0">
              <a:buNone/>
            </a:pPr>
            <a:r>
              <a:rPr/>
              <a:t>Emphasise the principle that runs through all three components: methodology outweighs accuracy. Two students with different scores can both earn full marks. A spectacular score obtained by leaking the test set will not - the rubric caps methodology marks at 40% for that, and today’s third notebook shows exactly why.</a:t>
            </a:r>
          </a:p>
          <a:p>
            <a:pPr lvl="0" indent="0" marL="0">
              <a:buNone/>
            </a:pPr>
          </a:p>
          <a:p>
            <a:pPr lvl="0" indent="0" marL="0">
              <a:buNone/>
            </a:pPr>
            <a:r>
              <a:rPr/>
              <a:t>The exam is closed book and drawn from the handouts, including the derivations. Say this now so nobody treats the handouts as optional reading.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multi-gigabyte image. The image only changes if the libraries change, and they will be told when that happens.</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a:p>
            <a:pPr lvl="0" indent="0" marL="0">
              <a:buNone/>
            </a:pPr>
          </a:p>
          <a:p>
            <a:pPr lvl="0" indent="0" marL="0">
              <a:buNone/>
            </a:pPr>
            <a:r>
              <a:rPr/>
              <a:t>Point at the dashed box. Three of these objects we handle directly - the inputs, the function we search for, the predictions. The fourth, the distribution the data comes from, we never see. Everything difficult in this course comes from that one box being out of reach.</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 Then say what is unknown - D is unknown, and it is the only thing we actually care about.</a:t>
            </a:r>
          </a:p>
          <a:p>
            <a:pPr lvl="0" indent="0" marL="0">
              <a:buNone/>
            </a:pPr>
          </a:p>
          <a:p>
            <a:pPr lvl="0" indent="0" marL="0">
              <a:buNone/>
            </a:pPr>
            <a:r>
              <a:rPr/>
              <a:t>Worth naming now, because it returns in lesson 5: we never see D. We see a sample from it,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01: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(the standard error falls as one over root n), a bigger training set gives a better model. Give them the concrete number from notebook 01: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96.5%.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learned models are wrong sometimes, in ways that are hard to predict and often hard to explain. If a mistake is unrecoverable and nobody reviews the output, the question is not whether accuracy is high enough but whether anyone can tell when it has failed.</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Say the formal point first, because it is one sentence and it settles the taxonomy: y is manufactured from x, so everything from the first hour applies unchanged - same expected risk, same empirical risk, same gap, same reason to hold data out. The only thing that changed is that the labels became free.</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a:p>
            <a:pPr lvl="0" indent="0" marL="0">
              <a:buNone/>
            </a:pPr>
          </a:p>
          <a:p>
            <a:pPr lvl="0" indent="0" marL="0">
              <a:buNone/>
            </a:pPr>
            <a:r>
              <a:rPr/>
              <a:t>Two of these cells are fine and two are not, and the two failures are not the same size. Accuracy adds them up as if they were. Ask which cell they would accept more of - and note that answering requires knowing who bears the cost, which is not a question about data.</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problems, the same confusion matrix, and opposite answers about which cell hurts.</a:t>
            </a:r>
          </a:p>
          <a:p>
            <a:pPr lvl="0" indent="0" marL="0">
              <a:buNone/>
            </a:pPr>
          </a:p>
          <a:p>
            <a:pPr lvl="0" indent="0" marL="0">
              <a:buNone/>
            </a:pPr>
            <a:r>
              <a:rPr/>
              <a:t>Ask the room before reading either side. Missing a malignant tumour versus raising a false alarm; blocking a legitimate email versus letting spam through. Nobody needs statistics to rank these, and that is the point -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a:p>
            <a:pPr lvl="0" indent="0" marL="0">
              <a:buNone/>
            </a:pPr>
          </a:p>
          <a:p>
            <a:pPr lvl="0" indent="0" marL="0">
              <a:buNone/>
            </a:pPr>
            <a:r>
              <a:rPr/>
              <a:t>The top row is the mistake, and note where ‘split’ sits: after the scaling. The mean used to scale the training rows was computed with the test rows included. Nothing errors, nothing warns, and the score comes out slightly too good - which is the worst kind of bug, because there is nothing to debug.</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figure to make the trade-off physical: the threshold is a line you slide, and sliding it moves errors from one column to the other.</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model, one dataset, and the threshold swept from one end to the other.</a:t>
            </a:r>
          </a:p>
          <a:p>
            <a:pPr lvl="0" indent="0" marL="0">
              <a:buNone/>
            </a:pPr>
          </a:p>
          <a:p>
            <a:pPr lvl="0" indent="0" marL="0">
              <a:buNone/>
            </a:pPr>
            <a:r>
              <a:rPr/>
              <a:t>Follow the two curves in opposite directions. Lower the threshold and recall rises - we catch more of what is there - while precision falls, because more of what we flag is wrong. There is no setting where both are at their best, and no amount of better modelling removes the trade.</a:t>
            </a:r>
          </a:p>
          <a:p>
            <a:pPr lvl="0" indent="0" marL="0">
              <a:buNone/>
            </a:pPr>
          </a:p>
          <a:p>
            <a:pPr lvl="0" indent="0" marL="0">
              <a:buNone/>
            </a:pPr>
            <a:r>
              <a:rPr/>
              <a:t>So the question of whether a model is good has no answer until somebody says which error is worse, which is the slide from earlier arriving again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a:p>
            <a:pPr lvl="0" indent="0" marL="0">
              <a:buNone/>
            </a:pPr>
          </a:p>
          <a:p>
            <a:pPr lvl="0" indent="0" marL="0">
              <a:buNone/>
            </a:pPr>
            <a:r>
              <a:rPr/>
              <a:t>Read the bottom-left cell in both matrices: 21 missed, then 20 missed. The accuracies differ by one thousandth. If you reported only accuracy, these two systems look identical - and one of them is a constant function that never looks at the input.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a:p>
            <a:pPr lvl="0" indent="0" marL="0">
              <a:buNone/>
            </a:pPr>
          </a:p>
          <a:p>
            <a:pPr lvl="0" indent="0" marL="0">
              <a:buNone/>
            </a:pPr>
            <a:r>
              <a:rPr/>
              <a:t>The shaded region is the trap. Everything to the right of the blue marker happens after the moment a prediction is needed, so none of it can be an input. Give them the question in the title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to the exam - and at the project brief, so they can start thinking about a dataset. Topic confirmed by lesson 4.</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 Id="rId3"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0.xml"/><Relationship Id="rId3" Type="http://schemas.openxmlformats.org/officeDocument/2006/relationships/image" Target="../media/image2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2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3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 set every Friday, due the next</a:t>
            </a:r>
          </a:p>
          <a:p>
            <a:pPr lvl="0"/>
            <a:r>
              <a:rPr b="1"/>
              <a:t>Final project</a:t>
            </a:r>
            <a:r>
              <a:rPr/>
              <a:t> — an end-to-end study, with peer review</a:t>
            </a:r>
          </a:p>
          <a:p>
            <a:pPr lvl="0"/>
            <a:r>
              <a:rPr b="1"/>
              <a:t>Written exam</a:t>
            </a:r>
            <a:r>
              <a:rPr/>
              <a:t> — closed book, drawn from the handouts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 the reference text, with the mathematics</a:t>
            </a:r>
          </a:p>
          <a:p>
            <a:pPr lvl="0"/>
            <a:r>
              <a:rPr b="1"/>
              <a:t>Slides</a:t>
            </a:r>
            <a:r>
              <a:rPr/>
              <a:t> — what we do in the room</a:t>
            </a:r>
          </a:p>
          <a:p>
            <a:pPr lvl="0"/>
            <a:r>
              <a:rPr b="1"/>
              <a:t>Notebooks</a:t>
            </a:r>
            <a:r>
              <a:rPr/>
              <a:t> —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https://github.com/fabioantonini/</a:t>
            </a:r>
            <a:r>
              <a:rPr>
                <a:solidFill>
                  <a:srgbClr val="902000"/>
                </a:solidFill>
                <a:latin typeface="Courier"/>
              </a:rPr>
              <a:t>\</a:t>
            </a:r>
            <a:br/>
            <a:r>
              <a:rPr>
                <a:latin typeface="Courier"/>
              </a:rPr>
              <a:t>technologies-for-artificial-intelligence.git</a:t>
            </a:r>
            <a:br/>
            <a:r>
              <a:rPr>
                <a:solidFill>
                  <a:srgbClr val="008000"/>
                </a:solidFill>
                <a:latin typeface="Courier"/>
              </a:rPr>
              <a:t>cd</a:t>
            </a:r>
            <a:r>
              <a:rPr>
                <a:latin typeface="Courier"/>
              </a:rPr>
              <a:t> technologies-for-artificial-intelligence</a:t>
            </a:r>
            <a:br/>
            <a:r>
              <a:rPr>
                <a:latin typeface="Courier"/>
              </a:rPr>
              <a:t>docker compose up</a:t>
            </a:r>
          </a:p>
          <a:p>
            <a:pPr lvl="0" indent="0" marL="0">
              <a:buNone/>
            </a:pPr>
            <a:r>
              <a:rPr/>
              <a:t>Then </a:t>
            </a:r>
            <a:r>
              <a:rPr>
                <a:latin typeface="Courier"/>
              </a:rPr>
              <a:t>http://127.0.0.1:8888/lab?token=aicourse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2" y="2872427"/>
            <a:ext cx="8229595" cy="941695"/>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457202" y="2227571"/>
            <a:ext cx="8229596" cy="22314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idea, on real data</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 write it</a:t>
            </a:r>
          </a:p>
          <a:p>
            <a:pPr lvl="0"/>
            <a:r>
              <a:rPr/>
              <a:t>The data is </a:t>
            </a:r>
            <a:r>
              <a:rPr b="1"/>
              <a:t>not representative</a:t>
            </a:r>
            <a:r>
              <a:rPr/>
              <a:t> of deployment</a:t>
            </a:r>
          </a:p>
          <a:p>
            <a:pPr lvl="0"/>
            <a:r>
              <a:rPr/>
              <a:t>Errors are </a:t>
            </a:r>
            <a:r>
              <a:rPr b="1"/>
              <a:t>catastrophic and unexplainable</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 replaced by something observable.</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96158" y="1723072"/>
            <a:ext cx="6551683" cy="2803208"/>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 not by algorithm.</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82539"/>
            <a:ext cx="8229600" cy="2527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 look first</a:t>
            </a:r>
          </a:p>
        </p:txBody>
      </p:sp>
      <p:pic>
        <p:nvPicPr>
          <p:cNvPr descr="class_distribution.png" id="0" name="Picture 1"/>
          <p:cNvPicPr>
            <a:picLocks noGrp="1" noChangeAspect="1"/>
          </p:cNvPicPr>
          <p:nvPr/>
        </p:nvPicPr>
        <p:blipFill>
          <a:blip r:embed="rId3"/>
          <a:stretch>
            <a:fillRect/>
          </a:stretch>
        </p:blipFill>
        <p:spPr bwMode="auto">
          <a:xfrm>
            <a:off x="1973208" y="1166099"/>
            <a:ext cx="5197583"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82572" y="1166099"/>
            <a:ext cx="7978856"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22013" y="1166099"/>
            <a:ext cx="3699974"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11139" y="1166099"/>
            <a:ext cx="6921721" cy="3360181"/>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43961" y="1166099"/>
            <a:ext cx="6456078" cy="3360181"/>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data —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 Introduction and the ML Workflow</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