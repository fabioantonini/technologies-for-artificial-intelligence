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API key, a cloud account or a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writing the exam questions after reading the students’ answers. Nobody cheated - you let the answers influence the question.</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(the standard error falls as one over root n), a bigger training set gives a better model. Give them the concrete number from notebook 01: 143 test examples at 0.986 accuracy carries a standard error of about one percentage point, so the third decimal place is noise.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there is no accuracy to report. The algorithm ALWAYS returns clusters, whether or not the data contains any groups. Whether they mean something is a judgement about the domain and cannot be delegated to a metric.</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 Id="rId3"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8.xml"/><Relationship Id="rId3"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SVM,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 problem you cannot specify</a:t>
            </a:r>
          </a:p>
        </p:txBody>
      </p:sp>
      <p:sp>
        <p:nvSpPr>
          <p:cNvPr id="4" name="Text Placeholder 3"/>
          <p:cNvSpPr>
            <a:spLocks noGrp="1"/>
          </p:cNvSpPr>
          <p:nvPr>
            <p:ph idx="2" sz="half" type="body"/>
          </p:nvPr>
        </p:nvSpPr>
        <p:spPr>
          <a:xfrm>
            <a:off x="457200" y="1183005"/>
            <a:ext cx="8229600" cy="2185987"/>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pic>
        <p:nvPicPr>
          <p:cNvPr descr="spam_rules.png" id="0" name="Picture 1"/>
          <p:cNvPicPr>
            <a:picLocks noGrp="1" noChangeAspect="1"/>
          </p:cNvPicPr>
          <p:nvPr/>
        </p:nvPicPr>
        <p:blipFill>
          <a:blip r:embed="rId3"/>
          <a:stretch>
            <a:fillRect/>
          </a:stretch>
        </p:blipFill>
        <p:spPr bwMode="auto">
          <a:xfrm>
            <a:off x="3130245" y="3471862"/>
            <a:ext cx="2883510" cy="105441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Making it precise</a:t>
            </a:r>
          </a:p>
        </p:txBody>
      </p:sp>
      <p:sp>
        <p:nvSpPr>
          <p:cNvPr id="4" name="Text Placeholder 3"/>
          <p:cNvSpPr>
            <a:spLocks noGrp="1"/>
          </p:cNvSpPr>
          <p:nvPr>
            <p:ph idx="2" sz="half" type="body"/>
          </p:nvPr>
        </p:nvSpPr>
        <p:spPr>
          <a:xfrm>
            <a:off x="457200" y="1183005"/>
            <a:ext cx="8229600" cy="2185987"/>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pic>
        <p:nvPicPr>
          <p:cNvPr descr="learning_setup.png" id="0" name="Picture 1"/>
          <p:cNvPicPr>
            <a:picLocks noGrp="1" noChangeAspect="1"/>
          </p:cNvPicPr>
          <p:nvPr/>
        </p:nvPicPr>
        <p:blipFill>
          <a:blip r:embed="rId3"/>
          <a:stretch>
            <a:fillRect/>
          </a:stretch>
        </p:blipFill>
        <p:spPr bwMode="auto">
          <a:xfrm>
            <a:off x="2978481" y="3471862"/>
            <a:ext cx="3187037" cy="1054418"/>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207099"/>
            <a:ext cx="8229599" cy="2272352"/>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1 — frame it</a:t>
            </a:r>
          </a:p>
        </p:txBody>
      </p:sp>
      <p:sp>
        <p:nvSpPr>
          <p:cNvPr id="4" name="Text Placeholder 3"/>
          <p:cNvSpPr>
            <a:spLocks noGrp="1"/>
          </p:cNvSpPr>
          <p:nvPr>
            <p:ph idx="2" sz="half" type="body"/>
          </p:nvPr>
        </p:nvSpPr>
        <p:spPr>
          <a:xfrm>
            <a:off x="457200" y="1183005"/>
            <a:ext cx="8229600" cy="1311592"/>
          </a:xfrm>
        </p:spPr>
        <p:txBody>
          <a:bodyPr/>
          <a:lstStyle/>
          <a:p>
            <a:pPr lvl="0"/>
            <a:r>
              <a:rPr/>
              <a:t>What is predicted, from what?</a:t>
            </a:r>
          </a:p>
          <a:p>
            <a:pPr lvl="0"/>
            <a:r>
              <a:rPr/>
              <a:t>Who would use it, for what decision?</a:t>
            </a:r>
          </a:p>
          <a:p>
            <a:pPr lvl="0"/>
            <a:r>
              <a:rPr b="1"/>
              <a:t>Which error is worse?</a:t>
            </a:r>
          </a:p>
        </p:txBody>
      </p:sp>
      <p:pic>
        <p:nvPicPr>
          <p:cNvPr descr="error_costs.png" id="0" name="Picture 1"/>
          <p:cNvPicPr>
            <a:picLocks noGrp="1" noChangeAspect="1"/>
          </p:cNvPicPr>
          <p:nvPr/>
        </p:nvPicPr>
        <p:blipFill>
          <a:blip r:embed="rId3"/>
          <a:stretch>
            <a:fillRect/>
          </a:stretch>
        </p:blipFill>
        <p:spPr bwMode="auto">
          <a:xfrm>
            <a:off x="2734600" y="2597467"/>
            <a:ext cx="3674800" cy="1928813"/>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5 — pipeline, not two steps</a:t>
            </a:r>
          </a:p>
        </p:txBody>
      </p:sp>
      <p:sp>
        <p:nvSpPr>
          <p:cNvPr id="4" name="Text Placeholder 3"/>
          <p:cNvSpPr>
            <a:spLocks noGrp="1"/>
          </p:cNvSpPr>
          <p:nvPr>
            <p:ph idx="2" sz="half" type="body"/>
          </p:nvPr>
        </p:nvSpPr>
        <p:spPr>
          <a:xfrm>
            <a:off x="457200" y="1183005"/>
            <a:ext cx="8229600" cy="131159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pic>
        <p:nvPicPr>
          <p:cNvPr descr="pipeline_versus_manual.png" id="0" name="Picture 1"/>
          <p:cNvPicPr>
            <a:picLocks noGrp="1" noChangeAspect="1"/>
          </p:cNvPicPr>
          <p:nvPr/>
        </p:nvPicPr>
        <p:blipFill>
          <a:blip r:embed="rId3"/>
          <a:stretch>
            <a:fillRect/>
          </a:stretch>
        </p:blipFill>
        <p:spPr bwMode="auto">
          <a:xfrm>
            <a:off x="2291462" y="2597467"/>
            <a:ext cx="4561075" cy="1928813"/>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Precision and recall</a:t>
            </a:r>
          </a:p>
        </p:txBody>
      </p:sp>
      <p:sp>
        <p:nvSpPr>
          <p:cNvPr id="4" name="Text Placeholder 3"/>
          <p:cNvSpPr>
            <a:spLocks noGrp="1"/>
          </p:cNvSpPr>
          <p:nvPr>
            <p:ph idx="2" sz="half" type="body"/>
          </p:nvPr>
        </p:nvSpPr>
        <p:spPr>
          <a:xfrm>
            <a:off x="457200" y="1183005"/>
            <a:ext cx="8229600" cy="1748790"/>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pic>
        <p:nvPicPr>
          <p:cNvPr descr="precision_recall_tradeoff.png" id="0" name="Picture 1"/>
          <p:cNvPicPr>
            <a:picLocks noGrp="1" noChangeAspect="1"/>
          </p:cNvPicPr>
          <p:nvPr/>
        </p:nvPicPr>
        <p:blipFill>
          <a:blip r:embed="rId3"/>
          <a:stretch>
            <a:fillRect/>
          </a:stretch>
        </p:blipFill>
        <p:spPr bwMode="auto">
          <a:xfrm>
            <a:off x="3130584" y="3034665"/>
            <a:ext cx="2882832" cy="1491615"/>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99% accuracy, detecting nothing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pic>
        <p:nvPicPr>
          <p:cNvPr descr="imbalance_matrix.png" id="0" name="Picture 1"/>
          <p:cNvPicPr>
            <a:picLocks noGrp="1" noChangeAspect="1"/>
          </p:cNvPicPr>
          <p:nvPr/>
        </p:nvPicPr>
        <p:blipFill>
          <a:blip r:embed="rId3"/>
          <a:stretch>
            <a:fillRect/>
          </a:stretch>
        </p:blipFill>
        <p:spPr bwMode="auto">
          <a:xfrm>
            <a:off x="2583839" y="2597467"/>
            <a:ext cx="3976322" cy="1928813"/>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Shortcut features</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pic>
        <p:nvPicPr>
          <p:cNvPr descr="shortcut_timeline.png" id="0" name="Picture 1"/>
          <p:cNvPicPr>
            <a:picLocks noGrp="1" noChangeAspect="1"/>
          </p:cNvPicPr>
          <p:nvPr/>
        </p:nvPicPr>
        <p:blipFill>
          <a:blip r:embed="rId3"/>
          <a:stretch>
            <a:fillRect/>
          </a:stretch>
        </p:blipFill>
        <p:spPr bwMode="auto">
          <a:xfrm>
            <a:off x="2247856" y="3034665"/>
            <a:ext cx="4648288" cy="1491615"/>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2026-08-16T18:28:02Z</dcterms:created>
  <dcterms:modified xsi:type="dcterms:W3CDTF">2026-08-16T18:28:02Z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