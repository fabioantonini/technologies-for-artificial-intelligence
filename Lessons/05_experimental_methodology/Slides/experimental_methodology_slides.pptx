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 ran over two Fridays: on 30 October it reached its slide 42, so this Friday opens with its remaining slides, about forty-five minutes, from its slide 43 to its homework slide, where exercise 4 is set officially. Its optional slides (55, 58 to 60) can be skipped.</a:t>
            </a:r>
          </a:p>
          <a:p>
            <a:pPr lvl="0" indent="0" marL="0">
              <a:buNone/>
            </a:pPr>
          </a:p>
          <a:p>
            <a:pPr lvl="0" indent="0" marL="0">
              <a:buNone/>
            </a:pPr>
            <a:r>
              <a:rPr/>
              <a:t>Lesson 5 then has about two hours and a quarter instead of three. Nothing is cut from the material: the slides marked (optional) - 16 and 17, 27 and 28, 42 and 43 - and notebook 2 are left for self-study, and the handout covers them all. Say so at the start, so nobody thinks they missed something.</a:t>
            </a:r>
          </a:p>
          <a:p>
            <a:pPr lvl="0" indent="0" marL="0">
              <a:buNone/>
            </a:pPr>
          </a:p>
          <a:p>
            <a:pPr lvl="0" indent="0" marL="0">
              <a:buNone/>
            </a:pPr>
            <a:r>
              <a:rPr/>
              <a:t>Exercises 4 and 5 are both discussed at the start of lesson 6, Friday 13 November. Students have already loaded exercise 4’s data and fitted a logistic regression, so the two together are a fair week’s work.</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40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model is lesson 4’s, unchanged: scaled features, logistic regression, scored by AUC on a stratified 75/25 split - the In code line names each piece.</a:t>
            </a:r>
          </a:p>
          <a:p>
            <a:pPr lvl="0" indent="0" marL="0">
              <a:buNone/>
            </a:pPr>
          </a:p>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slide, because every choice in the rest of the lesson is a choice of one of these, and the word has been used loosely since lesson 2.</a:t>
            </a:r>
          </a:p>
          <a:p>
            <a:pPr lvl="0" indent="0" marL="0">
              <a:buNone/>
            </a:pPr>
          </a:p>
          <a:p>
            <a:pPr lvl="0" indent="0" marL="0">
              <a:buNone/>
            </a:pPr>
            <a:r>
              <a:rPr/>
              <a:t>Parameters are what the fit estimates: coefficients and intercept. Hyperparameters are what it does not - lesson 3’s penalty, lesson 6’s neighbours, lesson 7’s tree depth, and lesson 4’s threshold.</a:t>
            </a:r>
          </a:p>
          <a:p>
            <a:pPr lvl="0" indent="0" marL="0">
              <a:buNone/>
            </a:pPr>
          </a:p>
          <a:p>
            <a:pPr lvl="0" indent="0" marL="0">
              <a:buNone/>
            </a:pPr>
            <a:r>
              <a:rPr/>
              <a:t>Third bullet is worth a sentence, because the obvious shorthand is wrong and a sharp student will catch it. “Fixed before the fit” is true of the penalty, which sits inside the cost being minimised, and false of the threshold, which is chosen afterwards on probabilities the fit has already produced. What they share is not timing: it is that neither is estimated the way a coefficient is.</a:t>
            </a:r>
          </a:p>
          <a:p>
            <a:pPr lvl="0" indent="0" marL="0">
              <a:buNone/>
            </a:pPr>
          </a:p>
          <a:p>
            <a:pPr lvl="0" indent="0" marL="0">
              <a:buNone/>
            </a:pPr>
            <a:r>
              <a:rPr/>
              <a:t>Then the sentence that makes the distinction matter rather than taxonomic: you cannot estimate a hyperparameter by minimising training error, because that objective already knows its favourite answer - no penalty at all, the biggest tree available, a threshold tuned to the rows already seen. So the only way to choose one is to compare, and comparison needs data the model has not seen. That is what the rest of today is about, and why it costs what it costs.</a:t>
            </a:r>
          </a:p>
          <a:p>
            <a:pPr lvl="0" indent="0" marL="0">
              <a:buNone/>
            </a:pPr>
          </a:p>
          <a:p>
            <a:pPr lvl="0" indent="0" marL="0">
              <a:buNone/>
            </a:pPr>
            <a:r>
              <a:rPr/>
              <a:t>Last bullet is the trap in the next table: C is the reciprocal of the penalty, so C = 0.01 is the most heavily regularised of the three, not the least.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Remind them of the reciprocal as they read the first column: the top row, C = 0.01, is the most heavily penalised model, not the least.</a:t>
            </a:r>
          </a:p>
          <a:p>
            <a:pPr lvl="0" indent="0" marL="0">
              <a:buNone/>
            </a:pPr>
          </a:p>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Say what was done first, since the title only hints at it: 200 splits, the three models scored on each, and on each split the one with the highest AUC declared best.</a:t>
            </a:r>
          </a:p>
          <a:p>
            <a:pPr lvl="0" indent="0" marL="0">
              <a:buNone/>
            </a:pPr>
          </a:p>
          <a:p>
            <a:pPr lvl="0" indent="0" marL="0">
              <a:buNone/>
            </a:pPr>
            <a:r>
              <a:rPr/>
              <a:t>Read the first column, then the last. The three models are the SAME: their mean AUCs differ by at most 0.0005, about fifty times less than the standard deviation of a single measurement, 0.024.</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which part is held out. Cut the data into k parts, train on k-1, score on the one left out - the validation fold - and repeat until every part has been the validation fold exactly once.</a:t>
            </a:r>
          </a:p>
          <a:p>
            <a:pPr lvl="0" indent="0" marL="0">
              <a:buNone/>
            </a:pPr>
          </a:p>
          <a:p>
            <a:pPr lvl="0" indent="0" marL="0">
              <a:buNone/>
            </a:pPr>
            <a:r>
              <a:rPr/>
              <a:t>Say why it is labelled validation and not test, because the code will contradict the slide. Lesson 1’s three roles: training fits, validation chooses, test reports once. This block is scored k times and, by the end of the lesson, is what a search chooses on. scikit-learn calls it test - test_index, mean_test_score - and there the word means only “not used to fit this fold’s model”, never the test set reported once. Handout section 4.1.</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 the standard deviation of the fold scores divided by the square root of the number of folds -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Optional on 6 November: skip in class if time is short, and say it is left for self-study, with the handout.</a:t>
            </a:r>
          </a:p>
          <a:p>
            <a:pPr lvl="0" indent="0" marL="0">
              <a:buNone/>
            </a:pPr>
          </a:p>
          <a:p>
            <a:pPr lvl="0" indent="0" marL="0">
              <a:buNone/>
            </a:pPr>
            <a:r>
              <a:rPr/>
              <a:t>Forty seeds, changing nothing but the seed. Cross-validation has a seed of its own - shuffle differently and the folds change - so it reduces the variance of the estimate, it does not abolish it.</a:t>
            </a:r>
          </a:p>
          <a:p>
            <a:pPr lvl="0" indent="0" marL="0">
              <a:buNone/>
            </a:pPr>
          </a:p>
          <a:p>
            <a:pPr lvl="0" indent="0" marL="0">
              <a:buNone/>
            </a:pPr>
            <a:r>
              <a:rPr/>
              <a:t>The range, best minus worst, falls from 0.0881 to 0.0149, and the standard deviation by a factor of about seven (0.0221 to 0.0032). Say which one “seven” refers to: a student who divides the two ranges on the slide gets six, and will ask.</a:t>
            </a:r>
          </a:p>
          <a:p>
            <a:pPr lvl="0" indent="0" marL="0">
              <a:buNone/>
            </a:pPr>
          </a:p>
          <a:p>
            <a:pPr lvl="0" indent="0" marL="0">
              <a:buNone/>
            </a:pPr>
            <a:r>
              <a:rPr/>
              <a:t>Then the centres, because someone will have noticed in notebook 1 that cross-validation came out lower: 0.953 against 0.960. That gap is about two standard errors on forty draws, and with a different forty seeds it reverses sign. So cross-validation is neither more optimistic nor more pessimistic here - it is less arbitrary. The histogram with both on the same bins is in notebook 1 and in handout section 4.7.</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subject of slides 32 to 39.</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Optional on 6 November: skip in class if time is short, and say it is left for self-study, with the handout.</a:t>
            </a:r>
          </a:p>
          <a:p>
            <a:pPr lvl="0" indent="0" marL="0">
              <a:buNone/>
            </a:pPr>
          </a:p>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notebook’s map: each section, the calls it makes, the slides that introduced the idea, and the number to come back with.</a:t>
            </a:r>
          </a:p>
          <a:p>
            <a:pPr lvl="0" indent="0" marL="0">
              <a:buNone/>
            </a:pPr>
          </a:p>
          <a:p>
            <a:pPr lvl="0" indent="0" marL="0">
              <a:buNone/>
            </a:pPr>
            <a:r>
              <a:rPr/>
              <a:t>Run notebook 01. Fifteen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 and say first that the data changes: lesson 3’s energy-against-temperature curve comes back, because here we need the true curve, and we built it ourselves. Each training set is 25 days, the noise has a standard deviation of 22 kWh, and we draw 300 such training sets.</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The symbols: y is a new observation, f-hat the model’s prediction for it, sigma squared the noise variance; the expectation averages over the training sets and the noise. Notebook 2 checks it on 300 independently drawn training sets and the two sides agree to 2.7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 point at the column and say that it never moves, because it is a property of the data and not of the model.</a:t>
            </a:r>
          </a:p>
          <a:p>
            <a:pPr lvl="0" indent="0" marL="0">
              <a:buNone/>
            </a:pPr>
          </a:p>
          <a:p>
            <a:pPr lvl="0" indent="0" marL="0">
              <a:buNone/>
            </a:pPr>
            <a:r>
              <a:rPr/>
              <a:t>Degree 1 is a bias problem: bias² of 5,250, two orders of magnitude above the next row. Stable in shape and wrong everywhere.</a:t>
            </a:r>
          </a:p>
          <a:p>
            <a:pPr lvl="0" indent="0" marL="0">
              <a:buNone/>
            </a:pPr>
          </a:p>
          <a:p>
            <a:pPr lvl="0" indent="0" marL="0">
              <a:buNone/>
            </a:pPr>
            <a:r>
              <a:rPr/>
              <a:t>Do not say it has the smallest variance - it does not, 723.8 against degree 2’s 70.8, and it is on the slide. Every universe draws its own 25 temperatures, and a straight line that cannot follow the curve pivots according to where they fell. Handout section 5.3 measures what happens when the temperatures are held fixed instead: the variance column then climbs from the first row.</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picture, and the one place where the classic picture is usually drawn without anyone checking it. The textbook version: bias falling monotonically, variance rising, the total a U. Two of those three are not what the measurement gives.</a:t>
            </a:r>
          </a:p>
          <a:p>
            <a:pPr lvl="0" indent="0" marL="0">
              <a:buNone/>
            </a:pPr>
          </a:p>
          <a:p>
            <a:pPr lvl="0" indent="0" marL="0">
              <a:buNone/>
            </a:pPr>
            <a:r>
              <a:rPr/>
              <a:t>Bias² falls only as far as degree 5 - 5,250 down to 8.9 - and then climbs to 153,537, for the reason on the previous slide: at that variance the average of the fits is not a meaningful curve. And variance starts at 723.8, drops to 70.8 at degree 2, and only then rises.</a:t>
            </a:r>
          </a:p>
          <a:p>
            <a:pPr lvl="0" indent="0" marL="0">
              <a:buNone/>
            </a:pPr>
          </a:p>
          <a:p>
            <a:pPr lvl="0" indent="0" marL="0">
              <a:buNone/>
            </a:pPr>
            <a:r>
              <a:rPr/>
              <a:t>What does survive is the part the lesson needs: the total error is a U with its minimum at degree 2. Say that the cartoon is a well-specified model on a fixed design, and that real measurements are lumpier - it is a better lesson than the tidy version, and it is on the slide in front of them.</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Optional on 6 November: skip in class if time is short, and say it is left for self-study, with the handout.</a:t>
            </a:r>
          </a:p>
          <a:p>
            <a:pPr lvl="0" indent="0" marL="0">
              <a:buNone/>
            </a:pPr>
          </a:p>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Optional on 6 November: skip in class if time is short, and say it is left for self-study, with the handout.</a:t>
            </a:r>
          </a:p>
          <a:p>
            <a:pPr lvl="0" indent="0" marL="0">
              <a:buNone/>
            </a:pPr>
          </a:p>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60 observations, and of thirty-six thousand by 150,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each training fold, then on larger shares, eight sizes up to all of it, plotting training score and cross-validated score against the number of examples used. The data is the 800 drives again; the first bullet of the next slide names the scikit-learn call that does it.</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a:t>
            </a:r>
          </a:p>
          <a:p>
            <a:pPr lvl="0" indent="0" marL="0">
              <a:buNone/>
            </a:pPr>
          </a:p>
          <a:p>
            <a:pPr lvl="0" indent="0" marL="0">
              <a:buNone/>
            </a:pPr>
            <a:r>
              <a:rPr/>
              <a:t>Then read the right-hand curve to the end, because this is where the room gets it wrong. It climbs to 0.857 at 251 examples and then stops: 0.834, 0.847, 0.835, 0.832, 0.847. It ends below its own high point.</a:t>
            </a:r>
          </a:p>
          <a:p>
            <a:pPr lvl="0" indent="0" marL="0">
              <a:buNone/>
            </a:pPr>
          </a:p>
          <a:p>
            <a:pPr lvl="0" indent="0" marL="0">
              <a:buNone/>
            </a:pPr>
            <a:r>
              <a:rPr/>
              <a:t>Someone will say it is still rising, because the last segment goes up by 0.014. Have the answer ready: across the five folds that step is -0.030, +0.050, +0.006, -0.009, +0.053. It is a wiggle inside a band of about 0.04, not a trend. A slope smaller than its band is not a slope.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splits in two, and the slope is what splits it. A curve still rising is itself the evidence that more data will pay - the only case where “collect more” is a plan rather than a hope. A curve that has flattened, which is what our right-hand panel does after 251 examples, says the gap is real and more rows of the same kind have stopped buying anything: what is left is stronger regularisation, fewer features, a simpler model. Here the 150 noise columns are the problem, and no quantity of rows removes a column.</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maps each section to its calls and its number. On 6 November this notebook is left for self-study: show the table, say what each section measures, and that its numbers are on slides 23 to 30, which were just shown.</a:t>
            </a:r>
          </a:p>
          <a:p>
            <a:pPr lvl="0" indent="0" marL="0">
              <a:buNone/>
            </a:pPr>
          </a:p>
          <a:p>
            <a:pPr lvl="0" indent="0" marL="0">
              <a:buNone/>
            </a:pPr>
            <a:r>
              <a:rPr/>
              <a:t>When there is a full three hours, run it live, for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a:p>
            <a:pPr lvl="0" indent="0" marL="0">
              <a:buNone/>
            </a:pPr>
          </a:p>
          <a:p>
            <a:pPr lvl="0" indent="0" marL="0">
              <a:buNone/>
            </a:pPr>
            <a:r>
              <a:rPr/>
              <a:t>The last bullet names the selector. f_classif scores each column by how far apart its means are for the two classes, relative to its spread (an analysis-of-variance F-test), and SelectKBest keeps the k best. Point out the clash of letters: this k counts columns, not folds.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the first half of today recommended.</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The folds are 0.928, 0.979, 0.975, 0.943 and 0.832: close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validation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validation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GridSearchCV tries every combination of five values of k (columns kept) and five of C, 25 in all, each scored by 5-fold cross-validation, on the same signal-free table. The nested row is explained on the next slide; read the first two rows now.</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0.7265 and the worst is 0.6840.</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0.6699 is nested cross-validation. 0.7999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as the table header says: fit on 56%, choose the threshold on 19%, report once on the remaining 25%.</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Optional on 6 November: skip in class if time is short, and say it is left for self-study, with the handout.</a:t>
            </a:r>
          </a:p>
          <a:p>
            <a:pPr lvl="0" indent="0" marL="0">
              <a:buNone/>
            </a:pPr>
          </a:p>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way to write up every exercise from here on - it is what the exam asks them to defend.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Optional on 6 November: skip in class if time is short, and say it is left for self-study, with the handout.</a:t>
            </a:r>
          </a:p>
          <a:p>
            <a:pPr lvl="0" indent="0" marL="0">
              <a:buNone/>
            </a:pPr>
          </a:p>
          <a:p>
            <a:pPr lvl="0" indent="0" marL="0">
              <a:buNone/>
            </a:pPr>
            <a:r>
              <a:rPr/>
              <a:t>Practical checklist. The container exists for the second item: it pins the environment so that their result and the examiner’s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pairs each section with its calls and its number. Run notebook 03. Fifteen minutes.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every remaining exercise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one they are most likely to be asked at the exam about whichever exercise is drawn.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 lesson 4, concluded</a:t>
            </a:r>
          </a:p>
        </p:txBody>
      </p:sp>
      <p:sp>
        <p:nvSpPr>
          <p:cNvPr id="3" name="Content Placeholder 2"/>
          <p:cNvSpPr>
            <a:spLocks noGrp="1"/>
          </p:cNvSpPr>
          <p:nvPr>
            <p:ph idx="1"/>
          </p:nvPr>
        </p:nvSpPr>
        <p:spPr>
          <a:xfrm>
            <a:off x="457200" y="1200151"/>
            <a:ext cx="8229600" cy="3394472"/>
          </a:xfrm>
        </p:spPr>
        <p:txBody>
          <a:bodyPr/>
          <a:lstStyle/>
          <a:p>
            <a:pPr lvl="0"/>
            <a:r>
              <a:rPr/>
              <a:t>First, lesson 4’s last slides: receiver operating characteristic (ROC) curves, the area under the curve (AUC), the threshold from costs, notebook 3</a:t>
            </a:r>
          </a:p>
          <a:p>
            <a:pPr lvl="0"/>
            <a:r>
              <a:rPr/>
              <a:t>Exercise 4 is set at their end; exercises 4 and 5 are both discussed on 13 November</a:t>
            </a:r>
          </a:p>
          <a:p>
            <a:pPr lvl="0"/>
            <a:r>
              <a:rPr/>
              <a:t>Then lesson 5, with a few parts left for self-study, marked (optional)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a:p>
            <a:pPr lvl="0"/>
            <a:r>
              <a:rPr/>
              <a:t>In code: lesson 4’s model, </a:t>
            </a:r>
            <a:r>
              <a:rPr>
                <a:latin typeface="Courier"/>
              </a:rPr>
              <a:t>make_pipeline(StandardScaler(), LogisticRegression())</a:t>
            </a:r>
            <a:r>
              <a:rPr/>
              <a:t>, on </a:t>
            </a:r>
            <a:r>
              <a:rPr>
                <a:latin typeface="Courier"/>
              </a:rPr>
              <a:t>train_test_split(X, y, test_size=0.25, stratify=y)</a:t>
            </a:r>
            <a:r>
              <a:rPr/>
              <a:t>, scored by </a:t>
            </a:r>
            <a:r>
              <a:rPr>
                <a:latin typeface="Courier"/>
              </a:rPr>
              <a:t>roc_auc_score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Parameters and hyperparameters</a:t>
            </a:r>
          </a:p>
        </p:txBody>
      </p:sp>
      <p:sp>
        <p:nvSpPr>
          <p:cNvPr id="3" name="Content Placeholder 2"/>
          <p:cNvSpPr>
            <a:spLocks noGrp="1"/>
          </p:cNvSpPr>
          <p:nvPr>
            <p:ph idx="1"/>
          </p:nvPr>
        </p:nvSpPr>
        <p:spPr>
          <a:xfrm>
            <a:off x="457200" y="1200151"/>
            <a:ext cx="8229600" cy="3394472"/>
          </a:xfrm>
        </p:spPr>
        <p:txBody>
          <a:bodyPr/>
          <a:lstStyle/>
          <a:p>
            <a:pPr lvl="0"/>
            <a:r>
              <a:rPr b="1"/>
              <a:t>Parameters</a:t>
            </a:r>
            <a:r>
              <a:rPr/>
              <a:t> — estimated by the fit: w, b</a:t>
            </a:r>
          </a:p>
          <a:p>
            <a:pPr lvl="0"/>
            <a:r>
              <a:rPr b="1"/>
              <a:t>Hyperparameters</a:t>
            </a:r>
            <a:r>
              <a:rPr/>
              <a:t> — not estimated: penalty λ, neighbours, depth, threshold</a:t>
            </a:r>
          </a:p>
          <a:p>
            <a:pPr lvl="0"/>
            <a:r>
              <a:rPr/>
              <a:t>Not “set before the fit”: the threshold is chosen after it</a:t>
            </a:r>
          </a:p>
          <a:p>
            <a:pPr lvl="0"/>
            <a:r>
              <a:rPr/>
              <a:t>Training error would prefer λ = 0, so they are chosen by </a:t>
            </a:r>
            <a:r>
              <a:rPr b="1"/>
              <a:t>comparison</a:t>
            </a:r>
            <a:r>
              <a:rPr/>
              <a:t>, on unseen data</a:t>
            </a:r>
          </a:p>
          <a:p>
            <a:pPr lvl="0"/>
            <a:r>
              <a:rPr/>
              <a:t>scikit-learn’s C is a </a:t>
            </a:r>
            <a:r>
              <a:rPr b="1"/>
              <a:t>reciprocal</a:t>
            </a:r>
            <a:r>
              <a:rPr/>
              <a:t> penalty: C = 0.01 is the strongest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 on each of 200 splits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Three models</a:t>
                      </a:r>
                    </a:p>
                  </a:txBody>
                  <a:tcPr/>
                </a:tc>
                <a:tc>
                  <a:txBody>
                    <a:bodyPr/>
                    <a:lstStyle/>
                    <a:p>
                      <a:pPr lvl="0" indent="0" marL="0">
                        <a:buNone/>
                      </a:pPr>
                      <a:r>
                        <a:rPr/>
                        <a:t>Mean AUC</a:t>
                      </a:r>
                    </a:p>
                  </a:txBody>
                  <a:tcPr/>
                </a:tc>
                <a:tc>
                  <a:txBody>
                    <a:bodyPr/>
                    <a:lstStyle/>
                    <a:p>
                      <a:pPr lvl="0" indent="0" marL="0">
                        <a:buNone/>
                      </a:pPr>
                      <a:r>
                        <a:rPr/>
                        <a:t>Times it scored highest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with 5 folds, each model trains on 80% of the data</a:t>
            </a:r>
          </a:p>
          <a:p>
            <a:pPr lvl="0"/>
            <a:r>
              <a:rPr/>
              <a:t>In code: </a:t>
            </a:r>
            <a:r>
              <a:rPr>
                <a:latin typeface="Courier"/>
              </a:rPr>
              <a:t>cross_val_score(model, X, y, cv=StratifiedKFold(5, shuffle=True),   scoring="roc_auc")</a:t>
            </a:r>
            <a:r>
              <a:rPr/>
              <a:t>, one score per fold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With 5 folds, any two training sets share </a:t>
            </a:r>
            <a:r>
              <a:rPr b="1"/>
              <a:t>three quarters</a:t>
            </a:r>
            <a:r>
              <a:rPr/>
              <a:t> of their rows</a:t>
            </a:r>
          </a:p>
          <a:p>
            <a:pPr lvl="0"/>
            <a:r>
              <a:rPr/>
              <a:t>The scores are correlated, so the usual standard error, s ÷ √k (s the standard deviation of the k fold scores), is optimistic</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 (optional)</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Over 40 seeds</a:t>
                      </a:r>
                    </a:p>
                  </a:txBody>
                  <a:tcPr/>
                </a:tc>
                <a:tc>
                  <a:txBody>
                    <a:bodyPr/>
                    <a:lstStyle/>
                    <a:p>
                      <a:pPr lvl="0" indent="0" marL="0">
                        <a:buNone/>
                      </a:pPr>
                      <a:r>
                        <a:rPr/>
                        <a:t>Single split</a:t>
                      </a:r>
                    </a:p>
                  </a:txBody>
                  <a:tcPr/>
                </a:tc>
                <a:tc>
                  <a:txBody>
                    <a:bodyPr/>
                    <a:lstStyle/>
                    <a:p>
                      <a:pPr lvl="0" indent="0" marL="0">
                        <a:buNone/>
                      </a:pPr>
                      <a:r>
                        <a:rPr/>
                        <a:t>5-fold cross-validation</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mean</a:t>
                      </a:r>
                    </a:p>
                  </a:txBody>
                </a:tc>
                <a:tc>
                  <a:txBody>
                    <a:bodyPr/>
                    <a:lstStyle/>
                    <a:p>
                      <a:pPr lvl="0" indent="0" marL="0">
                        <a:buNone/>
                      </a:pPr>
                      <a:r>
                        <a:rPr/>
                        <a:t>0.9600</a:t>
                      </a:r>
                    </a:p>
                  </a:txBody>
                </a:tc>
                <a:tc>
                  <a:txBody>
                    <a:bodyPr/>
                    <a:lstStyle/>
                    <a:p>
                      <a:pPr lvl="0" indent="0" marL="0">
                        <a:buNone/>
                      </a:pPr>
                      <a:r>
                        <a:rPr/>
                        <a:t>0.9532</a:t>
                      </a:r>
                    </a:p>
                  </a:txBody>
                </a:tc>
              </a:tr>
              <a:tr h="0">
                <a:tc>
                  <a:txBody>
                    <a:bodyPr/>
                    <a:lstStyle/>
                    <a:p>
                      <a:pPr lvl="0" indent="0" marL="0">
                        <a:buNone/>
                      </a:pPr>
                      <a:r>
                        <a:rPr/>
                        <a:t>best − worst</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 (optional)</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two honest experiments, 5-6</a:t>
                      </a:r>
                    </a:p>
                  </a:txBody>
                </a:tc>
                <a:tc>
                  <a:txBody>
                    <a:bodyPr/>
                    <a:lstStyle/>
                    <a:p>
                      <a:pPr lvl="0" indent="0" marL="0">
                        <a:buNone/>
                      </a:pPr>
                      <a:r>
                        <a:rPr>
                          <a:latin typeface="Courier"/>
                        </a:rPr>
                        <a:t>train_test_split(..., random_state=seed)</a:t>
                      </a:r>
                      <a:r>
                        <a:rPr/>
                        <a:t>, </a:t>
                      </a:r>
                      <a:r>
                        <a:rPr>
                          <a:latin typeface="Courier"/>
                        </a:rPr>
                        <a:t>make_pipeline(StandardScaler(), LogisticRegression())</a:t>
                      </a:r>
                      <a:r>
                        <a:rPr/>
                        <a:t>, </a:t>
                      </a:r>
                      <a:r>
                        <a:rPr>
                          <a:latin typeface="Courier"/>
                        </a:rPr>
                        <a:t>roc_auc_score</a:t>
                      </a:r>
                      <a:r>
                        <a:rPr/>
                        <a:t> → seed 3 gives 1.000</a:t>
                      </a:r>
                    </a:p>
                  </a:txBody>
                </a:tc>
              </a:tr>
              <a:tr h="0">
                <a:tc>
                  <a:txBody>
                    <a:bodyPr/>
                    <a:lstStyle/>
                    <a:p>
                      <a:pPr lvl="0" indent="0" marL="0">
                        <a:buNone/>
                      </a:pPr>
                      <a:r>
                        <a:rPr/>
                        <a:t>how wide, 7-8</a:t>
                      </a:r>
                    </a:p>
                  </a:txBody>
                </a:tc>
                <a:tc>
                  <a:txBody>
                    <a:bodyPr/>
                    <a:lstStyle/>
                    <a:p>
                      <a:pPr lvl="0" indent="0" marL="0">
                        <a:buNone/>
                      </a:pPr>
                      <a:r>
                        <a:rPr/>
                        <a:t>the same, 200 times → 0.885 to 1.000</a:t>
                      </a:r>
                    </a:p>
                  </a:txBody>
                </a:tc>
              </a:tr>
              <a:tr h="0">
                <a:tc>
                  <a:txBody>
                    <a:bodyPr/>
                    <a:lstStyle/>
                    <a:p>
                      <a:pPr lvl="0" indent="0" marL="0">
                        <a:buNone/>
                      </a:pPr>
                      <a:r>
                        <a:rPr/>
                        <a:t>choosing on one split, 9-11</a:t>
                      </a:r>
                    </a:p>
                  </a:txBody>
                </a:tc>
                <a:tc>
                  <a:txBody>
                    <a:bodyPr/>
                    <a:lstStyle/>
                    <a:p>
                      <a:pPr lvl="0" indent="0" marL="0">
                        <a:buNone/>
                      </a:pPr>
                      <a:r>
                        <a:rPr/>
                        <a:t>three values of C, a winner per split → 91, 71 and 38 wins</a:t>
                      </a:r>
                    </a:p>
                  </a:txBody>
                </a:tc>
              </a:tr>
              <a:tr h="0">
                <a:tc>
                  <a:txBody>
                    <a:bodyPr/>
                    <a:lstStyle/>
                    <a:p>
                      <a:pPr lvl="0" indent="0" marL="0">
                        <a:buNone/>
                      </a:pPr>
                      <a:r>
                        <a:rPr/>
                        <a:t>k-fold by hand, 12-14</a:t>
                      </a:r>
                    </a:p>
                  </a:txBody>
                </a:tc>
                <a:tc>
                  <a:txBody>
                    <a:bodyPr/>
                    <a:lstStyle/>
                    <a:p>
                      <a:pPr lvl="0" indent="0" marL="0">
                        <a:buNone/>
                      </a:pPr>
                      <a:r>
                        <a:rPr>
                          <a:latin typeface="Courier"/>
                        </a:rPr>
                        <a:t>StratifiedKFold</a:t>
                      </a:r>
                      <a:r>
                        <a:rPr/>
                        <a:t>, then </a:t>
                      </a:r>
                      <a:r>
                        <a:rPr>
                          <a:latin typeface="Courier"/>
                        </a:rPr>
                        <a:t>cross_val_score</a:t>
                      </a:r>
                      <a:r>
                        <a:rPr/>
                        <a:t> → 0.9514 ± 0.0187, identical</a:t>
                      </a:r>
                    </a:p>
                  </a:txBody>
                </a:tc>
              </a:tr>
              <a:tr h="0">
                <a:tc>
                  <a:txBody>
                    <a:bodyPr/>
                    <a:lstStyle/>
                    <a:p>
                      <a:pPr lvl="0" indent="0" marL="0">
                        <a:buNone/>
                      </a:pPr>
                      <a:r>
                        <a:rPr/>
                        <a:t>stratify, 15-16</a:t>
                      </a:r>
                    </a:p>
                  </a:txBody>
                </a:tc>
                <a:tc>
                  <a:txBody>
                    <a:bodyPr/>
                    <a:lstStyle/>
                    <a:p>
                      <a:pPr lvl="0" indent="0" marL="0">
                        <a:buNone/>
                      </a:pPr>
                      <a:r>
                        <a:rPr>
                          <a:latin typeface="Courier"/>
                        </a:rPr>
                        <a:t>KFold</a:t>
                      </a:r>
                      <a:r>
                        <a:rPr/>
                        <a:t> against </a:t>
                      </a:r>
                      <a:r>
                        <a:rPr>
                          <a:latin typeface="Courier"/>
                        </a:rPr>
                        <a:t>StratifiedKFold</a:t>
                      </a:r>
                      <a:r>
                        <a:rPr/>
                        <a:t> → a fold with 1 failure; best − worst 0.0881 against 0.0149</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Bias²</a:t>
            </a:r>
            <a:r>
              <a:rPr/>
              <a:t>: (average prediction − truth)²: the average model is wrong</a:t>
            </a:r>
          </a:p>
          <a:p>
            <a:pPr lvl="0"/>
            <a:r>
              <a:rPr b="1"/>
              <a:t>Variance</a:t>
            </a:r>
            <a:r>
              <a:rPr/>
              <a:t>: the spread of the models around their average</a:t>
            </a:r>
          </a:p>
          <a:p>
            <a:pPr lvl="0"/>
            <a:r>
              <a:rPr b="1"/>
              <a:t>Noise</a:t>
            </a:r>
            <a:r>
              <a:rPr/>
              <a:t> σ²: the target itself is uncertain</a:t>
            </a:r>
          </a:p>
          <a:p>
            <a:pPr lvl="0"/>
            <a:r>
              <a:rPr/>
              <a:t>Lesson 3’s energy curve, 300 training sets of 25 days, each fitted with </a:t>
            </a:r>
            <a:r>
              <a:rPr>
                <a:latin typeface="Courier"/>
              </a:rPr>
              <a:t>make_pipeline(PolynomialFeatures(degree), LinearRegression())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71539"/>
            <a:ext cx="8229599" cy="749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Noise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484.0</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a:t>484.0</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484.0</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484.0</a:t>
                      </a:r>
                    </a:p>
                  </a:txBody>
                </a:tc>
                <a:tc>
                  <a:txBody>
                    <a:bodyPr/>
                    <a:lstStyle/>
                    <a:p>
                      <a:pPr lvl="0" indent="0" marL="0">
                        <a:buNone/>
                      </a:pPr>
                      <a:r>
                        <a:rPr/>
                        <a:t>32,328,366.2</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 (optional)</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 22², the noise put into the data, at every complexity</a:t>
            </a:r>
          </a:p>
          <a:p>
            <a:pPr lvl="0"/>
            <a:r>
              <a:rPr/>
              <a:t>A reported error well below a known floor means </a:t>
            </a:r>
            <a:r>
              <a:rPr b="1"/>
              <a:t>contamination</a:t>
            </a:r>
            <a:r>
              <a:rPr/>
              <a:t>, not excellence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 (optional)</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m = 25</a:t>
                      </a:r>
                    </a:p>
                  </a:txBody>
                  <a:tcPr/>
                </a:tc>
                <a:tc>
                  <a:txBody>
                    <a:bodyPr/>
                    <a:lstStyle/>
                    <a:p>
                      <a:pPr lvl="0" indent="0" marL="0">
                        <a:buNone/>
                      </a:pPr>
                      <a:r>
                        <a:rPr/>
                        <a:t>m = 60</a:t>
                      </a:r>
                    </a:p>
                  </a:txBody>
                  <a:tcPr/>
                </a:tc>
                <a:tc>
                  <a:txBody>
                    <a:bodyPr/>
                    <a:lstStyle/>
                    <a:p>
                      <a:pPr lvl="0" indent="0" marL="0">
                        <a:buNone/>
                      </a:pPr>
                      <a:r>
                        <a:rPr/>
                        <a:t>m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A learning curve: training and cross-validated score against training-set size, </a:t>
            </a:r>
            <a:r>
              <a:rPr>
                <a:latin typeface="Courier"/>
              </a:rPr>
              <a:t>learning_curve(model, X, y, cv=folds, scoring="roc_auc")</a:t>
            </a:r>
          </a:p>
          <a:p>
            <a:pPr lvl="0"/>
            <a:r>
              <a:rPr/>
              <a:t>Curves </a:t>
            </a:r>
            <a:r>
              <a:rPr b="1"/>
              <a:t>meet low</a:t>
            </a:r>
            <a:r>
              <a:rPr/>
              <a:t> → bias. More data will </a:t>
            </a:r>
            <a:r>
              <a:rPr b="1"/>
              <a:t>not</a:t>
            </a:r>
            <a:r>
              <a:rPr/>
              <a:t> help</a:t>
            </a:r>
          </a:p>
          <a:p>
            <a:pPr lvl="0"/>
            <a:r>
              <a:rPr/>
              <a:t>Wide gap, validation </a:t>
            </a:r>
            <a:r>
              <a:rPr b="1"/>
              <a:t>still rising</a:t>
            </a:r>
            <a:r>
              <a:rPr/>
              <a:t> → more data </a:t>
            </a:r>
            <a:r>
              <a:rPr b="1"/>
              <a:t>will</a:t>
            </a:r>
          </a:p>
          <a:p>
            <a:pPr lvl="0"/>
            <a:r>
              <a:rPr/>
              <a:t>Wide gap, validation </a:t>
            </a:r>
            <a:r>
              <a:rPr b="1"/>
              <a:t>flat</a:t>
            </a:r>
            <a:r>
              <a:rPr/>
              <a:t> → regularise, drop features. </a:t>
            </a:r>
            <a:r>
              <a:rPr b="1"/>
              <a:t>Ours is this one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self-study (optional)</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300 parallel universes, 22-23</a:t>
                      </a:r>
                    </a:p>
                  </a:txBody>
                </a:tc>
                <a:tc>
                  <a:txBody>
                    <a:bodyPr/>
                    <a:lstStyle/>
                    <a:p>
                      <a:pPr lvl="0" indent="0" marL="0">
                        <a:buNone/>
                      </a:pPr>
                      <a:r>
                        <a:rPr>
                          <a:latin typeface="Courier"/>
                        </a:rPr>
                        <a:t>PolynomialFeatures</a:t>
                      </a:r>
                      <a:r>
                        <a:rPr/>
                        <a:t> then </a:t>
                      </a:r>
                      <a:r>
                        <a:rPr>
                          <a:latin typeface="Courier"/>
                        </a:rPr>
                        <a:t>LinearRegression</a:t>
                      </a:r>
                      <a:r>
                        <a:rPr/>
                        <a:t>, in </a:t>
                      </a:r>
                      <a:r>
                        <a:rPr>
                          <a:latin typeface="Courier"/>
                        </a:rPr>
                        <a:t>make_pipeline</a:t>
                      </a:r>
                      <a:r>
                        <a:rPr/>
                        <a:t>, fitted 300 times</a:t>
                      </a:r>
                    </a:p>
                  </a:txBody>
                </a:tc>
              </a:tr>
              <a:tr h="0">
                <a:tc>
                  <a:txBody>
                    <a:bodyPr/>
                    <a:lstStyle/>
                    <a:p>
                      <a:pPr lvl="0" indent="0" marL="0">
                        <a:buNone/>
                      </a:pPr>
                      <a:r>
                        <a:rPr/>
                        <a:t>the three parts measured, 24-27</a:t>
                      </a:r>
                    </a:p>
                  </a:txBody>
                </a:tc>
                <a:tc>
                  <a:txBody>
                    <a:bodyPr/>
                    <a:lstStyle/>
                    <a:p>
                      <a:pPr lvl="0" indent="0" marL="0">
                        <a:buNone/>
                      </a:pPr>
                      <a:r>
                        <a:rPr/>
                        <a:t>NumPy on the 300 predictions → sum and measured error agree to 2.73e-12</a:t>
                      </a:r>
                    </a:p>
                  </a:txBody>
                </a:tc>
              </a:tr>
              <a:tr h="0">
                <a:tc>
                  <a:txBody>
                    <a:bodyPr/>
                    <a:lstStyle/>
                    <a:p>
                      <a:pPr lvl="0" indent="0" marL="0">
                        <a:buNone/>
                      </a:pPr>
                      <a:r>
                        <a:rPr/>
                        <a:t>more data moves the answer, 28</a:t>
                      </a:r>
                    </a:p>
                  </a:txBody>
                </a:tc>
                <a:tc>
                  <a:txBody>
                    <a:bodyPr/>
                    <a:lstStyle/>
                    <a:p>
                      <a:pPr lvl="0" indent="0" marL="0">
                        <a:buNone/>
                      </a:pPr>
                      <a:r>
                        <a:rPr/>
                        <a:t>the same at 25, 60 and 150 days → best degree 2, then 5</a:t>
                      </a:r>
                    </a:p>
                  </a:txBody>
                </a:tc>
              </a:tr>
              <a:tr h="0">
                <a:tc>
                  <a:txBody>
                    <a:bodyPr/>
                    <a:lstStyle/>
                    <a:p>
                      <a:pPr lvl="0" indent="0" marL="0">
                        <a:buNone/>
                      </a:pPr>
                      <a:r>
                        <a:rPr/>
                        <a:t>learning curves, 29-30</a:t>
                      </a:r>
                    </a:p>
                  </a:txBody>
                </a:tc>
                <a:tc>
                  <a:txBody>
                    <a:bodyPr/>
                    <a:lstStyle/>
                    <a:p>
                      <a:pPr lvl="0" indent="0" marL="0">
                        <a:buNone/>
                      </a:pPr>
                      <a:r>
                        <a:rPr>
                          <a:latin typeface="Courier"/>
                        </a:rPr>
                        <a:t>learning_curve</a:t>
                      </a:r>
                      <a:r>
                        <a:rPr/>
                        <a:t> with </a:t>
                      </a:r>
                      <a:r>
                        <a:rPr>
                          <a:latin typeface="Courier"/>
                        </a:rPr>
                        <a:t>StratifiedKFold</a:t>
                      </a:r>
                      <a:r>
                        <a:rPr/>
                        <a:t> → 0.715 against 0.718; 1.000 against 0.847</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r>
              <a:rPr/>
              <a:t>, 800 rows, 29 positives</a:t>
            </a:r>
          </a:p>
          <a:p>
            <a:pPr lvl="0"/>
            <a:r>
              <a:rPr/>
              <a:t>No relationship to the label whatsoever</a:t>
            </a:r>
          </a:p>
          <a:p>
            <a:pPr lvl="0"/>
            <a:r>
              <a:rPr/>
              <a:t>The honest score of any model on it is </a:t>
            </a:r>
            <a:r>
              <a:rPr b="1"/>
              <a:t>0.500</a:t>
            </a:r>
          </a:p>
          <a:p>
            <a:pPr lvl="0"/>
            <a:r>
              <a:rPr/>
              <a:t>The plan: keep the 10 columns whose F-test against the label scores highest, </a:t>
            </a:r>
            <a:r>
              <a:rPr>
                <a:latin typeface="Courier"/>
              </a:rPr>
              <a:t>SelectKBest(f_classif, k=10)</a:t>
            </a:r>
            <a:r>
              <a:rPr/>
              <a:t>, then cross-validate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a:t>
            </a:r>
            <a:br/>
            <a:r>
              <a:rPr>
                <a:latin typeface="Courier"/>
              </a:rPr>
              <a:t>sel.fit(noise, y)</a:t>
            </a:r>
            <a:br/>
            <a:r>
              <a:rPr>
                <a:latin typeface="Courier"/>
              </a:rPr>
              <a:t>X </a:t>
            </a:r>
            <a:r>
              <a:rPr>
                <a:solidFill>
                  <a:srgbClr val="666666"/>
                </a:solidFill>
                <a:latin typeface="Courier"/>
              </a:rPr>
              <a:t>=</a:t>
            </a:r>
            <a:r>
              <a:rPr>
                <a:latin typeface="Courier"/>
              </a:rPr>
              <a:t> noise.loc[:, sel.get_support()]</a:t>
            </a:r>
            <a:br/>
            <a:r>
              <a:rPr>
                <a:latin typeface="Courier"/>
              </a:rPr>
              <a:t>cross_val_score(model, X, y, cv</a:t>
            </a:r>
            <a:r>
              <a:rPr>
                <a:solidFill>
                  <a:srgbClr val="666666"/>
                </a:solidFill>
                <a:latin typeface="Courier"/>
              </a:rPr>
              <a:t>=</a:t>
            </a:r>
            <a:r>
              <a:rPr>
                <a:latin typeface="Courier"/>
              </a:rPr>
              <a:t>cv)</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0.92 and 0.98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 </a:t>
            </a:r>
            <a:r>
              <a:rPr>
                <a:latin typeface="Courier"/>
              </a:rPr>
              <a:t>Pipeline([("select", SelectKBest(f_classif, k=10)), ("scale", ...), ("model", ...)])</a:t>
            </a:r>
          </a:p>
          <a:p>
            <a:pPr lvl="0"/>
            <a:r>
              <a:rPr/>
              <a:t>20 different fold seeds: </a:t>
            </a:r>
            <a:r>
              <a:rPr b="1"/>
              <a:t>0.658</a:t>
            </a:r>
            <a:r>
              <a:rPr/>
              <a:t> on average, 0.576 to 0.759</a:t>
            </a:r>
          </a:p>
          <a:p>
            <a:pPr lvl="0"/>
            <a:r>
              <a:rPr/>
              <a:t>The truth is still 0.500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latin typeface="Courier"/>
                        </a:rPr>
                        <a:t>GridSearchCV</a:t>
                      </a:r>
                      <a:r>
                        <a:rPr/>
                        <a:t>, 5 values of k × 5 of C</a:t>
                      </a:r>
                    </a:p>
                  </a:txBody>
                  <a:tcPr/>
                </a:tc>
                <a:tc>
                  <a:txBody>
                    <a:bodyPr/>
                    <a:lstStyle/>
                    <a:p>
                      <a:pPr lvl="0" indent="0" marL="0">
                        <a:buNone/>
                      </a:pPr>
                      <a:r>
                        <a:rPr/>
                        <a:t>AUC</a:t>
                      </a:r>
                    </a:p>
                  </a:txBody>
                  <a:tcPr/>
                </a:tc>
              </a:tr>
              <a:tr h="0">
                <a:tc>
                  <a:txBody>
                    <a:bodyPr/>
                    <a:lstStyle/>
                    <a:p>
                      <a:pPr lvl="0" indent="0" marL="0">
                        <a:buNone/>
                      </a:pPr>
                      <a:r>
                        <a:rPr/>
                        <a:t>best of 25 candidates, </a:t>
                      </a:r>
                      <a:r>
                        <a:rPr>
                          <a:latin typeface="Courier"/>
                        </a:rPr>
                        <a:t>best_score_</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 next slide</a:t>
                      </a:r>
                    </a:p>
                  </a:txBody>
                </a:tc>
                <a:tc>
                  <a:txBody>
                    <a:bodyPr/>
                    <a:lstStyle/>
                    <a:p>
                      <a:pPr lvl="0" indent="0" marL="0">
                        <a:buNone/>
                      </a:pPr>
                      <a:r>
                        <a:rPr/>
                        <a:t>0.6699</a:t>
                      </a:r>
                    </a:p>
                  </a:txBody>
                </a:tc>
              </a:tr>
              <a:tr h="0">
                <a:tc>
                  <a:txBody>
                    <a:bodyPr/>
                    <a:lstStyle/>
                    <a:p>
                      <a:pPr lvl="0" indent="0" marL="0">
                        <a:buNone/>
                      </a:pPr>
                      <a:r>
                        <a:rPr/>
                        <a:t>the truth, by construction</a:t>
                      </a:r>
                    </a:p>
                  </a:txBody>
                </a:tc>
                <a:tc>
                  <a:txBody>
                    <a:bodyPr/>
                    <a:lstStyle/>
                    <a:p>
                      <a:pPr lvl="0" indent="0" marL="0">
                        <a:buNone/>
                      </a:pPr>
                      <a:r>
                        <a:rPr/>
                        <a:t>0.5</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Fit on 56%, choose on 19%, report on 25%</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 (optional)</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 (optional)</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graphics processing unit (GPU) non-determinism</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catastrophe, 32-34</a:t>
                      </a:r>
                    </a:p>
                  </a:txBody>
                </a:tc>
                <a:tc>
                  <a:txBody>
                    <a:bodyPr/>
                    <a:lstStyle/>
                    <a:p>
                      <a:pPr lvl="0" indent="0" marL="0">
                        <a:buNone/>
                      </a:pPr>
                      <a:r>
                        <a:rPr>
                          <a:latin typeface="Courier"/>
                        </a:rPr>
                        <a:t>SelectKBest(f_classif, k=10)</a:t>
                      </a:r>
                      <a:r>
                        <a:rPr/>
                        <a:t> on every row, then </a:t>
                      </a:r>
                      <a:r>
                        <a:rPr>
                          <a:latin typeface="Courier"/>
                        </a:rPr>
                        <a:t>cross_val_score</a:t>
                      </a:r>
                      <a:r>
                        <a:rPr/>
                        <a:t> → 0.931</a:t>
                      </a:r>
                    </a:p>
                  </a:txBody>
                </a:tc>
              </a:tr>
              <a:tr h="0">
                <a:tc>
                  <a:txBody>
                    <a:bodyPr/>
                    <a:lstStyle/>
                    <a:p>
                      <a:pPr lvl="0" indent="0" marL="0">
                        <a:buNone/>
                      </a:pPr>
                      <a:r>
                        <a:rPr/>
                        <a:t>selection inside the fold, 35-36</a:t>
                      </a:r>
                    </a:p>
                  </a:txBody>
                </a:tc>
                <a:tc>
                  <a:txBody>
                    <a:bodyPr/>
                    <a:lstStyle/>
                    <a:p>
                      <a:pPr lvl="0" indent="0" marL="0">
                        <a:buNone/>
                      </a:pPr>
                      <a:r>
                        <a:rPr>
                          <a:latin typeface="Courier"/>
                        </a:rPr>
                        <a:t>Pipeline</a:t>
                      </a:r>
                      <a:r>
                        <a:rPr/>
                        <a:t> with the selector as its first step → 0.658</a:t>
                      </a:r>
                    </a:p>
                  </a:txBody>
                </a:tc>
              </a:tr>
              <a:tr h="0">
                <a:tc>
                  <a:txBody>
                    <a:bodyPr/>
                    <a:lstStyle/>
                    <a:p>
                      <a:pPr lvl="0" indent="0" marL="0">
                        <a:buNone/>
                      </a:pPr>
                      <a:r>
                        <a:rPr/>
                        <a:t>the search, 37</a:t>
                      </a:r>
                    </a:p>
                  </a:txBody>
                </a:tc>
                <a:tc>
                  <a:txBody>
                    <a:bodyPr/>
                    <a:lstStyle/>
                    <a:p>
                      <a:pPr lvl="0" indent="0" marL="0">
                        <a:buNone/>
                      </a:pPr>
                      <a:r>
                        <a:rPr>
                          <a:latin typeface="Courier"/>
                        </a:rPr>
                        <a:t>GridSearchCV</a:t>
                      </a:r>
                      <a:r>
                        <a:rPr/>
                        <a:t>, </a:t>
                      </a:r>
                      <a:r>
                        <a:rPr>
                          <a:latin typeface="Courier"/>
                        </a:rPr>
                        <a:t>best_score_</a:t>
                      </a:r>
                      <a:r>
                        <a:rPr/>
                        <a:t> → 0.7999</a:t>
                      </a:r>
                    </a:p>
                  </a:txBody>
                </a:tc>
              </a:tr>
              <a:tr h="0">
                <a:tc>
                  <a:txBody>
                    <a:bodyPr/>
                    <a:lstStyle/>
                    <a:p>
                      <a:pPr lvl="0" indent="0" marL="0">
                        <a:buNone/>
                      </a:pPr>
                      <a:r>
                        <a:rPr/>
                        <a:t>nested, 38-39</a:t>
                      </a:r>
                    </a:p>
                  </a:txBody>
                </a:tc>
                <a:tc>
                  <a:txBody>
                    <a:bodyPr/>
                    <a:lstStyle/>
                    <a:p>
                      <a:pPr lvl="0" indent="0" marL="0">
                        <a:buNone/>
                      </a:pPr>
                      <a:r>
                        <a:rPr>
                          <a:latin typeface="Courier"/>
                        </a:rPr>
                        <a:t>cross_val_score(GridSearchCV(...), cv=outer)</a:t>
                      </a:r>
                      <a:r>
                        <a:rPr/>
                        <a:t> → 0.6699</a:t>
                      </a:r>
                    </a:p>
                  </a:txBody>
                </a:tc>
              </a:tr>
              <a:tr h="0">
                <a:tc>
                  <a:txBody>
                    <a:bodyPr/>
                    <a:lstStyle/>
                    <a:p>
                      <a:pPr lvl="0" indent="0" marL="0">
                        <a:buNone/>
                      </a:pPr>
                      <a:r>
                        <a:rPr/>
                        <a:t>the threshold, honestly, 40-41</a:t>
                      </a:r>
                    </a:p>
                  </a:txBody>
                </a:tc>
                <a:tc>
                  <a:txBody>
                    <a:bodyPr/>
                    <a:lstStyle/>
                    <a:p>
                      <a:pPr lvl="0" indent="0" marL="0">
                        <a:buNone/>
                      </a:pPr>
                      <a:r>
                        <a:rPr>
                          <a:latin typeface="Courier"/>
                        </a:rPr>
                        <a:t>train_test_split</a:t>
                      </a:r>
                      <a:r>
                        <a:rPr/>
                        <a:t> twice → 4,700 EUR against 10,540</a:t>
                      </a:r>
                    </a:p>
                  </a:txBody>
                </a:tc>
              </a:tr>
              <a:tr h="0">
                <a:tc>
                  <a:txBody>
                    <a:bodyPr/>
                    <a:lstStyle/>
                    <a:p>
                      <a:pPr lvl="0" indent="0" marL="0">
                        <a:buNone/>
                      </a:pPr>
                      <a:r>
                        <a:rPr/>
                        <a:t>seeds, 42-43</a:t>
                      </a:r>
                    </a:p>
                  </a:txBody>
                </a:tc>
                <a:tc>
                  <a:txBody>
                    <a:bodyPr/>
                    <a:lstStyle/>
                    <a:p>
                      <a:pPr lvl="0" indent="0" marL="0">
                        <a:buNone/>
                      </a:pPr>
                      <a:r>
                        <a:rPr/>
                        <a:t>30 values of </a:t>
                      </a:r>
                      <a:r>
                        <a:rPr>
                          <a:latin typeface="Courier"/>
                        </a:rPr>
                        <a:t>random_state</a:t>
                      </a:r>
                      <a:r>
                        <a:rPr/>
                        <a:t> → 0.913 to 1.000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discussed at the start of </a:t>
            </a:r>
            <a:r>
              <a:rPr b="1"/>
              <a:t>Friday 13 November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