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slide, because every choice in the rest of the lesson is a choice of one of these, and the word has been used loosely since lesson 2.</a:t>
            </a:r>
          </a:p>
          <a:p>
            <a:pPr lvl="0" indent="0" marL="0">
              <a:buNone/>
            </a:pPr>
          </a:p>
          <a:p>
            <a:pPr lvl="0" indent="0" marL="0">
              <a:buNone/>
            </a:pPr>
            <a:r>
              <a:rPr/>
              <a:t>Parameters are what the fit estimates: coefficients and intercept. Hyperparameters are what it does not - lesson 3’s penalty, lesson 6’s neighbours, lesson 7’s tree depth, and lesson 4’s threshold.</a:t>
            </a:r>
          </a:p>
          <a:p>
            <a:pPr lvl="0" indent="0" marL="0">
              <a:buNone/>
            </a:pPr>
          </a:p>
          <a:p>
            <a:pPr lvl="0" indent="0" marL="0">
              <a:buNone/>
            </a:pPr>
            <a:r>
              <a:rPr/>
              <a:t>Third bullet is worth a sentence, because the obvious shorthand is wrong and a sharp student will catch it. “Fixed before the fit” is true of the penalty, which sits inside the cost being minimised, and false of the threshold, which is chosen afterwards on probabilities the fit has already produced. What they share is not timing: it is that neither is estimated the way a coefficient is.</a:t>
            </a:r>
          </a:p>
          <a:p>
            <a:pPr lvl="0" indent="0" marL="0">
              <a:buNone/>
            </a:pPr>
          </a:p>
          <a:p>
            <a:pPr lvl="0" indent="0" marL="0">
              <a:buNone/>
            </a:pPr>
            <a:r>
              <a:rPr/>
              <a:t>Then the sentence that makes the distinction matter rather than taxonomic: you cannot estimate a hyperparameter by minimising training error, because that objective already knows its favourite answer - no penalty at all, the biggest tree available, a threshold tuned to the rows already seen. So the only way to choose one is to compare, and comparison needs data the model has not seen. That is what the rest of today is about, and why it costs what it costs.</a:t>
            </a:r>
          </a:p>
          <a:p>
            <a:pPr lvl="0" indent="0" marL="0">
              <a:buNone/>
            </a:pPr>
          </a:p>
          <a:p>
            <a:pPr lvl="0" indent="0" marL="0">
              <a:buNone/>
            </a:pPr>
            <a:r>
              <a:rPr/>
              <a:t>Last bullet is the trap in the next table: C is the reciprocal of the penalty, so C = 0.01 is the most heavily regularised of the three, not the least.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 them of the reciprocal as they read the first column: the top row, C = 0.01, is the most heavily penalised model, not the least.</a:t>
            </a:r>
          </a:p>
          <a:p>
            <a:pPr lvl="0" indent="0" marL="0">
              <a:buNone/>
            </a:pPr>
          </a:p>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0.0881 to 0.0149,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 and so did this deck until someone read the numbers.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0.7265 and the worst is 0.6840.</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0.6699 is nested cross-validation. 0.7999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Parameters and hyperparameters</a:t>
            </a:r>
          </a:p>
        </p:txBody>
      </p:sp>
      <p:sp>
        <p:nvSpPr>
          <p:cNvPr id="3" name="Content Placeholder 2"/>
          <p:cNvSpPr>
            <a:spLocks noGrp="1"/>
          </p:cNvSpPr>
          <p:nvPr>
            <p:ph idx="1"/>
          </p:nvPr>
        </p:nvSpPr>
        <p:spPr>
          <a:xfrm>
            <a:off x="457200" y="1200151"/>
            <a:ext cx="8229600" cy="3394472"/>
          </a:xfrm>
        </p:spPr>
        <p:txBody>
          <a:bodyPr/>
          <a:lstStyle/>
          <a:p>
            <a:pPr lvl="0"/>
            <a:r>
              <a:rPr b="1"/>
              <a:t>Parameters</a:t>
            </a:r>
            <a:r>
              <a:rPr/>
              <a:t> — estimated by the fit: w, b</a:t>
            </a:r>
          </a:p>
          <a:p>
            <a:pPr lvl="0"/>
            <a:r>
              <a:rPr b="1"/>
              <a:t>Hyperparameters</a:t>
            </a:r>
            <a:r>
              <a:rPr/>
              <a:t> — not estimated: penalty λ, neighbours, depth, threshold</a:t>
            </a:r>
          </a:p>
          <a:p>
            <a:pPr lvl="0"/>
            <a:r>
              <a:rPr/>
              <a:t>Not “set before the fit”: the threshold is chosen after it</a:t>
            </a:r>
          </a:p>
          <a:p>
            <a:pPr lvl="0"/>
            <a:r>
              <a:rPr/>
              <a:t>Training error would prefer λ = 0, so they are chosen by </a:t>
            </a:r>
            <a:r>
              <a:rPr b="1"/>
              <a:t>comparison</a:t>
            </a:r>
            <a:r>
              <a:rPr/>
              <a:t>, on unseen data</a:t>
            </a:r>
          </a:p>
          <a:p>
            <a:pPr lvl="0"/>
            <a:r>
              <a:rPr/>
              <a:t>scikit-learn’s C is a </a:t>
            </a:r>
            <a:r>
              <a:rPr b="1"/>
              <a:t>reciprocal</a:t>
            </a:r>
            <a:r>
              <a:rPr/>
              <a:t> penalty: C = 0.01 is the strongest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6 November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