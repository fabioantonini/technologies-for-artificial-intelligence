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package/2006/relationships/metadata/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48"/>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notesMaster" Target="notesMasters/notesMaster1.xml"/><Relationship Id="rId49" Type="http://schemas.openxmlformats.org/officeDocument/2006/relationships/presProps" Target="presProps.xml"/><Relationship Id="rId50" Type="http://schemas.openxmlformats.org/officeDocument/2006/relationships/viewProps" Target="viewProps.xml"/><Relationship Id="rId51" Type="http://schemas.openxmlformats.org/officeDocument/2006/relationships/theme" Target="theme/theme1.xml"/><Relationship Id="rId52"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Collect exercise 4. The paragraph defending the threshold was the part that carried the marks, so say one sentence about what you saw across the class.</a:t>
            </a:r>
          </a:p>
          <a:p>
            <a:pPr lvl="0" indent="0" marL="0">
              <a:buNone/>
            </a:pPr>
          </a:p>
          <a:p>
            <a:pPr lvl="0" indent="0" marL="0">
              <a:buNone/>
            </a:pPr>
            <a:r>
              <a:rPr/>
              <a:t>The recurring mistake to name, if it appeared: choosing the threshold by sweeping it on the test set. The exercise sheet said that losing marks for it was avoidable by simply declaring it - and today is the lesson that shows why it matters rather than asserting that it does.</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Be explicit that this was deliberate. In lesson 4 there was no machinery available to do it properly, and inventing half of that machinery mid-lesson would have buried the actual subject.</a:t>
            </a:r>
          </a:p>
          <a:p>
            <a:pPr lvl="0" indent="0" marL="0">
              <a:buNone/>
            </a:pPr>
          </a:p>
          <a:p>
            <a:pPr lvl="0" indent="0" marL="0">
              <a:buNone/>
            </a:pPr>
            <a:r>
              <a:rPr/>
              <a:t>Keep the debt visible through the whole lesson, because nearly every error today has the same shape: a choice was made by looking at data that was then used to report the result.</a:t>
            </a:r>
          </a:p>
          <a:p>
            <a:pPr lvl="0" indent="0" marL="0">
              <a:buNone/>
            </a:pPr>
          </a:p>
          <a:p>
            <a:pPr lvl="0" indent="0" marL="0">
              <a:buNone/>
            </a:pPr>
            <a:r>
              <a:rPr/>
              <a:t>Section 8 of the handout pays it off, and slide 39 shows the number.</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Agenda. Say why this lesson sits in the middle of the course, because it is a deliberate choice and the syllabus says so.</a:t>
            </a:r>
          </a:p>
          <a:p>
            <a:pPr lvl="0" indent="0" marL="0">
              <a:buNone/>
            </a:pPr>
          </a:p>
          <a:p>
            <a:pPr lvl="0" indent="0" marL="0">
              <a:buNone/>
            </a:pPr>
            <a:r>
              <a:rPr/>
              <a:t>They can already build models - lessons 3 and 4 gave them two, scikit-learn gives a hundred more for one line each. Producing a model that appears to work is an afternoon’s work and it is not the job. Knowing whether it does work is considerably harder.</a:t>
            </a:r>
          </a:p>
          <a:p>
            <a:pPr lvl="0" indent="0" marL="0">
              <a:buNone/>
            </a:pPr>
          </a:p>
          <a:p>
            <a:pPr lvl="0" indent="0" marL="0">
              <a:buNone/>
            </a:pPr>
            <a:r>
              <a:rPr/>
              <a:t>And everything after today makes it harder still: lessons 6 to 10 add more flexible methods, and every increase in flexibility adds ways for a result to be wrong while looking right.</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distinction is the whole first half of the lesson, and it is routinely missed - because “test set accuracy” sounds like a property of the model rather than a measurement with a standard error.</a:t>
            </a:r>
          </a:p>
          <a:p>
            <a:pPr lvl="0" indent="0" marL="0">
              <a:buNone/>
            </a:pPr>
          </a:p>
          <a:p>
            <a:pPr lvl="0" indent="0" marL="0">
              <a:buNone/>
            </a:pPr>
            <a:r>
              <a:rPr/>
              <a:t>Lesson 1’s rule was about bias: never let the test set influence the model, and the number you get is centred on the truth. Correct, and it says nothing at all about how far from the truth any particular measurement lands.</a:t>
            </a:r>
          </a:p>
          <a:p>
            <a:pPr lvl="0" indent="0" marL="0">
              <a:buNone/>
            </a:pPr>
          </a:p>
          <a:p>
            <a:pPr lvl="0" indent="0" marL="0">
              <a:buNone/>
            </a:pPr>
            <a:r>
              <a:rPr/>
              <a:t>Ask the room, before the next slide: how far apart do you think two honest splits of the same dataset can be? Take a guess out loud. They will underestimate it.</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Justify the reduction explicitly, because a sharp student will otherwise suspect the demonstration is rigged.</a:t>
            </a:r>
          </a:p>
          <a:p>
            <a:pPr lvl="0" indent="0" marL="0">
              <a:buNone/>
            </a:pPr>
          </a:p>
          <a:p>
            <a:pPr lvl="0" indent="0" marL="0">
              <a:buNone/>
            </a:pPr>
            <a:r>
              <a:rPr/>
              <a:t>With 8,000 drives a single split is fairly stable, and lesson 4’s numbers were trustworthy. Eight hundred records with 29 positives is a far more common situation than eight thousand - it is what a real pilot study looks like - and what follows is simply what the honest version of that situation looks like.</a:t>
            </a:r>
          </a:p>
          <a:p>
            <a:pPr lvl="0" indent="0" marL="0">
              <a:buNone/>
            </a:pPr>
          </a:p>
          <a:p>
            <a:pPr lvl="0" indent="0" marL="0">
              <a:buNone/>
            </a:pPr>
            <a:r>
              <a:rPr/>
              <a:t>Same data, same model, same code as last week. Only the sample size changed.</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hundred legitimate experiments. Every one done correctly: nothing fitted before the split, the test set never inspected, the metric computed properly.</a:t>
            </a:r>
          </a:p>
          <a:p>
            <a:pPr lvl="0" indent="0" marL="0">
              <a:buNone/>
            </a:pPr>
          </a:p>
          <a:p>
            <a:pPr lvl="0" indent="0" marL="0">
              <a:buNone/>
            </a:pPr>
            <a:r>
              <a:rPr/>
              <a:t>Worst 0.885. Best 1.000. Mean 0.955.</a:t>
            </a:r>
          </a:p>
          <a:p>
            <a:pPr lvl="0" indent="0" marL="0">
              <a:buNone/>
            </a:pPr>
          </a:p>
          <a:p>
            <a:pPr lvl="0" indent="0" marL="0">
              <a:buNone/>
            </a:pPr>
            <a:r>
              <a:rPr/>
              <a:t>Sit on the 1.000 for a moment. That split reports a PERFECT classifier - every failing drive ranked above every healthy one - for a model whose honest performance is about 0.95. Ten of the two hundred scored above 0.99.</a:t>
            </a:r>
          </a:p>
          <a:p>
            <a:pPr lvl="0" indent="0" marL="0">
              <a:buNone/>
            </a:pPr>
          </a:p>
          <a:p>
            <a:pPr lvl="0" indent="0" marL="0">
              <a:buNone/>
            </a:pPr>
            <a:r>
              <a:rPr/>
              <a:t>Then the point that matters most, and say it slowly: the right-hand tail is the dangerous end, not the left. A disappointing score makes you frown and keep working. A delightful score makes you stop, write it down, and put it in the report. The splits that flatter you are the ones you are least likely to question.</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arithmetic behind the previous slide, and it generalises into the single most useful diagnostic question in the course.</a:t>
            </a:r>
          </a:p>
          <a:p>
            <a:pPr lvl="0" indent="0" marL="0">
              <a:buNone/>
            </a:pPr>
          </a:p>
          <a:p>
            <a:pPr lvl="0" indent="0" marL="0">
              <a:buNone/>
            </a:pPr>
            <a:r>
              <a:rPr/>
              <a:t>The precision of a classification metric is governed by the count of the RARER class, not by the size of the dataset. Eight thousand drives at 3.8% gives 306 positives and a stable estimate. Eight hundred gives 29, and it does not.</a:t>
            </a:r>
          </a:p>
          <a:p>
            <a:pPr lvl="0" indent="0" marL="0">
              <a:buNone/>
            </a:pPr>
          </a:p>
          <a:p>
            <a:pPr lvl="0" indent="0" marL="0">
              <a:buNone/>
            </a:pPr>
            <a:r>
              <a:rPr/>
              <a:t>Give them the question to carry away: how many positive examples are in the test set? If the answer is under about fifty, treat every metric as provisional.</a:t>
            </a:r>
          </a:p>
          <a:p>
            <a:pPr lvl="0" indent="0" marL="0">
              <a:buNone/>
            </a:pPr>
          </a:p>
          <a:p>
            <a:pPr lvl="0" indent="0" marL="0">
              <a:buNone/>
            </a:pPr>
            <a:r>
              <a:rPr/>
              <a:t>Worth connecting to lesson 4: this is the same reason precision collapsed there while AUC did not notice.</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Reporting a noisy number is bad. Choosing with one is worse, because noise does not average out when it is used to decide - it decides.</a:t>
            </a:r>
          </a:p>
          <a:p>
            <a:pPr lvl="0" indent="0" marL="0">
              <a:buNone/>
            </a:pPr>
          </a:p>
          <a:p>
            <a:pPr lvl="0" indent="0" marL="0">
              <a:buNone/>
            </a:pPr>
            <a:r>
              <a:rPr/>
              <a:t>Read the first column, then the last. The three models are the SAME: their mean performance agrees to three decimal places, a difference an order of magnitude smaller than the spread of a single measurement.</a:t>
            </a:r>
          </a:p>
          <a:p>
            <a:pPr lvl="0" indent="0" marL="0">
              <a:buNone/>
            </a:pPr>
          </a:p>
          <a:p>
            <a:pPr lvl="0" indent="0" marL="0">
              <a:buNone/>
            </a:pPr>
            <a:r>
              <a:rPr/>
              <a:t>And yet a winner is declared every single time. Those counts carry no information about the models. They record which model happened to suit which random quarter of the data.</a:t>
            </a:r>
          </a:p>
          <a:p>
            <a:pPr lvl="0" indent="0" marL="0">
              <a:buNone/>
            </a:pPr>
          </a:p>
          <a:p>
            <a:pPr lvl="0" indent="0" marL="0">
              <a:buNone/>
            </a:pPr>
            <a:r>
              <a:rPr/>
              <a:t>Then the sentence to land: run this once, which is what real life allows, and you will report that one of these is best with a number to support it. That conclusion is noise wearing the clothes of a result.</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Left: the win counts, against the dashed line showing what pure chance would give. Right: the actual distributions, sitting on top of each other.</a:t>
            </a:r>
          </a:p>
          <a:p>
            <a:pPr lvl="0" indent="0" marL="0">
              <a:buNone/>
            </a:pPr>
          </a:p>
          <a:p>
            <a:pPr lvl="0" indent="0" marL="0">
              <a:buNone/>
            </a:pPr>
            <a:r>
              <a:rPr/>
              <a:t>The right panel is the truth about these three models. The left panel is what a single experiment reports.</a:t>
            </a:r>
          </a:p>
          <a:p>
            <a:pPr lvl="0" indent="0" marL="0">
              <a:buNone/>
            </a:pPr>
          </a:p>
          <a:p>
            <a:pPr lvl="0" indent="0" marL="0">
              <a:buNone/>
            </a:pPr>
            <a:r>
              <a:rPr/>
              <a:t>If anyone asks why C=0.01 won more often than the others - it is not evidence of anything. Run the whole thing with different seeds and the ordering moves. That is exactly the point.</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idea in a sentence: if one measurement is noisy, take several and average them. The difficulty is that you cannot afford several test sets - every row spent on testing is a row not spent on training.</a:t>
            </a:r>
          </a:p>
          <a:p>
            <a:pPr lvl="0" indent="0" marL="0">
              <a:buNone/>
            </a:pPr>
          </a:p>
          <a:p>
            <a:pPr lvl="0" indent="0" marL="0">
              <a:buNone/>
            </a:pPr>
            <a:r>
              <a:rPr/>
              <a:t>Cross-validation resolves it by rotating the role of the test block. Cut the data into k parts, train on k-1, test on the one left out, repeat until every part has been the test set exactly once.</a:t>
            </a:r>
          </a:p>
          <a:p>
            <a:pPr lvl="0" indent="0" marL="0">
              <a:buNone/>
            </a:pPr>
          </a:p>
          <a:p>
            <a:pPr lvl="0" indent="0" marL="0">
              <a:buNone/>
            </a:pPr>
            <a:r>
              <a:rPr/>
              <a:t>Then the clause that makes it legitimate rather than a trick, and say it explicitly because students suspect otherwise: every row is predicted exactly once, by a model that never saw it. This is not testing on training data with extra steps.</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consequences, both of which surprise people.</a:t>
            </a:r>
          </a:p>
          <a:p>
            <a:pPr lvl="0" indent="0" marL="0">
              <a:buNone/>
            </a:pPr>
          </a:p>
          <a:p>
            <a:pPr lvl="0" indent="0" marL="0">
              <a:buNone/>
            </a:pPr>
            <a:r>
              <a:rPr/>
              <a:t>First: there are k different fitted models in the calculation, and the reported number belongs to none of them. It answers “if I apply this procedure to a dataset of about this size, what should I expect?” - which is the question you actually have.</a:t>
            </a:r>
          </a:p>
          <a:p>
            <a:pPr lvl="0" indent="0" marL="0">
              <a:buNone/>
            </a:pPr>
          </a:p>
          <a:p>
            <a:pPr lvl="0" indent="0" marL="0">
              <a:buNone/>
            </a:pPr>
            <a:r>
              <a:rPr/>
              <a:t>Second: every fold trains on four fifths of the data, so it estimates the performance of a model trained on less data than the one you will eventually ship. The bias is in the safe direction, and it shrinks as k grows. That is the argument for leave-one-out, where k equals the number of rows.</a:t>
            </a:r>
          </a:p>
          <a:p>
            <a:pPr lvl="0" indent="0" marL="0">
              <a:buNone/>
            </a:pPr>
          </a:p>
          <a:p>
            <a:pPr lvl="0" indent="0" marL="0">
              <a:buNone/>
            </a:pPr>
            <a:r>
              <a:rPr/>
              <a:t>Handout section 4.2 has both in symbols.</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temptation is to quote s over root k and call it a confidence interval. Do not, and give them the specific reason rather than a warning.</a:t>
            </a:r>
          </a:p>
          <a:p>
            <a:pPr lvl="0" indent="0" marL="0">
              <a:buNone/>
            </a:pPr>
          </a:p>
          <a:p>
            <a:pPr lvl="0" indent="0" marL="0">
              <a:buNone/>
            </a:pPr>
            <a:r>
              <a:rPr/>
              <a:t>That formula assumes the k scores are independent. They are not: for k=5, any two training sets have three quarters of their rows in common. Positively correlated measurements carry less information than independent ones.</a:t>
            </a:r>
          </a:p>
          <a:p>
            <a:pPr lvl="0" indent="0" marL="0">
              <a:buNone/>
            </a:pPr>
          </a:p>
          <a:p>
            <a:pPr lvl="0" indent="0" marL="0">
              <a:buNone/>
            </a:pPr>
            <a:r>
              <a:rPr/>
              <a:t>The handout gives the variance with the correlation term, and the result of Bengio and Grandvalet from 2004: no unbiased estimator of that variance exists in general.</a:t>
            </a:r>
          </a:p>
          <a:p>
            <a:pPr lvl="0" indent="0" marL="0">
              <a:buNone/>
            </a:pPr>
          </a:p>
          <a:p>
            <a:pPr lvl="0" indent="0" marL="0">
              <a:buNone/>
            </a:pPr>
            <a:r>
              <a:rPr/>
              <a:t>Practical instruction: quote the mean and the spread, call the spread a spread, and treat small differences between models as unresolved.</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Point at fold 2 of the left column. An AUC computed from a single positive example is not a measurement of anything - and nothing in the code warns you.</a:t>
            </a:r>
          </a:p>
          <a:p>
            <a:pPr lvl="0" indent="0" marL="0">
              <a:buNone/>
            </a:pPr>
          </a:p>
          <a:p>
            <a:pPr lvl="0" indent="0" marL="0">
              <a:buNone/>
            </a:pPr>
            <a:r>
              <a:rPr/>
              <a:t>StratifiedKFold keeps each fold’s class balance equal to the whole dataset’s. It costs nothing and it is one word in the call.</a:t>
            </a:r>
          </a:p>
          <a:p>
            <a:pPr lvl="0" indent="0" marL="0">
              <a:buNone/>
            </a:pPr>
          </a:p>
          <a:p>
            <a:pPr lvl="0" indent="0" marL="0">
              <a:buNone/>
            </a:pPr>
            <a:r>
              <a:rPr/>
              <a:t>The rule: stratify whenever a class is rare. Which, as lesson 4 established, is whenever the problem is interesting.</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Forty seeds, changing nothing but the seed.</a:t>
            </a:r>
          </a:p>
          <a:p>
            <a:pPr lvl="0" indent="0" marL="0">
              <a:buNone/>
            </a:pPr>
          </a:p>
          <a:p>
            <a:pPr lvl="0" indent="0" marL="0">
              <a:buNone/>
            </a:pPr>
            <a:r>
              <a:rPr/>
              <a:t>The spread falls from 0.088 to 0.015 - about seven times more stable. And note that both centre in the same place: cross-validation is not more pessimistic, it is less arbitrary.</a:t>
            </a:r>
          </a:p>
          <a:p>
            <a:pPr lvl="0" indent="0" marL="0">
              <a:buNone/>
            </a:pPr>
          </a:p>
          <a:p>
            <a:pPr lvl="0" indent="0" marL="0">
              <a:buNone/>
            </a:pPr>
            <a:r>
              <a:rPr/>
              <a:t>What it costs is k fits instead of one. For everything in this course that is seconds. For a large network it is a real decision, and the usual compromise is a single validation set with enough rows that its own error bar is tolerable.</a:t>
            </a:r>
          </a:p>
          <a:p>
            <a:pPr lvl="0" indent="0" marL="0">
              <a:buNone/>
            </a:pPr>
          </a:p>
          <a:p>
            <a:pPr lvl="0" indent="0" marL="0">
              <a:buNone/>
            </a:pPr>
            <a:r>
              <a:rPr/>
              <a:t>What it does NOT fix is the whole last hour of today.</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question always comes, so answer it before it does.</a:t>
            </a:r>
          </a:p>
          <a:p>
            <a:pPr lvl="0" indent="0" marL="0">
              <a:buNone/>
            </a:pPr>
          </a:p>
          <a:p>
            <a:pPr lvl="0" indent="0" marL="0">
              <a:buNone/>
            </a:pPr>
            <a:r>
              <a:rPr/>
              <a:t>Larger k means each fold trains on more data, so the estimate is less pessimistic - the bias shrinks. It also means more fits, and the training sets overlap even more heavily, so the fold scores are more strongly correlated and the spread you observe understates the uncertainty by more.</a:t>
            </a:r>
          </a:p>
          <a:p>
            <a:pPr lvl="0" indent="0" marL="0">
              <a:buNone/>
            </a:pPr>
          </a:p>
          <a:p>
            <a:pPr lvl="0" indent="0" marL="0">
              <a:buNone/>
            </a:pPr>
            <a:r>
              <a:rPr/>
              <a:t>Five and ten are the conventional choices and the difference between them rarely matters. Leave-one-out is the extreme: nearly unbiased, m fits, and notoriously high variance for the estimate itself.</a:t>
            </a:r>
          </a:p>
          <a:p>
            <a:pPr lvl="0" indent="0" marL="0">
              <a:buNone/>
            </a:pPr>
          </a:p>
          <a:p>
            <a:pPr lvl="0" indent="0" marL="0">
              <a:buNone/>
            </a:pPr>
            <a:r>
              <a:rPr/>
              <a:t>If you have the compute, repeated k-fold - the whole procedure run with several different shuffles, averaged - buys more than moving from 5 to 10.</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Everything so far assumed rows are independent draws. That assumption is violated constantly and silently, and random k-fold gives no warning.</a:t>
            </a:r>
          </a:p>
          <a:p>
            <a:pPr lvl="0" indent="0" marL="0">
              <a:buNone/>
            </a:pPr>
          </a:p>
          <a:p>
            <a:pPr lvl="0" indent="0" marL="0">
              <a:buNone/>
            </a:pPr>
            <a:r>
              <a:rPr/>
              <a:t>The concrete case, which they will meet: your table has ten telemetry readings per drive. A random split puts nine of a drive’s readings in training and one in test. The model does not need to learn anything about failure - it learns to recognise that drive, and the test row is nearly a duplicate of a training row.</a:t>
            </a:r>
          </a:p>
          <a:p>
            <a:pPr lvl="0" indent="0" marL="0">
              <a:buNone/>
            </a:pPr>
          </a:p>
          <a:p>
            <a:pPr lvl="0" indent="0" marL="0">
              <a:buNone/>
            </a:pPr>
            <a:r>
              <a:rPr/>
              <a:t>The score is excellent and the model is worthless on a drive it has never seen, which is the only situation anyone cares about.</a:t>
            </a:r>
          </a:p>
          <a:p>
            <a:pPr lvl="0" indent="0" marL="0">
              <a:buNone/>
            </a:pPr>
          </a:p>
          <a:p>
            <a:pPr lvl="0" indent="0" marL="0">
              <a:buNone/>
            </a:pPr>
            <a:r>
              <a:rPr/>
              <a:t>Other instances worth naming out loud: several images of the same patient, several sentences from the same document, repeated measurements of the same machine, any panel data.</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rule that covers both: split along the axis you need to generalise across. If the model must work on a drive it has never seen, no drive may appear in both training and test. GroupKFold takes a group label and guarantees that.</a:t>
            </a:r>
          </a:p>
          <a:p>
            <a:pPr lvl="0" indent="0" marL="0">
              <a:buNone/>
            </a:pPr>
          </a:p>
          <a:p>
            <a:pPr lvl="0" indent="0" marL="0">
              <a:buNone/>
            </a:pPr>
            <a:r>
              <a:rPr/>
              <a:t>Time is the other case, and it is stricter. With a random split the model trains on Wednesday and tests on Tuesday, which is not the problem anyone has. Real deployment always predicts forward, so validation must too: TimeSeriesSplit trains on a prefix and tests on what comes next.</a:t>
            </a:r>
          </a:p>
          <a:p>
            <a:pPr lvl="0" indent="0" marL="0">
              <a:buNone/>
            </a:pPr>
          </a:p>
          <a:p>
            <a:pPr lvl="0" indent="0" marL="0">
              <a:buNone/>
            </a:pPr>
            <a:r>
              <a:rPr/>
              <a:t>The tell that you needed one of these and did not use it is the same in both cases - a validation score that is excellent and a production score that is not. That gap is the most common cause of a model failing after deployment.</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Run notebooks/01. Twenty minutes.</a:t>
            </a:r>
          </a:p>
          <a:p>
            <a:pPr lvl="0" indent="0" marL="0">
              <a:buNone/>
            </a:pPr>
          </a:p>
          <a:p>
            <a:pPr lvl="0" indent="0" marL="0">
              <a:buNone/>
            </a:pPr>
            <a:r>
              <a:rPr/>
              <a:t>Have them run the five-seed cell first and watch seed 3 return 1.000 before you say anything about it.</a:t>
            </a:r>
          </a:p>
          <a:p>
            <a:pPr lvl="0" indent="0" marL="0">
              <a:buNone/>
            </a:pPr>
          </a:p>
          <a:p>
            <a:pPr lvl="0" indent="0" marL="0">
              <a:buNone/>
            </a:pPr>
            <a:r>
              <a:rPr/>
              <a:t>The cell worth protecting if time runs short is the 200-split model selection - it is the one that changes behaviour rather than just adding knowledge.</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Ten minutes. The second half is bias-variance, which needs them awake.</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up the decomposition in words before any algebra.</a:t>
            </a:r>
          </a:p>
          <a:p>
            <a:pPr lvl="0" indent="0" marL="0">
              <a:buNone/>
            </a:pPr>
          </a:p>
          <a:p>
            <a:pPr lvl="0" indent="0" marL="0">
              <a:buNone/>
            </a:pPr>
            <a:r>
              <a:rPr/>
              <a:t>Imagine drawing many training sets from the same source and fitting the same model to each. You get many models, and they fail in two distinguishable ways.</a:t>
            </a:r>
          </a:p>
          <a:p>
            <a:pPr lvl="0" indent="0" marL="0">
              <a:buNone/>
            </a:pPr>
          </a:p>
          <a:p>
            <a:pPr lvl="0" indent="0" marL="0">
              <a:buNone/>
            </a:pPr>
            <a:r>
              <a:rPr/>
              <a:t>They may agree with each other and all be wrong - a straight line fitted to a curve gives nearly the same line every time and every one misses the curvature. That is bias: consistently, confidently wrong.</a:t>
            </a:r>
          </a:p>
          <a:p>
            <a:pPr lvl="0" indent="0" marL="0">
              <a:buNone/>
            </a:pPr>
          </a:p>
          <a:p>
            <a:pPr lvl="0" indent="0" marL="0">
              <a:buNone/>
            </a:pPr>
            <a:r>
              <a:rPr/>
              <a:t>Or they may disagree wildly - a twelfth-degree polynomial on twenty-five points gives a different wild curve every time. That is variance: unreliable, whatever the average looks like.</a:t>
            </a:r>
          </a:p>
          <a:p>
            <a:pPr lvl="0" indent="0" marL="0">
              <a:buNone/>
            </a:pPr>
          </a:p>
          <a:p>
            <a:pPr lvl="0" indent="0" marL="0">
              <a:buNone/>
            </a:pPr>
            <a:r>
              <a:rPr/>
              <a:t>Underneath both sits noise in the measurements, which is not a property of the model at all.</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Each faint line is a model fitted to a DIFFERENT training sample from the same curve. In real life you drew exactly one of them and never knew about the rest.</a:t>
            </a:r>
          </a:p>
          <a:p>
            <a:pPr lvl="0" indent="0" marL="0">
              <a:buNone/>
            </a:pPr>
          </a:p>
          <a:p>
            <a:pPr lvl="0" indent="0" marL="0">
              <a:buNone/>
            </a:pPr>
            <a:r>
              <a:rPr/>
              <a:t>Left, degree 1: the lines lie almost on top of each other - stable - and the red average is nowhere near the black truth. That gap is bias.</a:t>
            </a:r>
          </a:p>
          <a:p>
            <a:pPr lvl="0" indent="0" marL="0">
              <a:buNone/>
            </a:pPr>
          </a:p>
          <a:p>
            <a:pPr lvl="0" indent="0" marL="0">
              <a:buNone/>
            </a:pPr>
            <a:r>
              <a:rPr/>
              <a:t>Middle, degree 3: average tracks the truth, spread is modest. Both small.</a:t>
            </a:r>
          </a:p>
          <a:p>
            <a:pPr lvl="0" indent="0" marL="0">
              <a:buNone/>
            </a:pPr>
          </a:p>
          <a:p>
            <a:pPr lvl="0" indent="0" marL="0">
              <a:buNone/>
            </a:pPr>
            <a:r>
              <a:rPr/>
              <a:t>Right, degree 12: through the middle it follows the truth better than degree 1 ever could, and at the edges the lines fly off and drag the average off the top of the plot with them. That scatter is variance.</a:t>
            </a:r>
          </a:p>
          <a:p>
            <a:pPr lvl="0" indent="0" marL="0">
              <a:buNone/>
            </a:pPr>
          </a:p>
          <a:p>
            <a:pPr lvl="0" indent="0" marL="0">
              <a:buNone/>
            </a:pPr>
            <a:r>
              <a:rPr/>
              <a:t>Two things to point at in the right panel. The scatter is worst WHERE THE DATA RUNS OUT - beyond about 30 degrees nothing constrains the fit. Extrapolation is where flexible models embarrass themselves.</a:t>
            </a:r>
          </a:p>
          <a:p>
            <a:pPr lvl="0" indent="0" marL="0">
              <a:buNone/>
            </a:pPr>
          </a:p>
          <a:p>
            <a:pPr lvl="0" indent="0" marL="0">
              <a:buNone/>
            </a:pPr>
            <a:r>
              <a:rPr/>
              <a:t>And any one of those faint lines is a model somebody actually deployed.</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State it, do not derive it - handout section 5.2 does that in five lines, and it is worth reading because the derivation is short and the cross terms vanishing is the whole trick.</a:t>
            </a:r>
          </a:p>
          <a:p>
            <a:pPr lvl="0" indent="0" marL="0">
              <a:buNone/>
            </a:pPr>
          </a:p>
          <a:p>
            <a:pPr lvl="0" indent="0" marL="0">
              <a:buNone/>
            </a:pPr>
            <a:r>
              <a:rPr/>
              <a:t>The important claim is that this is an IDENTITY, not an approximation or a useful metaphor. Notebook 2 checks it on 300 independently drawn training sets and the two sides agree to three times ten to the minus twelve - floating-point equality.</a:t>
            </a:r>
          </a:p>
          <a:p>
            <a:pPr lvl="0" indent="0" marL="0">
              <a:buNone/>
            </a:pPr>
          </a:p>
          <a:p>
            <a:pPr lvl="0" indent="0" marL="0">
              <a:buNone/>
            </a:pPr>
            <a:r>
              <a:rPr/>
              <a:t>That matters pedagogically: they have seen this picture in every textbook drawn as a schematic. Here it is measured.</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Noise is 484 in every row and is left out of the table for width - say so.</a:t>
            </a:r>
          </a:p>
          <a:p>
            <a:pPr lvl="0" indent="0" marL="0">
              <a:buNone/>
            </a:pPr>
          </a:p>
          <a:p>
            <a:pPr lvl="0" indent="0" marL="0">
              <a:buNone/>
            </a:pPr>
            <a:r>
              <a:rPr/>
              <a:t>Degree 1 is a bias problem: the largest bias² and the smallest variance. Stable and wrong.</a:t>
            </a:r>
          </a:p>
          <a:p>
            <a:pPr lvl="0" indent="0" marL="0">
              <a:buNone/>
            </a:pPr>
          </a:p>
          <a:p>
            <a:pPr lvl="0" indent="0" marL="0">
              <a:buNone/>
            </a:pPr>
            <a:r>
              <a:rPr/>
              <a:t>Degree 12 is a variance problem, and the magnitude deserves a pause: 32 million, four orders of magnitude larger than anything else. On 25 points a degree-12 polynomial nearly interpolates, and an interpolating model is a machine for amplifying noise.</a:t>
            </a:r>
          </a:p>
          <a:p>
            <a:pPr lvl="0" indent="0" marL="0">
              <a:buNone/>
            </a:pPr>
          </a:p>
          <a:p>
            <a:pPr lvl="0" indent="0" marL="0">
              <a:buNone/>
            </a:pPr>
            <a:r>
              <a:rPr/>
              <a:t>Someone will notice that degree 12 also has the worst bias², which contradicts “flexible models have low bias”. It does not: with variance this large the average of the fitted curves is not a meaningful curve, so the bias term inherits the instability. Read the two together.</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Bias falls monotonically with complexity; variance rises; the total is a U whose minimum is the model you want.</a:t>
            </a:r>
          </a:p>
          <a:p>
            <a:pPr lvl="0" indent="0" marL="0">
              <a:buNone/>
            </a:pPr>
          </a:p>
          <a:p>
            <a:pPr lvl="0" indent="0" marL="0">
              <a:buNone/>
            </a:pPr>
            <a:r>
              <a:rPr/>
              <a:t>The y-axis is logarithmic, and say why: otherwise degree 12 flattens everything else onto the baseline. That in itself tells them something about the scale of the failure.</a:t>
            </a:r>
          </a:p>
          <a:p>
            <a:pPr lvl="0" indent="0" marL="0">
              <a:buNone/>
            </a:pPr>
          </a:p>
          <a:p>
            <a:pPr lvl="0" indent="0" marL="0">
              <a:buNone/>
            </a:pPr>
            <a:r>
              <a:rPr/>
              <a:t>The dotted line is the noise floor at 484.</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noise column never moves, because it is a property of the data rather than of the model. No model, no algorithm and no quantity of data brings the expected error below it.</a:t>
            </a:r>
          </a:p>
          <a:p>
            <a:pPr lvl="0" indent="0" marL="0">
              <a:buNone/>
            </a:pPr>
          </a:p>
          <a:p>
            <a:pPr lvl="0" indent="0" marL="0">
              <a:buNone/>
            </a:pPr>
            <a:r>
              <a:rPr/>
              <a:t>The corollary is a practical diagnostic worth writing down: if you know your measurement precision and your model beats it, something has leaked. This is a real check used in engineering and in the physical sciences, and it catches errors nothing else catches.</a:t>
            </a:r>
          </a:p>
          <a:p>
            <a:pPr lvl="0" indent="0" marL="0">
              <a:buNone/>
            </a:pPr>
          </a:p>
          <a:p>
            <a:pPr lvl="0" indent="0" marL="0">
              <a:buNone/>
            </a:pPr>
            <a:r>
              <a:rPr/>
              <a:t>Connects forward to the last hour, where we manufacture exactly that symptom deliberately.</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same experiment at three sample sizes. The best degree moves from 2 to 5 as the data grows, because there is now enough of it to pin down the extra coefficients and the variance has fallen accordingly.</a:t>
            </a:r>
          </a:p>
          <a:p>
            <a:pPr lvl="0" indent="0" marL="0">
              <a:buNone/>
            </a:pPr>
          </a:p>
          <a:p>
            <a:pPr lvl="0" indent="0" marL="0">
              <a:buNone/>
            </a:pPr>
            <a:r>
              <a:rPr/>
              <a:t>Degree 12 improves by a factor of four thousand between 25 and 150 observations and is still the worst model in its column.</a:t>
            </a:r>
          </a:p>
          <a:p>
            <a:pPr lvl="0" indent="0" marL="0">
              <a:buNone/>
            </a:pPr>
          </a:p>
          <a:p>
            <a:pPr lvl="0" indent="0" marL="0">
              <a:buNone/>
            </a:pPr>
            <a:r>
              <a:rPr/>
              <a:t>Then the sentence worth putting on the board: “which model is best” is not a question about models. It is a question about models AND the quantity of data you have.</a:t>
            </a:r>
          </a:p>
          <a:p>
            <a:pPr lvl="0" indent="0" marL="0">
              <a:buNone/>
            </a:pPr>
          </a:p>
          <a:p>
            <a:pPr lvl="0" indent="0" marL="0">
              <a:buNone/>
            </a:pPr>
            <a:r>
              <a:rPr/>
              <a:t>This explains something they will meet constantly - a paper reports a large model beating a small one on a dataset far bigger than theirs, and it does not reproduce for them. Neither experiment was wrong.</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Everything so far needed the true function. Learning curves need only data you have, which is why they are the practical tool.</a:t>
            </a:r>
          </a:p>
          <a:p>
            <a:pPr lvl="0" indent="0" marL="0">
              <a:buNone/>
            </a:pPr>
          </a:p>
          <a:p>
            <a:pPr lvl="0" indent="0" marL="0">
              <a:buNone/>
            </a:pPr>
            <a:r>
              <a:rPr/>
              <a:t>Train on 15% of the data, then 25%, and so on, plotting training score and cross-validated score against the number of examples used.</a:t>
            </a:r>
          </a:p>
          <a:p>
            <a:pPr lvl="0" indent="0" marL="0">
              <a:buNone/>
            </a:pPr>
          </a:p>
          <a:p>
            <a:pPr lvl="0" indent="0" marL="0">
              <a:buNone/>
            </a:pPr>
            <a:r>
              <a:rPr/>
              <a:t>Left, one feature only: the curves MEET, and they meet LOW - 0.715 against 0.718 - and the validation curve is flat from the first point to the last.</a:t>
            </a:r>
          </a:p>
          <a:p>
            <a:pPr lvl="0" indent="0" marL="0">
              <a:buNone/>
            </a:pPr>
          </a:p>
          <a:p>
            <a:pPr lvl="0" indent="0" marL="0">
              <a:buNone/>
            </a:pPr>
            <a:r>
              <a:rPr/>
              <a:t>Right, six features plus 150 columns of pure noise: training exactly 1.000 against validation 0.847, a gap of 0.15, and the validation curve still climbing at the right edge.</a:t>
            </a:r>
          </a:p>
          <a:p>
            <a:pPr lvl="0" indent="0" marL="0">
              <a:buNone/>
            </a:pPr>
          </a:p>
          <a:p>
            <a:pPr lvl="0" indent="0" marL="0">
              <a:buNone/>
            </a:pPr>
            <a:r>
              <a:rPr/>
              <a:t>Say that the right-hand setup is not contrived. It is what a wide feature table looks like when most columns carry nothing, which is most feature tables.</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slide is the practical payoff of the entire second hour, so do not rush it.</a:t>
            </a:r>
          </a:p>
          <a:p>
            <a:pPr lvl="0" indent="0" marL="0">
              <a:buNone/>
            </a:pPr>
          </a:p>
          <a:p>
            <a:pPr lvl="0" indent="0" marL="0">
              <a:buNone/>
            </a:pPr>
            <a:r>
              <a:rPr/>
              <a:t>High bias: the model is equally mediocre on data it has seen and data it has not, because it extracted everything available and that was not enough. What helps is a more flexible model, better features, less regularisation. What does NOT help is more data - the curve is already flat, and more rows land on the same plateau.</a:t>
            </a:r>
          </a:p>
          <a:p>
            <a:pPr lvl="0" indent="0" marL="0">
              <a:buNone/>
            </a:pPr>
          </a:p>
          <a:p>
            <a:pPr lvl="0" indent="0" marL="0">
              <a:buNone/>
            </a:pPr>
            <a:r>
              <a:rPr/>
              <a:t>Emphasise that this is the expensive mistake. Collecting data is the slowest and costliest item on the list, and the plot says in advance that it will buy nothing.</a:t>
            </a:r>
          </a:p>
          <a:p>
            <a:pPr lvl="0" indent="0" marL="0">
              <a:buNone/>
            </a:pPr>
          </a:p>
          <a:p>
            <a:pPr lvl="0" indent="0" marL="0">
              <a:buNone/>
            </a:pPr>
            <a:r>
              <a:rPr/>
              <a:t>High variance: the rising curve is itself the evidence that more data will help.</a:t>
            </a:r>
          </a:p>
          <a:p>
            <a:pPr lvl="0" indent="0" marL="0">
              <a:buNone/>
            </a:pPr>
          </a:p>
          <a:p>
            <a:pPr lvl="0" indent="0" marL="0">
              <a:buNone/>
            </a:pPr>
            <a:r>
              <a:rPr/>
              <a:t>Name the predictable mistake and defend the instinct: prescribing data for a bias problem is what almost everyone does, and the reasoning is sound - more data almost always helps and never makes a model worse. It just does not help THIS failure, and fifteen lines of code tell you which failure you have.</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Run notebooks/02. Twenty minutes.</a:t>
            </a:r>
          </a:p>
          <a:p>
            <a:pPr lvl="0" indent="0" marL="0">
              <a:buNone/>
            </a:pPr>
          </a:p>
          <a:p>
            <a:pPr lvl="0" indent="0" marL="0">
              <a:buNone/>
            </a:pPr>
            <a:r>
              <a:rPr/>
              <a:t>The cell to protect is the decomposition table where the sum equals the measured error to twelve decimal places. Let them see the identity hold rather than telling them it does.</a:t>
            </a:r>
          </a:p>
          <a:p>
            <a:pPr lvl="0" indent="0" marL="0">
              <a:buNone/>
            </a:pPr>
          </a:p>
          <a:p>
            <a:pPr lvl="0" indent="0" marL="0">
              <a:buNone/>
            </a:pPr>
            <a:r>
              <a:rPr/>
              <a:t>If time is short, skip the three-sample-size comparison and assign it as reading - the table is in the handout.</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this up carefully, because the demonstration only lands if they believe the data is genuinely empty.</a:t>
            </a:r>
          </a:p>
          <a:p>
            <a:pPr lvl="0" indent="0" marL="0">
              <a:buNone/>
            </a:pPr>
          </a:p>
          <a:p>
            <a:pPr lvl="0" indent="0" marL="0">
              <a:buNone/>
            </a:pPr>
            <a:r>
              <a:rPr/>
              <a:t>Two thousand columns drawn from a standard normal, independent of the label and of each other. There is nothing to find. Any model’s honest AUC is one half.</a:t>
            </a:r>
          </a:p>
          <a:p>
            <a:pPr lvl="0" indent="0" marL="0">
              <a:buNone/>
            </a:pPr>
          </a:p>
          <a:p>
            <a:pPr lvl="0" indent="0" marL="0">
              <a:buNone/>
            </a:pPr>
            <a:r>
              <a:rPr/>
              <a:t>Tell them what is coming so they can watch for it: we are going to write code that looks completely reasonable, and get 0.93.</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it aloud as the sentence a practitioner would say: “two thousand features is too many, so let me keep the ten most predictive ones, then cross-validate a model on those.”</a:t>
            </a:r>
          </a:p>
          <a:p>
            <a:pPr lvl="0" indent="0" marL="0">
              <a:buNone/>
            </a:pPr>
          </a:p>
          <a:p>
            <a:pPr lvl="0" indent="0" marL="0">
              <a:buNone/>
            </a:pPr>
            <a:r>
              <a:rPr/>
              <a:t>Every line is defensible in isolation. Feature selection is normal. Ten from two thousand is reasonable. Cross-validating afterwards is exactly what we spent the morning recommending.</a:t>
            </a:r>
          </a:p>
          <a:p>
            <a:pPr lvl="0" indent="0" marL="0">
              <a:buNone/>
            </a:pPr>
          </a:p>
          <a:p>
            <a:pPr lvl="0" indent="0" marL="0">
              <a:buNone/>
            </a:pPr>
            <a:r>
              <a:rPr/>
              <a:t>Do not reveal the bug yet. Ask them to find it before the next slide.</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result. Tight fold agreement, which is exactly what a trustworthy result looks like.</a:t>
            </a:r>
          </a:p>
          <a:p>
            <a:pPr lvl="0" indent="0" marL="0">
              <a:buNone/>
            </a:pPr>
          </a:p>
          <a:p>
            <a:pPr lvl="0" indent="0" marL="0">
              <a:buNone/>
            </a:pPr>
            <a:r>
              <a:rPr/>
              <a:t>Now the bug, which is on the first line: SelectKBest was shown EVERY row, including the rows that would later serve as test folds. It searched two thousand columns for the ones that best matched labels it had already seen, and handed the winners to cross-validation.</a:t>
            </a:r>
          </a:p>
          <a:p>
            <a:pPr lvl="0" indent="0" marL="0">
              <a:buNone/>
            </a:pPr>
          </a:p>
          <a:p>
            <a:pPr lvl="0" indent="0" marL="0">
              <a:buNone/>
            </a:pPr>
            <a:r>
              <a:rPr/>
              <a:t>The framing worth using: cross-validation did not fail. It was lied to. It faithfully measured a procedure that had already peeked.</a:t>
            </a:r>
          </a:p>
          <a:p>
            <a:pPr lvl="0" indent="0" marL="0">
              <a:buNone/>
            </a:pPr>
          </a:p>
          <a:p>
            <a:pPr lvl="0" indent="0" marL="0">
              <a:buNone/>
            </a:pPr>
            <a:r>
              <a:rPr/>
              <a:t>This is the single most common serious error in applied machine learning, and it is committed in published work regularly.</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fix is one Pipeline: selection becomes part of the model, so it is refitted on the training rows of each fold.</a:t>
            </a:r>
          </a:p>
          <a:p>
            <a:pPr lvl="0" indent="0" marL="0">
              <a:buNone/>
            </a:pPr>
          </a:p>
          <a:p>
            <a:pPr lvl="0" indent="0" marL="0">
              <a:buNone/>
            </a:pPr>
            <a:r>
              <a:rPr/>
              <a:t>The leak is mostly gone - 0.93 down to 0.66. And it has NOT come back to 0.5. Twenty different fold seeds all agree that a signal-free dataset supports a model better than chance.</a:t>
            </a:r>
          </a:p>
          <a:p>
            <a:pPr lvl="0" indent="0" marL="0">
              <a:buNone/>
            </a:pPr>
          </a:p>
          <a:p>
            <a:pPr lvl="0" indent="0" marL="0">
              <a:buNone/>
            </a:pPr>
            <a:r>
              <a:rPr/>
              <a:t>Let that be uncomfortable for a moment before explaining. Most treatments of this topic stop at “put it in a Pipeline” and imply the problem is solved.</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most useful idea in the lesson, so take the time.</a:t>
            </a:r>
          </a:p>
          <a:p>
            <a:pPr lvl="0" indent="0" marL="0">
              <a:buNone/>
            </a:pPr>
          </a:p>
          <a:p>
            <a:pPr lvl="0" indent="0" marL="0">
              <a:buNone/>
            </a:pPr>
            <a:r>
              <a:rPr/>
              <a:t>With two thousand columns and eight hundred rows, some columns correlate with the label purely by chance across the whole dataset. That accident is a property of this particular sample. It is present in every subset of it - every training fold and every test fold alike.</a:t>
            </a:r>
          </a:p>
          <a:p>
            <a:pPr lvl="0" indent="0" marL="0">
              <a:buNone/>
            </a:pPr>
          </a:p>
          <a:p>
            <a:pPr lvl="0" indent="0" marL="0">
              <a:buNone/>
            </a:pPr>
            <a:r>
              <a:rPr/>
              <a:t>So a selector fitted honestly on four fifths finds those columns, and they still work on the remaining fifth, because the spurious correlation was never fold-specific in the first place.</a:t>
            </a:r>
          </a:p>
          <a:p>
            <a:pPr lvl="0" indent="0" marL="0">
              <a:buNone/>
            </a:pPr>
          </a:p>
          <a:p>
            <a:pPr lvl="0" indent="0" marL="0">
              <a:buNone/>
            </a:pPr>
            <a:r>
              <a:rPr/>
              <a:t>The statement to write on the board: cross-validation protects you from leaking between folds. It cannot protect you from having searched a large space of possibilities on a small sample. No rearrangement of the same 800 rows removes a pattern that is genuinely in those 800 rows and absent from the world.</a:t>
            </a:r>
          </a:p>
          <a:p>
            <a:pPr lvl="0" indent="0" marL="0">
              <a:buNone/>
            </a:pPr>
          </a:p>
          <a:p>
            <a:pPr lvl="0" indent="0" marL="0">
              <a:buNone/>
            </a:pPr>
            <a:r>
              <a:rPr/>
              <a:t>What helps: a test set held out before any of this and used once; fewer candidates; or more rows. Nothing else.</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Choosing between configurations is choosing, and choosing on data costs the same honesty. Twenty-five combinations on the same signal-free table.</a:t>
            </a:r>
          </a:p>
          <a:p>
            <a:pPr lvl="0" indent="0" marL="0">
              <a:buNone/>
            </a:pPr>
          </a:p>
          <a:p>
            <a:pPr lvl="0" indent="0" marL="0">
              <a:buNone/>
            </a:pPr>
            <a:r>
              <a:rPr/>
              <a:t>The number a practitioner reports is best_score_, and it is the MAXIMUM of 25 noisy estimates. The maximum of a set of noisy numbers is biased upward even when every one measures the same quantity - and here they nearly do, since the average candidate is 0.73 and the worst is 0.68.</a:t>
            </a:r>
          </a:p>
          <a:p>
            <a:pPr lvl="0" indent="0" marL="0">
              <a:buNone/>
            </a:pPr>
          </a:p>
          <a:p>
            <a:pPr lvl="0" indent="0" marL="0">
              <a:buNone/>
            </a:pPr>
            <a:r>
              <a:rPr/>
              <a:t>So 0.7999 is not the performance of the chosen configuration. It is the performance of whichever configuration got luckiest.</a:t>
            </a:r>
          </a:p>
          <a:p>
            <a:pPr lvl="0" indent="0" marL="0">
              <a:buNone/>
            </a:pPr>
          </a:p>
          <a:p>
            <a:pPr lvl="0" indent="0" marL="0">
              <a:buNone/>
            </a:pPr>
            <a:r>
              <a:rPr/>
              <a:t>The optimism is +0.13, which is larger than most differences anyone reports between competing methods.</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Measure the search, not the winner.</a:t>
            </a:r>
          </a:p>
          <a:p>
            <a:pPr lvl="0" indent="0" marL="0">
              <a:buNone/>
            </a:pPr>
          </a:p>
          <a:p>
            <a:pPr lvl="0" indent="0" marL="0">
              <a:buNone/>
            </a:pPr>
            <a:r>
              <a:rPr/>
              <a:t>Outer loop holds out a fifth. The entire search runs inside the remaining four fifths. Score the search’s chosen model on the held-out fifth. Repeat five times.</a:t>
            </a:r>
          </a:p>
          <a:p>
            <a:pPr lvl="0" indent="0" marL="0">
              <a:buNone/>
            </a:pPr>
          </a:p>
          <a:p>
            <a:pPr lvl="0" indent="0" marL="0">
              <a:buNone/>
            </a:pPr>
            <a:r>
              <a:rPr/>
              <a:t>The inner loop may overfit its own data as much as it likes; the outer block was never part of it.</a:t>
            </a:r>
          </a:p>
          <a:p>
            <a:pPr lvl="0" indent="0" marL="0">
              <a:buNone/>
            </a:pPr>
          </a:p>
          <a:p>
            <a:pPr lvl="0" indent="0" marL="0">
              <a:buNone/>
            </a:pPr>
            <a:r>
              <a:rPr/>
              <a:t>One clarification that always comes up, so pre-empt it: nested cross-validation is NOT a way to choose hyperparameters - it produces k possibly different winners. It is a way to estimate what choosing costs. You choose on all the data afterwards, and you report the nested figure.</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summary of the whole last hour, on one axis. Same data, containing nothing.</a:t>
            </a:r>
          </a:p>
          <a:p>
            <a:pPr lvl="0" indent="0" marL="0">
              <a:buNone/>
            </a:pPr>
          </a:p>
          <a:p>
            <a:pPr lvl="0" indent="0" marL="0">
              <a:buNone/>
            </a:pPr>
            <a:r>
              <a:rPr/>
              <a:t>0.500 is the truth. 0.670 is nested cross-validation. 0.800 is what the search reports. 0.931 is selection before cross-validation.</a:t>
            </a:r>
          </a:p>
          <a:p>
            <a:pPr lvl="0" indent="0" marL="0">
              <a:buNone/>
            </a:pPr>
          </a:p>
          <a:p>
            <a:pPr lvl="0" indent="0" marL="0">
              <a:buNone/>
            </a:pPr>
            <a:r>
              <a:rPr/>
              <a:t>Say clearly: nobody in this picture wrote dishonest code. The difference between 0.93 and 0.50 is entirely a matter of which choices were made while looking at which data.</a:t>
            </a:r>
          </a:p>
          <a:p>
            <a:pPr lvl="0" indent="0" marL="0">
              <a:buNone/>
            </a:pPr>
          </a:p>
          <a:p>
            <a:pPr lvl="0" indent="0" marL="0">
              <a:buNone/>
            </a:pPr>
            <a:r>
              <a:rPr/>
              <a:t>Each step to the left is a piece of discipline, and each one costs a chunk of the score you would otherwise have reported. That is what discipline feels like from the inside, and it is why it is unpopular.</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Lesson 4’s threshold, done properly. Split three ways: train to fit, validation to choose, test to report once.</a:t>
            </a:r>
          </a:p>
          <a:p>
            <a:pPr lvl="0" indent="0" marL="0">
              <a:buNone/>
            </a:pPr>
          </a:p>
          <a:p>
            <a:pPr lvl="0" indent="0" marL="0">
              <a:buNone/>
            </a:pPr>
            <a:r>
              <a:rPr/>
              <a:t>The honest threshold is WORSE on the test set than the cheating one. It is supposed to be - and this is the slide where that finally makes sense to them.</a:t>
            </a:r>
          </a:p>
          <a:p>
            <a:pPr lvl="0" indent="0" marL="0">
              <a:buNone/>
            </a:pPr>
          </a:p>
          <a:p>
            <a:pPr lvl="0" indent="0" marL="0">
              <a:buNone/>
            </a:pPr>
            <a:r>
              <a:rPr/>
              <a:t>The cheating figure describes a threshold tuned to this particular test set, and there is no reason it survives contact with the next two hundred drives. The honest figure is an unbiased estimate of what happens next.</a:t>
            </a:r>
          </a:p>
          <a:p>
            <a:pPr lvl="0" indent="0" marL="0">
              <a:buNone/>
            </a:pPr>
          </a:p>
          <a:p>
            <a:pPr lvl="0" indent="0" marL="0">
              <a:buNone/>
            </a:pPr>
            <a:r>
              <a:rPr/>
              <a:t>Note the cost: we now train on 56% of the data instead of 75%, because the validation set has to come from somewhere. On a small dataset that hurts - which is the argument for choosing by cross-validation on the training portion and keeping the test set whole.</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organising principle of the whole lesson, on one slide. Put it on the board and leave it there.</a:t>
            </a:r>
          </a:p>
          <a:p>
            <a:pPr lvl="0" indent="0" marL="0">
              <a:buNone/>
            </a:pPr>
          </a:p>
          <a:p>
            <a:pPr lvl="0" indent="0" marL="0">
              <a:buNone/>
            </a:pPr>
            <a:r>
              <a:rPr/>
              <a:t>Every choice belongs to the validation set. Which model, which penalty, which features, which threshold, when to stop training, whether to try a different approach entirely - all of it.</a:t>
            </a:r>
          </a:p>
          <a:p>
            <a:pPr lvl="0" indent="0" marL="0">
              <a:buNone/>
            </a:pPr>
          </a:p>
          <a:p>
            <a:pPr lvl="0" indent="0" marL="0">
              <a:buNone/>
            </a:pPr>
            <a:r>
              <a:rPr/>
              <a:t>The test set has exactly one job and one use. The moment you look at it and change something in response, it has become a validation set, and you no longer have a test set at all.</a:t>
            </a:r>
          </a:p>
          <a:p>
            <a:pPr lvl="0" indent="0" marL="0">
              <a:buNone/>
            </a:pPr>
          </a:p>
          <a:p>
            <a:pPr lvl="0" indent="0" marL="0">
              <a:buNone/>
            </a:pPr>
            <a:r>
              <a:rPr/>
              <a:t>The honest thing to say aloud, because they will do it anyway: everyone looks twice sometimes. The requirement is that you SAY SO in the report. A stated weakness costs a little credibility; an unstated one costs all of it when somebody else fails to reproduce your number.</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Every one of those thirty runs is exactly reproducible by anyone with the same code. They disagree with each other by nearly nine points.</a:t>
            </a:r>
          </a:p>
          <a:p>
            <a:pPr lvl="0" indent="0" marL="0">
              <a:buNone/>
            </a:pPr>
          </a:p>
          <a:p>
            <a:pPr lvl="0" indent="0" marL="0">
              <a:buNone/>
            </a:pPr>
            <a:r>
              <a:rPr/>
              <a:t>So reproducibility is necessary and nowhere near sufficient. Report the seed AND the spread.</a:t>
            </a:r>
          </a:p>
          <a:p>
            <a:pPr lvl="0" indent="0" marL="0">
              <a:buNone/>
            </a:pPr>
          </a:p>
          <a:p>
            <a:pPr lvl="0" indent="0" marL="0">
              <a:buNone/>
            </a:pPr>
            <a:r>
              <a:rPr/>
              <a:t>Contrast the two ways of writing the same experiment up. “AUC 1.000, random_state=3” - fully reproducible, thoroughly misleading. “AUC 0.951 plus or minus 0.019 over 5-fold cross-validation, seed 0” - reproducible and honest.</a:t>
            </a:r>
          </a:p>
          <a:p>
            <a:pPr lvl="0" indent="0" marL="0">
              <a:buNone/>
            </a:pPr>
          </a:p>
          <a:p>
            <a:pPr lvl="0" indent="0" marL="0">
              <a:buNone/>
            </a:pPr>
            <a:r>
              <a:rPr/>
              <a:t>The second one is also the format the final project will be marked in.</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Practical checklist. The container exists for the second item: it pins the environment so that their result and the marker’s result are the same result.</a:t>
            </a:r>
          </a:p>
          <a:p>
            <a:pPr lvl="0" indent="0" marL="0">
              <a:buNone/>
            </a:pPr>
          </a:p>
          <a:p>
            <a:pPr lvl="0" indent="0" marL="0">
              <a:buNone/>
            </a:pPr>
            <a:r>
              <a:rPr/>
              <a:t>Worth saying that a result nobody can reproduce in two years was not really reproducible - and that scikit-learn genuinely does change defaults between minor versions, which has invalidated published comparisons.</a:t>
            </a:r>
          </a:p>
          <a:p>
            <a:pPr lvl="0" indent="0" marL="0">
              <a:buNone/>
            </a:pPr>
          </a:p>
          <a:p>
            <a:pPr lvl="0" indent="0" marL="0">
              <a:buNone/>
            </a:pPr>
            <a:r>
              <a:rPr/>
              <a:t>Commit the code that produced the number, not a tidied-up version of it.</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Run notebooks/03. Twenty minutes if the clock allows.</a:t>
            </a:r>
          </a:p>
          <a:p>
            <a:pPr lvl="0" indent="0" marL="0">
              <a:buNone/>
            </a:pPr>
          </a:p>
          <a:p>
            <a:pPr lvl="0" indent="0" marL="0">
              <a:buNone/>
            </a:pPr>
            <a:r>
              <a:rPr/>
              <a:t>The cell to protect is the first one - let them watch 0.931 appear on empty data before any explanation. Nothing else in the lesson changes behaviour as reliably.</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checklist they can apply to the final project and to anything they read.</a:t>
            </a:r>
          </a:p>
          <a:p>
            <a:pPr lvl="0" indent="0" marL="0">
              <a:buNone/>
            </a:pPr>
          </a:p>
          <a:p>
            <a:pPr lvl="0" indent="0" marL="0">
              <a:buNone/>
            </a:pPr>
            <a:r>
              <a:rPr/>
              <a:t>The four items map to the four failures of today: a number without a spread hides the lottery; a metric without a positive count hides why the spread is wide; a missing seed makes it unreproducible; and an unstated selection procedure hides the optimism.</a:t>
            </a:r>
          </a:p>
          <a:p>
            <a:pPr lvl="0" indent="0" marL="0">
              <a:buNone/>
            </a:pPr>
          </a:p>
          <a:p>
            <a:pPr lvl="0" indent="0" marL="0">
              <a:buNone/>
            </a:pPr>
            <a:r>
              <a:rPr/>
              <a:t>Turn it around as a reading habit too. When they meet a paper reporting a single figure with no spread, no fold count and no statement about how the hyperparameters were chosen, they now know exactly which questions are unanswered - and roughly how large the correction is likely to be.</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Close on the number they opened with. Seed 3, AUC 1.000, on a model whose honest performance is 0.951.</a:t>
            </a:r>
          </a:p>
          <a:p>
            <a:pPr lvl="0" indent="0" marL="0">
              <a:buNone/>
            </a:pPr>
          </a:p>
          <a:p>
            <a:pPr lvl="0" indent="0" marL="0">
              <a:buNone/>
            </a:pPr>
            <a:r>
              <a:rPr/>
              <a:t>If they remember one habit from today, make it this: before believing any reported score, ask what the base rate is, how many positives are in the test set, and which choices were made while looking at which data.</a:t>
            </a:r>
          </a:p>
          <a:p>
            <a:pPr lvl="0" indent="0" marL="0">
              <a:buNone/>
            </a:pPr>
          </a:p>
          <a:p>
            <a:pPr lvl="0" indent="0" marL="0">
              <a:buNone/>
            </a:pPr>
            <a:r>
              <a:rPr/>
              <a:t>That third question is the one that separates a result from a story, and it is the question the final project will be marked on.</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it explicitly and say the deadline out loud: next Friday, 30 October.</a:t>
            </a:r>
          </a:p>
          <a:p>
            <a:pPr lvl="0" indent="0" marL="0">
              <a:buNone/>
            </a:pPr>
          </a:p>
          <a:p>
            <a:pPr lvl="0" indent="0" marL="0">
              <a:buNone/>
            </a:pPr>
            <a:r>
              <a:rPr/>
              <a:t>The shape of it: they are given a notebook that reports an excellent score, and the score is wrong. They have to find the reason, fix it, report the honest number, and say how much honesty cost.</a:t>
            </a:r>
          </a:p>
          <a:p>
            <a:pPr lvl="0" indent="0" marL="0">
              <a:buNone/>
            </a:pPr>
          </a:p>
          <a:p>
            <a:pPr lvl="0" indent="0" marL="0">
              <a:buNone/>
            </a:pPr>
            <a:r>
              <a:rPr/>
              <a:t>Warn them that there is more than one problem planted, and that the marks are for the diagnosis rather than for the final figure - which will be much worse than the one they start with, and is supposed to be.</a:t>
            </a:r>
          </a:p>
          <a:p>
            <a:pPr lvl="0" indent="0" marL="0">
              <a:buNone/>
            </a:pPr>
          </a:p>
          <a:p>
            <a:pPr lvl="0" indent="0" marL="0">
              <a:buNone/>
            </a:pPr>
            <a:r>
              <a:rPr/>
              <a:t>Next week: k-nearest neighbours, Naive Bayes and support vector machines. Three new model families, all of them evaluated with what we built today.</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showMasterSp="0">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pic>
        <p:nvPicPr>
          <p:cNvPr id="7" name="Logo 7" descr="univaq_logo.png"/>
          <p:cNvPicPr>
            <a:picLocks noChangeAspect="1"/>
          </p:cNvPicPr>
          <p:nvPr/>
        </p:nvPicPr>
        <p:blipFill>
          <a:blip r:embed="rId2"/>
          <a:stretch>
            <a:fillRect/>
          </a:stretch>
        </p:blipFill>
        <p:spPr>
          <a:xfrm>
            <a:off x="3383280" y="282892"/>
            <a:ext cx="2377440" cy="1037097"/>
          </a:xfrm>
          <a:prstGeom prst="rect">
            <a:avLst/>
          </a:prstGeom>
        </p:spPr>
      </p:pic>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a:lvl1pPr>
            <a:lvl2pPr>
              <a:defRPr/>
            </a:lvl2pPr>
            <a:lvl3pPr>
              <a:defRPr/>
            </a:lvl3pPr>
            <a:lvl4pPr>
              <a:defRPr/>
            </a:lvl4pPr>
            <a:lvl5pPr>
              <a:defRPr/>
            </a:lvl5pPr>
            <a:lvl6pPr>
              <a:defRPr/>
            </a:lvl6pPr>
            <a:lvl7pPr>
              <a:defRPr/>
            </a:lvl7pPr>
            <a:lvl8pPr>
              <a:defRPr/>
            </a:lvl8pPr>
            <a:lvl9pPr>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Picture Placeholder 2"/>
          <p:cNvSpPr>
            <a:spLocks noGrp="1"/>
          </p:cNvSpPr>
          <p:nvPr>
            <p:ph type="pic" idx="1"/>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endParaRPr lang="en-US"/>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 Id="rId13" Type="http://schemas.openxmlformats.org/officeDocument/2006/relationships/image" Target="../media/image1.png"/></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pic>
        <p:nvPicPr>
          <p:cNvPr descr="univaq_logo.png" id="7" name="Logo 7"/>
          <p:cNvPicPr>
            <a:picLocks noChangeAspect="1"/>
          </p:cNvPicPr>
          <p:nvPr/>
        </p:nvPicPr>
        <p:blipFill>
          <a:blip r:embed="rId13"/>
          <a:stretch>
            <a:fillRect/>
          </a:stretch>
        </p:blipFill>
        <p:spPr>
          <a:xfrm>
            <a:off x="7836408" y="4530478"/>
            <a:ext cx="1051560" cy="458716"/>
          </a:xfrm>
          <a:prstGeom prst="rect">
            <a:avLst/>
          </a:prstGeom>
        </p:spPr>
      </p:pic>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 Id="rId3"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image" Target="../media/image4.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 Id="rId3" Type="http://schemas.openxmlformats.org/officeDocument/2006/relationships/image" Target="../media/image5.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 Id="rId3" Type="http://schemas.openxmlformats.org/officeDocument/2006/relationships/image" Target="../media/image6.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 Id="rId3" Type="http://schemas.openxmlformats.org/officeDocument/2006/relationships/image" Target="../media/image7.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 Id="rId3" Type="http://schemas.openxmlformats.org/officeDocument/2006/relationships/image" Target="../media/image8.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 Id="rId3" Type="http://schemas.openxmlformats.org/officeDocument/2006/relationships/image" Target="../media/image9.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 Id="rId3" Type="http://schemas.openxmlformats.org/officeDocument/2006/relationships/image" Target="../media/image10.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Lesson 5: Experimental Methodology</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Technologies for Artificial Intelligence</a:t>
            </a:r>
            <a:br/>
            <a:br/>
            <a:r>
              <a:rPr/>
              <a:t>Fabio Antonini, Università degli Studi dell’Aquila</a:t>
            </a:r>
          </a:p>
        </p:txBody>
      </p:sp>
      <p:sp>
        <p:nvSpPr>
          <p:cNvPr id="4" name="Date Placeholder 3"/>
          <p:cNvSpPr>
            <a:spLocks noGrp="1"/>
          </p:cNvSpPr>
          <p:nvPr>
            <p:ph idx="10" sz="half" type="dt"/>
          </p:nvPr>
        </p:nvSpPr>
        <p:spPr>
          <a:xfrm>
            <a:off x="457200" y="4767263"/>
            <a:ext cx="2133600" cy="273844"/>
          </a:xfrm>
        </p:spPr>
        <p:txBody>
          <a:bodyPr/>
          <a:lstStyle/>
          <a:p>
            <a:pPr lvl="0" indent="0" marL="0">
              <a:buNone/>
            </a:pPr>
            <a:r>
              <a:rPr/>
              <a:t>23 October 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Before we start</a:t>
            </a:r>
          </a:p>
        </p:txBody>
      </p:sp>
      <p:sp>
        <p:nvSpPr>
          <p:cNvPr id="3" name="Content Placeholder 2"/>
          <p:cNvSpPr>
            <a:spLocks noGrp="1"/>
          </p:cNvSpPr>
          <p:nvPr>
            <p:ph idx="1"/>
          </p:nvPr>
        </p:nvSpPr>
        <p:spPr>
          <a:xfrm>
            <a:off x="457200" y="1200151"/>
            <a:ext cx="8229600" cy="3394472"/>
          </a:xfrm>
        </p:spPr>
        <p:txBody>
          <a:bodyPr/>
          <a:lstStyle/>
          <a:p>
            <a:pPr lvl="0"/>
            <a:r>
              <a:rPr/>
              <a:t>Exercise 4 was due today</a:t>
            </a:r>
          </a:p>
          <a:p>
            <a:pPr lvl="0"/>
            <a:r>
              <a:rPr/>
              <a:t>The threshold you chose, and how you chose it</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We broke a promise on purpose</a:t>
            </a:r>
          </a:p>
        </p:txBody>
      </p:sp>
      <p:sp>
        <p:nvSpPr>
          <p:cNvPr id="3" name="Content Placeholder 2"/>
          <p:cNvSpPr>
            <a:spLocks noGrp="1"/>
          </p:cNvSpPr>
          <p:nvPr>
            <p:ph idx="1"/>
          </p:nvPr>
        </p:nvSpPr>
        <p:spPr>
          <a:xfrm>
            <a:off x="457200" y="1200151"/>
            <a:ext cx="8229600" cy="3394472"/>
          </a:xfrm>
        </p:spPr>
        <p:txBody>
          <a:bodyPr/>
          <a:lstStyle/>
          <a:p>
            <a:pPr lvl="0"/>
            <a:r>
              <a:rPr/>
              <a:t>Lesson 4 chose a threshold </a:t>
            </a:r>
            <a:r>
              <a:rPr b="1"/>
              <a:t>by looking at the test set</a:t>
            </a:r>
          </a:p>
          <a:p>
            <a:pPr lvl="0"/>
            <a:r>
              <a:rPr/>
              <a:t>Lesson 1 forbade exactly that</a:t>
            </a:r>
          </a:p>
          <a:p>
            <a:pPr lvl="0"/>
            <a:r>
              <a:rPr/>
              <a:t>Today we pay the debt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Today: how to tell whether it works</a:t>
            </a:r>
          </a:p>
        </p:txBody>
      </p:sp>
      <p:sp>
        <p:nvSpPr>
          <p:cNvPr id="3" name="Content Placeholder 2"/>
          <p:cNvSpPr>
            <a:spLocks noGrp="1"/>
          </p:cNvSpPr>
          <p:nvPr>
            <p:ph idx="1"/>
          </p:nvPr>
        </p:nvSpPr>
        <p:spPr>
          <a:xfrm>
            <a:off x="457200" y="1200151"/>
            <a:ext cx="8229600" cy="3394472"/>
          </a:xfrm>
        </p:spPr>
        <p:txBody>
          <a:bodyPr/>
          <a:lstStyle/>
          <a:p>
            <a:pPr lvl="0"/>
            <a:r>
              <a:rPr/>
              <a:t>One split is a lottery, and how wide the lottery is</a:t>
            </a:r>
          </a:p>
          <a:p>
            <a:pPr lvl="0"/>
            <a:r>
              <a:rPr/>
              <a:t>Cross-validation: what it estimates, and what it does not</a:t>
            </a:r>
          </a:p>
          <a:p>
            <a:pPr lvl="0"/>
            <a:r>
              <a:rPr/>
              <a:t>Bias, variance, and the floor you cannot go below</a:t>
            </a:r>
          </a:p>
          <a:p>
            <a:pPr lvl="0"/>
            <a:r>
              <a:rPr/>
              <a:t>Learning curves: which fix to buy</a:t>
            </a:r>
          </a:p>
          <a:p>
            <a:pPr lvl="0"/>
            <a:r>
              <a:rPr/>
              <a:t>Leakage that survives cross-validation</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test score is a measurement</a:t>
            </a:r>
          </a:p>
        </p:txBody>
      </p:sp>
      <p:sp>
        <p:nvSpPr>
          <p:cNvPr id="3" name="Content Placeholder 2"/>
          <p:cNvSpPr>
            <a:spLocks noGrp="1"/>
          </p:cNvSpPr>
          <p:nvPr>
            <p:ph idx="1"/>
          </p:nvPr>
        </p:nvSpPr>
        <p:spPr>
          <a:xfrm>
            <a:off x="457200" y="1200151"/>
            <a:ext cx="8229600" cy="3394472"/>
          </a:xfrm>
        </p:spPr>
        <p:txBody>
          <a:bodyPr/>
          <a:lstStyle/>
          <a:p>
            <a:pPr lvl="0"/>
            <a:r>
              <a:rPr/>
              <a:t>You would not report a poll of forty people to three decimals</a:t>
            </a:r>
          </a:p>
          <a:p>
            <a:pPr lvl="0"/>
            <a:r>
              <a:rPr/>
              <a:t>Holding data out makes the estimate </a:t>
            </a:r>
            <a:r>
              <a:rPr b="1"/>
              <a:t>unbiased</a:t>
            </a:r>
          </a:p>
          <a:p>
            <a:pPr lvl="0"/>
            <a:r>
              <a:rPr/>
              <a:t>It does nothing to make it </a:t>
            </a:r>
            <a:r>
              <a:rPr b="1"/>
              <a:t>precise</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fleet, cut down</a:t>
            </a:r>
          </a:p>
        </p:txBody>
      </p:sp>
      <p:sp>
        <p:nvSpPr>
          <p:cNvPr id="3" name="Content Placeholder 2"/>
          <p:cNvSpPr>
            <a:spLocks noGrp="1"/>
          </p:cNvSpPr>
          <p:nvPr>
            <p:ph idx="1"/>
          </p:nvPr>
        </p:nvSpPr>
        <p:spPr>
          <a:xfrm>
            <a:off x="457200" y="1200151"/>
            <a:ext cx="8229600" cy="3394472"/>
          </a:xfrm>
        </p:spPr>
        <p:txBody>
          <a:bodyPr/>
          <a:lstStyle/>
          <a:p>
            <a:pPr lvl="0"/>
            <a:r>
              <a:rPr/>
              <a:t>Lesson 4’s drives, reduced to </a:t>
            </a:r>
            <a:r>
              <a:rPr b="1"/>
              <a:t>800</a:t>
            </a:r>
            <a:r>
              <a:rPr/>
              <a:t>, of which </a:t>
            </a:r>
            <a:r>
              <a:rPr b="1"/>
              <a:t>29 fail</a:t>
            </a:r>
          </a:p>
          <a:p>
            <a:pPr lvl="0"/>
            <a:r>
              <a:rPr/>
              <a:t>Not to exaggerate: 800 rows with 29 positives is the ordinary case</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200 honest splits, one dataset</a:t>
            </a:r>
          </a:p>
        </p:txBody>
      </p:sp>
      <p:pic>
        <p:nvPicPr>
          <p:cNvPr descr="split_lottery.png" id="0" name="Picture 1"/>
          <p:cNvPicPr>
            <a:picLocks noGrp="1" noChangeAspect="1"/>
          </p:cNvPicPr>
          <p:nvPr/>
        </p:nvPicPr>
        <p:blipFill>
          <a:blip r:embed="rId3"/>
          <a:stretch>
            <a:fillRect/>
          </a:stretch>
        </p:blipFill>
        <p:spPr bwMode="auto">
          <a:xfrm>
            <a:off x="1476103" y="1166099"/>
            <a:ext cx="6191794" cy="3360181"/>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Why so wide?</a:t>
            </a:r>
          </a:p>
        </p:txBody>
      </p:sp>
      <p:sp>
        <p:nvSpPr>
          <p:cNvPr id="3" name="Content Placeholder 2"/>
          <p:cNvSpPr>
            <a:spLocks noGrp="1"/>
          </p:cNvSpPr>
          <p:nvPr>
            <p:ph idx="1"/>
          </p:nvPr>
        </p:nvSpPr>
        <p:spPr>
          <a:xfrm>
            <a:off x="457200" y="1200151"/>
            <a:ext cx="8229600" cy="3394472"/>
          </a:xfrm>
        </p:spPr>
        <p:txBody>
          <a:bodyPr/>
          <a:lstStyle/>
          <a:p>
            <a:pPr lvl="0"/>
            <a:r>
              <a:rPr/>
              <a:t>Each test set holds </a:t>
            </a:r>
            <a:r>
              <a:rPr b="1"/>
              <a:t>7 failures</a:t>
            </a:r>
          </a:p>
          <a:p>
            <a:pPr lvl="0"/>
            <a:r>
              <a:rPr/>
              <a:t>Every AUC (area under the receiver operating characteristic curve) rests on seven</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Now the expensive part: choosing</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Model</a:t>
                      </a:r>
                    </a:p>
                  </a:txBody>
                  <a:tcPr/>
                </a:tc>
                <a:tc>
                  <a:txBody>
                    <a:bodyPr/>
                    <a:lstStyle/>
                    <a:p>
                      <a:pPr lvl="0" indent="0" marL="0">
                        <a:buNone/>
                      </a:pPr>
                      <a:r>
                        <a:rPr/>
                        <a:t>Mean AUC</a:t>
                      </a:r>
                    </a:p>
                  </a:txBody>
                  <a:tcPr/>
                </a:tc>
                <a:tc>
                  <a:txBody>
                    <a:bodyPr/>
                    <a:lstStyle/>
                    <a:p>
                      <a:pPr lvl="0" indent="0" marL="0">
                        <a:buNone/>
                      </a:pPr>
                      <a:r>
                        <a:rPr/>
                        <a:t>Times declared best</a:t>
                      </a:r>
                    </a:p>
                  </a:txBody>
                  <a:tcPr/>
                </a:tc>
              </a:tr>
              <a:tr h="0">
                <a:tc>
                  <a:txBody>
                    <a:bodyPr/>
                    <a:lstStyle/>
                    <a:p>
                      <a:pPr lvl="0" indent="0" marL="0">
                        <a:buNone/>
                      </a:pPr>
                      <a:r>
                        <a:rPr/>
                        <a:t>C = 0.01</a:t>
                      </a:r>
                    </a:p>
                  </a:txBody>
                </a:tc>
                <a:tc>
                  <a:txBody>
                    <a:bodyPr/>
                    <a:lstStyle/>
                    <a:p>
                      <a:pPr lvl="0" indent="0" marL="0">
                        <a:buNone/>
                      </a:pPr>
                      <a:r>
                        <a:rPr/>
                        <a:t>0.9549</a:t>
                      </a:r>
                    </a:p>
                  </a:txBody>
                </a:tc>
                <a:tc>
                  <a:txBody>
                    <a:bodyPr/>
                    <a:lstStyle/>
                    <a:p>
                      <a:pPr lvl="0" indent="0" marL="0">
                        <a:buNone/>
                      </a:pPr>
                      <a:r>
                        <a:rPr/>
                        <a:t>91</a:t>
                      </a:r>
                    </a:p>
                  </a:txBody>
                </a:tc>
              </a:tr>
              <a:tr h="0">
                <a:tc>
                  <a:txBody>
                    <a:bodyPr/>
                    <a:lstStyle/>
                    <a:p>
                      <a:pPr lvl="0" indent="0" marL="0">
                        <a:buNone/>
                      </a:pPr>
                      <a:r>
                        <a:rPr/>
                        <a:t>C = 1</a:t>
                      </a:r>
                    </a:p>
                  </a:txBody>
                </a:tc>
                <a:tc>
                  <a:txBody>
                    <a:bodyPr/>
                    <a:lstStyle/>
                    <a:p>
                      <a:pPr lvl="0" indent="0" marL="0">
                        <a:buNone/>
                      </a:pPr>
                      <a:r>
                        <a:rPr/>
                        <a:t>0.9549</a:t>
                      </a:r>
                    </a:p>
                  </a:txBody>
                </a:tc>
                <a:tc>
                  <a:txBody>
                    <a:bodyPr/>
                    <a:lstStyle/>
                    <a:p>
                      <a:pPr lvl="0" indent="0" marL="0">
                        <a:buNone/>
                      </a:pPr>
                      <a:r>
                        <a:rPr/>
                        <a:t>71</a:t>
                      </a:r>
                    </a:p>
                  </a:txBody>
                </a:tc>
              </a:tr>
              <a:tr h="0">
                <a:tc>
                  <a:txBody>
                    <a:bodyPr/>
                    <a:lstStyle/>
                    <a:p>
                      <a:pPr lvl="0" indent="0" marL="0">
                        <a:buNone/>
                      </a:pPr>
                      <a:r>
                        <a:rPr/>
                        <a:t>C = 100</a:t>
                      </a:r>
                    </a:p>
                  </a:txBody>
                </a:tc>
                <a:tc>
                  <a:txBody>
                    <a:bodyPr/>
                    <a:lstStyle/>
                    <a:p>
                      <a:pPr lvl="0" indent="0" marL="0">
                        <a:buNone/>
                      </a:pPr>
                      <a:r>
                        <a:rPr/>
                        <a:t>0.9544</a:t>
                      </a:r>
                    </a:p>
                  </a:txBody>
                </a:tc>
                <a:tc>
                  <a:txBody>
                    <a:bodyPr/>
                    <a:lstStyle/>
                    <a:p>
                      <a:pPr lvl="0" indent="0" marL="0">
                        <a:buNone/>
                      </a:pPr>
                      <a:r>
                        <a:rPr/>
                        <a:t>38</a:t>
                      </a:r>
                    </a:p>
                  </a:txBody>
                </a:tc>
              </a:tr>
            </a:tbl>
          </a:graphicData>
        </a:graphic>
      </p:graphicFrame>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same three models, drawn honestly</a:t>
            </a:r>
          </a:p>
        </p:txBody>
      </p:sp>
      <p:pic>
        <p:nvPicPr>
          <p:cNvPr descr="single_split_selection.png" id="0" name="Picture 1"/>
          <p:cNvPicPr>
            <a:picLocks noGrp="1" noChangeAspect="1"/>
          </p:cNvPicPr>
          <p:nvPr/>
        </p:nvPicPr>
        <p:blipFill>
          <a:blip r:embed="rId3"/>
          <a:stretch>
            <a:fillRect/>
          </a:stretch>
        </p:blipFill>
        <p:spPr bwMode="auto">
          <a:xfrm>
            <a:off x="457200" y="1347589"/>
            <a:ext cx="8229599" cy="29972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k-fold cross-validation</a:t>
            </a:r>
          </a:p>
        </p:txBody>
      </p:sp>
      <p:pic>
        <p:nvPicPr>
          <p:cNvPr descr="kfold_diagram.png" id="0" name="Picture 1"/>
          <p:cNvPicPr>
            <a:picLocks noGrp="1" noChangeAspect="1"/>
          </p:cNvPicPr>
          <p:nvPr/>
        </p:nvPicPr>
        <p:blipFill>
          <a:blip r:embed="rId3"/>
          <a:stretch>
            <a:fillRect/>
          </a:stretch>
        </p:blipFill>
        <p:spPr bwMode="auto">
          <a:xfrm>
            <a:off x="689544" y="1166099"/>
            <a:ext cx="7764912" cy="3360181"/>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it actually estimates</a:t>
            </a:r>
          </a:p>
        </p:txBody>
      </p:sp>
      <p:sp>
        <p:nvSpPr>
          <p:cNvPr id="3" name="Content Placeholder 2"/>
          <p:cNvSpPr>
            <a:spLocks noGrp="1"/>
          </p:cNvSpPr>
          <p:nvPr>
            <p:ph idx="1"/>
          </p:nvPr>
        </p:nvSpPr>
        <p:spPr>
          <a:xfrm>
            <a:off x="457200" y="1200151"/>
            <a:ext cx="8229600" cy="3394472"/>
          </a:xfrm>
        </p:spPr>
        <p:txBody>
          <a:bodyPr/>
          <a:lstStyle/>
          <a:p>
            <a:pPr lvl="0"/>
            <a:r>
              <a:rPr/>
              <a:t>The performance of a </a:t>
            </a:r>
            <a:r>
              <a:rPr b="1"/>
              <a:t>procedure</a:t>
            </a:r>
            <a:r>
              <a:rPr/>
              <a:t>, not of one fitted model</a:t>
            </a:r>
          </a:p>
          <a:p>
            <a:pPr lvl="0"/>
            <a:r>
              <a:rPr/>
              <a:t>Slightly </a:t>
            </a:r>
            <a:r>
              <a:rPr b="1"/>
              <a:t>pessimistic</a:t>
            </a:r>
            <a:r>
              <a:rPr/>
              <a:t>: each fold trains on 80% of the data</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Report the spread, but not as a confidence interval</a:t>
            </a:r>
          </a:p>
        </p:txBody>
      </p:sp>
      <p:sp>
        <p:nvSpPr>
          <p:cNvPr id="3" name="Content Placeholder 2"/>
          <p:cNvSpPr>
            <a:spLocks noGrp="1"/>
          </p:cNvSpPr>
          <p:nvPr>
            <p:ph idx="1"/>
          </p:nvPr>
        </p:nvSpPr>
        <p:spPr>
          <a:xfrm>
            <a:off x="457200" y="1200151"/>
            <a:ext cx="8229600" cy="3394472"/>
          </a:xfrm>
        </p:spPr>
        <p:txBody>
          <a:bodyPr/>
          <a:lstStyle/>
          <a:p>
            <a:pPr lvl="0"/>
            <a:r>
              <a:rPr/>
              <a:t>Any two training folds share </a:t>
            </a:r>
            <a:r>
              <a:rPr b="1"/>
              <a:t>three quarters</a:t>
            </a:r>
            <a:r>
              <a:rPr/>
              <a:t> of their rows</a:t>
            </a:r>
          </a:p>
          <a:p>
            <a:pPr lvl="0"/>
            <a:r>
              <a:rPr/>
              <a:t>The scores are correlated, so the usual standard error is optimistic</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Stratify when a class is rare</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Fold</a:t>
                      </a:r>
                    </a:p>
                  </a:txBody>
                  <a:tcPr/>
                </a:tc>
                <a:tc>
                  <a:txBody>
                    <a:bodyPr/>
                    <a:lstStyle/>
                    <a:p>
                      <a:pPr lvl="0" indent="0" marL="0">
                        <a:buNone/>
                      </a:pPr>
                      <a:r>
                        <a:rPr/>
                        <a:t>Plain KFold</a:t>
                      </a:r>
                    </a:p>
                  </a:txBody>
                  <a:tcPr/>
                </a:tc>
                <a:tc>
                  <a:txBody>
                    <a:bodyPr/>
                    <a:lstStyle/>
                    <a:p>
                      <a:pPr lvl="0" indent="0" marL="0">
                        <a:buNone/>
                      </a:pPr>
                      <a:r>
                        <a:rPr/>
                        <a:t>StratifiedKFold</a:t>
                      </a:r>
                    </a:p>
                  </a:txBody>
                  <a:tcPr/>
                </a:tc>
              </a:tr>
              <a:tr h="0">
                <a:tc>
                  <a:txBody>
                    <a:bodyPr/>
                    <a:lstStyle/>
                    <a:p>
                      <a:pPr lvl="0" indent="0" marL="0">
                        <a:buNone/>
                      </a:pPr>
                      <a:r>
                        <a:rPr/>
                        <a:t>1</a:t>
                      </a:r>
                    </a:p>
                  </a:txBody>
                </a:tc>
                <a:tc>
                  <a:txBody>
                    <a:bodyPr/>
                    <a:lstStyle/>
                    <a:p>
                      <a:pPr lvl="0" indent="0" marL="0">
                        <a:buNone/>
                      </a:pPr>
                      <a:r>
                        <a:rPr/>
                        <a:t>7 failures of 160</a:t>
                      </a:r>
                    </a:p>
                  </a:txBody>
                </a:tc>
                <a:tc>
                  <a:txBody>
                    <a:bodyPr/>
                    <a:lstStyle/>
                    <a:p>
                      <a:pPr lvl="0" indent="0" marL="0">
                        <a:buNone/>
                      </a:pPr>
                      <a:r>
                        <a:rPr/>
                        <a:t>5 of 160</a:t>
                      </a:r>
                    </a:p>
                  </a:txBody>
                </a:tc>
              </a:tr>
              <a:tr h="0">
                <a:tc>
                  <a:txBody>
                    <a:bodyPr/>
                    <a:lstStyle/>
                    <a:p>
                      <a:pPr lvl="0" indent="0" marL="0">
                        <a:buNone/>
                      </a:pPr>
                      <a:r>
                        <a:rPr/>
                        <a:t>2</a:t>
                      </a:r>
                    </a:p>
                  </a:txBody>
                </a:tc>
                <a:tc>
                  <a:txBody>
                    <a:bodyPr/>
                    <a:lstStyle/>
                    <a:p>
                      <a:pPr lvl="0" indent="0" marL="0">
                        <a:buNone/>
                      </a:pPr>
                      <a:r>
                        <a:rPr b="1"/>
                        <a:t>1 failure of 160</a:t>
                      </a:r>
                    </a:p>
                  </a:txBody>
                </a:tc>
                <a:tc>
                  <a:txBody>
                    <a:bodyPr/>
                    <a:lstStyle/>
                    <a:p>
                      <a:pPr lvl="0" indent="0" marL="0">
                        <a:buNone/>
                      </a:pPr>
                      <a:r>
                        <a:rPr/>
                        <a:t>6 of 160</a:t>
                      </a:r>
                    </a:p>
                  </a:txBody>
                </a:tc>
              </a:tr>
              <a:tr h="0">
                <a:tc>
                  <a:txBody>
                    <a:bodyPr/>
                    <a:lstStyle/>
                    <a:p>
                      <a:pPr lvl="0" indent="0" marL="0">
                        <a:buNone/>
                      </a:pPr>
                      <a:r>
                        <a:rPr/>
                        <a:t>3</a:t>
                      </a:r>
                    </a:p>
                  </a:txBody>
                </a:tc>
                <a:tc>
                  <a:txBody>
                    <a:bodyPr/>
                    <a:lstStyle/>
                    <a:p>
                      <a:pPr lvl="0" indent="0" marL="0">
                        <a:buNone/>
                      </a:pPr>
                      <a:r>
                        <a:rPr/>
                        <a:t>7 of 160</a:t>
                      </a:r>
                    </a:p>
                  </a:txBody>
                </a:tc>
                <a:tc>
                  <a:txBody>
                    <a:bodyPr/>
                    <a:lstStyle/>
                    <a:p>
                      <a:pPr lvl="0" indent="0" marL="0">
                        <a:buNone/>
                      </a:pPr>
                      <a:r>
                        <a:rPr/>
                        <a:t>6 of 160</a:t>
                      </a:r>
                    </a:p>
                  </a:txBody>
                </a:tc>
              </a:tr>
              <a:tr h="0">
                <a:tc>
                  <a:txBody>
                    <a:bodyPr/>
                    <a:lstStyle/>
                    <a:p>
                      <a:pPr lvl="0" indent="0" marL="0">
                        <a:buNone/>
                      </a:pPr>
                      <a:r>
                        <a:rPr/>
                        <a:t>4</a:t>
                      </a:r>
                    </a:p>
                  </a:txBody>
                </a:tc>
                <a:tc>
                  <a:txBody>
                    <a:bodyPr/>
                    <a:lstStyle/>
                    <a:p>
                      <a:pPr lvl="0" indent="0" marL="0">
                        <a:buNone/>
                      </a:pPr>
                      <a:r>
                        <a:rPr/>
                        <a:t>5 of 160</a:t>
                      </a:r>
                    </a:p>
                  </a:txBody>
                </a:tc>
                <a:tc>
                  <a:txBody>
                    <a:bodyPr/>
                    <a:lstStyle/>
                    <a:p>
                      <a:pPr lvl="0" indent="0" marL="0">
                        <a:buNone/>
                      </a:pPr>
                      <a:r>
                        <a:rPr/>
                        <a:t>6 of 160</a:t>
                      </a:r>
                    </a:p>
                  </a:txBody>
                </a:tc>
              </a:tr>
              <a:tr h="0">
                <a:tc>
                  <a:txBody>
                    <a:bodyPr/>
                    <a:lstStyle/>
                    <a:p>
                      <a:pPr lvl="0" indent="0" marL="0">
                        <a:buNone/>
                      </a:pPr>
                      <a:r>
                        <a:rPr/>
                        <a:t>5</a:t>
                      </a:r>
                    </a:p>
                  </a:txBody>
                </a:tc>
                <a:tc>
                  <a:txBody>
                    <a:bodyPr/>
                    <a:lstStyle/>
                    <a:p>
                      <a:pPr lvl="0" indent="0" marL="0">
                        <a:buNone/>
                      </a:pPr>
                      <a:r>
                        <a:rPr/>
                        <a:t>9 of 160</a:t>
                      </a:r>
                    </a:p>
                  </a:txBody>
                </a:tc>
                <a:tc>
                  <a:txBody>
                    <a:bodyPr/>
                    <a:lstStyle/>
                    <a:p>
                      <a:pPr lvl="0" indent="0" marL="0">
                        <a:buNone/>
                      </a:pPr>
                      <a:r>
                        <a:rPr/>
                        <a:t>6 of 160</a:t>
                      </a:r>
                    </a:p>
                  </a:txBody>
                </a:tc>
              </a:tr>
            </a:tbl>
          </a:graphicData>
        </a:graphic>
      </p:graphicFrame>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How much does it help?</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endParaRPr/>
                    </a:p>
                  </a:txBody>
                  <a:tcPr/>
                </a:tc>
                <a:tc>
                  <a:txBody>
                    <a:bodyPr/>
                    <a:lstStyle/>
                    <a:p>
                      <a:pPr lvl="0" indent="0" marL="0">
                        <a:buNone/>
                      </a:pPr>
                      <a:r>
                        <a:rPr/>
                        <a:t>Single split</a:t>
                      </a:r>
                    </a:p>
                  </a:txBody>
                  <a:tcPr/>
                </a:tc>
                <a:tc>
                  <a:txBody>
                    <a:bodyPr/>
                    <a:lstStyle/>
                    <a:p>
                      <a:pPr lvl="0" indent="0" marL="0">
                        <a:buNone/>
                      </a:pPr>
                      <a:r>
                        <a:rPr/>
                        <a:t>5-fold CV</a:t>
                      </a:r>
                    </a:p>
                  </a:txBody>
                  <a:tcPr/>
                </a:tc>
              </a:tr>
              <a:tr h="0">
                <a:tc>
                  <a:txBody>
                    <a:bodyPr/>
                    <a:lstStyle/>
                    <a:p>
                      <a:pPr lvl="0" indent="0" marL="0">
                        <a:buNone/>
                      </a:pPr>
                      <a:r>
                        <a:rPr/>
                        <a:t>worst</a:t>
                      </a:r>
                    </a:p>
                  </a:txBody>
                </a:tc>
                <a:tc>
                  <a:txBody>
                    <a:bodyPr/>
                    <a:lstStyle/>
                    <a:p>
                      <a:pPr lvl="0" indent="0" marL="0">
                        <a:buNone/>
                      </a:pPr>
                      <a:r>
                        <a:rPr/>
                        <a:t>0.9119</a:t>
                      </a:r>
                    </a:p>
                  </a:txBody>
                </a:tc>
                <a:tc>
                  <a:txBody>
                    <a:bodyPr/>
                    <a:lstStyle/>
                    <a:p>
                      <a:pPr lvl="0" indent="0" marL="0">
                        <a:buNone/>
                      </a:pPr>
                      <a:r>
                        <a:rPr/>
                        <a:t>0.9439</a:t>
                      </a:r>
                    </a:p>
                  </a:txBody>
                </a:tc>
              </a:tr>
              <a:tr h="0">
                <a:tc>
                  <a:txBody>
                    <a:bodyPr/>
                    <a:lstStyle/>
                    <a:p>
                      <a:pPr lvl="0" indent="0" marL="0">
                        <a:buNone/>
                      </a:pPr>
                      <a:r>
                        <a:rPr/>
                        <a:t>best</a:t>
                      </a:r>
                    </a:p>
                  </a:txBody>
                </a:tc>
                <a:tc>
                  <a:txBody>
                    <a:bodyPr/>
                    <a:lstStyle/>
                    <a:p>
                      <a:pPr lvl="0" indent="0" marL="0">
                        <a:buNone/>
                      </a:pPr>
                      <a:r>
                        <a:rPr/>
                        <a:t>1.0000</a:t>
                      </a:r>
                    </a:p>
                  </a:txBody>
                </a:tc>
                <a:tc>
                  <a:txBody>
                    <a:bodyPr/>
                    <a:lstStyle/>
                    <a:p>
                      <a:pPr lvl="0" indent="0" marL="0">
                        <a:buNone/>
                      </a:pPr>
                      <a:r>
                        <a:rPr/>
                        <a:t>0.9588</a:t>
                      </a:r>
                    </a:p>
                  </a:txBody>
                </a:tc>
              </a:tr>
              <a:tr h="0">
                <a:tc>
                  <a:txBody>
                    <a:bodyPr/>
                    <a:lstStyle/>
                    <a:p>
                      <a:pPr lvl="0" indent="0" marL="0">
                        <a:buNone/>
                      </a:pPr>
                      <a:r>
                        <a:rPr/>
                        <a:t>spread</a:t>
                      </a:r>
                    </a:p>
                  </a:txBody>
                </a:tc>
                <a:tc>
                  <a:txBody>
                    <a:bodyPr/>
                    <a:lstStyle/>
                    <a:p>
                      <a:pPr lvl="0" indent="0" marL="0">
                        <a:buNone/>
                      </a:pPr>
                      <a:r>
                        <a:rPr/>
                        <a:t>0.0881</a:t>
                      </a:r>
                    </a:p>
                  </a:txBody>
                </a:tc>
                <a:tc>
                  <a:txBody>
                    <a:bodyPr/>
                    <a:lstStyle/>
                    <a:p>
                      <a:pPr lvl="0" indent="0" marL="0">
                        <a:buNone/>
                      </a:pPr>
                      <a:r>
                        <a:rPr/>
                        <a:t>0.0149</a:t>
                      </a:r>
                    </a:p>
                  </a:txBody>
                </a:tc>
              </a:tr>
            </a:tbl>
          </a:graphicData>
        </a:graphic>
      </p:graphicFrame>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How many folds?</a:t>
            </a:r>
          </a:p>
        </p:txBody>
      </p:sp>
      <p:sp>
        <p:nvSpPr>
          <p:cNvPr id="3" name="Content Placeholder 2"/>
          <p:cNvSpPr>
            <a:spLocks noGrp="1"/>
          </p:cNvSpPr>
          <p:nvPr>
            <p:ph idx="1"/>
          </p:nvPr>
        </p:nvSpPr>
        <p:spPr>
          <a:xfrm>
            <a:off x="457200" y="1200151"/>
            <a:ext cx="8229600" cy="3394472"/>
          </a:xfrm>
        </p:spPr>
        <p:txBody>
          <a:bodyPr/>
          <a:lstStyle/>
          <a:p>
            <a:pPr lvl="0"/>
            <a:r>
              <a:rPr b="1"/>
              <a:t>k = 5 or 10</a:t>
            </a:r>
            <a:r>
              <a:rPr/>
              <a:t> in practice</a:t>
            </a:r>
          </a:p>
          <a:p>
            <a:pPr lvl="0"/>
            <a:r>
              <a:rPr/>
              <a:t>Larger k: less pessimistic, more expensive, folds more correlated</a:t>
            </a:r>
          </a:p>
          <a:p>
            <a:pPr lvl="0"/>
            <a:r>
              <a:rPr/>
              <a:t>k = m is </a:t>
            </a:r>
            <a:r>
              <a:rPr b="1"/>
              <a:t>leave-one-out</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When the rows are not independent</a:t>
            </a:r>
          </a:p>
        </p:txBody>
      </p:sp>
      <p:sp>
        <p:nvSpPr>
          <p:cNvPr id="3" name="Content Placeholder 2"/>
          <p:cNvSpPr>
            <a:spLocks noGrp="1"/>
          </p:cNvSpPr>
          <p:nvPr>
            <p:ph idx="1"/>
          </p:nvPr>
        </p:nvSpPr>
        <p:spPr>
          <a:xfrm>
            <a:off x="457200" y="1200151"/>
            <a:ext cx="8229600" cy="3394472"/>
          </a:xfrm>
        </p:spPr>
        <p:txBody>
          <a:bodyPr/>
          <a:lstStyle/>
          <a:p>
            <a:pPr lvl="0"/>
            <a:r>
              <a:rPr/>
              <a:t>Ten readings from the </a:t>
            </a:r>
            <a:r>
              <a:rPr b="1"/>
              <a:t>same drive</a:t>
            </a:r>
            <a:r>
              <a:rPr/>
              <a:t>, split at random</a:t>
            </a:r>
          </a:p>
          <a:p>
            <a:pPr lvl="0"/>
            <a:r>
              <a:rPr/>
              <a:t>Nine in training, one in test</a:t>
            </a:r>
          </a:p>
          <a:p>
            <a:pPr lvl="0"/>
            <a:r>
              <a:rPr/>
              <a:t>The model recognises the drive, not the failure</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Split by the thing you must generalise to</a:t>
            </a:r>
          </a:p>
        </p:txBody>
      </p:sp>
      <p:sp>
        <p:nvSpPr>
          <p:cNvPr id="3" name="Content Placeholder 2"/>
          <p:cNvSpPr>
            <a:spLocks noGrp="1"/>
          </p:cNvSpPr>
          <p:nvPr>
            <p:ph idx="1"/>
          </p:nvPr>
        </p:nvSpPr>
        <p:spPr>
          <a:xfrm>
            <a:off x="457200" y="1200151"/>
            <a:ext cx="8229600" cy="3394472"/>
          </a:xfrm>
        </p:spPr>
        <p:txBody>
          <a:bodyPr/>
          <a:lstStyle/>
          <a:p>
            <a:pPr lvl="0"/>
            <a:r>
              <a:rPr/>
              <a:t>Same entity in two folds → </a:t>
            </a:r>
            <a:r>
              <a:rPr b="1"/>
              <a:t>GroupKFold</a:t>
            </a:r>
          </a:p>
          <a:p>
            <a:pPr lvl="0"/>
            <a:r>
              <a:rPr/>
              <a:t>Predicting the future → </a:t>
            </a:r>
            <a:r>
              <a:rPr b="1"/>
              <a:t>TimeSeriesSplit</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1, live</a:t>
            </a:r>
          </a:p>
        </p:txBody>
      </p:sp>
      <p:sp>
        <p:nvSpPr>
          <p:cNvPr id="3" name="Content Placeholder 2"/>
          <p:cNvSpPr>
            <a:spLocks noGrp="1"/>
          </p:cNvSpPr>
          <p:nvPr>
            <p:ph idx="1"/>
          </p:nvPr>
        </p:nvSpPr>
        <p:spPr>
          <a:xfrm>
            <a:off x="457200" y="1200151"/>
            <a:ext cx="8229600" cy="3394472"/>
          </a:xfrm>
        </p:spPr>
        <p:txBody>
          <a:bodyPr/>
          <a:lstStyle/>
          <a:p>
            <a:pPr lvl="0"/>
            <a:r>
              <a:rPr/>
              <a:t>The split lottery, the three identical models, k-fold by hand</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Break</a:t>
            </a:r>
          </a:p>
        </p:txBody>
      </p:sp>
      <p:sp>
        <p:nvSpPr>
          <p:cNvPr id="3" name="Content Placeholder 2"/>
          <p:cNvSpPr>
            <a:spLocks noGrp="1"/>
          </p:cNvSpPr>
          <p:nvPr>
            <p:ph idx="1"/>
          </p:nvPr>
        </p:nvSpPr>
        <p:spPr>
          <a:xfrm>
            <a:off x="457200" y="1200151"/>
            <a:ext cx="8229600" cy="3394472"/>
          </a:xfrm>
        </p:spPr>
        <p:txBody>
          <a:bodyPr/>
          <a:lstStyle/>
          <a:p>
            <a:pPr lvl="0"/>
            <a:r>
              <a:rPr/>
              <a:t>Ten minutes</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Where does the error come from?</a:t>
            </a:r>
          </a:p>
        </p:txBody>
      </p:sp>
      <p:sp>
        <p:nvSpPr>
          <p:cNvPr id="3" name="Content Placeholder 2"/>
          <p:cNvSpPr>
            <a:spLocks noGrp="1"/>
          </p:cNvSpPr>
          <p:nvPr>
            <p:ph idx="1"/>
          </p:nvPr>
        </p:nvSpPr>
        <p:spPr>
          <a:xfrm>
            <a:off x="457200" y="1200151"/>
            <a:ext cx="8229600" cy="3394472"/>
          </a:xfrm>
        </p:spPr>
        <p:txBody>
          <a:bodyPr/>
          <a:lstStyle/>
          <a:p>
            <a:pPr lvl="0"/>
            <a:r>
              <a:rPr b="1"/>
              <a:t>Bias</a:t>
            </a:r>
            <a:r>
              <a:rPr/>
              <a:t>: the average model is wrong</a:t>
            </a:r>
          </a:p>
          <a:p>
            <a:pPr lvl="0"/>
            <a:r>
              <a:rPr b="1"/>
              <a:t>Variance</a:t>
            </a:r>
            <a:r>
              <a:rPr/>
              <a:t>: the individual models disagree</a:t>
            </a:r>
          </a:p>
          <a:p>
            <a:pPr lvl="0"/>
            <a:r>
              <a:rPr b="1"/>
              <a:t>Noise</a:t>
            </a:r>
            <a:r>
              <a:rPr/>
              <a:t>: the target itself is uncertain</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Three hundred parallel universes</a:t>
            </a:r>
          </a:p>
        </p:txBody>
      </p:sp>
      <p:pic>
        <p:nvPicPr>
          <p:cNvPr descr="many_universes.png" id="0" name="Picture 1"/>
          <p:cNvPicPr>
            <a:picLocks noGrp="1" noChangeAspect="1"/>
          </p:cNvPicPr>
          <p:nvPr/>
        </p:nvPicPr>
        <p:blipFill>
          <a:blip r:embed="rId3"/>
          <a:stretch>
            <a:fillRect/>
          </a:stretch>
        </p:blipFill>
        <p:spPr bwMode="auto">
          <a:xfrm>
            <a:off x="457200" y="1544439"/>
            <a:ext cx="8229600" cy="26035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decomposition</a:t>
            </a:r>
          </a:p>
        </p:txBody>
      </p:sp>
      <p:pic>
        <p:nvPicPr>
          <p:cNvPr descr="eq_f58cfeb855.png" id="0" name="Picture 1"/>
          <p:cNvPicPr>
            <a:picLocks noGrp="1" noChangeAspect="1"/>
          </p:cNvPicPr>
          <p:nvPr/>
        </p:nvPicPr>
        <p:blipFill>
          <a:blip r:embed="rId3"/>
          <a:stretch>
            <a:fillRect/>
          </a:stretch>
        </p:blipFill>
        <p:spPr bwMode="auto">
          <a:xfrm>
            <a:off x="457200" y="2433439"/>
            <a:ext cx="8229600" cy="8255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Measured, on 25 observations</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pPr lvl="0" indent="0" marL="0">
                        <a:buNone/>
                      </a:pPr>
                      <a:r>
                        <a:rPr/>
                        <a:t>Degree</a:t>
                      </a:r>
                    </a:p>
                  </a:txBody>
                  <a:tcPr/>
                </a:tc>
                <a:tc>
                  <a:txBody>
                    <a:bodyPr/>
                    <a:lstStyle/>
                    <a:p>
                      <a:pPr lvl="0" indent="0" marL="0">
                        <a:buNone/>
                      </a:pPr>
                      <a:r>
                        <a:rPr/>
                        <a:t>bias²</a:t>
                      </a:r>
                    </a:p>
                  </a:txBody>
                  <a:tcPr/>
                </a:tc>
                <a:tc>
                  <a:txBody>
                    <a:bodyPr/>
                    <a:lstStyle/>
                    <a:p>
                      <a:pPr lvl="0" indent="0" marL="0">
                        <a:buNone/>
                      </a:pPr>
                      <a:r>
                        <a:rPr/>
                        <a:t>Variance</a:t>
                      </a:r>
                    </a:p>
                  </a:txBody>
                  <a:tcPr/>
                </a:tc>
                <a:tc>
                  <a:txBody>
                    <a:bodyPr/>
                    <a:lstStyle/>
                    <a:p>
                      <a:pPr lvl="0" indent="0" marL="0">
                        <a:buNone/>
                      </a:pPr>
                      <a:r>
                        <a:rPr/>
                        <a:t>Total</a:t>
                      </a:r>
                    </a:p>
                  </a:txBody>
                  <a:tcPr/>
                </a:tc>
              </a:tr>
              <a:tr h="0">
                <a:tc>
                  <a:txBody>
                    <a:bodyPr/>
                    <a:lstStyle/>
                    <a:p>
                      <a:pPr lvl="0" indent="0" marL="0">
                        <a:buNone/>
                      </a:pPr>
                      <a:r>
                        <a:rPr/>
                        <a:t>1</a:t>
                      </a:r>
                    </a:p>
                  </a:txBody>
                </a:tc>
                <a:tc>
                  <a:txBody>
                    <a:bodyPr/>
                    <a:lstStyle/>
                    <a:p>
                      <a:pPr lvl="0" indent="0" marL="0">
                        <a:buNone/>
                      </a:pPr>
                      <a:r>
                        <a:rPr/>
                        <a:t>5,250.8</a:t>
                      </a:r>
                    </a:p>
                  </a:txBody>
                </a:tc>
                <a:tc>
                  <a:txBody>
                    <a:bodyPr/>
                    <a:lstStyle/>
                    <a:p>
                      <a:pPr lvl="0" indent="0" marL="0">
                        <a:buNone/>
                      </a:pPr>
                      <a:r>
                        <a:rPr/>
                        <a:t>723.8</a:t>
                      </a:r>
                    </a:p>
                  </a:txBody>
                </a:tc>
                <a:tc>
                  <a:txBody>
                    <a:bodyPr/>
                    <a:lstStyle/>
                    <a:p>
                      <a:pPr lvl="0" indent="0" marL="0">
                        <a:buNone/>
                      </a:pPr>
                      <a:r>
                        <a:rPr/>
                        <a:t>6,458.6</a:t>
                      </a:r>
                    </a:p>
                  </a:txBody>
                </a:tc>
              </a:tr>
              <a:tr h="0">
                <a:tc>
                  <a:txBody>
                    <a:bodyPr/>
                    <a:lstStyle/>
                    <a:p>
                      <a:pPr lvl="0" indent="0" marL="0">
                        <a:buNone/>
                      </a:pPr>
                      <a:r>
                        <a:rPr/>
                        <a:t>2</a:t>
                      </a:r>
                    </a:p>
                  </a:txBody>
                </a:tc>
                <a:tc>
                  <a:txBody>
                    <a:bodyPr/>
                    <a:lstStyle/>
                    <a:p>
                      <a:pPr lvl="0" indent="0" marL="0">
                        <a:buNone/>
                      </a:pPr>
                      <a:r>
                        <a:rPr/>
                        <a:t>59.6</a:t>
                      </a:r>
                    </a:p>
                  </a:txBody>
                </a:tc>
                <a:tc>
                  <a:txBody>
                    <a:bodyPr/>
                    <a:lstStyle/>
                    <a:p>
                      <a:pPr lvl="0" indent="0" marL="0">
                        <a:buNone/>
                      </a:pPr>
                      <a:r>
                        <a:rPr/>
                        <a:t>70.8</a:t>
                      </a:r>
                    </a:p>
                  </a:txBody>
                </a:tc>
                <a:tc>
                  <a:txBody>
                    <a:bodyPr/>
                    <a:lstStyle/>
                    <a:p>
                      <a:pPr lvl="0" indent="0" marL="0">
                        <a:buNone/>
                      </a:pPr>
                      <a:r>
                        <a:rPr b="1"/>
                        <a:t>614.3</a:t>
                      </a:r>
                    </a:p>
                  </a:txBody>
                </a:tc>
              </a:tr>
              <a:tr h="0">
                <a:tc>
                  <a:txBody>
                    <a:bodyPr/>
                    <a:lstStyle/>
                    <a:p>
                      <a:pPr lvl="0" indent="0" marL="0">
                        <a:buNone/>
                      </a:pPr>
                      <a:r>
                        <a:rPr/>
                        <a:t>5</a:t>
                      </a:r>
                    </a:p>
                  </a:txBody>
                </a:tc>
                <a:tc>
                  <a:txBody>
                    <a:bodyPr/>
                    <a:lstStyle/>
                    <a:p>
                      <a:pPr lvl="0" indent="0" marL="0">
                        <a:buNone/>
                      </a:pPr>
                      <a:r>
                        <a:rPr/>
                        <a:t>8.9</a:t>
                      </a:r>
                    </a:p>
                  </a:txBody>
                </a:tc>
                <a:tc>
                  <a:txBody>
                    <a:bodyPr/>
                    <a:lstStyle/>
                    <a:p>
                      <a:pPr lvl="0" indent="0" marL="0">
                        <a:buNone/>
                      </a:pPr>
                      <a:r>
                        <a:rPr/>
                        <a:t>368.9</a:t>
                      </a:r>
                    </a:p>
                  </a:txBody>
                </a:tc>
                <a:tc>
                  <a:txBody>
                    <a:bodyPr/>
                    <a:lstStyle/>
                    <a:p>
                      <a:pPr lvl="0" indent="0" marL="0">
                        <a:buNone/>
                      </a:pPr>
                      <a:r>
                        <a:rPr/>
                        <a:t>861.8</a:t>
                      </a:r>
                    </a:p>
                  </a:txBody>
                </a:tc>
              </a:tr>
              <a:tr h="0">
                <a:tc>
                  <a:txBody>
                    <a:bodyPr/>
                    <a:lstStyle/>
                    <a:p>
                      <a:pPr lvl="0" indent="0" marL="0">
                        <a:buNone/>
                      </a:pPr>
                      <a:r>
                        <a:rPr/>
                        <a:t>12</a:t>
                      </a:r>
                    </a:p>
                  </a:txBody>
                </a:tc>
                <a:tc>
                  <a:txBody>
                    <a:bodyPr/>
                    <a:lstStyle/>
                    <a:p>
                      <a:pPr lvl="0" indent="0" marL="0">
                        <a:buNone/>
                      </a:pPr>
                      <a:r>
                        <a:rPr/>
                        <a:t>153,537.3</a:t>
                      </a:r>
                    </a:p>
                  </a:txBody>
                </a:tc>
                <a:tc>
                  <a:txBody>
                    <a:bodyPr/>
                    <a:lstStyle/>
                    <a:p>
                      <a:pPr lvl="0" indent="0" marL="0">
                        <a:buNone/>
                      </a:pPr>
                      <a:r>
                        <a:rPr/>
                        <a:t>32,174,344.9</a:t>
                      </a:r>
                    </a:p>
                  </a:txBody>
                </a:tc>
                <a:tc>
                  <a:txBody>
                    <a:bodyPr/>
                    <a:lstStyle/>
                    <a:p>
                      <a:pPr lvl="0" indent="0" marL="0">
                        <a:buNone/>
                      </a:pPr>
                      <a:r>
                        <a:rPr/>
                        <a:t>32,328,366.2</a:t>
                      </a:r>
                    </a:p>
                  </a:txBody>
                </a:tc>
              </a:tr>
            </a:tbl>
          </a:graphicData>
        </a:graphic>
      </p:graphicFrame>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picture everyone has seen, now measured</a:t>
            </a:r>
          </a:p>
        </p:txBody>
      </p:sp>
      <p:pic>
        <p:nvPicPr>
          <p:cNvPr descr="bias_variance_tradeoff.png" id="0" name="Picture 1"/>
          <p:cNvPicPr>
            <a:picLocks noGrp="1" noChangeAspect="1"/>
          </p:cNvPicPr>
          <p:nvPr/>
        </p:nvPicPr>
        <p:blipFill>
          <a:blip r:embed="rId3"/>
          <a:stretch>
            <a:fillRect/>
          </a:stretch>
        </p:blipFill>
        <p:spPr bwMode="auto">
          <a:xfrm>
            <a:off x="1620830" y="1166099"/>
            <a:ext cx="5902340" cy="3360181"/>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floor you cannot go below</a:t>
            </a:r>
          </a:p>
        </p:txBody>
      </p:sp>
      <p:sp>
        <p:nvSpPr>
          <p:cNvPr id="3" name="Content Placeholder 2"/>
          <p:cNvSpPr>
            <a:spLocks noGrp="1"/>
          </p:cNvSpPr>
          <p:nvPr>
            <p:ph idx="1"/>
          </p:nvPr>
        </p:nvSpPr>
        <p:spPr>
          <a:xfrm>
            <a:off x="457200" y="1200151"/>
            <a:ext cx="8229600" cy="3394472"/>
          </a:xfrm>
        </p:spPr>
        <p:txBody>
          <a:bodyPr/>
          <a:lstStyle/>
          <a:p>
            <a:pPr lvl="0"/>
            <a:r>
              <a:rPr/>
              <a:t>Noise variance is </a:t>
            </a:r>
            <a:r>
              <a:rPr b="1"/>
              <a:t>484</a:t>
            </a:r>
            <a:r>
              <a:rPr/>
              <a:t> at every complexity</a:t>
            </a:r>
          </a:p>
          <a:p>
            <a:pPr lvl="0"/>
            <a:r>
              <a:rPr/>
              <a:t>A reported error below the floor means </a:t>
            </a:r>
            <a:r>
              <a:rPr b="1"/>
              <a:t>contamination</a:t>
            </a:r>
            <a:r>
              <a:rPr/>
              <a:t>, not excellence</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best model depends on how much data you have</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pPr lvl="0" indent="0" marL="0">
                        <a:buNone/>
                      </a:pPr>
                      <a:r>
                        <a:rPr/>
                        <a:t>Degree</a:t>
                      </a:r>
                    </a:p>
                  </a:txBody>
                  <a:tcPr/>
                </a:tc>
                <a:tc>
                  <a:txBody>
                    <a:bodyPr/>
                    <a:lstStyle/>
                    <a:p>
                      <a:pPr lvl="0" indent="0" marL="0">
                        <a:buNone/>
                      </a:pPr>
                      <a:r>
                        <a:rPr/>
                        <a:t>n = 25</a:t>
                      </a:r>
                    </a:p>
                  </a:txBody>
                  <a:tcPr/>
                </a:tc>
                <a:tc>
                  <a:txBody>
                    <a:bodyPr/>
                    <a:lstStyle/>
                    <a:p>
                      <a:pPr lvl="0" indent="0" marL="0">
                        <a:buNone/>
                      </a:pPr>
                      <a:r>
                        <a:rPr/>
                        <a:t>n = 60</a:t>
                      </a:r>
                    </a:p>
                  </a:txBody>
                  <a:tcPr/>
                </a:tc>
                <a:tc>
                  <a:txBody>
                    <a:bodyPr/>
                    <a:lstStyle/>
                    <a:p>
                      <a:pPr lvl="0" indent="0" marL="0">
                        <a:buNone/>
                      </a:pPr>
                      <a:r>
                        <a:rPr/>
                        <a:t>n = 150</a:t>
                      </a:r>
                    </a:p>
                  </a:txBody>
                  <a:tcPr/>
                </a:tc>
              </a:tr>
              <a:tr h="0">
                <a:tc>
                  <a:txBody>
                    <a:bodyPr/>
                    <a:lstStyle/>
                    <a:p>
                      <a:pPr lvl="0" indent="0" marL="0">
                        <a:buNone/>
                      </a:pPr>
                      <a:r>
                        <a:rPr/>
                        <a:t>2</a:t>
                      </a:r>
                    </a:p>
                  </a:txBody>
                </a:tc>
                <a:tc>
                  <a:txBody>
                    <a:bodyPr/>
                    <a:lstStyle/>
                    <a:p>
                      <a:pPr lvl="0" indent="0" marL="0">
                        <a:buNone/>
                      </a:pPr>
                      <a:r>
                        <a:rPr b="1"/>
                        <a:t>614.3</a:t>
                      </a:r>
                    </a:p>
                  </a:txBody>
                </a:tc>
                <a:tc>
                  <a:txBody>
                    <a:bodyPr/>
                    <a:lstStyle/>
                    <a:p>
                      <a:pPr lvl="0" indent="0" marL="0">
                        <a:buNone/>
                      </a:pPr>
                      <a:r>
                        <a:rPr/>
                        <a:t>570.6</a:t>
                      </a:r>
                    </a:p>
                  </a:txBody>
                </a:tc>
                <a:tc>
                  <a:txBody>
                    <a:bodyPr/>
                    <a:lstStyle/>
                    <a:p>
                      <a:pPr lvl="0" indent="0" marL="0">
                        <a:buNone/>
                      </a:pPr>
                      <a:r>
                        <a:rPr/>
                        <a:t>555.3</a:t>
                      </a:r>
                    </a:p>
                  </a:txBody>
                </a:tc>
              </a:tr>
              <a:tr h="0">
                <a:tc>
                  <a:txBody>
                    <a:bodyPr/>
                    <a:lstStyle/>
                    <a:p>
                      <a:pPr lvl="0" indent="0" marL="0">
                        <a:buNone/>
                      </a:pPr>
                      <a:r>
                        <a:rPr/>
                        <a:t>5</a:t>
                      </a:r>
                    </a:p>
                  </a:txBody>
                </a:tc>
                <a:tc>
                  <a:txBody>
                    <a:bodyPr/>
                    <a:lstStyle/>
                    <a:p>
                      <a:pPr lvl="0" indent="0" marL="0">
                        <a:buNone/>
                      </a:pPr>
                      <a:r>
                        <a:rPr/>
                        <a:t>861.8</a:t>
                      </a:r>
                    </a:p>
                  </a:txBody>
                </a:tc>
                <a:tc>
                  <a:txBody>
                    <a:bodyPr/>
                    <a:lstStyle/>
                    <a:p>
                      <a:pPr lvl="0" indent="0" marL="0">
                        <a:buNone/>
                      </a:pPr>
                      <a:r>
                        <a:rPr b="1"/>
                        <a:t>540.9</a:t>
                      </a:r>
                    </a:p>
                  </a:txBody>
                </a:tc>
                <a:tc>
                  <a:txBody>
                    <a:bodyPr/>
                    <a:lstStyle/>
                    <a:p>
                      <a:pPr lvl="0" indent="0" marL="0">
                        <a:buNone/>
                      </a:pPr>
                      <a:r>
                        <a:rPr b="1"/>
                        <a:t>506.9</a:t>
                      </a:r>
                    </a:p>
                  </a:txBody>
                </a:tc>
              </a:tr>
              <a:tr h="0">
                <a:tc>
                  <a:txBody>
                    <a:bodyPr/>
                    <a:lstStyle/>
                    <a:p>
                      <a:pPr lvl="0" indent="0" marL="0">
                        <a:buNone/>
                      </a:pPr>
                      <a:r>
                        <a:rPr/>
                        <a:t>12</a:t>
                      </a:r>
                    </a:p>
                  </a:txBody>
                </a:tc>
                <a:tc>
                  <a:txBody>
                    <a:bodyPr/>
                    <a:lstStyle/>
                    <a:p>
                      <a:pPr lvl="0" indent="0" marL="0">
                        <a:buNone/>
                      </a:pPr>
                      <a:r>
                        <a:rPr/>
                        <a:t>32,328,366.2</a:t>
                      </a:r>
                    </a:p>
                  </a:txBody>
                </a:tc>
                <a:tc>
                  <a:txBody>
                    <a:bodyPr/>
                    <a:lstStyle/>
                    <a:p>
                      <a:pPr lvl="0" indent="0" marL="0">
                        <a:buNone/>
                      </a:pPr>
                      <a:r>
                        <a:rPr/>
                        <a:t>7,626.9</a:t>
                      </a:r>
                    </a:p>
                  </a:txBody>
                </a:tc>
                <a:tc>
                  <a:txBody>
                    <a:bodyPr/>
                    <a:lstStyle/>
                    <a:p>
                      <a:pPr lvl="0" indent="0" marL="0">
                        <a:buNone/>
                      </a:pPr>
                      <a:r>
                        <a:rPr/>
                        <a:t>899.0</a:t>
                      </a:r>
                    </a:p>
                  </a:txBody>
                </a:tc>
              </a:tr>
            </a:tbl>
          </a:graphicData>
        </a:graphic>
      </p:graphicFrame>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Learning curves: the same diagnosis, without knowing the truth</a:t>
            </a:r>
          </a:p>
        </p:txBody>
      </p:sp>
      <p:pic>
        <p:nvPicPr>
          <p:cNvPr descr="learning_curves.png" id="0" name="Picture 1"/>
          <p:cNvPicPr>
            <a:picLocks noGrp="1" noChangeAspect="1"/>
          </p:cNvPicPr>
          <p:nvPr/>
        </p:nvPicPr>
        <p:blipFill>
          <a:blip r:embed="rId3"/>
          <a:stretch>
            <a:fillRect/>
          </a:stretch>
        </p:blipFill>
        <p:spPr bwMode="auto">
          <a:xfrm>
            <a:off x="457200" y="1322189"/>
            <a:ext cx="8229600" cy="3048000"/>
          </a:xfrm>
          <a:prstGeom prst="rect">
            <a:avLst/>
          </a:prstGeom>
          <a:noFill/>
          <a:ln w="9525">
            <a:noFill/>
            <a:headEnd/>
            <a:tailEnd/>
          </a:ln>
        </p:spPr>
      </p:pic>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Which fix to buy</a:t>
            </a:r>
          </a:p>
        </p:txBody>
      </p:sp>
      <p:sp>
        <p:nvSpPr>
          <p:cNvPr id="3" name="Content Placeholder 2"/>
          <p:cNvSpPr>
            <a:spLocks noGrp="1"/>
          </p:cNvSpPr>
          <p:nvPr>
            <p:ph idx="1"/>
          </p:nvPr>
        </p:nvSpPr>
        <p:spPr>
          <a:xfrm>
            <a:off x="457200" y="1200151"/>
            <a:ext cx="8229600" cy="3394472"/>
          </a:xfrm>
        </p:spPr>
        <p:txBody>
          <a:bodyPr/>
          <a:lstStyle/>
          <a:p>
            <a:pPr lvl="0"/>
            <a:r>
              <a:rPr/>
              <a:t>Curves </a:t>
            </a:r>
            <a:r>
              <a:rPr b="1"/>
              <a:t>meet low</a:t>
            </a:r>
            <a:r>
              <a:rPr/>
              <a:t> → bias. More data will </a:t>
            </a:r>
            <a:r>
              <a:rPr b="1"/>
              <a:t>not</a:t>
            </a:r>
            <a:r>
              <a:rPr/>
              <a:t> help</a:t>
            </a:r>
          </a:p>
          <a:p>
            <a:pPr lvl="0"/>
            <a:r>
              <a:rPr/>
              <a:t>Wide gap, validation </a:t>
            </a:r>
            <a:r>
              <a:rPr b="1"/>
              <a:t>still rising</a:t>
            </a:r>
            <a:r>
              <a:rPr/>
              <a:t> → variance. More data </a:t>
            </a:r>
            <a:r>
              <a:rPr b="1"/>
              <a:t>will</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2, live</a:t>
            </a:r>
          </a:p>
        </p:txBody>
      </p:sp>
      <p:sp>
        <p:nvSpPr>
          <p:cNvPr id="3" name="Content Placeholder 2"/>
          <p:cNvSpPr>
            <a:spLocks noGrp="1"/>
          </p:cNvSpPr>
          <p:nvPr>
            <p:ph idx="1"/>
          </p:nvPr>
        </p:nvSpPr>
        <p:spPr>
          <a:xfrm>
            <a:off x="457200" y="1200151"/>
            <a:ext cx="8229600" cy="3394472"/>
          </a:xfrm>
        </p:spPr>
        <p:txBody>
          <a:bodyPr/>
          <a:lstStyle/>
          <a:p>
            <a:pPr lvl="0"/>
            <a:r>
              <a:rPr/>
              <a:t>Measuring bias and variance; the learning curves</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Now: what cross-validation does not protect you from</a:t>
            </a:r>
          </a:p>
        </p:txBody>
      </p:sp>
      <p:sp>
        <p:nvSpPr>
          <p:cNvPr id="3" name="Content Placeholder 2"/>
          <p:cNvSpPr>
            <a:spLocks noGrp="1"/>
          </p:cNvSpPr>
          <p:nvPr>
            <p:ph idx="1"/>
          </p:nvPr>
        </p:nvSpPr>
        <p:spPr>
          <a:xfrm>
            <a:off x="457200" y="1200151"/>
            <a:ext cx="8229600" cy="3394472"/>
          </a:xfrm>
        </p:spPr>
        <p:txBody>
          <a:bodyPr/>
          <a:lstStyle/>
          <a:p>
            <a:pPr lvl="0"/>
            <a:r>
              <a:rPr/>
              <a:t>2,000 columns of </a:t>
            </a:r>
            <a:r>
              <a:rPr b="1"/>
              <a:t>pure random noise</a:t>
            </a:r>
          </a:p>
          <a:p>
            <a:pPr lvl="0"/>
            <a:r>
              <a:rPr/>
              <a:t>No relationship to the label whatsoever</a:t>
            </a:r>
          </a:p>
          <a:p>
            <a:pPr lvl="0"/>
            <a:r>
              <a:rPr/>
              <a:t>The honest score of any model on it is </a:t>
            </a:r>
            <a:r>
              <a:rPr b="1"/>
              <a:t>0.500</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code almost everyone writes</a:t>
            </a:r>
          </a:p>
        </p:txBody>
      </p:sp>
      <p:sp>
        <p:nvSpPr>
          <p:cNvPr id="3" name="Content Placeholder 2"/>
          <p:cNvSpPr>
            <a:spLocks noGrp="1"/>
          </p:cNvSpPr>
          <p:nvPr>
            <p:ph idx="1"/>
          </p:nvPr>
        </p:nvSpPr>
        <p:spPr>
          <a:xfrm>
            <a:off x="457200" y="1200151"/>
            <a:ext cx="8229600" cy="3394472"/>
          </a:xfrm>
        </p:spPr>
        <p:txBody>
          <a:bodyPr/>
          <a:lstStyle/>
          <a:p>
            <a:pPr lvl="0" indent="0">
              <a:buNone/>
            </a:pPr>
            <a:r>
              <a:rPr>
                <a:latin typeface="Courier"/>
              </a:rPr>
              <a:t>selector </a:t>
            </a:r>
            <a:r>
              <a:rPr>
                <a:solidFill>
                  <a:srgbClr val="666666"/>
                </a:solidFill>
                <a:latin typeface="Courier"/>
              </a:rPr>
              <a:t>=</a:t>
            </a:r>
            <a:r>
              <a:rPr>
                <a:latin typeface="Courier"/>
              </a:rPr>
              <a:t> SelectKBest(f_classif, k</a:t>
            </a:r>
            <a:r>
              <a:rPr>
                <a:solidFill>
                  <a:srgbClr val="666666"/>
                </a:solidFill>
                <a:latin typeface="Courier"/>
              </a:rPr>
              <a:t>=</a:t>
            </a:r>
            <a:r>
              <a:rPr>
                <a:solidFill>
                  <a:srgbClr val="40A070"/>
                </a:solidFill>
                <a:latin typeface="Courier"/>
              </a:rPr>
              <a:t>10</a:t>
            </a:r>
            <a:r>
              <a:rPr>
                <a:latin typeface="Courier"/>
              </a:rPr>
              <a:t>).fit(noise, y)</a:t>
            </a:r>
            <a:br/>
            <a:r>
              <a:rPr>
                <a:latin typeface="Courier"/>
              </a:rPr>
              <a:t>chosen </a:t>
            </a:r>
            <a:r>
              <a:rPr>
                <a:solidFill>
                  <a:srgbClr val="666666"/>
                </a:solidFill>
                <a:latin typeface="Courier"/>
              </a:rPr>
              <a:t>=</a:t>
            </a:r>
            <a:r>
              <a:rPr>
                <a:latin typeface="Courier"/>
              </a:rPr>
              <a:t> noise.loc[:, selector.get_support()]</a:t>
            </a:r>
            <a:br/>
            <a:r>
              <a:rPr>
                <a:latin typeface="Courier"/>
              </a:rPr>
              <a:t>cross_val_score(model, chosen, y, cv</a:t>
            </a:r>
            <a:r>
              <a:rPr>
                <a:solidFill>
                  <a:srgbClr val="666666"/>
                </a:solidFill>
                <a:latin typeface="Courier"/>
              </a:rPr>
              <a:t>=</a:t>
            </a:r>
            <a:r>
              <a:rPr>
                <a:latin typeface="Courier"/>
              </a:rPr>
              <a:t>folds)</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0.931</a:t>
            </a:r>
          </a:p>
        </p:txBody>
      </p:sp>
      <p:sp>
        <p:nvSpPr>
          <p:cNvPr id="3" name="Content Placeholder 2"/>
          <p:cNvSpPr>
            <a:spLocks noGrp="1"/>
          </p:cNvSpPr>
          <p:nvPr>
            <p:ph idx="1"/>
          </p:nvPr>
        </p:nvSpPr>
        <p:spPr>
          <a:xfrm>
            <a:off x="457200" y="1200151"/>
            <a:ext cx="8229600" cy="3394472"/>
          </a:xfrm>
        </p:spPr>
        <p:txBody>
          <a:bodyPr/>
          <a:lstStyle/>
          <a:p>
            <a:pPr lvl="0"/>
            <a:r>
              <a:rPr/>
              <a:t>Cross-validated AUC </a:t>
            </a:r>
            <a:r>
              <a:rPr b="1"/>
              <a:t>0.931</a:t>
            </a:r>
            <a:r>
              <a:rPr/>
              <a:t> on data with no signal</a:t>
            </a:r>
          </a:p>
          <a:p>
            <a:pPr lvl="0"/>
            <a:r>
              <a:rPr/>
              <a:t>Four of five folds between 0.93 and 0.98</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Fix it, and look what happens</a:t>
            </a:r>
          </a:p>
        </p:txBody>
      </p:sp>
      <p:sp>
        <p:nvSpPr>
          <p:cNvPr id="3" name="Content Placeholder 2"/>
          <p:cNvSpPr>
            <a:spLocks noGrp="1"/>
          </p:cNvSpPr>
          <p:nvPr>
            <p:ph idx="1"/>
          </p:nvPr>
        </p:nvSpPr>
        <p:spPr>
          <a:xfrm>
            <a:off x="457200" y="1200151"/>
            <a:ext cx="8229600" cy="3394472"/>
          </a:xfrm>
        </p:spPr>
        <p:txBody>
          <a:bodyPr/>
          <a:lstStyle/>
          <a:p>
            <a:pPr lvl="0"/>
            <a:r>
              <a:rPr/>
              <a:t>Selection moved </a:t>
            </a:r>
            <a:r>
              <a:rPr b="1"/>
              <a:t>inside</a:t>
            </a:r>
            <a:r>
              <a:rPr/>
              <a:t> the pipeline, refitted per fold</a:t>
            </a:r>
          </a:p>
          <a:p>
            <a:pPr lvl="0"/>
            <a:r>
              <a:rPr/>
              <a:t>20 different fold seeds: </a:t>
            </a:r>
            <a:r>
              <a:rPr b="1"/>
              <a:t>0.658</a:t>
            </a:r>
          </a:p>
          <a:p>
            <a:pPr lvl="0"/>
            <a:r>
              <a:rPr/>
              <a:t>The truth is still 0.500</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Why it does not return to 0.5</a:t>
            </a:r>
          </a:p>
        </p:txBody>
      </p:sp>
      <p:sp>
        <p:nvSpPr>
          <p:cNvPr id="3" name="Content Placeholder 2"/>
          <p:cNvSpPr>
            <a:spLocks noGrp="1"/>
          </p:cNvSpPr>
          <p:nvPr>
            <p:ph idx="1"/>
          </p:nvPr>
        </p:nvSpPr>
        <p:spPr>
          <a:xfrm>
            <a:off x="457200" y="1200151"/>
            <a:ext cx="8229600" cy="3394472"/>
          </a:xfrm>
        </p:spPr>
        <p:txBody>
          <a:bodyPr/>
          <a:lstStyle/>
          <a:p>
            <a:pPr lvl="0"/>
            <a:r>
              <a:rPr/>
              <a:t>With 2,000 columns and 800 rows, some columns match the label </a:t>
            </a:r>
            <a:r>
              <a:rPr b="1"/>
              <a:t>by accident</a:t>
            </a:r>
          </a:p>
          <a:p>
            <a:pPr lvl="0"/>
            <a:r>
              <a:rPr/>
              <a:t>That accident belongs to the </a:t>
            </a:r>
            <a:r>
              <a:rPr b="1"/>
              <a:t>sample</a:t>
            </a:r>
            <a:r>
              <a:rPr/>
              <a:t>, not to the split</a:t>
            </a:r>
          </a:p>
          <a:p>
            <a:pPr lvl="0"/>
            <a:r>
              <a:rPr/>
              <a:t>Every fold contains it</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Hyperparameter search is the same problem</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endParaRPr/>
                    </a:p>
                  </a:txBody>
                  <a:tcPr/>
                </a:tc>
                <a:tc>
                  <a:txBody>
                    <a:bodyPr/>
                    <a:lstStyle/>
                    <a:p>
                      <a:pPr lvl="0" indent="0" marL="0">
                        <a:buNone/>
                      </a:pPr>
                      <a:r>
                        <a:rPr/>
                        <a:t>AUC</a:t>
                      </a:r>
                    </a:p>
                  </a:txBody>
                  <a:tcPr/>
                </a:tc>
              </a:tr>
              <a:tr h="0">
                <a:tc>
                  <a:txBody>
                    <a:bodyPr/>
                    <a:lstStyle/>
                    <a:p>
                      <a:pPr lvl="0" indent="0" marL="0">
                        <a:buNone/>
                      </a:pPr>
                      <a:r>
                        <a:rPr/>
                        <a:t>best of 25 candidates</a:t>
                      </a:r>
                    </a:p>
                  </a:txBody>
                </a:tc>
                <a:tc>
                  <a:txBody>
                    <a:bodyPr/>
                    <a:lstStyle/>
                    <a:p>
                      <a:pPr lvl="0" indent="0" marL="0">
                        <a:buNone/>
                      </a:pPr>
                      <a:r>
                        <a:rPr b="1"/>
                        <a:t>0.7999</a:t>
                      </a:r>
                    </a:p>
                  </a:txBody>
                </a:tc>
              </a:tr>
              <a:tr h="0">
                <a:tc>
                  <a:txBody>
                    <a:bodyPr/>
                    <a:lstStyle/>
                    <a:p>
                      <a:pPr lvl="0" indent="0" marL="0">
                        <a:buNone/>
                      </a:pPr>
                      <a:r>
                        <a:rPr/>
                        <a:t>average candidate</a:t>
                      </a:r>
                    </a:p>
                  </a:txBody>
                </a:tc>
                <a:tc>
                  <a:txBody>
                    <a:bodyPr/>
                    <a:lstStyle/>
                    <a:p>
                      <a:pPr lvl="0" indent="0" marL="0">
                        <a:buNone/>
                      </a:pPr>
                      <a:r>
                        <a:rPr/>
                        <a:t>0.7265</a:t>
                      </a:r>
                    </a:p>
                  </a:txBody>
                </a:tc>
              </a:tr>
              <a:tr h="0">
                <a:tc>
                  <a:txBody>
                    <a:bodyPr/>
                    <a:lstStyle/>
                    <a:p>
                      <a:pPr lvl="0" indent="0" marL="0">
                        <a:buNone/>
                      </a:pPr>
                      <a:r>
                        <a:rPr/>
                        <a:t>nested cross-validation</a:t>
                      </a:r>
                    </a:p>
                  </a:txBody>
                </a:tc>
                <a:tc>
                  <a:txBody>
                    <a:bodyPr/>
                    <a:lstStyle/>
                    <a:p>
                      <a:pPr lvl="0" indent="0" marL="0">
                        <a:buNone/>
                      </a:pPr>
                      <a:r>
                        <a:rPr/>
                        <a:t>0.6699</a:t>
                      </a:r>
                    </a:p>
                  </a:txBody>
                </a:tc>
              </a:tr>
              <a:tr h="0">
                <a:tc>
                  <a:txBody>
                    <a:bodyPr/>
                    <a:lstStyle/>
                    <a:p>
                      <a:pPr lvl="0" indent="0" marL="0">
                        <a:buNone/>
                      </a:pPr>
                      <a:r>
                        <a:rPr/>
                        <a:t>the truth</a:t>
                      </a:r>
                    </a:p>
                  </a:txBody>
                </a:tc>
                <a:tc>
                  <a:txBody>
                    <a:bodyPr/>
                    <a:lstStyle/>
                    <a:p>
                      <a:pPr lvl="0" indent="0" marL="0">
                        <a:buNone/>
                      </a:pPr>
                      <a:r>
                        <a:rPr/>
                        <a:t>0.500</a:t>
                      </a:r>
                    </a:p>
                  </a:txBody>
                </a:tc>
              </a:tr>
            </a:tbl>
          </a:graphicData>
        </a:graphic>
      </p:graphicFrame>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Nested cross-validation</a:t>
            </a:r>
          </a:p>
        </p:txBody>
      </p:sp>
      <p:pic>
        <p:nvPicPr>
          <p:cNvPr descr="nested_cv_diagram.png" id="0" name="Picture 1"/>
          <p:cNvPicPr>
            <a:picLocks noGrp="1" noChangeAspect="1"/>
          </p:cNvPicPr>
          <p:nvPr/>
        </p:nvPicPr>
        <p:blipFill>
          <a:blip r:embed="rId3"/>
          <a:stretch>
            <a:fillRect/>
          </a:stretch>
        </p:blipFill>
        <p:spPr bwMode="auto">
          <a:xfrm>
            <a:off x="853148" y="1166099"/>
            <a:ext cx="7437704" cy="3360181"/>
          </a:xfrm>
          <a:prstGeom prst="rect">
            <a:avLst/>
          </a:prstGeom>
          <a:noFill/>
          <a:ln w="9525">
            <a:noFill/>
            <a:headEnd/>
            <a:tailEnd/>
          </a:ln>
        </p:spPr>
      </p:pic>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Four ways to measure the same worthless model</a:t>
            </a:r>
          </a:p>
        </p:txBody>
      </p:sp>
      <p:pic>
        <p:nvPicPr>
          <p:cNvPr descr="leakage_ladder.png" id="0" name="Picture 1"/>
          <p:cNvPicPr>
            <a:picLocks noGrp="1" noChangeAspect="1"/>
          </p:cNvPicPr>
          <p:nvPr/>
        </p:nvPicPr>
        <p:blipFill>
          <a:blip r:embed="rId3"/>
          <a:stretch>
            <a:fillRect/>
          </a:stretch>
        </p:blipFill>
        <p:spPr bwMode="auto">
          <a:xfrm>
            <a:off x="1388008" y="1166099"/>
            <a:ext cx="6367983" cy="3360181"/>
          </a:xfrm>
          <a:prstGeom prst="rect">
            <a:avLst/>
          </a:prstGeom>
          <a:noFill/>
          <a:ln w="9525">
            <a:noFill/>
            <a:headEnd/>
            <a:tailEnd/>
          </a:ln>
        </p:spPr>
      </p:pic>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debt, paid</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Policy</a:t>
                      </a:r>
                    </a:p>
                  </a:txBody>
                  <a:tcPr/>
                </a:tc>
                <a:tc>
                  <a:txBody>
                    <a:bodyPr/>
                    <a:lstStyle/>
                    <a:p>
                      <a:pPr lvl="0" indent="0" marL="0">
                        <a:buNone/>
                      </a:pPr>
                      <a:r>
                        <a:rPr/>
                        <a:t>Cost on the test set</a:t>
                      </a:r>
                    </a:p>
                  </a:txBody>
                  <a:tcPr/>
                </a:tc>
              </a:tr>
              <a:tr h="0">
                <a:tc>
                  <a:txBody>
                    <a:bodyPr/>
                    <a:lstStyle/>
                    <a:p>
                      <a:pPr lvl="0" indent="0" marL="0">
                        <a:buNone/>
                      </a:pPr>
                      <a:r>
                        <a:rPr/>
                        <a:t>threshold 0.50, the default</a:t>
                      </a:r>
                    </a:p>
                  </a:txBody>
                </a:tc>
                <a:tc>
                  <a:txBody>
                    <a:bodyPr/>
                    <a:lstStyle/>
                    <a:p>
                      <a:pPr lvl="0" indent="0" marL="0">
                        <a:buNone/>
                      </a:pPr>
                      <a:r>
                        <a:rPr/>
                        <a:t>10,540 EUR</a:t>
                      </a:r>
                    </a:p>
                  </a:txBody>
                </a:tc>
              </a:tr>
              <a:tr h="0">
                <a:tc>
                  <a:txBody>
                    <a:bodyPr/>
                    <a:lstStyle/>
                    <a:p>
                      <a:pPr lvl="0" indent="0" marL="0">
                        <a:buNone/>
                      </a:pPr>
                      <a:r>
                        <a:rPr/>
                        <a:t>threshold chosen on </a:t>
                      </a:r>
                      <a:r>
                        <a:rPr b="1"/>
                        <a:t>validation</a:t>
                      </a:r>
                    </a:p>
                  </a:txBody>
                </a:tc>
                <a:tc>
                  <a:txBody>
                    <a:bodyPr/>
                    <a:lstStyle/>
                    <a:p>
                      <a:pPr lvl="0" indent="0" marL="0">
                        <a:buNone/>
                      </a:pPr>
                      <a:r>
                        <a:rPr b="1"/>
                        <a:t>4,700 EUR</a:t>
                      </a:r>
                    </a:p>
                  </a:txBody>
                </a:tc>
              </a:tr>
              <a:tr h="0">
                <a:tc>
                  <a:txBody>
                    <a:bodyPr/>
                    <a:lstStyle/>
                    <a:p>
                      <a:pPr lvl="0" indent="0" marL="0">
                        <a:buNone/>
                      </a:pPr>
                      <a:r>
                        <a:rPr/>
                        <a:t>threshold chosen on </a:t>
                      </a:r>
                      <a:r>
                        <a:rPr b="1"/>
                        <a:t>test</a:t>
                      </a:r>
                    </a:p>
                  </a:txBody>
                </a:tc>
                <a:tc>
                  <a:txBody>
                    <a:bodyPr/>
                    <a:lstStyle/>
                    <a:p>
                      <a:pPr lvl="0" indent="0" marL="0">
                        <a:buNone/>
                      </a:pPr>
                      <a:r>
                        <a:rPr/>
                        <a:t>3,300 EUR</a:t>
                      </a:r>
                    </a:p>
                  </a:txBody>
                </a:tc>
              </a:tr>
            </a:tbl>
          </a:graphicData>
        </a:graphic>
      </p:graphicFrame>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Three sets, three jobs</a:t>
            </a:r>
          </a:p>
        </p:txBody>
      </p:sp>
      <p:sp>
        <p:nvSpPr>
          <p:cNvPr id="3" name="Content Placeholder 2"/>
          <p:cNvSpPr>
            <a:spLocks noGrp="1"/>
          </p:cNvSpPr>
          <p:nvPr>
            <p:ph idx="1"/>
          </p:nvPr>
        </p:nvSpPr>
        <p:spPr>
          <a:xfrm>
            <a:off x="457200" y="1200151"/>
            <a:ext cx="8229600" cy="3394472"/>
          </a:xfrm>
        </p:spPr>
        <p:txBody>
          <a:bodyPr/>
          <a:lstStyle/>
          <a:p>
            <a:pPr lvl="0"/>
            <a:r>
              <a:rPr b="1"/>
              <a:t>Train</a:t>
            </a:r>
            <a:r>
              <a:rPr/>
              <a:t>: fit the parameters</a:t>
            </a:r>
          </a:p>
          <a:p>
            <a:pPr lvl="0"/>
            <a:r>
              <a:rPr b="1"/>
              <a:t>Validation</a:t>
            </a:r>
            <a:r>
              <a:rPr/>
              <a:t>: make every choice: model, hyperparameters, threshold</a:t>
            </a:r>
          </a:p>
          <a:p>
            <a:pPr lvl="0"/>
            <a:r>
              <a:rPr b="1"/>
              <a:t>Test</a:t>
            </a:r>
            <a:r>
              <a:rPr/>
              <a:t>: report. Touched </a:t>
            </a:r>
            <a:r>
              <a:rPr b="1"/>
              <a:t>once</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fixed seed buys repeatability, not stability</a:t>
            </a:r>
          </a:p>
        </p:txBody>
      </p:sp>
      <p:sp>
        <p:nvSpPr>
          <p:cNvPr id="3" name="Content Placeholder 2"/>
          <p:cNvSpPr>
            <a:spLocks noGrp="1"/>
          </p:cNvSpPr>
          <p:nvPr>
            <p:ph idx="1"/>
          </p:nvPr>
        </p:nvSpPr>
        <p:spPr>
          <a:xfrm>
            <a:off x="457200" y="1200151"/>
            <a:ext cx="8229600" cy="3394472"/>
          </a:xfrm>
        </p:spPr>
        <p:txBody>
          <a:bodyPr/>
          <a:lstStyle/>
          <a:p>
            <a:pPr lvl="0"/>
            <a:r>
              <a:rPr/>
              <a:t>30 seeds, all perfectly reproducible: </a:t>
            </a:r>
            <a:r>
              <a:rPr b="1"/>
              <a:t>0.913 to 1.000</a:t>
            </a:r>
          </a:p>
          <a:p>
            <a:pPr lvl="0"/>
            <a:r>
              <a:rPr>
                <a:latin typeface="Courier"/>
              </a:rPr>
              <a:t>AUC 1.000 (random_state=3)</a:t>
            </a:r>
            <a:r>
              <a:rPr/>
              <a:t> is reproducible </a:t>
            </a:r>
            <a:r>
              <a:rPr b="1"/>
              <a:t>and</a:t>
            </a:r>
            <a:r>
              <a:rPr/>
              <a:t> misleading</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to fix, and what to write down</a:t>
            </a:r>
          </a:p>
        </p:txBody>
      </p:sp>
      <p:sp>
        <p:nvSpPr>
          <p:cNvPr id="3" name="Content Placeholder 2"/>
          <p:cNvSpPr>
            <a:spLocks noGrp="1"/>
          </p:cNvSpPr>
          <p:nvPr>
            <p:ph idx="1"/>
          </p:nvPr>
        </p:nvSpPr>
        <p:spPr>
          <a:xfrm>
            <a:off x="457200" y="1200151"/>
            <a:ext cx="8229600" cy="3394472"/>
          </a:xfrm>
        </p:spPr>
        <p:txBody>
          <a:bodyPr/>
          <a:lstStyle/>
          <a:p>
            <a:pPr lvl="0"/>
            <a:r>
              <a:rPr/>
              <a:t>Every </a:t>
            </a:r>
            <a:r>
              <a:rPr>
                <a:latin typeface="Courier"/>
              </a:rPr>
              <a:t>random_state</a:t>
            </a:r>
            <a:r>
              <a:rPr/>
              <a:t>, and </a:t>
            </a:r>
            <a:r>
              <a:rPr>
                <a:latin typeface="Courier"/>
              </a:rPr>
              <a:t>np.random.default_rng(seed)</a:t>
            </a:r>
          </a:p>
          <a:p>
            <a:pPr lvl="0"/>
            <a:r>
              <a:rPr b="1"/>
              <a:t>Library versions</a:t>
            </a:r>
            <a:r>
              <a:rPr/>
              <a:t>: defaults change between releases</a:t>
            </a:r>
          </a:p>
          <a:p>
            <a:pPr lvl="0"/>
            <a:r>
              <a:rPr/>
              <a:t>What you could </a:t>
            </a:r>
            <a:r>
              <a:rPr b="1"/>
              <a:t>not</a:t>
            </a:r>
            <a:r>
              <a:rPr/>
              <a:t> fix: threads, GPU non-determinism</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3, live</a:t>
            </a:r>
          </a:p>
        </p:txBody>
      </p:sp>
      <p:sp>
        <p:nvSpPr>
          <p:cNvPr id="3" name="Content Placeholder 2"/>
          <p:cNvSpPr>
            <a:spLocks noGrp="1"/>
          </p:cNvSpPr>
          <p:nvPr>
            <p:ph idx="1"/>
          </p:nvPr>
        </p:nvSpPr>
        <p:spPr>
          <a:xfrm>
            <a:off x="457200" y="1200151"/>
            <a:ext cx="8229600" cy="3394472"/>
          </a:xfrm>
        </p:spPr>
        <p:txBody>
          <a:bodyPr/>
          <a:lstStyle/>
          <a:p>
            <a:pPr lvl="0"/>
            <a:r>
              <a:rPr/>
              <a:t>The 0.931, the fix, the nested search</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to put in a report</a:t>
            </a:r>
          </a:p>
        </p:txBody>
      </p:sp>
      <p:sp>
        <p:nvSpPr>
          <p:cNvPr id="3" name="Content Placeholder 2"/>
          <p:cNvSpPr>
            <a:spLocks noGrp="1"/>
          </p:cNvSpPr>
          <p:nvPr>
            <p:ph idx="1"/>
          </p:nvPr>
        </p:nvSpPr>
        <p:spPr>
          <a:xfrm>
            <a:off x="457200" y="1200151"/>
            <a:ext cx="8229600" cy="3394472"/>
          </a:xfrm>
        </p:spPr>
        <p:txBody>
          <a:bodyPr/>
          <a:lstStyle/>
          <a:p>
            <a:pPr lvl="0"/>
            <a:r>
              <a:rPr/>
              <a:t>The metric, the </a:t>
            </a:r>
            <a:r>
              <a:rPr b="1"/>
              <a:t>spread</a:t>
            </a:r>
            <a:r>
              <a:rPr/>
              <a:t>, and how it was estimated</a:t>
            </a:r>
          </a:p>
          <a:p>
            <a:pPr lvl="0"/>
            <a:r>
              <a:rPr/>
              <a:t>How many </a:t>
            </a:r>
            <a:r>
              <a:rPr b="1"/>
              <a:t>positives</a:t>
            </a:r>
            <a:r>
              <a:rPr/>
              <a:t> the test set held</a:t>
            </a:r>
          </a:p>
          <a:p>
            <a:pPr lvl="0"/>
            <a:r>
              <a:rPr/>
              <a:t>Every seed, and every library version</a:t>
            </a:r>
          </a:p>
          <a:p>
            <a:pPr lvl="0"/>
            <a:r>
              <a:rPr/>
              <a:t>Which choices were made on which data</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to take away</a:t>
            </a:r>
          </a:p>
        </p:txBody>
      </p:sp>
      <p:sp>
        <p:nvSpPr>
          <p:cNvPr id="3" name="Content Placeholder 2"/>
          <p:cNvSpPr>
            <a:spLocks noGrp="1"/>
          </p:cNvSpPr>
          <p:nvPr>
            <p:ph idx="1"/>
          </p:nvPr>
        </p:nvSpPr>
        <p:spPr>
          <a:xfrm>
            <a:off x="457200" y="1200151"/>
            <a:ext cx="8229600" cy="3394472"/>
          </a:xfrm>
        </p:spPr>
        <p:txBody>
          <a:bodyPr/>
          <a:lstStyle/>
          <a:p>
            <a:pPr lvl="0"/>
            <a:r>
              <a:rPr b="1"/>
              <a:t>A test score is a measurement.</a:t>
            </a:r>
            <a:r>
              <a:rPr/>
              <a:t> 0.885 to a perfect </a:t>
            </a:r>
            <a:r>
              <a:rPr b="1"/>
              <a:t>1.000</a:t>
            </a:r>
            <a:r>
              <a:rPr/>
              <a:t>, same model</a:t>
            </a:r>
          </a:p>
          <a:p>
            <a:pPr lvl="0"/>
            <a:r>
              <a:rPr b="1"/>
              <a:t>Choosing on one split chooses noise</a:t>
            </a:r>
          </a:p>
          <a:p>
            <a:pPr lvl="0"/>
            <a:r>
              <a:rPr b="1"/>
              <a:t>bias² + variance + noise</a:t>
            </a:r>
            <a:r>
              <a:rPr/>
              <a:t> is an identity, and the noise floor never moves</a:t>
            </a:r>
          </a:p>
          <a:p>
            <a:pPr lvl="0"/>
            <a:r>
              <a:rPr b="1"/>
              <a:t>Curves that meet low mean bias</a:t>
            </a:r>
            <a:r>
              <a:rPr/>
              <a:t>: more data will not help</a:t>
            </a:r>
          </a:p>
          <a:p>
            <a:pPr lvl="0"/>
            <a:r>
              <a:rPr b="1"/>
              <a:t>Cross-validation protects against fold leakage, nothing more</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Homework</a:t>
            </a:r>
          </a:p>
        </p:txBody>
      </p:sp>
      <p:sp>
        <p:nvSpPr>
          <p:cNvPr id="3" name="Content Placeholder 2"/>
          <p:cNvSpPr>
            <a:spLocks noGrp="1"/>
          </p:cNvSpPr>
          <p:nvPr>
            <p:ph idx="1"/>
          </p:nvPr>
        </p:nvSpPr>
        <p:spPr>
          <a:xfrm>
            <a:off x="457200" y="1200151"/>
            <a:ext cx="8229600" cy="3394472"/>
          </a:xfrm>
        </p:spPr>
        <p:txBody>
          <a:bodyPr/>
          <a:lstStyle/>
          <a:p>
            <a:pPr lvl="0"/>
            <a:r>
              <a:rPr b="1"/>
              <a:t>Exercise 5</a:t>
            </a:r>
            <a:r>
              <a:rPr/>
              <a:t>, due Friday 30 October</a:t>
            </a:r>
          </a:p>
          <a:p>
            <a:pPr lvl="0"/>
            <a:r>
              <a:rPr/>
              <a:t>A result that is too good. Find out why, then produce the honest number</a:t>
            </a:r>
          </a:p>
        </p:txBody>
      </p:sp>
    </p:spTree>
  </p:cSld>
</p:sld>
</file>

<file path=ppt/theme/theme1.xml><?xml version="1.0" encoding="utf-8"?>
<a:theme xmlns:a="http://schemas.openxmlformats.org/drawingml/2006/main" name="Office Theme">
  <a:themeElements>
    <a:clrScheme name="Office">
      <a:dk1>
        <a:sysClr val="windowText" lastClr="1A1A1A"/>
      </a:dk1>
      <a:lt1>
        <a:sysClr val="window" lastClr="FFFFFF"/>
      </a:lt1>
      <a:dk2>
        <a:srgbClr val="1F497D"/>
      </a:dk2>
      <a:lt2>
        <a:srgbClr val="EEECE1"/>
      </a:lt2>
      <a:accent1>
        <a:srgbClr val="1F4E79"/>
      </a:accent1>
      <a:accent2>
        <a:srgbClr val="2E7D8A"/>
      </a:accent2>
      <a:accent3>
        <a:srgbClr val="F0BE50"/>
      </a:accent3>
      <a:accent4>
        <a:srgbClr val="4A5568"/>
      </a:accent4>
      <a:accent5>
        <a:srgbClr val="9C4221"/>
      </a:accent5>
      <a:accent6>
        <a:srgbClr val="1A1A1A"/>
      </a:accent6>
      <a:hlink>
        <a:srgbClr val="0000FF"/>
      </a:hlink>
      <a:folHlink>
        <a:srgbClr val="800080"/>
      </a:folHlink>
    </a:clrScheme>
    <a:fontScheme name="Office">
      <a:majorFont>
        <a:latin typeface="Segoe UI Semibold"/>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1A1A1A"/>
      </a:dk1>
      <a:lt1>
        <a:sysClr val="window" lastClr="FFFFFF"/>
      </a:lt1>
      <a:dk2>
        <a:srgbClr val="44546A"/>
      </a:dk2>
      <a:lt2>
        <a:srgbClr val="E7E6E6"/>
      </a:lt2>
      <a:accent1>
        <a:srgbClr val="1F4E79"/>
      </a:accent1>
      <a:accent2>
        <a:srgbClr val="2E7D8A"/>
      </a:accent2>
      <a:accent3>
        <a:srgbClr val="F0BE50"/>
      </a:accent3>
      <a:accent4>
        <a:srgbClr val="4A5568"/>
      </a:accent4>
      <a:accent5>
        <a:srgbClr val="9C4221"/>
      </a:accent5>
      <a:accent6>
        <a:srgbClr val="1A1A1A"/>
      </a:accent6>
      <a:hlink>
        <a:srgbClr val="0563C1"/>
      </a:hlink>
      <a:folHlink>
        <a:srgbClr val="954F72"/>
      </a:folHlink>
    </a:clrScheme>
    <a:fontScheme name="Office">
      <a:majorFont>
        <a:latin typeface="Segoe UI Semibold"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Lesson 5: Experimental Methodology</dc:title>
  <dc:creator>Fabio Antonini, Università degli Studi dell’Aquila</dc:creator>
  <cp:keywords/>
  <dcterms:created xsi:type="dcterms:W3CDTF">1980-01-01T00:00:00Z</dcterms:created>
  <dcterms:modified xsi:type="dcterms:W3CDTF">1980-01-01T00:00:00Z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date">
    <vt:lpwstr>23 October 2026</vt:lpwstr>
  </property>
  <property fmtid="{D5CDD505-2E9C-101B-9397-08002B2CF9AE}" pid="3" name="subtitle">
    <vt:lpwstr>Technologies for Artificial Intelligence</vt:lpwstr>
  </property>
</Properties>
</file>