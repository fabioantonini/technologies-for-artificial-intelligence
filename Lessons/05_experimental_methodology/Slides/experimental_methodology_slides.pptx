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4. The paragraph defending the threshold was the part that carried the marks, so say one sentence about what you saw across the class.</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and is left out of the table for width — say so.</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was due today</a:t>
            </a:r>
          </a:p>
          <a:p>
            <a:pPr lvl="0"/>
            <a:r>
              <a:rPr/>
              <a:t>The threshold you chose —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 area under the receiver operating characteristic curve —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 the average model is wrong</a:t>
            </a:r>
          </a:p>
          <a:p>
            <a:pPr lvl="0"/>
            <a:r>
              <a:rPr b="1"/>
              <a:t>Variance</a:t>
            </a:r>
            <a:r>
              <a:rPr/>
              <a:t> — the individual models disagree</a:t>
            </a:r>
          </a:p>
          <a:p>
            <a:pPr lvl="0"/>
            <a:r>
              <a:rPr b="1"/>
              <a:t>Noise</a:t>
            </a:r>
            <a:r>
              <a:rPr/>
              <a:t> —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n = 25</a:t>
                      </a:r>
                    </a:p>
                  </a:txBody>
                  <a:tcPr/>
                </a:tc>
                <a:tc>
                  <a:txBody>
                    <a:bodyPr/>
                    <a:lstStyle/>
                    <a:p>
                      <a:pPr lvl="0" indent="0" marL="0">
                        <a:buNone/>
                      </a:pPr>
                      <a:r>
                        <a:rPr/>
                        <a:t>n = 60</a:t>
                      </a:r>
                    </a:p>
                  </a:txBody>
                  <a:tcPr/>
                </a:tc>
                <a:tc>
                  <a:txBody>
                    <a:bodyPr/>
                    <a:lstStyle/>
                    <a:p>
                      <a:pPr lvl="0" indent="0" marL="0">
                        <a:buNone/>
                      </a:pPr>
                      <a:r>
                        <a:rPr/>
                        <a:t>n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53148" y="1166099"/>
            <a:ext cx="743770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 fit the parameters</a:t>
            </a:r>
          </a:p>
          <a:p>
            <a:pPr lvl="0"/>
            <a:r>
              <a:rPr b="1"/>
              <a:t>Validation</a:t>
            </a:r>
            <a:r>
              <a:rPr/>
              <a:t> — make every choice: model, hyperparameters, threshold</a:t>
            </a:r>
          </a:p>
          <a:p>
            <a:pPr lvl="0"/>
            <a:r>
              <a:rPr b="1"/>
              <a:t>Test</a:t>
            </a:r>
            <a:r>
              <a:rPr/>
              <a:t> —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due 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 Experimental Methodology</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