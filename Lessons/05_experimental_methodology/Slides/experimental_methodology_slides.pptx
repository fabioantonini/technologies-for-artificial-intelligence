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The defence of the threshold is the part that matters, so ask two people to give theirs out loud - that is the rehearsal for the exam, where one of the ten exercises is drawn and discussed.</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which part is held out. Cut the data into k parts, train on k-1, score on the one left out - the validation fold - and repeat until every part has been the validation fold exactly once.</a:t>
            </a:r>
          </a:p>
          <a:p>
            <a:pPr lvl="0" indent="0" marL="0">
              <a:buNone/>
            </a:pPr>
          </a:p>
          <a:p>
            <a:pPr lvl="0" indent="0" marL="0">
              <a:buNone/>
            </a:pPr>
            <a:r>
              <a:rPr/>
              <a:t>Say why it is labelled validation and not test, because the code will contradict the slide. Lesson 1’s three roles: training fits, validation chooses, test reports once. This block is scored k times and, by the end of the lesson, is what a search chooses on. scikit-learn calls it test - test_index, mean_test_score - and there the word means only “not used to fit this fold’s model”, never the test set reported once. Handout section 4.1.</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a:t>
            </a:r>
          </a:p>
          <a:p>
            <a:pPr lvl="0" indent="0" marL="0">
              <a:buNone/>
            </a:pPr>
          </a:p>
          <a:p>
            <a:pPr lvl="0" indent="0" marL="0">
              <a:buNone/>
            </a:pPr>
            <a:r>
              <a:rPr/>
              <a:t>The spread falls from 0.088 to 0.015 - about seven times more stable. And note that both centre in the same place: cross-validation is not more pessimistic, it is less arbitrary.</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the largest bias² and the smallest variance. Stable and wrong.</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Bias falls monotonically with complexity; variance rises; the total is a U whose minimum is the model you want.</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 and the validation curve still climbing at the right edge.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the rising curve is itself the evidence that more data will help.</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validation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validation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way to write up every exercise from here on - it is what the exam asks them to defend.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every remaining exercise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one they are most likely to be asked at the exam about whichever exercise is drawn.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which we discuss now</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71539"/>
            <a:ext cx="8229599" cy="749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variance. More data </a:t>
            </a:r>
            <a:r>
              <a:rPr b="1"/>
              <a:t>will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a:t>
            </a:r>
            <a:br/>
            <a:r>
              <a:rPr>
                <a:latin typeface="Courier"/>
              </a:rPr>
              <a:t>sel.fit(noise, y)</a:t>
            </a:r>
            <a:br/>
            <a:r>
              <a:rPr>
                <a:latin typeface="Courier"/>
              </a:rPr>
              <a:t>X </a:t>
            </a:r>
            <a:r>
              <a:rPr>
                <a:solidFill>
                  <a:srgbClr val="666666"/>
                </a:solidFill>
                <a:latin typeface="Courier"/>
              </a:rPr>
              <a:t>=</a:t>
            </a:r>
            <a:r>
              <a:rPr>
                <a:latin typeface="Courier"/>
              </a:rPr>
              <a:t> noise.loc[:, sel.get_support()]</a:t>
            </a:r>
            <a:br/>
            <a:r>
              <a:rPr>
                <a:latin typeface="Courier"/>
              </a:rPr>
              <a:t>cross_val_score(model, X, y, cv</a:t>
            </a:r>
            <a:r>
              <a:rPr>
                <a:solidFill>
                  <a:srgbClr val="666666"/>
                </a:solidFill>
                <a:latin typeface="Courier"/>
              </a:rPr>
              <a:t>=</a:t>
            </a:r>
            <a:r>
              <a:rPr>
                <a:latin typeface="Courier"/>
              </a:rPr>
              <a:t>cv)</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 by construction</a:t>
                      </a:r>
                    </a:p>
                  </a:txBody>
                </a:tc>
                <a:tc>
                  <a:txBody>
                    <a:bodyPr/>
                    <a:lstStyle/>
                    <a:p>
                      <a:pPr lvl="0" indent="0" marL="0">
                        <a:buNone/>
                      </a:pPr>
                      <a:r>
                        <a:rPr/>
                        <a:t>0.5</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discussed at the start of </a:t>
            </a:r>
            <a:r>
              <a:rPr b="1"/>
              <a:t>Friday 30 October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