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 4 ran over two Fridays: on 30 October it reached its slide 42, so this Friday opens with its remaining slides, about forty-five minutes, from its slide 43 to its homework slide, where exercise 4 is set officially. Its optional slides (55, 58 to 60) can be skipped.</a:t>
            </a:r>
          </a:p>
          <a:p>
            <a:pPr lvl="0" indent="0" marL="0">
              <a:buNone/>
            </a:pPr>
          </a:p>
          <a:p>
            <a:pPr lvl="0" indent="0" marL="0">
              <a:buNone/>
            </a:pPr>
            <a:r>
              <a:rPr/>
              <a:t>Lesson 5 then has about two hours and a quarter instead of three. Nothing is cut from the material: the slides marked (optional) - 16 and 17, 27 and 28, 42 and 43 - and notebook 2 are left for self-study, and the handout covers them all. Say so at the start, so nobody thinks they missed something.</a:t>
            </a:r>
          </a:p>
          <a:p>
            <a:pPr lvl="0" indent="0" marL="0">
              <a:buNone/>
            </a:pPr>
          </a:p>
          <a:p>
            <a:pPr lvl="0" indent="0" marL="0">
              <a:buNone/>
            </a:pPr>
            <a:r>
              <a:rPr/>
              <a:t>Exercises 4 and 5 are both discussed at the start of lesson 6, Friday 13 November. Students have already loaded exercise 4’s data and fitted a logistic regression, so the two together are a fair week’s work.</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explicit that this was deliberate. In lesson 4 there was no machinery available to do it properly, and inventing half of that machinery mid-lesson would have buried the actual subject.</a:t>
            </a:r>
          </a:p>
          <a:p>
            <a:pPr lvl="0" indent="0" marL="0">
              <a:buNone/>
            </a:pPr>
          </a:p>
          <a:p>
            <a:pPr lvl="0" indent="0" marL="0">
              <a:buNone/>
            </a:pPr>
            <a:r>
              <a:rPr/>
              <a:t>Keep the debt visible through the whole lesson, because nearly every error today has the same shape: a choice was made by looking at data that was then used to report the result.</a:t>
            </a:r>
          </a:p>
          <a:p>
            <a:pPr lvl="0" indent="0" marL="0">
              <a:buNone/>
            </a:pPr>
          </a:p>
          <a:p>
            <a:pPr lvl="0" indent="0" marL="0">
              <a:buNone/>
            </a:pPr>
            <a:r>
              <a:rPr/>
              <a:t>Section 8 of the handout pays it off, and slide 40 shows the number.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Agenda. Say why this lesson sits in the middle of the course, because it is a deliberate choice and the syllabus says so.</a:t>
            </a:r>
          </a:p>
          <a:p>
            <a:pPr lvl="0" indent="0" marL="0">
              <a:buNone/>
            </a:pPr>
          </a:p>
          <a:p>
            <a:pPr lvl="0" indent="0" marL="0">
              <a:buNone/>
            </a:pPr>
            <a:r>
              <a:rPr/>
              <a:t>They can already build models - lessons 3 and 4 gave them two, scikit-learn gives a hundred more for one line each. Producing a model that appears to work is an afternoon’s work and it is not the job. Knowing whether it does work is considerably harder.</a:t>
            </a:r>
          </a:p>
          <a:p>
            <a:pPr lvl="0" indent="0" marL="0">
              <a:buNone/>
            </a:pPr>
          </a:p>
          <a:p>
            <a:pPr lvl="0" indent="0" marL="0">
              <a:buNone/>
            </a:pPr>
            <a:r>
              <a:rPr/>
              <a:t>And everything after today makes it harder still: lessons 6 to 10 add more flexible methods, and every increase in flexibility adds ways for a result to be wrong while looking right.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distinction is the whole first half of the lesson, and it is routinely missed - because “test set accuracy” sounds like a property of the model rather than a measurement with a standard error.</a:t>
            </a:r>
          </a:p>
          <a:p>
            <a:pPr lvl="0" indent="0" marL="0">
              <a:buNone/>
            </a:pPr>
          </a:p>
          <a:p>
            <a:pPr lvl="0" indent="0" marL="0">
              <a:buNone/>
            </a:pPr>
            <a:r>
              <a:rPr/>
              <a:t>Lesson 1’s rule was about bias: never let the test set influence the model, and the number you get is centred on the truth. Correct, and it says nothing at all about how far from the truth any particular measurement lands.</a:t>
            </a:r>
          </a:p>
          <a:p>
            <a:pPr lvl="0" indent="0" marL="0">
              <a:buNone/>
            </a:pPr>
          </a:p>
          <a:p>
            <a:pPr lvl="0" indent="0" marL="0">
              <a:buNone/>
            </a:pPr>
            <a:r>
              <a:rPr/>
              <a:t>Ask the room, before the next slide: how far apart do you think two honest splits of the same dataset can be? Take a guess out loud. They will underestimate it.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model is lesson 4’s, unchanged: scaled features, logistic regression, scored by AUC (area under the receiver operating characteristic curve) on a stratified 75/25 split - the In code line names each piece. The failure rate is about lesson 4’s: 29 of 800 is 3.6%, against 306 of 8,000, 3.8%.</a:t>
            </a:r>
          </a:p>
          <a:p>
            <a:pPr lvl="0" indent="0" marL="0">
              <a:buNone/>
            </a:pPr>
          </a:p>
          <a:p>
            <a:pPr lvl="0" indent="0" marL="0">
              <a:buNone/>
            </a:pPr>
            <a:r>
              <a:rPr/>
              <a:t>Justify the reduction explicitly, because a sharp student will otherwise suspect the demonstration is rigged.</a:t>
            </a:r>
          </a:p>
          <a:p>
            <a:pPr lvl="0" indent="0" marL="0">
              <a:buNone/>
            </a:pPr>
          </a:p>
          <a:p>
            <a:pPr lvl="0" indent="0" marL="0">
              <a:buNone/>
            </a:pPr>
            <a:r>
              <a:rPr/>
              <a:t>With 8,000 drives a single split is fairly stable, and lesson 4’s numbers were trustworthy. Eight hundred records with 29 positives is a far more common situation than eight thousand - it is what a real pilot study looks like - and what follows is simply what the honest version of that situation looks like.</a:t>
            </a:r>
          </a:p>
          <a:p>
            <a:pPr lvl="0" indent="0" marL="0">
              <a:buNone/>
            </a:pPr>
          </a:p>
          <a:p>
            <a:pPr lvl="0" indent="0" marL="0">
              <a:buNone/>
            </a:pPr>
            <a:r>
              <a:rPr/>
              <a:t>Same data, same model, same code as last week. Only the sample size changed.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hundred legitimate experiments. Every one done correctly: nothing fitted before the split, the test set never inspected, the metric computed properly.</a:t>
            </a:r>
          </a:p>
          <a:p>
            <a:pPr lvl="0" indent="0" marL="0">
              <a:buNone/>
            </a:pPr>
          </a:p>
          <a:p>
            <a:pPr lvl="0" indent="0" marL="0">
              <a:buNone/>
            </a:pPr>
            <a:r>
              <a:rPr/>
              <a:t>Worst 0.885. Best 1.000. Mean 0.955.</a:t>
            </a:r>
          </a:p>
          <a:p>
            <a:pPr lvl="0" indent="0" marL="0">
              <a:buNone/>
            </a:pPr>
          </a:p>
          <a:p>
            <a:pPr lvl="0" indent="0" marL="0">
              <a:buNone/>
            </a:pPr>
            <a:r>
              <a:rPr/>
              <a:t>Sit on the 1.000 for a moment. That split reports a PERFECT classifier - every failing drive ranked above every healthy one - for a model whose honest performance is about 0.95. Ten of the two hundred scored above 0.99.</a:t>
            </a:r>
          </a:p>
          <a:p>
            <a:pPr lvl="0" indent="0" marL="0">
              <a:buNone/>
            </a:pPr>
          </a:p>
          <a:p>
            <a:pPr lvl="0" indent="0" marL="0">
              <a:buNone/>
            </a:pPr>
            <a:r>
              <a:rPr/>
              <a:t>Then the point that matters most, and say it slowly: the right-hand tail is the dangerous end, not the left. A disappointing score makes you frown and keep working. A delightful score makes you stop, write it down, and put it in the report. The splits that flatter you are the ones you are least likely to question.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arithmetic behind the previous slide, and it generalises into the single most useful diagnostic question in the course.</a:t>
            </a:r>
          </a:p>
          <a:p>
            <a:pPr lvl="0" indent="0" marL="0">
              <a:buNone/>
            </a:pPr>
          </a:p>
          <a:p>
            <a:pPr lvl="0" indent="0" marL="0">
              <a:buNone/>
            </a:pPr>
            <a:r>
              <a:rPr/>
              <a:t>The precision of a classification metric is governed by the count of the RARER class, not by the size of the dataset. Eight thousand drives at 3.8% gives 306 positives and a stable estimate. Eight hundred gives 29, and it does not.</a:t>
            </a:r>
          </a:p>
          <a:p>
            <a:pPr lvl="0" indent="0" marL="0">
              <a:buNone/>
            </a:pPr>
          </a:p>
          <a:p>
            <a:pPr lvl="0" indent="0" marL="0">
              <a:buNone/>
            </a:pPr>
            <a:r>
              <a:rPr/>
              <a:t>Give them the question to carry away: how many positive examples are in the test set? If the answer is under about fifty, treat every metric as provisional.</a:t>
            </a:r>
          </a:p>
          <a:p>
            <a:pPr lvl="0" indent="0" marL="0">
              <a:buNone/>
            </a:pPr>
          </a:p>
          <a:p>
            <a:pPr lvl="0" indent="0" marL="0">
              <a:buNone/>
            </a:pPr>
            <a:r>
              <a:rPr/>
              <a:t>The third bullet makes the count concrete, with lesson 4’s reading of AUC as the fraction of failing-healthy pairs ranked the right way round: there are only 7 x 193 = 1,351 pairs, and they come in seven bundles of 193, one per failing drive. One drive ranked a little lower moves twenty pairs at once and the AUC by 0.015 - over half of the 0.024 standard deviation of slide 7.</a:t>
            </a:r>
          </a:p>
          <a:p>
            <a:pPr lvl="0" indent="0" marL="0">
              <a:buNone/>
            </a:pPr>
          </a:p>
          <a:p>
            <a:pPr lvl="0" indent="0" marL="0">
              <a:buNone/>
            </a:pPr>
            <a:r>
              <a:rPr/>
              <a:t>Worth connecting to lesson 4: this is the same reason the precision METRIC (the share of flagged drives that really fail) collapsed there while AUC did not notice. Say “metric” aloud: slide 5 used “precise” for the error bar of an estimate, a different thing.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slide, because every choice in the rest of the lesson is a choice of one of these, and the word has been used loosely since lesson 2.</a:t>
            </a:r>
          </a:p>
          <a:p>
            <a:pPr lvl="0" indent="0" marL="0">
              <a:buNone/>
            </a:pPr>
          </a:p>
          <a:p>
            <a:pPr lvl="0" indent="0" marL="0">
              <a:buNone/>
            </a:pPr>
            <a:r>
              <a:rPr/>
              <a:t>Parameters are what the fit estimates: coefficients and intercept. Hyperparameters are what it does not - lesson 3’s penalty, lesson 6’s neighbours, lesson 7’s tree depth, and lesson 4’s threshold.</a:t>
            </a:r>
          </a:p>
          <a:p>
            <a:pPr lvl="0" indent="0" marL="0">
              <a:buNone/>
            </a:pPr>
          </a:p>
          <a:p>
            <a:pPr lvl="0" indent="0" marL="0">
              <a:buNone/>
            </a:pPr>
            <a:r>
              <a:rPr/>
              <a:t>Neighbours and tree depth are named ahead of their lessons: say so, they only need to know that such settings exist.</a:t>
            </a:r>
          </a:p>
          <a:p>
            <a:pPr lvl="0" indent="0" marL="0">
              <a:buNone/>
            </a:pPr>
          </a:p>
          <a:p>
            <a:pPr lvl="0" indent="0" marL="0">
              <a:buNone/>
            </a:pPr>
            <a:r>
              <a:rPr/>
              <a:t>Then say what is not on the slide: some hyperparameters are fixed before the fit (lambda), some after it (the threshold). That is worth a sentence, because the obvious shorthand is wrong and a sharp student will catch it. “Fixed before the fit” is true of the penalty, which sits inside the cost being minimised, and false of the threshold, which is chosen afterwards on probabilities the fit has already produced. What they share is not timing: it is that neither is estimated the way a coefficient is.</a:t>
            </a:r>
          </a:p>
          <a:p>
            <a:pPr lvl="0" indent="0" marL="0">
              <a:buNone/>
            </a:pPr>
          </a:p>
          <a:p>
            <a:pPr lvl="0" indent="0" marL="0">
              <a:buNone/>
            </a:pPr>
            <a:r>
              <a:rPr/>
              <a:t>Then the sentence that makes the distinction matter rather than taxonomic: you cannot estimate a hyperparameter by minimising training error, because that objective already knows its favourite answer - no penalty at all, the biggest tree available, a threshold tuned to the rows already seen. So the only way to choose one is to compare, and comparison needs data the model has not seen. That is what the rest of today is about, and why it costs what it costs.</a:t>
            </a:r>
          </a:p>
          <a:p>
            <a:pPr lvl="0" indent="0" marL="0">
              <a:buNone/>
            </a:pPr>
          </a:p>
          <a:p>
            <a:pPr lvl="0" indent="0" marL="0">
              <a:buNone/>
            </a:pPr>
            <a:r>
              <a:rPr/>
              <a:t>Last bullet is the trap in the next table: C is the reciprocal of the penalty, so C = 0.01 is the most heavily regularised of the three, not the least. (scikit-learn multiplies the data term by C instead of the penalty by lambda; up to the factor m the two are the same thing, which is why “plays the role of” and not “equals”.) Handout section 3.</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Remind them of the reciprocal as they read the first column: the top row, C = 0.01, is the most heavily penalised model, not the least.</a:t>
            </a:r>
          </a:p>
          <a:p>
            <a:pPr lvl="0" indent="0" marL="0">
              <a:buNone/>
            </a:pPr>
          </a:p>
          <a:p>
            <a:pPr lvl="0" indent="0" marL="0">
              <a:buNone/>
            </a:pPr>
            <a:r>
              <a:rPr/>
              <a:t>Reporting a noisy number is bad. Choosing with one is worse, because noise does not average out when it is used to decide - it decides.</a:t>
            </a:r>
          </a:p>
          <a:p>
            <a:pPr lvl="0" indent="0" marL="0">
              <a:buNone/>
            </a:pPr>
          </a:p>
          <a:p>
            <a:pPr lvl="0" indent="0" marL="0">
              <a:buNone/>
            </a:pPr>
            <a:r>
              <a:rPr/>
              <a:t>Say what was done first: the same 200 splits as slide 7, the three models fitted on each training part and scored on its test part, and on each split the one with the highest AUC declared the winner. 91 + 71 + 38 = 200, one winner per split; with three identical models chance alone would give each about 200 ÷ 3 = 67.</a:t>
            </a:r>
          </a:p>
          <a:p>
            <a:pPr lvl="0" indent="0" marL="0">
              <a:buNone/>
            </a:pPr>
          </a:p>
          <a:p>
            <a:pPr lvl="0" indent="0" marL="0">
              <a:buNone/>
            </a:pPr>
            <a:r>
              <a:rPr/>
              <a:t>Read the first column, then the last. The three models are the SAME: their mean AUCs differ by at most 0.0005, about fifty times less than the standard deviation of a single measurement, 0.024.</a:t>
            </a:r>
          </a:p>
          <a:p>
            <a:pPr lvl="0" indent="0" marL="0">
              <a:buNone/>
            </a:pPr>
          </a:p>
          <a:p>
            <a:pPr lvl="0" indent="0" marL="0">
              <a:buNone/>
            </a:pPr>
            <a:r>
              <a:rPr/>
              <a:t>And yet a winner is declared every single time. Those counts carry no information about the models. They record which model happened to suit which random quarter of the data.</a:t>
            </a:r>
          </a:p>
          <a:p>
            <a:pPr lvl="0" indent="0" marL="0">
              <a:buNone/>
            </a:pPr>
          </a:p>
          <a:p>
            <a:pPr lvl="0" indent="0" marL="0">
              <a:buNone/>
            </a:pPr>
            <a:r>
              <a:rPr/>
              <a:t>Then the sentence to land: run this once, which is what real life allows, and you will report that one of these is best with a number to support it. That conclusion is noise wearing the clothes of a result.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win counts, against the dashed line at 200 ÷ 3 = 67, what pure chance would give. Right: the 200 test AUCs of each model, as a box plot - say how to read one, it is the first in the course: the box holds the middle half of the 200 scores, the line inside it is the median, the whiskers reach the rest, and the circles are the few scores unusually far out. The three boxes sit at the same height.</a:t>
            </a:r>
          </a:p>
          <a:p>
            <a:pPr lvl="0" indent="0" marL="0">
              <a:buNone/>
            </a:pPr>
          </a:p>
          <a:p>
            <a:pPr lvl="0" indent="0" marL="0">
              <a:buNone/>
            </a:pPr>
            <a:r>
              <a:rPr/>
              <a:t>The right panel is the truth about these three models. The left panel is what a single experiment reports.</a:t>
            </a:r>
          </a:p>
          <a:p>
            <a:pPr lvl="0" indent="0" marL="0">
              <a:buNone/>
            </a:pPr>
          </a:p>
          <a:p>
            <a:pPr lvl="0" indent="0" marL="0">
              <a:buNone/>
            </a:pPr>
            <a:r>
              <a:rPr/>
              <a:t>If anyone asks why C=0.01 won more often than the others - it is not evidence of anything. Run the whole thing with different seeds and the ordering moves. That is exactly the point.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idea in a sentence: if one measurement is noisy, take several and average them. The difficulty is that you cannot afford several test sets - every row spent on testing is a row not spent on training.</a:t>
            </a:r>
          </a:p>
          <a:p>
            <a:pPr lvl="0" indent="0" marL="0">
              <a:buNone/>
            </a:pPr>
          </a:p>
          <a:p>
            <a:pPr lvl="0" indent="0" marL="0">
              <a:buNone/>
            </a:pPr>
            <a:r>
              <a:rPr/>
              <a:t>Cross-validation resolves it by rotating which part is held out. Cut the data into k parts, the folds, train on k-1, score on the one left out - the validation fold - and repeat until every part has been the validation fold exactly once. Read the figure row by row: each row is one round, each column one fold, and each round ends with one score; the estimate is the mean of the five.</a:t>
            </a:r>
          </a:p>
          <a:p>
            <a:pPr lvl="0" indent="0" marL="0">
              <a:buNone/>
            </a:pPr>
          </a:p>
          <a:p>
            <a:pPr lvl="0" indent="0" marL="0">
              <a:buNone/>
            </a:pPr>
            <a:r>
              <a:rPr/>
              <a:t>Say why it is labelled validation and not test, because the code will contradict the slide. Lesson 1’s three roles: training fits, validation chooses, test reports once. This block is scored k times and, by the end of the lesson, is what a search chooses on. scikit-learn calls it test - test_index, mean_test_score - and there the word means only “not used to fit this fold’s model”, never the test set reported once. Handout section 4.1.</a:t>
            </a:r>
          </a:p>
          <a:p>
            <a:pPr lvl="0" indent="0" marL="0">
              <a:buNone/>
            </a:pPr>
          </a:p>
          <a:p>
            <a:pPr lvl="0" indent="0" marL="0">
              <a:buNone/>
            </a:pPr>
            <a:r>
              <a:rPr/>
              <a:t>Then the clause that makes it legitimate rather than a trick, and say it explicitly because students suspect otherwise: every row is predicted exactly once, by a model that never saw it. This is not testing on training data with extra steps.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number on the slide: the five fold AUCs at seed 0 are 0.929, 0.958, 0.984, 0.939 and 0.947; their mean is 4.757 ÷ 5 = 0.9514, their standard deviation 0.0187. The procedure is the recipe as a whole - scaling, model, its settings - refitted from scratch in every fold.</a:t>
            </a:r>
          </a:p>
          <a:p>
            <a:pPr lvl="0" indent="0" marL="0">
              <a:buNone/>
            </a:pPr>
          </a:p>
          <a:p>
            <a:pPr lvl="0" indent="0" marL="0">
              <a:buNone/>
            </a:pPr>
            <a:r>
              <a:rPr/>
              <a:t>Two consequences, both of which surprise people.</a:t>
            </a:r>
          </a:p>
          <a:p>
            <a:pPr lvl="0" indent="0" marL="0">
              <a:buNone/>
            </a:pPr>
          </a:p>
          <a:p>
            <a:pPr lvl="0" indent="0" marL="0">
              <a:buNone/>
            </a:pPr>
            <a:r>
              <a:rPr/>
              <a:t>First: there are k different fitted models in the calculation, and the reported number belongs to none of them. It answers “if I apply this procedure to a dataset of about this size, what should I expect?” - which is the question you actually have.</a:t>
            </a:r>
          </a:p>
          <a:p>
            <a:pPr lvl="0" indent="0" marL="0">
              <a:buNone/>
            </a:pPr>
          </a:p>
          <a:p>
            <a:pPr lvl="0" indent="0" marL="0">
              <a:buNone/>
            </a:pPr>
            <a:r>
              <a:rPr/>
              <a:t>Second: every fold trains on four fifths of the data, so it estimates the performance of a model trained on less data than the one you will eventually ship. The bias is in the safe direction, and it shrinks as k grows. That is the argument for leave-one-out, where k equals the number of rows.</a:t>
            </a:r>
          </a:p>
          <a:p>
            <a:pPr lvl="0" indent="0" marL="0">
              <a:buNone/>
            </a:pPr>
          </a:p>
          <a:p>
            <a:pPr lvl="0" indent="0" marL="0">
              <a:buNone/>
            </a:pPr>
            <a:r>
              <a:rPr/>
              <a:t>Handout section 4.2 has both in symbols.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temptation is to quote s over root k - the standard deviation of the fold scores divided by the square root of the number of folds - and call it a confidence interval. Do not, and give them the specific reason rather than a warning.</a:t>
            </a:r>
          </a:p>
          <a:p>
            <a:pPr lvl="0" indent="0" marL="0">
              <a:buNone/>
            </a:pPr>
          </a:p>
          <a:p>
            <a:pPr lvl="0" indent="0" marL="0">
              <a:buNone/>
            </a:pPr>
            <a:r>
              <a:rPr/>
              <a:t>That formula assumes the k scores are independent. They are not: for k=5, any two training sets have three quarters of their rows in common. Positively correlated measurements carry less information than independent ones.</a:t>
            </a:r>
          </a:p>
          <a:p>
            <a:pPr lvl="0" indent="0" marL="0">
              <a:buNone/>
            </a:pPr>
          </a:p>
          <a:p>
            <a:pPr lvl="0" indent="0" marL="0">
              <a:buNone/>
            </a:pPr>
            <a:r>
              <a:rPr/>
              <a:t>The handout gives the variance with the correlation term, and the result of Bengio and Grandvalet from 2004: no unbiased estimator of that variance exists in general.</a:t>
            </a:r>
          </a:p>
          <a:p>
            <a:pPr lvl="0" indent="0" marL="0">
              <a:buNone/>
            </a:pPr>
          </a:p>
          <a:p>
            <a:pPr lvl="0" indent="0" marL="0">
              <a:buNone/>
            </a:pPr>
            <a:r>
              <a:rPr/>
              <a:t>Practical instruction: quote the mean and the spread, call the spread a spread, and treat small differences between models as unresolved.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 at fold 2 of the left column. An AUC computed from a single positive example is not a measurement of anything - and nothing in the code warns you.</a:t>
            </a:r>
          </a:p>
          <a:p>
            <a:pPr lvl="0" indent="0" marL="0">
              <a:buNone/>
            </a:pPr>
          </a:p>
          <a:p>
            <a:pPr lvl="0" indent="0" marL="0">
              <a:buNone/>
            </a:pPr>
            <a:r>
              <a:rPr/>
              <a:t>StratifiedKFold keeps each fold’s class balance equal to the whole dataset’s. It costs nothing and it is one word in the call.</a:t>
            </a:r>
          </a:p>
          <a:p>
            <a:pPr lvl="0" indent="0" marL="0">
              <a:buNone/>
            </a:pPr>
          </a:p>
          <a:p>
            <a:pPr lvl="0" indent="0" marL="0">
              <a:buNone/>
            </a:pPr>
            <a:r>
              <a:rPr/>
              <a:t>The rule: stratify whenever a class is rare. Which, as lesson 4 established, is whenever the problem is interesting.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Optional on 6 November: skip in class if time is short, and say it is left for self-study, with the handout.</a:t>
            </a:r>
          </a:p>
          <a:p>
            <a:pPr lvl="0" indent="0" marL="0">
              <a:buNone/>
            </a:pPr>
          </a:p>
          <a:p>
            <a:pPr lvl="0" indent="0" marL="0">
              <a:buNone/>
            </a:pPr>
            <a:r>
              <a:rPr/>
              <a:t>Forty seeds, changing nothing but the seed. The single-split column is the first 40 of slide 7’s 200 splits, seeds 0 to 39, which is why its mean is 0.960 and not slide 7’s 0.955: forty draws centre less exactly than two hundred. Cross-validation has a seed of its own - shuffle differently and the folds change - so it reduces the variance of the estimate, it does not abolish it.</a:t>
            </a:r>
          </a:p>
          <a:p>
            <a:pPr lvl="0" indent="0" marL="0">
              <a:buNone/>
            </a:pPr>
          </a:p>
          <a:p>
            <a:pPr lvl="0" indent="0" marL="0">
              <a:buNone/>
            </a:pPr>
            <a:r>
              <a:rPr/>
              <a:t>The range, best minus worst, falls from 0.0881 to 0.0149, and the standard deviation, last row, by a factor of about seven: 0.0221 ÷ 0.0032 = 6.9 (the notebook, unrounded, prints 6.8). Say which one “seven” refers to: a student who divides the two ranges gets 0.0881 ÷ 0.0149 = 5.9, and will ask.</a:t>
            </a:r>
          </a:p>
          <a:p>
            <a:pPr lvl="0" indent="0" marL="0">
              <a:buNone/>
            </a:pPr>
          </a:p>
          <a:p>
            <a:pPr lvl="0" indent="0" marL="0">
              <a:buNone/>
            </a:pPr>
            <a:r>
              <a:rPr/>
              <a:t>Then the centres, because someone will have noticed in notebook 1 that cross-validation came out lower: 0.953 against 0.960. That gap is about two standard errors on forty draws, and with a different forty seeds it reverses sign. So cross-validation is neither more optimistic nor more pessimistic here - it is less arbitrary. The histogram with both on the same bins is in notebook 1 and in handout section 4.7.</a:t>
            </a:r>
          </a:p>
          <a:p>
            <a:pPr lvl="0" indent="0" marL="0">
              <a:buNone/>
            </a:pPr>
          </a:p>
          <a:p>
            <a:pPr lvl="0" indent="0" marL="0">
              <a:buNone/>
            </a:pPr>
            <a:r>
              <a:rPr/>
              <a:t>What it costs is k fits instead of one. For everything in this course that is seconds. For a large network it is a real decision, and the usual compromise is a single validation set with enough rows that its own error bar is tolerable.</a:t>
            </a:r>
          </a:p>
          <a:p>
            <a:pPr lvl="0" indent="0" marL="0">
              <a:buNone/>
            </a:pPr>
          </a:p>
          <a:p>
            <a:pPr lvl="0" indent="0" marL="0">
              <a:buNone/>
            </a:pPr>
            <a:r>
              <a:rPr/>
              <a:t>What it does NOT fix is the subject of slides 32 to 39.</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Optional on 6 November: skip in class if time is short, and say it is left for self-study, with the handout.</a:t>
            </a:r>
          </a:p>
          <a:p>
            <a:pPr lvl="0" indent="0" marL="0">
              <a:buNone/>
            </a:pPr>
          </a:p>
          <a:p>
            <a:pPr lvl="0" indent="0" marL="0">
              <a:buNone/>
            </a:pPr>
            <a:r>
              <a:rPr/>
              <a:t>The question always comes, so answer it before it does.</a:t>
            </a:r>
          </a:p>
          <a:p>
            <a:pPr lvl="0" indent="0" marL="0">
              <a:buNone/>
            </a:pPr>
          </a:p>
          <a:p>
            <a:pPr lvl="0" indent="0" marL="0">
              <a:buNone/>
            </a:pPr>
            <a:r>
              <a:rPr/>
              <a:t>Larger k means each fold trains on more data, so the estimate is less pessimistic - the bias shrinks. It also means more fits, and the training sets overlap even more heavily, so the fold scores are more strongly correlated and the spread you observe understates the uncertainty by more.</a:t>
            </a:r>
          </a:p>
          <a:p>
            <a:pPr lvl="0" indent="0" marL="0">
              <a:buNone/>
            </a:pPr>
          </a:p>
          <a:p>
            <a:pPr lvl="0" indent="0" marL="0">
              <a:buNone/>
            </a:pPr>
            <a:r>
              <a:rPr/>
              <a:t>Five and ten are the conventional choices and the difference between them rarely matters. Leave-one-out is the extreme: nearly unbiased, m fits, and notoriously high variance for the estimate itself.</a:t>
            </a:r>
          </a:p>
          <a:p>
            <a:pPr lvl="0" indent="0" marL="0">
              <a:buNone/>
            </a:pPr>
          </a:p>
          <a:p>
            <a:pPr lvl="0" indent="0" marL="0">
              <a:buNone/>
            </a:pPr>
            <a:r>
              <a:rPr/>
              <a:t>If you have the compute, repeated k-fold - the whole procedure run with several different shuffles, averaged - buys more than moving from 5 to 10.</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so far assumed rows are independent draws. That assumption is violated constantly and silently, and random k-fold gives no warning.</a:t>
            </a:r>
          </a:p>
          <a:p>
            <a:pPr lvl="0" indent="0" marL="0">
              <a:buNone/>
            </a:pPr>
          </a:p>
          <a:p>
            <a:pPr lvl="0" indent="0" marL="0">
              <a:buNone/>
            </a:pPr>
            <a:r>
              <a:rPr/>
              <a:t>The concrete case, which they will meet - a hypothetical one here, since the fleet table has one row per drive: suppose it had ten telemetry readings per drive. A random split puts nine of a drive’s readings in training and one in test. The model does not need to learn anything about failure - it learns to recognise that drive, and the test row is nearly a duplicate of a training row.</a:t>
            </a:r>
          </a:p>
          <a:p>
            <a:pPr lvl="0" indent="0" marL="0">
              <a:buNone/>
            </a:pPr>
          </a:p>
          <a:p>
            <a:pPr lvl="0" indent="0" marL="0">
              <a:buNone/>
            </a:pPr>
            <a:r>
              <a:rPr/>
              <a:t>The score is excellent and the model is worthless on a drive it has never seen, which is the only situation anyone cares about.</a:t>
            </a:r>
          </a:p>
          <a:p>
            <a:pPr lvl="0" indent="0" marL="0">
              <a:buNone/>
            </a:pPr>
          </a:p>
          <a:p>
            <a:pPr lvl="0" indent="0" marL="0">
              <a:buNone/>
            </a:pPr>
            <a:r>
              <a:rPr/>
              <a:t>Other instances worth naming out loud: several images of the same patient, several sentences from the same document, repeated measurements of the same machine, any panel data.</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rule that covers both: split along the axis you need to generalise across. If the model must work on a drive it has never seen, no drive may appear in both training and test. GroupKFold takes a group label and guarantees that.</a:t>
            </a:r>
          </a:p>
          <a:p>
            <a:pPr lvl="0" indent="0" marL="0">
              <a:buNone/>
            </a:pPr>
          </a:p>
          <a:p>
            <a:pPr lvl="0" indent="0" marL="0">
              <a:buNone/>
            </a:pPr>
            <a:r>
              <a:rPr/>
              <a:t>Time is the other case, and it is stricter. With a random split the model trains on Wednesday and tests on Tuesday, which is not the problem anyone has. Real deployment always predicts forward, so validation must too: TimeSeriesSplit trains on a prefix and tests on what comes next.</a:t>
            </a:r>
          </a:p>
          <a:p>
            <a:pPr lvl="0" indent="0" marL="0">
              <a:buNone/>
            </a:pPr>
          </a:p>
          <a:p>
            <a:pPr lvl="0" indent="0" marL="0">
              <a:buNone/>
            </a:pPr>
            <a:r>
              <a:rPr/>
              <a:t>The tell that you needed one of these and did not use it is the same in both cases - a validation score that is excellent and a production score that is not. That gap is the most common cause of a model failing after deployment.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is the notebook’s map: each section, the calls it makes, the slides that introduced the idea, and the number to come back with.</a:t>
            </a:r>
          </a:p>
          <a:p>
            <a:pPr lvl="0" indent="0" marL="0">
              <a:buNone/>
            </a:pPr>
          </a:p>
          <a:p>
            <a:pPr lvl="0" indent="0" marL="0">
              <a:buNone/>
            </a:pPr>
            <a:r>
              <a:rPr/>
              <a:t>Run notebook 01. Fifteen minutes.</a:t>
            </a:r>
          </a:p>
          <a:p>
            <a:pPr lvl="0" indent="0" marL="0">
              <a:buNone/>
            </a:pPr>
          </a:p>
          <a:p>
            <a:pPr lvl="0" indent="0" marL="0">
              <a:buNone/>
            </a:pPr>
            <a:r>
              <a:rPr/>
              <a:t>Have them run the five-seed cell first and watch seed 3 return 1.000 before you say anything about it.</a:t>
            </a:r>
          </a:p>
          <a:p>
            <a:pPr lvl="0" indent="0" marL="0">
              <a:buNone/>
            </a:pPr>
          </a:p>
          <a:p>
            <a:pPr lvl="0" indent="0" marL="0">
              <a:buNone/>
            </a:pPr>
            <a:r>
              <a:rPr/>
              <a:t>The cell worth protecting if time runs short is the 200-split model selection - it is the one that changes behaviour rather than just adding knowledge.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Ten minutes. The second half is bias-variance, which needs them awake.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up the decomposition in words before any algebra, and say first that the data changes: lesson 3’s energy-against-temperature curve comes back, because here we need the true curve, and we built it ourselves. Each training set is 25 days, the noise has a standard deviation of 22 kWh, and we draw 300 such training sets.</a:t>
            </a:r>
          </a:p>
          <a:p>
            <a:pPr lvl="0" indent="0" marL="0">
              <a:buNone/>
            </a:pPr>
          </a:p>
          <a:p>
            <a:pPr lvl="0" indent="0" marL="0">
              <a:buNone/>
            </a:pPr>
            <a:r>
              <a:rPr/>
              <a:t>Imagine drawing many training sets from the same source and fitting the same model to each. You get many models, and they fail in two distinguishable ways.</a:t>
            </a:r>
          </a:p>
          <a:p>
            <a:pPr lvl="0" indent="0" marL="0">
              <a:buNone/>
            </a:pPr>
          </a:p>
          <a:p>
            <a:pPr lvl="0" indent="0" marL="0">
              <a:buNone/>
            </a:pPr>
            <a:r>
              <a:rPr/>
              <a:t>They may agree with each other and all be wrong - a straight line fitted to a curve gives nearly the same line every time and every one misses the curvature. That is bias: consistently, confidently wrong.</a:t>
            </a:r>
          </a:p>
          <a:p>
            <a:pPr lvl="0" indent="0" marL="0">
              <a:buNone/>
            </a:pPr>
          </a:p>
          <a:p>
            <a:pPr lvl="0" indent="0" marL="0">
              <a:buNone/>
            </a:pPr>
            <a:r>
              <a:rPr/>
              <a:t>Or they may disagree wildly - a twelfth-degree polynomial on twenty-five points gives a different wild curve every time. That is variance: unreliable, whatever the average looks like.</a:t>
            </a:r>
          </a:p>
          <a:p>
            <a:pPr lvl="0" indent="0" marL="0">
              <a:buNone/>
            </a:pPr>
          </a:p>
          <a:p>
            <a:pPr lvl="0" indent="0" marL="0">
              <a:buNone/>
            </a:pPr>
            <a:r>
              <a:rPr/>
              <a:t>Underneath both sits noise in the measurements, which is not a property of the model at all.</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faint line is a model fitted to a DIFFERENT training sample from the same curve. In real life you drew exactly one of them and never knew about the rest.</a:t>
            </a:r>
          </a:p>
          <a:p>
            <a:pPr lvl="0" indent="0" marL="0">
              <a:buNone/>
            </a:pPr>
          </a:p>
          <a:p>
            <a:pPr lvl="0" indent="0" marL="0">
              <a:buNone/>
            </a:pPr>
            <a:r>
              <a:rPr/>
              <a:t>Left, degree 1: the lines lie almost on top of each other - stable - and the red average is nowhere near the black truth. That gap is bias.</a:t>
            </a:r>
          </a:p>
          <a:p>
            <a:pPr lvl="0" indent="0" marL="0">
              <a:buNone/>
            </a:pPr>
          </a:p>
          <a:p>
            <a:pPr lvl="0" indent="0" marL="0">
              <a:buNone/>
            </a:pPr>
            <a:r>
              <a:rPr/>
              <a:t>Middle, degree 3: average tracks the truth, spread is modest. Both small.</a:t>
            </a:r>
          </a:p>
          <a:p>
            <a:pPr lvl="0" indent="0" marL="0">
              <a:buNone/>
            </a:pPr>
          </a:p>
          <a:p>
            <a:pPr lvl="0" indent="0" marL="0">
              <a:buNone/>
            </a:pPr>
            <a:r>
              <a:rPr/>
              <a:t>Right, degree 12: through the middle it follows the truth better than degree 1 ever could, and at the edges the lines fly off and drag the average off the top of the plot with them. That scatter is variance.</a:t>
            </a:r>
          </a:p>
          <a:p>
            <a:pPr lvl="0" indent="0" marL="0">
              <a:buNone/>
            </a:pPr>
          </a:p>
          <a:p>
            <a:pPr lvl="0" indent="0" marL="0">
              <a:buNone/>
            </a:pPr>
            <a:r>
              <a:rPr/>
              <a:t>Two things to point at in the right panel. The scatter is worst WHERE THE DATA RUNS OUT - beyond about 30 degrees nothing constrains the fit. Extrapolation is where flexible models embarrass themselves.</a:t>
            </a:r>
          </a:p>
          <a:p>
            <a:pPr lvl="0" indent="0" marL="0">
              <a:buNone/>
            </a:pPr>
          </a:p>
          <a:p>
            <a:pPr lvl="0" indent="0" marL="0">
              <a:buNone/>
            </a:pPr>
            <a:r>
              <a:rPr/>
              <a:t>And any one of those faint lines is a model somebody actually deployed.</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it, do not derive it - handout section 5.2 does that in five lines, and it is worth reading because the derivation is short and the cross terms vanishing is the whole trick.</a:t>
            </a:r>
          </a:p>
          <a:p>
            <a:pPr lvl="0" indent="0" marL="0">
              <a:buNone/>
            </a:pPr>
          </a:p>
          <a:p>
            <a:pPr lvl="0" indent="0" marL="0">
              <a:buNone/>
            </a:pPr>
            <a:r>
              <a:rPr/>
              <a:t>The important claim is that this is an IDENTITY, not an approximation or a useful metaphor. The symbols: y is a new observation, f-hat the model’s prediction for it, sigma squared the noise variance; the expectation averages over the training sets and the noise. Notebook 2 checks it on 300 independently drawn training sets and the two sides agree to 2.7 times ten to the minus twelve - floating-point equality.</a:t>
            </a:r>
          </a:p>
          <a:p>
            <a:pPr lvl="0" indent="0" marL="0">
              <a:buNone/>
            </a:pPr>
          </a:p>
          <a:p>
            <a:pPr lvl="0" indent="0" marL="0">
              <a:buNone/>
            </a:pPr>
            <a:r>
              <a:rPr/>
              <a:t>That matters pedagogically: they have seen this picture in every textbook drawn as a schematic. Here it is measured.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Noise is 484 in every row - point at the column and say that it never moves, because it is a property of the data and not of the model.</a:t>
            </a:r>
          </a:p>
          <a:p>
            <a:pPr lvl="0" indent="0" marL="0">
              <a:buNone/>
            </a:pPr>
          </a:p>
          <a:p>
            <a:pPr lvl="0" indent="0" marL="0">
              <a:buNone/>
            </a:pPr>
            <a:r>
              <a:rPr/>
              <a:t>Degree 1 is a bias problem: bias² of 5,250, two orders of magnitude above the next row. Stable in shape and wrong everywhere.</a:t>
            </a:r>
          </a:p>
          <a:p>
            <a:pPr lvl="0" indent="0" marL="0">
              <a:buNone/>
            </a:pPr>
          </a:p>
          <a:p>
            <a:pPr lvl="0" indent="0" marL="0">
              <a:buNone/>
            </a:pPr>
            <a:r>
              <a:rPr/>
              <a:t>Do not say it has the smallest variance - it does not, 723.8 against degree 2’s 70.8, and it is on the slide. Every universe draws its own 25 temperatures, and a straight line that cannot follow the curve pivots according to where they fell. Handout section 5.3 measures what happens when the temperatures are held fixed instead: the variance column then climbs from the first row.</a:t>
            </a:r>
          </a:p>
          <a:p>
            <a:pPr lvl="0" indent="0" marL="0">
              <a:buNone/>
            </a:pPr>
          </a:p>
          <a:p>
            <a:pPr lvl="0" indent="0" marL="0">
              <a:buNone/>
            </a:pPr>
            <a:r>
              <a:rPr/>
              <a:t>Degree 12 is a variance problem, and the magnitude deserves a pause: 32 million, four orders of magnitude larger than anything else. On 25 points a degree-12 polynomial nearly interpolates, and an interpolating model is a machine for amplifying noise.</a:t>
            </a:r>
          </a:p>
          <a:p>
            <a:pPr lvl="0" indent="0" marL="0">
              <a:buNone/>
            </a:pPr>
          </a:p>
          <a:p>
            <a:pPr lvl="0" indent="0" marL="0">
              <a:buNone/>
            </a:pPr>
            <a:r>
              <a:rPr/>
              <a:t>Someone will notice that degree 12 also has the worst bias², which contradicts “flexible models have low bias”. It does not: with variance this large the average of the fitted curves is not a meaningful curve, so the bias term inherits the instability. Read the two together.</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classic picture, and the one place where the classic picture is usually drawn without anyone checking it. The textbook version: bias falling monotonically, variance rising, the total a U. Two of those three are not what the measurement gives.</a:t>
            </a:r>
          </a:p>
          <a:p>
            <a:pPr lvl="0" indent="0" marL="0">
              <a:buNone/>
            </a:pPr>
          </a:p>
          <a:p>
            <a:pPr lvl="0" indent="0" marL="0">
              <a:buNone/>
            </a:pPr>
            <a:r>
              <a:rPr/>
              <a:t>Bias² falls only as far as degree 5 - 5,250 down to 8.9 - and then climbs to 153,537, for the reason on the previous slide: at that variance the average of the fits is not a meaningful curve. And variance starts at 723.8, drops to 70.8 at degree 2, and only then rises.</a:t>
            </a:r>
          </a:p>
          <a:p>
            <a:pPr lvl="0" indent="0" marL="0">
              <a:buNone/>
            </a:pPr>
          </a:p>
          <a:p>
            <a:pPr lvl="0" indent="0" marL="0">
              <a:buNone/>
            </a:pPr>
            <a:r>
              <a:rPr/>
              <a:t>What does survive is the part the lesson needs: the total error is a U with its minimum at degree 2. Say that the cartoon is a well-specified model on a fixed design, and that real measurements are lumpier - it is a better lesson than the tidy version, and it is on the slide in front of them.</a:t>
            </a:r>
          </a:p>
          <a:p>
            <a:pPr lvl="0" indent="0" marL="0">
              <a:buNone/>
            </a:pPr>
          </a:p>
          <a:p>
            <a:pPr lvl="0" indent="0" marL="0">
              <a:buNone/>
            </a:pPr>
            <a:r>
              <a:rPr/>
              <a:t>The y-axis is logarithmic, and say why: otherwise degree 12 flattens everything else onto the baseline. That in itself tells them something about the scale of the failure.</a:t>
            </a:r>
          </a:p>
          <a:p>
            <a:pPr lvl="0" indent="0" marL="0">
              <a:buNone/>
            </a:pPr>
          </a:p>
          <a:p>
            <a:pPr lvl="0" indent="0" marL="0">
              <a:buNone/>
            </a:pPr>
            <a:r>
              <a:rPr/>
              <a:t>The dotted line is the noise floor at 484.</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Optional on 6 November: skip in class if time is short, and say it is left for self-study, with the handout.</a:t>
            </a:r>
          </a:p>
          <a:p>
            <a:pPr lvl="0" indent="0" marL="0">
              <a:buNone/>
            </a:pPr>
          </a:p>
          <a:p>
            <a:pPr lvl="0" indent="0" marL="0">
              <a:buNone/>
            </a:pPr>
            <a:r>
              <a:rPr/>
              <a:t>The noise column never moves, because it is a property of the data rather than of the model. No model, no algorithm and no quantity of data brings the expected error below it.</a:t>
            </a:r>
          </a:p>
          <a:p>
            <a:pPr lvl="0" indent="0" marL="0">
              <a:buNone/>
            </a:pPr>
          </a:p>
          <a:p>
            <a:pPr lvl="0" indent="0" marL="0">
              <a:buNone/>
            </a:pPr>
            <a:r>
              <a:rPr/>
              <a:t>The corollary is a practical diagnostic worth writing down: if you know your measurement precision and your model beats it, something has leaked. This is a real check used in engineering and in the physical sciences, and it catches errors nothing else catches.</a:t>
            </a:r>
          </a:p>
          <a:p>
            <a:pPr lvl="0" indent="0" marL="0">
              <a:buNone/>
            </a:pPr>
          </a:p>
          <a:p>
            <a:pPr lvl="0" indent="0" marL="0">
              <a:buNone/>
            </a:pPr>
            <a:r>
              <a:rPr/>
              <a:t>Connects forward to the last hour, where we manufacture exactly that symptom deliberately.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Optional on 6 November: skip in class if time is short, and say it is left for self-study, with the handout.</a:t>
            </a:r>
          </a:p>
          <a:p>
            <a:pPr lvl="0" indent="0" marL="0">
              <a:buNone/>
            </a:pPr>
          </a:p>
          <a:p>
            <a:pPr lvl="0" indent="0" marL="0">
              <a:buNone/>
            </a:pPr>
            <a:r>
              <a:rPr/>
              <a:t>The same experiment at three sample sizes. The best degree moves from 2 to 5 as the data grows, because there is now enough of it to pin down the extra coefficients and the variance has fallen accordingly.</a:t>
            </a:r>
          </a:p>
          <a:p>
            <a:pPr lvl="0" indent="0" marL="0">
              <a:buNone/>
            </a:pPr>
          </a:p>
          <a:p>
            <a:pPr lvl="0" indent="0" marL="0">
              <a:buNone/>
            </a:pPr>
            <a:r>
              <a:rPr/>
              <a:t>Degree 12 improves by a factor of four thousand between 25 and 60 observations, and of thirty-six thousand by 150, and is still the worst model in its column.</a:t>
            </a:r>
          </a:p>
          <a:p>
            <a:pPr lvl="0" indent="0" marL="0">
              <a:buNone/>
            </a:pPr>
          </a:p>
          <a:p>
            <a:pPr lvl="0" indent="0" marL="0">
              <a:buNone/>
            </a:pPr>
            <a:r>
              <a:rPr/>
              <a:t>Then the sentence worth putting on the board: “which model is best” is not a question about models. It is a question about models AND the quantity of data you have.</a:t>
            </a:r>
          </a:p>
          <a:p>
            <a:pPr lvl="0" indent="0" marL="0">
              <a:buNone/>
            </a:pPr>
          </a:p>
          <a:p>
            <a:pPr lvl="0" indent="0" marL="0">
              <a:buNone/>
            </a:pPr>
            <a:r>
              <a:rPr/>
              <a:t>This explains something they will meet constantly - a paper reports a large model beating a small one on a dataset far bigger than theirs, and it does not reproduce for them. Neither experiment was wrong.</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so far needed the true function. Learning curves need only data you have, which is why they are the practical tool.</a:t>
            </a:r>
          </a:p>
          <a:p>
            <a:pPr lvl="0" indent="0" marL="0">
              <a:buNone/>
            </a:pPr>
          </a:p>
          <a:p>
            <a:pPr lvl="0" indent="0" marL="0">
              <a:buNone/>
            </a:pPr>
            <a:r>
              <a:rPr/>
              <a:t>Train on 15% of each training fold, then on larger shares, eight sizes up to all of it, plotting training score and cross-validated score against the number of examples used. The data is the 800 drives again; the first bullet of the next slide names the scikit-learn call that does it.</a:t>
            </a:r>
          </a:p>
          <a:p>
            <a:pPr lvl="0" indent="0" marL="0">
              <a:buNone/>
            </a:pPr>
          </a:p>
          <a:p>
            <a:pPr lvl="0" indent="0" marL="0">
              <a:buNone/>
            </a:pPr>
            <a:r>
              <a:rPr/>
              <a:t>Left, one feature only: the curves MEET, and they meet LOW - 0.715 against 0.718 - and the validation curve is flat from the first point to the last.</a:t>
            </a:r>
          </a:p>
          <a:p>
            <a:pPr lvl="0" indent="0" marL="0">
              <a:buNone/>
            </a:pPr>
          </a:p>
          <a:p>
            <a:pPr lvl="0" indent="0" marL="0">
              <a:buNone/>
            </a:pPr>
            <a:r>
              <a:rPr/>
              <a:t>Right, six features plus 150 columns of pure noise: training exactly 1.000 against validation 0.847, a gap of 0.15.</a:t>
            </a:r>
          </a:p>
          <a:p>
            <a:pPr lvl="0" indent="0" marL="0">
              <a:buNone/>
            </a:pPr>
          </a:p>
          <a:p>
            <a:pPr lvl="0" indent="0" marL="0">
              <a:buNone/>
            </a:pPr>
            <a:r>
              <a:rPr/>
              <a:t>Then read the right-hand curve to the end, because this is where the room gets it wrong. It climbs to 0.857 at 251 examples and then stops: 0.834, 0.847, 0.835, 0.832, 0.847. It ends below its own high point.</a:t>
            </a:r>
          </a:p>
          <a:p>
            <a:pPr lvl="0" indent="0" marL="0">
              <a:buNone/>
            </a:pPr>
          </a:p>
          <a:p>
            <a:pPr lvl="0" indent="0" marL="0">
              <a:buNone/>
            </a:pPr>
            <a:r>
              <a:rPr/>
              <a:t>Someone will say it is still rising, because the last segment goes up by 0.014. Have the answer ready: across the five folds that step is -0.030, +0.050, +0.006, -0.009, +0.053. It is a wiggle inside a band of about 0.04, not a trend. A slope smaller than its band is not a slope.</a:t>
            </a:r>
          </a:p>
          <a:p>
            <a:pPr lvl="0" indent="0" marL="0">
              <a:buNone/>
            </a:pPr>
          </a:p>
          <a:p>
            <a:pPr lvl="0" indent="0" marL="0">
              <a:buNone/>
            </a:pPr>
            <a:r>
              <a:rPr/>
              <a:t>Say that the right-hand setup is not contrived. It is what a wide feature table looks like when most columns carry nothing, which is most feature tables.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practical payoff of the entire second hour, so do not rush it.</a:t>
            </a:r>
          </a:p>
          <a:p>
            <a:pPr lvl="0" indent="0" marL="0">
              <a:buNone/>
            </a:pPr>
          </a:p>
          <a:p>
            <a:pPr lvl="0" indent="0" marL="0">
              <a:buNone/>
            </a:pPr>
            <a:r>
              <a:rPr/>
              <a:t>High bias: the model is equally mediocre on data it has seen and data it has not, because it extracted everything available and that was not enough. What helps is a more flexible model, better features, less regularisation. What does NOT help is more data - the curve is already flat, and more rows land on the same plateau.</a:t>
            </a:r>
          </a:p>
          <a:p>
            <a:pPr lvl="0" indent="0" marL="0">
              <a:buNone/>
            </a:pPr>
          </a:p>
          <a:p>
            <a:pPr lvl="0" indent="0" marL="0">
              <a:buNone/>
            </a:pPr>
            <a:r>
              <a:rPr/>
              <a:t>Emphasise that this is the expensive mistake. Collecting data is the slowest and costliest item on the list, and the plot says in advance that it will buy nothing.</a:t>
            </a:r>
          </a:p>
          <a:p>
            <a:pPr lvl="0" indent="0" marL="0">
              <a:buNone/>
            </a:pPr>
          </a:p>
          <a:p>
            <a:pPr lvl="0" indent="0" marL="0">
              <a:buNone/>
            </a:pPr>
            <a:r>
              <a:rPr/>
              <a:t>High variance splits in two, and the slope is what splits it. A curve still rising is itself the evidence that more data will pay - the only case where “collect more” is a plan rather than a hope. A curve that has flattened, which is what our right-hand panel does after 251 examples, says the gap is real and more rows of the same kind have stopped buying anything: what is left is stronger regularisation, fewer features, a simpler model. Here the 150 noise columns are the problem, and no quantity of rows removes a column.</a:t>
            </a:r>
          </a:p>
          <a:p>
            <a:pPr lvl="0" indent="0" marL="0">
              <a:buNone/>
            </a:pPr>
          </a:p>
          <a:p>
            <a:pPr lvl="0" indent="0" marL="0">
              <a:buNone/>
            </a:pPr>
            <a:r>
              <a:rPr/>
              <a:t>Name the predictable mistake and defend the instinct: prescribing data for a bias problem is what almost everyone does, and the reasoning is sound - more data almost always helps and never makes a model worse. It just does not help THIS failure, and fifteen lines of code tell you which failure you have.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maps each section to its calls and its number. On 6 November this notebook is left for self-study: show the table, say what each section measures, and that its numbers are on slides 23 to 30, which were just shown.</a:t>
            </a:r>
          </a:p>
          <a:p>
            <a:pPr lvl="0" indent="0" marL="0">
              <a:buNone/>
            </a:pPr>
          </a:p>
          <a:p>
            <a:pPr lvl="0" indent="0" marL="0">
              <a:buNone/>
            </a:pPr>
            <a:r>
              <a:rPr/>
              <a:t>When there is a full three hours, run it live, for twenty minutes.</a:t>
            </a:r>
          </a:p>
          <a:p>
            <a:pPr lvl="0" indent="0" marL="0">
              <a:buNone/>
            </a:pPr>
          </a:p>
          <a:p>
            <a:pPr lvl="0" indent="0" marL="0">
              <a:buNone/>
            </a:pPr>
            <a:r>
              <a:rPr/>
              <a:t>The cell to protect is the decomposition table where the sum equals the measured error to twelve decimal places. Let them see the identity hold rather than telling them it does.</a:t>
            </a:r>
          </a:p>
          <a:p>
            <a:pPr lvl="0" indent="0" marL="0">
              <a:buNone/>
            </a:pPr>
          </a:p>
          <a:p>
            <a:pPr lvl="0" indent="0" marL="0">
              <a:buNone/>
            </a:pPr>
            <a:r>
              <a:rPr/>
              <a:t>If time is short, skip the three-sample-size comparison and assign it as reading - the table is in the handout.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this up carefully, because the demonstration only lands if they believe the data is genuinely empty.</a:t>
            </a:r>
          </a:p>
          <a:p>
            <a:pPr lvl="0" indent="0" marL="0">
              <a:buNone/>
            </a:pPr>
          </a:p>
          <a:p>
            <a:pPr lvl="0" indent="0" marL="0">
              <a:buNone/>
            </a:pPr>
            <a:r>
              <a:rPr/>
              <a:t>Two thousand columns drawn from a standard normal, independent of the label and of each other. There is nothing to find. Any model’s honest AUC is one half.</a:t>
            </a:r>
          </a:p>
          <a:p>
            <a:pPr lvl="0" indent="0" marL="0">
              <a:buNone/>
            </a:pPr>
          </a:p>
          <a:p>
            <a:pPr lvl="0" indent="0" marL="0">
              <a:buNone/>
            </a:pPr>
            <a:r>
              <a:rPr/>
              <a:t>Tell them what is coming so they can watch for it: we are going to write code that looks completely reasonable, and get 0.93.</a:t>
            </a:r>
          </a:p>
          <a:p>
            <a:pPr lvl="0" indent="0" marL="0">
              <a:buNone/>
            </a:pPr>
          </a:p>
          <a:p>
            <a:pPr lvl="0" indent="0" marL="0">
              <a:buNone/>
            </a:pPr>
            <a:r>
              <a:rPr/>
              <a:t>The last bullet names the selector. f_classif scores each column by how far apart its means are for the two classes, relative to its spread (an analysis-of-variance F-test), and SelectKBest keeps the k best. Point out the clash of letters: this k counts columns, not folds.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aloud as the sentence a practitioner would say: “two thousand features is too many, so let me keep the ten most predictive ones, then cross-validate a model on those.”</a:t>
            </a:r>
          </a:p>
          <a:p>
            <a:pPr lvl="0" indent="0" marL="0">
              <a:buNone/>
            </a:pPr>
          </a:p>
          <a:p>
            <a:pPr lvl="0" indent="0" marL="0">
              <a:buNone/>
            </a:pPr>
            <a:r>
              <a:rPr/>
              <a:t>Every line is defensible in isolation. Feature selection is normal. Ten from two thousand is reasonable. Cross-validating afterwards is exactly what the first half of today recommended.</a:t>
            </a:r>
          </a:p>
          <a:p>
            <a:pPr lvl="0" indent="0" marL="0">
              <a:buNone/>
            </a:pPr>
          </a:p>
          <a:p>
            <a:pPr lvl="0" indent="0" marL="0">
              <a:buNone/>
            </a:pPr>
            <a:r>
              <a:rPr/>
              <a:t>Do not reveal the bug yet. Ask them to find it before the next slide.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result. The folds are 0.928, 0.979, 0.975, 0.943 and 0.832: close agreement, which is exactly what a trustworthy result looks like.</a:t>
            </a:r>
          </a:p>
          <a:p>
            <a:pPr lvl="0" indent="0" marL="0">
              <a:buNone/>
            </a:pPr>
          </a:p>
          <a:p>
            <a:pPr lvl="0" indent="0" marL="0">
              <a:buNone/>
            </a:pPr>
            <a:r>
              <a:rPr/>
              <a:t>Now the bug, which is on the first line: SelectKBest was shown EVERY row, including the rows that would later serve as validation folds. It searched two thousand columns for the ones that best matched labels it had already seen, and handed the winners to cross-validation.</a:t>
            </a:r>
          </a:p>
          <a:p>
            <a:pPr lvl="0" indent="0" marL="0">
              <a:buNone/>
            </a:pPr>
          </a:p>
          <a:p>
            <a:pPr lvl="0" indent="0" marL="0">
              <a:buNone/>
            </a:pPr>
            <a:r>
              <a:rPr/>
              <a:t>The framing worth using: cross-validation did not fail. It was lied to. It faithfully measured a procedure that had already peeked.</a:t>
            </a:r>
          </a:p>
          <a:p>
            <a:pPr lvl="0" indent="0" marL="0">
              <a:buNone/>
            </a:pPr>
          </a:p>
          <a:p>
            <a:pPr lvl="0" indent="0" marL="0">
              <a:buNone/>
            </a:pPr>
            <a:r>
              <a:rPr/>
              <a:t>This is the single most common serious error in applied machine learning, and it is committed in published work regularly.</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fix is one Pipeline: selection becomes part of the model, so it is refitted on the training rows of each fold.</a:t>
            </a:r>
          </a:p>
          <a:p>
            <a:pPr lvl="0" indent="0" marL="0">
              <a:buNone/>
            </a:pPr>
          </a:p>
          <a:p>
            <a:pPr lvl="0" indent="0" marL="0">
              <a:buNone/>
            </a:pPr>
            <a:r>
              <a:rPr/>
              <a:t>The leak is mostly gone - 0.93 down to 0.66. And it has NOT come back to 0.5. Twenty different fold seeds all agree that a signal-free dataset supports a model better than chance.</a:t>
            </a:r>
          </a:p>
          <a:p>
            <a:pPr lvl="0" indent="0" marL="0">
              <a:buNone/>
            </a:pPr>
          </a:p>
          <a:p>
            <a:pPr lvl="0" indent="0" marL="0">
              <a:buNone/>
            </a:pPr>
            <a:r>
              <a:rPr/>
              <a:t>Let that be uncomfortable for a moment before explaining. Most treatments of this topic stop at “put it in a Pipeline” and imply the problem is solved.</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useful idea in the lesson, so take the time.</a:t>
            </a:r>
          </a:p>
          <a:p>
            <a:pPr lvl="0" indent="0" marL="0">
              <a:buNone/>
            </a:pPr>
          </a:p>
          <a:p>
            <a:pPr lvl="0" indent="0" marL="0">
              <a:buNone/>
            </a:pPr>
            <a:r>
              <a:rPr/>
              <a:t>With two thousand columns and eight hundred rows, some columns correlate with the label purely by chance across the whole dataset. That accident is a property of this particular sample. It is present in every subset of it - every training fold and every validation fold alike.</a:t>
            </a:r>
          </a:p>
          <a:p>
            <a:pPr lvl="0" indent="0" marL="0">
              <a:buNone/>
            </a:pPr>
          </a:p>
          <a:p>
            <a:pPr lvl="0" indent="0" marL="0">
              <a:buNone/>
            </a:pPr>
            <a:r>
              <a:rPr/>
              <a:t>So a selector fitted honestly on four fifths finds those columns, and they still work on the remaining fifth, because the spurious correlation was never fold-specific in the first place.</a:t>
            </a:r>
          </a:p>
          <a:p>
            <a:pPr lvl="0" indent="0" marL="0">
              <a:buNone/>
            </a:pPr>
          </a:p>
          <a:p>
            <a:pPr lvl="0" indent="0" marL="0">
              <a:buNone/>
            </a:pPr>
            <a:r>
              <a:rPr/>
              <a:t>The statement to write on the board: cross-validation protects you from leaking between folds. It cannot protect you from having searched a large space of possibilities on a small sample. No rearrangement of the same 800 rows removes a pattern that is genuinely in those 800 rows and absent from the world.</a:t>
            </a:r>
          </a:p>
          <a:p>
            <a:pPr lvl="0" indent="0" marL="0">
              <a:buNone/>
            </a:pPr>
          </a:p>
          <a:p>
            <a:pPr lvl="0" indent="0" marL="0">
              <a:buNone/>
            </a:pPr>
            <a:r>
              <a:rPr/>
              <a:t>What helps: a test set held out before any of this and used once; fewer candidates; or more rows. Nothing else.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Choosing between configurations is choosing, and choosing on data costs the same honesty. GridSearchCV tries every combination of five values of k (columns kept) and five of C, 25 in all, each scored by 5-fold cross-validation, on the same signal-free table. The nested row is explained on the next slide; read the first two rows now.</a:t>
            </a:r>
          </a:p>
          <a:p>
            <a:pPr lvl="0" indent="0" marL="0">
              <a:buNone/>
            </a:pPr>
          </a:p>
          <a:p>
            <a:pPr lvl="0" indent="0" marL="0">
              <a:buNone/>
            </a:pPr>
            <a:r>
              <a:rPr/>
              <a:t>The number a practitioner reports is best_score_, and it is the MAXIMUM of 25 noisy estimates. The maximum of a set of noisy numbers is biased upward even when every one measures the same quantity - and here they nearly do, since the average candidate is 0.7265 and the worst is 0.6840.</a:t>
            </a:r>
          </a:p>
          <a:p>
            <a:pPr lvl="0" indent="0" marL="0">
              <a:buNone/>
            </a:pPr>
          </a:p>
          <a:p>
            <a:pPr lvl="0" indent="0" marL="0">
              <a:buNone/>
            </a:pPr>
            <a:r>
              <a:rPr/>
              <a:t>So 0.7999 is not the performance of the chosen configuration. It is the performance of whichever configuration got luckiest.</a:t>
            </a:r>
          </a:p>
          <a:p>
            <a:pPr lvl="0" indent="0" marL="0">
              <a:buNone/>
            </a:pPr>
          </a:p>
          <a:p>
            <a:pPr lvl="0" indent="0" marL="0">
              <a:buNone/>
            </a:pPr>
            <a:r>
              <a:rPr/>
              <a:t>The optimism is +0.13, which is larger than most differences anyone reports between competing methods.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Measure the search, not the winner.</a:t>
            </a:r>
          </a:p>
          <a:p>
            <a:pPr lvl="0" indent="0" marL="0">
              <a:buNone/>
            </a:pPr>
          </a:p>
          <a:p>
            <a:pPr lvl="0" indent="0" marL="0">
              <a:buNone/>
            </a:pPr>
            <a:r>
              <a:rPr/>
              <a:t>Outer loop holds out a fifth. The entire search runs inside the remaining four fifths. Score the search’s chosen model on the held-out fifth. Repeat five times.</a:t>
            </a:r>
          </a:p>
          <a:p>
            <a:pPr lvl="0" indent="0" marL="0">
              <a:buNone/>
            </a:pPr>
          </a:p>
          <a:p>
            <a:pPr lvl="0" indent="0" marL="0">
              <a:buNone/>
            </a:pPr>
            <a:r>
              <a:rPr/>
              <a:t>The inner loop may overfit its own data as much as it likes; the outer block was never part of it.</a:t>
            </a:r>
          </a:p>
          <a:p>
            <a:pPr lvl="0" indent="0" marL="0">
              <a:buNone/>
            </a:pPr>
          </a:p>
          <a:p>
            <a:pPr lvl="0" indent="0" marL="0">
              <a:buNone/>
            </a:pPr>
            <a:r>
              <a:rPr/>
              <a:t>One clarification that always comes up, so pre-empt it: nested cross-validation is NOT a way to choose hyperparameters - it produces k possibly different winners. It is a way to estimate what choosing costs. You choose on all the data afterwards, and you report the nested figure.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summary of the whole last hour, on one axis. Same data, containing nothing.</a:t>
            </a:r>
          </a:p>
          <a:p>
            <a:pPr lvl="0" indent="0" marL="0">
              <a:buNone/>
            </a:pPr>
          </a:p>
          <a:p>
            <a:pPr lvl="0" indent="0" marL="0">
              <a:buNone/>
            </a:pPr>
            <a:r>
              <a:rPr/>
              <a:t>0.500 is the truth. 0.6699 is nested cross-validation. 0.7999 is what the search reports. 0.931 is selection before cross-validation.</a:t>
            </a:r>
          </a:p>
          <a:p>
            <a:pPr lvl="0" indent="0" marL="0">
              <a:buNone/>
            </a:pPr>
          </a:p>
          <a:p>
            <a:pPr lvl="0" indent="0" marL="0">
              <a:buNone/>
            </a:pPr>
            <a:r>
              <a:rPr/>
              <a:t>Say clearly: nobody in this picture wrote dishonest code. The difference between 0.93 and 0.50 is entirely a matter of which choices were made while looking at which data.</a:t>
            </a:r>
          </a:p>
          <a:p>
            <a:pPr lvl="0" indent="0" marL="0">
              <a:buNone/>
            </a:pPr>
          </a:p>
          <a:p>
            <a:pPr lvl="0" indent="0" marL="0">
              <a:buNone/>
            </a:pPr>
            <a:r>
              <a:rPr/>
              <a:t>Each step to the left is a piece of discipline, and each one costs a chunk of the score you would otherwise have reported. That is what discipline feels like from the inside, and it is why it is unpopular.</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 4’s threshold, done properly - but on slide 6’s 800 drives, not lesson 4’s 8,000, so do not compare these euros with lesson 4’s 87,620 and 45,540: a test set of 200 drives with 7 failures has a smaller bill. Split three ways, as the table header says: fit on 450 drives (56%), choose the threshold on 150 (19%, with 5 failures), report once on the remaining 200 (25%). The middle column is the bill, counted: the default misses 4 of the 7 failures; both other thresholds miss 1, and differ only in false alarms, 15 against 5.</a:t>
            </a:r>
          </a:p>
          <a:p>
            <a:pPr lvl="0" indent="0" marL="0">
              <a:buNone/>
            </a:pPr>
          </a:p>
          <a:p>
            <a:pPr lvl="0" indent="0" marL="0">
              <a:buNone/>
            </a:pPr>
            <a:r>
              <a:rPr/>
              <a:t>Then point at 0.050. The validation set chose almost exactly lesson 4’s t* = 140 ÷ 2,740 = 0.051, the threshold the costs alone gave before anyone looked at data. With 5 failures in the validation set part of that is luck, but it is the point to land: the formula was already the honest answer; what needed paying was the 0.078 lesson 4 picked by looking at its test set.</a:t>
            </a:r>
          </a:p>
          <a:p>
            <a:pPr lvl="0" indent="0" marL="0">
              <a:buNone/>
            </a:pPr>
          </a:p>
          <a:p>
            <a:pPr lvl="0" indent="0" marL="0">
              <a:buNone/>
            </a:pPr>
            <a:r>
              <a:rPr/>
              <a:t>The honest threshold is WORSE on the test set than the cheating one. It is supposed to be - and this is the slide where that finally makes sense to them. The 1,400 euros between them are 10 false alarms that this particular test set happened to let 0.171 avoid.</a:t>
            </a:r>
          </a:p>
          <a:p>
            <a:pPr lvl="0" indent="0" marL="0">
              <a:buNone/>
            </a:pPr>
          </a:p>
          <a:p>
            <a:pPr lvl="0" indent="0" marL="0">
              <a:buNone/>
            </a:pPr>
            <a:r>
              <a:rPr/>
              <a:t>A predictable slip: “the debt is paid, so the number improves”. The reasoning is natural - doing things properly ought to be rewarded - but paying the debt makes the reported number WORSE: it removes the luck the cheating number had borrowed.</a:t>
            </a:r>
          </a:p>
          <a:p>
            <a:pPr lvl="0" indent="0" marL="0">
              <a:buNone/>
            </a:pPr>
          </a:p>
          <a:p>
            <a:pPr lvl="0" indent="0" marL="0">
              <a:buNone/>
            </a:pPr>
            <a:r>
              <a:rPr/>
              <a:t>The cheating figure describes a threshold tuned to this particular test set, and there is no reason it survives contact with the next two hundred drives. The honest figure is an unbiased estimate of what happens next.</a:t>
            </a:r>
          </a:p>
          <a:p>
            <a:pPr lvl="0" indent="0" marL="0">
              <a:buNone/>
            </a:pPr>
          </a:p>
          <a:p>
            <a:pPr lvl="0" indent="0" marL="0">
              <a:buNone/>
            </a:pPr>
            <a:r>
              <a:rPr/>
              <a:t>Note the cost: we now train on 56% of the data instead of 75%, because the validation set has to come from somewhere. On a small dataset that hurts - which is the argument for choosing by cross-validation on the training portion and keeping the test set whole.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organising principle of the whole lesson, on one slide. Put it on the board and leave it there.</a:t>
            </a:r>
          </a:p>
          <a:p>
            <a:pPr lvl="0" indent="0" marL="0">
              <a:buNone/>
            </a:pPr>
          </a:p>
          <a:p>
            <a:pPr lvl="0" indent="0" marL="0">
              <a:buNone/>
            </a:pPr>
            <a:r>
              <a:rPr/>
              <a:t>Every choice belongs to the validation set. Which model, which penalty, which features, which threshold, when to stop training, whether to try a different approach entirely - all of it.</a:t>
            </a:r>
          </a:p>
          <a:p>
            <a:pPr lvl="0" indent="0" marL="0">
              <a:buNone/>
            </a:pPr>
          </a:p>
          <a:p>
            <a:pPr lvl="0" indent="0" marL="0">
              <a:buNone/>
            </a:pPr>
            <a:r>
              <a:rPr/>
              <a:t>The test set has exactly one job and one use. The moment you look at it and change something in response, it has become a validation set, and you no longer have a test set at all.</a:t>
            </a:r>
          </a:p>
          <a:p>
            <a:pPr lvl="0" indent="0" marL="0">
              <a:buNone/>
            </a:pPr>
          </a:p>
          <a:p>
            <a:pPr lvl="0" indent="0" marL="0">
              <a:buNone/>
            </a:pPr>
            <a:r>
              <a:rPr/>
              <a:t>The honest thing to say aloud, because they will do it anyway: everyone looks twice sometimes. The requirement is that you SAY SO in the report. A stated weakness costs a little credibility; an unstated one costs all of it when somebody else fails to reproduce your number.</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Optional on 6 November: skip in class if time is short, and say it is left for self-study, with the handout.</a:t>
            </a:r>
          </a:p>
          <a:p>
            <a:pPr lvl="0" indent="0" marL="0">
              <a:buNone/>
            </a:pPr>
          </a:p>
          <a:p>
            <a:pPr lvl="0" indent="0" marL="0">
              <a:buNone/>
            </a:pPr>
            <a:r>
              <a:rPr/>
              <a:t>Every one of those thirty runs is exactly reproducible by anyone with the same code. They disagree with each other by nearly nine points.</a:t>
            </a:r>
          </a:p>
          <a:p>
            <a:pPr lvl="0" indent="0" marL="0">
              <a:buNone/>
            </a:pPr>
          </a:p>
          <a:p>
            <a:pPr lvl="0" indent="0" marL="0">
              <a:buNone/>
            </a:pPr>
            <a:r>
              <a:rPr/>
              <a:t>So reproducibility is necessary and nowhere near sufficient. Report the seed AND the spread.</a:t>
            </a:r>
          </a:p>
          <a:p>
            <a:pPr lvl="0" indent="0" marL="0">
              <a:buNone/>
            </a:pPr>
          </a:p>
          <a:p>
            <a:pPr lvl="0" indent="0" marL="0">
              <a:buNone/>
            </a:pPr>
            <a:r>
              <a:rPr/>
              <a:t>Contrast the two ways of writing the same experiment up. “AUC 1.000, random_state=3” - fully reproducible, thoroughly misleading. “AUC 0.951 plus or minus 0.019 over 5-fold cross-validation, seed 0” - reproducible and honest.</a:t>
            </a:r>
          </a:p>
          <a:p>
            <a:pPr lvl="0" indent="0" marL="0">
              <a:buNone/>
            </a:pPr>
          </a:p>
          <a:p>
            <a:pPr lvl="0" indent="0" marL="0">
              <a:buNone/>
            </a:pPr>
            <a:r>
              <a:rPr/>
              <a:t>The second one is also the way to write up every exercise from here on - it is what the exam asks them to defend.</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Optional on 6 November: skip in class if time is short, and say it is left for self-study, with the handout.</a:t>
            </a:r>
          </a:p>
          <a:p>
            <a:pPr lvl="0" indent="0" marL="0">
              <a:buNone/>
            </a:pPr>
          </a:p>
          <a:p>
            <a:pPr lvl="0" indent="0" marL="0">
              <a:buNone/>
            </a:pPr>
            <a:r>
              <a:rPr/>
              <a:t>Practical checklist. The container exists for the second item: it pins the environment so that their result and the examiner’s are the same result.</a:t>
            </a:r>
          </a:p>
          <a:p>
            <a:pPr lvl="0" indent="0" marL="0">
              <a:buNone/>
            </a:pPr>
          </a:p>
          <a:p>
            <a:pPr lvl="0" indent="0" marL="0">
              <a:buNone/>
            </a:pPr>
            <a:r>
              <a:rPr/>
              <a:t>Worth saying that a result nobody can reproduce in two years was not really reproducible - and that scikit-learn genuinely does change defaults between minor versions, which has invalidated published comparisons.</a:t>
            </a:r>
          </a:p>
          <a:p>
            <a:pPr lvl="0" indent="0" marL="0">
              <a:buNone/>
            </a:pPr>
          </a:p>
          <a:p>
            <a:pPr lvl="0" indent="0" marL="0">
              <a:buNone/>
            </a:pPr>
            <a:r>
              <a:rPr/>
              <a:t>Commit the code that produced the number, not a tidied-up version of it.</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pairs each section with its calls and its number. Run notebook 03. Fifteen minutes.</a:t>
            </a:r>
          </a:p>
          <a:p>
            <a:pPr lvl="0" indent="0" marL="0">
              <a:buNone/>
            </a:pPr>
          </a:p>
          <a:p>
            <a:pPr lvl="0" indent="0" marL="0">
              <a:buNone/>
            </a:pPr>
            <a:r>
              <a:rPr/>
              <a:t>The cell to protect is the first one - let them watch 0.931 appear on empty data before any explanation. Nothing else in the lesson changes behaviour as reliably.</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checklist they can apply to every remaining exercise and to anything they read.</a:t>
            </a:r>
          </a:p>
          <a:p>
            <a:pPr lvl="0" indent="0" marL="0">
              <a:buNone/>
            </a:pPr>
          </a:p>
          <a:p>
            <a:pPr lvl="0" indent="0" marL="0">
              <a:buNone/>
            </a:pPr>
            <a:r>
              <a:rPr/>
              <a:t>The four items map to the four failures of today: a number without a spread hides the lottery; a metric without a positive count hides why the spread is wide; a missing seed makes it unreproducible; and an unstated selection procedure hides the optimism.</a:t>
            </a:r>
          </a:p>
          <a:p>
            <a:pPr lvl="0" indent="0" marL="0">
              <a:buNone/>
            </a:pPr>
          </a:p>
          <a:p>
            <a:pPr lvl="0" indent="0" marL="0">
              <a:buNone/>
            </a:pPr>
            <a:r>
              <a:rPr/>
              <a:t>Turn it around as a reading habit too. When they meet a paper reporting a single figure with no spread, no fold count and no statement about how the hyperparameters were chosen, they now know exactly which questions are unanswered - and roughly how large the correction is likely to be.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number they opened with. Seed 3, AUC 1.000, on a model whose honest performance is 0.951.</a:t>
            </a:r>
          </a:p>
          <a:p>
            <a:pPr lvl="0" indent="0" marL="0">
              <a:buNone/>
            </a:pPr>
          </a:p>
          <a:p>
            <a:pPr lvl="0" indent="0" marL="0">
              <a:buNone/>
            </a:pPr>
            <a:r>
              <a:rPr/>
              <a:t>If they remember one habit from today, make it this: before believing any reported score, ask what the base rate is, how many positives are in the test set, and which choices were made while looking at which data.</a:t>
            </a:r>
          </a:p>
          <a:p>
            <a:pPr lvl="0" indent="0" marL="0">
              <a:buNone/>
            </a:pPr>
          </a:p>
          <a:p>
            <a:pPr lvl="0" indent="0" marL="0">
              <a:buNone/>
            </a:pPr>
            <a:r>
              <a:rPr/>
              <a:t>That third question is the one that separates a result from a story, and it is the one they are most likely to be asked at the exam about whichever exercise is drawn.</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out loud when it comes back: the first ten minutes of next Friday, 13 November.</a:t>
            </a:r>
          </a:p>
          <a:p>
            <a:pPr lvl="0" indent="0" marL="0">
              <a:buNone/>
            </a:pPr>
          </a:p>
          <a:p>
            <a:pPr lvl="0" indent="0" marL="0">
              <a:buNone/>
            </a:pPr>
            <a:r>
              <a:rPr/>
              <a:t>The shape of it: they are given a notebook that reports an excellent score, and the score is wrong. They have to find the reason, fix it, report the honest number, and say how much honesty cost.</a:t>
            </a:r>
          </a:p>
          <a:p>
            <a:pPr lvl="0" indent="0" marL="0">
              <a:buNone/>
            </a:pPr>
          </a:p>
          <a:p>
            <a:pPr lvl="0" indent="0" marL="0">
              <a:buNone/>
            </a:pPr>
            <a:r>
              <a:rPr/>
              <a:t>Warn them that there is more than one problem planted, and that the marks are for the diagnosis rather than for the final figure - which will be much worse than the one they start with, and is supposed to be.</a:t>
            </a:r>
          </a:p>
          <a:p>
            <a:pPr lvl="0" indent="0" marL="0">
              <a:buNone/>
            </a:pPr>
          </a:p>
          <a:p>
            <a:pPr lvl="0" indent="0" marL="0">
              <a:buNone/>
            </a:pPr>
            <a:r>
              <a:rPr/>
              <a:t>Next week: k-nearest neighbours, Naive Bayes and support vector machines. Three new model families, all of them evaluated with what we built today.</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5: Experimental Methodology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6 November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we start: lesson 4, concluded</a:t>
            </a:r>
          </a:p>
        </p:txBody>
      </p:sp>
      <p:sp>
        <p:nvSpPr>
          <p:cNvPr id="3" name="Content Placeholder 2"/>
          <p:cNvSpPr>
            <a:spLocks noGrp="1"/>
          </p:cNvSpPr>
          <p:nvPr>
            <p:ph idx="1"/>
          </p:nvPr>
        </p:nvSpPr>
        <p:spPr>
          <a:xfrm>
            <a:off x="457200" y="1200151"/>
            <a:ext cx="8229600" cy="3394472"/>
          </a:xfrm>
        </p:spPr>
        <p:txBody>
          <a:bodyPr/>
          <a:lstStyle/>
          <a:p>
            <a:pPr lvl="0"/>
            <a:r>
              <a:rPr/>
              <a:t>First, lesson 4’s last slides: receiver operating characteristic (ROC) curves, the area under the curve (AUC), the threshold from costs, notebook 3</a:t>
            </a:r>
          </a:p>
          <a:p>
            <a:pPr lvl="0"/>
            <a:r>
              <a:rPr/>
              <a:t>Exercise 4 is set at their end; exercises 4 and 5 are both discussed on 13 November</a:t>
            </a:r>
          </a:p>
          <a:p>
            <a:pPr lvl="0"/>
            <a:r>
              <a:rPr/>
              <a:t>Then lesson 5, with a few parts left for self-study, marked (optional)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We broke a promise on purpose</a:t>
            </a:r>
          </a:p>
        </p:txBody>
      </p:sp>
      <p:sp>
        <p:nvSpPr>
          <p:cNvPr id="3" name="Content Placeholder 2"/>
          <p:cNvSpPr>
            <a:spLocks noGrp="1"/>
          </p:cNvSpPr>
          <p:nvPr>
            <p:ph idx="1"/>
          </p:nvPr>
        </p:nvSpPr>
        <p:spPr>
          <a:xfrm>
            <a:off x="457200" y="1200151"/>
            <a:ext cx="8229600" cy="3394472"/>
          </a:xfrm>
        </p:spPr>
        <p:txBody>
          <a:bodyPr/>
          <a:lstStyle/>
          <a:p>
            <a:pPr lvl="0"/>
            <a:r>
              <a:rPr/>
              <a:t>Lesson 4 chose a threshold </a:t>
            </a:r>
            <a:r>
              <a:rPr b="1"/>
              <a:t>by looking at the test set</a:t>
            </a:r>
          </a:p>
          <a:p>
            <a:pPr lvl="0"/>
            <a:r>
              <a:rPr/>
              <a:t>Lesson 1 forbade exactly that</a:t>
            </a:r>
          </a:p>
          <a:p>
            <a:pPr lvl="0"/>
            <a:r>
              <a:rPr/>
              <a:t>Today we pay the debt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Today: how to tell whether it works</a:t>
            </a:r>
          </a:p>
        </p:txBody>
      </p:sp>
      <p:sp>
        <p:nvSpPr>
          <p:cNvPr id="3" name="Content Placeholder 2"/>
          <p:cNvSpPr>
            <a:spLocks noGrp="1"/>
          </p:cNvSpPr>
          <p:nvPr>
            <p:ph idx="1"/>
          </p:nvPr>
        </p:nvSpPr>
        <p:spPr>
          <a:xfrm>
            <a:off x="457200" y="1200151"/>
            <a:ext cx="8229600" cy="3394472"/>
          </a:xfrm>
        </p:spPr>
        <p:txBody>
          <a:bodyPr/>
          <a:lstStyle/>
          <a:p>
            <a:pPr lvl="0"/>
            <a:r>
              <a:rPr/>
              <a:t>One train/test split gives one number; another split gives another. How far apart?</a:t>
            </a:r>
          </a:p>
          <a:p>
            <a:pPr lvl="0"/>
            <a:r>
              <a:rPr/>
              <a:t>Cross-validation: what it estimates, and what it does not</a:t>
            </a:r>
          </a:p>
          <a:p>
            <a:pPr lvl="0"/>
            <a:r>
              <a:rPr/>
              <a:t>Bias, variance, and the part of the error no model can remove</a:t>
            </a:r>
          </a:p>
          <a:p>
            <a:pPr lvl="0"/>
            <a:r>
              <a:rPr/>
              <a:t>Learning curves: will more data help, or is a different model needed?</a:t>
            </a:r>
          </a:p>
          <a:p>
            <a:pPr lvl="0"/>
            <a:r>
              <a:rPr/>
              <a:t>Leakage that survives cross-validation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test score is a measurement</a:t>
            </a:r>
          </a:p>
        </p:txBody>
      </p:sp>
      <p:sp>
        <p:nvSpPr>
          <p:cNvPr id="3" name="Content Placeholder 2"/>
          <p:cNvSpPr>
            <a:spLocks noGrp="1"/>
          </p:cNvSpPr>
          <p:nvPr>
            <p:ph idx="1"/>
          </p:nvPr>
        </p:nvSpPr>
        <p:spPr>
          <a:xfrm>
            <a:off x="457200" y="1200151"/>
            <a:ext cx="8229600" cy="3394472"/>
          </a:xfrm>
        </p:spPr>
        <p:txBody>
          <a:bodyPr/>
          <a:lstStyle/>
          <a:p>
            <a:pPr lvl="0"/>
            <a:r>
              <a:rPr/>
              <a:t>You would not report a poll of forty people to three decimals</a:t>
            </a:r>
          </a:p>
          <a:p>
            <a:pPr lvl="0"/>
            <a:r>
              <a:rPr/>
              <a:t>Holding data out makes the estimate </a:t>
            </a:r>
            <a:r>
              <a:rPr b="1"/>
              <a:t>unbiased</a:t>
            </a:r>
            <a:r>
              <a:rPr/>
              <a:t>: right on average, over all the splits you might have drawn</a:t>
            </a:r>
          </a:p>
          <a:p>
            <a:pPr lvl="0"/>
            <a:r>
              <a:rPr/>
              <a:t>It does nothing to make it </a:t>
            </a:r>
            <a:r>
              <a:rPr b="1"/>
              <a:t>precise</a:t>
            </a:r>
            <a:r>
              <a:rPr/>
              <a:t>: close to the truth on the one split you did draw</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fleet, cut down</a:t>
            </a:r>
          </a:p>
        </p:txBody>
      </p:sp>
      <p:sp>
        <p:nvSpPr>
          <p:cNvPr id="3" name="Content Placeholder 2"/>
          <p:cNvSpPr>
            <a:spLocks noGrp="1"/>
          </p:cNvSpPr>
          <p:nvPr>
            <p:ph idx="1"/>
          </p:nvPr>
        </p:nvSpPr>
        <p:spPr>
          <a:xfrm>
            <a:off x="457200" y="1200151"/>
            <a:ext cx="8229600" cy="3394472"/>
          </a:xfrm>
        </p:spPr>
        <p:txBody>
          <a:bodyPr/>
          <a:lstStyle/>
          <a:p>
            <a:pPr lvl="0"/>
            <a:r>
              <a:rPr/>
              <a:t>Lesson 4’s drives, reduced to </a:t>
            </a:r>
            <a:r>
              <a:rPr b="1"/>
              <a:t>800</a:t>
            </a:r>
            <a:r>
              <a:rPr/>
              <a:t>, of which </a:t>
            </a:r>
            <a:r>
              <a:rPr b="1"/>
              <a:t>29 fail</a:t>
            </a:r>
            <a:r>
              <a:rPr/>
              <a:t> (3.6%)</a:t>
            </a:r>
          </a:p>
          <a:p>
            <a:pPr lvl="0"/>
            <a:r>
              <a:rPr/>
              <a:t>A few hundred rows with a few dozen positives is the ordinary case</a:t>
            </a:r>
          </a:p>
          <a:p>
            <a:pPr lvl="0"/>
            <a:r>
              <a:rPr/>
              <a:t>In code: lesson 4’s model, </a:t>
            </a:r>
            <a:r>
              <a:rPr>
                <a:latin typeface="Courier"/>
              </a:rPr>
              <a:t>make_pipeline(StandardScaler(), LogisticRegression())</a:t>
            </a:r>
            <a:r>
              <a:rPr/>
              <a:t>, on </a:t>
            </a:r>
            <a:r>
              <a:rPr>
                <a:latin typeface="Courier"/>
              </a:rPr>
              <a:t>train_test_split(X, y, test_size=0.25, stratify=y)</a:t>
            </a:r>
            <a:r>
              <a:rPr/>
              <a:t>, scored by </a:t>
            </a:r>
            <a:r>
              <a:rPr>
                <a:latin typeface="Courier"/>
              </a:rPr>
              <a:t>roc_auc_score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200 honest splits, one dataset</a:t>
            </a:r>
          </a:p>
        </p:txBody>
      </p:sp>
      <p:pic>
        <p:nvPicPr>
          <p:cNvPr descr="split_lottery.png" id="0" name="Picture 1"/>
          <p:cNvPicPr>
            <a:picLocks noGrp="1" noChangeAspect="1"/>
          </p:cNvPicPr>
          <p:nvPr/>
        </p:nvPicPr>
        <p:blipFill>
          <a:blip r:embed="rId3"/>
          <a:stretch>
            <a:fillRect/>
          </a:stretch>
        </p:blipFill>
        <p:spPr bwMode="auto">
          <a:xfrm>
            <a:off x="1476103" y="1166099"/>
            <a:ext cx="6191794" cy="3360181"/>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so wide?</a:t>
            </a:r>
          </a:p>
        </p:txBody>
      </p:sp>
      <p:sp>
        <p:nvSpPr>
          <p:cNvPr id="3" name="Content Placeholder 2"/>
          <p:cNvSpPr>
            <a:spLocks noGrp="1"/>
          </p:cNvSpPr>
          <p:nvPr>
            <p:ph idx="1"/>
          </p:nvPr>
        </p:nvSpPr>
        <p:spPr>
          <a:xfrm>
            <a:off x="457200" y="1200151"/>
            <a:ext cx="8229600" cy="3394472"/>
          </a:xfrm>
        </p:spPr>
        <p:txBody>
          <a:bodyPr/>
          <a:lstStyle/>
          <a:p>
            <a:pPr lvl="0"/>
            <a:r>
              <a:rPr/>
              <a:t>Each test set takes 25% of the 29 failures: 0.25 × 29 = 7.25, so </a:t>
            </a:r>
            <a:r>
              <a:rPr b="1"/>
              <a:t>7 failures</a:t>
            </a:r>
            <a:r>
              <a:rPr/>
              <a:t> among 200 drives</a:t>
            </a:r>
          </a:p>
          <a:p>
            <a:pPr lvl="0"/>
            <a:r>
              <a:rPr/>
              <a:t>The AUC asks only how those 7 failing drives are ranked against the 193 healthy ones: 7 × 193 = 1,351 pairs</a:t>
            </a:r>
          </a:p>
          <a:p>
            <a:pPr lvl="0"/>
            <a:r>
              <a:rPr/>
              <a:t>One failing drive slipping below 20 more healthy ones costs 20 ÷ 1,351 = 0.015 of AUC</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Parameters and hyperparameters</a:t>
            </a:r>
          </a:p>
        </p:txBody>
      </p:sp>
      <p:sp>
        <p:nvSpPr>
          <p:cNvPr id="3" name="Content Placeholder 2"/>
          <p:cNvSpPr>
            <a:spLocks noGrp="1"/>
          </p:cNvSpPr>
          <p:nvPr>
            <p:ph idx="1"/>
          </p:nvPr>
        </p:nvSpPr>
        <p:spPr>
          <a:xfrm>
            <a:off x="457200" y="1200151"/>
            <a:ext cx="8229600" cy="3394472"/>
          </a:xfrm>
        </p:spPr>
        <p:txBody>
          <a:bodyPr/>
          <a:lstStyle/>
          <a:p>
            <a:pPr lvl="0"/>
            <a:r>
              <a:rPr b="1"/>
              <a:t>Parameters</a:t>
            </a:r>
            <a:r>
              <a:rPr/>
              <a:t>: estimated by the fit, w and b</a:t>
            </a:r>
          </a:p>
          <a:p>
            <a:pPr lvl="0"/>
            <a:r>
              <a:rPr b="1"/>
              <a:t>Hyperparameters</a:t>
            </a:r>
            <a:r>
              <a:rPr/>
              <a:t>: not estimated by the fit: penalty λ (lesson 3), threshold (lesson 4), neighbours (lesson 6), tree depth (lesson 7)</a:t>
            </a:r>
          </a:p>
          <a:p>
            <a:pPr lvl="0"/>
            <a:r>
              <a:rPr/>
              <a:t>Minimising training error would always pick λ = 0, so they are chosen by </a:t>
            </a:r>
            <a:r>
              <a:rPr b="1"/>
              <a:t>comparing</a:t>
            </a:r>
            <a:r>
              <a:rPr/>
              <a:t> models on data the fit did not see</a:t>
            </a:r>
          </a:p>
          <a:p>
            <a:pPr lvl="0"/>
            <a:r>
              <a:rPr/>
              <a:t>scikit-learn’s C plays the role of 1/λ: the smaller C, the stronger the penalty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 each of slide 7’s 200 splits, three models compete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Model (C = 1, the default, is slide 7’s)</a:t>
                      </a:r>
                    </a:p>
                  </a:txBody>
                  <a:tcPr/>
                </a:tc>
                <a:tc>
                  <a:txBody>
                    <a:bodyPr/>
                    <a:lstStyle/>
                    <a:p>
                      <a:pPr lvl="0" indent="0" marL="0">
                        <a:buNone/>
                      </a:pPr>
                      <a:r>
                        <a:rPr/>
                        <a:t>Mean test AUC over the 200 splits</a:t>
                      </a:r>
                    </a:p>
                  </a:txBody>
                  <a:tcPr/>
                </a:tc>
                <a:tc>
                  <a:txBody>
                    <a:bodyPr/>
                    <a:lstStyle/>
                    <a:p>
                      <a:pPr lvl="0" indent="0" marL="0">
                        <a:buNone/>
                      </a:pPr>
                      <a:r>
                        <a:rPr/>
                        <a:t>Splits it won (chance: 200 ÷ 3 ≈ 67)</a:t>
                      </a:r>
                    </a:p>
                  </a:txBody>
                  <a:tcPr/>
                </a:tc>
              </a:tr>
              <a:tr h="0">
                <a:tc>
                  <a:txBody>
                    <a:bodyPr/>
                    <a:lstStyle/>
                    <a:p>
                      <a:pPr lvl="0" indent="0" marL="0">
                        <a:buNone/>
                      </a:pPr>
                      <a:r>
                        <a:rPr/>
                        <a:t>C = 0.01</a:t>
                      </a:r>
                    </a:p>
                  </a:txBody>
                </a:tc>
                <a:tc>
                  <a:txBody>
                    <a:bodyPr/>
                    <a:lstStyle/>
                    <a:p>
                      <a:pPr lvl="0" indent="0" marL="0">
                        <a:buNone/>
                      </a:pPr>
                      <a:r>
                        <a:rPr/>
                        <a:t>0.9549</a:t>
                      </a:r>
                    </a:p>
                  </a:txBody>
                </a:tc>
                <a:tc>
                  <a:txBody>
                    <a:bodyPr/>
                    <a:lstStyle/>
                    <a:p>
                      <a:pPr lvl="0" indent="0" marL="0">
                        <a:buNone/>
                      </a:pPr>
                      <a:r>
                        <a:rPr/>
                        <a:t>91</a:t>
                      </a:r>
                    </a:p>
                  </a:txBody>
                </a:tc>
              </a:tr>
              <a:tr h="0">
                <a:tc>
                  <a:txBody>
                    <a:bodyPr/>
                    <a:lstStyle/>
                    <a:p>
                      <a:pPr lvl="0" indent="0" marL="0">
                        <a:buNone/>
                      </a:pPr>
                      <a:r>
                        <a:rPr/>
                        <a:t>C = 1</a:t>
                      </a:r>
                    </a:p>
                  </a:txBody>
                </a:tc>
                <a:tc>
                  <a:txBody>
                    <a:bodyPr/>
                    <a:lstStyle/>
                    <a:p>
                      <a:pPr lvl="0" indent="0" marL="0">
                        <a:buNone/>
                      </a:pPr>
                      <a:r>
                        <a:rPr/>
                        <a:t>0.9549</a:t>
                      </a:r>
                    </a:p>
                  </a:txBody>
                </a:tc>
                <a:tc>
                  <a:txBody>
                    <a:bodyPr/>
                    <a:lstStyle/>
                    <a:p>
                      <a:pPr lvl="0" indent="0" marL="0">
                        <a:buNone/>
                      </a:pPr>
                      <a:r>
                        <a:rPr/>
                        <a:t>71</a:t>
                      </a:r>
                    </a:p>
                  </a:txBody>
                </a:tc>
              </a:tr>
              <a:tr h="0">
                <a:tc>
                  <a:txBody>
                    <a:bodyPr/>
                    <a:lstStyle/>
                    <a:p>
                      <a:pPr lvl="0" indent="0" marL="0">
                        <a:buNone/>
                      </a:pPr>
                      <a:r>
                        <a:rPr/>
                        <a:t>C = 100</a:t>
                      </a:r>
                    </a:p>
                  </a:txBody>
                </a:tc>
                <a:tc>
                  <a:txBody>
                    <a:bodyPr/>
                    <a:lstStyle/>
                    <a:p>
                      <a:pPr lvl="0" indent="0" marL="0">
                        <a:buNone/>
                      </a:pPr>
                      <a:r>
                        <a:rPr/>
                        <a:t>0.9544</a:t>
                      </a:r>
                    </a:p>
                  </a:txBody>
                </a:tc>
                <a:tc>
                  <a:txBody>
                    <a:bodyPr/>
                    <a:lstStyle/>
                    <a:p>
                      <a:pPr lvl="0" indent="0" marL="0">
                        <a:buNone/>
                      </a:pPr>
                      <a:r>
                        <a:rPr/>
                        <a:t>38</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same three models: who wins, and how they score</a:t>
            </a:r>
          </a:p>
        </p:txBody>
      </p:sp>
      <p:pic>
        <p:nvPicPr>
          <p:cNvPr descr="single_split_selection.png" id="0" name="Picture 1"/>
          <p:cNvPicPr>
            <a:picLocks noGrp="1" noChangeAspect="1"/>
          </p:cNvPicPr>
          <p:nvPr/>
        </p:nvPicPr>
        <p:blipFill>
          <a:blip r:embed="rId3"/>
          <a:stretch>
            <a:fillRect/>
          </a:stretch>
        </p:blipFill>
        <p:spPr bwMode="auto">
          <a:xfrm>
            <a:off x="457200" y="1347589"/>
            <a:ext cx="8229599" cy="2997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k-fold cross-validation</a:t>
            </a:r>
          </a:p>
        </p:txBody>
      </p:sp>
      <p:pic>
        <p:nvPicPr>
          <p:cNvPr descr="kfold_diagram.png" id="0" name="Picture 1"/>
          <p:cNvPicPr>
            <a:picLocks noGrp="1" noChangeAspect="1"/>
          </p:cNvPicPr>
          <p:nvPr/>
        </p:nvPicPr>
        <p:blipFill>
          <a:blip r:embed="rId3"/>
          <a:stretch>
            <a:fillRect/>
          </a:stretch>
        </p:blipFill>
        <p:spPr bwMode="auto">
          <a:xfrm>
            <a:off x="714714" y="1166099"/>
            <a:ext cx="7714572" cy="3360181"/>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it actually estimates</a:t>
            </a:r>
          </a:p>
        </p:txBody>
      </p:sp>
      <p:sp>
        <p:nvSpPr>
          <p:cNvPr id="3" name="Content Placeholder 2"/>
          <p:cNvSpPr>
            <a:spLocks noGrp="1"/>
          </p:cNvSpPr>
          <p:nvPr>
            <p:ph idx="1"/>
          </p:nvPr>
        </p:nvSpPr>
        <p:spPr>
          <a:xfrm>
            <a:off x="457200" y="1200151"/>
            <a:ext cx="8229600" cy="3394472"/>
          </a:xfrm>
        </p:spPr>
        <p:txBody>
          <a:bodyPr/>
          <a:lstStyle/>
          <a:p>
            <a:pPr lvl="0"/>
            <a:r>
              <a:rPr/>
              <a:t>The performance of a </a:t>
            </a:r>
            <a:r>
              <a:rPr b="1"/>
              <a:t>procedure</a:t>
            </a:r>
            <a:r>
              <a:rPr/>
              <a:t> (the whole recipe), not of one fitted model</a:t>
            </a:r>
          </a:p>
          <a:p>
            <a:pPr lvl="0"/>
            <a:r>
              <a:rPr/>
              <a:t>Slightly </a:t>
            </a:r>
            <a:r>
              <a:rPr b="1"/>
              <a:t>pessimistic</a:t>
            </a:r>
            <a:r>
              <a:rPr/>
              <a:t>: with 5 folds, each model trains on 4/5 = 80% of the data</a:t>
            </a:r>
          </a:p>
          <a:p>
            <a:pPr lvl="0"/>
            <a:r>
              <a:rPr/>
              <a:t>Seed 0: the mean of the five fold AUCs is </a:t>
            </a:r>
            <a:r>
              <a:rPr b="1"/>
              <a:t>0.9514</a:t>
            </a:r>
          </a:p>
          <a:p>
            <a:pPr lvl="0"/>
            <a:r>
              <a:rPr/>
              <a:t>In code: </a:t>
            </a:r>
            <a:r>
              <a:rPr>
                <a:latin typeface="Courier"/>
              </a:rPr>
              <a:t>cross_val_score(model, X, y, cv=StratifiedKFold(5, shuffle=True),   scoring="roc_auc")</a:t>
            </a:r>
            <a:r>
              <a:rPr/>
              <a:t>, one score per fold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Report the spread, but not as a confidence interval</a:t>
            </a:r>
          </a:p>
        </p:txBody>
      </p:sp>
      <p:sp>
        <p:nvSpPr>
          <p:cNvPr id="3" name="Content Placeholder 2"/>
          <p:cNvSpPr>
            <a:spLocks noGrp="1"/>
          </p:cNvSpPr>
          <p:nvPr>
            <p:ph idx="1"/>
          </p:nvPr>
        </p:nvSpPr>
        <p:spPr>
          <a:xfrm>
            <a:off x="457200" y="1200151"/>
            <a:ext cx="8229600" cy="3394472"/>
          </a:xfrm>
        </p:spPr>
        <p:txBody>
          <a:bodyPr/>
          <a:lstStyle/>
          <a:p>
            <a:pPr lvl="0"/>
            <a:r>
              <a:rPr/>
              <a:t>With 5 folds each training set is 4 folds, and any two share 3 of them: </a:t>
            </a:r>
            <a:r>
              <a:rPr b="1"/>
              <a:t>3/4</a:t>
            </a:r>
            <a:r>
              <a:rPr/>
              <a:t> of their rows</a:t>
            </a:r>
          </a:p>
          <a:p>
            <a:pPr lvl="0"/>
            <a:r>
              <a:rPr/>
              <a:t>So the fold scores are correlated, and the usual standard error s ÷ √k (s the standard deviation of the k fold scores) comes out </a:t>
            </a:r>
            <a:r>
              <a:rPr b="1"/>
              <a:t>too small</a:t>
            </a:r>
          </a:p>
          <a:p>
            <a:pPr lvl="0"/>
            <a:r>
              <a:rPr/>
              <a:t>Report the mean and s, call s a spread, and treat a small difference between two models as unresolved</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Stratify when a class is rare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Fold (seed 3)</a:t>
                      </a:r>
                    </a:p>
                  </a:txBody>
                  <a:tcPr/>
                </a:tc>
                <a:tc>
                  <a:txBody>
                    <a:bodyPr/>
                    <a:lstStyle/>
                    <a:p>
                      <a:pPr lvl="0" indent="0" marL="0">
                        <a:buNone/>
                      </a:pPr>
                      <a:r>
                        <a:rPr/>
                        <a:t>KFold: folds cut at random</a:t>
                      </a:r>
                    </a:p>
                  </a:txBody>
                  <a:tcPr/>
                </a:tc>
                <a:tc>
                  <a:txBody>
                    <a:bodyPr/>
                    <a:lstStyle/>
                    <a:p>
                      <a:pPr lvl="0" indent="0" marL="0">
                        <a:buNone/>
                      </a:pPr>
                      <a:r>
                        <a:rPr/>
                        <a:t>StratifiedKFold: each fold keeps 3.6% failures</a:t>
                      </a:r>
                    </a:p>
                  </a:txBody>
                  <a:tcPr/>
                </a:tc>
              </a:tr>
              <a:tr h="0">
                <a:tc>
                  <a:txBody>
                    <a:bodyPr/>
                    <a:lstStyle/>
                    <a:p>
                      <a:pPr lvl="0" indent="0" marL="0">
                        <a:buNone/>
                      </a:pPr>
                      <a:r>
                        <a:rPr/>
                        <a:t>1</a:t>
                      </a:r>
                    </a:p>
                  </a:txBody>
                </a:tc>
                <a:tc>
                  <a:txBody>
                    <a:bodyPr/>
                    <a:lstStyle/>
                    <a:p>
                      <a:pPr lvl="0" indent="0" marL="0">
                        <a:buNone/>
                      </a:pPr>
                      <a:r>
                        <a:rPr/>
                        <a:t>7 failures of 160</a:t>
                      </a:r>
                    </a:p>
                  </a:txBody>
                </a:tc>
                <a:tc>
                  <a:txBody>
                    <a:bodyPr/>
                    <a:lstStyle/>
                    <a:p>
                      <a:pPr lvl="0" indent="0" marL="0">
                        <a:buNone/>
                      </a:pPr>
                      <a:r>
                        <a:rPr/>
                        <a:t>5 of 160</a:t>
                      </a:r>
                    </a:p>
                  </a:txBody>
                </a:tc>
              </a:tr>
              <a:tr h="0">
                <a:tc>
                  <a:txBody>
                    <a:bodyPr/>
                    <a:lstStyle/>
                    <a:p>
                      <a:pPr lvl="0" indent="0" marL="0">
                        <a:buNone/>
                      </a:pPr>
                      <a:r>
                        <a:rPr/>
                        <a:t>2</a:t>
                      </a:r>
                    </a:p>
                  </a:txBody>
                </a:tc>
                <a:tc>
                  <a:txBody>
                    <a:bodyPr/>
                    <a:lstStyle/>
                    <a:p>
                      <a:pPr lvl="0" indent="0" marL="0">
                        <a:buNone/>
                      </a:pPr>
                      <a:r>
                        <a:rPr b="1"/>
                        <a:t>1 failure of 160</a:t>
                      </a:r>
                    </a:p>
                  </a:txBody>
                </a:tc>
                <a:tc>
                  <a:txBody>
                    <a:bodyPr/>
                    <a:lstStyle/>
                    <a:p>
                      <a:pPr lvl="0" indent="0" marL="0">
                        <a:buNone/>
                      </a:pPr>
                      <a:r>
                        <a:rPr/>
                        <a:t>6 of 160</a:t>
                      </a:r>
                    </a:p>
                  </a:txBody>
                </a:tc>
              </a:tr>
              <a:tr h="0">
                <a:tc>
                  <a:txBody>
                    <a:bodyPr/>
                    <a:lstStyle/>
                    <a:p>
                      <a:pPr lvl="0" indent="0" marL="0">
                        <a:buNone/>
                      </a:pPr>
                      <a:r>
                        <a:rPr/>
                        <a:t>3</a:t>
                      </a:r>
                    </a:p>
                  </a:txBody>
                </a:tc>
                <a:tc>
                  <a:txBody>
                    <a:bodyPr/>
                    <a:lstStyle/>
                    <a:p>
                      <a:pPr lvl="0" indent="0" marL="0">
                        <a:buNone/>
                      </a:pPr>
                      <a:r>
                        <a:rPr/>
                        <a:t>7 of 160</a:t>
                      </a:r>
                    </a:p>
                  </a:txBody>
                </a:tc>
                <a:tc>
                  <a:txBody>
                    <a:bodyPr/>
                    <a:lstStyle/>
                    <a:p>
                      <a:pPr lvl="0" indent="0" marL="0">
                        <a:buNone/>
                      </a:pPr>
                      <a:r>
                        <a:rPr/>
                        <a:t>6 of 160</a:t>
                      </a:r>
                    </a:p>
                  </a:txBody>
                </a:tc>
              </a:tr>
              <a:tr h="0">
                <a:tc>
                  <a:txBody>
                    <a:bodyPr/>
                    <a:lstStyle/>
                    <a:p>
                      <a:pPr lvl="0" indent="0" marL="0">
                        <a:buNone/>
                      </a:pPr>
                      <a:r>
                        <a:rPr/>
                        <a:t>4</a:t>
                      </a:r>
                    </a:p>
                  </a:txBody>
                </a:tc>
                <a:tc>
                  <a:txBody>
                    <a:bodyPr/>
                    <a:lstStyle/>
                    <a:p>
                      <a:pPr lvl="0" indent="0" marL="0">
                        <a:buNone/>
                      </a:pPr>
                      <a:r>
                        <a:rPr/>
                        <a:t>5 of 160</a:t>
                      </a:r>
                    </a:p>
                  </a:txBody>
                </a:tc>
                <a:tc>
                  <a:txBody>
                    <a:bodyPr/>
                    <a:lstStyle/>
                    <a:p>
                      <a:pPr lvl="0" indent="0" marL="0">
                        <a:buNone/>
                      </a:pPr>
                      <a:r>
                        <a:rPr/>
                        <a:t>6 of 160</a:t>
                      </a:r>
                    </a:p>
                  </a:txBody>
                </a:tc>
              </a:tr>
              <a:tr h="0">
                <a:tc>
                  <a:txBody>
                    <a:bodyPr/>
                    <a:lstStyle/>
                    <a:p>
                      <a:pPr lvl="0" indent="0" marL="0">
                        <a:buNone/>
                      </a:pPr>
                      <a:r>
                        <a:rPr/>
                        <a:t>5</a:t>
                      </a:r>
                    </a:p>
                  </a:txBody>
                </a:tc>
                <a:tc>
                  <a:txBody>
                    <a:bodyPr/>
                    <a:lstStyle/>
                    <a:p>
                      <a:pPr lvl="0" indent="0" marL="0">
                        <a:buNone/>
                      </a:pPr>
                      <a:r>
                        <a:rPr/>
                        <a:t>9 of 160</a:t>
                      </a:r>
                    </a:p>
                  </a:txBody>
                </a:tc>
                <a:tc>
                  <a:txBody>
                    <a:bodyPr/>
                    <a:lstStyle/>
                    <a:p>
                      <a:pPr lvl="0" indent="0" marL="0">
                        <a:buNone/>
                      </a:pPr>
                      <a:r>
                        <a:rPr/>
                        <a:t>6 of 160</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much does it help? (optional)</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Test AUC, C = 1, seeds 0-39</a:t>
                      </a:r>
                    </a:p>
                  </a:txBody>
                  <a:tcPr/>
                </a:tc>
                <a:tc>
                  <a:txBody>
                    <a:bodyPr/>
                    <a:lstStyle/>
                    <a:p>
                      <a:pPr lvl="0" indent="0" marL="0">
                        <a:buNone/>
                      </a:pPr>
                      <a:r>
                        <a:rPr/>
                        <a:t>Single 75/25 split</a:t>
                      </a:r>
                    </a:p>
                  </a:txBody>
                  <a:tcPr/>
                </a:tc>
                <a:tc>
                  <a:txBody>
                    <a:bodyPr/>
                    <a:lstStyle/>
                    <a:p>
                      <a:pPr lvl="0" indent="0" marL="0">
                        <a:buNone/>
                      </a:pPr>
                      <a:r>
                        <a:rPr/>
                        <a:t>5-fold cross-validation</a:t>
                      </a:r>
                    </a:p>
                  </a:txBody>
                  <a:tcPr/>
                </a:tc>
              </a:tr>
              <a:tr h="0">
                <a:tc>
                  <a:txBody>
                    <a:bodyPr/>
                    <a:lstStyle/>
                    <a:p>
                      <a:pPr lvl="0" indent="0" marL="0">
                        <a:buNone/>
                      </a:pPr>
                      <a:r>
                        <a:rPr/>
                        <a:t>worst</a:t>
                      </a:r>
                    </a:p>
                  </a:txBody>
                </a:tc>
                <a:tc>
                  <a:txBody>
                    <a:bodyPr/>
                    <a:lstStyle/>
                    <a:p>
                      <a:pPr lvl="0" indent="0" marL="0">
                        <a:buNone/>
                      </a:pPr>
                      <a:r>
                        <a:rPr/>
                        <a:t>0.9119</a:t>
                      </a:r>
                    </a:p>
                  </a:txBody>
                </a:tc>
                <a:tc>
                  <a:txBody>
                    <a:bodyPr/>
                    <a:lstStyle/>
                    <a:p>
                      <a:pPr lvl="0" indent="0" marL="0">
                        <a:buNone/>
                      </a:pPr>
                      <a:r>
                        <a:rPr/>
                        <a:t>0.9439</a:t>
                      </a:r>
                    </a:p>
                  </a:txBody>
                </a:tc>
              </a:tr>
              <a:tr h="0">
                <a:tc>
                  <a:txBody>
                    <a:bodyPr/>
                    <a:lstStyle/>
                    <a:p>
                      <a:pPr lvl="0" indent="0" marL="0">
                        <a:buNone/>
                      </a:pPr>
                      <a:r>
                        <a:rPr/>
                        <a:t>best</a:t>
                      </a:r>
                    </a:p>
                  </a:txBody>
                </a:tc>
                <a:tc>
                  <a:txBody>
                    <a:bodyPr/>
                    <a:lstStyle/>
                    <a:p>
                      <a:pPr lvl="0" indent="0" marL="0">
                        <a:buNone/>
                      </a:pPr>
                      <a:r>
                        <a:rPr/>
                        <a:t>1.0000</a:t>
                      </a:r>
                    </a:p>
                  </a:txBody>
                </a:tc>
                <a:tc>
                  <a:txBody>
                    <a:bodyPr/>
                    <a:lstStyle/>
                    <a:p>
                      <a:pPr lvl="0" indent="0" marL="0">
                        <a:buNone/>
                      </a:pPr>
                      <a:r>
                        <a:rPr/>
                        <a:t>0.9588</a:t>
                      </a:r>
                    </a:p>
                  </a:txBody>
                </a:tc>
              </a:tr>
              <a:tr h="0">
                <a:tc>
                  <a:txBody>
                    <a:bodyPr/>
                    <a:lstStyle/>
                    <a:p>
                      <a:pPr lvl="0" indent="0" marL="0">
                        <a:buNone/>
                      </a:pPr>
                      <a:r>
                        <a:rPr/>
                        <a:t>mean</a:t>
                      </a:r>
                    </a:p>
                  </a:txBody>
                </a:tc>
                <a:tc>
                  <a:txBody>
                    <a:bodyPr/>
                    <a:lstStyle/>
                    <a:p>
                      <a:pPr lvl="0" indent="0" marL="0">
                        <a:buNone/>
                      </a:pPr>
                      <a:r>
                        <a:rPr/>
                        <a:t>0.9600</a:t>
                      </a:r>
                    </a:p>
                  </a:txBody>
                </a:tc>
                <a:tc>
                  <a:txBody>
                    <a:bodyPr/>
                    <a:lstStyle/>
                    <a:p>
                      <a:pPr lvl="0" indent="0" marL="0">
                        <a:buNone/>
                      </a:pPr>
                      <a:r>
                        <a:rPr/>
                        <a:t>0.9532</a:t>
                      </a:r>
                    </a:p>
                  </a:txBody>
                </a:tc>
              </a:tr>
              <a:tr h="0">
                <a:tc>
                  <a:txBody>
                    <a:bodyPr/>
                    <a:lstStyle/>
                    <a:p>
                      <a:pPr lvl="0" indent="0" marL="0">
                        <a:buNone/>
                      </a:pPr>
                      <a:r>
                        <a:rPr/>
                        <a:t>best − worst</a:t>
                      </a:r>
                    </a:p>
                  </a:txBody>
                </a:tc>
                <a:tc>
                  <a:txBody>
                    <a:bodyPr/>
                    <a:lstStyle/>
                    <a:p>
                      <a:pPr lvl="0" indent="0" marL="0">
                        <a:buNone/>
                      </a:pPr>
                      <a:r>
                        <a:rPr/>
                        <a:t>0.0881</a:t>
                      </a:r>
                    </a:p>
                  </a:txBody>
                </a:tc>
                <a:tc>
                  <a:txBody>
                    <a:bodyPr/>
                    <a:lstStyle/>
                    <a:p>
                      <a:pPr lvl="0" indent="0" marL="0">
                        <a:buNone/>
                      </a:pPr>
                      <a:r>
                        <a:rPr/>
                        <a:t>0.0149</a:t>
                      </a:r>
                    </a:p>
                  </a:txBody>
                </a:tc>
              </a:tr>
              <a:tr h="0">
                <a:tc>
                  <a:txBody>
                    <a:bodyPr/>
                    <a:lstStyle/>
                    <a:p>
                      <a:pPr lvl="0" indent="0" marL="0">
                        <a:buNone/>
                      </a:pPr>
                      <a:r>
                        <a:rPr/>
                        <a:t>standard deviation</a:t>
                      </a:r>
                    </a:p>
                  </a:txBody>
                </a:tc>
                <a:tc>
                  <a:txBody>
                    <a:bodyPr/>
                    <a:lstStyle/>
                    <a:p>
                      <a:pPr lvl="0" indent="0" marL="0">
                        <a:buNone/>
                      </a:pPr>
                      <a:r>
                        <a:rPr/>
                        <a:t>0.0221</a:t>
                      </a:r>
                    </a:p>
                  </a:txBody>
                </a:tc>
                <a:tc>
                  <a:txBody>
                    <a:bodyPr/>
                    <a:lstStyle/>
                    <a:p>
                      <a:pPr lvl="0" indent="0" marL="0">
                        <a:buNone/>
                      </a:pPr>
                      <a:r>
                        <a:rPr/>
                        <a:t>0.0032</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many folds? (optional)</a:t>
            </a:r>
          </a:p>
        </p:txBody>
      </p:sp>
      <p:sp>
        <p:nvSpPr>
          <p:cNvPr id="3" name="Content Placeholder 2"/>
          <p:cNvSpPr>
            <a:spLocks noGrp="1"/>
          </p:cNvSpPr>
          <p:nvPr>
            <p:ph idx="1"/>
          </p:nvPr>
        </p:nvSpPr>
        <p:spPr>
          <a:xfrm>
            <a:off x="457200" y="1200151"/>
            <a:ext cx="8229600" cy="3394472"/>
          </a:xfrm>
        </p:spPr>
        <p:txBody>
          <a:bodyPr/>
          <a:lstStyle/>
          <a:p>
            <a:pPr lvl="0"/>
            <a:r>
              <a:rPr b="1"/>
              <a:t>k = 5 or 10</a:t>
            </a:r>
            <a:r>
              <a:rPr/>
              <a:t> in practice</a:t>
            </a:r>
          </a:p>
          <a:p>
            <a:pPr lvl="0"/>
            <a:r>
              <a:rPr/>
              <a:t>Larger k: less pessimistic, more fits to run, fold scores more correlated</a:t>
            </a:r>
          </a:p>
          <a:p>
            <a:pPr lvl="0"/>
            <a:r>
              <a:rPr/>
              <a:t>k = m (m the number of rows) is </a:t>
            </a:r>
            <a:r>
              <a:rPr b="1"/>
              <a:t>leave-one-out</a:t>
            </a:r>
            <a:r>
              <a:rPr/>
              <a:t>: every row is a validation fold on its own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When the rows are not independent</a:t>
            </a:r>
          </a:p>
        </p:txBody>
      </p:sp>
      <p:sp>
        <p:nvSpPr>
          <p:cNvPr id="3" name="Content Placeholder 2"/>
          <p:cNvSpPr>
            <a:spLocks noGrp="1"/>
          </p:cNvSpPr>
          <p:nvPr>
            <p:ph idx="1"/>
          </p:nvPr>
        </p:nvSpPr>
        <p:spPr>
          <a:xfrm>
            <a:off x="457200" y="1200151"/>
            <a:ext cx="8229600" cy="3394472"/>
          </a:xfrm>
        </p:spPr>
        <p:txBody>
          <a:bodyPr/>
          <a:lstStyle/>
          <a:p>
            <a:pPr lvl="0"/>
            <a:r>
              <a:rPr/>
              <a:t>Suppose the table held ten readings per drive (lesson 4’s has one row per drive)</a:t>
            </a:r>
          </a:p>
          <a:p>
            <a:pPr lvl="0"/>
            <a:r>
              <a:rPr/>
              <a:t>A random split puts nine of a drive’s readings in training and one in test</a:t>
            </a:r>
          </a:p>
          <a:p>
            <a:pPr lvl="0"/>
            <a:r>
              <a:rPr/>
              <a:t>The model recognises the drive, not the failure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Split by the thing you must generalise to</a:t>
            </a:r>
          </a:p>
        </p:txBody>
      </p:sp>
      <p:sp>
        <p:nvSpPr>
          <p:cNvPr id="3" name="Content Placeholder 2"/>
          <p:cNvSpPr>
            <a:spLocks noGrp="1"/>
          </p:cNvSpPr>
          <p:nvPr>
            <p:ph idx="1"/>
          </p:nvPr>
        </p:nvSpPr>
        <p:spPr>
          <a:xfrm>
            <a:off x="457200" y="1200151"/>
            <a:ext cx="8229600" cy="3394472"/>
          </a:xfrm>
        </p:spPr>
        <p:txBody>
          <a:bodyPr/>
          <a:lstStyle/>
          <a:p>
            <a:pPr lvl="0"/>
            <a:r>
              <a:rPr/>
              <a:t>If one drive (or patient, or customer) has several rows: </a:t>
            </a:r>
            <a:r>
              <a:rPr b="1"/>
              <a:t>GroupKFold</a:t>
            </a:r>
            <a:r>
              <a:rPr/>
              <a:t> keeps all its rows in the same fold</a:t>
            </a:r>
          </a:p>
          <a:p>
            <a:pPr lvl="0"/>
            <a:r>
              <a:rPr/>
              <a:t>If the model must predict the future: </a:t>
            </a:r>
            <a:r>
              <a:rPr b="1"/>
              <a:t>TimeSeriesSplit</a:t>
            </a:r>
            <a:r>
              <a:rPr/>
              <a:t> trains on the past and validates on what comes after it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two honest experiments, 5-6</a:t>
                      </a:r>
                    </a:p>
                  </a:txBody>
                </a:tc>
                <a:tc>
                  <a:txBody>
                    <a:bodyPr/>
                    <a:lstStyle/>
                    <a:p>
                      <a:pPr lvl="0" indent="0" marL="0">
                        <a:buNone/>
                      </a:pPr>
                      <a:r>
                        <a:rPr>
                          <a:latin typeface="Courier"/>
                        </a:rPr>
                        <a:t>train_test_split(..., random_state=seed)</a:t>
                      </a:r>
                      <a:r>
                        <a:rPr/>
                        <a:t>, </a:t>
                      </a:r>
                      <a:r>
                        <a:rPr>
                          <a:latin typeface="Courier"/>
                        </a:rPr>
                        <a:t>make_pipeline(StandardScaler(), LogisticRegression())</a:t>
                      </a:r>
                      <a:r>
                        <a:rPr/>
                        <a:t>, </a:t>
                      </a:r>
                      <a:r>
                        <a:rPr>
                          <a:latin typeface="Courier"/>
                        </a:rPr>
                        <a:t>roc_auc_score</a:t>
                      </a:r>
                      <a:r>
                        <a:rPr/>
                        <a:t> → seed 3 gives 1.000</a:t>
                      </a:r>
                    </a:p>
                  </a:txBody>
                </a:tc>
              </a:tr>
              <a:tr h="0">
                <a:tc>
                  <a:txBody>
                    <a:bodyPr/>
                    <a:lstStyle/>
                    <a:p>
                      <a:pPr lvl="0" indent="0" marL="0">
                        <a:buNone/>
                      </a:pPr>
                      <a:r>
                        <a:rPr/>
                        <a:t>how wide, 7-8</a:t>
                      </a:r>
                    </a:p>
                  </a:txBody>
                </a:tc>
                <a:tc>
                  <a:txBody>
                    <a:bodyPr/>
                    <a:lstStyle/>
                    <a:p>
                      <a:pPr lvl="0" indent="0" marL="0">
                        <a:buNone/>
                      </a:pPr>
                      <a:r>
                        <a:rPr/>
                        <a:t>the same, 200 times → 0.885 to 1.000</a:t>
                      </a:r>
                    </a:p>
                  </a:txBody>
                </a:tc>
              </a:tr>
              <a:tr h="0">
                <a:tc>
                  <a:txBody>
                    <a:bodyPr/>
                    <a:lstStyle/>
                    <a:p>
                      <a:pPr lvl="0" indent="0" marL="0">
                        <a:buNone/>
                      </a:pPr>
                      <a:r>
                        <a:rPr/>
                        <a:t>choosing on one split, 9-11</a:t>
                      </a:r>
                    </a:p>
                  </a:txBody>
                </a:tc>
                <a:tc>
                  <a:txBody>
                    <a:bodyPr/>
                    <a:lstStyle/>
                    <a:p>
                      <a:pPr lvl="0" indent="0" marL="0">
                        <a:buNone/>
                      </a:pPr>
                      <a:r>
                        <a:rPr/>
                        <a:t>three values of C, a winner per split → 91, 71 and 38 wins</a:t>
                      </a:r>
                    </a:p>
                  </a:txBody>
                </a:tc>
              </a:tr>
              <a:tr h="0">
                <a:tc>
                  <a:txBody>
                    <a:bodyPr/>
                    <a:lstStyle/>
                    <a:p>
                      <a:pPr lvl="0" indent="0" marL="0">
                        <a:buNone/>
                      </a:pPr>
                      <a:r>
                        <a:rPr/>
                        <a:t>k-fold by hand, 12-14</a:t>
                      </a:r>
                    </a:p>
                  </a:txBody>
                </a:tc>
                <a:tc>
                  <a:txBody>
                    <a:bodyPr/>
                    <a:lstStyle/>
                    <a:p>
                      <a:pPr lvl="0" indent="0" marL="0">
                        <a:buNone/>
                      </a:pPr>
                      <a:r>
                        <a:rPr>
                          <a:latin typeface="Courier"/>
                        </a:rPr>
                        <a:t>StratifiedKFold</a:t>
                      </a:r>
                      <a:r>
                        <a:rPr/>
                        <a:t>, then </a:t>
                      </a:r>
                      <a:r>
                        <a:rPr>
                          <a:latin typeface="Courier"/>
                        </a:rPr>
                        <a:t>cross_val_score</a:t>
                      </a:r>
                      <a:r>
                        <a:rPr/>
                        <a:t> → mean 0.9514, standard deviation 0.0187, by hand and by scikit-learn alike</a:t>
                      </a:r>
                    </a:p>
                  </a:txBody>
                </a:tc>
              </a:tr>
              <a:tr h="0">
                <a:tc>
                  <a:txBody>
                    <a:bodyPr/>
                    <a:lstStyle/>
                    <a:p>
                      <a:pPr lvl="0" indent="0" marL="0">
                        <a:buNone/>
                      </a:pPr>
                      <a:r>
                        <a:rPr/>
                        <a:t>stratify, 15-16</a:t>
                      </a:r>
                    </a:p>
                  </a:txBody>
                </a:tc>
                <a:tc>
                  <a:txBody>
                    <a:bodyPr/>
                    <a:lstStyle/>
                    <a:p>
                      <a:pPr lvl="0" indent="0" marL="0">
                        <a:buNone/>
                      </a:pPr>
                      <a:r>
                        <a:rPr>
                          <a:latin typeface="Courier"/>
                        </a:rPr>
                        <a:t>KFold</a:t>
                      </a:r>
                      <a:r>
                        <a:rPr/>
                        <a:t> against </a:t>
                      </a:r>
                      <a:r>
                        <a:rPr>
                          <a:latin typeface="Courier"/>
                        </a:rPr>
                        <a:t>StratifiedKFold</a:t>
                      </a:r>
                      <a:r>
                        <a:rPr/>
                        <a:t> → a fold with 1 failure; best − worst 0.0881 against 0.0149</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Ten minutes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does the error come from?</a:t>
            </a:r>
          </a:p>
        </p:txBody>
      </p:sp>
      <p:sp>
        <p:nvSpPr>
          <p:cNvPr id="3" name="Content Placeholder 2"/>
          <p:cNvSpPr>
            <a:spLocks noGrp="1"/>
          </p:cNvSpPr>
          <p:nvPr>
            <p:ph idx="1"/>
          </p:nvPr>
        </p:nvSpPr>
        <p:spPr>
          <a:xfrm>
            <a:off x="457200" y="1200151"/>
            <a:ext cx="8229600" cy="3394472"/>
          </a:xfrm>
        </p:spPr>
        <p:txBody>
          <a:bodyPr/>
          <a:lstStyle/>
          <a:p>
            <a:pPr lvl="0"/>
            <a:r>
              <a:rPr b="1"/>
              <a:t>Bias²</a:t>
            </a:r>
            <a:r>
              <a:rPr/>
              <a:t>: (average prediction − truth)²: the average model is wrong</a:t>
            </a:r>
          </a:p>
          <a:p>
            <a:pPr lvl="0"/>
            <a:r>
              <a:rPr b="1"/>
              <a:t>Variance</a:t>
            </a:r>
            <a:r>
              <a:rPr/>
              <a:t>: the spread of the models around their average</a:t>
            </a:r>
          </a:p>
          <a:p>
            <a:pPr lvl="0"/>
            <a:r>
              <a:rPr b="1"/>
              <a:t>Noise</a:t>
            </a:r>
            <a:r>
              <a:rPr/>
              <a:t> σ²: the target itself is uncertain</a:t>
            </a:r>
          </a:p>
          <a:p>
            <a:pPr lvl="0"/>
            <a:r>
              <a:rPr/>
              <a:t>Lesson 3’s energy curve, 300 training sets of 25 days, each fitted with </a:t>
            </a:r>
            <a:r>
              <a:rPr>
                <a:latin typeface="Courier"/>
              </a:rPr>
              <a:t>make_pipeline(PolynomialFeatures(degree), LinearRegression())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hundred parallel universes</a:t>
            </a:r>
          </a:p>
        </p:txBody>
      </p:sp>
      <p:pic>
        <p:nvPicPr>
          <p:cNvPr descr="many_universes.png" id="0" name="Picture 1"/>
          <p:cNvPicPr>
            <a:picLocks noGrp="1" noChangeAspect="1"/>
          </p:cNvPicPr>
          <p:nvPr/>
        </p:nvPicPr>
        <p:blipFill>
          <a:blip r:embed="rId3"/>
          <a:stretch>
            <a:fillRect/>
          </a:stretch>
        </p:blipFill>
        <p:spPr bwMode="auto">
          <a:xfrm>
            <a:off x="457200" y="1544439"/>
            <a:ext cx="8229600" cy="26035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decomposition</a:t>
            </a:r>
          </a:p>
        </p:txBody>
      </p:sp>
      <p:pic>
        <p:nvPicPr>
          <p:cNvPr descr="eq_f58cfeb855.png" id="0" name="Picture 1"/>
          <p:cNvPicPr>
            <a:picLocks noGrp="1" noChangeAspect="1"/>
          </p:cNvPicPr>
          <p:nvPr/>
        </p:nvPicPr>
        <p:blipFill>
          <a:blip r:embed="rId3"/>
          <a:stretch>
            <a:fillRect/>
          </a:stretch>
        </p:blipFill>
        <p:spPr bwMode="auto">
          <a:xfrm>
            <a:off x="457200" y="2471539"/>
            <a:ext cx="8229599" cy="7493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Measured, on 25 observations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0">
                <a:tc>
                  <a:txBody>
                    <a:bodyPr/>
                    <a:lstStyle/>
                    <a:p>
                      <a:pPr lvl="0" indent="0" marL="0">
                        <a:buNone/>
                      </a:pPr>
                      <a:r>
                        <a:rPr/>
                        <a:t>Degree</a:t>
                      </a:r>
                    </a:p>
                  </a:txBody>
                  <a:tcPr/>
                </a:tc>
                <a:tc>
                  <a:txBody>
                    <a:bodyPr/>
                    <a:lstStyle/>
                    <a:p>
                      <a:pPr lvl="0" indent="0" marL="0">
                        <a:buNone/>
                      </a:pPr>
                      <a:r>
                        <a:rPr/>
                        <a:t>bias²</a:t>
                      </a:r>
                    </a:p>
                  </a:txBody>
                  <a:tcPr/>
                </a:tc>
                <a:tc>
                  <a:txBody>
                    <a:bodyPr/>
                    <a:lstStyle/>
                    <a:p>
                      <a:pPr lvl="0" indent="0" marL="0">
                        <a:buNone/>
                      </a:pPr>
                      <a:r>
                        <a:rPr/>
                        <a:t>Variance</a:t>
                      </a:r>
                    </a:p>
                  </a:txBody>
                  <a:tcPr/>
                </a:tc>
                <a:tc>
                  <a:txBody>
                    <a:bodyPr/>
                    <a:lstStyle/>
                    <a:p>
                      <a:pPr lvl="0" indent="0" marL="0">
                        <a:buNone/>
                      </a:pPr>
                      <a:r>
                        <a:rPr/>
                        <a:t>Noise</a:t>
                      </a:r>
                    </a:p>
                  </a:txBody>
                  <a:tcPr/>
                </a:tc>
                <a:tc>
                  <a:txBody>
                    <a:bodyPr/>
                    <a:lstStyle/>
                    <a:p>
                      <a:pPr lvl="0" indent="0" marL="0">
                        <a:buNone/>
                      </a:pPr>
                      <a:r>
                        <a:rPr/>
                        <a:t>Total</a:t>
                      </a:r>
                    </a:p>
                  </a:txBody>
                  <a:tcPr/>
                </a:tc>
              </a:tr>
              <a:tr h="0">
                <a:tc>
                  <a:txBody>
                    <a:bodyPr/>
                    <a:lstStyle/>
                    <a:p>
                      <a:pPr lvl="0" indent="0" marL="0">
                        <a:buNone/>
                      </a:pPr>
                      <a:r>
                        <a:rPr/>
                        <a:t>1</a:t>
                      </a:r>
                    </a:p>
                  </a:txBody>
                </a:tc>
                <a:tc>
                  <a:txBody>
                    <a:bodyPr/>
                    <a:lstStyle/>
                    <a:p>
                      <a:pPr lvl="0" indent="0" marL="0">
                        <a:buNone/>
                      </a:pPr>
                      <a:r>
                        <a:rPr/>
                        <a:t>5,250.8</a:t>
                      </a:r>
                    </a:p>
                  </a:txBody>
                </a:tc>
                <a:tc>
                  <a:txBody>
                    <a:bodyPr/>
                    <a:lstStyle/>
                    <a:p>
                      <a:pPr lvl="0" indent="0" marL="0">
                        <a:buNone/>
                      </a:pPr>
                      <a:r>
                        <a:rPr/>
                        <a:t>723.8</a:t>
                      </a:r>
                    </a:p>
                  </a:txBody>
                </a:tc>
                <a:tc>
                  <a:txBody>
                    <a:bodyPr/>
                    <a:lstStyle/>
                    <a:p>
                      <a:pPr lvl="0" indent="0" marL="0">
                        <a:buNone/>
                      </a:pPr>
                      <a:r>
                        <a:rPr/>
                        <a:t>484.0</a:t>
                      </a:r>
                    </a:p>
                  </a:txBody>
                </a:tc>
                <a:tc>
                  <a:txBody>
                    <a:bodyPr/>
                    <a:lstStyle/>
                    <a:p>
                      <a:pPr lvl="0" indent="0" marL="0">
                        <a:buNone/>
                      </a:pPr>
                      <a:r>
                        <a:rPr/>
                        <a:t>6,458.6</a:t>
                      </a:r>
                    </a:p>
                  </a:txBody>
                </a:tc>
              </a:tr>
              <a:tr h="0">
                <a:tc>
                  <a:txBody>
                    <a:bodyPr/>
                    <a:lstStyle/>
                    <a:p>
                      <a:pPr lvl="0" indent="0" marL="0">
                        <a:buNone/>
                      </a:pPr>
                      <a:r>
                        <a:rPr/>
                        <a:t>2</a:t>
                      </a:r>
                    </a:p>
                  </a:txBody>
                </a:tc>
                <a:tc>
                  <a:txBody>
                    <a:bodyPr/>
                    <a:lstStyle/>
                    <a:p>
                      <a:pPr lvl="0" indent="0" marL="0">
                        <a:buNone/>
                      </a:pPr>
                      <a:r>
                        <a:rPr/>
                        <a:t>59.6</a:t>
                      </a:r>
                    </a:p>
                  </a:txBody>
                </a:tc>
                <a:tc>
                  <a:txBody>
                    <a:bodyPr/>
                    <a:lstStyle/>
                    <a:p>
                      <a:pPr lvl="0" indent="0" marL="0">
                        <a:buNone/>
                      </a:pPr>
                      <a:r>
                        <a:rPr/>
                        <a:t>70.8</a:t>
                      </a:r>
                    </a:p>
                  </a:txBody>
                </a:tc>
                <a:tc>
                  <a:txBody>
                    <a:bodyPr/>
                    <a:lstStyle/>
                    <a:p>
                      <a:pPr lvl="0" indent="0" marL="0">
                        <a:buNone/>
                      </a:pPr>
                      <a:r>
                        <a:rPr/>
                        <a:t>484.0</a:t>
                      </a:r>
                    </a:p>
                  </a:txBody>
                </a:tc>
                <a:tc>
                  <a:txBody>
                    <a:bodyPr/>
                    <a:lstStyle/>
                    <a:p>
                      <a:pPr lvl="0" indent="0" marL="0">
                        <a:buNone/>
                      </a:pPr>
                      <a:r>
                        <a:rPr b="1"/>
                        <a:t>614.3</a:t>
                      </a:r>
                    </a:p>
                  </a:txBody>
                </a:tc>
              </a:tr>
              <a:tr h="0">
                <a:tc>
                  <a:txBody>
                    <a:bodyPr/>
                    <a:lstStyle/>
                    <a:p>
                      <a:pPr lvl="0" indent="0" marL="0">
                        <a:buNone/>
                      </a:pPr>
                      <a:r>
                        <a:rPr/>
                        <a:t>5</a:t>
                      </a:r>
                    </a:p>
                  </a:txBody>
                </a:tc>
                <a:tc>
                  <a:txBody>
                    <a:bodyPr/>
                    <a:lstStyle/>
                    <a:p>
                      <a:pPr lvl="0" indent="0" marL="0">
                        <a:buNone/>
                      </a:pPr>
                      <a:r>
                        <a:rPr/>
                        <a:t>8.9</a:t>
                      </a:r>
                    </a:p>
                  </a:txBody>
                </a:tc>
                <a:tc>
                  <a:txBody>
                    <a:bodyPr/>
                    <a:lstStyle/>
                    <a:p>
                      <a:pPr lvl="0" indent="0" marL="0">
                        <a:buNone/>
                      </a:pPr>
                      <a:r>
                        <a:rPr/>
                        <a:t>368.9</a:t>
                      </a:r>
                    </a:p>
                  </a:txBody>
                </a:tc>
                <a:tc>
                  <a:txBody>
                    <a:bodyPr/>
                    <a:lstStyle/>
                    <a:p>
                      <a:pPr lvl="0" indent="0" marL="0">
                        <a:buNone/>
                      </a:pPr>
                      <a:r>
                        <a:rPr/>
                        <a:t>484.0</a:t>
                      </a:r>
                    </a:p>
                  </a:txBody>
                </a:tc>
                <a:tc>
                  <a:txBody>
                    <a:bodyPr/>
                    <a:lstStyle/>
                    <a:p>
                      <a:pPr lvl="0" indent="0" marL="0">
                        <a:buNone/>
                      </a:pPr>
                      <a:r>
                        <a:rPr/>
                        <a:t>861.8</a:t>
                      </a:r>
                    </a:p>
                  </a:txBody>
                </a:tc>
              </a:tr>
              <a:tr h="0">
                <a:tc>
                  <a:txBody>
                    <a:bodyPr/>
                    <a:lstStyle/>
                    <a:p>
                      <a:pPr lvl="0" indent="0" marL="0">
                        <a:buNone/>
                      </a:pPr>
                      <a:r>
                        <a:rPr/>
                        <a:t>12</a:t>
                      </a:r>
                    </a:p>
                  </a:txBody>
                </a:tc>
                <a:tc>
                  <a:txBody>
                    <a:bodyPr/>
                    <a:lstStyle/>
                    <a:p>
                      <a:pPr lvl="0" indent="0" marL="0">
                        <a:buNone/>
                      </a:pPr>
                      <a:r>
                        <a:rPr/>
                        <a:t>153,537.3</a:t>
                      </a:r>
                    </a:p>
                  </a:txBody>
                </a:tc>
                <a:tc>
                  <a:txBody>
                    <a:bodyPr/>
                    <a:lstStyle/>
                    <a:p>
                      <a:pPr lvl="0" indent="0" marL="0">
                        <a:buNone/>
                      </a:pPr>
                      <a:r>
                        <a:rPr/>
                        <a:t>32,174,344.9</a:t>
                      </a:r>
                    </a:p>
                  </a:txBody>
                </a:tc>
                <a:tc>
                  <a:txBody>
                    <a:bodyPr/>
                    <a:lstStyle/>
                    <a:p>
                      <a:pPr lvl="0" indent="0" marL="0">
                        <a:buNone/>
                      </a:pPr>
                      <a:r>
                        <a:rPr/>
                        <a:t>484.0</a:t>
                      </a:r>
                    </a:p>
                  </a:txBody>
                </a:tc>
                <a:tc>
                  <a:txBody>
                    <a:bodyPr/>
                    <a:lstStyle/>
                    <a:p>
                      <a:pPr lvl="0" indent="0" marL="0">
                        <a:buNone/>
                      </a:pPr>
                      <a:r>
                        <a:rPr/>
                        <a:t>32,328,366.2</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picture everyone has seen, now measured</a:t>
            </a:r>
          </a:p>
        </p:txBody>
      </p:sp>
      <p:pic>
        <p:nvPicPr>
          <p:cNvPr descr="bias_variance_tradeoff.png" id="0" name="Picture 1"/>
          <p:cNvPicPr>
            <a:picLocks noGrp="1" noChangeAspect="1"/>
          </p:cNvPicPr>
          <p:nvPr/>
        </p:nvPicPr>
        <p:blipFill>
          <a:blip r:embed="rId3"/>
          <a:stretch>
            <a:fillRect/>
          </a:stretch>
        </p:blipFill>
        <p:spPr bwMode="auto">
          <a:xfrm>
            <a:off x="1620830" y="1166099"/>
            <a:ext cx="5902340" cy="3360181"/>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floor you cannot go below (optional)</a:t>
            </a:r>
          </a:p>
        </p:txBody>
      </p:sp>
      <p:sp>
        <p:nvSpPr>
          <p:cNvPr id="3" name="Content Placeholder 2"/>
          <p:cNvSpPr>
            <a:spLocks noGrp="1"/>
          </p:cNvSpPr>
          <p:nvPr>
            <p:ph idx="1"/>
          </p:nvPr>
        </p:nvSpPr>
        <p:spPr>
          <a:xfrm>
            <a:off x="457200" y="1200151"/>
            <a:ext cx="8229600" cy="3394472"/>
          </a:xfrm>
        </p:spPr>
        <p:txBody>
          <a:bodyPr/>
          <a:lstStyle/>
          <a:p>
            <a:pPr lvl="0"/>
            <a:r>
              <a:rPr/>
              <a:t>Noise variance is </a:t>
            </a:r>
            <a:r>
              <a:rPr b="1"/>
              <a:t>484</a:t>
            </a:r>
            <a:r>
              <a:rPr/>
              <a:t> = 22², the noise put into the data, at every complexity</a:t>
            </a:r>
          </a:p>
          <a:p>
            <a:pPr lvl="0"/>
            <a:r>
              <a:rPr/>
              <a:t>A reported error well below a known floor means </a:t>
            </a:r>
            <a:r>
              <a:rPr b="1"/>
              <a:t>contamination</a:t>
            </a:r>
            <a:r>
              <a:rPr/>
              <a:t>, not excellence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best model depends on how much data you have (optional)</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Degree</a:t>
                      </a:r>
                    </a:p>
                  </a:txBody>
                  <a:tcPr/>
                </a:tc>
                <a:tc>
                  <a:txBody>
                    <a:bodyPr/>
                    <a:lstStyle/>
                    <a:p>
                      <a:pPr lvl="0" indent="0" marL="0">
                        <a:buNone/>
                      </a:pPr>
                      <a:r>
                        <a:rPr/>
                        <a:t>m = 25</a:t>
                      </a:r>
                    </a:p>
                  </a:txBody>
                  <a:tcPr/>
                </a:tc>
                <a:tc>
                  <a:txBody>
                    <a:bodyPr/>
                    <a:lstStyle/>
                    <a:p>
                      <a:pPr lvl="0" indent="0" marL="0">
                        <a:buNone/>
                      </a:pPr>
                      <a:r>
                        <a:rPr/>
                        <a:t>m = 60</a:t>
                      </a:r>
                    </a:p>
                  </a:txBody>
                  <a:tcPr/>
                </a:tc>
                <a:tc>
                  <a:txBody>
                    <a:bodyPr/>
                    <a:lstStyle/>
                    <a:p>
                      <a:pPr lvl="0" indent="0" marL="0">
                        <a:buNone/>
                      </a:pPr>
                      <a:r>
                        <a:rPr/>
                        <a:t>m = 150</a:t>
                      </a:r>
                    </a:p>
                  </a:txBody>
                  <a:tcPr/>
                </a:tc>
              </a:tr>
              <a:tr h="0">
                <a:tc>
                  <a:txBody>
                    <a:bodyPr/>
                    <a:lstStyle/>
                    <a:p>
                      <a:pPr lvl="0" indent="0" marL="0">
                        <a:buNone/>
                      </a:pPr>
                      <a:r>
                        <a:rPr/>
                        <a:t>2</a:t>
                      </a:r>
                    </a:p>
                  </a:txBody>
                </a:tc>
                <a:tc>
                  <a:txBody>
                    <a:bodyPr/>
                    <a:lstStyle/>
                    <a:p>
                      <a:pPr lvl="0" indent="0" marL="0">
                        <a:buNone/>
                      </a:pPr>
                      <a:r>
                        <a:rPr b="1"/>
                        <a:t>614.3</a:t>
                      </a:r>
                    </a:p>
                  </a:txBody>
                </a:tc>
                <a:tc>
                  <a:txBody>
                    <a:bodyPr/>
                    <a:lstStyle/>
                    <a:p>
                      <a:pPr lvl="0" indent="0" marL="0">
                        <a:buNone/>
                      </a:pPr>
                      <a:r>
                        <a:rPr/>
                        <a:t>570.6</a:t>
                      </a:r>
                    </a:p>
                  </a:txBody>
                </a:tc>
                <a:tc>
                  <a:txBody>
                    <a:bodyPr/>
                    <a:lstStyle/>
                    <a:p>
                      <a:pPr lvl="0" indent="0" marL="0">
                        <a:buNone/>
                      </a:pPr>
                      <a:r>
                        <a:rPr/>
                        <a:t>555.3</a:t>
                      </a:r>
                    </a:p>
                  </a:txBody>
                </a:tc>
              </a:tr>
              <a:tr h="0">
                <a:tc>
                  <a:txBody>
                    <a:bodyPr/>
                    <a:lstStyle/>
                    <a:p>
                      <a:pPr lvl="0" indent="0" marL="0">
                        <a:buNone/>
                      </a:pPr>
                      <a:r>
                        <a:rPr/>
                        <a:t>5</a:t>
                      </a:r>
                    </a:p>
                  </a:txBody>
                </a:tc>
                <a:tc>
                  <a:txBody>
                    <a:bodyPr/>
                    <a:lstStyle/>
                    <a:p>
                      <a:pPr lvl="0" indent="0" marL="0">
                        <a:buNone/>
                      </a:pPr>
                      <a:r>
                        <a:rPr/>
                        <a:t>861.8</a:t>
                      </a:r>
                    </a:p>
                  </a:txBody>
                </a:tc>
                <a:tc>
                  <a:txBody>
                    <a:bodyPr/>
                    <a:lstStyle/>
                    <a:p>
                      <a:pPr lvl="0" indent="0" marL="0">
                        <a:buNone/>
                      </a:pPr>
                      <a:r>
                        <a:rPr b="1"/>
                        <a:t>540.9</a:t>
                      </a:r>
                    </a:p>
                  </a:txBody>
                </a:tc>
                <a:tc>
                  <a:txBody>
                    <a:bodyPr/>
                    <a:lstStyle/>
                    <a:p>
                      <a:pPr lvl="0" indent="0" marL="0">
                        <a:buNone/>
                      </a:pPr>
                      <a:r>
                        <a:rPr b="1"/>
                        <a:t>506.9</a:t>
                      </a:r>
                    </a:p>
                  </a:txBody>
                </a:tc>
              </a:tr>
              <a:tr h="0">
                <a:tc>
                  <a:txBody>
                    <a:bodyPr/>
                    <a:lstStyle/>
                    <a:p>
                      <a:pPr lvl="0" indent="0" marL="0">
                        <a:buNone/>
                      </a:pPr>
                      <a:r>
                        <a:rPr/>
                        <a:t>12</a:t>
                      </a:r>
                    </a:p>
                  </a:txBody>
                </a:tc>
                <a:tc>
                  <a:txBody>
                    <a:bodyPr/>
                    <a:lstStyle/>
                    <a:p>
                      <a:pPr lvl="0" indent="0" marL="0">
                        <a:buNone/>
                      </a:pPr>
                      <a:r>
                        <a:rPr/>
                        <a:t>32,328,366.2</a:t>
                      </a:r>
                    </a:p>
                  </a:txBody>
                </a:tc>
                <a:tc>
                  <a:txBody>
                    <a:bodyPr/>
                    <a:lstStyle/>
                    <a:p>
                      <a:pPr lvl="0" indent="0" marL="0">
                        <a:buNone/>
                      </a:pPr>
                      <a:r>
                        <a:rPr/>
                        <a:t>7,626.9</a:t>
                      </a:r>
                    </a:p>
                  </a:txBody>
                </a:tc>
                <a:tc>
                  <a:txBody>
                    <a:bodyPr/>
                    <a:lstStyle/>
                    <a:p>
                      <a:pPr lvl="0" indent="0" marL="0">
                        <a:buNone/>
                      </a:pPr>
                      <a:r>
                        <a:rPr/>
                        <a:t>899.0</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Learning curves: the same diagnosis, without knowing the truth</a:t>
            </a:r>
          </a:p>
        </p:txBody>
      </p:sp>
      <p:pic>
        <p:nvPicPr>
          <p:cNvPr descr="learning_curves.png" id="0" name="Picture 1"/>
          <p:cNvPicPr>
            <a:picLocks noGrp="1" noChangeAspect="1"/>
          </p:cNvPicPr>
          <p:nvPr/>
        </p:nvPicPr>
        <p:blipFill>
          <a:blip r:embed="rId3"/>
          <a:stretch>
            <a:fillRect/>
          </a:stretch>
        </p:blipFill>
        <p:spPr bwMode="auto">
          <a:xfrm>
            <a:off x="457200" y="1322189"/>
            <a:ext cx="8229600" cy="30480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Which fix to buy</a:t>
            </a:r>
          </a:p>
        </p:txBody>
      </p:sp>
      <p:sp>
        <p:nvSpPr>
          <p:cNvPr id="3" name="Content Placeholder 2"/>
          <p:cNvSpPr>
            <a:spLocks noGrp="1"/>
          </p:cNvSpPr>
          <p:nvPr>
            <p:ph idx="1"/>
          </p:nvPr>
        </p:nvSpPr>
        <p:spPr>
          <a:xfrm>
            <a:off x="457200" y="1200151"/>
            <a:ext cx="8229600" cy="3394472"/>
          </a:xfrm>
        </p:spPr>
        <p:txBody>
          <a:bodyPr/>
          <a:lstStyle/>
          <a:p>
            <a:pPr lvl="0"/>
            <a:r>
              <a:rPr/>
              <a:t>A learning curve: training and cross-validated score against training-set size, </a:t>
            </a:r>
            <a:r>
              <a:rPr>
                <a:latin typeface="Courier"/>
              </a:rPr>
              <a:t>learning_curve(model, X, y, cv=folds, scoring="roc_auc")</a:t>
            </a:r>
          </a:p>
          <a:p>
            <a:pPr lvl="0"/>
            <a:r>
              <a:rPr/>
              <a:t>Curves </a:t>
            </a:r>
            <a:r>
              <a:rPr b="1"/>
              <a:t>meet low</a:t>
            </a:r>
            <a:r>
              <a:rPr/>
              <a:t> → bias. More data will </a:t>
            </a:r>
            <a:r>
              <a:rPr b="1"/>
              <a:t>not</a:t>
            </a:r>
            <a:r>
              <a:rPr/>
              <a:t> help</a:t>
            </a:r>
          </a:p>
          <a:p>
            <a:pPr lvl="0"/>
            <a:r>
              <a:rPr/>
              <a:t>Wide gap, validation </a:t>
            </a:r>
            <a:r>
              <a:rPr b="1"/>
              <a:t>still rising</a:t>
            </a:r>
            <a:r>
              <a:rPr/>
              <a:t> → more data </a:t>
            </a:r>
            <a:r>
              <a:rPr b="1"/>
              <a:t>will</a:t>
            </a:r>
          </a:p>
          <a:p>
            <a:pPr lvl="0"/>
            <a:r>
              <a:rPr/>
              <a:t>Wide gap, validation </a:t>
            </a:r>
            <a:r>
              <a:rPr b="1"/>
              <a:t>flat</a:t>
            </a:r>
            <a:r>
              <a:rPr/>
              <a:t> → regularise, drop features. </a:t>
            </a:r>
            <a:r>
              <a:rPr b="1"/>
              <a:t>Ours is this one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self-study (optional)</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300 parallel universes, 22-23</a:t>
                      </a:r>
                    </a:p>
                  </a:txBody>
                </a:tc>
                <a:tc>
                  <a:txBody>
                    <a:bodyPr/>
                    <a:lstStyle/>
                    <a:p>
                      <a:pPr lvl="0" indent="0" marL="0">
                        <a:buNone/>
                      </a:pPr>
                      <a:r>
                        <a:rPr>
                          <a:latin typeface="Courier"/>
                        </a:rPr>
                        <a:t>PolynomialFeatures</a:t>
                      </a:r>
                      <a:r>
                        <a:rPr/>
                        <a:t> then </a:t>
                      </a:r>
                      <a:r>
                        <a:rPr>
                          <a:latin typeface="Courier"/>
                        </a:rPr>
                        <a:t>LinearRegression</a:t>
                      </a:r>
                      <a:r>
                        <a:rPr/>
                        <a:t>, in </a:t>
                      </a:r>
                      <a:r>
                        <a:rPr>
                          <a:latin typeface="Courier"/>
                        </a:rPr>
                        <a:t>make_pipeline</a:t>
                      </a:r>
                      <a:r>
                        <a:rPr/>
                        <a:t>, fitted 300 times</a:t>
                      </a:r>
                    </a:p>
                  </a:txBody>
                </a:tc>
              </a:tr>
              <a:tr h="0">
                <a:tc>
                  <a:txBody>
                    <a:bodyPr/>
                    <a:lstStyle/>
                    <a:p>
                      <a:pPr lvl="0" indent="0" marL="0">
                        <a:buNone/>
                      </a:pPr>
                      <a:r>
                        <a:rPr/>
                        <a:t>the three parts measured, 24-27</a:t>
                      </a:r>
                    </a:p>
                  </a:txBody>
                </a:tc>
                <a:tc>
                  <a:txBody>
                    <a:bodyPr/>
                    <a:lstStyle/>
                    <a:p>
                      <a:pPr lvl="0" indent="0" marL="0">
                        <a:buNone/>
                      </a:pPr>
                      <a:r>
                        <a:rPr/>
                        <a:t>NumPy on the 300 predictions → sum and measured error agree to 2.73e-12</a:t>
                      </a:r>
                    </a:p>
                  </a:txBody>
                </a:tc>
              </a:tr>
              <a:tr h="0">
                <a:tc>
                  <a:txBody>
                    <a:bodyPr/>
                    <a:lstStyle/>
                    <a:p>
                      <a:pPr lvl="0" indent="0" marL="0">
                        <a:buNone/>
                      </a:pPr>
                      <a:r>
                        <a:rPr/>
                        <a:t>more data moves the answer, 28</a:t>
                      </a:r>
                    </a:p>
                  </a:txBody>
                </a:tc>
                <a:tc>
                  <a:txBody>
                    <a:bodyPr/>
                    <a:lstStyle/>
                    <a:p>
                      <a:pPr lvl="0" indent="0" marL="0">
                        <a:buNone/>
                      </a:pPr>
                      <a:r>
                        <a:rPr/>
                        <a:t>the same at 25, 60 and 150 days → best degree 2, then 5</a:t>
                      </a:r>
                    </a:p>
                  </a:txBody>
                </a:tc>
              </a:tr>
              <a:tr h="0">
                <a:tc>
                  <a:txBody>
                    <a:bodyPr/>
                    <a:lstStyle/>
                    <a:p>
                      <a:pPr lvl="0" indent="0" marL="0">
                        <a:buNone/>
                      </a:pPr>
                      <a:r>
                        <a:rPr/>
                        <a:t>learning curves, 29-30</a:t>
                      </a:r>
                    </a:p>
                  </a:txBody>
                </a:tc>
                <a:tc>
                  <a:txBody>
                    <a:bodyPr/>
                    <a:lstStyle/>
                    <a:p>
                      <a:pPr lvl="0" indent="0" marL="0">
                        <a:buNone/>
                      </a:pPr>
                      <a:r>
                        <a:rPr>
                          <a:latin typeface="Courier"/>
                        </a:rPr>
                        <a:t>learning_curve</a:t>
                      </a:r>
                      <a:r>
                        <a:rPr/>
                        <a:t> with </a:t>
                      </a:r>
                      <a:r>
                        <a:rPr>
                          <a:latin typeface="Courier"/>
                        </a:rPr>
                        <a:t>StratifiedKFold</a:t>
                      </a:r>
                      <a:r>
                        <a:rPr/>
                        <a:t> → 0.715 against 0.718; 1.000 against 0.847</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Now: what cross-validation does not protect you from</a:t>
            </a:r>
          </a:p>
        </p:txBody>
      </p:sp>
      <p:sp>
        <p:nvSpPr>
          <p:cNvPr id="3" name="Content Placeholder 2"/>
          <p:cNvSpPr>
            <a:spLocks noGrp="1"/>
          </p:cNvSpPr>
          <p:nvPr>
            <p:ph idx="1"/>
          </p:nvPr>
        </p:nvSpPr>
        <p:spPr>
          <a:xfrm>
            <a:off x="457200" y="1200151"/>
            <a:ext cx="8229600" cy="3394472"/>
          </a:xfrm>
        </p:spPr>
        <p:txBody>
          <a:bodyPr/>
          <a:lstStyle/>
          <a:p>
            <a:pPr lvl="0"/>
            <a:r>
              <a:rPr/>
              <a:t>2,000 columns of </a:t>
            </a:r>
            <a:r>
              <a:rPr b="1"/>
              <a:t>pure random noise</a:t>
            </a:r>
            <a:r>
              <a:rPr/>
              <a:t>, 800 rows, 29 positives</a:t>
            </a:r>
          </a:p>
          <a:p>
            <a:pPr lvl="0"/>
            <a:r>
              <a:rPr/>
              <a:t>No relationship to the label whatsoever</a:t>
            </a:r>
          </a:p>
          <a:p>
            <a:pPr lvl="0"/>
            <a:r>
              <a:rPr/>
              <a:t>The honest score of any model on it is </a:t>
            </a:r>
            <a:r>
              <a:rPr b="1"/>
              <a:t>0.500</a:t>
            </a:r>
          </a:p>
          <a:p>
            <a:pPr lvl="0"/>
            <a:r>
              <a:rPr/>
              <a:t>The plan: keep the 10 columns whose F-test against the label scores highest, </a:t>
            </a:r>
            <a:r>
              <a:rPr>
                <a:latin typeface="Courier"/>
              </a:rPr>
              <a:t>SelectKBest(f_classif, k=10)</a:t>
            </a:r>
            <a:r>
              <a:rPr/>
              <a:t>, then cross-validate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code almost everyone writes</a:t>
            </a:r>
          </a:p>
        </p:txBody>
      </p:sp>
      <p:sp>
        <p:nvSpPr>
          <p:cNvPr id="3" name="Content Placeholder 2"/>
          <p:cNvSpPr>
            <a:spLocks noGrp="1"/>
          </p:cNvSpPr>
          <p:nvPr>
            <p:ph idx="1"/>
          </p:nvPr>
        </p:nvSpPr>
        <p:spPr>
          <a:xfrm>
            <a:off x="457200" y="1200151"/>
            <a:ext cx="8229600" cy="3394472"/>
          </a:xfrm>
        </p:spPr>
        <p:txBody>
          <a:bodyPr/>
          <a:lstStyle/>
          <a:p>
            <a:pPr lvl="0" indent="0">
              <a:buNone/>
            </a:pPr>
            <a:r>
              <a:rPr>
                <a:latin typeface="Courier"/>
              </a:rPr>
              <a:t>sel </a:t>
            </a:r>
            <a:r>
              <a:rPr>
                <a:solidFill>
                  <a:srgbClr val="666666"/>
                </a:solidFill>
                <a:latin typeface="Courier"/>
              </a:rPr>
              <a:t>=</a:t>
            </a:r>
            <a:r>
              <a:rPr>
                <a:latin typeface="Courier"/>
              </a:rPr>
              <a:t> SelectKBest(f_classif, k</a:t>
            </a:r>
            <a:r>
              <a:rPr>
                <a:solidFill>
                  <a:srgbClr val="666666"/>
                </a:solidFill>
                <a:latin typeface="Courier"/>
              </a:rPr>
              <a:t>=</a:t>
            </a:r>
            <a:r>
              <a:rPr>
                <a:solidFill>
                  <a:srgbClr val="40A070"/>
                </a:solidFill>
                <a:latin typeface="Courier"/>
              </a:rPr>
              <a:t>10</a:t>
            </a:r>
            <a:r>
              <a:rPr>
                <a:latin typeface="Courier"/>
              </a:rPr>
              <a:t>)</a:t>
            </a:r>
            <a:br/>
            <a:r>
              <a:rPr>
                <a:latin typeface="Courier"/>
              </a:rPr>
              <a:t>sel.fit(noise, y)</a:t>
            </a:r>
            <a:br/>
            <a:r>
              <a:rPr>
                <a:latin typeface="Courier"/>
              </a:rPr>
              <a:t>X </a:t>
            </a:r>
            <a:r>
              <a:rPr>
                <a:solidFill>
                  <a:srgbClr val="666666"/>
                </a:solidFill>
                <a:latin typeface="Courier"/>
              </a:rPr>
              <a:t>=</a:t>
            </a:r>
            <a:r>
              <a:rPr>
                <a:latin typeface="Courier"/>
              </a:rPr>
              <a:t> noise.loc[:, sel.get_support()]</a:t>
            </a:r>
            <a:br/>
            <a:r>
              <a:rPr>
                <a:latin typeface="Courier"/>
              </a:rPr>
              <a:t>cross_val_score(model, X, y, cv</a:t>
            </a:r>
            <a:r>
              <a:rPr>
                <a:solidFill>
                  <a:srgbClr val="666666"/>
                </a:solidFill>
                <a:latin typeface="Courier"/>
              </a:rPr>
              <a:t>=</a:t>
            </a:r>
            <a:r>
              <a:rPr>
                <a:latin typeface="Courier"/>
              </a:rPr>
              <a:t>cv)</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0.931</a:t>
            </a:r>
          </a:p>
        </p:txBody>
      </p:sp>
      <p:sp>
        <p:nvSpPr>
          <p:cNvPr id="3" name="Content Placeholder 2"/>
          <p:cNvSpPr>
            <a:spLocks noGrp="1"/>
          </p:cNvSpPr>
          <p:nvPr>
            <p:ph idx="1"/>
          </p:nvPr>
        </p:nvSpPr>
        <p:spPr>
          <a:xfrm>
            <a:off x="457200" y="1200151"/>
            <a:ext cx="8229600" cy="3394472"/>
          </a:xfrm>
        </p:spPr>
        <p:txBody>
          <a:bodyPr/>
          <a:lstStyle/>
          <a:p>
            <a:pPr lvl="0"/>
            <a:r>
              <a:rPr/>
              <a:t>Cross-validated AUC </a:t>
            </a:r>
            <a:r>
              <a:rPr b="1"/>
              <a:t>0.931</a:t>
            </a:r>
            <a:r>
              <a:rPr/>
              <a:t> on data with no signal</a:t>
            </a:r>
          </a:p>
          <a:p>
            <a:pPr lvl="0"/>
            <a:r>
              <a:rPr/>
              <a:t>Four of five folds between 0.92 and 0.98</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Fix it, and look what happens</a:t>
            </a:r>
          </a:p>
        </p:txBody>
      </p:sp>
      <p:sp>
        <p:nvSpPr>
          <p:cNvPr id="3" name="Content Placeholder 2"/>
          <p:cNvSpPr>
            <a:spLocks noGrp="1"/>
          </p:cNvSpPr>
          <p:nvPr>
            <p:ph idx="1"/>
          </p:nvPr>
        </p:nvSpPr>
        <p:spPr>
          <a:xfrm>
            <a:off x="457200" y="1200151"/>
            <a:ext cx="8229600" cy="3394472"/>
          </a:xfrm>
        </p:spPr>
        <p:txBody>
          <a:bodyPr/>
          <a:lstStyle/>
          <a:p>
            <a:pPr lvl="0"/>
            <a:r>
              <a:rPr/>
              <a:t>Selection moved </a:t>
            </a:r>
            <a:r>
              <a:rPr b="1"/>
              <a:t>inside</a:t>
            </a:r>
            <a:r>
              <a:rPr/>
              <a:t> the pipeline, refitted per fold: </a:t>
            </a:r>
            <a:r>
              <a:rPr>
                <a:latin typeface="Courier"/>
              </a:rPr>
              <a:t>Pipeline([("select", SelectKBest(f_classif, k=10)), ("scale", ...), ("model", ...)])</a:t>
            </a:r>
          </a:p>
          <a:p>
            <a:pPr lvl="0"/>
            <a:r>
              <a:rPr/>
              <a:t>20 different fold seeds: </a:t>
            </a:r>
            <a:r>
              <a:rPr b="1"/>
              <a:t>0.658</a:t>
            </a:r>
            <a:r>
              <a:rPr/>
              <a:t> on average, 0.576 to 0.759</a:t>
            </a:r>
          </a:p>
          <a:p>
            <a:pPr lvl="0"/>
            <a:r>
              <a:rPr/>
              <a:t>The truth is still 0.500</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it does not return to 0.5</a:t>
            </a:r>
          </a:p>
        </p:txBody>
      </p:sp>
      <p:sp>
        <p:nvSpPr>
          <p:cNvPr id="3" name="Content Placeholder 2"/>
          <p:cNvSpPr>
            <a:spLocks noGrp="1"/>
          </p:cNvSpPr>
          <p:nvPr>
            <p:ph idx="1"/>
          </p:nvPr>
        </p:nvSpPr>
        <p:spPr>
          <a:xfrm>
            <a:off x="457200" y="1200151"/>
            <a:ext cx="8229600" cy="3394472"/>
          </a:xfrm>
        </p:spPr>
        <p:txBody>
          <a:bodyPr/>
          <a:lstStyle/>
          <a:p>
            <a:pPr lvl="0"/>
            <a:r>
              <a:rPr/>
              <a:t>With 2,000 columns and 800 rows, some columns match the label </a:t>
            </a:r>
            <a:r>
              <a:rPr b="1"/>
              <a:t>by accident</a:t>
            </a:r>
          </a:p>
          <a:p>
            <a:pPr lvl="0"/>
            <a:r>
              <a:rPr/>
              <a:t>That accident belongs to the </a:t>
            </a:r>
            <a:r>
              <a:rPr b="1"/>
              <a:t>sample</a:t>
            </a:r>
            <a:r>
              <a:rPr/>
              <a:t>, not to the split</a:t>
            </a:r>
          </a:p>
          <a:p>
            <a:pPr lvl="0"/>
            <a:r>
              <a:rPr/>
              <a:t>Every fold contains it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Hyperparameter search is the same problem</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latin typeface="Courier"/>
                        </a:rPr>
                        <a:t>GridSearchCV</a:t>
                      </a:r>
                      <a:r>
                        <a:rPr/>
                        <a:t>, 5 values of k × 5 of C</a:t>
                      </a:r>
                    </a:p>
                  </a:txBody>
                  <a:tcPr/>
                </a:tc>
                <a:tc>
                  <a:txBody>
                    <a:bodyPr/>
                    <a:lstStyle/>
                    <a:p>
                      <a:pPr lvl="0" indent="0" marL="0">
                        <a:buNone/>
                      </a:pPr>
                      <a:r>
                        <a:rPr/>
                        <a:t>AUC</a:t>
                      </a:r>
                    </a:p>
                  </a:txBody>
                  <a:tcPr/>
                </a:tc>
              </a:tr>
              <a:tr h="0">
                <a:tc>
                  <a:txBody>
                    <a:bodyPr/>
                    <a:lstStyle/>
                    <a:p>
                      <a:pPr lvl="0" indent="0" marL="0">
                        <a:buNone/>
                      </a:pPr>
                      <a:r>
                        <a:rPr/>
                        <a:t>best of 25 candidates, </a:t>
                      </a:r>
                      <a:r>
                        <a:rPr>
                          <a:latin typeface="Courier"/>
                        </a:rPr>
                        <a:t>best_score_</a:t>
                      </a:r>
                    </a:p>
                  </a:txBody>
                </a:tc>
                <a:tc>
                  <a:txBody>
                    <a:bodyPr/>
                    <a:lstStyle/>
                    <a:p>
                      <a:pPr lvl="0" indent="0" marL="0">
                        <a:buNone/>
                      </a:pPr>
                      <a:r>
                        <a:rPr b="1"/>
                        <a:t>0.7999</a:t>
                      </a:r>
                    </a:p>
                  </a:txBody>
                </a:tc>
              </a:tr>
              <a:tr h="0">
                <a:tc>
                  <a:txBody>
                    <a:bodyPr/>
                    <a:lstStyle/>
                    <a:p>
                      <a:pPr lvl="0" indent="0" marL="0">
                        <a:buNone/>
                      </a:pPr>
                      <a:r>
                        <a:rPr/>
                        <a:t>average candidate</a:t>
                      </a:r>
                    </a:p>
                  </a:txBody>
                </a:tc>
                <a:tc>
                  <a:txBody>
                    <a:bodyPr/>
                    <a:lstStyle/>
                    <a:p>
                      <a:pPr lvl="0" indent="0" marL="0">
                        <a:buNone/>
                      </a:pPr>
                      <a:r>
                        <a:rPr/>
                        <a:t>0.7265</a:t>
                      </a:r>
                    </a:p>
                  </a:txBody>
                </a:tc>
              </a:tr>
              <a:tr h="0">
                <a:tc>
                  <a:txBody>
                    <a:bodyPr/>
                    <a:lstStyle/>
                    <a:p>
                      <a:pPr lvl="0" indent="0" marL="0">
                        <a:buNone/>
                      </a:pPr>
                      <a:r>
                        <a:rPr/>
                        <a:t>nested cross-validation, next slide</a:t>
                      </a:r>
                    </a:p>
                  </a:txBody>
                </a:tc>
                <a:tc>
                  <a:txBody>
                    <a:bodyPr/>
                    <a:lstStyle/>
                    <a:p>
                      <a:pPr lvl="0" indent="0" marL="0">
                        <a:buNone/>
                      </a:pPr>
                      <a:r>
                        <a:rPr/>
                        <a:t>0.6699</a:t>
                      </a:r>
                    </a:p>
                  </a:txBody>
                </a:tc>
              </a:tr>
              <a:tr h="0">
                <a:tc>
                  <a:txBody>
                    <a:bodyPr/>
                    <a:lstStyle/>
                    <a:p>
                      <a:pPr lvl="0" indent="0" marL="0">
                        <a:buNone/>
                      </a:pPr>
                      <a:r>
                        <a:rPr/>
                        <a:t>the truth, by construction</a:t>
                      </a:r>
                    </a:p>
                  </a:txBody>
                </a:tc>
                <a:tc>
                  <a:txBody>
                    <a:bodyPr/>
                    <a:lstStyle/>
                    <a:p>
                      <a:pPr lvl="0" indent="0" marL="0">
                        <a:buNone/>
                      </a:pPr>
                      <a:r>
                        <a:rPr/>
                        <a:t>0.5</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Nested cross-validation</a:t>
            </a:r>
          </a:p>
        </p:txBody>
      </p:sp>
      <p:pic>
        <p:nvPicPr>
          <p:cNvPr descr="nested_cv_diagram.png" id="0" name="Picture 1"/>
          <p:cNvPicPr>
            <a:picLocks noGrp="1" noChangeAspect="1"/>
          </p:cNvPicPr>
          <p:nvPr/>
        </p:nvPicPr>
        <p:blipFill>
          <a:blip r:embed="rId3"/>
          <a:stretch>
            <a:fillRect/>
          </a:stretch>
        </p:blipFill>
        <p:spPr bwMode="auto">
          <a:xfrm>
            <a:off x="827978" y="1166099"/>
            <a:ext cx="7488043" cy="3360181"/>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ways to measure the same worthless model</a:t>
            </a:r>
          </a:p>
        </p:txBody>
      </p:sp>
      <p:pic>
        <p:nvPicPr>
          <p:cNvPr descr="leakage_ladder.png" id="0" name="Picture 1"/>
          <p:cNvPicPr>
            <a:picLocks noGrp="1" noChangeAspect="1"/>
          </p:cNvPicPr>
          <p:nvPr/>
        </p:nvPicPr>
        <p:blipFill>
          <a:blip r:embed="rId3"/>
          <a:stretch>
            <a:fillRect/>
          </a:stretch>
        </p:blipFill>
        <p:spPr bwMode="auto">
          <a:xfrm>
            <a:off x="1388008" y="1166099"/>
            <a:ext cx="6367983" cy="3360181"/>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debt, paid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Slide 6’s 800 drives: fit on 450, choose on 150, report on 200 (7 failures)</a:t>
                      </a:r>
                    </a:p>
                  </a:txBody>
                  <a:tcPr/>
                </a:tc>
                <a:tc>
                  <a:txBody>
                    <a:bodyPr/>
                    <a:lstStyle/>
                    <a:p>
                      <a:pPr lvl="0" indent="0" marL="0">
                        <a:buNone/>
                      </a:pPr>
                      <a:r>
                        <a:rPr/>
                        <a:t>Missed × 2,600 + false alarms × 140</a:t>
                      </a:r>
                    </a:p>
                  </a:txBody>
                  <a:tcPr/>
                </a:tc>
                <a:tc>
                  <a:txBody>
                    <a:bodyPr/>
                    <a:lstStyle/>
                    <a:p>
                      <a:pPr lvl="0" indent="0" marL="0">
                        <a:buNone/>
                      </a:pPr>
                      <a:r>
                        <a:rPr/>
                        <a:t>Cost on the test set</a:t>
                      </a:r>
                    </a:p>
                  </a:txBody>
                  <a:tcPr/>
                </a:tc>
              </a:tr>
              <a:tr h="0">
                <a:tc>
                  <a:txBody>
                    <a:bodyPr/>
                    <a:lstStyle/>
                    <a:p>
                      <a:pPr lvl="0" indent="0" marL="0">
                        <a:buNone/>
                      </a:pPr>
                      <a:r>
                        <a:rPr/>
                        <a:t>0.50, the default</a:t>
                      </a:r>
                    </a:p>
                  </a:txBody>
                </a:tc>
                <a:tc>
                  <a:txBody>
                    <a:bodyPr/>
                    <a:lstStyle/>
                    <a:p>
                      <a:pPr lvl="0" indent="0" marL="0">
                        <a:buNone/>
                      </a:pPr>
                      <a:r>
                        <a:rPr/>
                        <a:t>4 × 2,600 + 1 × 140</a:t>
                      </a:r>
                    </a:p>
                  </a:txBody>
                </a:tc>
                <a:tc>
                  <a:txBody>
                    <a:bodyPr/>
                    <a:lstStyle/>
                    <a:p>
                      <a:pPr lvl="0" indent="0" marL="0">
                        <a:buNone/>
                      </a:pPr>
                      <a:r>
                        <a:rPr/>
                        <a:t>10,540 EUR</a:t>
                      </a:r>
                    </a:p>
                  </a:txBody>
                </a:tc>
              </a:tr>
              <a:tr h="0">
                <a:tc>
                  <a:txBody>
                    <a:bodyPr/>
                    <a:lstStyle/>
                    <a:p>
                      <a:pPr lvl="0" indent="0" marL="0">
                        <a:buNone/>
                      </a:pPr>
                      <a:r>
                        <a:rPr/>
                        <a:t>0.050, chosen on </a:t>
                      </a:r>
                      <a:r>
                        <a:rPr b="1"/>
                        <a:t>validation</a:t>
                      </a:r>
                    </a:p>
                  </a:txBody>
                </a:tc>
                <a:tc>
                  <a:txBody>
                    <a:bodyPr/>
                    <a:lstStyle/>
                    <a:p>
                      <a:pPr lvl="0" indent="0" marL="0">
                        <a:buNone/>
                      </a:pPr>
                      <a:r>
                        <a:rPr/>
                        <a:t>1 × 2,600 + 15 × 140</a:t>
                      </a:r>
                    </a:p>
                  </a:txBody>
                </a:tc>
                <a:tc>
                  <a:txBody>
                    <a:bodyPr/>
                    <a:lstStyle/>
                    <a:p>
                      <a:pPr lvl="0" indent="0" marL="0">
                        <a:buNone/>
                      </a:pPr>
                      <a:r>
                        <a:rPr b="1"/>
                        <a:t>4,700 EUR</a:t>
                      </a:r>
                    </a:p>
                  </a:txBody>
                </a:tc>
              </a:tr>
              <a:tr h="0">
                <a:tc>
                  <a:txBody>
                    <a:bodyPr/>
                    <a:lstStyle/>
                    <a:p>
                      <a:pPr lvl="0" indent="0" marL="0">
                        <a:buNone/>
                      </a:pPr>
                      <a:r>
                        <a:rPr/>
                        <a:t>0.171, chosen on </a:t>
                      </a:r>
                      <a:r>
                        <a:rPr b="1"/>
                        <a:t>test</a:t>
                      </a:r>
                    </a:p>
                  </a:txBody>
                </a:tc>
                <a:tc>
                  <a:txBody>
                    <a:bodyPr/>
                    <a:lstStyle/>
                    <a:p>
                      <a:pPr lvl="0" indent="0" marL="0">
                        <a:buNone/>
                      </a:pPr>
                      <a:r>
                        <a:rPr/>
                        <a:t>1 × 2,600 + 5 × 140</a:t>
                      </a:r>
                    </a:p>
                  </a:txBody>
                </a:tc>
                <a:tc>
                  <a:txBody>
                    <a:bodyPr/>
                    <a:lstStyle/>
                    <a:p>
                      <a:pPr lvl="0" indent="0" marL="0">
                        <a:buNone/>
                      </a:pPr>
                      <a:r>
                        <a:rPr/>
                        <a:t>3,300 EUR</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sets, three jobs</a:t>
            </a:r>
          </a:p>
        </p:txBody>
      </p:sp>
      <p:sp>
        <p:nvSpPr>
          <p:cNvPr id="3" name="Content Placeholder 2"/>
          <p:cNvSpPr>
            <a:spLocks noGrp="1"/>
          </p:cNvSpPr>
          <p:nvPr>
            <p:ph idx="1"/>
          </p:nvPr>
        </p:nvSpPr>
        <p:spPr>
          <a:xfrm>
            <a:off x="457200" y="1200151"/>
            <a:ext cx="8229600" cy="3394472"/>
          </a:xfrm>
        </p:spPr>
        <p:txBody>
          <a:bodyPr/>
          <a:lstStyle/>
          <a:p>
            <a:pPr lvl="0"/>
            <a:r>
              <a:rPr b="1"/>
              <a:t>Train</a:t>
            </a:r>
            <a:r>
              <a:rPr/>
              <a:t>: fit the parameters</a:t>
            </a:r>
          </a:p>
          <a:p>
            <a:pPr lvl="0"/>
            <a:r>
              <a:rPr b="1"/>
              <a:t>Validation</a:t>
            </a:r>
            <a:r>
              <a:rPr/>
              <a:t>: make every choice: model, hyperparameters, threshold</a:t>
            </a:r>
          </a:p>
          <a:p>
            <a:pPr lvl="0"/>
            <a:r>
              <a:rPr b="1"/>
              <a:t>Test</a:t>
            </a:r>
            <a:r>
              <a:rPr/>
              <a:t>: report. Touched </a:t>
            </a:r>
            <a:r>
              <a:rPr b="1"/>
              <a:t>once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fixed seed buys repeatability, not stability (optional)</a:t>
            </a:r>
          </a:p>
        </p:txBody>
      </p:sp>
      <p:sp>
        <p:nvSpPr>
          <p:cNvPr id="3" name="Content Placeholder 2"/>
          <p:cNvSpPr>
            <a:spLocks noGrp="1"/>
          </p:cNvSpPr>
          <p:nvPr>
            <p:ph idx="1"/>
          </p:nvPr>
        </p:nvSpPr>
        <p:spPr>
          <a:xfrm>
            <a:off x="457200" y="1200151"/>
            <a:ext cx="8229600" cy="3394472"/>
          </a:xfrm>
        </p:spPr>
        <p:txBody>
          <a:bodyPr/>
          <a:lstStyle/>
          <a:p>
            <a:pPr lvl="0"/>
            <a:r>
              <a:rPr/>
              <a:t>30 seeds, all perfectly reproducible: </a:t>
            </a:r>
            <a:r>
              <a:rPr b="1"/>
              <a:t>0.913 to 1.000</a:t>
            </a:r>
          </a:p>
          <a:p>
            <a:pPr lvl="0"/>
            <a:r>
              <a:rPr>
                <a:latin typeface="Courier"/>
              </a:rPr>
              <a:t>AUC 1.000 (random_state=3)</a:t>
            </a:r>
            <a:r>
              <a:rPr/>
              <a:t> is reproducible </a:t>
            </a:r>
            <a:r>
              <a:rPr b="1"/>
              <a:t>and</a:t>
            </a:r>
            <a:r>
              <a:rPr/>
              <a:t> misleading</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fix, and what to write down (optional)</a:t>
            </a:r>
          </a:p>
        </p:txBody>
      </p:sp>
      <p:sp>
        <p:nvSpPr>
          <p:cNvPr id="3" name="Content Placeholder 2"/>
          <p:cNvSpPr>
            <a:spLocks noGrp="1"/>
          </p:cNvSpPr>
          <p:nvPr>
            <p:ph idx="1"/>
          </p:nvPr>
        </p:nvSpPr>
        <p:spPr>
          <a:xfrm>
            <a:off x="457200" y="1200151"/>
            <a:ext cx="8229600" cy="3394472"/>
          </a:xfrm>
        </p:spPr>
        <p:txBody>
          <a:bodyPr/>
          <a:lstStyle/>
          <a:p>
            <a:pPr lvl="0"/>
            <a:r>
              <a:rPr/>
              <a:t>Every </a:t>
            </a:r>
            <a:r>
              <a:rPr>
                <a:latin typeface="Courier"/>
              </a:rPr>
              <a:t>random_state</a:t>
            </a:r>
            <a:r>
              <a:rPr/>
              <a:t>, and </a:t>
            </a:r>
            <a:r>
              <a:rPr>
                <a:latin typeface="Courier"/>
              </a:rPr>
              <a:t>np.random.default_rng(seed)</a:t>
            </a:r>
          </a:p>
          <a:p>
            <a:pPr lvl="0"/>
            <a:r>
              <a:rPr b="1"/>
              <a:t>Library versions</a:t>
            </a:r>
            <a:r>
              <a:rPr/>
              <a:t>: defaults change between releases</a:t>
            </a:r>
          </a:p>
          <a:p>
            <a:pPr lvl="0"/>
            <a:r>
              <a:rPr/>
              <a:t>What you could </a:t>
            </a:r>
            <a:r>
              <a:rPr b="1"/>
              <a:t>not</a:t>
            </a:r>
            <a:r>
              <a:rPr/>
              <a:t> fix: threads, graphics processing unit (GPU) non-determinism</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catastrophe, 32-34</a:t>
                      </a:r>
                    </a:p>
                  </a:txBody>
                </a:tc>
                <a:tc>
                  <a:txBody>
                    <a:bodyPr/>
                    <a:lstStyle/>
                    <a:p>
                      <a:pPr lvl="0" indent="0" marL="0">
                        <a:buNone/>
                      </a:pPr>
                      <a:r>
                        <a:rPr>
                          <a:latin typeface="Courier"/>
                        </a:rPr>
                        <a:t>SelectKBest(f_classif, k=10)</a:t>
                      </a:r>
                      <a:r>
                        <a:rPr/>
                        <a:t> on every row, then </a:t>
                      </a:r>
                      <a:r>
                        <a:rPr>
                          <a:latin typeface="Courier"/>
                        </a:rPr>
                        <a:t>cross_val_score</a:t>
                      </a:r>
                      <a:r>
                        <a:rPr/>
                        <a:t> → 0.931</a:t>
                      </a:r>
                    </a:p>
                  </a:txBody>
                </a:tc>
              </a:tr>
              <a:tr h="0">
                <a:tc>
                  <a:txBody>
                    <a:bodyPr/>
                    <a:lstStyle/>
                    <a:p>
                      <a:pPr lvl="0" indent="0" marL="0">
                        <a:buNone/>
                      </a:pPr>
                      <a:r>
                        <a:rPr/>
                        <a:t>selection inside the fold, 35-36</a:t>
                      </a:r>
                    </a:p>
                  </a:txBody>
                </a:tc>
                <a:tc>
                  <a:txBody>
                    <a:bodyPr/>
                    <a:lstStyle/>
                    <a:p>
                      <a:pPr lvl="0" indent="0" marL="0">
                        <a:buNone/>
                      </a:pPr>
                      <a:r>
                        <a:rPr>
                          <a:latin typeface="Courier"/>
                        </a:rPr>
                        <a:t>Pipeline</a:t>
                      </a:r>
                      <a:r>
                        <a:rPr/>
                        <a:t> with the selector as its first step → 0.658</a:t>
                      </a:r>
                    </a:p>
                  </a:txBody>
                </a:tc>
              </a:tr>
              <a:tr h="0">
                <a:tc>
                  <a:txBody>
                    <a:bodyPr/>
                    <a:lstStyle/>
                    <a:p>
                      <a:pPr lvl="0" indent="0" marL="0">
                        <a:buNone/>
                      </a:pPr>
                      <a:r>
                        <a:rPr/>
                        <a:t>the search, 37</a:t>
                      </a:r>
                    </a:p>
                  </a:txBody>
                </a:tc>
                <a:tc>
                  <a:txBody>
                    <a:bodyPr/>
                    <a:lstStyle/>
                    <a:p>
                      <a:pPr lvl="0" indent="0" marL="0">
                        <a:buNone/>
                      </a:pPr>
                      <a:r>
                        <a:rPr>
                          <a:latin typeface="Courier"/>
                        </a:rPr>
                        <a:t>GridSearchCV</a:t>
                      </a:r>
                      <a:r>
                        <a:rPr/>
                        <a:t>, </a:t>
                      </a:r>
                      <a:r>
                        <a:rPr>
                          <a:latin typeface="Courier"/>
                        </a:rPr>
                        <a:t>best_score_</a:t>
                      </a:r>
                      <a:r>
                        <a:rPr/>
                        <a:t> → 0.7999</a:t>
                      </a:r>
                    </a:p>
                  </a:txBody>
                </a:tc>
              </a:tr>
              <a:tr h="0">
                <a:tc>
                  <a:txBody>
                    <a:bodyPr/>
                    <a:lstStyle/>
                    <a:p>
                      <a:pPr lvl="0" indent="0" marL="0">
                        <a:buNone/>
                      </a:pPr>
                      <a:r>
                        <a:rPr/>
                        <a:t>nested, 38-39</a:t>
                      </a:r>
                    </a:p>
                  </a:txBody>
                </a:tc>
                <a:tc>
                  <a:txBody>
                    <a:bodyPr/>
                    <a:lstStyle/>
                    <a:p>
                      <a:pPr lvl="0" indent="0" marL="0">
                        <a:buNone/>
                      </a:pPr>
                      <a:r>
                        <a:rPr>
                          <a:latin typeface="Courier"/>
                        </a:rPr>
                        <a:t>cross_val_score(GridSearchCV(...), cv=outer)</a:t>
                      </a:r>
                      <a:r>
                        <a:rPr/>
                        <a:t> → 0.6699</a:t>
                      </a:r>
                    </a:p>
                  </a:txBody>
                </a:tc>
              </a:tr>
              <a:tr h="0">
                <a:tc>
                  <a:txBody>
                    <a:bodyPr/>
                    <a:lstStyle/>
                    <a:p>
                      <a:pPr lvl="0" indent="0" marL="0">
                        <a:buNone/>
                      </a:pPr>
                      <a:r>
                        <a:rPr/>
                        <a:t>the threshold, honestly, 40-41</a:t>
                      </a:r>
                    </a:p>
                  </a:txBody>
                </a:tc>
                <a:tc>
                  <a:txBody>
                    <a:bodyPr/>
                    <a:lstStyle/>
                    <a:p>
                      <a:pPr lvl="0" indent="0" marL="0">
                        <a:buNone/>
                      </a:pPr>
                      <a:r>
                        <a:rPr>
                          <a:latin typeface="Courier"/>
                        </a:rPr>
                        <a:t>train_test_split</a:t>
                      </a:r>
                      <a:r>
                        <a:rPr/>
                        <a:t> twice → 4,700 EUR against 10,540</a:t>
                      </a:r>
                    </a:p>
                  </a:txBody>
                </a:tc>
              </a:tr>
              <a:tr h="0">
                <a:tc>
                  <a:txBody>
                    <a:bodyPr/>
                    <a:lstStyle/>
                    <a:p>
                      <a:pPr lvl="0" indent="0" marL="0">
                        <a:buNone/>
                      </a:pPr>
                      <a:r>
                        <a:rPr/>
                        <a:t>seeds, 42-43</a:t>
                      </a:r>
                    </a:p>
                  </a:txBody>
                </a:tc>
                <a:tc>
                  <a:txBody>
                    <a:bodyPr/>
                    <a:lstStyle/>
                    <a:p>
                      <a:pPr lvl="0" indent="0" marL="0">
                        <a:buNone/>
                      </a:pPr>
                      <a:r>
                        <a:rPr/>
                        <a:t>30 values of </a:t>
                      </a:r>
                      <a:r>
                        <a:rPr>
                          <a:latin typeface="Courier"/>
                        </a:rPr>
                        <a:t>random_state</a:t>
                      </a:r>
                      <a:r>
                        <a:rPr/>
                        <a:t> → 0.913 to 1.000</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put in a report</a:t>
            </a:r>
          </a:p>
        </p:txBody>
      </p:sp>
      <p:sp>
        <p:nvSpPr>
          <p:cNvPr id="3" name="Content Placeholder 2"/>
          <p:cNvSpPr>
            <a:spLocks noGrp="1"/>
          </p:cNvSpPr>
          <p:nvPr>
            <p:ph idx="1"/>
          </p:nvPr>
        </p:nvSpPr>
        <p:spPr>
          <a:xfrm>
            <a:off x="457200" y="1200151"/>
            <a:ext cx="8229600" cy="3394472"/>
          </a:xfrm>
        </p:spPr>
        <p:txBody>
          <a:bodyPr/>
          <a:lstStyle/>
          <a:p>
            <a:pPr lvl="0"/>
            <a:r>
              <a:rPr/>
              <a:t>The metric, the </a:t>
            </a:r>
            <a:r>
              <a:rPr b="1"/>
              <a:t>spread</a:t>
            </a:r>
            <a:r>
              <a:rPr/>
              <a:t>, and how it was estimated</a:t>
            </a:r>
          </a:p>
          <a:p>
            <a:pPr lvl="0"/>
            <a:r>
              <a:rPr/>
              <a:t>How many </a:t>
            </a:r>
            <a:r>
              <a:rPr b="1"/>
              <a:t>positives</a:t>
            </a:r>
            <a:r>
              <a:rPr/>
              <a:t> the test set held</a:t>
            </a:r>
          </a:p>
          <a:p>
            <a:pPr lvl="0"/>
            <a:r>
              <a:rPr/>
              <a:t>Every seed, and every library version</a:t>
            </a:r>
          </a:p>
          <a:p>
            <a:pPr lvl="0"/>
            <a:r>
              <a:rPr/>
              <a:t>Which choices were made on which data</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b="1"/>
              <a:t>A test score is a measurement.</a:t>
            </a:r>
            <a:r>
              <a:rPr/>
              <a:t> 0.885 to a perfect </a:t>
            </a:r>
            <a:r>
              <a:rPr b="1"/>
              <a:t>1.000</a:t>
            </a:r>
            <a:r>
              <a:rPr/>
              <a:t>, same model</a:t>
            </a:r>
          </a:p>
          <a:p>
            <a:pPr lvl="0"/>
            <a:r>
              <a:rPr b="1"/>
              <a:t>Choosing on one split chooses noise</a:t>
            </a:r>
          </a:p>
          <a:p>
            <a:pPr lvl="0"/>
            <a:r>
              <a:rPr b="1"/>
              <a:t>bias² + variance + noise</a:t>
            </a:r>
            <a:r>
              <a:rPr/>
              <a:t> is an identity, and the noise floor never moves</a:t>
            </a:r>
          </a:p>
          <a:p>
            <a:pPr lvl="0"/>
            <a:r>
              <a:rPr b="1"/>
              <a:t>Curves that meet low mean bias</a:t>
            </a:r>
            <a:r>
              <a:rPr/>
              <a:t>: more data will not help</a:t>
            </a:r>
          </a:p>
          <a:p>
            <a:pPr lvl="0"/>
            <a:r>
              <a:rPr b="1"/>
              <a:t>Cross-validation protects against fold leakage, nothing more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5</a:t>
            </a:r>
            <a:r>
              <a:rPr/>
              <a:t>, discussed at the start of </a:t>
            </a:r>
            <a:r>
              <a:rPr b="1"/>
              <a:t>Friday 13 November</a:t>
            </a:r>
          </a:p>
          <a:p>
            <a:pPr lvl="0"/>
            <a:r>
              <a:rPr/>
              <a:t>A result that is too good. Find out why, then produce the honest number</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Experimental Methodology</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6 November 2026</vt:lpwstr>
  </property>
  <property fmtid="{D5CDD505-2E9C-101B-9397-08002B2CF9AE}" pid="3" name="subtitle">
    <vt:lpwstr>Technologies for Artificial Intelligence</vt:lpwstr>
  </property>
</Properties>
</file>