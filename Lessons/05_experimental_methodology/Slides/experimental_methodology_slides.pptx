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slide, because every choice in the rest of the lesson is a choice of one of these, and the word has been used loosely since lesson 2.</a:t>
            </a:r>
          </a:p>
          <a:p>
            <a:pPr lvl="0" indent="0" marL="0">
              <a:buNone/>
            </a:pPr>
          </a:p>
          <a:p>
            <a:pPr lvl="0" indent="0" marL="0">
              <a:buNone/>
            </a:pPr>
            <a:r>
              <a:rPr/>
              <a:t>Parameters are what the fit computes: coefficients and intercept. Hyperparameters are what you fix before it starts - lesson 3’s penalty, lesson 4’s threshold, lesson 6’s number of neighbours, lesson 7’s tree depth.</a:t>
            </a:r>
          </a:p>
          <a:p>
            <a:pPr lvl="0" indent="0" marL="0">
              <a:buNone/>
            </a:pPr>
          </a:p>
          <a:p>
            <a:pPr lvl="0" indent="0" marL="0">
              <a:buNone/>
            </a:pPr>
            <a:r>
              <a:rPr/>
              <a:t>Then the sentence that makes the distinction matter rather than taxonomic: you cannot fit a hyperparameter by minimising training error, because that objective already knows its favourite answer - no penalty at all, and the biggest tree available. It would choose the most flexible model every time. So the only way to choose one is to compare, and comparison needs data the model has not seen. That is what the rest of today is about, and why it costs what it costs.</a:t>
            </a:r>
          </a:p>
          <a:p>
            <a:pPr lvl="0" indent="0" marL="0">
              <a:buNone/>
            </a:pPr>
          </a:p>
          <a:p>
            <a:pPr lvl="0" indent="0" marL="0">
              <a:buNone/>
            </a:pPr>
            <a:r>
              <a:rPr/>
              <a:t>Last bullet is the trap in the next table: C is the reciprocal of the penalty, so C = 0.01 is the most heavily regularised of the three, not the least.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Remind them of the reciprocal as they read the first column: the top row, C = 0.01, is the most heavily penalised model, not the least.</a:t>
            </a:r>
          </a:p>
          <a:p>
            <a:pPr lvl="0" indent="0" marL="0">
              <a:buNone/>
            </a:pPr>
          </a:p>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which part is held out. Cut the data into k parts, train on k-1, score on the one left out - the validation fold - and repeat until every part has been the validation fold exactly once.</a:t>
            </a:r>
          </a:p>
          <a:p>
            <a:pPr lvl="0" indent="0" marL="0">
              <a:buNone/>
            </a:pPr>
          </a:p>
          <a:p>
            <a:pPr lvl="0" indent="0" marL="0">
              <a:buNone/>
            </a:pPr>
            <a:r>
              <a:rPr/>
              <a:t>Say why it is labelled validation and not test, because the code will contradict the slide. Lesson 1’s three roles: training fits, validation chooses, test reports once. This block is scored k times and, by the end of the lesson, is what a search chooses on. scikit-learn calls it test - test_index, mean_test_score - and there the word means only “not used to fit this fold’s model”, never the test set reported once. Handout section 4.1.</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 Cross-validation has a seed of its own - shuffle differently and the folds change - so it reduces the variance of the estimate, it does not abolish it.</a:t>
            </a:r>
          </a:p>
          <a:p>
            <a:pPr lvl="0" indent="0" marL="0">
              <a:buNone/>
            </a:pPr>
          </a:p>
          <a:p>
            <a:pPr lvl="0" indent="0" marL="0">
              <a:buNone/>
            </a:pPr>
            <a:r>
              <a:rPr/>
              <a:t>The spread falls from 0.088 to 0.015, and the standard deviation by a factor of about seven (0.0221 to 0.0032). Say which one “seven” refers to: a student who divides the two spreads on the slide gets six, and will ask.</a:t>
            </a:r>
          </a:p>
          <a:p>
            <a:pPr lvl="0" indent="0" marL="0">
              <a:buNone/>
            </a:pPr>
          </a:p>
          <a:p>
            <a:pPr lvl="0" indent="0" marL="0">
              <a:buNone/>
            </a:pPr>
            <a:r>
              <a:rPr/>
              <a:t>Then the centres, because someone will have noticed in notebook 1 that cross-validation came out lower: 0.953 against 0.960. That gap is about two standard errors on forty draws, and with a different forty seeds it reverses sign. So cross-validation is neither more optimistic nor more pessimistic here - it is less arbitrary. The histogram with both on the same bins is in notebook 1 and in handout section 4.7.</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bias² of 5,250, two orders of magnitude above the next row. Stable in shape and wrong everywhere.</a:t>
            </a:r>
          </a:p>
          <a:p>
            <a:pPr lvl="0" indent="0" marL="0">
              <a:buNone/>
            </a:pPr>
          </a:p>
          <a:p>
            <a:pPr lvl="0" indent="0" marL="0">
              <a:buNone/>
            </a:pPr>
            <a:r>
              <a:rPr/>
              <a:t>Do not say it has the smallest variance - it does not, 723.8 against degree 2’s 70.8, and it is on the slide. Every universe draws its own 25 temperatures, and a straight line that cannot follow the curve pivots according to where they fell. Handout section 5.3 measures what happens when the temperatures are held fixed instead: the variance column then climbs from the first row.</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picture, and the one place where the classic picture is usually drawn without anyone checking it. The textbook version: bias falling monotonically, variance rising, the total a U. Two of those three are not what the measurement gives.</a:t>
            </a:r>
          </a:p>
          <a:p>
            <a:pPr lvl="0" indent="0" marL="0">
              <a:buNone/>
            </a:pPr>
          </a:p>
          <a:p>
            <a:pPr lvl="0" indent="0" marL="0">
              <a:buNone/>
            </a:pPr>
            <a:r>
              <a:rPr/>
              <a:t>Bias² falls only as far as degree 5 - 5,250 down to 8.9 - and then climbs to 153,537, for the reason on the previous slide: at that variance the average of the fits is not a meaningful curve. And variance starts at 723.8, drops to 70.8 at degree 2, and only then rises.</a:t>
            </a:r>
          </a:p>
          <a:p>
            <a:pPr lvl="0" indent="0" marL="0">
              <a:buNone/>
            </a:pPr>
          </a:p>
          <a:p>
            <a:pPr lvl="0" indent="0" marL="0">
              <a:buNone/>
            </a:pPr>
            <a:r>
              <a:rPr/>
              <a:t>What does survive is the part the lesson needs: the total error is a U with its minimum at degree 2. Say that the cartoon is a well-specified model on a fixed design, and that real measurements are lumpier - it is a better lesson than the tidy version, and it is on the slide in front of them.</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a:t>
            </a:r>
          </a:p>
          <a:p>
            <a:pPr lvl="0" indent="0" marL="0">
              <a:buNone/>
            </a:pPr>
          </a:p>
          <a:p>
            <a:pPr lvl="0" indent="0" marL="0">
              <a:buNone/>
            </a:pPr>
            <a:r>
              <a:rPr/>
              <a:t>Then read the right-hand curve to the end, because this is where the room gets it wrong - and so did this deck until someone read the numbers. It climbs to 0.857 at 251 examples and then stops: 0.834, 0.847, 0.835, 0.832, 0.847. It ends below its own high point.</a:t>
            </a:r>
          </a:p>
          <a:p>
            <a:pPr lvl="0" indent="0" marL="0">
              <a:buNone/>
            </a:pPr>
          </a:p>
          <a:p>
            <a:pPr lvl="0" indent="0" marL="0">
              <a:buNone/>
            </a:pPr>
            <a:r>
              <a:rPr/>
              <a:t>Someone will say it is still rising, because the last segment goes up by 0.014. Have the answer ready: across the five folds that step is -0.030, +0.050, +0.006, -0.009, +0.053. It is a wiggle inside a band of about 0.04, not a trend. A slope smaller than its band is not a slope.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splits in two, and the slope is what splits it. A curve still rising is itself the evidence that more data will pay - the only case where “collect more” is a plan rather than a hope. A curve that has flattened, which is what our right-hand panel does after 251 examples, says the gap is real and more rows of the same kind have stopped buying anything: what is left is stronger regularisation, fewer features, a simpler model. Here the 150 noise columns are the problem, and no quantity of rows removes a column.</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validation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validation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way to write up every exercise from here on - it is what the exam asks them to defend.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every remaining exercise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one they are most likely to be asked at the exam about whichever exercise is drawn.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Parameters and hyperparameters</a:t>
            </a:r>
          </a:p>
        </p:txBody>
      </p:sp>
      <p:sp>
        <p:nvSpPr>
          <p:cNvPr id="3" name="Content Placeholder 2"/>
          <p:cNvSpPr>
            <a:spLocks noGrp="1"/>
          </p:cNvSpPr>
          <p:nvPr>
            <p:ph idx="1"/>
          </p:nvPr>
        </p:nvSpPr>
        <p:spPr>
          <a:xfrm>
            <a:off x="457200" y="1200151"/>
            <a:ext cx="8229600" cy="3394472"/>
          </a:xfrm>
        </p:spPr>
        <p:txBody>
          <a:bodyPr/>
          <a:lstStyle/>
          <a:p>
            <a:pPr lvl="0"/>
            <a:r>
              <a:rPr b="1"/>
              <a:t>Parameters</a:t>
            </a:r>
            <a:r>
              <a:rPr/>
              <a:t> are fitted from the data: w, b</a:t>
            </a:r>
          </a:p>
          <a:p>
            <a:pPr lvl="0"/>
            <a:r>
              <a:rPr b="1"/>
              <a:t>Hyperparameters</a:t>
            </a:r>
            <a:r>
              <a:rPr/>
              <a:t> are fixed before the fit: penalty λ, threshold, neighbours, tree depth</a:t>
            </a:r>
          </a:p>
          <a:p>
            <a:pPr lvl="0"/>
            <a:r>
              <a:rPr/>
              <a:t>They cannot be fitted the same way — training error always prefers λ = 0</a:t>
            </a:r>
          </a:p>
          <a:p>
            <a:pPr lvl="0"/>
            <a:r>
              <a:rPr/>
              <a:t>So they are chosen by </a:t>
            </a:r>
            <a:r>
              <a:rPr b="1"/>
              <a:t>comparison</a:t>
            </a:r>
            <a:r>
              <a:rPr/>
              <a:t>, on data the model never trained on</a:t>
            </a:r>
          </a:p>
          <a:p>
            <a:pPr lvl="0"/>
            <a:r>
              <a:rPr/>
              <a:t>scikit-learn’s C is a </a:t>
            </a:r>
            <a:r>
              <a:rPr b="1"/>
              <a:t>reciprocal</a:t>
            </a:r>
            <a:r>
              <a:rPr/>
              <a:t> penalty: C = 0.01 is the strongest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mean</a:t>
                      </a:r>
                    </a:p>
                  </a:txBody>
                </a:tc>
                <a:tc>
                  <a:txBody>
                    <a:bodyPr/>
                    <a:lstStyle/>
                    <a:p>
                      <a:pPr lvl="0" indent="0" marL="0">
                        <a:buNone/>
                      </a:pPr>
                      <a:r>
                        <a:rPr/>
                        <a:t>0.9600</a:t>
                      </a:r>
                    </a:p>
                  </a:txBody>
                </a:tc>
                <a:tc>
                  <a:txBody>
                    <a:bodyPr/>
                    <a:lstStyle/>
                    <a:p>
                      <a:pPr lvl="0" indent="0" marL="0">
                        <a:buNone/>
                      </a:pPr>
                      <a:r>
                        <a:rPr/>
                        <a:t>0.9532</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more data </a:t>
            </a:r>
            <a:r>
              <a:rPr b="1"/>
              <a:t>will</a:t>
            </a:r>
          </a:p>
          <a:p>
            <a:pPr lvl="0"/>
            <a:r>
              <a:rPr/>
              <a:t>Wide gap, validation </a:t>
            </a:r>
            <a:r>
              <a:rPr b="1"/>
              <a:t>flat</a:t>
            </a:r>
            <a:r>
              <a:rPr/>
              <a:t> → regularise, drop features. </a:t>
            </a:r>
            <a:r>
              <a:rPr b="1"/>
              <a:t>Ours is this one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 by construction</a:t>
                      </a:r>
                    </a:p>
                  </a:txBody>
                </a:tc>
                <a:tc>
                  <a:txBody>
                    <a:bodyPr/>
                    <a:lstStyle/>
                    <a:p>
                      <a:pPr lvl="0" indent="0" marL="0">
                        <a:buNone/>
                      </a:pPr>
                      <a:r>
                        <a:rPr/>
                        <a:t>0.5</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