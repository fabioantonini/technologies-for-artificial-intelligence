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package/2006/relationships/metadata/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the three hours before any content. Every method in this course so far learned from pairs: an input and a target. Today removes the target entirely. The task changes from “predict the label” to “describe the structure”: which records look alike, which few numbers summarise many columns, which records do not belong.</a:t>
            </a:r>
          </a:p>
          <a:p>
            <a:pPr lvl="0" indent="0" marL="0">
              <a:buNone/>
            </a:pPr>
          </a:p>
          <a:p>
            <a:pPr lvl="0" indent="0" marL="0">
              <a:buNone/>
            </a:pPr>
            <a:r>
              <a:rPr/>
              <a:t>Say what this version of the lesson leaves out: the proofs, and some extra methods. They are in the advanced version of the lesson, in Advanced/08_unsupervised_learning_advanced/, for anyone curious, and nothing there is examined. Every method today is built from a picture and a small worked example.</a:t>
            </a:r>
          </a:p>
          <a:p>
            <a:pPr lvl="0" indent="0" marL="0">
              <a:buNone/>
            </a:pPr>
          </a:p>
          <a:p>
            <a:pPr lvl="0" indent="0" marL="0">
              <a:buNone/>
            </a:pPr>
            <a:r>
              <a:rPr/>
              <a:t>Handout section 1.</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Nothing to collect and nothing to hand back: discuss it. Ask what the feature-importance ranking was taken to mean, and listen for the gap of lesson 7: reading the ranking as settled fact, when lesson 7 showed that a random forest put 54% of its importance on twenty columns of pure noise.</a:t>
            </a:r>
          </a:p>
          <a:p>
            <a:pPr lvl="0" indent="0" marL="0">
              <a:buNone/>
            </a:pPr>
          </a:p>
          <a:p>
            <a:pPr lvl="0" indent="0" marL="0">
              <a:buNone/>
            </a:pPr>
            <a:r>
              <a:rPr/>
              <a:t>Link forward. Today there is no accuracy to fall back on, because there is no target. The duty to check a result does not disappear; it changes shape, and the lesson returns to it three times: the check against a truth only synthetic data has (slide 20), the silhouette that prefers a wrong answer (slide 35), and the 2-D picture that points at the wrong accounts (slide 50).</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Make the shift concrete. Ask the room: if you were handed 2,000 customers’ spending records with no group name attached to any of them, what would a good answer even look like, before any algorithm runs? There is no accuracy to compute, because there is nothing to compare the answer with.</a:t>
            </a:r>
          </a:p>
          <a:p>
            <a:pPr lvl="0" indent="0" marL="0">
              <a:buNone/>
            </a:pPr>
          </a:p>
          <a:p>
            <a:pPr lvl="0" indent="0" marL="0">
              <a:buNone/>
            </a:pPr>
            <a:r>
              <a:rPr/>
              <a:t>“Not even well defined” deserves an example: “which of these customers are alike?” has no answer until somebody groups them and looks. That is why unsupervised methods often come first, and supervised learning second, once the first look has suggested what a useful target would be.</a:t>
            </a:r>
          </a:p>
          <a:p>
            <a:pPr lvl="0" indent="0" marL="0">
              <a:buNone/>
            </a:pPr>
          </a:p>
          <a:p>
            <a:pPr lvl="0" indent="0" marL="0">
              <a:buNone/>
            </a:pPr>
            <a:r>
              <a:rPr/>
              <a:t>Handout section 1.</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Aurora is a fictional online retailer, and the three problems are three different shapes of “no labels”, not three demonstrations of one idea.</a:t>
            </a:r>
          </a:p>
          <a:p>
            <a:pPr lvl="0" indent="0" marL="0">
              <a:buNone/>
            </a:pPr>
          </a:p>
          <a:p>
            <a:pPr lvl="0" indent="0" marL="0">
              <a:buNone/>
            </a:pPr>
            <a:r>
              <a:rPr/>
              <a:t>Grouping customers is close to what most people picture when they hear “clustering”. Bots against humans is built to break that picture: the two kinds of session have the same average duration and page count, and differ only in how much they vary. The fraud problem breaks it again: every single value of a fraudulent account looks ordinary, and only the combination is wrong.</a:t>
            </a:r>
          </a:p>
          <a:p>
            <a:pPr lvl="0" indent="0" marL="0">
              <a:buNone/>
            </a:pPr>
          </a:p>
          <a:p>
            <a:pPr lvl="0" indent="0" marL="0">
              <a:buNone/>
            </a:pPr>
            <a:r>
              <a:rPr/>
              <a:t>DBSCAN and PCA are named here and defined on their own slides later (slides 29 and 39). Handout section 1.1.</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 point about method, not a remark in passing, so say it slowly. Every “matches the truth” result today, the agreement scores and the scree plot finding exactly three hidden tendencies, can be checked only because the data was built for teaching, with its generating rules written down in retail_data.py.</a:t>
            </a:r>
          </a:p>
          <a:p>
            <a:pPr lvl="0" indent="0" marL="0">
              <a:buNone/>
            </a:pPr>
          </a:p>
          <a:p>
            <a:pPr lvl="0" indent="0" marL="0">
              <a:buNone/>
            </a:pPr>
            <a:r>
              <a:rPr/>
              <a:t>On a real, unlabelled dataset none of those checks exists. Ask the room to keep asking, at every result today: could Aurora have computed this number? The answer separates the internal measures, computed from the data alone, from the external ones, which need the truth.</a:t>
            </a:r>
          </a:p>
          <a:p>
            <a:pPr lvl="0" indent="0" marL="0">
              <a:buNone/>
            </a:pPr>
          </a:p>
          <a:p>
            <a:pPr lvl="0" indent="0" marL="0">
              <a:buNone/>
            </a:pPr>
            <a:r>
              <a:rPr/>
              <a:t>Handout section 1.1.</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all Aurora’s marketing team has: two numbers per customer, annual spend in euros and visits per month, and no group name on either.</a:t>
            </a:r>
          </a:p>
          <a:p>
            <a:pPr lvl="0" indent="0" marL="0">
              <a:buNone/>
            </a:pPr>
          </a:p>
          <a:p>
            <a:pPr lvl="0" indent="0" marL="0">
              <a:buNone/>
            </a:pPr>
            <a:r>
              <a:rPr/>
              <a:t>Ask the room how many groups they see. Most will say four, and they are right: retail_data.py built four segments, with names like “window shoppers” and “loyal high spenders”. Four round clouds, each gathered around a middle point, is exactly the situation the next method is built for.</a:t>
            </a:r>
          </a:p>
          <a:p>
            <a:pPr lvl="0" indent="0" marL="0">
              <a:buNone/>
            </a:pPr>
          </a:p>
          <a:p>
            <a:pPr lvl="0" indent="0" marL="0">
              <a:buNone/>
            </a:pPr>
            <a:r>
              <a:rPr/>
              <a:t>Handout section 2, the opening figure.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State the idea in words before any symbol. If customers really fall into a few groups, one representative point per group describes them, and a good grouping puts every customer close to their own representative.</a:t>
            </a:r>
          </a:p>
          <a:p>
            <a:pPr lvl="0" indent="0" marL="0">
              <a:buNone/>
            </a:pPr>
          </a:p>
          <a:p>
            <a:pPr lvl="0" indent="0" marL="0">
              <a:buNone/>
            </a:pPr>
            <a:r>
              <a:rPr/>
              <a:t>Dwell on the last bullet, because it is the first mistake people make. Spend runs into hundreds of euros, visits per month into single figures. Measured raw, a difference of 50 euros outweighs a difference of 5 visits a month, and the grouping would be decided by spend alone. Standardising, as in lesson 2, measures each column in units of its own spread.</a:t>
            </a:r>
          </a:p>
          <a:p>
            <a:pPr lvl="0" indent="0" marL="0">
              <a:buNone/>
            </a:pPr>
          </a:p>
          <a:p>
            <a:pPr lvl="0" indent="0" marL="0">
              <a:buNone/>
            </a:pPr>
            <a:r>
              <a:rPr/>
              <a:t>Handout section 2.1.</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whole algorithm: two moves and a stopping rule. The move step puts each centre at the mean of its points, which is where the “means” in the name comes from. Notebook 1 writes it in about ten lines of NumPy before using scikit-learn, precisely so that nobody thinks there is more to it.</a:t>
            </a:r>
          </a:p>
          <a:p>
            <a:pPr lvl="0" indent="0" marL="0">
              <a:buNone/>
            </a:pPr>
          </a:p>
          <a:p>
            <a:pPr lvl="0" indent="0" marL="0">
              <a:buNone/>
            </a:pPr>
            <a:r>
              <a:rPr/>
              <a:t>In code the full call notebook 1 uses is KMeans(n_clusters=4, n_init=10). The parameter n_init comes back on slide 15: it is the number of different starts scikit-learn tries. labels_ holds one group number per customer, and cluster_centers_ the coordinates of the centres.</a:t>
            </a:r>
          </a:p>
          <a:p>
            <a:pPr lvl="0" indent="0" marL="0">
              <a:buNone/>
            </a:pPr>
          </a:p>
          <a:p>
            <a:pPr lvl="0" indent="0" marL="0">
              <a:buNone/>
            </a:pPr>
            <a:r>
              <a:rPr/>
              <a:t>Handout section 2.2.</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Make the picture before the formula, which comes on the next slide. A dashed line from each customer to its centre; WCSS adds up the squared lengths. A grouping whose lines are all short is a tight grouping.</a:t>
            </a:r>
          </a:p>
          <a:p>
            <a:pPr lvl="0" indent="0" marL="0">
              <a:buNone/>
            </a:pPr>
          </a:p>
          <a:p>
            <a:pPr lvl="0" indent="0" marL="0">
              <a:buNone/>
            </a:pPr>
            <a:r>
              <a:rPr/>
              <a:t>Two things to say about it. First, there is no target in it: only the data and the centres. Second, it is the same kind of quantity as the cost J of lessons 3 and 4, the number a method makes small, which is why the formula on the next slide uses the letter J.</a:t>
            </a:r>
          </a:p>
          <a:p>
            <a:pPr lvl="0" indent="0" marL="0">
              <a:buNone/>
            </a:pPr>
          </a:p>
          <a:p>
            <a:pPr lvl="0" indent="0" marL="0">
              <a:buNone/>
            </a:pPr>
            <a:r>
              <a:rPr/>
              <a:t>Handout section 2.2.</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it in words, symbol by symbol. c(i) is the group of point i, and mu_j the centre of group j. For every point x_i, from the first to the m-th, take its group c(i) and that group’s centre; measure the distance from the point to the centre, square it, and add up.</a:t>
            </a:r>
          </a:p>
          <a:p>
            <a:pPr lvl="0" indent="0" marL="0">
              <a:buNone/>
            </a:pPr>
          </a:p>
          <a:p>
            <a:pPr lvl="0" indent="0" marL="0">
              <a:buNone/>
            </a:pPr>
            <a:r>
              <a:rPr/>
              <a:t>The double bars mean ordinary straight-line length. Nothing else is hidden in the formula: it is the sum of the squared dashed lines of the previous slide, written down.</a:t>
            </a:r>
          </a:p>
          <a:p>
            <a:pPr lvl="0" indent="0" marL="0">
              <a:buNone/>
            </a:pPr>
          </a:p>
          <a:p>
            <a:pPr lvl="0" indent="0" marL="0">
              <a:buNone/>
            </a:pPr>
            <a:r>
              <a:rPr/>
              <a:t>Handout section 2.2.</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Six customers with spend in hundreds of euros and visits per month, so the two columns are already on comparable scales. A, B and C are small occasional buyers; D, E and F big regular ones. The two centres start on A and B, a deliberately poor choice, since both are in the same group.</a:t>
            </a:r>
          </a:p>
          <a:p>
            <a:pPr lvl="0" indent="0" marL="0">
              <a:buNone/>
            </a:pPr>
          </a:p>
          <a:p>
            <a:pPr lvl="0" indent="0" marL="0">
              <a:buNone/>
            </a:pPr>
            <a:r>
              <a:rPr/>
              <a:t>Walk the four panels left to right and read the WCSS in each title.</a:t>
            </a:r>
          </a:p>
          <a:p>
            <a:pPr lvl="0" indent="0" marL="0">
              <a:buNone/>
            </a:pPr>
          </a:p>
          <a:p>
            <a:pPr lvl="0" indent="0" marL="0">
              <a:buNone/>
            </a:pPr>
            <a:r>
              <a:rPr/>
              <a:t>Round 1, assign: C goes to A; D, E and F go to B, which is one visit higher. D is at 7 squared plus 4 squared, 65, from B, against 74 from A. WCSS = 0 + 1 + 0 + 65 + 80 + 74 = 220.</a:t>
            </a:r>
          </a:p>
          <a:p>
            <a:pPr lvl="0" indent="0" marL="0">
              <a:buNone/>
            </a:pPr>
          </a:p>
          <a:p>
            <a:pPr lvl="0" indent="0" marL="0">
              <a:buNone/>
            </a:pPr>
            <a:r>
              <a:rPr/>
              <a:t>Round 1, move: the BDEF centre goes to the mean of four points, (6.5, 5.25), and the WCSS falls to 56.25. But B is now left far behind.</a:t>
            </a:r>
          </a:p>
          <a:p>
            <a:pPr lvl="0" indent="0" marL="0">
              <a:buNone/>
            </a:pPr>
          </a:p>
          <a:p>
            <a:pPr lvl="0" indent="0" marL="0">
              <a:buNone/>
            </a:pPr>
            <a:r>
              <a:rPr/>
              <a:t>Round 2, assign: B is nearer the first centre and switches, WCSS 16.69. Round 2, move: the centres go to the middle of each triangle, WCSS 8/3 = 2.67. A third round changes nothing, so it stops, at ABC and DEF.</a:t>
            </a:r>
          </a:p>
          <a:p>
            <a:pPr lvl="0" indent="0" marL="0">
              <a:buNone/>
            </a:pPr>
          </a:p>
          <a:p>
            <a:pPr lvl="0" indent="0" marL="0">
              <a:buNone/>
            </a:pPr>
            <a:r>
              <a:rPr/>
              <a:t>Handout section 2.3 carries every distance.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argument for why k-means always finishes, in four lines.</a:t>
            </a:r>
          </a:p>
          <a:p>
            <a:pPr lvl="0" indent="0" marL="0">
              <a:buNone/>
            </a:pPr>
          </a:p>
          <a:p>
            <a:pPr lvl="0" indent="0" marL="0">
              <a:buNone/>
            </a:pPr>
            <a:r>
              <a:rPr/>
              <a:t>The second bullet needs one sentence. Take a single coordinate: the sum of (x_i - mu) squared is a parabola in mu, and its lowest point is where its derivative, minus 2 times the sum of (x_i - mu), is zero, which is exactly when mu is the mean. So moving a centre to the mean can only shorten its lines.</a:t>
            </a:r>
          </a:p>
          <a:p>
            <a:pPr lvl="0" indent="0" marL="0">
              <a:buNone/>
            </a:pPr>
          </a:p>
          <a:p>
            <a:pPr lvl="0" indent="0" marL="0">
              <a:buNone/>
            </a:pPr>
            <a:r>
              <a:rPr/>
              <a:t>The last bullet is the six-customer example again: the score never went up. Then ask the room the question the next slide answers: stopping means nothing changes any more. Does it mean the answer is the best grouping?</a:t>
            </a:r>
          </a:p>
          <a:p>
            <a:pPr lvl="0" indent="0" marL="0">
              <a:buNone/>
            </a:pPr>
          </a:p>
          <a:p>
            <a:pPr lvl="0" indent="0" marL="0">
              <a:buNone/>
            </a:pPr>
            <a:r>
              <a:rPr/>
              <a:t>Handout section 2.4.</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same ten lines of code on all 2,000 customers, standardised, started from two different random picks of four customers. White circles are where the centres began, black paths where they travelled, crosses where they stopped.</a:t>
            </a:r>
          </a:p>
          <a:p>
            <a:pPr lvl="0" indent="0" marL="0">
              <a:buNone/>
            </a:pPr>
          </a:p>
          <a:p>
            <a:pPr lvl="0" indent="0" marL="0">
              <a:buNone/>
            </a:pPr>
            <a:r>
              <a:rPr/>
              <a:t>Left: the centres travel to the four clouds, WCSS 374.1. Right: two centres end up sharing the group at the bottom right, while a single centre covers both groups on the left; WCSS 1,390.4, more than three times worse. And it stays there: from that grouping, assigning and moving change nothing, so the algorithm stops, although a better grouping exists.</a:t>
            </a:r>
          </a:p>
          <a:p>
            <a:pPr lvl="0" indent="0" marL="0">
              <a:buNone/>
            </a:pPr>
          </a:p>
          <a:p>
            <a:pPr lvl="0" indent="0" marL="0">
              <a:buNone/>
            </a:pPr>
            <a:r>
              <a:rPr/>
              <a:t>That is the answer to the previous slide’s question. Stopping is not finding. Handout section 2.4.</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two numbers come from notebook 1, which runs the hand-written k-means from 30 random starts. One in thirty is rare, but over a year of reruns it will happen, and the WCSS of one run alone does not tell you which kind of run you had.</a:t>
            </a:r>
          </a:p>
          <a:p>
            <a:pPr lvl="0" indent="0" marL="0">
              <a:buNone/>
            </a:pPr>
          </a:p>
          <a:p>
            <a:pPr lvl="0" indent="0" marL="0">
              <a:buNone/>
            </a:pPr>
            <a:r>
              <a:rPr/>
              <a:t>The remedy costs only time: several starts, keep the best. scikit-learn does it by default with n_init=10, and it also chooses the starting centres with k-means++, which picks each new starting centre preferring points far from the ones already picked, so that two centres rarely start inside one group.</a:t>
            </a:r>
          </a:p>
          <a:p>
            <a:pPr lvl="0" indent="0" marL="0">
              <a:buNone/>
            </a:pPr>
          </a:p>
          <a:p>
            <a:pPr lvl="0" indent="0" marL="0">
              <a:buNone/>
            </a:pPr>
            <a:r>
              <a:rPr/>
              <a:t>The last bullet is a check, not a claim: notebook 1 prints the same WCSS to four decimals from both. Handout section 2.4.</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Start from the third bullet, because it is the predictable mistake: choosing k by the lowest WCSS. It sounds like what every lesson so far has done, picking the lowest cost. But with one group per customer every line has length zero, so WCSS would always choose the largest k you tried.</a:t>
            </a:r>
          </a:p>
          <a:p>
            <a:pPr lvl="0" indent="0" marL="0">
              <a:buNone/>
            </a:pPr>
          </a:p>
          <a:p>
            <a:pPr lvl="0" indent="0" marL="0">
              <a:buNone/>
            </a:pPr>
            <a:r>
              <a:rPr/>
              <a:t>The elbow asks where adding a group stops paying: past the right number, an extra centre only splits a group that was already fine. The silhouette asks a different question, about each point; the next two slides build it on one customer.</a:t>
            </a:r>
          </a:p>
          <a:p>
            <a:pPr lvl="0" indent="0" marL="0">
              <a:buNone/>
            </a:pPr>
          </a:p>
          <a:p>
            <a:pPr lvl="0" indent="0" marL="0">
              <a:buNone/>
            </a:pPr>
            <a:r>
              <a:rPr/>
              <a:t>Handout section 2.5.</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Back to the six customers, after k-means grouped them as ABC and DEF. Take customer B.</a:t>
            </a:r>
          </a:p>
          <a:p>
            <a:pPr lvl="0" indent="0" marL="0">
              <a:buNone/>
            </a:pPr>
          </a:p>
          <a:p>
            <a:pPr lvl="0" indent="0" marL="0">
              <a:buNone/>
            </a:pPr>
            <a:r>
              <a:rPr/>
              <a:t>The solid blue lines go to the other members of B’s own group: lengths 1 to A and the square root of 2, 1.414, to C. Their mean is a = 1.207.</a:t>
            </a:r>
          </a:p>
          <a:p>
            <a:pPr lvl="0" indent="0" marL="0">
              <a:buNone/>
            </a:pPr>
          </a:p>
          <a:p>
            <a:pPr lvl="0" indent="0" marL="0">
              <a:buNone/>
            </a:pPr>
            <a:r>
              <a:rPr/>
              <a:t>The dotted red lines go to the members of the other group: the square roots of 65, 80 and 74, that is 8.062, 8.944 and 8.602. Their mean is b = 8.536.</a:t>
            </a:r>
          </a:p>
          <a:p>
            <a:pPr lvl="0" indent="0" marL="0">
              <a:buNone/>
            </a:pPr>
          </a:p>
          <a:p>
            <a:pPr lvl="0" indent="0" marL="0">
              <a:buNone/>
            </a:pPr>
            <a:r>
              <a:rPr/>
              <a:t>When the solid lines are much shorter than the dotted ones, B sits well inside its own group. The next slide turns that comparison into one number: here, (8.536 - 1.207) / 8.536 = 0.859.</a:t>
            </a:r>
          </a:p>
          <a:p>
            <a:pPr lvl="0" indent="0" marL="0">
              <a:buNone/>
            </a:pPr>
          </a:p>
          <a:p>
            <a:pPr lvl="0" indent="0" marL="0">
              <a:buNone/>
            </a:pPr>
            <a:r>
              <a:rPr/>
              <a:t>Handout section 2.5, worked example.</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is the point’s mean distance to the other members of its own group, b its mean distance to the members of the nearest other group.</a:t>
            </a:r>
          </a:p>
          <a:p>
            <a:pPr lvl="0" indent="0" marL="0">
              <a:buNone/>
            </a:pPr>
          </a:p>
          <a:p>
            <a:pPr lvl="0" indent="0" marL="0">
              <a:buNone/>
            </a:pPr>
            <a:r>
              <a:rPr/>
              <a:t>Read the three cases off the formula. If a is much smaller than b, s is close to 1: the point is well inside its group. If a and b are about equal, s is close to 0: the point sits on a border. If a is larger than b, s is negative: the point is closer, on average, to another group than to its own.</a:t>
            </a:r>
          </a:p>
          <a:p>
            <a:pPr lvl="0" indent="0" marL="0">
              <a:buNone/>
            </a:pPr>
          </a:p>
          <a:p>
            <a:pPr lvl="0" indent="0" marL="0">
              <a:buNone/>
            </a:pPr>
            <a:r>
              <a:rPr/>
              <a:t>Dividing by the larger of the two keeps s between -1 and 1 whatever the units. The silhouette of a whole grouping is the average over all points, and in code it is silhouette_score(X, labels). Customer B: 0.859.</a:t>
            </a:r>
          </a:p>
          <a:p>
            <a:pPr lvl="0" indent="0" marL="0">
              <a:buNone/>
            </a:pPr>
          </a:p>
          <a:p>
            <a:pPr lvl="0" indent="0" marL="0">
              <a:buNone/>
            </a:pPr>
            <a:r>
              <a:rPr/>
              <a:t>Handout section 2.5.</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k-means on the 2,000 standardised customers for k from 1 to 8, from notebook 1.</a:t>
            </a:r>
          </a:p>
          <a:p>
            <a:pPr lvl="0" indent="0" marL="0">
              <a:buNone/>
            </a:pPr>
          </a:p>
          <a:p>
            <a:pPr lvl="0" indent="0" marL="0">
              <a:buNone/>
            </a:pPr>
            <a:r>
              <a:rPr/>
              <a:t>Left, the elbow: WCSS falls steeply up to k = 4, the dashed line, and slowly after. Right, the mean silhouette: highest at the same k = 4, with 0.690.</a:t>
            </a:r>
          </a:p>
          <a:p>
            <a:pPr lvl="0" indent="0" marL="0">
              <a:buNone/>
            </a:pPr>
          </a:p>
          <a:p>
            <a:pPr lvl="0" indent="0" marL="0">
              <a:buNone/>
            </a:pPr>
            <a:r>
              <a:rPr/>
              <a:t>Point out why the silhouette is easier to act on: reading a bend takes judgement, and two people can disagree about where it is; reading a maximum does not. Both agree here because the data really is four round, well separated clouds. Slide 35 shows a case where the silhouette points the wrong way.</a:t>
            </a:r>
          </a:p>
          <a:p>
            <a:pPr lvl="0" indent="0" marL="0">
              <a:buNone/>
            </a:pPr>
          </a:p>
          <a:p>
            <a:pPr lvl="0" indent="0" marL="0">
              <a:buNone/>
            </a:pPr>
            <a:r>
              <a:rPr/>
              <a:t>Handout section 2.5.</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ARI compares two groupings of the same points without caring what the groups are called: k-means’ cluster 0 does not have to be “window shoppers”. That is why it works on pairs, and pairs do not carry names.</a:t>
            </a:r>
          </a:p>
          <a:p>
            <a:pPr lvl="0" indent="0" marL="0">
              <a:buNone/>
            </a:pPr>
          </a:p>
          <a:p>
            <a:pPr lvl="0" indent="0" marL="0">
              <a:buNone/>
            </a:pPr>
            <a:r>
              <a:rPr/>
              <a:t>Why adjust? Even a random grouping agrees about many pairs, because most pairs are apart in both groupings. The adjustment subtracts what chance alone would give, so 0 means “no better than random”, and a grouping worse than random can even score below 0.</a:t>
            </a:r>
          </a:p>
          <a:p>
            <a:pPr lvl="0" indent="0" marL="0">
              <a:buNone/>
            </a:pPr>
          </a:p>
          <a:p>
            <a:pPr lvl="0" indent="0" marL="0">
              <a:buNone/>
            </a:pPr>
            <a:r>
              <a:rPr/>
              <a:t>Then the distinction to carry through the lesson. The silhouette is internal: it needs only the data and the grouping, so Aurora could compute it. The ARI is external: it needs the truth, which Aurora does not have.</a:t>
            </a:r>
          </a:p>
          <a:p>
            <a:pPr lvl="0" indent="0" marL="0">
              <a:buNone/>
            </a:pPr>
          </a:p>
          <a:p>
            <a:pPr lvl="0" indent="0" marL="0">
              <a:buNone/>
            </a:pPr>
            <a:r>
              <a:rPr/>
              <a:t>Handout section 2.6.</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the true segments, from the generator and never shown to k-means. Right, k-means with k = 4, centres marked with crosses.</a:t>
            </a:r>
          </a:p>
          <a:p>
            <a:pPr lvl="0" indent="0" marL="0">
              <a:buNone/>
            </a:pPr>
          </a:p>
          <a:p>
            <a:pPr lvl="0" indent="0" marL="0">
              <a:buNone/>
            </a:pPr>
            <a:r>
              <a:rPr/>
              <a:t>The ARI between the two is 0.985: k-means found the four segments almost exactly. Ask the room to find the disagreements: a handful of customers where two segments touch, coloured differently from their neighbours.</a:t>
            </a:r>
          </a:p>
          <a:p>
            <a:pPr lvl="0" indent="0" marL="0">
              <a:buNone/>
            </a:pPr>
          </a:p>
          <a:p>
            <a:pPr lvl="0" indent="0" marL="0">
              <a:buNone/>
            </a:pPr>
            <a:r>
              <a:rPr/>
              <a:t>Then the predictable mistake. Having seen this, most conclude that k-means is a reliable way to find groups. The reasoning is sound as far as it goes: on a few round clouds of similar spread it is fast and close to the best possible. What fails is the assumption under it, that groups are round, and the next part of the lesson builds data where they are not.</a:t>
            </a:r>
          </a:p>
          <a:p>
            <a:pPr lvl="0" indent="0" marL="0">
              <a:buNone/>
            </a:pPr>
          </a:p>
          <a:p>
            <a:pPr lvl="0" indent="0" marL="0">
              <a:buNone/>
            </a:pPr>
            <a:r>
              <a:rPr/>
              <a:t>Handout section 2.6.</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k-means by hand, on Aurora’s customers. Run Notebooks/01_kmeans_by_hand.ipynb. 25 minutes.</a:t>
            </a:r>
          </a:p>
          <a:p>
            <a:pPr lvl="0" indent="0" marL="0">
              <a:buNone/>
            </a:pPr>
          </a:p>
          <a:p>
            <a:pPr lvl="0" indent="0" marL="0">
              <a:buNone/>
            </a:pPr>
            <a:r>
              <a:rPr/>
              <a:t>Before section 3.1 runs, have them predict where the two centres will end up from the start on A and B, and check after each round against the figure.</a:t>
            </a:r>
          </a:p>
          <a:p>
            <a:pPr lvl="0" indent="0" marL="0">
              <a:buNone/>
            </a:pPr>
          </a:p>
          <a:p>
            <a:pPr lvl="0" indent="0" marL="0">
              <a:buNone/>
            </a:pPr>
            <a:r>
              <a:rPr/>
              <a:t>If time runs short, keep section 3.2, the two starts drawn side by side: watching one start stop at a grouping more than three times worse is what turns “k-means finds a local minimum” from a phrase into a fact.</a:t>
            </a:r>
          </a:p>
          <a:p>
            <a:pPr lvl="0" indent="0" marL="0">
              <a:buNone/>
            </a:pPr>
          </a:p>
          <a:p>
            <a:pPr lvl="0" indent="0" marL="0">
              <a:buNone/>
            </a:pPr>
            <a:r>
              <a:rPr/>
              <a:t>If somebody finishes early: run k-means with k = 3 on the customers and see which two segments are merged into one, then explain why those two.</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Aurora’s security team logs two numbers per website session: how long it lasted and how many pages it viewed. Some sessions are bots: scripts, not shoppers.</a:t>
            </a:r>
          </a:p>
          <a:p>
            <a:pPr lvl="0" indent="0" marL="0">
              <a:buNone/>
            </a:pPr>
          </a:p>
          <a:p>
            <a:pPr lvl="0" indent="0" marL="0">
              <a:buNone/>
            </a:pPr>
            <a:r>
              <a:rPr/>
              <a:t>Ask the room what they see. Not four separate clouds this time: a dense smudge sitting inside a much larger, looser ring, both centred on the same place. A script does the same thing every time, so the bots pile up in a tight spot; people vary, so they spread out around it. retail_data.py makes 180 of the 1,500 sessions bots, 12%, with the same average as the humans.</a:t>
            </a:r>
          </a:p>
          <a:p>
            <a:pPr lvl="0" indent="0" marL="0">
              <a:buNone/>
            </a:pPr>
          </a:p>
          <a:p>
            <a:pPr lvl="0" indent="0" marL="0">
              <a:buNone/>
            </a:pPr>
            <a:r>
              <a:rPr/>
              <a:t>The natural split is “close to the middle” against “far from it”. Handout section 3.1.</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Draw it on the board: two centres, and the line of points equally far from both, halfway between them and at right angles to the segment joining them. Everything on one side goes to one centre, everything on the other to the other.</a:t>
            </a:r>
          </a:p>
          <a:p>
            <a:pPr lvl="0" indent="0" marL="0">
              <a:buNone/>
            </a:pPr>
          </a:p>
          <a:p>
            <a:pPr lvl="0" indent="0" marL="0">
              <a:buNone/>
            </a:pPr>
            <a:r>
              <a:rPr/>
              <a:t>So whatever k-means does, it cuts the picture with a straight line. The best it can do here is cut it through the middle, which cuts the ring in half and puts the bots with one half of the humans. Notebook 2 measures it: all 180 bots in one cluster, together with 780 humans.</a:t>
            </a:r>
          </a:p>
          <a:p>
            <a:pPr lvl="0" indent="0" marL="0">
              <a:buNone/>
            </a:pPr>
          </a:p>
          <a:p>
            <a:pPr lvl="0" indent="0" marL="0">
              <a:buNone/>
            </a:pPr>
            <a:r>
              <a:rPr/>
              <a:t>The ARI of -0.046 is from notebook 2. The point of the last bullet: this is a wrong assumption, not a bad run, so the remedy of slide 15 does not apply.</a:t>
            </a:r>
          </a:p>
          <a:p>
            <a:pPr lvl="0" indent="0" marL="0">
              <a:buNone/>
            </a:pPr>
          </a:p>
          <a:p>
            <a:pPr lvl="0" indent="0" marL="0">
              <a:buNone/>
            </a:pPr>
            <a:r>
              <a:rPr/>
              <a:t>Handout section 3.2.</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different idea from k-means: no centres to place, just repeated merging of whatever is closest. One tree serves every k at once: cutting higher gives fewer groups, cutting lower gives more.</a:t>
            </a:r>
          </a:p>
          <a:p>
            <a:pPr lvl="0" indent="0" marL="0">
              <a:buNone/>
            </a:pPr>
          </a:p>
          <a:p>
            <a:pPr lvl="0" indent="0" marL="0">
              <a:buNone/>
            </a:pPr>
            <a:r>
              <a:rPr/>
              <a:t>“Closest” needs a rule once a group has more than one point, called the linkage. scikit-learn’s default, Ward linkage, merges the two groups whose union adds the least to the within-cluster sum of squares of slide 10: the merge that keeps the groups most compact. For two single points that is simply the two nearest. Ward is what AgglomerativeClustering uses unless told otherwise (linkage=“ward”).</a:t>
            </a:r>
          </a:p>
          <a:p>
            <a:pPr lvl="0" indent="0" marL="0">
              <a:buNone/>
            </a:pPr>
          </a:p>
          <a:p>
            <a:pPr lvl="0" indent="0" marL="0">
              <a:buNone/>
            </a:pPr>
            <a:r>
              <a:rPr/>
              <a:t>Handout section 3.3.</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Eight points in three loose clumps. Left, the first five merges, numbered. Right, the dendrogram of the same merges.</a:t>
            </a:r>
          </a:p>
          <a:p>
            <a:pPr lvl="0" indent="0" marL="0">
              <a:buNone/>
            </a:pPr>
          </a:p>
          <a:p>
            <a:pPr lvl="0" indent="0" marL="0">
              <a:buNone/>
            </a:pPr>
            <a:r>
              <a:rPr/>
              <a:t>The first three merges join the three closest pairs: A with B at height 0.671, which is simply their distance, the square root of 0.6 squared plus 0.3 squared; then D with E, then G with H. Then F and C join their neighbours. After the fifth merge, at 1.333, three groups are left.</a:t>
            </a:r>
          </a:p>
          <a:p>
            <a:pPr lvl="0" indent="0" marL="0">
              <a:buNone/>
            </a:pPr>
          </a:p>
          <a:p>
            <a:pPr lvl="0" indent="0" marL="0">
              <a:buNone/>
            </a:pPr>
            <a:r>
              <a:rPr/>
              <a:t>Now point at the long vertical stretch between 1.3 and 7.2 where nothing merges. The next merge has to bridge a real gap, and the tree says so with a jump in height. A long stretch with no merge is the tree’s way of saying “here is a natural number of groups”. The dashed cut at 4 crosses three branches.</a:t>
            </a:r>
          </a:p>
          <a:p>
            <a:pPr lvl="0" indent="0" marL="0">
              <a:buNone/>
            </a:pPr>
          </a:p>
          <a:p>
            <a:pPr lvl="0" indent="0" marL="0">
              <a:buNone/>
            </a:pPr>
            <a:r>
              <a:rPr/>
              <a:t>Handout section 3.3, worked example.</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Hierarchical clustering with Ward linkage on the 1,500 sessions, cut at two groups, next to k-means and the truth.</a:t>
            </a:r>
          </a:p>
          <a:p>
            <a:pPr lvl="0" indent="0" marL="0">
              <a:buNone/>
            </a:pPr>
          </a:p>
          <a:p>
            <a:pPr lvl="0" indent="0" marL="0">
              <a:buNone/>
            </a:pPr>
            <a:r>
              <a:rPr/>
              <a:t>ARI -0.062: no better than k-means, for the same reason. Ward merges whatever keeps the groups compact, which is what k-means rewards too, so both end with two compact halves of the picture. Point at where each puts the bots: k-means with the bottom of the ring, Ward with its right-hand side.</a:t>
            </a:r>
          </a:p>
          <a:p>
            <a:pPr lvl="0" indent="0" marL="0">
              <a:buNone/>
            </a:pPr>
          </a:p>
          <a:p>
            <a:pPr lvl="0" indent="0" marL="0">
              <a:buNone/>
            </a:pPr>
            <a:r>
              <a:rPr/>
              <a:t>A different procedure, the same idea of what a group is. The other linkage rules, merging by the closest pair or the farthest pair of points, do not separate the bots either; the advanced lesson compares all four.</a:t>
            </a:r>
          </a:p>
          <a:p>
            <a:pPr lvl="0" indent="0" marL="0">
              <a:buNone/>
            </a:pPr>
          </a:p>
          <a:p>
            <a:pPr lvl="0" indent="0" marL="0">
              <a:buNone/>
            </a:pPr>
            <a:r>
              <a:rPr/>
              <a:t>Handout section 3.3.</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Twelve minutes. The second half opens with a method that asks a different question about each point: not “which centre is nearest?” but “is this point in a crowded place?”</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DBSCAN stands for density-based spatial clustering of applications with noise. The name says what it does: it groups by density, how crowded a place is, and it is allowed to call a point noise.</a:t>
            </a:r>
          </a:p>
          <a:p>
            <a:pPr lvl="0" indent="0" marL="0">
              <a:buNone/>
            </a:pPr>
          </a:p>
          <a:p>
            <a:pPr lvl="0" indent="0" marL="0">
              <a:buNone/>
            </a:pPr>
            <a:r>
              <a:rPr/>
              <a:t>Two details to say aloud. scikit-learn counts the point itself in min_samples, so min_samples = 4 means the point and three others. And nothing here mentions a centre or a shape: a group can be a ring, a band, or any connected crowded region, which is exactly what the sessions need. DBSCAN does not ask for k either: the number of groups is however many chains there turn out to be.</a:t>
            </a:r>
          </a:p>
          <a:p>
            <a:pPr lvl="0" indent="0" marL="0">
              <a:buNone/>
            </a:pPr>
          </a:p>
          <a:p>
            <a:pPr lvl="0" indent="0" marL="0">
              <a:buNone/>
            </a:pPr>
            <a:r>
              <a:rPr/>
              <a:t>In code: DBSCAN(eps=0.30, min_samples=10), with the noise labelled -1 in labels_. Handout section 3.4.</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Twelve points, eps = 0.9 drawn as the disc radius, min_samples = 4.</a:t>
            </a:r>
          </a:p>
          <a:p>
            <a:pPr lvl="0" indent="0" marL="0">
              <a:buNone/>
            </a:pPr>
          </a:p>
          <a:p>
            <a:pPr lvl="0" indent="0" marL="0">
              <a:buNone/>
            </a:pPr>
            <a:r>
              <a:rPr/>
              <a:t>The three shaded discs are one of each kind. The blue disc belongs to a core point: at least four points inside it, counting itself. The teal disc belongs to a border point: only three points in its disc, too few to be core, but it lies inside a core point’s disc, so it joins that group. The rust disc belongs to a noise point: nothing but itself within 0.9.</a:t>
            </a:r>
          </a:p>
          <a:p>
            <a:pPr lvl="0" indent="0" marL="0">
              <a:buNone/>
            </a:pPr>
          </a:p>
          <a:p>
            <a:pPr lvl="0" indent="0" marL="0">
              <a:buNone/>
            </a:pPr>
            <a:r>
              <a:rPr/>
              <a:t>Ask the room: the rust point is barely farther than 0.9 from the group. Why is it not a border point? Because nothing but itself lies within 0.9 of it, so it is inside no core point’s disc. Its nearest neighbour, at 1.03, is only a border point, and border points cannot extend a group anyway.</a:t>
            </a:r>
          </a:p>
          <a:p>
            <a:pPr lvl="0" indent="0" marL="0">
              <a:buNone/>
            </a:pPr>
          </a:p>
          <a:p>
            <a:pPr lvl="0" indent="0" marL="0">
              <a:buNone/>
            </a:pPr>
            <a:r>
              <a:rPr/>
              <a:t>Four core, four border, four noise: one group. Handout section 3.4.</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eps is the parameter that matters most, and these two failure modes are why: too small and nothing is crowded enough, too large and everything is.</a:t>
            </a:r>
          </a:p>
          <a:p>
            <a:pPr lvl="0" indent="0" marL="0">
              <a:buNone/>
            </a:pPr>
          </a:p>
          <a:p>
            <a:pPr lvl="0" indent="0" marL="0">
              <a:buNone/>
            </a:pPr>
            <a:r>
              <a:rPr/>
              <a:t>The k-distance plot turns the choice into something you can read. Sorting the 10th-neighbour distances puts the crowded points on the left, with short distances, and the sparse ones on the right. The bend is where crowded gives way to sparse.</a:t>
            </a:r>
          </a:p>
          <a:p>
            <a:pPr lvl="0" indent="0" marL="0">
              <a:buNone/>
            </a:pPr>
          </a:p>
          <a:p>
            <a:pPr lvl="0" indent="0" marL="0">
              <a:buNone/>
            </a:pPr>
            <a:r>
              <a:rPr/>
              <a:t>One detail for the code: kneighbors counts each point as its own first neighbour, so the 10th column is the 9th other point. That matches DBSCAN, which also counts the point itself in min_samples.</a:t>
            </a:r>
          </a:p>
          <a:p>
            <a:pPr lvl="0" indent="0" marL="0">
              <a:buNone/>
            </a:pPr>
          </a:p>
          <a:p>
            <a:pPr lvl="0" indent="0" marL="0">
              <a:buNone/>
            </a:pPr>
            <a:r>
              <a:rPr/>
              <a:t>Handout section 3.5.</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1,500 sessions sorted by the distance to their 10th nearest neighbour, in standardised units, from notebook 2.</a:t>
            </a:r>
          </a:p>
          <a:p>
            <a:pPr lvl="0" indent="0" marL="0">
              <a:buNone/>
            </a:pPr>
          </a:p>
          <a:p>
            <a:pPr lvl="0" indent="0" marL="0">
              <a:buNone/>
            </a:pPr>
            <a:r>
              <a:rPr/>
              <a:t>The curve stays low and flat for most sessions and turns sharply upward at the right-hand end. The dashed line at 0.30 sits just above the flat part: only 65 of the 1,500 sessions have their 10th neighbour farther away than that, and notebook 2 prints the count.</a:t>
            </a:r>
          </a:p>
          <a:p>
            <a:pPr lvl="0" indent="0" marL="0">
              <a:buNone/>
            </a:pPr>
          </a:p>
          <a:p>
            <a:pPr lvl="0" indent="0" marL="0">
              <a:buNone/>
            </a:pPr>
            <a:r>
              <a:rPr/>
              <a:t>Say honestly that reading a bend takes judgement, exactly like the elbow of slide 19. The plot narrows the choice; it does not make it for you.</a:t>
            </a:r>
          </a:p>
          <a:p>
            <a:pPr lvl="0" indent="0" marL="0">
              <a:buNone/>
            </a:pPr>
          </a:p>
          <a:p>
            <a:pPr lvl="0" indent="0" marL="0">
              <a:buNone/>
            </a:pPr>
            <a:r>
              <a:rPr/>
              <a:t>Handout section 3.5.</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DBSCAN with eps = 0.30 and min_samples = 10, next to the truth.</a:t>
            </a:r>
          </a:p>
          <a:p>
            <a:pPr lvl="0" indent="0" marL="0">
              <a:buNone/>
            </a:pPr>
          </a:p>
          <a:p>
            <a:pPr lvl="0" indent="0" marL="0">
              <a:buNone/>
            </a:pPr>
            <a:r>
              <a:rPr/>
              <a:t>ARI 0.941, from notebook 2. All 180 bots form one group. 1,303 of the 1,320 humans form the other. 4 humans are placed with the bots, and 13 sessions, the black points, are noise.</a:t>
            </a:r>
          </a:p>
          <a:p>
            <a:pPr lvl="0" indent="0" marL="0">
              <a:buNone/>
            </a:pPr>
          </a:p>
          <a:p>
            <a:pPr lvl="0" indent="0" marL="0">
              <a:buNone/>
            </a:pPr>
            <a:r>
              <a:rPr/>
              <a:t>Compare with slide 27, where k-means and Ward scored below zero on the same data. The difference is not tuning: it is a different definition of what a group is, crowded and connected rather than compact. Handout section 3.6.</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Notebook 2 checks each noise session against the truth, which only synthetic data allows: all 13 are humans. It also measures where they are, by their distance from the middle of the bot core: two lie between the core and the ring, eleven on the outer edge, beyond where 95% of humans are.</a:t>
            </a:r>
          </a:p>
          <a:p>
            <a:pPr lvl="0" indent="0" marL="0">
              <a:buNone/>
            </a:pPr>
          </a:p>
          <a:p>
            <a:pPr lvl="0" indent="0" marL="0">
              <a:buNone/>
            </a:pPr>
            <a:r>
              <a:rPr/>
              <a:t>The point to make: noise is an output, not a failure. A k-means model would have forced each of those 13 into a group. DBSCAN says it does not know, and in a security pipeline “I do not know” can be sent to a person instead of to an automatic block. The supplementary reading of this lesson is about what such a label costs a real person.</a:t>
            </a:r>
          </a:p>
          <a:p>
            <a:pPr lvl="0" indent="0" marL="0">
              <a:buNone/>
            </a:pPr>
          </a:p>
          <a:p>
            <a:pPr lvl="0" indent="0" marL="0">
              <a:buNone/>
            </a:pPr>
            <a:r>
              <a:rPr/>
              <a:t>Handout section 3.6.</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Aurora has no truth, so it could not compute the ARI column. It could compute the silhouette, and the silhouette prefers k-means’ useless split.</a:t>
            </a:r>
          </a:p>
          <a:p>
            <a:pPr lvl="0" indent="0" marL="0">
              <a:buNone/>
            </a:pPr>
          </a:p>
          <a:p>
            <a:pPr lvl="0" indent="0" marL="0">
              <a:buNone/>
            </a:pPr>
            <a:r>
              <a:rPr/>
              <a:t>Why. Two compact halves are exactly what the silhouette rewards, as slide 18’s formula says: points close to their own group, far from the next. A ring is not compact. Notebook 2 measures it: 99.2% of the ring’s points have a negative silhouette, because on average they are closer to the bot core in the middle than to the rest of their own ring, most of which lies across the circle.</a:t>
            </a:r>
          </a:p>
          <a:p>
            <a:pPr lvl="0" indent="0" marL="0">
              <a:buNone/>
            </a:pPr>
          </a:p>
          <a:p>
            <a:pPr lvl="0" indent="0" marL="0">
              <a:buNone/>
            </a:pPr>
            <a:r>
              <a:rPr/>
              <a:t>The predictable mistake: with no labels, the silhouette is the only score available, so choosing the grouping that scores highest feels natural. But it measures compactness, whatever the shape of the data. Only looking at the data, or knowing what the groups should mean, can tell you compactness is the wrong question. Handout section 3.7.</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last column is the one to remember. k-means and Ward share a failure, because they share a definition of a group. DBSCAN has its own: one eps has to suit every group, so a dense group next to a sparse one cannot both be found with a single disc size.</a:t>
            </a:r>
          </a:p>
          <a:p>
            <a:pPr lvl="0" indent="0" marL="0">
              <a:buNone/>
            </a:pPr>
          </a:p>
          <a:p>
            <a:pPr lvl="0" indent="0" marL="0">
              <a:buNone/>
            </a:pPr>
            <a:r>
              <a:rPr/>
              <a:t>When is the tree worth it? When the tree itself is informative: it shows the groups at every scale at once, and on a few hundred points it can be read by eye.</a:t>
            </a:r>
          </a:p>
          <a:p>
            <a:pPr lvl="0" indent="0" marL="0">
              <a:buNone/>
            </a:pPr>
          </a:p>
          <a:p>
            <a:pPr lvl="0" indent="0" marL="0">
              <a:buNone/>
            </a:pPr>
            <a:r>
              <a:rPr/>
              <a:t>Handout section 3.8.</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Merge trees and DBSCAN, on Aurora’s sessions. Run Notebooks/02_merge_trees_and_dbscan.ipynb. 20 minutes.</a:t>
            </a:r>
          </a:p>
          <a:p>
            <a:pPr lvl="0" indent="0" marL="0">
              <a:buNone/>
            </a:pPr>
          </a:p>
          <a:p>
            <a:pPr lvl="0" indent="0" marL="0">
              <a:buNone/>
            </a:pPr>
            <a:r>
              <a:rPr/>
              <a:t>Before section 3, have them predict, from the scatter alone, what k-means with k = 2 will do. Before section 5.2, have them predict whether DBSCAN will put any bot among the noise.</a:t>
            </a:r>
          </a:p>
          <a:p>
            <a:pPr lvl="0" indent="0" marL="0">
              <a:buNone/>
            </a:pPr>
          </a:p>
          <a:p>
            <a:pPr lvl="0" indent="0" marL="0">
              <a:buNone/>
            </a:pPr>
            <a:r>
              <a:rPr/>
              <a:t>If time runs short, keep section 6: the silhouette preferring the wrong answer is the lesson’s second warning, after the bad start, and the one easiest to forget.</a:t>
            </a:r>
          </a:p>
          <a:p>
            <a:pPr lvl="0" indent="0" marL="0">
              <a:buNone/>
            </a:pPr>
          </a:p>
          <a:p>
            <a:pPr lvl="0" indent="0" marL="0">
              <a:buNone/>
            </a:pPr>
            <a:r>
              <a:rPr/>
              <a:t>If somebody finishes early: rerun DBSCAN with eps = 0.20 and with eps = 0.50 and explain each result with the two failure modes of slide 31.</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Aurora’s account table: 2,000 accounts, 8 columns, from annual spend to return rate. The figure is the correlation between every pair of columns, standardised; dark red is strongly positive, dark blue strongly negative.</a:t>
            </a:r>
          </a:p>
          <a:p>
            <a:pPr lvl="0" indent="0" marL="0">
              <a:buNone/>
            </a:pPr>
          </a:p>
          <a:p>
            <a:pPr lvl="0" indent="0" marL="0">
              <a:buNone/>
            </a:pPr>
            <a:r>
              <a:rPr/>
              <a:t>Point at annual spend and average basket value: 0.859. Several columns move together, which means fewer than eight numbers are really varying. retail_data.py knows why: three hidden tendencies, how much a customer likes to spend, how engaged they are, how sensitive to price, drive all eight columns. Nobody tells PCA that.</a:t>
            </a:r>
          </a:p>
          <a:p>
            <a:pPr lvl="0" indent="0" marL="0">
              <a:buNone/>
            </a:pPr>
          </a:p>
          <a:p>
            <a:pPr lvl="0" indent="0" marL="0">
              <a:buNone/>
            </a:pPr>
            <a:r>
              <a:rPr/>
              <a:t>Handout section 4.1.</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Principal component analysis, PCA, built on two columns, where it can be drawn. The second principal component is the direction at right angles to the first.</a:t>
            </a:r>
          </a:p>
          <a:p>
            <a:pPr lvl="0" indent="0" marL="0">
              <a:buNone/>
            </a:pPr>
          </a:p>
          <a:p>
            <a:pPr lvl="0" indent="0" marL="0">
              <a:buNone/>
            </a:pPr>
            <a:r>
              <a:rPr/>
              <a:t>The key sentence is the fourth bullet. A summary that keeps the accounts apart keeps the information that tells them apart, so we want the direction where the shadows are most spread out. A direction where all shadows land in the same place would say nothing about anyone.</a:t>
            </a:r>
          </a:p>
          <a:p>
            <a:pPr lvl="0" indent="0" marL="0">
              <a:buNone/>
            </a:pPr>
          </a:p>
          <a:p>
            <a:pPr lvl="0" indent="0" marL="0">
              <a:buNone/>
            </a:pPr>
            <a:r>
              <a:rPr/>
              <a:t>Standardised means mean 0 and standard deviation 1 per column, so the variance of each column on its own is 1. The next slide shows the shadows on two directions, and their spread for every direction.</a:t>
            </a:r>
          </a:p>
          <a:p>
            <a:pPr lvl="0" indent="0" marL="0">
              <a:buNone/>
            </a:pPr>
          </a:p>
          <a:p>
            <a:pPr lvl="0" indent="0" marL="0">
              <a:buNone/>
            </a:pPr>
            <a:r>
              <a:rPr/>
              <a:t>Handout section 4.2.</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sixty accounts and their shadows on the spend axis, 0 degrees. Middle: the same accounts on the diagonal, 45 degrees. The shadows on the diagonal are visibly more spread out: variance 1.86 against 1.00.</a:t>
            </a:r>
          </a:p>
          <a:p>
            <a:pPr lvl="0" indent="0" marL="0">
              <a:buNone/>
            </a:pPr>
          </a:p>
          <a:p>
            <a:pPr lvl="0" indent="0" marL="0">
              <a:buNone/>
            </a:pPr>
            <a:r>
              <a:rPr/>
              <a:t>Right: the variance of the shadows for every direction from 0 to 180 degrees. The peak, at 45 degrees along the band, is the first component. The lowest point, at 135 degrees across the band, is the second. On the spend axis the variance is exactly 1, as it must be for a standardised column.</a:t>
            </a:r>
          </a:p>
          <a:p>
            <a:pPr lvl="0" indent="0" marL="0">
              <a:buNone/>
            </a:pPr>
          </a:p>
          <a:p>
            <a:pPr lvl="0" indent="0" marL="0">
              <a:buNone/>
            </a:pPr>
            <a:r>
              <a:rPr/>
              <a:t>The next slide gives the formula of that curve. Handout section 4.2.</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z_theta is the shadow at angle theta. This is the variance of a sum, from probability, nothing more; write the middle step on the board. The shadow is z_theta = x1 cos(theta) + x2 sin(theta). Its variance is cos squared times the variance of x1, which is 1, plus sin squared times the variance of x2, also 1, plus twice sin cos times their covariance, which for standardised columns is the correlation r.</a:t>
            </a:r>
          </a:p>
          <a:p>
            <a:pPr lvl="0" indent="0" marL="0">
              <a:buNone/>
            </a:pPr>
          </a:p>
          <a:p>
            <a:pPr lvl="0" indent="0" marL="0">
              <a:buNone/>
            </a:pPr>
            <a:r>
              <a:rPr/>
              <a:t>cos squared plus sin squared is 1, and 2 sin cos is sin(2 theta). So the largest value is 1 + r, at 45 degrees, and the smallest 1 - r, at 135 degrees: with r = 0.859, that is 1.859 and 0.141, the curve of the previous slide.</a:t>
            </a:r>
          </a:p>
          <a:p>
            <a:pPr lvl="0" indent="0" marL="0">
              <a:buNone/>
            </a:pPr>
          </a:p>
          <a:p>
            <a:pPr lvl="0" indent="0" marL="0">
              <a:buNone/>
            </a:pPr>
            <a:r>
              <a:rPr/>
              <a:t>The two components share the total variance, 1 + 1 = 2: the first carries 1.859 / 2, 93% of it. One number per account, its shadow on the diagonal, describes both columns almost completely. Handout section 4.2.</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State it, do not derive it: the derivation is in the advanced lesson. What matters is the meaning: sorted by eigenvalue, largest first, the eigenvectors are the first, second, third component, each at right angles to the ones before, and each eigenvalue says how much of the spread its component carries.</a:t>
            </a:r>
          </a:p>
          <a:p>
            <a:pPr lvl="0" indent="0" marL="0">
              <a:buNone/>
            </a:pPr>
          </a:p>
          <a:p>
            <a:pPr lvl="0" indent="0" marL="0">
              <a:buNone/>
            </a:pPr>
            <a:r>
              <a:rPr/>
              <a:t>The fourth bullet is the check that the statement agrees with what we just did by hand. The covariance matrix of two standardised columns has 1 on the diagonal and r off it; its eigenvalues are 1 + r and 1 - r. Notebook 3 checks it a third way with scikit-learn: shares 0.9297 and 0.0703, which are 1.859 / 2 and 0.141 / 2.</a:t>
            </a:r>
          </a:p>
          <a:p>
            <a:pPr lvl="0" indent="0" marL="0">
              <a:buNone/>
            </a:pPr>
          </a:p>
          <a:p>
            <a:pPr lvl="0" indent="0" marL="0">
              <a:buNone/>
            </a:pPr>
            <a:r>
              <a:rPr/>
              <a:t>Handout section 4.3.</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PCA on all eight standardised columns. Bars: each component’s share of the variance. Line: the share of the first one, two, three components together.</a:t>
            </a:r>
          </a:p>
          <a:p>
            <a:pPr lvl="0" indent="0" marL="0">
              <a:buNone/>
            </a:pPr>
          </a:p>
          <a:p>
            <a:pPr lvl="0" indent="0" marL="0">
              <a:buNone/>
            </a:pPr>
            <a:r>
              <a:rPr/>
              <a:t>Three components carry 93.5% of the variance; the fourth adds only 2.4%. The scree plot has found, from the data alone, the number retail_data.py built in: three hidden tendencies. Read it like the elbow of slide 19: keep the components before the drop.</a:t>
            </a:r>
          </a:p>
          <a:p>
            <a:pPr lvl="0" indent="0" marL="0">
              <a:buNone/>
            </a:pPr>
          </a:p>
          <a:p>
            <a:pPr lvl="0" indent="0" marL="0">
              <a:buNone/>
            </a:pPr>
            <a:r>
              <a:rPr/>
              <a:t>The predictable mistake: keeping components until a round share, 95% or 99%, regardless of the plot. Keeping more variance sounds like losing less. But past the drop, the extra components carry each column’s own noise, not structure, and the next part of the lesson needs exactly that separation.</a:t>
            </a:r>
          </a:p>
          <a:p>
            <a:pPr lvl="0" indent="0" marL="0">
              <a:buNone/>
            </a:pPr>
          </a:p>
          <a:p>
            <a:pPr lvl="0" indent="0" marL="0">
              <a:buNone/>
            </a:pPr>
            <a:r>
              <a:rPr/>
              <a:t>Handout section 4.4.</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how retail_data.py built the anomalies, and it is the whole difficulty. Every single value of a fraudulent account is ordinary. A single-column check, the kind a business rule would use, has nothing to find.</a:t>
            </a:r>
          </a:p>
          <a:p>
            <a:pPr lvl="0" indent="0" marL="0">
              <a:buNone/>
            </a:pPr>
          </a:p>
          <a:p>
            <a:pPr lvl="0" indent="0" marL="0">
              <a:buNone/>
            </a:pPr>
            <a:r>
              <a:rPr/>
              <a:t>But a genuine account with a high spend also has a large basket, because one tendency drives both. A fraudster drawing spend and basket separately breaks that link. The next slide shows it on the two columns we already know.</a:t>
            </a:r>
          </a:p>
          <a:p>
            <a:pPr lvl="0" indent="0" marL="0">
              <a:buNone/>
            </a:pPr>
          </a:p>
          <a:p>
            <a:pPr lvl="0" indent="0" marL="0">
              <a:buNone/>
            </a:pPr>
            <a:r>
              <a:rPr/>
              <a:t>Handout section 5.1.</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two columns of slide 39, annual spend and basket value, with the 40 anomalies in red.</a:t>
            </a:r>
          </a:p>
          <a:p>
            <a:pPr lvl="0" indent="0" marL="0">
              <a:buNone/>
            </a:pPr>
          </a:p>
          <a:p>
            <a:pPr lvl="0" indent="0" marL="0">
              <a:buNone/>
            </a:pPr>
            <a:r>
              <a:rPr/>
              <a:t>Look first at the margins, top and right: each column on its own. The red bars sit inside the blue ones: on one column at a time, the anomalies look ordinary.</a:t>
            </a:r>
          </a:p>
          <a:p>
            <a:pPr lvl="0" indent="0" marL="0">
              <a:buNone/>
            </a:pPr>
          </a:p>
          <a:p>
            <a:pPr lvl="0" indent="0" marL="0">
              <a:buNone/>
            </a:pPr>
            <a:r>
              <a:rPr/>
              <a:t>Then look at the scatter. Genuine accounts follow the band; many anomalies fall off it, with a high spend and a small basket, or the other way round. The anomaly is in the pair, not in either column.</a:t>
            </a:r>
          </a:p>
          <a:p>
            <a:pPr lvl="0" indent="0" marL="0">
              <a:buNone/>
            </a:pPr>
          </a:p>
          <a:p>
            <a:pPr lvl="0" indent="0" marL="0">
              <a:buNone/>
            </a:pPr>
            <a:r>
              <a:rPr/>
              <a:t>Handout section 5.1.</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Keep only the first component, and rebuild each account from its shadow alone: the reconstruction, the gold square, is the point on the line where the shadow fell. In code, pca.inverse_transform(pca.transform(X)): transform computes the shadows, inverse_transform puts them back in the original columns.</a:t>
            </a:r>
          </a:p>
          <a:p>
            <a:pPr lvl="0" indent="0" marL="0">
              <a:buNone/>
            </a:pPr>
          </a:p>
          <a:p>
            <a:pPr lvl="0" indent="0" marL="0">
              <a:buNone/>
            </a:pPr>
            <a:r>
              <a:rPr/>
              <a:t>Two accounts. The genuine one is far from the middle, 4.70, yet its reconstruction lands almost on it: error 0.01, because it lies on the band. The anomaly is closer to the middle, 1.96, and its reconstruction is far away: error 3.75, because the line cannot describe it.</a:t>
            </a:r>
          </a:p>
          <a:p>
            <a:pPr lvl="0" indent="0" marL="0">
              <a:buNone/>
            </a:pPr>
          </a:p>
          <a:p>
            <a:pPr lvl="0" indent="0" marL="0">
              <a:buNone/>
            </a:pPr>
            <a:r>
              <a:rPr/>
              <a:t>Read the title aloud: far from the middle is not the same as far from the pattern. Handout section 5.2.</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x is an account, x-hat its reconstruction from the kept components. The formula is the squared length of the dashed line on the previous slide.</a:t>
            </a:r>
          </a:p>
          <a:p>
            <a:pPr lvl="0" indent="0" marL="0">
              <a:buNone/>
            </a:pPr>
          </a:p>
          <a:p>
            <a:pPr lvl="0" indent="0" marL="0">
              <a:buNone/>
            </a:pPr>
            <a:r>
              <a:rPr/>
              <a:t>In eight columns the line becomes the space spanned by the three components the scree plot kept. An account is suspicious when those three components cannot rebuild it: the detector flags the accounts with the largest e.</a:t>
            </a:r>
          </a:p>
          <a:p>
            <a:pPr lvl="0" indent="0" marL="0">
              <a:buNone/>
            </a:pPr>
          </a:p>
          <a:p>
            <a:pPr lvl="0" indent="0" marL="0">
              <a:buNone/>
            </a:pPr>
            <a:r>
              <a:rPr/>
              <a:t>Handout section 5.2.</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Notebook 3 fits PCA with three components to the eight standardised columns, rebuilds every account, and flags the 2% with the largest reconstruction error: 40 accounts, because Aurora’s fraud team estimates that about 2% of accounts are compromised.</a:t>
            </a:r>
          </a:p>
          <a:p>
            <a:pPr lvl="0" indent="0" marL="0">
              <a:buNone/>
            </a:pPr>
          </a:p>
          <a:p>
            <a:pPr lvl="0" indent="0" marL="0">
              <a:buNone/>
            </a:pPr>
            <a:r>
              <a:rPr/>
              <a:t>37 of the 40 anomalies are among the 40 flagged. Point at how few red bars lie left of the dashed threshold: the mean error is 4.676 for anomalies against 0.431 for genuine accounts.</a:t>
            </a:r>
          </a:p>
          <a:p>
            <a:pPr lvl="0" indent="0" marL="0">
              <a:buNone/>
            </a:pPr>
          </a:p>
          <a:p>
            <a:pPr lvl="0" indent="0" marL="0">
              <a:buNone/>
            </a:pPr>
            <a:r>
              <a:rPr/>
              <a:t>This is the number of the lesson: 37 of 40, using only how eight ordinary-looking columns relate to each other. Ask them to write it down. Handout section 5.3.</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37 is this quarter’s batch of accounts. Notebook 3 regenerates the table with seven other seeds and repeats the identical procedure. The count caught runs from 32 to 38 of 40, with a median of 36.</a:t>
            </a:r>
          </a:p>
          <a:p>
            <a:pPr lvl="0" indent="0" marL="0">
              <a:buNone/>
            </a:pPr>
          </a:p>
          <a:p>
            <a:pPr lvl="0" indent="0" marL="0">
              <a:buNone/>
            </a:pPr>
            <a:r>
              <a:rPr/>
              <a:t>So the detector finds about nine anomalies in ten, and which nine depends on where this quarter’s fraudsters happened to land. Quoting “37 of 40” as a property of the method would be quoting one quarter’s luck: lesson 5 made the same point about a single train/test split, and it holds with no target at all.</a:t>
            </a:r>
          </a:p>
          <a:p>
            <a:pPr lvl="0" indent="0" marL="0">
              <a:buNone/>
            </a:pPr>
          </a:p>
          <a:p>
            <a:pPr lvl="0" indent="0" marL="0">
              <a:buNone/>
            </a:pPr>
            <a:r>
              <a:rPr/>
              <a:t>Handout section 5.3.</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natural move: squash the eight columns into two and look for the anomalies at the edge of the picture. Left, PCA’s first two components. Right, t-SNE, defined on the next slide. Anomalies in red.</a:t>
            </a:r>
          </a:p>
          <a:p>
            <a:pPr lvl="0" indent="0" marL="0">
              <a:buNone/>
            </a:pPr>
          </a:p>
          <a:p>
            <a:pPr lvl="0" indent="0" marL="0">
              <a:buNone/>
            </a:pPr>
            <a:r>
              <a:rPr/>
              <a:t>Ask the room to find red points at the edges. There are hardly any. On the PCA picture the anomalies sit, on average, 1.30 from the middle, against 2.20 for genuine accounts: closer, not farther. Flagging the edge would catch the wrong accounts.</a:t>
            </a:r>
          </a:p>
          <a:p>
            <a:pPr lvl="0" indent="0" marL="0">
              <a:buNone/>
            </a:pPr>
          </a:p>
          <a:p>
            <a:pPr lvl="0" indent="0" marL="0">
              <a:buNone/>
            </a:pPr>
            <a:r>
              <a:rPr/>
              <a:t>Why: a fraudulent account’s values were drawn independently and never extreme, so along the directions where genuine accounts spread out together, its values partly cancel and its shadow lands near the middle. What gives it away is how badly three components rebuild it, and a 2-D picture has thrown that away.</a:t>
            </a:r>
          </a:p>
          <a:p>
            <a:pPr lvl="0" indent="0" marL="0">
              <a:buNone/>
            </a:pPr>
          </a:p>
          <a:p>
            <a:pPr lvl="0" indent="0" marL="0">
              <a:buNone/>
            </a:pPr>
            <a:r>
              <a:rPr/>
              <a:t>This is the predictable mistake the exercise builds on. Handout section 5.4.</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t-SNE is often more striking than PCA at making separate groups visible, because that is what it is built for. The price is in the third and fourth bullets. Two groups drawn far apart in a t-SNE picture are not necessarily more different than two drawn close together. And PCA’s transform can place a new account into an existing picture, while t-SNE has to be run again on everything.</a:t>
            </a:r>
          </a:p>
          <a:p>
            <a:pPr lvl="0" indent="0" marL="0">
              <a:buNone/>
            </a:pPr>
          </a:p>
          <a:p>
            <a:pPr lvl="0" indent="0" marL="0">
              <a:buNone/>
            </a:pPr>
            <a:r>
              <a:rPr/>
              <a:t>On the fraud data it shares PCA’s blind spot, as the previous slide showed. Use it to look at data, never as the measurement. How t-SNE works inside is outside this course; the further reading of the handout points to the original paper.</a:t>
            </a:r>
          </a:p>
          <a:p>
            <a:pPr lvl="0" indent="0" marL="0">
              <a:buNone/>
            </a:pPr>
          </a:p>
          <a:p>
            <a:pPr lvl="0" indent="0" marL="0">
              <a:buNone/>
            </a:pPr>
            <a:r>
              <a:rPr/>
              <a:t>Handout section 5.4.</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PCA and anomalies, on Aurora’s account table. Run Notebooks/03_pca_and_anomalies.ipynb. 20 minutes.</a:t>
            </a:r>
          </a:p>
          <a:p>
            <a:pPr lvl="0" indent="0" marL="0">
              <a:buNone/>
            </a:pPr>
          </a:p>
          <a:p>
            <a:pPr lvl="0" indent="0" marL="0">
              <a:buNone/>
            </a:pPr>
            <a:r>
              <a:rPr/>
              <a:t>Before section 3 prints, have them guess the angle with the widest shadow from the scatter alone. Before section 7, have them predict where the red points will sit on the 2-D pictures, and why.</a:t>
            </a:r>
          </a:p>
          <a:p>
            <a:pPr lvl="0" indent="0" marL="0">
              <a:buNone/>
            </a:pPr>
          </a:p>
          <a:p>
            <a:pPr lvl="0" indent="0" marL="0">
              <a:buNone/>
            </a:pPr>
            <a:r>
              <a:rPr/>
              <a:t>If time runs short, keep sections 6 and 7 together: the reconstruction error catching the anomalies and the 2-D pictures missing them are one argument, and half of it is not worth much.</a:t>
            </a:r>
          </a:p>
          <a:p>
            <a:pPr lvl="0" indent="0" marL="0">
              <a:buNone/>
            </a:pPr>
          </a:p>
          <a:p>
            <a:pPr lvl="0" indent="0" marL="0">
              <a:buNone/>
            </a:pPr>
            <a:r>
              <a:rPr/>
              <a:t>If somebody finishes early: flag 1% and 5% instead of 2%, and report how many anomalies are caught and how many genuine accounts are flagged in each case.</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number to carry out of the room is the last one: 37 of 40 accounts caught using nothing but how eight ordinary-looking columns relate to each other, on a problem the natural 2-D picture gets backwards.</a:t>
            </a:r>
          </a:p>
          <a:p>
            <a:pPr lvl="0" indent="0" marL="0">
              <a:buNone/>
            </a:pPr>
          </a:p>
          <a:p>
            <a:pPr lvl="0" indent="0" marL="0">
              <a:buNone/>
            </a:pPr>
            <a:r>
              <a:rPr/>
              <a:t>Recall the course’s other carry-home numbers so far: 77% accuracy on coin-flip labels from leakage; 94 of 128 imputed rows borrowing from the test set; 365 against billions for a penalised coefficient; 96.20% accuracy from a model that finds no failure; 0.885 to 1.000 from 200 splits of the same data; 0.613 to 0.947 for a linear model against a kernel; 54% of importance on noise. Now 37 of 40.</a:t>
            </a:r>
          </a:p>
          <a:p>
            <a:pPr lvl="0" indent="0" marL="0">
              <a:buNone/>
            </a:pPr>
          </a:p>
          <a:p>
            <a:pPr lvl="0" indent="0" marL="0">
              <a:buNone/>
            </a:pPr>
            <a:r>
              <a:rPr/>
              <a:t>The habit to keep: before trusting an unlabelled result, ask what the measure in front of you is able to see. A silhouette cannot see a wrong idea of what a group is, and a 2-D picture cannot see what the discarded dimensions held. Handout summary.</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it explicitly and say when it comes back: the first ten minutes of lesson 9, Friday 4 December. Nothing is collected; at the exam one of the ten exercises is drawn and the student talks through their own notebook.</a:t>
            </a:r>
          </a:p>
          <a:p>
            <a:pPr lvl="0" indent="0" marL="0">
              <a:buNone/>
            </a:pPr>
          </a:p>
          <a:p>
            <a:pPr lvl="0" indent="0" marL="0">
              <a:buNone/>
            </a:pPr>
            <a:r>
              <a:rPr/>
              <a:t>The exercise gives two account books from one fictional bank. On one, flagging the edge of a 2-D plot works almost as well as reconstruction error; on the other it catches nothing. The skill is to read how each book’s fraud was built well enough to predict which is which before plotting, so insist: write the prediction down first.</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pic>
        <p:nvPicPr>
          <p:cNvPr id="7" name="Logo 7" descr="univaq_logo.png"/>
          <p:cNvPicPr>
            <a:picLocks noChangeAspect="1"/>
          </p:cNvPicPr>
          <p:nvPr/>
        </p:nvPicPr>
        <p:blipFill>
          <a:blip r:embed="rId2"/>
          <a:stretch>
            <a:fillRect/>
          </a:stretch>
        </p:blipFill>
        <p:spPr>
          <a:xfrm>
            <a:off x="3383280" y="282892"/>
            <a:ext cx="2377440" cy="1037097"/>
          </a:xfrm>
          <a:prstGeom prst="rect">
            <a:avLst/>
          </a:prstGeom>
        </p:spPr>
      </p:pic>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nchor="b"/>
          <a:lstStyle>
            <a:lvl1pPr algn="l">
              <a:defRPr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nchor="b"/>
          <a:lstStyle>
            <a:lvl1pPr algn="l">
              <a:defRPr b="1"/>
            </a:lvl1pPr>
          </a:lstStyle>
          <a:p>
            <a:r>
              <a:rPr lang="en-US"/>
              <a:t>Click to edit Master title style</a:t>
            </a:r>
          </a:p>
        </p:txBody>
      </p:sp>
      <p:sp>
        <p:nvSpPr>
          <p:cNvPr id="3" name="Picture Placeholder 2"/>
          <p:cNvSpPr>
            <a:spLocks noGrp="1"/>
          </p:cNvSpPr>
          <p:nvPr>
            <p:ph type="pic" idx="1"/>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endParaRPr lang="en-US"/>
          </a:p>
        </p:txBody>
      </p:sp>
      <p:sp>
        <p:nvSpPr>
          <p:cNvPr id="4" name="Text Placeholder 3"/>
          <p:cNvSpPr>
            <a:spLocks noGrp="1"/>
          </p:cNvSpPr>
          <p:nvPr>
            <p:ph type="body" sz="half" idx="2"/>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pic>
        <p:nvPicPr>
          <p:cNvPr descr="univaq_logo.png" id="7" name="Logo 7"/>
          <p:cNvPicPr>
            <a:picLocks noChangeAspect="1"/>
          </p:cNvPicPr>
          <p:nvPr/>
        </p:nvPicPr>
        <p:blipFill>
          <a:blip r:embed="rId13"/>
          <a:stretch>
            <a:fillRect/>
          </a:stretch>
        </p:blipFill>
        <p:spPr>
          <a:xfrm>
            <a:off x="7836408" y="4530478"/>
            <a:ext cx="1051560" cy="458716"/>
          </a:xfrm>
          <a:prstGeom prst="rect">
            <a:avLst/>
          </a:prstGeom>
        </p:spPr>
      </p:pic>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Lesson 8: Unsupervised Learning</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Technologies for Artificial Intelligence</a:t>
            </a:r>
            <a:br/>
            <a:br/>
            <a:r>
              <a:rPr/>
              <a:t>Fabio Antonini, Università degli Studi dell’Aquila</a:t>
            </a:r>
          </a:p>
        </p:txBody>
      </p:sp>
      <p:sp>
        <p:nvSpPr>
          <p:cNvPr id="4" name="Date Placeholder 3"/>
          <p:cNvSpPr>
            <a:spLocks noGrp="1"/>
          </p:cNvSpPr>
          <p:nvPr>
            <p:ph idx="10" sz="half" type="dt"/>
          </p:nvPr>
        </p:nvSpPr>
        <p:spPr>
          <a:xfrm>
            <a:off x="457200" y="4767263"/>
            <a:ext cx="2133600" cy="273844"/>
          </a:xfrm>
        </p:spPr>
        <p:txBody>
          <a:bodyPr/>
          <a:lstStyle/>
          <a:p>
            <a:pPr lvl="0" indent="0" marL="0">
              <a:buNone/>
            </a:pPr>
            <a:r>
              <a:rPr/>
              <a:t>27 November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Agenda</a:t>
            </a:r>
          </a:p>
        </p:txBody>
      </p:sp>
      <p:sp>
        <p:nvSpPr>
          <p:cNvPr id="3" name="Content Placeholder 2"/>
          <p:cNvSpPr>
            <a:spLocks noGrp="1"/>
          </p:cNvSpPr>
          <p:nvPr>
            <p:ph idx="1"/>
          </p:nvPr>
        </p:nvSpPr>
        <p:spPr>
          <a:xfrm>
            <a:off x="457200" y="1200151"/>
            <a:ext cx="8229600" cy="3394472"/>
          </a:xfrm>
        </p:spPr>
        <p:txBody>
          <a:bodyPr/>
          <a:lstStyle/>
          <a:p>
            <a:pPr lvl="0"/>
            <a:r>
              <a:rPr/>
              <a:t>No target at all: what changes</a:t>
            </a:r>
          </a:p>
          <a:p>
            <a:pPr lvl="0"/>
            <a:r>
              <a:rPr/>
              <a:t>k-means: one centre per group, two moves, how many groups</a:t>
            </a:r>
          </a:p>
          <a:p>
            <a:pPr lvl="0"/>
            <a:r>
              <a:rPr/>
              <a:t>When groups are not round: a tree of merges, and DBSCAN</a:t>
            </a:r>
          </a:p>
          <a:p>
            <a:pPr lvl="0"/>
            <a:r>
              <a:rPr/>
              <a:t>Principal component analysis (PCA): the widest shadow</a:t>
            </a:r>
          </a:p>
          <a:p>
            <a:pPr lvl="0"/>
            <a:r>
              <a:rPr/>
              <a:t>Fraud that looks ordinary on every column, and how to catch it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Exercise 7, before we start</a:t>
            </a:r>
          </a:p>
        </p:txBody>
      </p:sp>
      <p:sp>
        <p:nvSpPr>
          <p:cNvPr id="3" name="Content Placeholder 2"/>
          <p:cNvSpPr>
            <a:spLocks noGrp="1"/>
          </p:cNvSpPr>
          <p:nvPr>
            <p:ph idx="1"/>
          </p:nvPr>
        </p:nvSpPr>
        <p:spPr>
          <a:xfrm>
            <a:off x="457200" y="1200151"/>
            <a:ext cx="8229600" cy="3394472"/>
          </a:xfrm>
        </p:spPr>
        <p:txBody>
          <a:bodyPr/>
          <a:lstStyle/>
          <a:p>
            <a:pPr lvl="0"/>
            <a:r>
              <a:rPr/>
              <a:t>Nothing is collected: we discuss it, ten minutes</a:t>
            </a:r>
          </a:p>
          <a:p>
            <a:pPr lvl="0"/>
            <a:r>
              <a:rPr/>
              <a:t>What counts is the </a:t>
            </a:r>
            <a:r>
              <a:rPr b="1"/>
              <a:t>defence of the chosen model family</a:t>
            </a:r>
            <a:r>
              <a:rPr/>
              <a:t>, not the winning score</a:t>
            </a:r>
          </a:p>
          <a:p>
            <a:pPr lvl="0"/>
            <a:r>
              <a:rPr/>
              <a:t>The common gap: an importance ranking quoted as fact, without checking how much of it landed on noise columns</a:t>
            </a:r>
          </a:p>
          <a:p>
            <a:pPr lvl="0"/>
            <a:r>
              <a:rPr/>
              <a:t>Today the same duty, with no labels at all: every grouping is a claim to check</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 target at all</a:t>
            </a:r>
          </a:p>
        </p:txBody>
      </p:sp>
      <p:sp>
        <p:nvSpPr>
          <p:cNvPr id="3" name="Content Placeholder 2"/>
          <p:cNvSpPr>
            <a:spLocks noGrp="1"/>
          </p:cNvSpPr>
          <p:nvPr>
            <p:ph idx="1"/>
          </p:nvPr>
        </p:nvSpPr>
        <p:spPr>
          <a:xfrm>
            <a:off x="457200" y="1200151"/>
            <a:ext cx="8229600" cy="3394472"/>
          </a:xfrm>
        </p:spPr>
        <p:txBody>
          <a:bodyPr/>
          <a:lstStyle/>
          <a:p>
            <a:pPr lvl="0"/>
            <a:r>
              <a:rPr/>
              <a:t>So far: pairs, an input x and a target y</a:t>
            </a:r>
          </a:p>
          <a:p>
            <a:pPr lvl="0"/>
            <a:r>
              <a:rPr b="1"/>
              <a:t>Unsupervised learning</a:t>
            </a:r>
            <a:r>
              <a:rPr/>
              <a:t> has only x: no answer key</a:t>
            </a:r>
          </a:p>
          <a:p>
            <a:pPr lvl="0"/>
            <a:r>
              <a:rPr/>
              <a:t>The task: “describe the structure”, not “predict the label”</a:t>
            </a:r>
          </a:p>
          <a:p>
            <a:pPr lvl="0"/>
            <a:r>
              <a:rPr/>
              <a:t>Most data was never labelled: too slow, costly, or ill defined</a:t>
            </a:r>
          </a:p>
          <a:p>
            <a:pPr lvl="0"/>
            <a:r>
              <a:rPr/>
              <a:t>So these methods often run </a:t>
            </a:r>
            <a:r>
              <a:rPr b="1"/>
              <a:t>first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Aurora: three problems, no answer key</a:t>
            </a:r>
          </a:p>
        </p:txBody>
      </p:sp>
      <p:sp>
        <p:nvSpPr>
          <p:cNvPr id="3" name="Content Placeholder 2"/>
          <p:cNvSpPr>
            <a:spLocks noGrp="1"/>
          </p:cNvSpPr>
          <p:nvPr>
            <p:ph idx="1"/>
          </p:nvPr>
        </p:nvSpPr>
        <p:spPr>
          <a:xfrm>
            <a:off x="457200" y="1200151"/>
            <a:ext cx="8229600" cy="3394472"/>
          </a:xfrm>
        </p:spPr>
        <p:txBody>
          <a:bodyPr/>
          <a:lstStyle/>
          <a:p>
            <a:pPr lvl="0"/>
            <a:r>
              <a:rPr b="1"/>
              <a:t>Group 2,000 customers</a:t>
            </a:r>
            <a:r>
              <a:rPr/>
              <a:t>, from annual spend and visits per month: </a:t>
            </a:r>
            <a:r>
              <a:rPr b="1"/>
              <a:t>k-means</a:t>
            </a:r>
            <a:r>
              <a:rPr/>
              <a:t>, notebook 1</a:t>
            </a:r>
          </a:p>
          <a:p>
            <a:pPr lvl="0"/>
            <a:r>
              <a:rPr b="1"/>
              <a:t>Tell bots from humans</a:t>
            </a:r>
            <a:r>
              <a:rPr/>
              <a:t> in 1,500 website sessions with the same average behaviour: </a:t>
            </a:r>
            <a:r>
              <a:rPr b="1"/>
              <a:t>a tree of merges and DBSCAN</a:t>
            </a:r>
            <a:r>
              <a:rPr/>
              <a:t>, notebook 2</a:t>
            </a:r>
          </a:p>
          <a:p>
            <a:pPr lvl="0"/>
            <a:r>
              <a:rPr b="1"/>
              <a:t>Catch fraud</a:t>
            </a:r>
            <a:r>
              <a:rPr/>
              <a:t> in an 8-column account table, where every value looks ordinary: </a:t>
            </a:r>
            <a:r>
              <a:rPr b="1"/>
              <a:t>PCA</a:t>
            </a:r>
            <a:r>
              <a:rPr/>
              <a:t>, notebook 3</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 truth Aurora will never have</a:t>
            </a:r>
          </a:p>
        </p:txBody>
      </p:sp>
      <p:sp>
        <p:nvSpPr>
          <p:cNvPr id="3" name="Content Placeholder 2"/>
          <p:cNvSpPr>
            <a:spLocks noGrp="1"/>
          </p:cNvSpPr>
          <p:nvPr>
            <p:ph idx="1"/>
          </p:nvPr>
        </p:nvSpPr>
        <p:spPr>
          <a:xfrm>
            <a:off x="457200" y="1200151"/>
            <a:ext cx="8229600" cy="3394472"/>
          </a:xfrm>
        </p:spPr>
        <p:txBody>
          <a:bodyPr/>
          <a:lstStyle/>
          <a:p>
            <a:pPr lvl="0"/>
            <a:r>
              <a:rPr>
                <a:latin typeface="Courier"/>
              </a:rPr>
              <a:t>Notebooks/retail_data.py</a:t>
            </a:r>
            <a:r>
              <a:rPr/>
              <a:t> makes all three datasets, and publishes how in </a:t>
            </a:r>
            <a:r>
              <a:rPr>
                <a:latin typeface="Courier"/>
              </a:rPr>
              <a:t>TRUE_*</a:t>
            </a:r>
            <a:r>
              <a:rPr/>
              <a:t> constants</a:t>
            </a:r>
          </a:p>
          <a:p>
            <a:pPr lvl="0"/>
            <a:r>
              <a:rPr/>
              <a:t>So today every method can be checked against the real answer</a:t>
            </a:r>
          </a:p>
          <a:p>
            <a:pPr lvl="0"/>
            <a:r>
              <a:rPr/>
              <a:t>Aurora’s own analysts could never do that check</a:t>
            </a:r>
          </a:p>
          <a:p>
            <a:pPr lvl="0"/>
            <a:r>
              <a:rPr/>
              <a:t>Remember the difference: it makes the lesson teachable, and it is exactly what is missing on real data</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2,000 customers, no labels</a:t>
            </a:r>
          </a:p>
        </p:txBody>
      </p:sp>
      <p:pic>
        <p:nvPicPr>
          <p:cNvPr descr="customers_unlabelled.png" id="0" name="Picture 1"/>
          <p:cNvPicPr>
            <a:picLocks noGrp="1" noChangeAspect="1"/>
          </p:cNvPicPr>
          <p:nvPr/>
        </p:nvPicPr>
        <p:blipFill>
          <a:blip r:embed="rId3"/>
          <a:stretch>
            <a:fillRect/>
          </a:stretch>
        </p:blipFill>
        <p:spPr bwMode="auto">
          <a:xfrm>
            <a:off x="2457729" y="1166099"/>
            <a:ext cx="4228542" cy="3360181"/>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One centre per group</a:t>
            </a:r>
          </a:p>
        </p:txBody>
      </p:sp>
      <p:sp>
        <p:nvSpPr>
          <p:cNvPr id="3" name="Content Placeholder 2"/>
          <p:cNvSpPr>
            <a:spLocks noGrp="1"/>
          </p:cNvSpPr>
          <p:nvPr>
            <p:ph idx="1"/>
          </p:nvPr>
        </p:nvSpPr>
        <p:spPr>
          <a:xfrm>
            <a:off x="457200" y="1200151"/>
            <a:ext cx="8229600" cy="3394472"/>
          </a:xfrm>
        </p:spPr>
        <p:txBody>
          <a:bodyPr/>
          <a:lstStyle/>
          <a:p>
            <a:pPr lvl="0"/>
            <a:r>
              <a:rPr/>
              <a:t>One point per group, its </a:t>
            </a:r>
            <a:r>
              <a:rPr b="1"/>
              <a:t>centre</a:t>
            </a:r>
            <a:r>
              <a:rPr/>
              <a:t>: the “typical customer”</a:t>
            </a:r>
          </a:p>
          <a:p>
            <a:pPr lvl="0"/>
            <a:r>
              <a:rPr/>
              <a:t>Every customer goes to the </a:t>
            </a:r>
            <a:r>
              <a:rPr b="1"/>
              <a:t>nearest</a:t>
            </a:r>
            <a:r>
              <a:rPr/>
              <a:t> centre</a:t>
            </a:r>
          </a:p>
          <a:p>
            <a:pPr lvl="0"/>
            <a:r>
              <a:rPr b="1"/>
              <a:t>k-means</a:t>
            </a:r>
            <a:r>
              <a:rPr/>
              <a:t> finds k centres that keep customers close to their own</a:t>
            </a:r>
          </a:p>
          <a:p>
            <a:pPr lvl="0"/>
            <a:r>
              <a:rPr/>
              <a:t>k, the number of groups, is </a:t>
            </a:r>
            <a:r>
              <a:rPr b="1"/>
              <a:t>your choice</a:t>
            </a:r>
          </a:p>
          <a:p>
            <a:pPr lvl="0"/>
            <a:r>
              <a:rPr/>
              <a:t>“Nearest” is straight-line distance: </a:t>
            </a:r>
            <a:r>
              <a:rPr b="1"/>
              <a:t>standardise</a:t>
            </a:r>
            <a:r>
              <a:rPr/>
              <a:t> first (lesson 2)</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Two moves, repeated</a:t>
            </a:r>
          </a:p>
        </p:txBody>
      </p:sp>
      <p:sp>
        <p:nvSpPr>
          <p:cNvPr id="3" name="Content Placeholder 2"/>
          <p:cNvSpPr>
            <a:spLocks noGrp="1"/>
          </p:cNvSpPr>
          <p:nvPr>
            <p:ph idx="1"/>
          </p:nvPr>
        </p:nvSpPr>
        <p:spPr>
          <a:xfrm>
            <a:off x="457200" y="1200151"/>
            <a:ext cx="8229600" cy="3394472"/>
          </a:xfrm>
        </p:spPr>
        <p:txBody>
          <a:bodyPr/>
          <a:lstStyle/>
          <a:p>
            <a:pPr lvl="0"/>
            <a:r>
              <a:rPr/>
              <a:t>Start: k centres, e.g. k random customers</a:t>
            </a:r>
          </a:p>
          <a:p>
            <a:pPr lvl="0"/>
            <a:r>
              <a:rPr b="1"/>
              <a:t>Assign</a:t>
            </a:r>
            <a:r>
              <a:rPr/>
              <a:t>: every point to its nearest centre</a:t>
            </a:r>
          </a:p>
          <a:p>
            <a:pPr lvl="0"/>
            <a:r>
              <a:rPr b="1"/>
              <a:t>Move</a:t>
            </a:r>
            <a:r>
              <a:rPr/>
              <a:t>: every centre to the </a:t>
            </a:r>
            <a:r>
              <a:rPr b="1"/>
              <a:t>mean</a:t>
            </a:r>
            <a:r>
              <a:rPr/>
              <a:t> of its points</a:t>
            </a:r>
          </a:p>
          <a:p>
            <a:pPr lvl="0"/>
            <a:r>
              <a:rPr/>
              <a:t>Repeat until a round changes nothing</a:t>
            </a:r>
          </a:p>
          <a:p>
            <a:pPr lvl="0"/>
            <a:r>
              <a:rPr/>
              <a:t>In code: </a:t>
            </a:r>
            <a:r>
              <a:rPr>
                <a:latin typeface="Courier"/>
              </a:rPr>
              <a:t>KMeans(n_clusters=4)</a:t>
            </a:r>
            <a:r>
              <a:rPr/>
              <a:t>, then </a:t>
            </a:r>
            <a:r>
              <a:rPr>
                <a:latin typeface="Courier"/>
              </a:rPr>
              <a:t>labels_</a:t>
            </a:r>
            <a:r>
              <a:rPr/>
              <a:t>, </a:t>
            </a:r>
            <a:r>
              <a:rPr>
                <a:latin typeface="Courier"/>
              </a:rPr>
              <a:t>cluster_centers_</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One number for how tight the groups are</a:t>
            </a:r>
          </a:p>
        </p:txBody>
      </p:sp>
      <p:sp>
        <p:nvSpPr>
          <p:cNvPr id="3" name="Content Placeholder 2"/>
          <p:cNvSpPr>
            <a:spLocks noGrp="1"/>
          </p:cNvSpPr>
          <p:nvPr>
            <p:ph idx="1"/>
          </p:nvPr>
        </p:nvSpPr>
        <p:spPr>
          <a:xfrm>
            <a:off x="457200" y="1200151"/>
            <a:ext cx="8229600" cy="3394472"/>
          </a:xfrm>
        </p:spPr>
        <p:txBody>
          <a:bodyPr/>
          <a:lstStyle/>
          <a:p>
            <a:pPr lvl="0"/>
            <a:r>
              <a:rPr/>
              <a:t>Draw a line from every point to the centre of its group</a:t>
            </a:r>
          </a:p>
          <a:p>
            <a:pPr lvl="0"/>
            <a:r>
              <a:rPr b="1"/>
              <a:t>Within-cluster sum of squares</a:t>
            </a:r>
            <a:r>
              <a:rPr/>
              <a:t> (WCSS): the squared lengths of those lines, added up</a:t>
            </a:r>
          </a:p>
          <a:p>
            <a:pPr lvl="0"/>
            <a:r>
              <a:rPr/>
              <a:t>Short lines, small WCSS: every point is close to its centre</a:t>
            </a:r>
          </a:p>
          <a:p>
            <a:pPr lvl="0"/>
            <a:r>
              <a:rPr/>
              <a:t>scikit-learn reports it as </a:t>
            </a:r>
            <a:r>
              <a:rPr>
                <a:latin typeface="Courier"/>
              </a:rPr>
              <a:t>inertia_</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within-cluster sum of squares, as a formula</a:t>
            </a:r>
          </a:p>
        </p:txBody>
      </p:sp>
      <p:pic>
        <p:nvPicPr>
          <p:cNvPr descr="eq_e558b85475.png" id="0" name="Picture 1"/>
          <p:cNvPicPr>
            <a:picLocks noGrp="1" noChangeAspect="1"/>
          </p:cNvPicPr>
          <p:nvPr/>
        </p:nvPicPr>
        <p:blipFill>
          <a:blip r:embed="rId3"/>
          <a:stretch>
            <a:fillRect/>
          </a:stretch>
        </p:blipFill>
        <p:spPr bwMode="auto">
          <a:xfrm>
            <a:off x="1532392" y="1861131"/>
            <a:ext cx="6079215" cy="1970116"/>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Six customers, by hand</a:t>
            </a:r>
          </a:p>
        </p:txBody>
      </p:sp>
      <p:pic>
        <p:nvPicPr>
          <p:cNvPr descr="kmeans_by_hand.png" id="0" name="Picture 1"/>
          <p:cNvPicPr>
            <a:picLocks noGrp="1" noChangeAspect="1"/>
          </p:cNvPicPr>
          <p:nvPr/>
        </p:nvPicPr>
        <p:blipFill>
          <a:blip r:embed="rId3"/>
          <a:stretch>
            <a:fillRect/>
          </a:stretch>
        </p:blipFill>
        <p:spPr bwMode="auto">
          <a:xfrm>
            <a:off x="2426266" y="1166099"/>
            <a:ext cx="4291467" cy="3360181"/>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Why it always stops</a:t>
            </a:r>
          </a:p>
        </p:txBody>
      </p:sp>
      <p:sp>
        <p:nvSpPr>
          <p:cNvPr id="3" name="Content Placeholder 2"/>
          <p:cNvSpPr>
            <a:spLocks noGrp="1"/>
          </p:cNvSpPr>
          <p:nvPr>
            <p:ph idx="1"/>
          </p:nvPr>
        </p:nvSpPr>
        <p:spPr>
          <a:xfrm>
            <a:off x="457200" y="1200151"/>
            <a:ext cx="8229600" cy="3394472"/>
          </a:xfrm>
        </p:spPr>
        <p:txBody>
          <a:bodyPr/>
          <a:lstStyle/>
          <a:p>
            <a:pPr lvl="0"/>
            <a:r>
              <a:rPr b="1"/>
              <a:t>Assign</a:t>
            </a:r>
            <a:r>
              <a:rPr/>
              <a:t> cannot raise WCSS: points only move to a nearer centre</a:t>
            </a:r>
          </a:p>
          <a:p>
            <a:pPr lvl="0"/>
            <a:r>
              <a:rPr b="1"/>
              <a:t>Move</a:t>
            </a:r>
            <a:r>
              <a:rPr/>
              <a:t> cannot raise it: the mean is the closest point to a group, in squared distance</a:t>
            </a:r>
          </a:p>
          <a:p>
            <a:pPr lvl="0"/>
            <a:r>
              <a:rPr/>
              <a:t>Finitely many ways to split m points into k groups</a:t>
            </a:r>
          </a:p>
          <a:p>
            <a:pPr lvl="0"/>
            <a:r>
              <a:rPr/>
              <a:t>So WCSS falls or stays until nothing changes: it </a:t>
            </a:r>
            <a:r>
              <a:rPr b="1"/>
              <a:t>stops</a:t>
            </a:r>
          </a:p>
          <a:p>
            <a:pPr lvl="0"/>
            <a:r>
              <a:rPr/>
              <a:t>Six customers: 220, 56.25, 16.69, 2.67</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Same data, two starts</a:t>
            </a:r>
          </a:p>
        </p:txBody>
      </p:sp>
      <p:pic>
        <p:nvPicPr>
          <p:cNvPr descr="kmeans_two_starts.png" id="0" name="Picture 1"/>
          <p:cNvPicPr>
            <a:picLocks noGrp="1" noChangeAspect="1"/>
          </p:cNvPicPr>
          <p:nvPr/>
        </p:nvPicPr>
        <p:blipFill>
          <a:blip r:embed="rId3"/>
          <a:stretch>
            <a:fillRect/>
          </a:stretch>
        </p:blipFill>
        <p:spPr bwMode="auto">
          <a:xfrm>
            <a:off x="544817" y="1166099"/>
            <a:ext cx="8054366" cy="3360181"/>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remedy: several starts, keep the best</a:t>
            </a:r>
          </a:p>
        </p:txBody>
      </p:sp>
      <p:sp>
        <p:nvSpPr>
          <p:cNvPr id="3" name="Content Placeholder 2"/>
          <p:cNvSpPr>
            <a:spLocks noGrp="1"/>
          </p:cNvSpPr>
          <p:nvPr>
            <p:ph idx="1"/>
          </p:nvPr>
        </p:nvSpPr>
        <p:spPr>
          <a:xfrm>
            <a:off x="457200" y="1200151"/>
            <a:ext cx="8229600" cy="3394472"/>
          </a:xfrm>
        </p:spPr>
        <p:txBody>
          <a:bodyPr/>
          <a:lstStyle/>
          <a:p>
            <a:pPr lvl="0"/>
            <a:r>
              <a:rPr/>
              <a:t>30 random starts: 29 reach WCSS </a:t>
            </a:r>
            <a:r>
              <a:rPr b="1"/>
              <a:t>374.1</a:t>
            </a:r>
            <a:r>
              <a:rPr/>
              <a:t>, one stops at </a:t>
            </a:r>
            <a:r>
              <a:rPr b="1"/>
              <a:t>1,390.4</a:t>
            </a:r>
          </a:p>
          <a:p>
            <a:pPr lvl="0"/>
            <a:r>
              <a:rPr/>
              <a:t>Rare, but one run cannot tell you it was the unlucky one</a:t>
            </a:r>
          </a:p>
          <a:p>
            <a:pPr lvl="0"/>
            <a:r>
              <a:rPr/>
              <a:t>So: several starts, keep the lowest WCSS</a:t>
            </a:r>
          </a:p>
          <a:p>
            <a:pPr lvl="0"/>
            <a:r>
              <a:rPr/>
              <a:t>scikit-learn: </a:t>
            </a:r>
            <a:r>
              <a:rPr>
                <a:latin typeface="Courier"/>
              </a:rPr>
              <a:t>n_init=10</a:t>
            </a:r>
            <a:r>
              <a:rPr/>
              <a:t>, plus smarter starts (</a:t>
            </a:r>
            <a:r>
              <a:rPr b="1"/>
              <a:t>k-means++</a:t>
            </a:r>
            <a:r>
              <a:rPr/>
              <a:t>)</a:t>
            </a:r>
          </a:p>
          <a:p>
            <a:pPr lvl="0"/>
            <a:r>
              <a:rPr>
                <a:latin typeface="Courier"/>
              </a:rPr>
              <a:t>KMeans</a:t>
            </a:r>
            <a:r>
              <a:rPr/>
              <a:t> and the ten lines agree: 374.0919</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How many groups?</a:t>
            </a:r>
          </a:p>
        </p:txBody>
      </p:sp>
      <p:sp>
        <p:nvSpPr>
          <p:cNvPr id="3" name="Content Placeholder 2"/>
          <p:cNvSpPr>
            <a:spLocks noGrp="1"/>
          </p:cNvSpPr>
          <p:nvPr>
            <p:ph idx="1"/>
          </p:nvPr>
        </p:nvSpPr>
        <p:spPr>
          <a:xfrm>
            <a:off x="457200" y="1200151"/>
            <a:ext cx="8229600" cy="3394472"/>
          </a:xfrm>
        </p:spPr>
        <p:txBody>
          <a:bodyPr/>
          <a:lstStyle/>
          <a:p>
            <a:pPr lvl="0"/>
            <a:r>
              <a:rPr/>
              <a:t>k is an </a:t>
            </a:r>
            <a:r>
              <a:rPr b="1"/>
              <a:t>input</a:t>
            </a:r>
            <a:r>
              <a:rPr/>
              <a:t>: the algorithm does not choose it</a:t>
            </a:r>
          </a:p>
          <a:p>
            <a:pPr lvl="0"/>
            <a:r>
              <a:rPr/>
              <a:t>WCSS always falls as k grows: one group per point gives 0</a:t>
            </a:r>
          </a:p>
          <a:p>
            <a:pPr lvl="0"/>
            <a:r>
              <a:rPr/>
              <a:t>So “lowest WCSS” always picks the largest k tried</a:t>
            </a:r>
          </a:p>
          <a:p>
            <a:pPr lvl="0"/>
            <a:r>
              <a:rPr/>
              <a:t>Instead, </a:t>
            </a:r>
            <a:r>
              <a:rPr b="1"/>
              <a:t>the elbow</a:t>
            </a:r>
            <a:r>
              <a:rPr/>
              <a:t>: where WCSS stops falling steeply</a:t>
            </a:r>
          </a:p>
          <a:p>
            <a:pPr lvl="0"/>
            <a:r>
              <a:rPr/>
              <a:t>And </a:t>
            </a:r>
            <a:r>
              <a:rPr b="1"/>
              <a:t>the silhouette</a:t>
            </a:r>
            <a:r>
              <a:rPr/>
              <a:t>: is each point nearer its own group than the next?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silhouette of one point</a:t>
            </a:r>
          </a:p>
        </p:txBody>
      </p:sp>
      <p:pic>
        <p:nvPicPr>
          <p:cNvPr descr="silhouette_one_point.png" id="0" name="Picture 1"/>
          <p:cNvPicPr>
            <a:picLocks noGrp="1" noChangeAspect="1"/>
          </p:cNvPicPr>
          <p:nvPr/>
        </p:nvPicPr>
        <p:blipFill>
          <a:blip r:embed="rId3"/>
          <a:stretch>
            <a:fillRect/>
          </a:stretch>
        </p:blipFill>
        <p:spPr bwMode="auto">
          <a:xfrm>
            <a:off x="2250077" y="1166099"/>
            <a:ext cx="4643845" cy="3360181"/>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silhouette, as a formula</a:t>
            </a:r>
          </a:p>
        </p:txBody>
      </p:sp>
      <p:pic>
        <p:nvPicPr>
          <p:cNvPr descr="eq_68b6f50581.png" id="0" name="Picture 1"/>
          <p:cNvPicPr>
            <a:picLocks noGrp="1" noChangeAspect="1"/>
          </p:cNvPicPr>
          <p:nvPr/>
        </p:nvPicPr>
        <p:blipFill>
          <a:blip r:embed="rId3"/>
          <a:stretch>
            <a:fillRect/>
          </a:stretch>
        </p:blipFill>
        <p:spPr bwMode="auto">
          <a:xfrm>
            <a:off x="2719520" y="2260142"/>
            <a:ext cx="3704960" cy="1172094"/>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Elbow and silhouette, on 2,000 customers</a:t>
            </a:r>
          </a:p>
        </p:txBody>
      </p:sp>
      <p:pic>
        <p:nvPicPr>
          <p:cNvPr descr="elbow_silhouette.png" id="0" name="Picture 1"/>
          <p:cNvPicPr>
            <a:picLocks noGrp="1" noChangeAspect="1"/>
          </p:cNvPicPr>
          <p:nvPr/>
        </p:nvPicPr>
        <p:blipFill>
          <a:blip r:embed="rId3"/>
          <a:stretch>
            <a:fillRect/>
          </a:stretch>
        </p:blipFill>
        <p:spPr bwMode="auto">
          <a:xfrm>
            <a:off x="457200" y="1201539"/>
            <a:ext cx="8229600" cy="32893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Checking against the truth: the adjusted Rand index</a:t>
            </a:r>
          </a:p>
        </p:txBody>
      </p:sp>
      <p:sp>
        <p:nvSpPr>
          <p:cNvPr id="3" name="Content Placeholder 2"/>
          <p:cNvSpPr>
            <a:spLocks noGrp="1"/>
          </p:cNvSpPr>
          <p:nvPr>
            <p:ph idx="1"/>
          </p:nvPr>
        </p:nvSpPr>
        <p:spPr>
          <a:xfrm>
            <a:off x="457200" y="1200151"/>
            <a:ext cx="8229600" cy="3394472"/>
          </a:xfrm>
        </p:spPr>
        <p:txBody>
          <a:bodyPr/>
          <a:lstStyle/>
          <a:p>
            <a:pPr lvl="0"/>
            <a:r>
              <a:rPr/>
              <a:t>Possible only here: the generator knows each customer’s segment</a:t>
            </a:r>
          </a:p>
          <a:p>
            <a:pPr lvl="0"/>
            <a:r>
              <a:rPr/>
              <a:t>For every </a:t>
            </a:r>
            <a:r>
              <a:rPr b="1"/>
              <a:t>pair</a:t>
            </a:r>
            <a:r>
              <a:rPr/>
              <a:t>: do both groupings agree (together, or apart)?</a:t>
            </a:r>
          </a:p>
          <a:p>
            <a:pPr lvl="0"/>
            <a:r>
              <a:rPr/>
              <a:t>Share of pairs that agree: the Rand index</a:t>
            </a:r>
          </a:p>
          <a:p>
            <a:pPr lvl="0"/>
            <a:r>
              <a:rPr b="1"/>
              <a:t>Adjusted Rand index</a:t>
            </a:r>
            <a:r>
              <a:rPr/>
              <a:t> (ARI): random grouping about 0, identical 1</a:t>
            </a:r>
          </a:p>
          <a:p>
            <a:pPr lvl="0"/>
            <a:r>
              <a:rPr/>
              <a:t>In code: </a:t>
            </a:r>
            <a:r>
              <a:rPr>
                <a:latin typeface="Courier"/>
              </a:rPr>
              <a:t>adjusted_rand_score(truth, labels)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k-means against the truth</a:t>
            </a:r>
          </a:p>
        </p:txBody>
      </p:sp>
      <p:pic>
        <p:nvPicPr>
          <p:cNvPr descr="kmeans_vs_truth.png" id="0" name="Picture 1"/>
          <p:cNvPicPr>
            <a:picLocks noGrp="1" noChangeAspect="1"/>
          </p:cNvPicPr>
          <p:nvPr/>
        </p:nvPicPr>
        <p:blipFill>
          <a:blip r:embed="rId3"/>
          <a:stretch>
            <a:fillRect/>
          </a:stretch>
        </p:blipFill>
        <p:spPr bwMode="auto">
          <a:xfrm>
            <a:off x="532232" y="1166099"/>
            <a:ext cx="8079536" cy="3360181"/>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1, live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section, and its slides</a:t>
                      </a:r>
                    </a:p>
                  </a:txBody>
                  <a:tcPr/>
                </a:tc>
                <a:tc>
                  <a:txBody>
                    <a:bodyPr/>
                    <a:lstStyle/>
                    <a:p>
                      <a:pPr lvl="0" indent="0" marL="0">
                        <a:buNone/>
                      </a:pPr>
                      <a:r>
                        <a:rPr/>
                        <a:t>you call (→ the number to come back with)</a:t>
                      </a:r>
                    </a:p>
                  </a:txBody>
                  <a:tcPr/>
                </a:tc>
              </a:tr>
              <a:tr h="0">
                <a:tc>
                  <a:txBody>
                    <a:bodyPr/>
                    <a:lstStyle/>
                    <a:p>
                      <a:pPr lvl="0" indent="0" marL="0">
                        <a:buNone/>
                      </a:pPr>
                      <a:r>
                        <a:rPr/>
                        <a:t>look first, 7</a:t>
                      </a:r>
                    </a:p>
                  </a:txBody>
                </a:tc>
                <a:tc>
                  <a:txBody>
                    <a:bodyPr/>
                    <a:lstStyle/>
                    <a:p>
                      <a:pPr lvl="0" indent="0" marL="0">
                        <a:buNone/>
                      </a:pPr>
                      <a:r>
                        <a:rPr>
                          <a:latin typeface="Courier"/>
                        </a:rPr>
                        <a:t>StandardScaler</a:t>
                      </a:r>
                      <a:r>
                        <a:rPr/>
                        <a:t> → 2,000 customers, 2 columns</a:t>
                      </a:r>
                    </a:p>
                  </a:txBody>
                </a:tc>
              </a:tr>
              <a:tr h="0">
                <a:tc>
                  <a:txBody>
                    <a:bodyPr/>
                    <a:lstStyle/>
                    <a:p>
                      <a:pPr lvl="0" indent="0" marL="0">
                        <a:buNone/>
                      </a:pPr>
                      <a:r>
                        <a:rPr/>
                        <a:t>k-means by hand, 9-13</a:t>
                      </a:r>
                    </a:p>
                  </a:txBody>
                </a:tc>
                <a:tc>
                  <a:txBody>
                    <a:bodyPr/>
                    <a:lstStyle/>
                    <a:p>
                      <a:pPr lvl="0" indent="0" marL="0">
                        <a:buNone/>
                      </a:pPr>
                      <a:r>
                        <a:rPr/>
                        <a:t>NumPy only → WCSS 220, 56.25, 16.69, 2.67</a:t>
                      </a:r>
                    </a:p>
                  </a:txBody>
                </a:tc>
              </a:tr>
              <a:tr h="0">
                <a:tc>
                  <a:txBody>
                    <a:bodyPr/>
                    <a:lstStyle/>
                    <a:p>
                      <a:pPr lvl="0" indent="0" marL="0">
                        <a:buNone/>
                      </a:pPr>
                      <a:r>
                        <a:rPr/>
                        <a:t>two starts, 14-15</a:t>
                      </a:r>
                    </a:p>
                  </a:txBody>
                </a:tc>
                <a:tc>
                  <a:txBody>
                    <a:bodyPr/>
                    <a:lstStyle/>
                    <a:p>
                      <a:pPr lvl="0" indent="0" marL="0">
                        <a:buNone/>
                      </a:pPr>
                      <a:r>
                        <a:rPr/>
                        <a:t>NumPy, then </a:t>
                      </a:r>
                      <a:r>
                        <a:rPr>
                          <a:latin typeface="Courier"/>
                        </a:rPr>
                        <a:t>KMeans</a:t>
                      </a:r>
                      <a:r>
                        <a:rPr/>
                        <a:t> → 374.1 against 1,390.4</a:t>
                      </a:r>
                    </a:p>
                  </a:txBody>
                </a:tc>
              </a:tr>
              <a:tr h="0">
                <a:tc>
                  <a:txBody>
                    <a:bodyPr/>
                    <a:lstStyle/>
                    <a:p>
                      <a:pPr lvl="0" indent="0" marL="0">
                        <a:buNone/>
                      </a:pPr>
                      <a:r>
                        <a:rPr/>
                        <a:t>how many groups, 16-19</a:t>
                      </a:r>
                    </a:p>
                  </a:txBody>
                </a:tc>
                <a:tc>
                  <a:txBody>
                    <a:bodyPr/>
                    <a:lstStyle/>
                    <a:p>
                      <a:pPr lvl="0" indent="0" marL="0">
                        <a:buNone/>
                      </a:pPr>
                      <a:r>
                        <a:rPr>
                          <a:latin typeface="Courier"/>
                        </a:rPr>
                        <a:t>KMeans</a:t>
                      </a:r>
                      <a:r>
                        <a:rPr/>
                        <a:t>, </a:t>
                      </a:r>
                      <a:r>
                        <a:rPr>
                          <a:latin typeface="Courier"/>
                        </a:rPr>
                        <a:t>silhouette_score</a:t>
                      </a:r>
                      <a:r>
                        <a:rPr/>
                        <a:t> → 0.690 at k = 4</a:t>
                      </a:r>
                    </a:p>
                  </a:txBody>
                </a:tc>
              </a:tr>
              <a:tr h="0">
                <a:tc>
                  <a:txBody>
                    <a:bodyPr/>
                    <a:lstStyle/>
                    <a:p>
                      <a:pPr lvl="0" indent="0" marL="0">
                        <a:buNone/>
                      </a:pPr>
                      <a:r>
                        <a:rPr/>
                        <a:t>against the truth, 20-21</a:t>
                      </a:r>
                    </a:p>
                  </a:txBody>
                </a:tc>
                <a:tc>
                  <a:txBody>
                    <a:bodyPr/>
                    <a:lstStyle/>
                    <a:p>
                      <a:pPr lvl="0" indent="0" marL="0">
                        <a:buNone/>
                      </a:pPr>
                      <a:r>
                        <a:rPr>
                          <a:latin typeface="Courier"/>
                        </a:rPr>
                        <a:t>adjusted_rand_score</a:t>
                      </a:r>
                      <a:r>
                        <a:rPr/>
                        <a:t> → 0.985</a:t>
                      </a:r>
                    </a:p>
                  </a:txBody>
                </a:tc>
              </a:tr>
            </a:tbl>
          </a:graphicData>
        </a:graphic>
      </p:graphicFrame>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1,500 sessions, no labels</a:t>
            </a:r>
          </a:p>
        </p:txBody>
      </p:sp>
      <p:pic>
        <p:nvPicPr>
          <p:cNvPr descr="sessions_unlabelled.png" id="0" name="Picture 1"/>
          <p:cNvPicPr>
            <a:picLocks noGrp="1" noChangeAspect="1"/>
          </p:cNvPicPr>
          <p:nvPr/>
        </p:nvPicPr>
        <p:blipFill>
          <a:blip r:embed="rId3"/>
          <a:stretch>
            <a:fillRect/>
          </a:stretch>
        </p:blipFill>
        <p:spPr bwMode="auto">
          <a:xfrm>
            <a:off x="2583578" y="1166099"/>
            <a:ext cx="3976843" cy="3360181"/>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Why k-means must fail here</a:t>
            </a:r>
          </a:p>
        </p:txBody>
      </p:sp>
      <p:sp>
        <p:nvSpPr>
          <p:cNvPr id="3" name="Content Placeholder 2"/>
          <p:cNvSpPr>
            <a:spLocks noGrp="1"/>
          </p:cNvSpPr>
          <p:nvPr>
            <p:ph idx="1"/>
          </p:nvPr>
        </p:nvSpPr>
        <p:spPr>
          <a:xfrm>
            <a:off x="457200" y="1200151"/>
            <a:ext cx="8229600" cy="3394472"/>
          </a:xfrm>
        </p:spPr>
        <p:txBody>
          <a:bodyPr/>
          <a:lstStyle/>
          <a:p>
            <a:pPr lvl="0"/>
            <a:r>
              <a:rPr/>
              <a:t>With k = 2, the points equally far from the two centres form a </a:t>
            </a:r>
            <a:r>
              <a:rPr b="1"/>
              <a:t>straight line</a:t>
            </a:r>
          </a:p>
          <a:p>
            <a:pPr lvl="0"/>
            <a:r>
              <a:rPr/>
              <a:t>So k-means’ two groups are always the two sides of a straight line</a:t>
            </a:r>
          </a:p>
          <a:p>
            <a:pPr lvl="0"/>
            <a:r>
              <a:rPr/>
              <a:t>No straight line separates a core from the ring around it</a:t>
            </a:r>
          </a:p>
          <a:p>
            <a:pPr lvl="0"/>
            <a:r>
              <a:rPr/>
              <a:t>Result: ARI </a:t>
            </a:r>
            <a:r>
              <a:rPr b="1"/>
              <a:t>−0.046</a:t>
            </a:r>
            <a:r>
              <a:rPr/>
              <a:t>, no better than chance</a:t>
            </a:r>
          </a:p>
          <a:p>
            <a:pPr lvl="0"/>
            <a:r>
              <a:rPr/>
              <a:t>Not bad luck with the start: more starts cannot fix it</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Hierarchical clustering: a tree of merges</a:t>
            </a:r>
          </a:p>
        </p:txBody>
      </p:sp>
      <p:sp>
        <p:nvSpPr>
          <p:cNvPr id="3" name="Content Placeholder 2"/>
          <p:cNvSpPr>
            <a:spLocks noGrp="1"/>
          </p:cNvSpPr>
          <p:nvPr>
            <p:ph idx="1"/>
          </p:nvPr>
        </p:nvSpPr>
        <p:spPr>
          <a:xfrm>
            <a:off x="457200" y="1200151"/>
            <a:ext cx="8229600" cy="3394472"/>
          </a:xfrm>
        </p:spPr>
        <p:txBody>
          <a:bodyPr/>
          <a:lstStyle/>
          <a:p>
            <a:pPr lvl="0"/>
            <a:r>
              <a:rPr/>
              <a:t>Start: every point is a group of its own</a:t>
            </a:r>
          </a:p>
          <a:p>
            <a:pPr lvl="0"/>
            <a:r>
              <a:rPr/>
              <a:t>Merge the two </a:t>
            </a:r>
            <a:r>
              <a:rPr b="1"/>
              <a:t>closest</a:t>
            </a:r>
            <a:r>
              <a:rPr/>
              <a:t> groups; repeat until one is left</a:t>
            </a:r>
          </a:p>
          <a:p>
            <a:pPr lvl="0"/>
            <a:r>
              <a:rPr/>
              <a:t>The record is a tree, a </a:t>
            </a:r>
            <a:r>
              <a:rPr b="1"/>
              <a:t>dendrogram</a:t>
            </a:r>
            <a:r>
              <a:rPr/>
              <a:t>: a join’s height = how far apart</a:t>
            </a:r>
          </a:p>
          <a:p>
            <a:pPr lvl="0"/>
            <a:r>
              <a:rPr b="1"/>
              <a:t>Cut</a:t>
            </a:r>
            <a:r>
              <a:rPr/>
              <a:t> it with a horizontal line: the cut chooses k</a:t>
            </a:r>
          </a:p>
          <a:p>
            <a:pPr lvl="0"/>
            <a:r>
              <a:rPr/>
              <a:t>In code: </a:t>
            </a:r>
            <a:r>
              <a:rPr>
                <a:latin typeface="Courier"/>
              </a:rPr>
              <a:t>AgglomerativeClustering(n_clusters=2)</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Eight points, five merges, one cut</a:t>
            </a:r>
          </a:p>
        </p:txBody>
      </p:sp>
      <p:pic>
        <p:nvPicPr>
          <p:cNvPr descr="merge_tree.png" id="0" name="Picture 1"/>
          <p:cNvPicPr>
            <a:picLocks noGrp="1" noChangeAspect="1"/>
          </p:cNvPicPr>
          <p:nvPr/>
        </p:nvPicPr>
        <p:blipFill>
          <a:blip r:embed="rId3"/>
          <a:stretch>
            <a:fillRect/>
          </a:stretch>
        </p:blipFill>
        <p:spPr bwMode="auto">
          <a:xfrm>
            <a:off x="457200" y="1303139"/>
            <a:ext cx="8229600" cy="30861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Ward on the sessions: the same failure</a:t>
            </a:r>
          </a:p>
        </p:txBody>
      </p:sp>
      <p:pic>
        <p:nvPicPr>
          <p:cNvPr descr="round_methods_fail.png" id="0" name="Picture 1"/>
          <p:cNvPicPr>
            <a:picLocks noGrp="1" noChangeAspect="1"/>
          </p:cNvPicPr>
          <p:nvPr/>
        </p:nvPicPr>
        <p:blipFill>
          <a:blip r:embed="rId3"/>
          <a:stretch>
            <a:fillRect/>
          </a:stretch>
        </p:blipFill>
        <p:spPr bwMode="auto">
          <a:xfrm>
            <a:off x="457200" y="1557139"/>
            <a:ext cx="8229600" cy="25781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Break</a:t>
            </a:r>
          </a:p>
        </p:txBody>
      </p:sp>
      <p:sp>
        <p:nvSpPr>
          <p:cNvPr id="3" name="Content Placeholder 2"/>
          <p:cNvSpPr>
            <a:spLocks noGrp="1"/>
          </p:cNvSpPr>
          <p:nvPr>
            <p:ph idx="1"/>
          </p:nvPr>
        </p:nvSpPr>
        <p:spPr>
          <a:xfrm>
            <a:off x="457200" y="1200151"/>
            <a:ext cx="8229600" cy="3394472"/>
          </a:xfrm>
        </p:spPr>
        <p:txBody>
          <a:bodyPr/>
          <a:lstStyle/>
          <a:p>
            <a:pPr lvl="0"/>
            <a:r>
              <a:rPr/>
              <a:t>Twelve minutes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DBSCAN: is this point in a crowded place?</a:t>
            </a:r>
          </a:p>
        </p:txBody>
      </p:sp>
      <p:sp>
        <p:nvSpPr>
          <p:cNvPr id="3" name="Content Placeholder 2"/>
          <p:cNvSpPr>
            <a:spLocks noGrp="1"/>
          </p:cNvSpPr>
          <p:nvPr>
            <p:ph idx="1"/>
          </p:nvPr>
        </p:nvSpPr>
        <p:spPr>
          <a:xfrm>
            <a:off x="457200" y="1200151"/>
            <a:ext cx="8229600" cy="3394472"/>
          </a:xfrm>
        </p:spPr>
        <p:txBody>
          <a:bodyPr/>
          <a:lstStyle/>
          <a:p>
            <a:pPr lvl="0"/>
            <a:r>
              <a:rPr/>
              <a:t>Look at the disc of radius </a:t>
            </a:r>
            <a:r>
              <a:rPr>
                <a:latin typeface="Courier"/>
              </a:rPr>
              <a:t>eps</a:t>
            </a:r>
            <a:r>
              <a:rPr/>
              <a:t> around each point</a:t>
            </a:r>
          </a:p>
          <a:p>
            <a:pPr lvl="0"/>
            <a:r>
              <a:rPr b="1"/>
              <a:t>Core</a:t>
            </a:r>
            <a:r>
              <a:rPr/>
              <a:t> point: at least </a:t>
            </a:r>
            <a:r>
              <a:rPr>
                <a:latin typeface="Courier"/>
              </a:rPr>
              <a:t>min_samples</a:t>
            </a:r>
            <a:r>
              <a:rPr/>
              <a:t> points in its disc, </a:t>
            </a:r>
            <a:r>
              <a:rPr b="1"/>
              <a:t>itself included</a:t>
            </a:r>
          </a:p>
          <a:p>
            <a:pPr lvl="0"/>
            <a:r>
              <a:rPr b="1"/>
              <a:t>Border</a:t>
            </a:r>
            <a:r>
              <a:rPr/>
              <a:t> point: not core, but inside a core point’s disc; it joins that group</a:t>
            </a:r>
          </a:p>
          <a:p>
            <a:pPr lvl="0"/>
            <a:r>
              <a:rPr b="1"/>
              <a:t>Noise</a:t>
            </a:r>
            <a:r>
              <a:rPr/>
              <a:t>: neither; it belongs to no group (label -1)</a:t>
            </a:r>
          </a:p>
          <a:p>
            <a:pPr lvl="0"/>
            <a:r>
              <a:rPr/>
              <a:t>A group is a chain of core points plus their border points: </a:t>
            </a:r>
            <a:r>
              <a:rPr b="1"/>
              <a:t>no centres, no k</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Core, border and noise, drawn</a:t>
            </a:r>
          </a:p>
        </p:txBody>
      </p:sp>
      <p:pic>
        <p:nvPicPr>
          <p:cNvPr descr="dbscan_points.png" id="0" name="Picture 1"/>
          <p:cNvPicPr>
            <a:picLocks noGrp="1" noChangeAspect="1"/>
          </p:cNvPicPr>
          <p:nvPr/>
        </p:nvPicPr>
        <p:blipFill>
          <a:blip r:embed="rId3"/>
          <a:stretch>
            <a:fillRect/>
          </a:stretch>
        </p:blipFill>
        <p:spPr bwMode="auto">
          <a:xfrm>
            <a:off x="2709428" y="1166099"/>
            <a:ext cx="3725144" cy="3360181"/>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Choosing </a:t>
            </a:r>
            <a:r>
              <a:rPr>
                <a:latin typeface="Courier"/>
              </a:rPr>
              <a:t>eps</a:t>
            </a:r>
            <a:r>
              <a:rPr/>
              <a:t>: the k-distance plot</a:t>
            </a:r>
          </a:p>
        </p:txBody>
      </p:sp>
      <p:sp>
        <p:nvSpPr>
          <p:cNvPr id="3" name="Content Placeholder 2"/>
          <p:cNvSpPr>
            <a:spLocks noGrp="1"/>
          </p:cNvSpPr>
          <p:nvPr>
            <p:ph idx="1"/>
          </p:nvPr>
        </p:nvSpPr>
        <p:spPr>
          <a:xfrm>
            <a:off x="457200" y="1200151"/>
            <a:ext cx="8229600" cy="3394472"/>
          </a:xfrm>
        </p:spPr>
        <p:txBody>
          <a:bodyPr/>
          <a:lstStyle/>
          <a:p>
            <a:pPr lvl="0"/>
            <a:r>
              <a:rPr/>
              <a:t>Too small: even the bot core breaks into noise</a:t>
            </a:r>
          </a:p>
          <a:p>
            <a:pPr lvl="0"/>
            <a:r>
              <a:rPr/>
              <a:t>Too large: the ring reaches the core, all one group</a:t>
            </a:r>
          </a:p>
          <a:p>
            <a:pPr lvl="0"/>
            <a:r>
              <a:rPr/>
              <a:t>Sort every point’s distance to its 10th neighbour (10 = </a:t>
            </a:r>
            <a:r>
              <a:rPr>
                <a:latin typeface="Courier"/>
              </a:rPr>
              <a:t>min_samples</a:t>
            </a:r>
            <a:r>
              <a:rPr/>
              <a:t>)</a:t>
            </a:r>
          </a:p>
          <a:p>
            <a:pPr lvl="0"/>
            <a:r>
              <a:rPr/>
              <a:t>Put </a:t>
            </a:r>
            <a:r>
              <a:rPr>
                <a:latin typeface="Courier"/>
              </a:rPr>
              <a:t>eps</a:t>
            </a:r>
            <a:r>
              <a:rPr/>
              <a:t> where the sorted curve </a:t>
            </a:r>
            <a:r>
              <a:rPr b="1"/>
              <a:t>bends upward</a:t>
            </a:r>
          </a:p>
          <a:p>
            <a:pPr lvl="0"/>
            <a:r>
              <a:rPr/>
              <a:t>In code: </a:t>
            </a:r>
            <a:r>
              <a:rPr>
                <a:latin typeface="Courier"/>
              </a:rPr>
              <a:t>NearestNeighbors(n_neighbors=10)</a:t>
            </a:r>
            <a:r>
              <a:rPr/>
              <a:t>, then </a:t>
            </a:r>
            <a:r>
              <a:rPr>
                <a:latin typeface="Courier"/>
              </a:rPr>
              <a:t>kneighbors</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bend in the curve</a:t>
            </a:r>
          </a:p>
        </p:txBody>
      </p:sp>
      <p:pic>
        <p:nvPicPr>
          <p:cNvPr descr="k_distance_plot.png" id="0" name="Picture 1"/>
          <p:cNvPicPr>
            <a:picLocks noGrp="1" noChangeAspect="1"/>
          </p:cNvPicPr>
          <p:nvPr/>
        </p:nvPicPr>
        <p:blipFill>
          <a:blip r:embed="rId3"/>
          <a:stretch>
            <a:fillRect/>
          </a:stretch>
        </p:blipFill>
        <p:spPr bwMode="auto">
          <a:xfrm>
            <a:off x="2017256" y="1166099"/>
            <a:ext cx="5109488" cy="3360181"/>
          </a:xfrm>
          <a:prstGeom prst="rect">
            <a:avLst/>
          </a:prstGeom>
          <a:noFill/>
          <a:ln w="9525">
            <a:noFill/>
            <a:headEnd/>
            <a:tailEnd/>
          </a:ln>
        </p:spPr>
      </p:pic>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DBSCAN on the sessions</a:t>
            </a:r>
          </a:p>
        </p:txBody>
      </p:sp>
      <p:pic>
        <p:nvPicPr>
          <p:cNvPr descr="dbscan_result.png" id="0" name="Picture 1"/>
          <p:cNvPicPr>
            <a:picLocks noGrp="1" noChangeAspect="1"/>
          </p:cNvPicPr>
          <p:nvPr/>
        </p:nvPicPr>
        <p:blipFill>
          <a:blip r:embed="rId3"/>
          <a:stretch>
            <a:fillRect/>
          </a:stretch>
        </p:blipFill>
        <p:spPr bwMode="auto">
          <a:xfrm>
            <a:off x="525939" y="1166099"/>
            <a:ext cx="8092121" cy="3360181"/>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13 noise sessions</a:t>
            </a:r>
          </a:p>
        </p:txBody>
      </p:sp>
      <p:sp>
        <p:nvSpPr>
          <p:cNvPr id="3" name="Content Placeholder 2"/>
          <p:cNvSpPr>
            <a:spLocks noGrp="1"/>
          </p:cNvSpPr>
          <p:nvPr>
            <p:ph idx="1"/>
          </p:nvPr>
        </p:nvSpPr>
        <p:spPr>
          <a:xfrm>
            <a:off x="457200" y="1200151"/>
            <a:ext cx="8229600" cy="3394472"/>
          </a:xfrm>
        </p:spPr>
        <p:txBody>
          <a:bodyPr/>
          <a:lstStyle/>
          <a:p>
            <a:pPr lvl="0"/>
            <a:r>
              <a:rPr/>
              <a:t>All 13 are </a:t>
            </a:r>
            <a:r>
              <a:rPr b="1"/>
              <a:t>humans</a:t>
            </a:r>
          </a:p>
          <a:p>
            <a:pPr lvl="0"/>
            <a:r>
              <a:rPr/>
              <a:t>They sit where the data is thin: 2 in the gap around the bot core, 11 on the ring’s sparse outer edge</a:t>
            </a:r>
          </a:p>
          <a:p>
            <a:pPr lvl="0"/>
            <a:r>
              <a:rPr/>
              <a:t>DBSCAN’s answer for them: </a:t>
            </a:r>
            <a:r>
              <a:rPr b="1"/>
              <a:t>not confidently either</a:t>
            </a:r>
          </a:p>
          <a:p>
            <a:pPr lvl="0"/>
            <a:r>
              <a:rPr/>
              <a:t>For a security analyst, more useful than a forced “bot” or “human”</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silhouette prefers the wrong answer</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grouping</a:t>
                      </a:r>
                    </a:p>
                  </a:txBody>
                  <a:tcPr/>
                </a:tc>
                <a:tc>
                  <a:txBody>
                    <a:bodyPr/>
                    <a:lstStyle/>
                    <a:p>
                      <a:pPr lvl="0" indent="0" marL="0">
                        <a:buNone/>
                      </a:pPr>
                      <a:r>
                        <a:rPr/>
                        <a:t>silhouette (no truth needed)</a:t>
                      </a:r>
                    </a:p>
                  </a:txBody>
                  <a:tcPr/>
                </a:tc>
                <a:tc>
                  <a:txBody>
                    <a:bodyPr/>
                    <a:lstStyle/>
                    <a:p>
                      <a:pPr lvl="0" indent="0" marL="0">
                        <a:buNone/>
                      </a:pPr>
                      <a:r>
                        <a:rPr/>
                        <a:t>ARI (needs the truth)</a:t>
                      </a:r>
                    </a:p>
                  </a:txBody>
                  <a:tcPr/>
                </a:tc>
              </a:tr>
              <a:tr h="0">
                <a:tc>
                  <a:txBody>
                    <a:bodyPr/>
                    <a:lstStyle/>
                    <a:p>
                      <a:pPr lvl="0" indent="0" marL="0">
                        <a:buNone/>
                      </a:pPr>
                      <a:r>
                        <a:rPr/>
                        <a:t>k-means, k = 2</a:t>
                      </a:r>
                    </a:p>
                  </a:txBody>
                </a:tc>
                <a:tc>
                  <a:txBody>
                    <a:bodyPr/>
                    <a:lstStyle/>
                    <a:p>
                      <a:pPr lvl="0" indent="0" marL="0">
                        <a:buNone/>
                      </a:pPr>
                      <a:r>
                        <a:rPr/>
                        <a:t>0.401</a:t>
                      </a:r>
                    </a:p>
                  </a:txBody>
                </a:tc>
                <a:tc>
                  <a:txBody>
                    <a:bodyPr/>
                    <a:lstStyle/>
                    <a:p>
                      <a:pPr lvl="0" indent="0" marL="0">
                        <a:buNone/>
                      </a:pPr>
                      <a:r>
                        <a:rPr/>
                        <a:t>−0.046</a:t>
                      </a:r>
                    </a:p>
                  </a:txBody>
                </a:tc>
              </a:tr>
              <a:tr h="0">
                <a:tc>
                  <a:txBody>
                    <a:bodyPr/>
                    <a:lstStyle/>
                    <a:p>
                      <a:pPr lvl="0" indent="0" marL="0">
                        <a:buNone/>
                      </a:pPr>
                      <a:r>
                        <a:rPr/>
                        <a:t>DBSCAN</a:t>
                      </a:r>
                    </a:p>
                  </a:txBody>
                </a:tc>
                <a:tc>
                  <a:txBody>
                    <a:bodyPr/>
                    <a:lstStyle/>
                    <a:p>
                      <a:pPr lvl="0" indent="0" marL="0">
                        <a:buNone/>
                      </a:pPr>
                      <a:r>
                        <a:rPr/>
                        <a:t>−0.106</a:t>
                      </a:r>
                    </a:p>
                  </a:txBody>
                </a:tc>
                <a:tc>
                  <a:txBody>
                    <a:bodyPr/>
                    <a:lstStyle/>
                    <a:p>
                      <a:pPr lvl="0" indent="0" marL="0">
                        <a:buNone/>
                      </a:pPr>
                      <a:r>
                        <a:rPr/>
                        <a:t>0.941</a:t>
                      </a:r>
                    </a:p>
                  </a:txBody>
                </a:tc>
              </a:tr>
            </a:tbl>
          </a:graphicData>
        </a:graphic>
      </p:graphicFrame>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Choosing among the three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method</a:t>
                      </a:r>
                    </a:p>
                  </a:txBody>
                  <a:tcPr/>
                </a:tc>
                <a:tc>
                  <a:txBody>
                    <a:bodyPr/>
                    <a:lstStyle/>
                    <a:p>
                      <a:pPr lvl="0" indent="0" marL="0">
                        <a:buNone/>
                      </a:pPr>
                      <a:r>
                        <a:rPr/>
                        <a:t>a group is</a:t>
                      </a:r>
                    </a:p>
                  </a:txBody>
                  <a:tcPr/>
                </a:tc>
                <a:tc>
                  <a:txBody>
                    <a:bodyPr/>
                    <a:lstStyle/>
                    <a:p>
                      <a:pPr lvl="0" indent="0" marL="0">
                        <a:buNone/>
                      </a:pPr>
                      <a:r>
                        <a:rPr/>
                        <a:t>needs k?</a:t>
                      </a:r>
                    </a:p>
                  </a:txBody>
                  <a:tcPr/>
                </a:tc>
                <a:tc>
                  <a:txBody>
                    <a:bodyPr/>
                    <a:lstStyle/>
                    <a:p>
                      <a:pPr lvl="0" indent="0" marL="0">
                        <a:buNone/>
                      </a:pPr>
                      <a:r>
                        <a:rPr/>
                        <a:t>fails when</a:t>
                      </a:r>
                    </a:p>
                  </a:txBody>
                  <a:tcPr/>
                </a:tc>
              </a:tr>
              <a:tr h="0">
                <a:tc>
                  <a:txBody>
                    <a:bodyPr/>
                    <a:lstStyle/>
                    <a:p>
                      <a:pPr lvl="0" indent="0" marL="0">
                        <a:buNone/>
                      </a:pPr>
                      <a:r>
                        <a:rPr/>
                        <a:t>k-means</a:t>
                      </a:r>
                    </a:p>
                  </a:txBody>
                </a:tc>
                <a:tc>
                  <a:txBody>
                    <a:bodyPr/>
                    <a:lstStyle/>
                    <a:p>
                      <a:pPr lvl="0" indent="0" marL="0">
                        <a:buNone/>
                      </a:pPr>
                      <a:r>
                        <a:rPr/>
                        <a:t>the points nearest one centre</a:t>
                      </a:r>
                    </a:p>
                  </a:txBody>
                </a:tc>
                <a:tc>
                  <a:txBody>
                    <a:bodyPr/>
                    <a:lstStyle/>
                    <a:p>
                      <a:pPr lvl="0" indent="0" marL="0">
                        <a:buNone/>
                      </a:pPr>
                      <a:r>
                        <a:rPr/>
                        <a:t>yes</a:t>
                      </a:r>
                    </a:p>
                  </a:txBody>
                </a:tc>
                <a:tc>
                  <a:txBody>
                    <a:bodyPr/>
                    <a:lstStyle/>
                    <a:p>
                      <a:pPr lvl="0" indent="0" marL="0">
                        <a:buNone/>
                      </a:pPr>
                      <a:r>
                        <a:rPr/>
                        <a:t>groups are not round</a:t>
                      </a:r>
                    </a:p>
                  </a:txBody>
                </a:tc>
              </a:tr>
              <a:tr h="0">
                <a:tc>
                  <a:txBody>
                    <a:bodyPr/>
                    <a:lstStyle/>
                    <a:p>
                      <a:pPr lvl="0" indent="0" marL="0">
                        <a:buNone/>
                      </a:pPr>
                      <a:r>
                        <a:rPr/>
                        <a:t>tree of merges, Ward</a:t>
                      </a:r>
                    </a:p>
                  </a:txBody>
                </a:tc>
                <a:tc>
                  <a:txBody>
                    <a:bodyPr/>
                    <a:lstStyle/>
                    <a:p>
                      <a:pPr lvl="0" indent="0" marL="0">
                        <a:buNone/>
                      </a:pPr>
                      <a:r>
                        <a:rPr/>
                        <a:t>a branch of the tree</a:t>
                      </a:r>
                    </a:p>
                  </a:txBody>
                </a:tc>
                <a:tc>
                  <a:txBody>
                    <a:bodyPr/>
                    <a:lstStyle/>
                    <a:p>
                      <a:pPr lvl="0" indent="0" marL="0">
                        <a:buNone/>
                      </a:pPr>
                      <a:r>
                        <a:rPr/>
                        <a:t>the cut chooses it</a:t>
                      </a:r>
                    </a:p>
                  </a:txBody>
                </a:tc>
                <a:tc>
                  <a:txBody>
                    <a:bodyPr/>
                    <a:lstStyle/>
                    <a:p>
                      <a:pPr lvl="0" indent="0" marL="0">
                        <a:buNone/>
                      </a:pPr>
                      <a:r>
                        <a:rPr/>
                        <a:t>as k-means</a:t>
                      </a:r>
                    </a:p>
                  </a:txBody>
                </a:tc>
              </a:tr>
              <a:tr h="0">
                <a:tc>
                  <a:txBody>
                    <a:bodyPr/>
                    <a:lstStyle/>
                    <a:p>
                      <a:pPr lvl="0" indent="0" marL="0">
                        <a:buNone/>
                      </a:pPr>
                      <a:r>
                        <a:rPr/>
                        <a:t>DBSCAN</a:t>
                      </a:r>
                    </a:p>
                  </a:txBody>
                </a:tc>
                <a:tc>
                  <a:txBody>
                    <a:bodyPr/>
                    <a:lstStyle/>
                    <a:p>
                      <a:pPr lvl="0" indent="0" marL="0">
                        <a:buNone/>
                      </a:pPr>
                      <a:r>
                        <a:rPr/>
                        <a:t>a crowded connected region</a:t>
                      </a:r>
                    </a:p>
                  </a:txBody>
                </a:tc>
                <a:tc>
                  <a:txBody>
                    <a:bodyPr/>
                    <a:lstStyle/>
                    <a:p>
                      <a:pPr lvl="0" indent="0" marL="0">
                        <a:buNone/>
                      </a:pPr>
                      <a:r>
                        <a:rPr/>
                        <a:t>no</a:t>
                      </a:r>
                    </a:p>
                  </a:txBody>
                </a:tc>
                <a:tc>
                  <a:txBody>
                    <a:bodyPr/>
                    <a:lstStyle/>
                    <a:p>
                      <a:pPr lvl="0" indent="0" marL="0">
                        <a:buNone/>
                      </a:pPr>
                      <a:r>
                        <a:rPr/>
                        <a:t>groups differ a lot in density</a:t>
                      </a:r>
                    </a:p>
                  </a:txBody>
                </a:tc>
              </a:tr>
            </a:tbl>
          </a:graphicData>
        </a:graphic>
      </p:graphicFrame>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2, live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section, and its slides</a:t>
                      </a:r>
                    </a:p>
                  </a:txBody>
                  <a:tcPr/>
                </a:tc>
                <a:tc>
                  <a:txBody>
                    <a:bodyPr/>
                    <a:lstStyle/>
                    <a:p>
                      <a:pPr lvl="0" indent="0" marL="0">
                        <a:buNone/>
                      </a:pPr>
                      <a:r>
                        <a:rPr/>
                        <a:t>you call (→ the number to come back with)</a:t>
                      </a:r>
                    </a:p>
                  </a:txBody>
                  <a:tcPr/>
                </a:tc>
              </a:tr>
              <a:tr h="0">
                <a:tc>
                  <a:txBody>
                    <a:bodyPr/>
                    <a:lstStyle/>
                    <a:p>
                      <a:pPr lvl="0" indent="0" marL="0">
                        <a:buNone/>
                      </a:pPr>
                      <a:r>
                        <a:rPr/>
                        <a:t>look first, 23</a:t>
                      </a:r>
                    </a:p>
                  </a:txBody>
                </a:tc>
                <a:tc>
                  <a:txBody>
                    <a:bodyPr/>
                    <a:lstStyle/>
                    <a:p>
                      <a:pPr lvl="0" indent="0" marL="0">
                        <a:buNone/>
                      </a:pPr>
                      <a:r>
                        <a:rPr>
                          <a:latin typeface="Courier"/>
                        </a:rPr>
                        <a:t>StandardScaler</a:t>
                      </a:r>
                      <a:r>
                        <a:rPr/>
                        <a:t> → 1,500 sessions, 180 bots</a:t>
                      </a:r>
                    </a:p>
                  </a:txBody>
                </a:tc>
              </a:tr>
              <a:tr h="0">
                <a:tc>
                  <a:txBody>
                    <a:bodyPr/>
                    <a:lstStyle/>
                    <a:p>
                      <a:pPr lvl="0" indent="0" marL="0">
                        <a:buNone/>
                      </a:pPr>
                      <a:r>
                        <a:rPr/>
                        <a:t>k-means, 24</a:t>
                      </a:r>
                    </a:p>
                  </a:txBody>
                </a:tc>
                <a:tc>
                  <a:txBody>
                    <a:bodyPr/>
                    <a:lstStyle/>
                    <a:p>
                      <a:pPr lvl="0" indent="0" marL="0">
                        <a:buNone/>
                      </a:pPr>
                      <a:r>
                        <a:rPr>
                          <a:latin typeface="Courier"/>
                        </a:rPr>
                        <a:t>KMeans</a:t>
                      </a:r>
                      <a:r>
                        <a:rPr/>
                        <a:t>, </a:t>
                      </a:r>
                      <a:r>
                        <a:rPr>
                          <a:latin typeface="Courier"/>
                        </a:rPr>
                        <a:t>adjusted_rand_score</a:t>
                      </a:r>
                      <a:r>
                        <a:rPr/>
                        <a:t> → ARI −0.046</a:t>
                      </a:r>
                    </a:p>
                  </a:txBody>
                </a:tc>
              </a:tr>
              <a:tr h="0">
                <a:tc>
                  <a:txBody>
                    <a:bodyPr/>
                    <a:lstStyle/>
                    <a:p>
                      <a:pPr lvl="0" indent="0" marL="0">
                        <a:buNone/>
                      </a:pPr>
                      <a:r>
                        <a:rPr/>
                        <a:t>tree of merges, 25-27</a:t>
                      </a:r>
                    </a:p>
                  </a:txBody>
                </a:tc>
                <a:tc>
                  <a:txBody>
                    <a:bodyPr/>
                    <a:lstStyle/>
                    <a:p>
                      <a:pPr lvl="0" indent="0" marL="0">
                        <a:buNone/>
                      </a:pPr>
                      <a:r>
                        <a:rPr>
                          <a:latin typeface="Courier"/>
                        </a:rPr>
                        <a:t>AgglomerativeClustering</a:t>
                      </a:r>
                      <a:r>
                        <a:rPr/>
                        <a:t> → ARI −0.062</a:t>
                      </a:r>
                    </a:p>
                  </a:txBody>
                </a:tc>
              </a:tr>
              <a:tr h="0">
                <a:tc>
                  <a:txBody>
                    <a:bodyPr/>
                    <a:lstStyle/>
                    <a:p>
                      <a:pPr lvl="0" indent="0" marL="0">
                        <a:buNone/>
                      </a:pPr>
                      <a:r>
                        <a:rPr/>
                        <a:t>DBSCAN drawn, 29-30</a:t>
                      </a:r>
                    </a:p>
                  </a:txBody>
                </a:tc>
                <a:tc>
                  <a:txBody>
                    <a:bodyPr/>
                    <a:lstStyle/>
                    <a:p>
                      <a:pPr lvl="0" indent="0" marL="0">
                        <a:buNone/>
                      </a:pPr>
                      <a:r>
                        <a:rPr>
                          <a:latin typeface="Courier"/>
                        </a:rPr>
                        <a:t>DBSCAN</a:t>
                      </a:r>
                      <a:r>
                        <a:rPr/>
                        <a:t> → 4 core, 4 border, 4 noise</a:t>
                      </a:r>
                    </a:p>
                  </a:txBody>
                </a:tc>
              </a:tr>
              <a:tr h="0">
                <a:tc>
                  <a:txBody>
                    <a:bodyPr/>
                    <a:lstStyle/>
                    <a:p>
                      <a:pPr lvl="0" indent="0" marL="0">
                        <a:buNone/>
                      </a:pPr>
                      <a:r>
                        <a:rPr>
                          <a:latin typeface="Courier"/>
                        </a:rPr>
                        <a:t>eps</a:t>
                      </a:r>
                      <a:r>
                        <a:rPr/>
                        <a:t>, 31-32</a:t>
                      </a:r>
                    </a:p>
                  </a:txBody>
                </a:tc>
                <a:tc>
                  <a:txBody>
                    <a:bodyPr/>
                    <a:lstStyle/>
                    <a:p>
                      <a:pPr lvl="0" indent="0" marL="0">
                        <a:buNone/>
                      </a:pPr>
                      <a:r>
                        <a:rPr>
                          <a:latin typeface="Courier"/>
                        </a:rPr>
                        <a:t>NearestNeighbors</a:t>
                      </a:r>
                      <a:r>
                        <a:rPr/>
                        <a:t> → 65 sessions beyond 0.30</a:t>
                      </a:r>
                    </a:p>
                  </a:txBody>
                </a:tc>
              </a:tr>
              <a:tr h="0">
                <a:tc>
                  <a:txBody>
                    <a:bodyPr/>
                    <a:lstStyle/>
                    <a:p>
                      <a:pPr lvl="0" indent="0" marL="0">
                        <a:buNone/>
                      </a:pPr>
                      <a:r>
                        <a:rPr/>
                        <a:t>DBSCAN, 33-34</a:t>
                      </a:r>
                    </a:p>
                  </a:txBody>
                </a:tc>
                <a:tc>
                  <a:txBody>
                    <a:bodyPr/>
                    <a:lstStyle/>
                    <a:p>
                      <a:pPr lvl="0" indent="0" marL="0">
                        <a:buNone/>
                      </a:pPr>
                      <a:r>
                        <a:rPr>
                          <a:latin typeface="Courier"/>
                        </a:rPr>
                        <a:t>DBSCAN</a:t>
                      </a:r>
                      <a:r>
                        <a:rPr/>
                        <a:t> → ARI 0.941, 13 noise</a:t>
                      </a:r>
                    </a:p>
                  </a:txBody>
                </a:tc>
              </a:tr>
              <a:tr h="0">
                <a:tc>
                  <a:txBody>
                    <a:bodyPr/>
                    <a:lstStyle/>
                    <a:p>
                      <a:pPr lvl="0" indent="0" marL="0">
                        <a:buNone/>
                      </a:pPr>
                      <a:r>
                        <a:rPr/>
                        <a:t>silhouette, 35</a:t>
                      </a:r>
                    </a:p>
                  </a:txBody>
                </a:tc>
                <a:tc>
                  <a:txBody>
                    <a:bodyPr/>
                    <a:lstStyle/>
                    <a:p>
                      <a:pPr lvl="0" indent="0" marL="0">
                        <a:buNone/>
                      </a:pPr>
                      <a:r>
                        <a:rPr>
                          <a:latin typeface="Courier"/>
                        </a:rPr>
                        <a:t>silhouette_score</a:t>
                      </a:r>
                      <a:r>
                        <a:rPr/>
                        <a:t>, </a:t>
                      </a:r>
                      <a:r>
                        <a:rPr>
                          <a:latin typeface="Courier"/>
                        </a:rPr>
                        <a:t>silhouette_samples</a:t>
                      </a:r>
                      <a:r>
                        <a:rPr/>
                        <a:t> → 0.401 against −0.106</a:t>
                      </a:r>
                    </a:p>
                  </a:txBody>
                </a:tc>
              </a:tr>
            </a:tbl>
          </a:graphicData>
        </a:graphic>
      </p:graphicFrame>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Eight columns, not eight independent numbers</a:t>
            </a:r>
          </a:p>
        </p:txBody>
      </p:sp>
      <p:pic>
        <p:nvPicPr>
          <p:cNvPr descr="feature_correlation.png" id="0" name="Picture 1"/>
          <p:cNvPicPr>
            <a:picLocks noGrp="1" noChangeAspect="1"/>
          </p:cNvPicPr>
          <p:nvPr/>
        </p:nvPicPr>
        <p:blipFill>
          <a:blip r:embed="rId3"/>
          <a:stretch>
            <a:fillRect/>
          </a:stretch>
        </p:blipFill>
        <p:spPr bwMode="auto">
          <a:xfrm>
            <a:off x="2621333" y="1166099"/>
            <a:ext cx="3901333" cy="3360181"/>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direction with the widest shadow</a:t>
            </a:r>
          </a:p>
        </p:txBody>
      </p:sp>
      <p:sp>
        <p:nvSpPr>
          <p:cNvPr id="3" name="Content Placeholder 2"/>
          <p:cNvSpPr>
            <a:spLocks noGrp="1"/>
          </p:cNvSpPr>
          <p:nvPr>
            <p:ph idx="1"/>
          </p:nvPr>
        </p:nvSpPr>
        <p:spPr>
          <a:xfrm>
            <a:off x="457200" y="1200151"/>
            <a:ext cx="8229600" cy="3394472"/>
          </a:xfrm>
        </p:spPr>
        <p:txBody>
          <a:bodyPr/>
          <a:lstStyle/>
          <a:p>
            <a:pPr lvl="0"/>
            <a:r>
              <a:rPr/>
              <a:t>Spend and basket value, standardised: correlation 0.859</a:t>
            </a:r>
          </a:p>
          <a:p>
            <a:pPr lvl="0"/>
            <a:r>
              <a:rPr/>
              <a:t>Drop each point onto a line at a right angle: its </a:t>
            </a:r>
            <a:r>
              <a:rPr b="1"/>
              <a:t>shadow</a:t>
            </a:r>
          </a:p>
          <a:p>
            <a:pPr lvl="0"/>
            <a:r>
              <a:rPr/>
              <a:t>One number per account sums up two columns</a:t>
            </a:r>
          </a:p>
          <a:p>
            <a:pPr lvl="0"/>
            <a:r>
              <a:rPr/>
              <a:t>Best line: shadows </a:t>
            </a:r>
            <a:r>
              <a:rPr b="1"/>
              <a:t>spread most</a:t>
            </a:r>
            <a:r>
              <a:rPr/>
              <a:t> (largest variance)</a:t>
            </a:r>
          </a:p>
          <a:p>
            <a:pPr lvl="0"/>
            <a:r>
              <a:rPr/>
              <a:t>That is the </a:t>
            </a:r>
            <a:r>
              <a:rPr b="1"/>
              <a:t>first principal component</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spread of the shadows</a:t>
            </a:r>
          </a:p>
        </p:txBody>
      </p:sp>
      <p:pic>
        <p:nvPicPr>
          <p:cNvPr descr="pca_shadow.png" id="0" name="Picture 1"/>
          <p:cNvPicPr>
            <a:picLocks noGrp="1" noChangeAspect="1"/>
          </p:cNvPicPr>
          <p:nvPr/>
        </p:nvPicPr>
        <p:blipFill>
          <a:blip r:embed="rId3"/>
          <a:stretch>
            <a:fillRect/>
          </a:stretch>
        </p:blipFill>
        <p:spPr bwMode="auto">
          <a:xfrm>
            <a:off x="2747183" y="1166099"/>
            <a:ext cx="3649634" cy="3360181"/>
          </a:xfrm>
          <a:prstGeom prst="rect">
            <a:avLst/>
          </a:prstGeom>
          <a:noFill/>
          <a:ln w="9525">
            <a:noFill/>
            <a:headEnd/>
            <a:tailEnd/>
          </a:ln>
        </p:spPr>
      </p:pic>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Why the peak is 1 + r</a:t>
            </a:r>
          </a:p>
        </p:txBody>
      </p:sp>
      <p:pic>
        <p:nvPicPr>
          <p:cNvPr descr="eq_5590e6f6b5.png" id="0" name="Picture 1"/>
          <p:cNvPicPr>
            <a:picLocks noGrp="1" noChangeAspect="1"/>
          </p:cNvPicPr>
          <p:nvPr/>
        </p:nvPicPr>
        <p:blipFill>
          <a:blip r:embed="rId3"/>
          <a:stretch>
            <a:fillRect/>
          </a:stretch>
        </p:blipFill>
        <p:spPr bwMode="auto">
          <a:xfrm>
            <a:off x="1041565" y="2443022"/>
            <a:ext cx="7060870" cy="806334"/>
          </a:xfrm>
          <a:prstGeom prst="rect">
            <a:avLst/>
          </a:prstGeom>
          <a:noFill/>
          <a:ln w="9525">
            <a:noFill/>
            <a:headEnd/>
            <a:tailEnd/>
          </a:ln>
        </p:spPr>
      </p:pic>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Any number of columns: stated, not derived</a:t>
            </a:r>
          </a:p>
        </p:txBody>
      </p:sp>
      <p:sp>
        <p:nvSpPr>
          <p:cNvPr id="3" name="Content Placeholder 2"/>
          <p:cNvSpPr>
            <a:spLocks noGrp="1"/>
          </p:cNvSpPr>
          <p:nvPr>
            <p:ph idx="1"/>
          </p:nvPr>
        </p:nvSpPr>
        <p:spPr>
          <a:xfrm>
            <a:off x="457200" y="1200151"/>
            <a:ext cx="8229600" cy="3394472"/>
          </a:xfrm>
        </p:spPr>
        <p:txBody>
          <a:bodyPr/>
          <a:lstStyle/>
          <a:p>
            <a:pPr lvl="0"/>
            <a:r>
              <a:rPr/>
              <a:t>8 columns: no angle to sweep</a:t>
            </a:r>
          </a:p>
          <a:p>
            <a:pPr lvl="0"/>
            <a:r>
              <a:rPr b="1"/>
              <a:t>The components are the eigenvectors of the covariance matrix</a:t>
            </a:r>
          </a:p>
          <a:p>
            <a:pPr lvl="0"/>
            <a:r>
              <a:rPr/>
              <a:t>Each </a:t>
            </a:r>
            <a:r>
              <a:rPr b="1"/>
              <a:t>eigenvalue</a:t>
            </a:r>
            <a:r>
              <a:rPr/>
              <a:t>: the variance of the shadows along it</a:t>
            </a:r>
          </a:p>
          <a:p>
            <a:pPr lvl="0"/>
            <a:r>
              <a:rPr/>
              <a:t>Two columns: 1 + r and 1 - r, on the diagonals, as swept</a:t>
            </a:r>
          </a:p>
          <a:p>
            <a:pPr lvl="0"/>
            <a:r>
              <a:rPr/>
              <a:t>In code: </a:t>
            </a:r>
            <a:r>
              <a:rPr>
                <a:latin typeface="Courier"/>
              </a:rPr>
              <a:t>PCA().fit(X)</a:t>
            </a:r>
            <a:r>
              <a:rPr/>
              <a:t>, shares in </a:t>
            </a:r>
            <a:r>
              <a:rPr>
                <a:latin typeface="Courier"/>
              </a:rPr>
              <a:t>explained_variance_ratio_</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How many components: the scree plot</a:t>
            </a:r>
          </a:p>
        </p:txBody>
      </p:sp>
      <p:pic>
        <p:nvPicPr>
          <p:cNvPr descr="pca_scree.png" id="0" name="Picture 1"/>
          <p:cNvPicPr>
            <a:picLocks noGrp="1" noChangeAspect="1"/>
          </p:cNvPicPr>
          <p:nvPr/>
        </p:nvPicPr>
        <p:blipFill>
          <a:blip r:embed="rId3"/>
          <a:stretch>
            <a:fillRect/>
          </a:stretch>
        </p:blipFill>
        <p:spPr bwMode="auto">
          <a:xfrm>
            <a:off x="2017256" y="1166099"/>
            <a:ext cx="5109488" cy="3360181"/>
          </a:xfrm>
          <a:prstGeom prst="rect">
            <a:avLst/>
          </a:prstGeom>
          <a:noFill/>
          <a:ln w="9525">
            <a:noFill/>
            <a:headEnd/>
            <a:tailEnd/>
          </a:ln>
        </p:spPr>
      </p:pic>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Fraud that looks ordinary on every column</a:t>
            </a:r>
          </a:p>
        </p:txBody>
      </p:sp>
      <p:sp>
        <p:nvSpPr>
          <p:cNvPr id="3" name="Content Placeholder 2"/>
          <p:cNvSpPr>
            <a:spLocks noGrp="1"/>
          </p:cNvSpPr>
          <p:nvPr>
            <p:ph idx="1"/>
          </p:nvPr>
        </p:nvSpPr>
        <p:spPr>
          <a:xfrm>
            <a:off x="457200" y="1200151"/>
            <a:ext cx="8229600" cy="3394472"/>
          </a:xfrm>
        </p:spPr>
        <p:txBody>
          <a:bodyPr/>
          <a:lstStyle/>
          <a:p>
            <a:pPr lvl="0"/>
            <a:r>
              <a:rPr/>
              <a:t>40 of 2,000 accounts (2%) taken over by fraudsters</a:t>
            </a:r>
          </a:p>
          <a:p>
            <a:pPr lvl="0"/>
            <a:r>
              <a:rPr/>
              <a:t>Each value drawn </a:t>
            </a:r>
            <a:r>
              <a:rPr b="1"/>
              <a:t>inside</a:t>
            </a:r>
            <a:r>
              <a:rPr/>
              <a:t> the genuine 5th-95th percentile range, column by column: notebook 3 finds 100% inside</a:t>
            </a:r>
          </a:p>
          <a:p>
            <a:pPr lvl="0"/>
            <a:r>
              <a:rPr/>
              <a:t>So no one-column rule (“spend above X”) finds them</a:t>
            </a:r>
          </a:p>
          <a:p>
            <a:pPr lvl="0"/>
            <a:r>
              <a:rPr/>
              <a:t>What fraud cannot copy: </a:t>
            </a:r>
            <a:r>
              <a:rPr b="1"/>
              <a:t>how the columns move together</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Off the band</a:t>
            </a:r>
          </a:p>
        </p:txBody>
      </p:sp>
      <p:pic>
        <p:nvPicPr>
          <p:cNvPr descr="anomalies_off_the_band.png" id="0" name="Picture 1"/>
          <p:cNvPicPr>
            <a:picLocks noGrp="1" noChangeAspect="1"/>
          </p:cNvPicPr>
          <p:nvPr/>
        </p:nvPicPr>
        <p:blipFill>
          <a:blip r:embed="rId3"/>
          <a:stretch>
            <a:fillRect/>
          </a:stretch>
        </p:blipFill>
        <p:spPr bwMode="auto">
          <a:xfrm>
            <a:off x="2885617" y="1166099"/>
            <a:ext cx="3372765" cy="3360181"/>
          </a:xfrm>
          <a:prstGeom prst="rect">
            <a:avLst/>
          </a:prstGeom>
          <a:noFill/>
          <a:ln w="9525">
            <a:noFill/>
            <a:headEnd/>
            <a:tailEnd/>
          </a:ln>
        </p:spPr>
      </p:pic>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Rebuild each account from its shadow</a:t>
            </a:r>
          </a:p>
        </p:txBody>
      </p:sp>
      <p:pic>
        <p:nvPicPr>
          <p:cNvPr descr="reconstruction_two_columns.png" id="0" name="Picture 1"/>
          <p:cNvPicPr>
            <a:picLocks noGrp="1" noChangeAspect="1"/>
          </p:cNvPicPr>
          <p:nvPr/>
        </p:nvPicPr>
        <p:blipFill>
          <a:blip r:embed="rId3"/>
          <a:stretch>
            <a:fillRect/>
          </a:stretch>
        </p:blipFill>
        <p:spPr bwMode="auto">
          <a:xfrm>
            <a:off x="2917079" y="1166099"/>
            <a:ext cx="3309841" cy="3360181"/>
          </a:xfrm>
          <a:prstGeom prst="rect">
            <a:avLst/>
          </a:prstGeom>
          <a:noFill/>
          <a:ln w="9525">
            <a:noFill/>
            <a:headEnd/>
            <a:tailEnd/>
          </a:ln>
        </p:spPr>
      </p:pic>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reconstruction error, as a formula</a:t>
            </a:r>
          </a:p>
        </p:txBody>
      </p:sp>
      <p:pic>
        <p:nvPicPr>
          <p:cNvPr descr="eq_d8bd62c2c8.png" id="0" name="Picture 1"/>
          <p:cNvPicPr>
            <a:picLocks noGrp="1" noChangeAspect="1"/>
          </p:cNvPicPr>
          <p:nvPr/>
        </p:nvPicPr>
        <p:blipFill>
          <a:blip r:embed="rId3"/>
          <a:stretch>
            <a:fillRect/>
          </a:stretch>
        </p:blipFill>
        <p:spPr bwMode="auto">
          <a:xfrm>
            <a:off x="2506513" y="2374442"/>
            <a:ext cx="4130973" cy="943494"/>
          </a:xfrm>
          <a:prstGeom prst="rect">
            <a:avLst/>
          </a:prstGeom>
          <a:noFill/>
          <a:ln w="9525">
            <a:noFill/>
            <a:headEnd/>
            <a:tailEnd/>
          </a:ln>
        </p:spPr>
      </p:pic>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37 of 40</a:t>
            </a:r>
          </a:p>
        </p:txBody>
      </p:sp>
      <p:pic>
        <p:nvPicPr>
          <p:cNvPr descr="reconstruction_error.png" id="0" name="Picture 1"/>
          <p:cNvPicPr>
            <a:picLocks noGrp="1" noChangeAspect="1"/>
          </p:cNvPicPr>
          <p:nvPr/>
        </p:nvPicPr>
        <p:blipFill>
          <a:blip r:embed="rId3"/>
          <a:stretch>
            <a:fillRect/>
          </a:stretch>
        </p:blipFill>
        <p:spPr bwMode="auto">
          <a:xfrm>
            <a:off x="1866236" y="1166099"/>
            <a:ext cx="5411527" cy="3360181"/>
          </a:xfrm>
          <a:prstGeom prst="rect">
            <a:avLst/>
          </a:prstGeom>
          <a:noFill/>
          <a:ln w="9525">
            <a:noFill/>
            <a:headEnd/>
            <a:tailEnd/>
          </a:ln>
        </p:spPr>
      </p:pic>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37 is one batch</a:t>
            </a:r>
          </a:p>
        </p:txBody>
      </p:sp>
      <p:sp>
        <p:nvSpPr>
          <p:cNvPr id="3" name="Content Placeholder 2"/>
          <p:cNvSpPr>
            <a:spLocks noGrp="1"/>
          </p:cNvSpPr>
          <p:nvPr>
            <p:ph idx="1"/>
          </p:nvPr>
        </p:nvSpPr>
        <p:spPr>
          <a:xfrm>
            <a:off x="457200" y="1200151"/>
            <a:ext cx="8229600" cy="3394472"/>
          </a:xfrm>
        </p:spPr>
        <p:txBody>
          <a:bodyPr/>
          <a:lstStyle/>
          <a:p>
            <a:pPr lvl="0"/>
            <a:r>
              <a:rPr/>
              <a:t>Regenerate the table at 7 other seeds: same process, different accounts</a:t>
            </a:r>
          </a:p>
          <a:p>
            <a:pPr lvl="0"/>
            <a:r>
              <a:rPr/>
              <a:t>Same procedure: 3 components, flag the worst-rebuilt 2%</a:t>
            </a:r>
          </a:p>
          <a:p>
            <a:pPr lvl="0"/>
            <a:r>
              <a:rPr/>
              <a:t>Caught: from </a:t>
            </a:r>
            <a:r>
              <a:rPr b="1"/>
              <a:t>32 to 38</a:t>
            </a:r>
            <a:r>
              <a:rPr/>
              <a:t> of 40, median 36</a:t>
            </a:r>
          </a:p>
          <a:p>
            <a:pPr lvl="0"/>
            <a:r>
              <a:rPr/>
              <a:t>Carry 37 as the memorable figure, and the range as what it means: about nine in ten</a:t>
            </a:r>
          </a:p>
          <a:p>
            <a:pPr lvl="0"/>
            <a:r>
              <a:rPr/>
              <a:t>Lesson 5’s point, with no y: one run is one draw</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Why not just plot it and look?</a:t>
            </a:r>
          </a:p>
        </p:txBody>
      </p:sp>
      <p:pic>
        <p:nvPicPr>
          <p:cNvPr descr="pca_tsne_anomalies.png" id="0" name="Picture 1"/>
          <p:cNvPicPr>
            <a:picLocks noGrp="1" noChangeAspect="1"/>
          </p:cNvPicPr>
          <p:nvPr/>
        </p:nvPicPr>
        <p:blipFill>
          <a:blip r:embed="rId3"/>
          <a:stretch>
            <a:fillRect/>
          </a:stretch>
        </p:blipFill>
        <p:spPr bwMode="auto">
          <a:xfrm>
            <a:off x="525939" y="1166099"/>
            <a:ext cx="8092121" cy="3360181"/>
          </a:xfrm>
          <a:prstGeom prst="rect">
            <a:avLst/>
          </a:prstGeom>
          <a:noFill/>
          <a:ln w="9525">
            <a:noFill/>
            <a:headEnd/>
            <a:tailEnd/>
          </a:ln>
        </p:spPr>
      </p:pic>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t-SNE: for looking, not for measuring</a:t>
            </a:r>
          </a:p>
        </p:txBody>
      </p:sp>
      <p:sp>
        <p:nvSpPr>
          <p:cNvPr id="3" name="Content Placeholder 2"/>
          <p:cNvSpPr>
            <a:spLocks noGrp="1"/>
          </p:cNvSpPr>
          <p:nvPr>
            <p:ph idx="1"/>
          </p:nvPr>
        </p:nvSpPr>
        <p:spPr>
          <a:xfrm>
            <a:off x="457200" y="1200151"/>
            <a:ext cx="8229600" cy="3394472"/>
          </a:xfrm>
        </p:spPr>
        <p:txBody>
          <a:bodyPr/>
          <a:lstStyle/>
          <a:p>
            <a:pPr lvl="0"/>
            <a:r>
              <a:rPr b="1"/>
              <a:t>t-SNE</a:t>
            </a:r>
            <a:r>
              <a:rPr/>
              <a:t> (t-distributed stochastic neighbour embedding): made for pictures</a:t>
            </a:r>
          </a:p>
          <a:p>
            <a:pPr lvl="0"/>
            <a:r>
              <a:rPr/>
              <a:t>In 2-D, </a:t>
            </a:r>
            <a:r>
              <a:rPr b="1"/>
              <a:t>close neighbours stay close</a:t>
            </a:r>
          </a:p>
          <a:p>
            <a:pPr lvl="0"/>
            <a:r>
              <a:rPr/>
              <a:t>Large distances are not kept: gaps </a:t>
            </a:r>
            <a:r>
              <a:rPr b="1"/>
              <a:t>mean little</a:t>
            </a:r>
          </a:p>
          <a:p>
            <a:pPr lvl="0"/>
            <a:r>
              <a:rPr/>
              <a:t>No </a:t>
            </a:r>
            <a:r>
              <a:rPr>
                <a:latin typeface="Courier"/>
              </a:rPr>
              <a:t>transform</a:t>
            </a:r>
            <a:r>
              <a:rPr/>
              <a:t>: a new account means running it all again</a:t>
            </a:r>
          </a:p>
          <a:p>
            <a:pPr lvl="0"/>
            <a:r>
              <a:rPr/>
              <a:t>In code: </a:t>
            </a:r>
            <a:r>
              <a:rPr>
                <a:latin typeface="Courier"/>
              </a:rPr>
              <a:t>TSNE(n_components=2)</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3, live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section, and its slides</a:t>
                      </a:r>
                    </a:p>
                  </a:txBody>
                  <a:tcPr/>
                </a:tc>
                <a:tc>
                  <a:txBody>
                    <a:bodyPr/>
                    <a:lstStyle/>
                    <a:p>
                      <a:pPr lvl="0" indent="0" marL="0">
                        <a:buNone/>
                      </a:pPr>
                      <a:r>
                        <a:rPr/>
                        <a:t>you call (→ the number to come back with)</a:t>
                      </a:r>
                    </a:p>
                  </a:txBody>
                  <a:tcPr/>
                </a:tc>
              </a:tr>
              <a:tr h="0">
                <a:tc>
                  <a:txBody>
                    <a:bodyPr/>
                    <a:lstStyle/>
                    <a:p>
                      <a:pPr lvl="0" indent="0" marL="0">
                        <a:buNone/>
                      </a:pPr>
                      <a:r>
                        <a:rPr/>
                        <a:t>eight columns, 38</a:t>
                      </a:r>
                    </a:p>
                  </a:txBody>
                </a:tc>
                <a:tc>
                  <a:txBody>
                    <a:bodyPr/>
                    <a:lstStyle/>
                    <a:p>
                      <a:pPr lvl="0" indent="0" marL="0">
                        <a:buNone/>
                      </a:pPr>
                      <a:r>
                        <a:rPr>
                          <a:latin typeface="Courier"/>
                        </a:rPr>
                        <a:t>StandardScaler</a:t>
                      </a:r>
                      <a:r>
                        <a:rPr/>
                        <a:t> → correlation 0.859</a:t>
                      </a:r>
                    </a:p>
                  </a:txBody>
                </a:tc>
              </a:tr>
              <a:tr h="0">
                <a:tc>
                  <a:txBody>
                    <a:bodyPr/>
                    <a:lstStyle/>
                    <a:p>
                      <a:pPr lvl="0" indent="0" marL="0">
                        <a:buNone/>
                      </a:pPr>
                      <a:r>
                        <a:rPr/>
                        <a:t>the widest shadow, 39-42</a:t>
                      </a:r>
                    </a:p>
                  </a:txBody>
                </a:tc>
                <a:tc>
                  <a:txBody>
                    <a:bodyPr/>
                    <a:lstStyle/>
                    <a:p>
                      <a:pPr lvl="0" indent="0" marL="0">
                        <a:buNone/>
                      </a:pPr>
                      <a:r>
                        <a:rPr/>
                        <a:t>NumPy, then </a:t>
                      </a:r>
                      <a:r>
                        <a:rPr>
                          <a:latin typeface="Courier"/>
                        </a:rPr>
                        <a:t>PCA</a:t>
                      </a:r>
                      <a:r>
                        <a:rPr/>
                        <a:t> → 1.859 and 0.141; shares 0.9297 and 0.0703</a:t>
                      </a:r>
                    </a:p>
                  </a:txBody>
                </a:tc>
              </a:tr>
              <a:tr h="0">
                <a:tc>
                  <a:txBody>
                    <a:bodyPr/>
                    <a:lstStyle/>
                    <a:p>
                      <a:pPr lvl="0" indent="0" marL="0">
                        <a:buNone/>
                      </a:pPr>
                      <a:r>
                        <a:rPr/>
                        <a:t>scree, 43</a:t>
                      </a:r>
                    </a:p>
                  </a:txBody>
                </a:tc>
                <a:tc>
                  <a:txBody>
                    <a:bodyPr/>
                    <a:lstStyle/>
                    <a:p>
                      <a:pPr lvl="0" indent="0" marL="0">
                        <a:buNone/>
                      </a:pPr>
                      <a:r>
                        <a:rPr>
                          <a:latin typeface="Courier"/>
                        </a:rPr>
                        <a:t>PCA().fit</a:t>
                      </a:r>
                      <a:r>
                        <a:rPr/>
                        <a:t>, </a:t>
                      </a:r>
                      <a:r>
                        <a:rPr>
                          <a:latin typeface="Courier"/>
                        </a:rPr>
                        <a:t>explained_variance_ratio_</a:t>
                      </a:r>
                      <a:r>
                        <a:rPr/>
                        <a:t> → 93.5% in 3 components</a:t>
                      </a:r>
                    </a:p>
                  </a:txBody>
                </a:tc>
              </a:tr>
              <a:tr h="0">
                <a:tc>
                  <a:txBody>
                    <a:bodyPr/>
                    <a:lstStyle/>
                    <a:p>
                      <a:pPr lvl="0" indent="0" marL="0">
                        <a:buNone/>
                      </a:pPr>
                      <a:r>
                        <a:rPr/>
                        <a:t>fraud, 44-47</a:t>
                      </a:r>
                    </a:p>
                  </a:txBody>
                </a:tc>
                <a:tc>
                  <a:txBody>
                    <a:bodyPr/>
                    <a:lstStyle/>
                    <a:p>
                      <a:pPr lvl="0" indent="0" marL="0">
                        <a:buNone/>
                      </a:pPr>
                      <a:r>
                        <a:rPr>
                          <a:latin typeface="Courier"/>
                        </a:rPr>
                        <a:t>PCA(n_components=1)</a:t>
                      </a:r>
                      <a:r>
                        <a:rPr/>
                        <a:t>, </a:t>
                      </a:r>
                      <a:r>
                        <a:rPr>
                          <a:latin typeface="Courier"/>
                        </a:rPr>
                        <a:t>inverse_transform</a:t>
                      </a:r>
                      <a:r>
                        <a:rPr/>
                        <a:t> → errors 0.01 and 3.75</a:t>
                      </a:r>
                    </a:p>
                  </a:txBody>
                </a:tc>
              </a:tr>
              <a:tr h="0">
                <a:tc>
                  <a:txBody>
                    <a:bodyPr/>
                    <a:lstStyle/>
                    <a:p>
                      <a:pPr lvl="0" indent="0" marL="0">
                        <a:buNone/>
                      </a:pPr>
                      <a:r>
                        <a:rPr/>
                        <a:t>37 of 40, 48-49</a:t>
                      </a:r>
                    </a:p>
                  </a:txBody>
                </a:tc>
                <a:tc>
                  <a:txBody>
                    <a:bodyPr/>
                    <a:lstStyle/>
                    <a:p>
                      <a:pPr lvl="0" indent="0" marL="0">
                        <a:buNone/>
                      </a:pPr>
                      <a:r>
                        <a:rPr>
                          <a:latin typeface="Courier"/>
                        </a:rPr>
                        <a:t>PCA(n_components=3)</a:t>
                      </a:r>
                      <a:r>
                        <a:rPr/>
                        <a:t> → 37 of 40; 32 to 38 over 8 batches</a:t>
                      </a:r>
                    </a:p>
                  </a:txBody>
                </a:tc>
              </a:tr>
              <a:tr h="0">
                <a:tc>
                  <a:txBody>
                    <a:bodyPr/>
                    <a:lstStyle/>
                    <a:p>
                      <a:pPr lvl="0" indent="0" marL="0">
                        <a:buNone/>
                      </a:pPr>
                      <a:r>
                        <a:rPr/>
                        <a:t>2-D pictures, 50-51</a:t>
                      </a:r>
                    </a:p>
                  </a:txBody>
                </a:tc>
                <a:tc>
                  <a:txBody>
                    <a:bodyPr/>
                    <a:lstStyle/>
                    <a:p>
                      <a:pPr lvl="0" indent="0" marL="0">
                        <a:buNone/>
                      </a:pPr>
                      <a:r>
                        <a:rPr>
                          <a:latin typeface="Courier"/>
                        </a:rPr>
                        <a:t>PCA(n_components=2)</a:t>
                      </a:r>
                      <a:r>
                        <a:rPr/>
                        <a:t>, </a:t>
                      </a:r>
                      <a:r>
                        <a:rPr>
                          <a:latin typeface="Courier"/>
                        </a:rPr>
                        <a:t>TSNE</a:t>
                      </a:r>
                      <a:r>
                        <a:rPr/>
                        <a:t> → 1.30 against 2.20</a:t>
                      </a:r>
                    </a:p>
                  </a:txBody>
                </a:tc>
              </a:tr>
            </a:tbl>
          </a:graphicData>
        </a:graphic>
      </p:graphicFrame>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to take away</a:t>
            </a:r>
          </a:p>
        </p:txBody>
      </p:sp>
      <p:sp>
        <p:nvSpPr>
          <p:cNvPr id="3" name="Content Placeholder 2"/>
          <p:cNvSpPr>
            <a:spLocks noGrp="1"/>
          </p:cNvSpPr>
          <p:nvPr>
            <p:ph idx="1"/>
          </p:nvPr>
        </p:nvSpPr>
        <p:spPr>
          <a:xfrm>
            <a:off x="457200" y="1200151"/>
            <a:ext cx="8229600" cy="3394472"/>
          </a:xfrm>
        </p:spPr>
        <p:txBody>
          <a:bodyPr/>
          <a:lstStyle/>
          <a:p>
            <a:pPr lvl="0"/>
            <a:r>
              <a:rPr/>
              <a:t>k-means always stops, not always at the best: </a:t>
            </a:r>
            <a:r>
              <a:rPr b="1"/>
              <a:t>374.1</a:t>
            </a:r>
            <a:r>
              <a:rPr/>
              <a:t> against </a:t>
            </a:r>
            <a:r>
              <a:rPr b="1"/>
              <a:t>1,390.4</a:t>
            </a:r>
          </a:p>
          <a:p>
            <a:pPr lvl="0"/>
            <a:r>
              <a:rPr/>
              <a:t>A core inside a ring defeats k-means and Ward; DBSCAN scores </a:t>
            </a:r>
            <a:r>
              <a:rPr b="1"/>
              <a:t>0.941</a:t>
            </a:r>
          </a:p>
          <a:p>
            <a:pPr lvl="0"/>
            <a:r>
              <a:rPr/>
              <a:t>The silhouette measures compactness: it preferred the wrong answer</a:t>
            </a:r>
          </a:p>
          <a:p>
            <a:pPr lvl="0"/>
            <a:r>
              <a:rPr b="1"/>
              <a:t>37 of 40</a:t>
            </a:r>
            <a:r>
              <a:rPr/>
              <a:t> disguised accounts caught by reconstruction error, invisible to a 2-D scatter</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Homework</a:t>
            </a:r>
          </a:p>
        </p:txBody>
      </p:sp>
      <p:sp>
        <p:nvSpPr>
          <p:cNvPr id="3" name="Content Placeholder 2"/>
          <p:cNvSpPr>
            <a:spLocks noGrp="1"/>
          </p:cNvSpPr>
          <p:nvPr>
            <p:ph idx="1"/>
          </p:nvPr>
        </p:nvSpPr>
        <p:spPr>
          <a:xfrm>
            <a:off x="457200" y="1200151"/>
            <a:ext cx="8229600" cy="3394472"/>
          </a:xfrm>
        </p:spPr>
        <p:txBody>
          <a:bodyPr/>
          <a:lstStyle/>
          <a:p>
            <a:pPr lvl="0"/>
            <a:r>
              <a:rPr b="1"/>
              <a:t>Exercise 8</a:t>
            </a:r>
            <a:r>
              <a:rPr/>
              <a:t>, discussed at the start of lesson 9, </a:t>
            </a:r>
            <a:r>
              <a:rPr b="1"/>
              <a:t>Friday 4 December</a:t>
            </a:r>
          </a:p>
          <a:p>
            <a:pPr lvl="0"/>
            <a:r>
              <a:rPr>
                <a:latin typeface="Courier"/>
              </a:rPr>
              <a:t>Exercises/08_unsupervised_learning.md</a:t>
            </a:r>
          </a:p>
          <a:p>
            <a:pPr lvl="0"/>
            <a:r>
              <a:rPr/>
              <a:t>Two account books: predict, </a:t>
            </a:r>
            <a:r>
              <a:rPr b="1"/>
              <a:t>before plotting</a:t>
            </a:r>
            <a:r>
              <a:rPr/>
              <a:t>, where a 2-D plot will find the fraud and where it will not</a:t>
            </a:r>
          </a:p>
        </p:txBody>
      </p:sp>
    </p:spTree>
  </p:cSld>
</p:sld>
</file>

<file path=ppt/theme/theme1.xml><?xml version="1.0" encoding="utf-8"?>
<a:theme xmlns:a="http://schemas.openxmlformats.org/drawingml/2006/main" name="Office Theme">
  <a:themeElements>
    <a:clrScheme name="Office">
      <a:dk1>
        <a:sysClr val="windowText" lastClr="1A1A1A"/>
      </a:dk1>
      <a:lt1>
        <a:sysClr val="window" lastClr="FFFFFF"/>
      </a:lt1>
      <a:dk2>
        <a:srgbClr val="1F497D"/>
      </a:dk2>
      <a:lt2>
        <a:srgbClr val="EEECE1"/>
      </a:lt2>
      <a:accent1>
        <a:srgbClr val="1F4E79"/>
      </a:accent1>
      <a:accent2>
        <a:srgbClr val="2E7D8A"/>
      </a:accent2>
      <a:accent3>
        <a:srgbClr val="F0BE50"/>
      </a:accent3>
      <a:accent4>
        <a:srgbClr val="4A5568"/>
      </a:accent4>
      <a:accent5>
        <a:srgbClr val="9C4221"/>
      </a:accent5>
      <a:accent6>
        <a:srgbClr val="1A1A1A"/>
      </a:accent6>
      <a:hlink>
        <a:srgbClr val="0000FF"/>
      </a:hlink>
      <a:folHlink>
        <a:srgbClr val="800080"/>
      </a:folHlink>
    </a:clrScheme>
    <a:fontScheme name="Office">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1A1A1A"/>
      </a:dk1>
      <a:lt1>
        <a:sysClr val="window" lastClr="FFFFFF"/>
      </a:lt1>
      <a:dk2>
        <a:srgbClr val="44546A"/>
      </a:dk2>
      <a:lt2>
        <a:srgbClr val="E7E6E6"/>
      </a:lt2>
      <a:accent1>
        <a:srgbClr val="1F4E79"/>
      </a:accent1>
      <a:accent2>
        <a:srgbClr val="2E7D8A"/>
      </a:accent2>
      <a:accent3>
        <a:srgbClr val="F0BE50"/>
      </a:accent3>
      <a:accent4>
        <a:srgbClr val="4A5568"/>
      </a:accent4>
      <a:accent5>
        <a:srgbClr val="9C4221"/>
      </a:accent5>
      <a:accent6>
        <a:srgbClr val="1A1A1A"/>
      </a:accent6>
      <a:hlink>
        <a:srgbClr val="0563C1"/>
      </a:hlink>
      <a:folHlink>
        <a:srgbClr val="954F72"/>
      </a:folHlink>
    </a:clrScheme>
    <a:fontScheme name="Office">
      <a:majorFont>
        <a:latin typeface="Segoe UI Semibold"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8: Unsupervised Learning</dc:title>
  <dc:creator>Fabio Antonini, Università degli Studi dell’Aquila</dc:creator>
  <cp:keywords/>
  <dcterms:created xsi:type="dcterms:W3CDTF">1980-01-01T00:00:00Z</dcterms:created>
  <dcterms:modified xsi:type="dcterms:W3CDTF">1980-01-01T00:00:00Z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27 November 2026</vt:lpwstr>
  </property>
  <property fmtid="{D5CDD505-2E9C-101B-9397-08002B2CF9AE}" pid="3" name="subtitle">
    <vt:lpwstr>Technologies for Artificial Intelligence</vt:lpwstr>
  </property>
</Properties>
</file>