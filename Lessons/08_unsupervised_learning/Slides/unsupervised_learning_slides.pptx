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rᵢj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 Σ 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 v = λ 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 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98 of 128 imputed rows that borrowed from the test set, an overfit coefficient of 247,514,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 measurements, no answer key</a:t>
            </a:r>
          </a:p>
          <a:p>
            <a:pPr lvl="0"/>
            <a:r>
              <a:rPr/>
              <a:t>The question: not “predict the label” but “describe the structure”</a:t>
            </a:r>
          </a:p>
          <a:p>
            <a:pPr lvl="0"/>
            <a:r>
              <a:rPr/>
              <a:t>Most organisational data was never labelled —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searches for the grouping that minimises the total</a:t>
            </a:r>
          </a:p>
          <a:p>
            <a:pPr lvl="0"/>
            <a:r>
              <a:rPr/>
              <a:t>Searched for jointly: every point’s </a:t>
            </a:r>
            <a:r>
              <a:rPr b="1"/>
              <a:t>assignment</a:t>
            </a:r>
            <a:r>
              <a:rPr/>
              <a:t>, and the k cluster </a:t>
            </a:r>
            <a:r>
              <a:rPr b="1"/>
              <a:t>centres</a:t>
            </a:r>
          </a:p>
          <a:p>
            <a:pPr lvl="0"/>
            <a:r>
              <a:rPr/>
              <a:t>Searching both at once is hard; the trick is minimising each one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μj </a:t>
            </a:r>
            <a:r>
              <a:rPr b="1"/>
              <a:t>and</a:t>
            </a:r>
            <a:r>
              <a:rPr/>
              <a:t> every assignment rᵢj</a:t>
            </a:r>
          </a:p>
          <a:p>
            <a:pPr lvl="0"/>
            <a:r>
              <a:rPr/>
              <a:t>rᵢj = 1 if point i is assigned to cluster j, else 0 —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 exact minimiser over assignments</a:t>
            </a:r>
          </a:p>
          <a:p>
            <a:pPr lvl="0"/>
            <a:r>
              <a:rPr b="1"/>
              <a:t>Update step</a:t>
            </a:r>
            <a:r>
              <a:rPr/>
              <a:t>: assignment fixed, move every centre to the </a:t>
            </a:r>
            <a:r>
              <a:rPr b="1"/>
              <a:t>mean</a:t>
            </a:r>
            <a:r>
              <a:rPr/>
              <a:t> of its points — where the algorithm’s name comes from</a:t>
            </a:r>
          </a:p>
          <a:p>
            <a:pPr lvl="0"/>
            <a:r>
              <a:rPr/>
              <a:t>Alternate the two until nothing changes</a:t>
            </a:r>
          </a:p>
          <a:p>
            <a:pPr lvl="0"/>
            <a:r>
              <a:rPr/>
              <a:t>Each step is an exact minimisation —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 that is convergence</a:t>
            </a:r>
          </a:p>
          <a:p>
            <a:pPr lvl="0"/>
            <a:r>
              <a:rPr/>
              <a:t>It converges to a </a:t>
            </a:r>
            <a:r>
              <a:rPr b="1"/>
              <a:t>local</a:t>
            </a:r>
            <a:r>
              <a:rPr/>
              <a:t> minimum —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 </a:t>
            </a:r>
            <a:r>
              <a:rPr b="1"/>
              <a:t>3.7 times worse</a:t>
            </a:r>
            <a:r>
              <a:rPr/>
              <a:t>, same data, same update rule</a:t>
            </a:r>
          </a:p>
          <a:p>
            <a:pPr lvl="0"/>
            <a:r>
              <a:rPr/>
              <a:t>This happened on the very </a:t>
            </a:r>
            <a:r>
              <a:rPr b="1"/>
              <a:t>first</a:t>
            </a:r>
            <a:r>
              <a:rPr/>
              <a:t> attempt (worst of 30), not a rare one-in-a-thousand pathology</a:t>
            </a:r>
          </a:p>
          <a:p>
            <a:pPr lvl="0"/>
            <a:r>
              <a:rPr/>
              <a:t>The naive fix — k points picked uniformly at random —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 worst case improves ~300 units</a:t>
            </a:r>
          </a:p>
          <a:p>
            <a:pPr lvl="0"/>
            <a:r>
              <a:rPr/>
              <a:t>Reaches the </a:t>
            </a:r>
            <a:r>
              <a:rPr b="1"/>
              <a:t>global optimum on the first attempt</a:t>
            </a:r>
            <a:r>
              <a:rPr/>
              <a:t>, default settings</a:t>
            </a:r>
          </a:p>
          <a:p>
            <a:pPr lvl="0"/>
            <a:r>
              <a:rPr>
                <a:latin typeface="Courier"/>
              </a:rPr>
              <a:t>sklearn.cluster.KMeans</a:t>
            </a:r>
            <a:r>
              <a:rPr/>
              <a:t> uses k-means++ plus 10 restarts, by default</a:t>
            </a:r>
          </a:p>
          <a:p>
            <a:pPr lvl="0"/>
            <a:r>
              <a:rPr/>
              <a:t>Notebook 01’s from-scratch version matches it to within 10⁻⁴ of WCSS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 at k=m, J=0 exactly</a:t>
            </a:r>
          </a:p>
          <a:p>
            <a:pPr lvl="0"/>
            <a:r>
              <a:rPr/>
              <a:t>So the raw value of J at the “best” k is not the signal</a:t>
            </a:r>
          </a:p>
          <a:p>
            <a:pPr lvl="0"/>
            <a:r>
              <a:rPr b="1"/>
              <a:t>The elbow</a:t>
            </a:r>
            <a:r>
              <a:rPr/>
              <a:t>: where the WCSS curve stops falling steeply —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 the sharpest bend in the elbow curve</a:t>
            </a:r>
          </a:p>
          <a:p>
            <a:pPr lvl="0"/>
            <a:r>
              <a:rPr/>
              <a:t>Silhouette at k=4: </a:t>
            </a:r>
            <a:r>
              <a:rPr b="1"/>
              <a:t>0.690</a:t>
            </a:r>
            <a:r>
              <a:rPr/>
              <a:t> —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 relabelling is handled</a:t>
            </a:r>
          </a:p>
          <a:p>
            <a:pPr lvl="0"/>
            <a:r>
              <a:rPr/>
              <a:t>k-means vs. the true segments: </a:t>
            </a:r>
            <a:r>
              <a:rPr b="1"/>
              <a:t>0.985</a:t>
            </a:r>
            <a:r>
              <a:rPr/>
              <a:t> —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 scripted, behaviourally consistent</a:t>
            </a:r>
          </a:p>
          <a:p>
            <a:pPr lvl="0"/>
            <a:r>
              <a:rPr/>
              <a:t>Bots and humans share the </a:t>
            </a:r>
            <a:r>
              <a:rPr b="1"/>
              <a:t>same mean</a:t>
            </a:r>
            <a:r>
              <a:rPr/>
              <a:t> — bots a tight cloud, humans a diffuse ring around that same centre</a:t>
            </a:r>
          </a:p>
          <a:p>
            <a:pPr lvl="0"/>
            <a:r>
              <a:rPr/>
              <a:t>No straight cut separates them, because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 indistinguishable from a random split</a:t>
            </a:r>
          </a:p>
          <a:p>
            <a:pPr lvl="0"/>
            <a:r>
              <a:rPr/>
              <a:t>Not a tuning or initialisation failure —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 a </a:t>
            </a:r>
            <a:r>
              <a:rPr b="1"/>
              <a:t>dendrogram</a:t>
            </a:r>
          </a:p>
          <a:p>
            <a:pPr lvl="0"/>
            <a:r>
              <a:rPr/>
              <a:t>Cutting the tree at a height is equivalent to choosing k: branches crossed = cluster count</a:t>
            </a:r>
          </a:p>
          <a:p>
            <a:pPr lvl="0"/>
            <a:r>
              <a:rPr/>
              <a:t>“Closest” needs a rule for distance </a:t>
            </a:r>
            <a:r>
              <a:rPr b="1"/>
              <a:t>between clusters</a:t>
            </a:r>
            <a:r>
              <a:rPr/>
              <a:t> —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 can chain a winding path, or bridge two groups at one touching point</a:t>
            </a:r>
          </a:p>
          <a:p>
            <a:pPr lvl="0"/>
            <a:r>
              <a:rPr b="1"/>
              <a:t>Complete</a:t>
            </a:r>
            <a:r>
              <a:rPr/>
              <a:t>: farthest pair — favours compact groups</a:t>
            </a:r>
          </a:p>
          <a:p>
            <a:pPr lvl="0"/>
            <a:r>
              <a:rPr b="1"/>
              <a:t>Average</a:t>
            </a:r>
            <a:r>
              <a:rPr/>
              <a:t>: mean distance over every cross-pair — a compromise</a:t>
            </a:r>
          </a:p>
          <a:p>
            <a:pPr lvl="0"/>
            <a:r>
              <a:rPr b="1"/>
              <a:t>Ward</a:t>
            </a:r>
            <a:r>
              <a:rPr/>
              <a:t>: least added variance —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t>
            </a:r>
            <a:r>
              <a:rPr b="1"/>
              <a:t>and</a:t>
            </a:r>
            <a:r>
              <a:rPr/>
              <a:t>, separately, a diffuse ring both count — if dense enough at the scale </a:t>
            </a:r>
            <a:r>
              <a:rPr>
                <a:latin typeface="Courier"/>
              </a:rPr>
              <a:t>eps</a:t>
            </a:r>
            <a:r>
              <a:rPr/>
              <a:t> measures</a:t>
            </a:r>
          </a:p>
          <a:p>
            <a:pPr lvl="0"/>
            <a:r>
              <a:rPr/>
              <a:t>Points can belong to </a:t>
            </a:r>
            <a:r>
              <a:rPr b="1"/>
              <a:t>nothing</a:t>
            </a:r>
            <a:r>
              <a:rPr/>
              <a:t> —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 ARI in sections 2 and 3 —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 computed from the clustering and the points alone</a:t>
            </a:r>
          </a:p>
          <a:p>
            <a:pPr lvl="0"/>
            <a:r>
              <a:rPr b="1"/>
              <a:t>Silhouette</a:t>
            </a:r>
            <a:r>
              <a:rPr/>
              <a:t>: are points closer to their own cluster than to any other? Answerable from the clustering alone</a:t>
            </a:r>
          </a:p>
          <a:p>
            <a:pPr lvl="0"/>
            <a:r>
              <a:rPr b="1"/>
              <a:t>WCSS</a:t>
            </a:r>
            <a:r>
              <a:rPr/>
              <a:t>: usable, but weaker —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only endorses </a:t>
            </a:r>
            <a:r>
              <a:rPr b="1"/>
              <a:t>relative to what the metric can see</a:t>
            </a:r>
            <a:r>
              <a:rPr/>
              <a:t> — the shape it was given, not the assumption</a:t>
            </a:r>
          </a:p>
          <a:p>
            <a:pPr lvl="0"/>
            <a:r>
              <a:rPr/>
              <a:t>k-means on the bot/human data (ARI ≈ -0.046) still gets a positive, unremarkable score</a:t>
            </a:r>
          </a:p>
          <a:p>
            <a:pPr lvl="0"/>
            <a:r>
              <a:rPr/>
              <a:t>Silhouette measures </a:t>
            </a:r>
            <a:r>
              <a:rPr b="1"/>
              <a:t>roundness</a:t>
            </a:r>
            <a:r>
              <a:rPr/>
              <a:t>, not correctness —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 v = λ v back: vᵀ Σ 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 never form Xᵀ 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 most real data will not present one this sharp</a:t>
            </a:r>
          </a:p>
          <a:p>
            <a:pPr lvl="0"/>
            <a:r>
              <a:rPr/>
              <a:t>Common alternative: keep enough components to explain a chosen fraction of variance, typically 90–95%</a:t>
            </a:r>
          </a:p>
          <a:p>
            <a:pPr lvl="0"/>
            <a:r>
              <a:rPr/>
              <a:t>Or: treat the number of components as a hyperparameter, and let cross-validated downstream performance decide</a:t>
            </a:r>
          </a:p>
          <a:p>
            <a:pPr lvl="0"/>
            <a:r>
              <a:rPr/>
              <a:t>The scree plot is a starting point for judgement, not a rule that automates itself</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 in the picture</a:t>
            </a:r>
          </a:p>
          <a:p>
            <a:pPr lvl="0"/>
            <a:r>
              <a:rPr/>
              <a:t>No commitment to preserving distances between points that started far apart</a:t>
            </a:r>
          </a:p>
          <a:p>
            <a:pPr lvl="0"/>
            <a:r>
              <a:rPr/>
              <a:t>Excellent at making separate clusters visually obvious — often more so than PCA’s first two components</a:t>
            </a:r>
          </a:p>
          <a:p>
            <a:pPr lvl="0"/>
            <a:r>
              <a:rPr b="1"/>
              <a:t>Distances between clusters are not meaningful</a:t>
            </a:r>
            <a:r>
              <a:rPr/>
              <a:t>; no fixed transform for a new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 Unsupervised Learning</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